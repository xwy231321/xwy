
<file path=[Content_Types].xml><?xml version="1.0" encoding="utf-8"?>
<Types xmlns="http://schemas.openxmlformats.org/package/2006/content-types">
  <Override PartName="/ppt/slideMasters/slideMaster3.xml" ContentType="application/vnd.openxmlformats-officedocument.presentationml.slideMaster+xml"/>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Layouts/slideLayout39.xml" ContentType="application/vnd.openxmlformats-officedocument.presentationml.slideLayout+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Layouts/slideLayout28.xml" ContentType="application/vnd.openxmlformats-officedocument.presentationml.slideLayout+xml"/>
  <Override PartName="/ppt/slideLayouts/slideLayout46.xml" ContentType="application/vnd.openxmlformats-officedocument.presentationml.slideLayout+xml"/>
  <Override PartName="/ppt/slides/slide25.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5.xml" ContentType="application/vnd.openxmlformats-officedocument.presentationml.slideLayout+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4.xml" ContentType="application/vnd.openxmlformats-officedocument.presentationml.slideLayout+xml"/>
  <Override PartName="/ppt/slideLayouts/slideLayout42.xml" ContentType="application/vnd.openxmlformats-officedocument.presentationml.slideLayout+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20.xml" ContentType="application/vnd.openxmlformats-officedocument.presentationml.slideLayout+xml"/>
  <Override PartName="/ppt/slideLayouts/slideLayout31.xml" ContentType="application/vnd.openxmlformats-officedocument.presentationml.slideLayout+xml"/>
  <Override PartName="/ppt/slides/slide9.xml" ContentType="application/vnd.openxmlformats-officedocument.presentationml.slide+xml"/>
  <Override PartName="/ppt/slides/slide59.xml" ContentType="application/vnd.openxmlformats-officedocument.presentationml.slide+xml"/>
  <Override PartName="/ppt/viewProps.xml" ContentType="application/vnd.openxmlformats-officedocument.presentationml.viewProps+xml"/>
  <Override PartName="/ppt/slideMasters/slideMaster2.xml" ContentType="application/vnd.openxmlformats-officedocument.presentationml.slideMaster+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s/slide66.xml" ContentType="application/vnd.openxmlformats-officedocument.presentationml.slide+xml"/>
  <Override PartName="/ppt/slideLayouts/slideLayout7.xml" ContentType="application/vnd.openxmlformats-officedocument.presentationml.slideLayout+xml"/>
  <Override PartName="/ppt/slideLayouts/slideLayout29.xml" ContentType="application/vnd.openxmlformats-officedocument.presentationml.slideLayout+xml"/>
  <Override PartName="/ppt/slideLayouts/slideLayout38.xml" ContentType="application/vnd.openxmlformats-officedocument.presentationml.slideLayout+xml"/>
  <Override PartName="/ppt/theme/theme4.xml" ContentType="application/vnd.openxmlformats-officedocument.theme+xml"/>
  <Default Extension="bin" ContentType="application/vnd.openxmlformats-officedocument.oleObject"/>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36.xml" ContentType="application/vnd.openxmlformats-officedocument.presentationml.slideLayout+xml"/>
  <Override PartName="/ppt/slideLayouts/slideLayout4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Layouts/slideLayout3.xml" ContentType="application/vnd.openxmlformats-officedocument.presentationml.slideLayout+xml"/>
  <Default Extension="jpeg" ContentType="image/jpeg"/>
  <Override PartName="/ppt/slideLayouts/slideLayout16.xml" ContentType="application/vnd.openxmlformats-officedocument.presentationml.slideLayout+xml"/>
  <Override PartName="/ppt/slideLayouts/slideLayout25.xml" ContentType="application/vnd.openxmlformats-officedocument.presentationml.slideLayout+xml"/>
  <Override PartName="/ppt/slideLayouts/slideLayout34.xml" ContentType="application/vnd.openxmlformats-officedocument.presentationml.slideLayout+xml"/>
  <Override PartName="/ppt/slideLayouts/slideLayout43.xml" ContentType="application/vnd.openxmlformats-officedocument.presentationml.slideLayout+xml"/>
  <Default Extension="emf" ContentType="image/x-emf"/>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ppt/slideLayouts/slideLayout32.xml" ContentType="application/vnd.openxmlformats-officedocument.presentationml.slideLayout+xml"/>
  <Override PartName="/ppt/slideLayouts/slideLayout41.xml" ContentType="application/vnd.openxmlformats-officedocument.presentationml.slideLayout+xml"/>
  <Default Extension="wav" ContentType="audio/wav"/>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2.xml" ContentType="application/vnd.openxmlformats-officedocument.presentationml.slideLayout+xml"/>
  <Override PartName="/ppt/slideLayouts/slideLayout21.xml" ContentType="application/vnd.openxmlformats-officedocument.presentationml.slideLayout+xml"/>
  <Override PartName="/ppt/slideLayouts/slideLayout30.xml" ContentType="application/vnd.openxmlformats-officedocument.presentationml.slideLayout+xml"/>
  <Override PartName="/ppt/slideLayouts/slideLayout10.xml" ContentType="application/vnd.openxmlformats-officedocument.presentationml.slideLayout+xml"/>
  <Default Extension="vml" ContentType="application/vnd.openxmlformats-officedocument.vmlDrawing"/>
  <Default Extension="gif" ContentType="image/gif"/>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Layouts/slideLayout15.xml" ContentType="application/vnd.openxmlformats-officedocument.presentationml.slideLayout+xml"/>
  <Override PartName="/ppt/slideLayouts/slideLayout26.xml" ContentType="application/vnd.openxmlformats-officedocument.presentationml.slideLayout+xml"/>
  <Override PartName="/ppt/slideLayouts/slideLayout44.xml" ContentType="application/vnd.openxmlformats-officedocument.presentationml.slideLayout+xml"/>
  <Default Extension="wmf" ContentType="image/x-wmf"/>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Layouts/slideLayout22.xml" ContentType="application/vnd.openxmlformats-officedocument.presentationml.slideLayout+xml"/>
  <Override PartName="/ppt/slideLayouts/slideLayout33.xml" ContentType="application/vnd.openxmlformats-officedocument.presentationml.slideLayout+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slideLayouts/slideLayout40.xml" ContentType="application/vnd.openxmlformats-officedocument.presentationml.slideLayout+xml"/>
  <Override PartName="/ppt/slides/slide7.xml" ContentType="application/vnd.openxmlformats-officedocument.presentationml.slide+xml"/>
  <Override PartName="/ppt/slides/slide68.xml" ContentType="application/vnd.openxmlformats-officedocument.presentationml.slide+xml"/>
  <Override PartName="/ppt/slideLayouts/slideLayout9.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wmf"/><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3" r:id="rId2"/>
    <p:sldMasterId id="2147483686" r:id="rId3"/>
  </p:sldMasterIdLst>
  <p:notesMasterIdLst>
    <p:notesMasterId r:id="rId73"/>
  </p:notesMasterIdLst>
  <p:sldIdLst>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14" r:id="rId55"/>
    <p:sldId id="308" r:id="rId56"/>
    <p:sldId id="309" r:id="rId57"/>
    <p:sldId id="310" r:id="rId58"/>
    <p:sldId id="311" r:id="rId59"/>
    <p:sldId id="312" r:id="rId60"/>
    <p:sldId id="313" r:id="rId61"/>
    <p:sldId id="315" r:id="rId62"/>
    <p:sldId id="316" r:id="rId63"/>
    <p:sldId id="317" r:id="rId64"/>
    <p:sldId id="318" r:id="rId65"/>
    <p:sldId id="319" r:id="rId66"/>
    <p:sldId id="320" r:id="rId67"/>
    <p:sldId id="321" r:id="rId68"/>
    <p:sldId id="322" r:id="rId69"/>
    <p:sldId id="323" r:id="rId70"/>
    <p:sldId id="324" r:id="rId71"/>
    <p:sldId id="325" r:id="rId72"/>
  </p:sldIdLst>
  <p:sldSz cx="9144000" cy="5143500" type="screen16x9"/>
  <p:notesSz cx="6858000" cy="9144000"/>
  <p:defaultTextStyle>
    <a:defPPr>
      <a:defRPr lang="zh-CN"/>
    </a:defPPr>
    <a:lvl1pPr algn="l" rtl="0" fontAlgn="base">
      <a:spcBef>
        <a:spcPct val="0"/>
      </a:spcBef>
      <a:spcAft>
        <a:spcPct val="0"/>
      </a:spcAft>
      <a:defRPr kern="1200">
        <a:solidFill>
          <a:schemeClr val="tx1"/>
        </a:solidFill>
        <a:latin typeface="Arial" charset="0"/>
        <a:ea typeface="宋体" charset="-122"/>
        <a:cs typeface="+mn-cs"/>
      </a:defRPr>
    </a:lvl1pPr>
    <a:lvl2pPr marL="457200" algn="l" rtl="0" fontAlgn="base">
      <a:spcBef>
        <a:spcPct val="0"/>
      </a:spcBef>
      <a:spcAft>
        <a:spcPct val="0"/>
      </a:spcAft>
      <a:defRPr kern="1200">
        <a:solidFill>
          <a:schemeClr val="tx1"/>
        </a:solidFill>
        <a:latin typeface="Arial" charset="0"/>
        <a:ea typeface="宋体" charset="-122"/>
        <a:cs typeface="+mn-cs"/>
      </a:defRPr>
    </a:lvl2pPr>
    <a:lvl3pPr marL="914400" algn="l" rtl="0" fontAlgn="base">
      <a:spcBef>
        <a:spcPct val="0"/>
      </a:spcBef>
      <a:spcAft>
        <a:spcPct val="0"/>
      </a:spcAft>
      <a:defRPr kern="1200">
        <a:solidFill>
          <a:schemeClr val="tx1"/>
        </a:solidFill>
        <a:latin typeface="Arial" charset="0"/>
        <a:ea typeface="宋体" charset="-122"/>
        <a:cs typeface="+mn-cs"/>
      </a:defRPr>
    </a:lvl3pPr>
    <a:lvl4pPr marL="1371600" algn="l" rtl="0" fontAlgn="base">
      <a:spcBef>
        <a:spcPct val="0"/>
      </a:spcBef>
      <a:spcAft>
        <a:spcPct val="0"/>
      </a:spcAft>
      <a:defRPr kern="1200">
        <a:solidFill>
          <a:schemeClr val="tx1"/>
        </a:solidFill>
        <a:latin typeface="Arial" charset="0"/>
        <a:ea typeface="宋体" charset="-122"/>
        <a:cs typeface="+mn-cs"/>
      </a:defRPr>
    </a:lvl4pPr>
    <a:lvl5pPr marL="1828800" algn="l" rtl="0" fontAlgn="base">
      <a:spcBef>
        <a:spcPct val="0"/>
      </a:spcBef>
      <a:spcAft>
        <a:spcPct val="0"/>
      </a:spcAft>
      <a:defRPr kern="1200">
        <a:solidFill>
          <a:schemeClr val="tx1"/>
        </a:solidFill>
        <a:latin typeface="Arial" charset="0"/>
        <a:ea typeface="宋体" charset="-122"/>
        <a:cs typeface="+mn-cs"/>
      </a:defRPr>
    </a:lvl5pPr>
    <a:lvl6pPr marL="2286000" algn="l" defTabSz="914400" rtl="0" eaLnBrk="1" latinLnBrk="0" hangingPunct="1">
      <a:defRPr kern="1200">
        <a:solidFill>
          <a:schemeClr val="tx1"/>
        </a:solidFill>
        <a:latin typeface="Arial" charset="0"/>
        <a:ea typeface="宋体" charset="-122"/>
        <a:cs typeface="+mn-cs"/>
      </a:defRPr>
    </a:lvl6pPr>
    <a:lvl7pPr marL="2743200" algn="l" defTabSz="914400" rtl="0" eaLnBrk="1" latinLnBrk="0" hangingPunct="1">
      <a:defRPr kern="1200">
        <a:solidFill>
          <a:schemeClr val="tx1"/>
        </a:solidFill>
        <a:latin typeface="Arial" charset="0"/>
        <a:ea typeface="宋体" charset="-122"/>
        <a:cs typeface="+mn-cs"/>
      </a:defRPr>
    </a:lvl7pPr>
    <a:lvl8pPr marL="3200400" algn="l" defTabSz="914400" rtl="0" eaLnBrk="1" latinLnBrk="0" hangingPunct="1">
      <a:defRPr kern="1200">
        <a:solidFill>
          <a:schemeClr val="tx1"/>
        </a:solidFill>
        <a:latin typeface="Arial" charset="0"/>
        <a:ea typeface="宋体" charset="-122"/>
        <a:cs typeface="+mn-cs"/>
      </a:defRPr>
    </a:lvl8pPr>
    <a:lvl9pPr marL="3657600" algn="l" defTabSz="914400" rtl="0" eaLnBrk="1" latinLnBrk="0" hangingPunct="1">
      <a:defRPr kern="1200">
        <a:solidFill>
          <a:schemeClr val="tx1"/>
        </a:solidFill>
        <a:latin typeface="Arial" charset="0"/>
        <a:ea typeface="宋体"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92" d="100"/>
          <a:sy n="92" d="100"/>
        </p:scale>
        <p:origin x="-210" y="-96"/>
      </p:cViewPr>
      <p:guideLst>
        <p:guide orient="horz" pos="1620"/>
        <p:guide pos="288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slide" Target="slides/slide52.xml"/><Relationship Id="rId63" Type="http://schemas.openxmlformats.org/officeDocument/2006/relationships/slide" Target="slides/slide60.xml"/><Relationship Id="rId68" Type="http://schemas.openxmlformats.org/officeDocument/2006/relationships/slide" Target="slides/slide65.xml"/><Relationship Id="rId76" Type="http://schemas.openxmlformats.org/officeDocument/2006/relationships/theme" Target="theme/theme1.xml"/><Relationship Id="rId7" Type="http://schemas.openxmlformats.org/officeDocument/2006/relationships/slide" Target="slides/slide4.xml"/><Relationship Id="rId71" Type="http://schemas.openxmlformats.org/officeDocument/2006/relationships/slide" Target="slides/slide68.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slide" Target="slides/slide55.xml"/><Relationship Id="rId66" Type="http://schemas.openxmlformats.org/officeDocument/2006/relationships/slide" Target="slides/slide63.xml"/><Relationship Id="rId74" Type="http://schemas.openxmlformats.org/officeDocument/2006/relationships/presProps" Target="pres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61" Type="http://schemas.openxmlformats.org/officeDocument/2006/relationships/slide" Target="slides/slide58.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notesMaster" Target="notesMasters/notesMaster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slide" Target="slides/slide61.xml"/><Relationship Id="rId69" Type="http://schemas.openxmlformats.org/officeDocument/2006/relationships/slide" Target="slides/slide66.xml"/><Relationship Id="rId77" Type="http://schemas.openxmlformats.org/officeDocument/2006/relationships/tableStyles" Target="tableStyles.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image" Target="../media/image6.wmf"/><Relationship Id="rId1" Type="http://schemas.openxmlformats.org/officeDocument/2006/relationships/image" Target="../media/image5.wmf"/></Relationships>
</file>

<file path=ppt/drawings/_rels/vmlDrawing4.vml.rels><?xml version="1.0" encoding="UTF-8" standalone="yes"?>
<Relationships xmlns="http://schemas.openxmlformats.org/package/2006/relationships"><Relationship Id="rId8" Type="http://schemas.openxmlformats.org/officeDocument/2006/relationships/image" Target="../media/image15.wmf"/><Relationship Id="rId3" Type="http://schemas.openxmlformats.org/officeDocument/2006/relationships/image" Target="../media/image10.wmf"/><Relationship Id="rId7" Type="http://schemas.openxmlformats.org/officeDocument/2006/relationships/image" Target="../media/image14.wmf"/><Relationship Id="rId2" Type="http://schemas.openxmlformats.org/officeDocument/2006/relationships/image" Target="../media/image9.wmf"/><Relationship Id="rId1" Type="http://schemas.openxmlformats.org/officeDocument/2006/relationships/image" Target="../media/image8.wmf"/><Relationship Id="rId6" Type="http://schemas.openxmlformats.org/officeDocument/2006/relationships/image" Target="../media/image13.wmf"/><Relationship Id="rId5" Type="http://schemas.openxmlformats.org/officeDocument/2006/relationships/image" Target="../media/image12.wmf"/><Relationship Id="rId4" Type="http://schemas.openxmlformats.org/officeDocument/2006/relationships/image" Target="../media/image11.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image" Target="../media/image17.wmf"/><Relationship Id="rId1" Type="http://schemas.openxmlformats.org/officeDocument/2006/relationships/image" Target="../media/image16.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21.wmf"/><Relationship Id="rId7" Type="http://schemas.openxmlformats.org/officeDocument/2006/relationships/image" Target="../media/image25.wmf"/><Relationship Id="rId2" Type="http://schemas.openxmlformats.org/officeDocument/2006/relationships/image" Target="../media/image20.wmf"/><Relationship Id="rId1" Type="http://schemas.openxmlformats.org/officeDocument/2006/relationships/image" Target="../media/image19.wmf"/><Relationship Id="rId6" Type="http://schemas.openxmlformats.org/officeDocument/2006/relationships/image" Target="../media/image24.wmf"/><Relationship Id="rId5" Type="http://schemas.openxmlformats.org/officeDocument/2006/relationships/image" Target="../media/image23.wmf"/><Relationship Id="rId4" Type="http://schemas.openxmlformats.org/officeDocument/2006/relationships/image" Target="../media/image22.wmf"/></Relationships>
</file>

<file path=ppt/drawings/_rels/vmlDrawing7.vml.rels><?xml version="1.0" encoding="UTF-8" standalone="yes"?>
<Relationships xmlns="http://schemas.openxmlformats.org/package/2006/relationships"><Relationship Id="rId8" Type="http://schemas.openxmlformats.org/officeDocument/2006/relationships/image" Target="../media/image33.wmf"/><Relationship Id="rId13" Type="http://schemas.openxmlformats.org/officeDocument/2006/relationships/image" Target="../media/image38.wmf"/><Relationship Id="rId3" Type="http://schemas.openxmlformats.org/officeDocument/2006/relationships/image" Target="../media/image28.wmf"/><Relationship Id="rId7" Type="http://schemas.openxmlformats.org/officeDocument/2006/relationships/image" Target="../media/image32.wmf"/><Relationship Id="rId12" Type="http://schemas.openxmlformats.org/officeDocument/2006/relationships/image" Target="../media/image37.wmf"/><Relationship Id="rId2" Type="http://schemas.openxmlformats.org/officeDocument/2006/relationships/image" Target="../media/image27.wmf"/><Relationship Id="rId1" Type="http://schemas.openxmlformats.org/officeDocument/2006/relationships/image" Target="../media/image26.wmf"/><Relationship Id="rId6" Type="http://schemas.openxmlformats.org/officeDocument/2006/relationships/image" Target="../media/image31.wmf"/><Relationship Id="rId11" Type="http://schemas.openxmlformats.org/officeDocument/2006/relationships/image" Target="../media/image36.wmf"/><Relationship Id="rId5" Type="http://schemas.openxmlformats.org/officeDocument/2006/relationships/image" Target="../media/image30.wmf"/><Relationship Id="rId10" Type="http://schemas.openxmlformats.org/officeDocument/2006/relationships/image" Target="../media/image35.wmf"/><Relationship Id="rId4" Type="http://schemas.openxmlformats.org/officeDocument/2006/relationships/image" Target="../media/image29.wmf"/><Relationship Id="rId9" Type="http://schemas.openxmlformats.org/officeDocument/2006/relationships/image" Target="../media/image34.wmf"/></Relationships>
</file>

<file path=ppt/drawings/_rels/vmlDrawing8.vml.rels><?xml version="1.0" encoding="UTF-8" standalone="yes"?>
<Relationships xmlns="http://schemas.openxmlformats.org/package/2006/relationships"><Relationship Id="rId8" Type="http://schemas.openxmlformats.org/officeDocument/2006/relationships/image" Target="../media/image46.wmf"/><Relationship Id="rId3" Type="http://schemas.openxmlformats.org/officeDocument/2006/relationships/image" Target="../media/image41.wmf"/><Relationship Id="rId7" Type="http://schemas.openxmlformats.org/officeDocument/2006/relationships/image" Target="../media/image45.wmf"/><Relationship Id="rId2" Type="http://schemas.openxmlformats.org/officeDocument/2006/relationships/image" Target="../media/image40.wmf"/><Relationship Id="rId1" Type="http://schemas.openxmlformats.org/officeDocument/2006/relationships/image" Target="../media/image39.wmf"/><Relationship Id="rId6" Type="http://schemas.openxmlformats.org/officeDocument/2006/relationships/image" Target="../media/image44.wmf"/><Relationship Id="rId5" Type="http://schemas.openxmlformats.org/officeDocument/2006/relationships/image" Target="../media/image43.wmf"/><Relationship Id="rId4" Type="http://schemas.openxmlformats.org/officeDocument/2006/relationships/image" Target="../media/image42.wmf"/><Relationship Id="rId9" Type="http://schemas.openxmlformats.org/officeDocument/2006/relationships/image" Target="../media/image47.wmf"/></Relationships>
</file>

<file path=ppt/drawings/_rels/vmlDrawing9.vml.rels><?xml version="1.0" encoding="UTF-8" standalone="yes"?>
<Relationships xmlns="http://schemas.openxmlformats.org/package/2006/relationships"><Relationship Id="rId8" Type="http://schemas.openxmlformats.org/officeDocument/2006/relationships/image" Target="../media/image55.wmf"/><Relationship Id="rId13" Type="http://schemas.openxmlformats.org/officeDocument/2006/relationships/image" Target="../media/image60.wmf"/><Relationship Id="rId18" Type="http://schemas.openxmlformats.org/officeDocument/2006/relationships/image" Target="../media/image65.wmf"/><Relationship Id="rId3" Type="http://schemas.openxmlformats.org/officeDocument/2006/relationships/image" Target="../media/image50.wmf"/><Relationship Id="rId21" Type="http://schemas.openxmlformats.org/officeDocument/2006/relationships/image" Target="../media/image68.wmf"/><Relationship Id="rId7" Type="http://schemas.openxmlformats.org/officeDocument/2006/relationships/image" Target="../media/image54.wmf"/><Relationship Id="rId12" Type="http://schemas.openxmlformats.org/officeDocument/2006/relationships/image" Target="../media/image59.wmf"/><Relationship Id="rId17" Type="http://schemas.openxmlformats.org/officeDocument/2006/relationships/image" Target="../media/image64.wmf"/><Relationship Id="rId2" Type="http://schemas.openxmlformats.org/officeDocument/2006/relationships/image" Target="../media/image49.wmf"/><Relationship Id="rId16" Type="http://schemas.openxmlformats.org/officeDocument/2006/relationships/image" Target="../media/image63.wmf"/><Relationship Id="rId20" Type="http://schemas.openxmlformats.org/officeDocument/2006/relationships/image" Target="../media/image67.wmf"/><Relationship Id="rId1" Type="http://schemas.openxmlformats.org/officeDocument/2006/relationships/image" Target="../media/image48.wmf"/><Relationship Id="rId6" Type="http://schemas.openxmlformats.org/officeDocument/2006/relationships/image" Target="../media/image53.wmf"/><Relationship Id="rId11" Type="http://schemas.openxmlformats.org/officeDocument/2006/relationships/image" Target="../media/image58.wmf"/><Relationship Id="rId5" Type="http://schemas.openxmlformats.org/officeDocument/2006/relationships/image" Target="../media/image52.wmf"/><Relationship Id="rId15" Type="http://schemas.openxmlformats.org/officeDocument/2006/relationships/image" Target="../media/image62.wmf"/><Relationship Id="rId10" Type="http://schemas.openxmlformats.org/officeDocument/2006/relationships/image" Target="../media/image57.wmf"/><Relationship Id="rId19" Type="http://schemas.openxmlformats.org/officeDocument/2006/relationships/image" Target="../media/image66.wmf"/><Relationship Id="rId4" Type="http://schemas.openxmlformats.org/officeDocument/2006/relationships/image" Target="../media/image51.wmf"/><Relationship Id="rId9" Type="http://schemas.openxmlformats.org/officeDocument/2006/relationships/image" Target="../media/image56.wmf"/><Relationship Id="rId14" Type="http://schemas.openxmlformats.org/officeDocument/2006/relationships/image" Target="../media/image61.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71.wmf"/><Relationship Id="rId7" Type="http://schemas.openxmlformats.org/officeDocument/2006/relationships/image" Target="../media/image75.wmf"/><Relationship Id="rId2" Type="http://schemas.openxmlformats.org/officeDocument/2006/relationships/image" Target="../media/image70.wmf"/><Relationship Id="rId1" Type="http://schemas.openxmlformats.org/officeDocument/2006/relationships/image" Target="../media/image69.wmf"/><Relationship Id="rId6" Type="http://schemas.openxmlformats.org/officeDocument/2006/relationships/image" Target="../media/image74.wmf"/><Relationship Id="rId5" Type="http://schemas.openxmlformats.org/officeDocument/2006/relationships/image" Target="../media/image73.wmf"/><Relationship Id="rId4" Type="http://schemas.openxmlformats.org/officeDocument/2006/relationships/image" Target="../media/image72.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78.wmf"/><Relationship Id="rId2" Type="http://schemas.openxmlformats.org/officeDocument/2006/relationships/image" Target="../media/image77.wmf"/><Relationship Id="rId1" Type="http://schemas.openxmlformats.org/officeDocument/2006/relationships/image" Target="../media/image76.wmf"/><Relationship Id="rId4" Type="http://schemas.openxmlformats.org/officeDocument/2006/relationships/image" Target="../media/image79.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82.wmf"/><Relationship Id="rId2" Type="http://schemas.openxmlformats.org/officeDocument/2006/relationships/image" Target="../media/image81.wmf"/><Relationship Id="rId1" Type="http://schemas.openxmlformats.org/officeDocument/2006/relationships/image" Target="../media/image80.wmf"/><Relationship Id="rId5" Type="http://schemas.openxmlformats.org/officeDocument/2006/relationships/image" Target="../media/image84.wmf"/><Relationship Id="rId4" Type="http://schemas.openxmlformats.org/officeDocument/2006/relationships/image" Target="../media/image83.wmf"/></Relationships>
</file>

<file path=ppt/drawings/_rels/vmlDrawing13.vml.rels><?xml version="1.0" encoding="UTF-8" standalone="yes"?>
<Relationships xmlns="http://schemas.openxmlformats.org/package/2006/relationships"><Relationship Id="rId8" Type="http://schemas.openxmlformats.org/officeDocument/2006/relationships/image" Target="../media/image92.wmf"/><Relationship Id="rId3" Type="http://schemas.openxmlformats.org/officeDocument/2006/relationships/image" Target="../media/image87.wmf"/><Relationship Id="rId7" Type="http://schemas.openxmlformats.org/officeDocument/2006/relationships/image" Target="../media/image91.wmf"/><Relationship Id="rId12" Type="http://schemas.openxmlformats.org/officeDocument/2006/relationships/image" Target="../media/image96.wmf"/><Relationship Id="rId2" Type="http://schemas.openxmlformats.org/officeDocument/2006/relationships/image" Target="../media/image86.wmf"/><Relationship Id="rId1" Type="http://schemas.openxmlformats.org/officeDocument/2006/relationships/image" Target="../media/image85.wmf"/><Relationship Id="rId6" Type="http://schemas.openxmlformats.org/officeDocument/2006/relationships/image" Target="../media/image90.wmf"/><Relationship Id="rId11" Type="http://schemas.openxmlformats.org/officeDocument/2006/relationships/image" Target="../media/image95.wmf"/><Relationship Id="rId5" Type="http://schemas.openxmlformats.org/officeDocument/2006/relationships/image" Target="../media/image89.wmf"/><Relationship Id="rId10" Type="http://schemas.openxmlformats.org/officeDocument/2006/relationships/image" Target="../media/image94.wmf"/><Relationship Id="rId4" Type="http://schemas.openxmlformats.org/officeDocument/2006/relationships/image" Target="../media/image88.wmf"/><Relationship Id="rId9" Type="http://schemas.openxmlformats.org/officeDocument/2006/relationships/image" Target="../media/image93.wmf"/></Relationships>
</file>

<file path=ppt/drawings/_rels/vmlDrawing14.vml.rels><?xml version="1.0" encoding="UTF-8" standalone="yes"?>
<Relationships xmlns="http://schemas.openxmlformats.org/package/2006/relationships"><Relationship Id="rId8" Type="http://schemas.openxmlformats.org/officeDocument/2006/relationships/image" Target="../media/image104.wmf"/><Relationship Id="rId3" Type="http://schemas.openxmlformats.org/officeDocument/2006/relationships/image" Target="../media/image99.wmf"/><Relationship Id="rId7" Type="http://schemas.openxmlformats.org/officeDocument/2006/relationships/image" Target="../media/image103.wmf"/><Relationship Id="rId2" Type="http://schemas.openxmlformats.org/officeDocument/2006/relationships/image" Target="../media/image98.wmf"/><Relationship Id="rId1" Type="http://schemas.openxmlformats.org/officeDocument/2006/relationships/image" Target="../media/image97.wmf"/><Relationship Id="rId6" Type="http://schemas.openxmlformats.org/officeDocument/2006/relationships/image" Target="../media/image102.wmf"/><Relationship Id="rId5" Type="http://schemas.openxmlformats.org/officeDocument/2006/relationships/image" Target="../media/image101.wmf"/><Relationship Id="rId10" Type="http://schemas.openxmlformats.org/officeDocument/2006/relationships/image" Target="../media/image106.wmf"/><Relationship Id="rId4" Type="http://schemas.openxmlformats.org/officeDocument/2006/relationships/image" Target="../media/image100.wmf"/><Relationship Id="rId9" Type="http://schemas.openxmlformats.org/officeDocument/2006/relationships/image" Target="../media/image105.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109.wmf"/><Relationship Id="rId2" Type="http://schemas.openxmlformats.org/officeDocument/2006/relationships/image" Target="../media/image108.wmf"/><Relationship Id="rId1" Type="http://schemas.openxmlformats.org/officeDocument/2006/relationships/image" Target="../media/image107.wmf"/><Relationship Id="rId4" Type="http://schemas.openxmlformats.org/officeDocument/2006/relationships/image" Target="../media/image110.wmf"/></Relationships>
</file>

<file path=ppt/drawings/_rels/vmlDrawing16.vml.rels><?xml version="1.0" encoding="UTF-8" standalone="yes"?>
<Relationships xmlns="http://schemas.openxmlformats.org/package/2006/relationships"><Relationship Id="rId8" Type="http://schemas.openxmlformats.org/officeDocument/2006/relationships/image" Target="../media/image118.wmf"/><Relationship Id="rId3" Type="http://schemas.openxmlformats.org/officeDocument/2006/relationships/image" Target="../media/image113.wmf"/><Relationship Id="rId7" Type="http://schemas.openxmlformats.org/officeDocument/2006/relationships/image" Target="../media/image117.wmf"/><Relationship Id="rId2" Type="http://schemas.openxmlformats.org/officeDocument/2006/relationships/image" Target="../media/image112.wmf"/><Relationship Id="rId1" Type="http://schemas.openxmlformats.org/officeDocument/2006/relationships/image" Target="../media/image111.wmf"/><Relationship Id="rId6" Type="http://schemas.openxmlformats.org/officeDocument/2006/relationships/image" Target="../media/image116.wmf"/><Relationship Id="rId5" Type="http://schemas.openxmlformats.org/officeDocument/2006/relationships/image" Target="../media/image115.wmf"/><Relationship Id="rId4" Type="http://schemas.openxmlformats.org/officeDocument/2006/relationships/image" Target="../media/image114.wmf"/><Relationship Id="rId9" Type="http://schemas.openxmlformats.org/officeDocument/2006/relationships/image" Target="../media/image119.w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122.wmf"/><Relationship Id="rId2" Type="http://schemas.openxmlformats.org/officeDocument/2006/relationships/image" Target="../media/image121.wmf"/><Relationship Id="rId1" Type="http://schemas.openxmlformats.org/officeDocument/2006/relationships/image" Target="../media/image120.wmf"/><Relationship Id="rId4" Type="http://schemas.openxmlformats.org/officeDocument/2006/relationships/image" Target="../media/image123.wmf"/></Relationships>
</file>

<file path=ppt/drawings/_rels/vmlDrawing18.vml.rels><?xml version="1.0" encoding="UTF-8" standalone="yes"?>
<Relationships xmlns="http://schemas.openxmlformats.org/package/2006/relationships"><Relationship Id="rId8" Type="http://schemas.openxmlformats.org/officeDocument/2006/relationships/image" Target="../media/image131.wmf"/><Relationship Id="rId3" Type="http://schemas.openxmlformats.org/officeDocument/2006/relationships/image" Target="../media/image126.wmf"/><Relationship Id="rId7" Type="http://schemas.openxmlformats.org/officeDocument/2006/relationships/image" Target="../media/image130.wmf"/><Relationship Id="rId2" Type="http://schemas.openxmlformats.org/officeDocument/2006/relationships/image" Target="../media/image125.wmf"/><Relationship Id="rId1" Type="http://schemas.openxmlformats.org/officeDocument/2006/relationships/image" Target="../media/image124.wmf"/><Relationship Id="rId6" Type="http://schemas.openxmlformats.org/officeDocument/2006/relationships/image" Target="../media/image129.wmf"/><Relationship Id="rId5" Type="http://schemas.openxmlformats.org/officeDocument/2006/relationships/image" Target="../media/image128.wmf"/><Relationship Id="rId10" Type="http://schemas.openxmlformats.org/officeDocument/2006/relationships/image" Target="../media/image133.wmf"/><Relationship Id="rId4" Type="http://schemas.openxmlformats.org/officeDocument/2006/relationships/image" Target="../media/image127.wmf"/><Relationship Id="rId9" Type="http://schemas.openxmlformats.org/officeDocument/2006/relationships/image" Target="../media/image132.wmf"/></Relationships>
</file>

<file path=ppt/drawings/_rels/vmlDrawing19.vml.rels><?xml version="1.0" encoding="UTF-8" standalone="yes"?>
<Relationships xmlns="http://schemas.openxmlformats.org/package/2006/relationships"><Relationship Id="rId8" Type="http://schemas.openxmlformats.org/officeDocument/2006/relationships/image" Target="../media/image141.wmf"/><Relationship Id="rId3" Type="http://schemas.openxmlformats.org/officeDocument/2006/relationships/image" Target="../media/image136.wmf"/><Relationship Id="rId7" Type="http://schemas.openxmlformats.org/officeDocument/2006/relationships/image" Target="../media/image140.wmf"/><Relationship Id="rId2" Type="http://schemas.openxmlformats.org/officeDocument/2006/relationships/image" Target="../media/image135.wmf"/><Relationship Id="rId1" Type="http://schemas.openxmlformats.org/officeDocument/2006/relationships/image" Target="../media/image134.wmf"/><Relationship Id="rId6" Type="http://schemas.openxmlformats.org/officeDocument/2006/relationships/image" Target="../media/image139.wmf"/><Relationship Id="rId5" Type="http://schemas.openxmlformats.org/officeDocument/2006/relationships/image" Target="../media/image138.wmf"/><Relationship Id="rId10" Type="http://schemas.openxmlformats.org/officeDocument/2006/relationships/image" Target="../media/image143.wmf"/><Relationship Id="rId4" Type="http://schemas.openxmlformats.org/officeDocument/2006/relationships/image" Target="../media/image137.wmf"/><Relationship Id="rId9" Type="http://schemas.openxmlformats.org/officeDocument/2006/relationships/image" Target="../media/image142.wmf"/></Relationships>
</file>

<file path=ppt/drawings/_rels/vmlDrawing20.vml.rels><?xml version="1.0" encoding="UTF-8" standalone="yes"?>
<Relationships xmlns="http://schemas.openxmlformats.org/package/2006/relationships"><Relationship Id="rId8" Type="http://schemas.openxmlformats.org/officeDocument/2006/relationships/image" Target="../media/image151.wmf"/><Relationship Id="rId3" Type="http://schemas.openxmlformats.org/officeDocument/2006/relationships/image" Target="../media/image146.wmf"/><Relationship Id="rId7" Type="http://schemas.openxmlformats.org/officeDocument/2006/relationships/image" Target="../media/image150.wmf"/><Relationship Id="rId2" Type="http://schemas.openxmlformats.org/officeDocument/2006/relationships/image" Target="../media/image145.wmf"/><Relationship Id="rId1" Type="http://schemas.openxmlformats.org/officeDocument/2006/relationships/image" Target="../media/image144.wmf"/><Relationship Id="rId6" Type="http://schemas.openxmlformats.org/officeDocument/2006/relationships/image" Target="../media/image149.wmf"/><Relationship Id="rId5" Type="http://schemas.openxmlformats.org/officeDocument/2006/relationships/image" Target="../media/image148.wmf"/><Relationship Id="rId4" Type="http://schemas.openxmlformats.org/officeDocument/2006/relationships/image" Target="../media/image147.wmf"/></Relationships>
</file>

<file path=ppt/drawings/_rels/vmlDrawing21.vml.rels><?xml version="1.0" encoding="UTF-8" standalone="yes"?>
<Relationships xmlns="http://schemas.openxmlformats.org/package/2006/relationships"><Relationship Id="rId3" Type="http://schemas.openxmlformats.org/officeDocument/2006/relationships/image" Target="../media/image154.wmf"/><Relationship Id="rId7" Type="http://schemas.openxmlformats.org/officeDocument/2006/relationships/image" Target="../media/image158.wmf"/><Relationship Id="rId2" Type="http://schemas.openxmlformats.org/officeDocument/2006/relationships/image" Target="../media/image153.wmf"/><Relationship Id="rId1" Type="http://schemas.openxmlformats.org/officeDocument/2006/relationships/image" Target="../media/image152.wmf"/><Relationship Id="rId6" Type="http://schemas.openxmlformats.org/officeDocument/2006/relationships/image" Target="../media/image157.wmf"/><Relationship Id="rId5" Type="http://schemas.openxmlformats.org/officeDocument/2006/relationships/image" Target="../media/image156.wmf"/><Relationship Id="rId4" Type="http://schemas.openxmlformats.org/officeDocument/2006/relationships/image" Target="../media/image155.wmf"/></Relationships>
</file>

<file path=ppt/drawings/_rels/vmlDrawing22.vml.rels><?xml version="1.0" encoding="UTF-8" standalone="yes"?>
<Relationships xmlns="http://schemas.openxmlformats.org/package/2006/relationships"><Relationship Id="rId8" Type="http://schemas.openxmlformats.org/officeDocument/2006/relationships/image" Target="../media/image166.wmf"/><Relationship Id="rId3" Type="http://schemas.openxmlformats.org/officeDocument/2006/relationships/image" Target="../media/image161.wmf"/><Relationship Id="rId7" Type="http://schemas.openxmlformats.org/officeDocument/2006/relationships/image" Target="../media/image165.wmf"/><Relationship Id="rId2" Type="http://schemas.openxmlformats.org/officeDocument/2006/relationships/image" Target="../media/image160.wmf"/><Relationship Id="rId1" Type="http://schemas.openxmlformats.org/officeDocument/2006/relationships/image" Target="../media/image159.wmf"/><Relationship Id="rId6" Type="http://schemas.openxmlformats.org/officeDocument/2006/relationships/image" Target="../media/image164.wmf"/><Relationship Id="rId5" Type="http://schemas.openxmlformats.org/officeDocument/2006/relationships/image" Target="../media/image163.wmf"/><Relationship Id="rId4" Type="http://schemas.openxmlformats.org/officeDocument/2006/relationships/image" Target="../media/image162.wmf"/><Relationship Id="rId9" Type="http://schemas.openxmlformats.org/officeDocument/2006/relationships/image" Target="../media/image167.wmf"/></Relationships>
</file>

<file path=ppt/drawings/_rels/vmlDrawing23.vml.rels><?xml version="1.0" encoding="UTF-8" standalone="yes"?>
<Relationships xmlns="http://schemas.openxmlformats.org/package/2006/relationships"><Relationship Id="rId8" Type="http://schemas.openxmlformats.org/officeDocument/2006/relationships/image" Target="../media/image175.wmf"/><Relationship Id="rId3" Type="http://schemas.openxmlformats.org/officeDocument/2006/relationships/image" Target="../media/image170.wmf"/><Relationship Id="rId7" Type="http://schemas.openxmlformats.org/officeDocument/2006/relationships/image" Target="../media/image174.wmf"/><Relationship Id="rId2" Type="http://schemas.openxmlformats.org/officeDocument/2006/relationships/image" Target="../media/image169.wmf"/><Relationship Id="rId1" Type="http://schemas.openxmlformats.org/officeDocument/2006/relationships/image" Target="../media/image168.wmf"/><Relationship Id="rId6" Type="http://schemas.openxmlformats.org/officeDocument/2006/relationships/image" Target="../media/image173.wmf"/><Relationship Id="rId5" Type="http://schemas.openxmlformats.org/officeDocument/2006/relationships/image" Target="../media/image172.wmf"/><Relationship Id="rId4" Type="http://schemas.openxmlformats.org/officeDocument/2006/relationships/image" Target="../media/image171.wmf"/><Relationship Id="rId9" Type="http://schemas.openxmlformats.org/officeDocument/2006/relationships/image" Target="../media/image176.emf"/></Relationships>
</file>

<file path=ppt/drawings/_rels/vmlDrawing24.vml.rels><?xml version="1.0" encoding="UTF-8" standalone="yes"?>
<Relationships xmlns="http://schemas.openxmlformats.org/package/2006/relationships"><Relationship Id="rId3" Type="http://schemas.openxmlformats.org/officeDocument/2006/relationships/image" Target="../media/image179.wmf"/><Relationship Id="rId2" Type="http://schemas.openxmlformats.org/officeDocument/2006/relationships/image" Target="../media/image178.wmf"/><Relationship Id="rId1" Type="http://schemas.openxmlformats.org/officeDocument/2006/relationships/image" Target="../media/image177.wmf"/><Relationship Id="rId4" Type="http://schemas.openxmlformats.org/officeDocument/2006/relationships/image" Target="../media/image180.wmf"/></Relationships>
</file>

<file path=ppt/drawings/_rels/vmlDrawing25.vml.rels><?xml version="1.0" encoding="UTF-8" standalone="yes"?>
<Relationships xmlns="http://schemas.openxmlformats.org/package/2006/relationships"><Relationship Id="rId3" Type="http://schemas.openxmlformats.org/officeDocument/2006/relationships/image" Target="../media/image183.wmf"/><Relationship Id="rId2" Type="http://schemas.openxmlformats.org/officeDocument/2006/relationships/image" Target="../media/image182.wmf"/><Relationship Id="rId1" Type="http://schemas.openxmlformats.org/officeDocument/2006/relationships/image" Target="../media/image181.wmf"/><Relationship Id="rId4" Type="http://schemas.openxmlformats.org/officeDocument/2006/relationships/image" Target="../media/image184.wmf"/></Relationships>
</file>

<file path=ppt/drawings/_rels/vmlDrawing26.vml.rels><?xml version="1.0" encoding="UTF-8" standalone="yes"?>
<Relationships xmlns="http://schemas.openxmlformats.org/package/2006/relationships"><Relationship Id="rId8" Type="http://schemas.openxmlformats.org/officeDocument/2006/relationships/image" Target="../media/image192.wmf"/><Relationship Id="rId3" Type="http://schemas.openxmlformats.org/officeDocument/2006/relationships/image" Target="../media/image187.wmf"/><Relationship Id="rId7" Type="http://schemas.openxmlformats.org/officeDocument/2006/relationships/image" Target="../media/image191.wmf"/><Relationship Id="rId2" Type="http://schemas.openxmlformats.org/officeDocument/2006/relationships/image" Target="../media/image186.wmf"/><Relationship Id="rId1" Type="http://schemas.openxmlformats.org/officeDocument/2006/relationships/image" Target="../media/image185.wmf"/><Relationship Id="rId6" Type="http://schemas.openxmlformats.org/officeDocument/2006/relationships/image" Target="../media/image190.wmf"/><Relationship Id="rId5" Type="http://schemas.openxmlformats.org/officeDocument/2006/relationships/image" Target="../media/image189.wmf"/><Relationship Id="rId4" Type="http://schemas.openxmlformats.org/officeDocument/2006/relationships/image" Target="../media/image188.wmf"/></Relationships>
</file>

<file path=ppt/drawings/_rels/vmlDrawing27.vml.rels><?xml version="1.0" encoding="UTF-8" standalone="yes"?>
<Relationships xmlns="http://schemas.openxmlformats.org/package/2006/relationships"><Relationship Id="rId3" Type="http://schemas.openxmlformats.org/officeDocument/2006/relationships/image" Target="../media/image179.wmf"/><Relationship Id="rId2" Type="http://schemas.openxmlformats.org/officeDocument/2006/relationships/image" Target="../media/image178.wmf"/><Relationship Id="rId1" Type="http://schemas.openxmlformats.org/officeDocument/2006/relationships/image" Target="../media/image193.wmf"/><Relationship Id="rId4" Type="http://schemas.openxmlformats.org/officeDocument/2006/relationships/image" Target="../media/image180.wmf"/></Relationships>
</file>

<file path=ppt/drawings/_rels/vmlDrawing28.vml.rels><?xml version="1.0" encoding="UTF-8" standalone="yes"?>
<Relationships xmlns="http://schemas.openxmlformats.org/package/2006/relationships"><Relationship Id="rId8" Type="http://schemas.openxmlformats.org/officeDocument/2006/relationships/image" Target="../media/image201.wmf"/><Relationship Id="rId3" Type="http://schemas.openxmlformats.org/officeDocument/2006/relationships/image" Target="../media/image196.wmf"/><Relationship Id="rId7" Type="http://schemas.openxmlformats.org/officeDocument/2006/relationships/image" Target="../media/image200.wmf"/><Relationship Id="rId2" Type="http://schemas.openxmlformats.org/officeDocument/2006/relationships/image" Target="../media/image195.wmf"/><Relationship Id="rId1" Type="http://schemas.openxmlformats.org/officeDocument/2006/relationships/image" Target="../media/image194.wmf"/><Relationship Id="rId6" Type="http://schemas.openxmlformats.org/officeDocument/2006/relationships/image" Target="../media/image199.wmf"/><Relationship Id="rId5" Type="http://schemas.openxmlformats.org/officeDocument/2006/relationships/image" Target="../media/image198.wmf"/><Relationship Id="rId4" Type="http://schemas.openxmlformats.org/officeDocument/2006/relationships/image" Target="../media/image197.wmf"/></Relationships>
</file>

<file path=ppt/drawings/_rels/vmlDrawing29.vml.rels><?xml version="1.0" encoding="UTF-8" standalone="yes"?>
<Relationships xmlns="http://schemas.openxmlformats.org/package/2006/relationships"><Relationship Id="rId1" Type="http://schemas.openxmlformats.org/officeDocument/2006/relationships/image" Target="../media/image202.wmf"/></Relationships>
</file>

<file path=ppt/drawings/_rels/vmlDrawing30.vml.rels><?xml version="1.0" encoding="UTF-8" standalone="yes"?>
<Relationships xmlns="http://schemas.openxmlformats.org/package/2006/relationships"><Relationship Id="rId1" Type="http://schemas.openxmlformats.org/officeDocument/2006/relationships/image" Target="../media/image203.wmf"/></Relationships>
</file>

<file path=ppt/drawings/_rels/vmlDrawing31.vml.rels><?xml version="1.0" encoding="UTF-8" standalone="yes"?>
<Relationships xmlns="http://schemas.openxmlformats.org/package/2006/relationships"><Relationship Id="rId1" Type="http://schemas.openxmlformats.org/officeDocument/2006/relationships/image" Target="../media/image205.wmf"/></Relationships>
</file>

<file path=ppt/drawings/_rels/vmlDrawing32.vml.rels><?xml version="1.0" encoding="UTF-8" standalone="yes"?>
<Relationships xmlns="http://schemas.openxmlformats.org/package/2006/relationships"><Relationship Id="rId8" Type="http://schemas.openxmlformats.org/officeDocument/2006/relationships/image" Target="../media/image213.wmf"/><Relationship Id="rId3" Type="http://schemas.openxmlformats.org/officeDocument/2006/relationships/image" Target="../media/image208.wmf"/><Relationship Id="rId7" Type="http://schemas.openxmlformats.org/officeDocument/2006/relationships/image" Target="../media/image212.wmf"/><Relationship Id="rId2" Type="http://schemas.openxmlformats.org/officeDocument/2006/relationships/image" Target="../media/image207.wmf"/><Relationship Id="rId1" Type="http://schemas.openxmlformats.org/officeDocument/2006/relationships/image" Target="../media/image206.wmf"/><Relationship Id="rId6" Type="http://schemas.openxmlformats.org/officeDocument/2006/relationships/image" Target="../media/image211.wmf"/><Relationship Id="rId5" Type="http://schemas.openxmlformats.org/officeDocument/2006/relationships/image" Target="../media/image210.wmf"/><Relationship Id="rId4" Type="http://schemas.openxmlformats.org/officeDocument/2006/relationships/image" Target="../media/image209.wmf"/><Relationship Id="rId9" Type="http://schemas.openxmlformats.org/officeDocument/2006/relationships/image" Target="../media/image214.wmf"/></Relationships>
</file>

<file path=ppt/drawings/_rels/vmlDrawing33.vml.rels><?xml version="1.0" encoding="UTF-8" standalone="yes"?>
<Relationships xmlns="http://schemas.openxmlformats.org/package/2006/relationships"><Relationship Id="rId1" Type="http://schemas.openxmlformats.org/officeDocument/2006/relationships/image" Target="../media/image215.wmf"/></Relationships>
</file>

<file path=ppt/drawings/_rels/vmlDrawing34.vml.rels><?xml version="1.0" encoding="UTF-8" standalone="yes"?>
<Relationships xmlns="http://schemas.openxmlformats.org/package/2006/relationships"><Relationship Id="rId3" Type="http://schemas.openxmlformats.org/officeDocument/2006/relationships/image" Target="../media/image218.wmf"/><Relationship Id="rId2" Type="http://schemas.openxmlformats.org/officeDocument/2006/relationships/image" Target="../media/image217.wmf"/><Relationship Id="rId1" Type="http://schemas.openxmlformats.org/officeDocument/2006/relationships/image" Target="../media/image216.wmf"/></Relationships>
</file>

<file path=ppt/drawings/_rels/vmlDrawing35.vml.rels><?xml version="1.0" encoding="UTF-8" standalone="yes"?>
<Relationships xmlns="http://schemas.openxmlformats.org/package/2006/relationships"><Relationship Id="rId3" Type="http://schemas.openxmlformats.org/officeDocument/2006/relationships/image" Target="../media/image221.wmf"/><Relationship Id="rId7" Type="http://schemas.openxmlformats.org/officeDocument/2006/relationships/image" Target="../media/image225.wmf"/><Relationship Id="rId2" Type="http://schemas.openxmlformats.org/officeDocument/2006/relationships/image" Target="../media/image220.wmf"/><Relationship Id="rId1" Type="http://schemas.openxmlformats.org/officeDocument/2006/relationships/image" Target="../media/image219.wmf"/><Relationship Id="rId6" Type="http://schemas.openxmlformats.org/officeDocument/2006/relationships/image" Target="../media/image224.wmf"/><Relationship Id="rId5" Type="http://schemas.openxmlformats.org/officeDocument/2006/relationships/image" Target="../media/image223.wmf"/><Relationship Id="rId4" Type="http://schemas.openxmlformats.org/officeDocument/2006/relationships/image" Target="../media/image222.wmf"/></Relationships>
</file>

<file path=ppt/drawings/_rels/vmlDrawing36.vml.rels><?xml version="1.0" encoding="UTF-8" standalone="yes"?>
<Relationships xmlns="http://schemas.openxmlformats.org/package/2006/relationships"><Relationship Id="rId8" Type="http://schemas.openxmlformats.org/officeDocument/2006/relationships/image" Target="../media/image233.wmf"/><Relationship Id="rId3" Type="http://schemas.openxmlformats.org/officeDocument/2006/relationships/image" Target="../media/image228.wmf"/><Relationship Id="rId7" Type="http://schemas.openxmlformats.org/officeDocument/2006/relationships/image" Target="../media/image232.wmf"/><Relationship Id="rId2" Type="http://schemas.openxmlformats.org/officeDocument/2006/relationships/image" Target="../media/image227.wmf"/><Relationship Id="rId1" Type="http://schemas.openxmlformats.org/officeDocument/2006/relationships/image" Target="../media/image226.wmf"/><Relationship Id="rId6" Type="http://schemas.openxmlformats.org/officeDocument/2006/relationships/image" Target="../media/image231.wmf"/><Relationship Id="rId5" Type="http://schemas.openxmlformats.org/officeDocument/2006/relationships/image" Target="../media/image230.wmf"/><Relationship Id="rId4" Type="http://schemas.openxmlformats.org/officeDocument/2006/relationships/image" Target="../media/image229.wmf"/></Relationships>
</file>

<file path=ppt/drawings/_rels/vmlDrawing37.vml.rels><?xml version="1.0" encoding="UTF-8" standalone="yes"?>
<Relationships xmlns="http://schemas.openxmlformats.org/package/2006/relationships"><Relationship Id="rId3" Type="http://schemas.openxmlformats.org/officeDocument/2006/relationships/image" Target="../media/image236.wmf"/><Relationship Id="rId2" Type="http://schemas.openxmlformats.org/officeDocument/2006/relationships/image" Target="../media/image235.wmf"/><Relationship Id="rId1" Type="http://schemas.openxmlformats.org/officeDocument/2006/relationships/image" Target="../media/image234.wmf"/><Relationship Id="rId4" Type="http://schemas.openxmlformats.org/officeDocument/2006/relationships/image" Target="../media/image237.wmf"/></Relationships>
</file>

<file path=ppt/drawings/_rels/vmlDrawing38.vml.rels><?xml version="1.0" encoding="UTF-8" standalone="yes"?>
<Relationships xmlns="http://schemas.openxmlformats.org/package/2006/relationships"><Relationship Id="rId3" Type="http://schemas.openxmlformats.org/officeDocument/2006/relationships/image" Target="../media/image240.wmf"/><Relationship Id="rId2" Type="http://schemas.openxmlformats.org/officeDocument/2006/relationships/image" Target="../media/image239.wmf"/><Relationship Id="rId1" Type="http://schemas.openxmlformats.org/officeDocument/2006/relationships/image" Target="../media/image238.wmf"/><Relationship Id="rId5" Type="http://schemas.openxmlformats.org/officeDocument/2006/relationships/image" Target="../media/image242.wmf"/><Relationship Id="rId4" Type="http://schemas.openxmlformats.org/officeDocument/2006/relationships/image" Target="../media/image241.wmf"/></Relationships>
</file>

<file path=ppt/drawings/_rels/vmlDrawing39.vml.rels><?xml version="1.0" encoding="UTF-8" standalone="yes"?>
<Relationships xmlns="http://schemas.openxmlformats.org/package/2006/relationships"><Relationship Id="rId3" Type="http://schemas.openxmlformats.org/officeDocument/2006/relationships/image" Target="../media/image245.wmf"/><Relationship Id="rId2" Type="http://schemas.openxmlformats.org/officeDocument/2006/relationships/image" Target="../media/image244.wmf"/><Relationship Id="rId1" Type="http://schemas.openxmlformats.org/officeDocument/2006/relationships/image" Target="../media/image243.wmf"/></Relationships>
</file>

<file path=ppt/drawings/_rels/vmlDrawing40.vml.rels><?xml version="1.0" encoding="UTF-8" standalone="yes"?>
<Relationships xmlns="http://schemas.openxmlformats.org/package/2006/relationships"><Relationship Id="rId3" Type="http://schemas.openxmlformats.org/officeDocument/2006/relationships/image" Target="../media/image248.wmf"/><Relationship Id="rId2" Type="http://schemas.openxmlformats.org/officeDocument/2006/relationships/image" Target="../media/image247.wmf"/><Relationship Id="rId1" Type="http://schemas.openxmlformats.org/officeDocument/2006/relationships/image" Target="../media/image246.wmf"/><Relationship Id="rId4" Type="http://schemas.openxmlformats.org/officeDocument/2006/relationships/image" Target="../media/image249.wmf"/></Relationships>
</file>

<file path=ppt/drawings/_rels/vmlDrawing41.vml.rels><?xml version="1.0" encoding="UTF-8" standalone="yes"?>
<Relationships xmlns="http://schemas.openxmlformats.org/package/2006/relationships"><Relationship Id="rId3" Type="http://schemas.openxmlformats.org/officeDocument/2006/relationships/image" Target="../media/image252.wmf"/><Relationship Id="rId7" Type="http://schemas.openxmlformats.org/officeDocument/2006/relationships/image" Target="../media/image256.wmf"/><Relationship Id="rId2" Type="http://schemas.openxmlformats.org/officeDocument/2006/relationships/image" Target="../media/image251.wmf"/><Relationship Id="rId1" Type="http://schemas.openxmlformats.org/officeDocument/2006/relationships/image" Target="../media/image250.wmf"/><Relationship Id="rId6" Type="http://schemas.openxmlformats.org/officeDocument/2006/relationships/image" Target="../media/image255.wmf"/><Relationship Id="rId5" Type="http://schemas.openxmlformats.org/officeDocument/2006/relationships/image" Target="../media/image254.wmf"/><Relationship Id="rId4" Type="http://schemas.openxmlformats.org/officeDocument/2006/relationships/image" Target="../media/image253.wmf"/></Relationships>
</file>

<file path=ppt/drawings/_rels/vmlDrawing42.vml.rels><?xml version="1.0" encoding="UTF-8" standalone="yes"?>
<Relationships xmlns="http://schemas.openxmlformats.org/package/2006/relationships"><Relationship Id="rId3" Type="http://schemas.openxmlformats.org/officeDocument/2006/relationships/image" Target="../media/image259.wmf"/><Relationship Id="rId2" Type="http://schemas.openxmlformats.org/officeDocument/2006/relationships/image" Target="../media/image258.wmf"/><Relationship Id="rId1" Type="http://schemas.openxmlformats.org/officeDocument/2006/relationships/image" Target="../media/image257.wmf"/><Relationship Id="rId5" Type="http://schemas.openxmlformats.org/officeDocument/2006/relationships/image" Target="../media/image261.wmf"/><Relationship Id="rId4" Type="http://schemas.openxmlformats.org/officeDocument/2006/relationships/image" Target="../media/image260.wmf"/></Relationships>
</file>

<file path=ppt/drawings/_rels/vmlDrawing43.vml.rels><?xml version="1.0" encoding="UTF-8" standalone="yes"?>
<Relationships xmlns="http://schemas.openxmlformats.org/package/2006/relationships"><Relationship Id="rId1" Type="http://schemas.openxmlformats.org/officeDocument/2006/relationships/image" Target="../media/image262.wmf"/></Relationships>
</file>

<file path=ppt/drawings/_rels/vmlDrawing44.vml.rels><?xml version="1.0" encoding="UTF-8" standalone="yes"?>
<Relationships xmlns="http://schemas.openxmlformats.org/package/2006/relationships"><Relationship Id="rId3" Type="http://schemas.openxmlformats.org/officeDocument/2006/relationships/image" Target="../media/image266.wmf"/><Relationship Id="rId2" Type="http://schemas.openxmlformats.org/officeDocument/2006/relationships/image" Target="../media/image265.wmf"/><Relationship Id="rId1" Type="http://schemas.openxmlformats.org/officeDocument/2006/relationships/image" Target="../media/image264.wmf"/><Relationship Id="rId4" Type="http://schemas.openxmlformats.org/officeDocument/2006/relationships/image" Target="../media/image267.wmf"/></Relationships>
</file>

<file path=ppt/drawings/_rels/vmlDrawing45.vml.rels><?xml version="1.0" encoding="UTF-8" standalone="yes"?>
<Relationships xmlns="http://schemas.openxmlformats.org/package/2006/relationships"><Relationship Id="rId1" Type="http://schemas.openxmlformats.org/officeDocument/2006/relationships/image" Target="../media/image268.wmf"/></Relationships>
</file>

<file path=ppt/drawings/_rels/vmlDrawing46.vml.rels><?xml version="1.0" encoding="UTF-8" standalone="yes"?>
<Relationships xmlns="http://schemas.openxmlformats.org/package/2006/relationships"><Relationship Id="rId3" Type="http://schemas.openxmlformats.org/officeDocument/2006/relationships/image" Target="../media/image271.wmf"/><Relationship Id="rId2" Type="http://schemas.openxmlformats.org/officeDocument/2006/relationships/image" Target="../media/image270.wmf"/><Relationship Id="rId1" Type="http://schemas.openxmlformats.org/officeDocument/2006/relationships/image" Target="../media/image269.wmf"/><Relationship Id="rId5" Type="http://schemas.openxmlformats.org/officeDocument/2006/relationships/image" Target="../media/image273.wmf"/><Relationship Id="rId4" Type="http://schemas.openxmlformats.org/officeDocument/2006/relationships/image" Target="../media/image272.wmf"/></Relationships>
</file>

<file path=ppt/drawings/_rels/vmlDrawing47.vml.rels><?xml version="1.0" encoding="UTF-8" standalone="yes"?>
<Relationships xmlns="http://schemas.openxmlformats.org/package/2006/relationships"><Relationship Id="rId3" Type="http://schemas.openxmlformats.org/officeDocument/2006/relationships/image" Target="../media/image276.wmf"/><Relationship Id="rId2" Type="http://schemas.openxmlformats.org/officeDocument/2006/relationships/image" Target="../media/image275.wmf"/><Relationship Id="rId1" Type="http://schemas.openxmlformats.org/officeDocument/2006/relationships/image" Target="../media/image274.wmf"/><Relationship Id="rId5" Type="http://schemas.openxmlformats.org/officeDocument/2006/relationships/image" Target="../media/image278.wmf"/><Relationship Id="rId4" Type="http://schemas.openxmlformats.org/officeDocument/2006/relationships/image" Target="../media/image277.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defRPr>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smtClean="0">
                <a:latin typeface="+mn-lt"/>
                <a:ea typeface="+mn-ea"/>
              </a:defRPr>
            </a:lvl1pPr>
          </a:lstStyle>
          <a:p>
            <a:pPr>
              <a:defRPr/>
            </a:pPr>
            <a:fld id="{DA3E7D0D-4A2D-4D5B-B488-07A9D6E13128}" type="datetimeFigureOut">
              <a:rPr lang="zh-CN" altLang="en-US"/>
              <a:pPr>
                <a:defRPr/>
              </a:pPr>
              <a:t>2018/4/21</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endParaRPr lang="zh-CN" altLang="en-US" noProof="0"/>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smtClean="0">
                <a:latin typeface="+mn-lt"/>
                <a:ea typeface="+mn-ea"/>
              </a:defRPr>
            </a:lvl1pPr>
          </a:lstStyle>
          <a:p>
            <a:pPr>
              <a:defRPr/>
            </a:pPr>
            <a:fld id="{E7DA86DB-FC29-4092-9E09-685DA079AD7D}"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幻灯片图像占位符 1"/>
          <p:cNvSpPr>
            <a:spLocks noGrp="1" noRot="1" noChangeAspect="1" noTextEdit="1"/>
          </p:cNvSpPr>
          <p:nvPr>
            <p:ph type="sldImg"/>
          </p:nvPr>
        </p:nvSpPr>
        <p:spPr bwMode="auto">
          <a:noFill/>
          <a:ln>
            <a:solidFill>
              <a:srgbClr val="000000"/>
            </a:solidFill>
            <a:miter lim="800000"/>
            <a:headEnd/>
            <a:tailEnd/>
          </a:ln>
        </p:spPr>
      </p:sp>
      <p:sp>
        <p:nvSpPr>
          <p:cNvPr id="107522" name="备注占位符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zh-CN" altLang="en-US" smtClean="0"/>
          </a:p>
        </p:txBody>
      </p:sp>
      <p:sp>
        <p:nvSpPr>
          <p:cNvPr id="107523" name="灯片编号占位符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EEF7019-8418-4C15-BAC2-118B4D7246C6}" type="slidenum">
              <a:rPr kumimoji="1" lang="en-US" altLang="zh-CN">
                <a:solidFill>
                  <a:srgbClr val="000000"/>
                </a:solidFill>
                <a:latin typeface="Times New Roman" pitchFamily="18" charset="0"/>
              </a:rPr>
              <a:pPr fontAlgn="base">
                <a:spcBef>
                  <a:spcPct val="0"/>
                </a:spcBef>
                <a:spcAft>
                  <a:spcPct val="0"/>
                </a:spcAft>
              </a:pPr>
              <a:t>30</a:t>
            </a:fld>
            <a:endParaRPr kumimoji="1" lang="en-US" altLang="zh-CN">
              <a:solidFill>
                <a:srgbClr val="000000"/>
              </a:solidFill>
              <a:latin typeface="Times New Roman"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2" name="TextBox 1"/>
          <p:cNvSpPr txBox="1">
            <a:spLocks noChangeArrowheads="1"/>
          </p:cNvSpPr>
          <p:nvPr userDrawn="1"/>
        </p:nvSpPr>
        <p:spPr bwMode="auto">
          <a:xfrm>
            <a:off x="6372225" y="261938"/>
            <a:ext cx="2581275" cy="461962"/>
          </a:xfrm>
          <a:prstGeom prst="rect">
            <a:avLst/>
          </a:prstGeom>
          <a:noFill/>
          <a:ln>
            <a:noFill/>
          </a:ln>
          <a:extLst>
            <a:ext uri="{909E8E84-426E-40DD-AFC4-6F175D3DCCD1}"/>
            <a:ext uri="{91240B29-F687-4F45-9708-019B960494DF}"/>
          </a:extLst>
        </p:spPr>
        <p:txBody>
          <a:bodyPr wrap="none">
            <a:spAutoFit/>
          </a:bodyPr>
          <a:lstStyle>
            <a:lvl1pPr>
              <a:defRPr sz="2800">
                <a:solidFill>
                  <a:schemeClr val="tx1"/>
                </a:solidFill>
                <a:latin typeface="Times New Roman" pitchFamily="18" charset="0"/>
                <a:ea typeface="宋体" pitchFamily="2" charset="-122"/>
              </a:defRPr>
            </a:lvl1pPr>
            <a:lvl2pPr>
              <a:defRPr sz="2800">
                <a:solidFill>
                  <a:schemeClr val="tx1"/>
                </a:solidFill>
                <a:latin typeface="Times New Roman" pitchFamily="18" charset="0"/>
                <a:ea typeface="宋体" pitchFamily="2" charset="-122"/>
              </a:defRPr>
            </a:lvl2pPr>
            <a:lvl3pPr>
              <a:defRPr sz="2800">
                <a:solidFill>
                  <a:schemeClr val="tx1"/>
                </a:solidFill>
                <a:latin typeface="Times New Roman" pitchFamily="18" charset="0"/>
                <a:ea typeface="宋体" pitchFamily="2" charset="-122"/>
              </a:defRPr>
            </a:lvl3pPr>
            <a:lvl4pPr>
              <a:defRPr sz="2800">
                <a:solidFill>
                  <a:schemeClr val="tx1"/>
                </a:solidFill>
                <a:latin typeface="Times New Roman" pitchFamily="18" charset="0"/>
                <a:ea typeface="宋体" pitchFamily="2" charset="-122"/>
              </a:defRPr>
            </a:lvl4pPr>
            <a:lvl5pPr>
              <a:defRPr sz="2800">
                <a:solidFill>
                  <a:schemeClr val="tx1"/>
                </a:solidFill>
                <a:latin typeface="Times New Roman" pitchFamily="18" charset="0"/>
                <a:ea typeface="宋体" pitchFamily="2" charset="-122"/>
              </a:defRPr>
            </a:lvl5pPr>
            <a:lvl6pPr fontAlgn="base">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fontAlgn="base">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fontAlgn="base">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fontAlgn="base">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a:buFont typeface="Arial" pitchFamily="34" charset="0"/>
              <a:buNone/>
              <a:defRPr/>
            </a:pPr>
            <a:r>
              <a:rPr kumimoji="1" lang="zh-CN" altLang="en-US" sz="2400" b="1" dirty="0" smtClean="0">
                <a:solidFill>
                  <a:prstClr val="white"/>
                </a:solidFill>
              </a:rPr>
              <a:t>第</a:t>
            </a:r>
            <a:r>
              <a:rPr kumimoji="1" lang="en-US" altLang="zh-CN" sz="2400" b="1" dirty="0" smtClean="0">
                <a:solidFill>
                  <a:prstClr val="white"/>
                </a:solidFill>
              </a:rPr>
              <a:t>8</a:t>
            </a:r>
            <a:r>
              <a:rPr kumimoji="1" lang="zh-CN" altLang="en-US" sz="2400" b="1" dirty="0" smtClean="0">
                <a:solidFill>
                  <a:prstClr val="white"/>
                </a:solidFill>
              </a:rPr>
              <a:t>章 热力学基础</a:t>
            </a:r>
            <a:endParaRPr kumimoji="1" lang="zh-CN" altLang="en-US" sz="2400" b="1" dirty="0">
              <a:solidFill>
                <a:prstClr val="white"/>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TextBox 1"/>
          <p:cNvSpPr txBox="1">
            <a:spLocks noChangeArrowheads="1"/>
          </p:cNvSpPr>
          <p:nvPr userDrawn="1"/>
        </p:nvSpPr>
        <p:spPr bwMode="auto">
          <a:xfrm>
            <a:off x="7929563" y="268288"/>
            <a:ext cx="1035050" cy="460375"/>
          </a:xfrm>
          <a:prstGeom prst="rect">
            <a:avLst/>
          </a:prstGeom>
          <a:noFill/>
          <a:ln>
            <a:noFill/>
          </a:ln>
          <a:extLst>
            <a:ext uri="{909E8E84-426E-40DD-AFC4-6F175D3DCCD1}"/>
            <a:ext uri="{91240B29-F687-4F45-9708-019B960494DF}"/>
          </a:extLst>
        </p:spPr>
        <p:txBody>
          <a:bodyPr wrap="none">
            <a:spAutoFit/>
          </a:bodyPr>
          <a:lstStyle>
            <a:lvl1pPr>
              <a:defRPr sz="2800">
                <a:solidFill>
                  <a:schemeClr val="tx1"/>
                </a:solidFill>
                <a:latin typeface="Times New Roman" pitchFamily="18" charset="0"/>
                <a:ea typeface="宋体" pitchFamily="2" charset="-122"/>
              </a:defRPr>
            </a:lvl1pPr>
            <a:lvl2pPr>
              <a:defRPr sz="2800">
                <a:solidFill>
                  <a:schemeClr val="tx1"/>
                </a:solidFill>
                <a:latin typeface="Times New Roman" pitchFamily="18" charset="0"/>
                <a:ea typeface="宋体" pitchFamily="2" charset="-122"/>
              </a:defRPr>
            </a:lvl2pPr>
            <a:lvl3pPr>
              <a:defRPr sz="2800">
                <a:solidFill>
                  <a:schemeClr val="tx1"/>
                </a:solidFill>
                <a:latin typeface="Times New Roman" pitchFamily="18" charset="0"/>
                <a:ea typeface="宋体" pitchFamily="2" charset="-122"/>
              </a:defRPr>
            </a:lvl3pPr>
            <a:lvl4pPr>
              <a:defRPr sz="2800">
                <a:solidFill>
                  <a:schemeClr val="tx1"/>
                </a:solidFill>
                <a:latin typeface="Times New Roman" pitchFamily="18" charset="0"/>
                <a:ea typeface="宋体" pitchFamily="2" charset="-122"/>
              </a:defRPr>
            </a:lvl4pPr>
            <a:lvl5pPr>
              <a:defRPr sz="2800">
                <a:solidFill>
                  <a:schemeClr val="tx1"/>
                </a:solidFill>
                <a:latin typeface="Times New Roman" pitchFamily="18" charset="0"/>
                <a:ea typeface="宋体" pitchFamily="2" charset="-122"/>
              </a:defRPr>
            </a:lvl5pPr>
            <a:lvl6pPr fontAlgn="base">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fontAlgn="base">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fontAlgn="base">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fontAlgn="base">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a:buFont typeface="Arial" pitchFamily="34" charset="0"/>
              <a:buNone/>
              <a:defRPr/>
            </a:pPr>
            <a:r>
              <a:rPr kumimoji="1" lang="zh-CN" altLang="en-US" sz="2400" b="1" dirty="0" smtClean="0">
                <a:solidFill>
                  <a:prstClr val="white"/>
                </a:solidFill>
              </a:rPr>
              <a:t>前   言</a:t>
            </a:r>
            <a:endParaRPr kumimoji="1" lang="zh-CN" altLang="en-US" sz="2400" b="1" dirty="0">
              <a:solidFill>
                <a:prstClr val="white"/>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2" name="矩形 11"/>
          <p:cNvSpPr>
            <a:spLocks noChangeArrowheads="1"/>
          </p:cNvSpPr>
          <p:nvPr userDrawn="1"/>
        </p:nvSpPr>
        <p:spPr bwMode="auto">
          <a:xfrm>
            <a:off x="5003800" y="268288"/>
            <a:ext cx="3960813" cy="446087"/>
          </a:xfrm>
          <a:prstGeom prst="rect">
            <a:avLst/>
          </a:prstGeom>
          <a:noFill/>
          <a:ln>
            <a:noFill/>
          </a:ln>
          <a:extLst>
            <a:ext uri="{909E8E84-426E-40DD-AFC4-6F175D3DCCD1}"/>
            <a:ext uri="{91240B29-F687-4F45-9708-019B960494DF}"/>
          </a:extLst>
        </p:spPr>
        <p:txBody>
          <a:bodyPr>
            <a:spAutoFit/>
          </a:bodyPr>
          <a:lstStyle/>
          <a:p>
            <a:pPr>
              <a:lnSpc>
                <a:spcPct val="115000"/>
              </a:lnSpc>
              <a:defRPr/>
            </a:pPr>
            <a:r>
              <a:rPr kumimoji="1" lang="en-US" altLang="zh-CN" sz="2000" b="1">
                <a:solidFill>
                  <a:srgbClr val="FFFFFF"/>
                </a:solidFill>
                <a:latin typeface="Times New Roman" pitchFamily="18" charset="0"/>
                <a:ea typeface="华文中宋" pitchFamily="2" charset="-122"/>
                <a:cs typeface="Times New Roman" pitchFamily="18" charset="0"/>
              </a:rPr>
              <a:t>§8-1  </a:t>
            </a:r>
            <a:r>
              <a:rPr kumimoji="1" lang="zh-CN" altLang="en-US" sz="2000" b="1">
                <a:solidFill>
                  <a:srgbClr val="FFFFFF"/>
                </a:solidFill>
                <a:latin typeface="Times New Roman" pitchFamily="18" charset="0"/>
                <a:ea typeface="华文中宋" pitchFamily="2" charset="-122"/>
                <a:cs typeface="Times New Roman" pitchFamily="18" charset="0"/>
              </a:rPr>
              <a:t>内能 功和热量 准静态过程</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标题和内容">
    <p:spTree>
      <p:nvGrpSpPr>
        <p:cNvPr id="1" name=""/>
        <p:cNvGrpSpPr/>
        <p:nvPr/>
      </p:nvGrpSpPr>
      <p:grpSpPr>
        <a:xfrm>
          <a:off x="0" y="0"/>
          <a:ext cx="0" cy="0"/>
          <a:chOff x="0" y="0"/>
          <a:chExt cx="0" cy="0"/>
        </a:xfrm>
      </p:grpSpPr>
      <p:sp>
        <p:nvSpPr>
          <p:cNvPr id="2" name="矩形 11"/>
          <p:cNvSpPr>
            <a:spLocks noChangeArrowheads="1"/>
          </p:cNvSpPr>
          <p:nvPr userDrawn="1"/>
        </p:nvSpPr>
        <p:spPr bwMode="auto">
          <a:xfrm>
            <a:off x="6588125" y="320675"/>
            <a:ext cx="2447925" cy="411163"/>
          </a:xfrm>
          <a:prstGeom prst="rect">
            <a:avLst/>
          </a:prstGeom>
          <a:noFill/>
          <a:ln>
            <a:noFill/>
          </a:ln>
          <a:extLst>
            <a:ext uri="{909E8E84-426E-40DD-AFC4-6F175D3DCCD1}"/>
            <a:ext uri="{91240B29-F687-4F45-9708-019B960494DF}"/>
          </a:extLst>
        </p:spPr>
        <p:txBody>
          <a:bodyPr>
            <a:spAutoFit/>
          </a:bodyPr>
          <a:lstStyle/>
          <a:p>
            <a:pPr>
              <a:lnSpc>
                <a:spcPct val="115000"/>
              </a:lnSpc>
              <a:defRPr/>
            </a:pPr>
            <a:r>
              <a:rPr kumimoji="1" lang="en-US" altLang="zh-CN" b="1">
                <a:solidFill>
                  <a:srgbClr val="FFFFFF"/>
                </a:solidFill>
                <a:latin typeface="Times New Roman" pitchFamily="18" charset="0"/>
                <a:ea typeface="华文中宋" pitchFamily="2" charset="-122"/>
                <a:cs typeface="Times New Roman" pitchFamily="18" charset="0"/>
              </a:rPr>
              <a:t>§8-2  </a:t>
            </a:r>
            <a:r>
              <a:rPr kumimoji="1" lang="zh-CN" altLang="en-US" b="1">
                <a:solidFill>
                  <a:srgbClr val="FFFFFF"/>
                </a:solidFill>
                <a:latin typeface="Times New Roman" pitchFamily="18" charset="0"/>
                <a:ea typeface="华文中宋" pitchFamily="2" charset="-122"/>
                <a:cs typeface="Times New Roman" pitchFamily="18" charset="0"/>
              </a:rPr>
              <a:t>热力学第一定律</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2" name="矩形 11"/>
          <p:cNvSpPr>
            <a:spLocks noChangeArrowheads="1"/>
          </p:cNvSpPr>
          <p:nvPr userDrawn="1"/>
        </p:nvSpPr>
        <p:spPr bwMode="auto">
          <a:xfrm>
            <a:off x="6013450" y="339725"/>
            <a:ext cx="2951163" cy="446088"/>
          </a:xfrm>
          <a:prstGeom prst="rect">
            <a:avLst/>
          </a:prstGeom>
          <a:noFill/>
          <a:ln>
            <a:noFill/>
          </a:ln>
          <a:extLst>
            <a:ext uri="{909E8E84-426E-40DD-AFC4-6F175D3DCCD1}"/>
            <a:ext uri="{91240B29-F687-4F45-9708-019B960494DF}"/>
          </a:extLst>
        </p:spPr>
        <p:txBody>
          <a:bodyPr>
            <a:spAutoFit/>
          </a:bodyPr>
          <a:lstStyle/>
          <a:p>
            <a:pPr>
              <a:lnSpc>
                <a:spcPct val="115000"/>
              </a:lnSpc>
              <a:defRPr/>
            </a:pPr>
            <a:r>
              <a:rPr kumimoji="1" lang="en-US" altLang="zh-CN" sz="2000" b="1">
                <a:solidFill>
                  <a:srgbClr val="FFFFFF"/>
                </a:solidFill>
                <a:latin typeface="Times New Roman" pitchFamily="18" charset="0"/>
                <a:ea typeface="华文中宋" pitchFamily="2" charset="-122"/>
                <a:cs typeface="Times New Roman" pitchFamily="18" charset="0"/>
              </a:rPr>
              <a:t>§8-3  </a:t>
            </a:r>
            <a:r>
              <a:rPr kumimoji="1" lang="zh-CN" altLang="en-US" sz="2000" b="1">
                <a:solidFill>
                  <a:srgbClr val="FFFFFF"/>
                </a:solidFill>
                <a:latin typeface="Times New Roman" pitchFamily="18" charset="0"/>
                <a:ea typeface="华文中宋" pitchFamily="2" charset="-122"/>
                <a:cs typeface="Times New Roman" pitchFamily="18" charset="0"/>
              </a:rPr>
              <a:t>气体的摩尔热容量</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标题和内容">
    <p:spTree>
      <p:nvGrpSpPr>
        <p:cNvPr id="1" name=""/>
        <p:cNvGrpSpPr/>
        <p:nvPr/>
      </p:nvGrpSpPr>
      <p:grpSpPr>
        <a:xfrm>
          <a:off x="0" y="0"/>
          <a:ext cx="0" cy="0"/>
          <a:chOff x="0" y="0"/>
          <a:chExt cx="0" cy="0"/>
        </a:xfrm>
      </p:grpSpPr>
      <p:sp>
        <p:nvSpPr>
          <p:cNvPr id="2" name="矩形 11"/>
          <p:cNvSpPr>
            <a:spLocks noChangeArrowheads="1"/>
          </p:cNvSpPr>
          <p:nvPr userDrawn="1"/>
        </p:nvSpPr>
        <p:spPr bwMode="auto">
          <a:xfrm>
            <a:off x="7164388" y="325438"/>
            <a:ext cx="1871662" cy="411162"/>
          </a:xfrm>
          <a:prstGeom prst="rect">
            <a:avLst/>
          </a:prstGeom>
          <a:noFill/>
          <a:ln>
            <a:noFill/>
          </a:ln>
          <a:extLst>
            <a:ext uri="{909E8E84-426E-40DD-AFC4-6F175D3DCCD1}"/>
            <a:ext uri="{91240B29-F687-4F45-9708-019B960494DF}"/>
          </a:extLst>
        </p:spPr>
        <p:txBody>
          <a:bodyPr>
            <a:spAutoFit/>
          </a:bodyPr>
          <a:lstStyle/>
          <a:p>
            <a:pPr>
              <a:lnSpc>
                <a:spcPct val="115000"/>
              </a:lnSpc>
              <a:defRPr/>
            </a:pPr>
            <a:r>
              <a:rPr kumimoji="1" lang="en-US" altLang="zh-CN" b="1">
                <a:solidFill>
                  <a:srgbClr val="FFFFFF"/>
                </a:solidFill>
                <a:latin typeface="Times New Roman" pitchFamily="18" charset="0"/>
                <a:ea typeface="华文中宋" pitchFamily="2" charset="-122"/>
                <a:cs typeface="Times New Roman" pitchFamily="18" charset="0"/>
              </a:rPr>
              <a:t>§8-4  </a:t>
            </a:r>
            <a:r>
              <a:rPr kumimoji="1" lang="zh-CN" altLang="en-US" b="1">
                <a:solidFill>
                  <a:srgbClr val="FFFFFF"/>
                </a:solidFill>
                <a:latin typeface="Times New Roman" pitchFamily="18" charset="0"/>
                <a:ea typeface="华文中宋" pitchFamily="2" charset="-122"/>
                <a:cs typeface="Times New Roman" pitchFamily="18" charset="0"/>
              </a:rPr>
              <a:t>绝热过程</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0_标题和内容">
    <p:spTree>
      <p:nvGrpSpPr>
        <p:cNvPr id="1" name=""/>
        <p:cNvGrpSpPr/>
        <p:nvPr/>
      </p:nvGrpSpPr>
      <p:grpSpPr>
        <a:xfrm>
          <a:off x="0" y="0"/>
          <a:ext cx="0" cy="0"/>
          <a:chOff x="0" y="0"/>
          <a:chExt cx="0" cy="0"/>
        </a:xfrm>
      </p:grpSpPr>
      <p:sp>
        <p:nvSpPr>
          <p:cNvPr id="2" name="矩形 11"/>
          <p:cNvSpPr>
            <a:spLocks noChangeArrowheads="1"/>
          </p:cNvSpPr>
          <p:nvPr userDrawn="1"/>
        </p:nvSpPr>
        <p:spPr bwMode="auto">
          <a:xfrm>
            <a:off x="6011863" y="325438"/>
            <a:ext cx="3025775" cy="446087"/>
          </a:xfrm>
          <a:prstGeom prst="rect">
            <a:avLst/>
          </a:prstGeom>
          <a:noFill/>
          <a:ln>
            <a:noFill/>
          </a:ln>
          <a:extLst>
            <a:ext uri="{909E8E84-426E-40DD-AFC4-6F175D3DCCD1}"/>
            <a:ext uri="{91240B29-F687-4F45-9708-019B960494DF}"/>
          </a:extLst>
        </p:spPr>
        <p:txBody>
          <a:bodyPr>
            <a:spAutoFit/>
          </a:bodyPr>
          <a:lstStyle/>
          <a:p>
            <a:pPr>
              <a:lnSpc>
                <a:spcPct val="115000"/>
              </a:lnSpc>
              <a:defRPr/>
            </a:pPr>
            <a:r>
              <a:rPr kumimoji="1" lang="en-US" altLang="zh-CN" sz="2000" b="1">
                <a:solidFill>
                  <a:srgbClr val="FFFFFF"/>
                </a:solidFill>
                <a:latin typeface="Times New Roman" pitchFamily="18" charset="0"/>
                <a:ea typeface="华文中宋" pitchFamily="2" charset="-122"/>
                <a:cs typeface="Times New Roman" pitchFamily="18" charset="0"/>
              </a:rPr>
              <a:t>§8-5  </a:t>
            </a:r>
            <a:r>
              <a:rPr kumimoji="1" lang="zh-CN" altLang="en-US" sz="2000" b="1">
                <a:solidFill>
                  <a:srgbClr val="FFFFFF"/>
                </a:solidFill>
                <a:latin typeface="Times New Roman" pitchFamily="18" charset="0"/>
                <a:ea typeface="华文中宋" pitchFamily="2" charset="-122"/>
                <a:cs typeface="Times New Roman" pitchFamily="18" charset="0"/>
              </a:rPr>
              <a:t>循环过程 卡诺循环</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矩形 11"/>
          <p:cNvSpPr>
            <a:spLocks noChangeArrowheads="1"/>
          </p:cNvSpPr>
          <p:nvPr userDrawn="1"/>
        </p:nvSpPr>
        <p:spPr bwMode="auto">
          <a:xfrm>
            <a:off x="6227763" y="325438"/>
            <a:ext cx="2736850" cy="446087"/>
          </a:xfrm>
          <a:prstGeom prst="rect">
            <a:avLst/>
          </a:prstGeom>
          <a:noFill/>
          <a:ln>
            <a:noFill/>
          </a:ln>
          <a:extLst>
            <a:ext uri="{909E8E84-426E-40DD-AFC4-6F175D3DCCD1}"/>
            <a:ext uri="{91240B29-F687-4F45-9708-019B960494DF}"/>
          </a:extLst>
        </p:spPr>
        <p:txBody>
          <a:bodyPr>
            <a:spAutoFit/>
          </a:bodyPr>
          <a:lstStyle/>
          <a:p>
            <a:pPr>
              <a:lnSpc>
                <a:spcPct val="115000"/>
              </a:lnSpc>
              <a:defRPr/>
            </a:pPr>
            <a:r>
              <a:rPr kumimoji="1" lang="en-US" altLang="zh-CN" sz="2000" b="1">
                <a:solidFill>
                  <a:srgbClr val="FFFFFF"/>
                </a:solidFill>
                <a:latin typeface="Times New Roman" pitchFamily="18" charset="0"/>
                <a:ea typeface="华文中宋" pitchFamily="2" charset="-122"/>
                <a:cs typeface="Times New Roman" pitchFamily="18" charset="0"/>
              </a:rPr>
              <a:t>§8-6  </a:t>
            </a:r>
            <a:r>
              <a:rPr kumimoji="1" lang="zh-CN" altLang="en-US" sz="2000" b="1">
                <a:solidFill>
                  <a:srgbClr val="FFFFFF"/>
                </a:solidFill>
                <a:latin typeface="Times New Roman" pitchFamily="18" charset="0"/>
                <a:ea typeface="华文中宋" pitchFamily="2" charset="-122"/>
                <a:cs typeface="Times New Roman" pitchFamily="18" charset="0"/>
              </a:rPr>
              <a:t>热力学第二定律</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矩形 11"/>
          <p:cNvSpPr>
            <a:spLocks noChangeArrowheads="1"/>
          </p:cNvSpPr>
          <p:nvPr userDrawn="1"/>
        </p:nvSpPr>
        <p:spPr bwMode="auto">
          <a:xfrm>
            <a:off x="5724525" y="268288"/>
            <a:ext cx="3311525" cy="446087"/>
          </a:xfrm>
          <a:prstGeom prst="rect">
            <a:avLst/>
          </a:prstGeom>
          <a:noFill/>
          <a:ln>
            <a:noFill/>
          </a:ln>
          <a:extLst>
            <a:ext uri="{909E8E84-426E-40DD-AFC4-6F175D3DCCD1}"/>
            <a:ext uri="{91240B29-F687-4F45-9708-019B960494DF}"/>
          </a:extLst>
        </p:spPr>
        <p:txBody>
          <a:bodyPr>
            <a:spAutoFit/>
          </a:bodyPr>
          <a:lstStyle/>
          <a:p>
            <a:pPr>
              <a:lnSpc>
                <a:spcPct val="115000"/>
              </a:lnSpc>
              <a:defRPr/>
            </a:pPr>
            <a:r>
              <a:rPr kumimoji="1" lang="en-US" altLang="zh-CN" sz="2000" b="1">
                <a:solidFill>
                  <a:srgbClr val="FFFFFF"/>
                </a:solidFill>
                <a:latin typeface="Times New Roman" pitchFamily="18" charset="0"/>
                <a:ea typeface="华文中宋" pitchFamily="2" charset="-122"/>
                <a:cs typeface="Times New Roman" pitchFamily="18" charset="0"/>
              </a:rPr>
              <a:t>§8-7 </a:t>
            </a:r>
            <a:r>
              <a:rPr kumimoji="1" lang="zh-CN" altLang="en-US" sz="2000" b="1">
                <a:solidFill>
                  <a:srgbClr val="FFFFFF"/>
                </a:solidFill>
                <a:latin typeface="Times New Roman" pitchFamily="18" charset="0"/>
                <a:ea typeface="华文中宋" pitchFamily="2" charset="-122"/>
                <a:cs typeface="Times New Roman" pitchFamily="18" charset="0"/>
              </a:rPr>
              <a:t>卡诺定理  克劳修斯熵</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2" name="矩形 11"/>
          <p:cNvSpPr>
            <a:spLocks noChangeArrowheads="1"/>
          </p:cNvSpPr>
          <p:nvPr userDrawn="1"/>
        </p:nvSpPr>
        <p:spPr bwMode="auto">
          <a:xfrm>
            <a:off x="4932363" y="268288"/>
            <a:ext cx="4103687" cy="409575"/>
          </a:xfrm>
          <a:prstGeom prst="rect">
            <a:avLst/>
          </a:prstGeom>
          <a:noFill/>
          <a:ln>
            <a:noFill/>
          </a:ln>
          <a:extLst>
            <a:ext uri="{909E8E84-426E-40DD-AFC4-6F175D3DCCD1}"/>
            <a:ext uri="{91240B29-F687-4F45-9708-019B960494DF}"/>
          </a:extLst>
        </p:spPr>
        <p:txBody>
          <a:bodyPr>
            <a:spAutoFit/>
          </a:bodyPr>
          <a:lstStyle/>
          <a:p>
            <a:pPr>
              <a:lnSpc>
                <a:spcPct val="115000"/>
              </a:lnSpc>
              <a:defRPr/>
            </a:pPr>
            <a:r>
              <a:rPr kumimoji="1" lang="en-US" altLang="zh-CN" b="1">
                <a:solidFill>
                  <a:srgbClr val="FFFFFF"/>
                </a:solidFill>
                <a:latin typeface="Times New Roman" pitchFamily="18" charset="0"/>
                <a:ea typeface="华文中宋" pitchFamily="2" charset="-122"/>
                <a:cs typeface="Times New Roman" pitchFamily="18" charset="0"/>
              </a:rPr>
              <a:t>§8-8  </a:t>
            </a:r>
            <a:r>
              <a:rPr kumimoji="1" lang="zh-CN" altLang="en-US" b="1">
                <a:solidFill>
                  <a:srgbClr val="FFFFFF"/>
                </a:solidFill>
                <a:latin typeface="Times New Roman" pitchFamily="18" charset="0"/>
                <a:ea typeface="华文中宋" pitchFamily="2" charset="-122"/>
                <a:cs typeface="Times New Roman" pitchFamily="18" charset="0"/>
              </a:rPr>
              <a:t>热二定律的统计意义 玻尔兹曼熵</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_标题和内容">
    <p:spTree>
      <p:nvGrpSpPr>
        <p:cNvPr id="1" name=""/>
        <p:cNvGrpSpPr/>
        <p:nvPr/>
      </p:nvGrpSpPr>
      <p:grpSpPr>
        <a:xfrm>
          <a:off x="0" y="0"/>
          <a:ext cx="0" cy="0"/>
          <a:chOff x="0" y="0"/>
          <a:chExt cx="0" cy="0"/>
        </a:xfrm>
      </p:grpSpPr>
      <p:sp>
        <p:nvSpPr>
          <p:cNvPr id="2" name="矩形 11"/>
          <p:cNvSpPr>
            <a:spLocks noChangeArrowheads="1"/>
          </p:cNvSpPr>
          <p:nvPr userDrawn="1"/>
        </p:nvSpPr>
        <p:spPr bwMode="auto">
          <a:xfrm>
            <a:off x="7812088" y="325438"/>
            <a:ext cx="1223962" cy="446087"/>
          </a:xfrm>
          <a:prstGeom prst="rect">
            <a:avLst/>
          </a:prstGeom>
          <a:noFill/>
          <a:ln>
            <a:noFill/>
          </a:ln>
          <a:extLst>
            <a:ext uri="{909E8E84-426E-40DD-AFC4-6F175D3DCCD1}"/>
            <a:ext uri="{91240B29-F687-4F45-9708-019B960494DF}"/>
          </a:extLst>
        </p:spPr>
        <p:txBody>
          <a:bodyPr>
            <a:spAutoFit/>
          </a:bodyPr>
          <a:lstStyle/>
          <a:p>
            <a:pPr>
              <a:lnSpc>
                <a:spcPct val="115000"/>
              </a:lnSpc>
              <a:defRPr/>
            </a:pPr>
            <a:r>
              <a:rPr kumimoji="1" lang="zh-CN" altLang="en-US" sz="2000" b="1">
                <a:solidFill>
                  <a:srgbClr val="FFFFFF"/>
                </a:solidFill>
                <a:latin typeface="Times New Roman" pitchFamily="18" charset="0"/>
                <a:ea typeface="华文中宋" pitchFamily="2" charset="-122"/>
                <a:cs typeface="Times New Roman" pitchFamily="18" charset="0"/>
              </a:rPr>
              <a:t>本章小结</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空白">
    <p:bg bwMode="auto">
      <p:bgPr>
        <a:gradFill rotWithShape="0">
          <a:gsLst>
            <a:gs pos="0">
              <a:srgbClr val="DDEBCF"/>
            </a:gs>
            <a:gs pos="100000">
              <a:srgbClr val="9CB86E"/>
            </a:gs>
          </a:gsLst>
          <a:lin ang="5400000" scaled="1"/>
        </a:gradFill>
        <a:effectLst/>
      </p:bgPr>
    </p:bg>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2" name="TextBox 1"/>
          <p:cNvSpPr txBox="1">
            <a:spLocks noChangeArrowheads="1"/>
          </p:cNvSpPr>
          <p:nvPr userDrawn="1"/>
        </p:nvSpPr>
        <p:spPr bwMode="auto">
          <a:xfrm>
            <a:off x="6372225" y="261938"/>
            <a:ext cx="2581275" cy="461962"/>
          </a:xfrm>
          <a:prstGeom prst="rect">
            <a:avLst/>
          </a:prstGeom>
          <a:noFill/>
          <a:ln>
            <a:noFill/>
          </a:ln>
          <a:extLst>
            <a:ext uri="{909E8E84-426E-40DD-AFC4-6F175D3DCCD1}"/>
            <a:ext uri="{91240B29-F687-4F45-9708-019B960494DF}"/>
          </a:extLst>
        </p:spPr>
        <p:txBody>
          <a:bodyPr wrap="none">
            <a:spAutoFit/>
          </a:bodyPr>
          <a:lstStyle>
            <a:lvl1pPr>
              <a:defRPr sz="2800">
                <a:solidFill>
                  <a:schemeClr val="tx1"/>
                </a:solidFill>
                <a:latin typeface="Times New Roman" pitchFamily="18" charset="0"/>
                <a:ea typeface="宋体" pitchFamily="2" charset="-122"/>
              </a:defRPr>
            </a:lvl1pPr>
            <a:lvl2pPr>
              <a:defRPr sz="2800">
                <a:solidFill>
                  <a:schemeClr val="tx1"/>
                </a:solidFill>
                <a:latin typeface="Times New Roman" pitchFamily="18" charset="0"/>
                <a:ea typeface="宋体" pitchFamily="2" charset="-122"/>
              </a:defRPr>
            </a:lvl2pPr>
            <a:lvl3pPr>
              <a:defRPr sz="2800">
                <a:solidFill>
                  <a:schemeClr val="tx1"/>
                </a:solidFill>
                <a:latin typeface="Times New Roman" pitchFamily="18" charset="0"/>
                <a:ea typeface="宋体" pitchFamily="2" charset="-122"/>
              </a:defRPr>
            </a:lvl3pPr>
            <a:lvl4pPr>
              <a:defRPr sz="2800">
                <a:solidFill>
                  <a:schemeClr val="tx1"/>
                </a:solidFill>
                <a:latin typeface="Times New Roman" pitchFamily="18" charset="0"/>
                <a:ea typeface="宋体" pitchFamily="2" charset="-122"/>
              </a:defRPr>
            </a:lvl4pPr>
            <a:lvl5pPr>
              <a:defRPr sz="2800">
                <a:solidFill>
                  <a:schemeClr val="tx1"/>
                </a:solidFill>
                <a:latin typeface="Times New Roman" pitchFamily="18" charset="0"/>
                <a:ea typeface="宋体" pitchFamily="2" charset="-122"/>
              </a:defRPr>
            </a:lvl5pPr>
            <a:lvl6pPr fontAlgn="base">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fontAlgn="base">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fontAlgn="base">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fontAlgn="base">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a:buFont typeface="Arial" pitchFamily="34" charset="0"/>
              <a:buNone/>
              <a:defRPr/>
            </a:pPr>
            <a:r>
              <a:rPr kumimoji="1" lang="zh-CN" altLang="en-US" sz="2400" b="1" dirty="0" smtClean="0">
                <a:solidFill>
                  <a:prstClr val="white"/>
                </a:solidFill>
              </a:rPr>
              <a:t>第</a:t>
            </a:r>
            <a:r>
              <a:rPr kumimoji="1" lang="en-US" altLang="zh-CN" sz="2400" b="1" dirty="0" smtClean="0">
                <a:solidFill>
                  <a:prstClr val="white"/>
                </a:solidFill>
              </a:rPr>
              <a:t>8</a:t>
            </a:r>
            <a:r>
              <a:rPr kumimoji="1" lang="zh-CN" altLang="en-US" sz="2400" b="1" dirty="0" smtClean="0">
                <a:solidFill>
                  <a:prstClr val="white"/>
                </a:solidFill>
              </a:rPr>
              <a:t>章 热力学基础</a:t>
            </a:r>
            <a:endParaRPr kumimoji="1" lang="zh-CN" altLang="en-US" sz="2400" b="1" dirty="0">
              <a:solidFill>
                <a:prstClr val="white"/>
              </a:solidFil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TextBox 1"/>
          <p:cNvSpPr txBox="1">
            <a:spLocks noChangeArrowheads="1"/>
          </p:cNvSpPr>
          <p:nvPr userDrawn="1"/>
        </p:nvSpPr>
        <p:spPr bwMode="auto">
          <a:xfrm>
            <a:off x="7929563" y="268288"/>
            <a:ext cx="1035050" cy="460375"/>
          </a:xfrm>
          <a:prstGeom prst="rect">
            <a:avLst/>
          </a:prstGeom>
          <a:noFill/>
          <a:ln>
            <a:noFill/>
          </a:ln>
          <a:extLst>
            <a:ext uri="{909E8E84-426E-40DD-AFC4-6F175D3DCCD1}"/>
            <a:ext uri="{91240B29-F687-4F45-9708-019B960494DF}"/>
          </a:extLst>
        </p:spPr>
        <p:txBody>
          <a:bodyPr wrap="none">
            <a:spAutoFit/>
          </a:bodyPr>
          <a:lstStyle>
            <a:lvl1pPr>
              <a:defRPr sz="2800">
                <a:solidFill>
                  <a:schemeClr val="tx1"/>
                </a:solidFill>
                <a:latin typeface="Times New Roman" pitchFamily="18" charset="0"/>
                <a:ea typeface="宋体" pitchFamily="2" charset="-122"/>
              </a:defRPr>
            </a:lvl1pPr>
            <a:lvl2pPr>
              <a:defRPr sz="2800">
                <a:solidFill>
                  <a:schemeClr val="tx1"/>
                </a:solidFill>
                <a:latin typeface="Times New Roman" pitchFamily="18" charset="0"/>
                <a:ea typeface="宋体" pitchFamily="2" charset="-122"/>
              </a:defRPr>
            </a:lvl2pPr>
            <a:lvl3pPr>
              <a:defRPr sz="2800">
                <a:solidFill>
                  <a:schemeClr val="tx1"/>
                </a:solidFill>
                <a:latin typeface="Times New Roman" pitchFamily="18" charset="0"/>
                <a:ea typeface="宋体" pitchFamily="2" charset="-122"/>
              </a:defRPr>
            </a:lvl3pPr>
            <a:lvl4pPr>
              <a:defRPr sz="2800">
                <a:solidFill>
                  <a:schemeClr val="tx1"/>
                </a:solidFill>
                <a:latin typeface="Times New Roman" pitchFamily="18" charset="0"/>
                <a:ea typeface="宋体" pitchFamily="2" charset="-122"/>
              </a:defRPr>
            </a:lvl4pPr>
            <a:lvl5pPr>
              <a:defRPr sz="2800">
                <a:solidFill>
                  <a:schemeClr val="tx1"/>
                </a:solidFill>
                <a:latin typeface="Times New Roman" pitchFamily="18" charset="0"/>
                <a:ea typeface="宋体" pitchFamily="2" charset="-122"/>
              </a:defRPr>
            </a:lvl5pPr>
            <a:lvl6pPr fontAlgn="base">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fontAlgn="base">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fontAlgn="base">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fontAlgn="base">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a:buFont typeface="Arial" pitchFamily="34" charset="0"/>
              <a:buNone/>
              <a:defRPr/>
            </a:pPr>
            <a:r>
              <a:rPr kumimoji="1" lang="zh-CN" altLang="en-US" sz="2400" b="1" dirty="0" smtClean="0">
                <a:solidFill>
                  <a:prstClr val="white"/>
                </a:solidFill>
              </a:rPr>
              <a:t>前   言</a:t>
            </a:r>
            <a:endParaRPr kumimoji="1" lang="zh-CN" altLang="en-US" sz="2400" b="1" dirty="0">
              <a:solidFill>
                <a:prstClr val="white"/>
              </a:solidFil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2" name="矩形 11"/>
          <p:cNvSpPr>
            <a:spLocks noChangeArrowheads="1"/>
          </p:cNvSpPr>
          <p:nvPr userDrawn="1"/>
        </p:nvSpPr>
        <p:spPr bwMode="auto">
          <a:xfrm>
            <a:off x="5003800" y="268288"/>
            <a:ext cx="3960813" cy="446087"/>
          </a:xfrm>
          <a:prstGeom prst="rect">
            <a:avLst/>
          </a:prstGeom>
          <a:noFill/>
          <a:ln>
            <a:noFill/>
          </a:ln>
          <a:extLst>
            <a:ext uri="{909E8E84-426E-40DD-AFC4-6F175D3DCCD1}"/>
            <a:ext uri="{91240B29-F687-4F45-9708-019B960494DF}"/>
          </a:extLst>
        </p:spPr>
        <p:txBody>
          <a:bodyPr>
            <a:spAutoFit/>
          </a:bodyPr>
          <a:lstStyle/>
          <a:p>
            <a:pPr>
              <a:lnSpc>
                <a:spcPct val="115000"/>
              </a:lnSpc>
              <a:defRPr/>
            </a:pPr>
            <a:r>
              <a:rPr kumimoji="1" lang="en-US" altLang="zh-CN" sz="2000" b="1">
                <a:solidFill>
                  <a:srgbClr val="FFFFFF"/>
                </a:solidFill>
                <a:latin typeface="Times New Roman" pitchFamily="18" charset="0"/>
                <a:ea typeface="华文中宋" pitchFamily="2" charset="-122"/>
                <a:cs typeface="Times New Roman" pitchFamily="18" charset="0"/>
              </a:rPr>
              <a:t>§8-1  </a:t>
            </a:r>
            <a:r>
              <a:rPr kumimoji="1" lang="zh-CN" altLang="en-US" sz="2000" b="1">
                <a:solidFill>
                  <a:srgbClr val="FFFFFF"/>
                </a:solidFill>
                <a:latin typeface="Times New Roman" pitchFamily="18" charset="0"/>
                <a:ea typeface="华文中宋" pitchFamily="2" charset="-122"/>
                <a:cs typeface="Times New Roman" pitchFamily="18" charset="0"/>
              </a:rPr>
              <a:t>内能 功和热量 准静态过程</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_标题和内容">
    <p:spTree>
      <p:nvGrpSpPr>
        <p:cNvPr id="1" name=""/>
        <p:cNvGrpSpPr/>
        <p:nvPr/>
      </p:nvGrpSpPr>
      <p:grpSpPr>
        <a:xfrm>
          <a:off x="0" y="0"/>
          <a:ext cx="0" cy="0"/>
          <a:chOff x="0" y="0"/>
          <a:chExt cx="0" cy="0"/>
        </a:xfrm>
      </p:grpSpPr>
      <p:sp>
        <p:nvSpPr>
          <p:cNvPr id="2" name="矩形 11"/>
          <p:cNvSpPr>
            <a:spLocks noChangeArrowheads="1"/>
          </p:cNvSpPr>
          <p:nvPr userDrawn="1"/>
        </p:nvSpPr>
        <p:spPr bwMode="auto">
          <a:xfrm>
            <a:off x="6588125" y="320675"/>
            <a:ext cx="2447925" cy="411163"/>
          </a:xfrm>
          <a:prstGeom prst="rect">
            <a:avLst/>
          </a:prstGeom>
          <a:noFill/>
          <a:ln>
            <a:noFill/>
          </a:ln>
          <a:extLst>
            <a:ext uri="{909E8E84-426E-40DD-AFC4-6F175D3DCCD1}"/>
            <a:ext uri="{91240B29-F687-4F45-9708-019B960494DF}"/>
          </a:extLst>
        </p:spPr>
        <p:txBody>
          <a:bodyPr>
            <a:spAutoFit/>
          </a:bodyPr>
          <a:lstStyle/>
          <a:p>
            <a:pPr>
              <a:lnSpc>
                <a:spcPct val="115000"/>
              </a:lnSpc>
              <a:defRPr/>
            </a:pPr>
            <a:r>
              <a:rPr kumimoji="1" lang="en-US" altLang="zh-CN" b="1">
                <a:solidFill>
                  <a:srgbClr val="FFFFFF"/>
                </a:solidFill>
                <a:latin typeface="Times New Roman" pitchFamily="18" charset="0"/>
                <a:ea typeface="华文中宋" pitchFamily="2" charset="-122"/>
                <a:cs typeface="Times New Roman" pitchFamily="18" charset="0"/>
              </a:rPr>
              <a:t>§8-2  </a:t>
            </a:r>
            <a:r>
              <a:rPr kumimoji="1" lang="zh-CN" altLang="en-US" b="1">
                <a:solidFill>
                  <a:srgbClr val="FFFFFF"/>
                </a:solidFill>
                <a:latin typeface="Times New Roman" pitchFamily="18" charset="0"/>
                <a:ea typeface="华文中宋" pitchFamily="2" charset="-122"/>
                <a:cs typeface="Times New Roman" pitchFamily="18" charset="0"/>
              </a:rPr>
              <a:t>热力学第一定律</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2" name="矩形 11"/>
          <p:cNvSpPr>
            <a:spLocks noChangeArrowheads="1"/>
          </p:cNvSpPr>
          <p:nvPr userDrawn="1"/>
        </p:nvSpPr>
        <p:spPr bwMode="auto">
          <a:xfrm>
            <a:off x="6013450" y="339725"/>
            <a:ext cx="2951163" cy="446088"/>
          </a:xfrm>
          <a:prstGeom prst="rect">
            <a:avLst/>
          </a:prstGeom>
          <a:noFill/>
          <a:ln>
            <a:noFill/>
          </a:ln>
          <a:extLst>
            <a:ext uri="{909E8E84-426E-40DD-AFC4-6F175D3DCCD1}"/>
            <a:ext uri="{91240B29-F687-4F45-9708-019B960494DF}"/>
          </a:extLst>
        </p:spPr>
        <p:txBody>
          <a:bodyPr>
            <a:spAutoFit/>
          </a:bodyPr>
          <a:lstStyle/>
          <a:p>
            <a:pPr>
              <a:lnSpc>
                <a:spcPct val="115000"/>
              </a:lnSpc>
              <a:defRPr/>
            </a:pPr>
            <a:r>
              <a:rPr kumimoji="1" lang="en-US" altLang="zh-CN" sz="2000" b="1">
                <a:solidFill>
                  <a:srgbClr val="FFFFFF"/>
                </a:solidFill>
                <a:latin typeface="Times New Roman" pitchFamily="18" charset="0"/>
                <a:ea typeface="华文中宋" pitchFamily="2" charset="-122"/>
                <a:cs typeface="Times New Roman" pitchFamily="18" charset="0"/>
              </a:rPr>
              <a:t>§8-3  </a:t>
            </a:r>
            <a:r>
              <a:rPr kumimoji="1" lang="zh-CN" altLang="en-US" sz="2000" b="1">
                <a:solidFill>
                  <a:srgbClr val="FFFFFF"/>
                </a:solidFill>
                <a:latin typeface="Times New Roman" pitchFamily="18" charset="0"/>
                <a:ea typeface="华文中宋" pitchFamily="2" charset="-122"/>
                <a:cs typeface="Times New Roman" pitchFamily="18" charset="0"/>
              </a:rPr>
              <a:t>气体的摩尔热容量</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3_标题和内容">
    <p:spTree>
      <p:nvGrpSpPr>
        <p:cNvPr id="1" name=""/>
        <p:cNvGrpSpPr/>
        <p:nvPr/>
      </p:nvGrpSpPr>
      <p:grpSpPr>
        <a:xfrm>
          <a:off x="0" y="0"/>
          <a:ext cx="0" cy="0"/>
          <a:chOff x="0" y="0"/>
          <a:chExt cx="0" cy="0"/>
        </a:xfrm>
      </p:grpSpPr>
      <p:sp>
        <p:nvSpPr>
          <p:cNvPr id="2" name="矩形 11"/>
          <p:cNvSpPr>
            <a:spLocks noChangeArrowheads="1"/>
          </p:cNvSpPr>
          <p:nvPr userDrawn="1"/>
        </p:nvSpPr>
        <p:spPr bwMode="auto">
          <a:xfrm>
            <a:off x="7164388" y="325438"/>
            <a:ext cx="1871662" cy="411162"/>
          </a:xfrm>
          <a:prstGeom prst="rect">
            <a:avLst/>
          </a:prstGeom>
          <a:noFill/>
          <a:ln>
            <a:noFill/>
          </a:ln>
          <a:extLst>
            <a:ext uri="{909E8E84-426E-40DD-AFC4-6F175D3DCCD1}"/>
            <a:ext uri="{91240B29-F687-4F45-9708-019B960494DF}"/>
          </a:extLst>
        </p:spPr>
        <p:txBody>
          <a:bodyPr>
            <a:spAutoFit/>
          </a:bodyPr>
          <a:lstStyle/>
          <a:p>
            <a:pPr>
              <a:lnSpc>
                <a:spcPct val="115000"/>
              </a:lnSpc>
              <a:defRPr/>
            </a:pPr>
            <a:r>
              <a:rPr kumimoji="1" lang="en-US" altLang="zh-CN" b="1">
                <a:solidFill>
                  <a:srgbClr val="FFFFFF"/>
                </a:solidFill>
                <a:latin typeface="Times New Roman" pitchFamily="18" charset="0"/>
                <a:ea typeface="华文中宋" pitchFamily="2" charset="-122"/>
                <a:cs typeface="Times New Roman" pitchFamily="18" charset="0"/>
              </a:rPr>
              <a:t>§8-4  </a:t>
            </a:r>
            <a:r>
              <a:rPr kumimoji="1" lang="zh-CN" altLang="en-US" b="1">
                <a:solidFill>
                  <a:srgbClr val="FFFFFF"/>
                </a:solidFill>
                <a:latin typeface="Times New Roman" pitchFamily="18" charset="0"/>
                <a:ea typeface="华文中宋" pitchFamily="2" charset="-122"/>
                <a:cs typeface="Times New Roman" pitchFamily="18" charset="0"/>
              </a:rPr>
              <a:t>绝热过程</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0_标题和内容">
    <p:spTree>
      <p:nvGrpSpPr>
        <p:cNvPr id="1" name=""/>
        <p:cNvGrpSpPr/>
        <p:nvPr/>
      </p:nvGrpSpPr>
      <p:grpSpPr>
        <a:xfrm>
          <a:off x="0" y="0"/>
          <a:ext cx="0" cy="0"/>
          <a:chOff x="0" y="0"/>
          <a:chExt cx="0" cy="0"/>
        </a:xfrm>
      </p:grpSpPr>
      <p:sp>
        <p:nvSpPr>
          <p:cNvPr id="2" name="矩形 11"/>
          <p:cNvSpPr>
            <a:spLocks noChangeArrowheads="1"/>
          </p:cNvSpPr>
          <p:nvPr userDrawn="1"/>
        </p:nvSpPr>
        <p:spPr bwMode="auto">
          <a:xfrm>
            <a:off x="6011863" y="325438"/>
            <a:ext cx="3025775" cy="446087"/>
          </a:xfrm>
          <a:prstGeom prst="rect">
            <a:avLst/>
          </a:prstGeom>
          <a:noFill/>
          <a:ln>
            <a:noFill/>
          </a:ln>
          <a:extLst>
            <a:ext uri="{909E8E84-426E-40DD-AFC4-6F175D3DCCD1}"/>
            <a:ext uri="{91240B29-F687-4F45-9708-019B960494DF}"/>
          </a:extLst>
        </p:spPr>
        <p:txBody>
          <a:bodyPr>
            <a:spAutoFit/>
          </a:bodyPr>
          <a:lstStyle/>
          <a:p>
            <a:pPr>
              <a:lnSpc>
                <a:spcPct val="115000"/>
              </a:lnSpc>
              <a:defRPr/>
            </a:pPr>
            <a:r>
              <a:rPr kumimoji="1" lang="en-US" altLang="zh-CN" sz="2000" b="1">
                <a:solidFill>
                  <a:srgbClr val="FFFFFF"/>
                </a:solidFill>
                <a:latin typeface="Times New Roman" pitchFamily="18" charset="0"/>
                <a:ea typeface="华文中宋" pitchFamily="2" charset="-122"/>
                <a:cs typeface="Times New Roman" pitchFamily="18" charset="0"/>
              </a:rPr>
              <a:t>§8-5  </a:t>
            </a:r>
            <a:r>
              <a:rPr kumimoji="1" lang="zh-CN" altLang="en-US" sz="2000" b="1">
                <a:solidFill>
                  <a:srgbClr val="FFFFFF"/>
                </a:solidFill>
                <a:latin typeface="Times New Roman" pitchFamily="18" charset="0"/>
                <a:ea typeface="华文中宋" pitchFamily="2" charset="-122"/>
                <a:cs typeface="Times New Roman" pitchFamily="18" charset="0"/>
              </a:rPr>
              <a:t>循环过程 卡诺循环</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矩形 11"/>
          <p:cNvSpPr>
            <a:spLocks noChangeArrowheads="1"/>
          </p:cNvSpPr>
          <p:nvPr userDrawn="1"/>
        </p:nvSpPr>
        <p:spPr bwMode="auto">
          <a:xfrm>
            <a:off x="6227763" y="325438"/>
            <a:ext cx="2736850" cy="446087"/>
          </a:xfrm>
          <a:prstGeom prst="rect">
            <a:avLst/>
          </a:prstGeom>
          <a:noFill/>
          <a:ln>
            <a:noFill/>
          </a:ln>
          <a:extLst>
            <a:ext uri="{909E8E84-426E-40DD-AFC4-6F175D3DCCD1}"/>
            <a:ext uri="{91240B29-F687-4F45-9708-019B960494DF}"/>
          </a:extLst>
        </p:spPr>
        <p:txBody>
          <a:bodyPr>
            <a:spAutoFit/>
          </a:bodyPr>
          <a:lstStyle/>
          <a:p>
            <a:pPr>
              <a:lnSpc>
                <a:spcPct val="115000"/>
              </a:lnSpc>
              <a:defRPr/>
            </a:pPr>
            <a:r>
              <a:rPr kumimoji="1" lang="en-US" altLang="zh-CN" sz="2000" b="1">
                <a:solidFill>
                  <a:srgbClr val="FFFFFF"/>
                </a:solidFill>
                <a:latin typeface="Times New Roman" pitchFamily="18" charset="0"/>
                <a:ea typeface="华文中宋" pitchFamily="2" charset="-122"/>
                <a:cs typeface="Times New Roman" pitchFamily="18" charset="0"/>
              </a:rPr>
              <a:t>§8-6  </a:t>
            </a:r>
            <a:r>
              <a:rPr kumimoji="1" lang="zh-CN" altLang="en-US" sz="2000" b="1">
                <a:solidFill>
                  <a:srgbClr val="FFFFFF"/>
                </a:solidFill>
                <a:latin typeface="Times New Roman" pitchFamily="18" charset="0"/>
                <a:ea typeface="华文中宋" pitchFamily="2" charset="-122"/>
                <a:cs typeface="Times New Roman" pitchFamily="18" charset="0"/>
              </a:rPr>
              <a:t>热力学第二定律</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矩形 11"/>
          <p:cNvSpPr>
            <a:spLocks noChangeArrowheads="1"/>
          </p:cNvSpPr>
          <p:nvPr userDrawn="1"/>
        </p:nvSpPr>
        <p:spPr bwMode="auto">
          <a:xfrm>
            <a:off x="5724525" y="268288"/>
            <a:ext cx="3311525" cy="446087"/>
          </a:xfrm>
          <a:prstGeom prst="rect">
            <a:avLst/>
          </a:prstGeom>
          <a:noFill/>
          <a:ln>
            <a:noFill/>
          </a:ln>
          <a:extLst>
            <a:ext uri="{909E8E84-426E-40DD-AFC4-6F175D3DCCD1}"/>
            <a:ext uri="{91240B29-F687-4F45-9708-019B960494DF}"/>
          </a:extLst>
        </p:spPr>
        <p:txBody>
          <a:bodyPr>
            <a:spAutoFit/>
          </a:bodyPr>
          <a:lstStyle/>
          <a:p>
            <a:pPr>
              <a:lnSpc>
                <a:spcPct val="115000"/>
              </a:lnSpc>
              <a:defRPr/>
            </a:pPr>
            <a:r>
              <a:rPr kumimoji="1" lang="en-US" altLang="zh-CN" sz="2000" b="1">
                <a:solidFill>
                  <a:srgbClr val="FFFFFF"/>
                </a:solidFill>
                <a:latin typeface="Times New Roman" pitchFamily="18" charset="0"/>
                <a:ea typeface="华文中宋" pitchFamily="2" charset="-122"/>
                <a:cs typeface="Times New Roman" pitchFamily="18" charset="0"/>
              </a:rPr>
              <a:t>§8-7 </a:t>
            </a:r>
            <a:r>
              <a:rPr kumimoji="1" lang="zh-CN" altLang="en-US" sz="2000" b="1">
                <a:solidFill>
                  <a:srgbClr val="FFFFFF"/>
                </a:solidFill>
                <a:latin typeface="Times New Roman" pitchFamily="18" charset="0"/>
                <a:ea typeface="华文中宋" pitchFamily="2" charset="-122"/>
                <a:cs typeface="Times New Roman" pitchFamily="18" charset="0"/>
              </a:rPr>
              <a:t>卡诺定理  克劳修斯熵</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2" name="矩形 11"/>
          <p:cNvSpPr>
            <a:spLocks noChangeArrowheads="1"/>
          </p:cNvSpPr>
          <p:nvPr userDrawn="1"/>
        </p:nvSpPr>
        <p:spPr bwMode="auto">
          <a:xfrm>
            <a:off x="4932363" y="268288"/>
            <a:ext cx="4103687" cy="409575"/>
          </a:xfrm>
          <a:prstGeom prst="rect">
            <a:avLst/>
          </a:prstGeom>
          <a:noFill/>
          <a:ln>
            <a:noFill/>
          </a:ln>
          <a:extLst>
            <a:ext uri="{909E8E84-426E-40DD-AFC4-6F175D3DCCD1}"/>
            <a:ext uri="{91240B29-F687-4F45-9708-019B960494DF}"/>
          </a:extLst>
        </p:spPr>
        <p:txBody>
          <a:bodyPr>
            <a:spAutoFit/>
          </a:bodyPr>
          <a:lstStyle/>
          <a:p>
            <a:pPr>
              <a:lnSpc>
                <a:spcPct val="115000"/>
              </a:lnSpc>
              <a:defRPr/>
            </a:pPr>
            <a:r>
              <a:rPr kumimoji="1" lang="en-US" altLang="zh-CN" b="1">
                <a:solidFill>
                  <a:srgbClr val="FFFFFF"/>
                </a:solidFill>
                <a:latin typeface="Times New Roman" pitchFamily="18" charset="0"/>
                <a:ea typeface="华文中宋" pitchFamily="2" charset="-122"/>
                <a:cs typeface="Times New Roman" pitchFamily="18" charset="0"/>
              </a:rPr>
              <a:t>§8-8  </a:t>
            </a:r>
            <a:r>
              <a:rPr kumimoji="1" lang="zh-CN" altLang="en-US" b="1">
                <a:solidFill>
                  <a:srgbClr val="FFFFFF"/>
                </a:solidFill>
                <a:latin typeface="Times New Roman" pitchFamily="18" charset="0"/>
                <a:ea typeface="华文中宋" pitchFamily="2" charset="-122"/>
                <a:cs typeface="Times New Roman" pitchFamily="18" charset="0"/>
              </a:rPr>
              <a:t>热二定律的统计意义 玻尔兹曼熵</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_标题和内容">
    <p:spTree>
      <p:nvGrpSpPr>
        <p:cNvPr id="1" name=""/>
        <p:cNvGrpSpPr/>
        <p:nvPr/>
      </p:nvGrpSpPr>
      <p:grpSpPr>
        <a:xfrm>
          <a:off x="0" y="0"/>
          <a:ext cx="0" cy="0"/>
          <a:chOff x="0" y="0"/>
          <a:chExt cx="0" cy="0"/>
        </a:xfrm>
      </p:grpSpPr>
      <p:sp>
        <p:nvSpPr>
          <p:cNvPr id="2" name="矩形 11"/>
          <p:cNvSpPr>
            <a:spLocks noChangeArrowheads="1"/>
          </p:cNvSpPr>
          <p:nvPr userDrawn="1"/>
        </p:nvSpPr>
        <p:spPr bwMode="auto">
          <a:xfrm>
            <a:off x="7812088" y="325438"/>
            <a:ext cx="1223962" cy="446087"/>
          </a:xfrm>
          <a:prstGeom prst="rect">
            <a:avLst/>
          </a:prstGeom>
          <a:noFill/>
          <a:ln>
            <a:noFill/>
          </a:ln>
          <a:extLst>
            <a:ext uri="{909E8E84-426E-40DD-AFC4-6F175D3DCCD1}"/>
            <a:ext uri="{91240B29-F687-4F45-9708-019B960494DF}"/>
          </a:extLst>
        </p:spPr>
        <p:txBody>
          <a:bodyPr>
            <a:spAutoFit/>
          </a:bodyPr>
          <a:lstStyle/>
          <a:p>
            <a:pPr>
              <a:lnSpc>
                <a:spcPct val="115000"/>
              </a:lnSpc>
              <a:defRPr/>
            </a:pPr>
            <a:r>
              <a:rPr kumimoji="1" lang="zh-CN" altLang="en-US" sz="2000" b="1">
                <a:solidFill>
                  <a:srgbClr val="FFFFFF"/>
                </a:solidFill>
                <a:latin typeface="Times New Roman" pitchFamily="18" charset="0"/>
                <a:ea typeface="华文中宋" pitchFamily="2" charset="-122"/>
                <a:cs typeface="Times New Roman" pitchFamily="18" charset="0"/>
              </a:rPr>
              <a:t>本章小结</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空白">
    <p:bg bwMode="auto">
      <p:bgPr>
        <a:gradFill rotWithShape="0">
          <a:gsLst>
            <a:gs pos="0">
              <a:srgbClr val="DDEBCF"/>
            </a:gs>
            <a:gs pos="100000">
              <a:srgbClr val="9CB86E"/>
            </a:gs>
          </a:gsLst>
          <a:lin ang="5400000" scaled="1"/>
        </a:gradFill>
        <a:effectLst/>
      </p:bgPr>
    </p:bg>
    <p:spTree>
      <p:nvGrpSpPr>
        <p:cNvPr id="1" name=""/>
        <p:cNvGrpSpPr/>
        <p:nvPr/>
      </p:nvGrpSpPr>
      <p:grpSpPr>
        <a:xfrm>
          <a:off x="0" y="0"/>
          <a:ext cx="0" cy="0"/>
          <a:chOff x="0" y="0"/>
          <a:chExt cx="0" cy="0"/>
        </a:xfrm>
      </p:grpSpPr>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2" name="TextBox 1"/>
          <p:cNvSpPr txBox="1">
            <a:spLocks noChangeArrowheads="1"/>
          </p:cNvSpPr>
          <p:nvPr userDrawn="1"/>
        </p:nvSpPr>
        <p:spPr bwMode="auto">
          <a:xfrm>
            <a:off x="6372225" y="261938"/>
            <a:ext cx="2581275" cy="461962"/>
          </a:xfrm>
          <a:prstGeom prst="rect">
            <a:avLst/>
          </a:prstGeom>
          <a:noFill/>
          <a:ln>
            <a:noFill/>
          </a:ln>
          <a:extLst>
            <a:ext uri="{909E8E84-426E-40DD-AFC4-6F175D3DCCD1}"/>
            <a:ext uri="{91240B29-F687-4F45-9708-019B960494DF}"/>
          </a:extLst>
        </p:spPr>
        <p:txBody>
          <a:bodyPr wrap="none">
            <a:spAutoFit/>
          </a:bodyPr>
          <a:lstStyle>
            <a:lvl1pPr>
              <a:defRPr sz="2800">
                <a:solidFill>
                  <a:schemeClr val="tx1"/>
                </a:solidFill>
                <a:latin typeface="Times New Roman" pitchFamily="18" charset="0"/>
                <a:ea typeface="宋体" pitchFamily="2" charset="-122"/>
              </a:defRPr>
            </a:lvl1pPr>
            <a:lvl2pPr>
              <a:defRPr sz="2800">
                <a:solidFill>
                  <a:schemeClr val="tx1"/>
                </a:solidFill>
                <a:latin typeface="Times New Roman" pitchFamily="18" charset="0"/>
                <a:ea typeface="宋体" pitchFamily="2" charset="-122"/>
              </a:defRPr>
            </a:lvl2pPr>
            <a:lvl3pPr>
              <a:defRPr sz="2800">
                <a:solidFill>
                  <a:schemeClr val="tx1"/>
                </a:solidFill>
                <a:latin typeface="Times New Roman" pitchFamily="18" charset="0"/>
                <a:ea typeface="宋体" pitchFamily="2" charset="-122"/>
              </a:defRPr>
            </a:lvl3pPr>
            <a:lvl4pPr>
              <a:defRPr sz="2800">
                <a:solidFill>
                  <a:schemeClr val="tx1"/>
                </a:solidFill>
                <a:latin typeface="Times New Roman" pitchFamily="18" charset="0"/>
                <a:ea typeface="宋体" pitchFamily="2" charset="-122"/>
              </a:defRPr>
            </a:lvl4pPr>
            <a:lvl5pPr>
              <a:defRPr sz="2800">
                <a:solidFill>
                  <a:schemeClr val="tx1"/>
                </a:solidFill>
                <a:latin typeface="Times New Roman" pitchFamily="18" charset="0"/>
                <a:ea typeface="宋体" pitchFamily="2" charset="-122"/>
              </a:defRPr>
            </a:lvl5pPr>
            <a:lvl6pPr fontAlgn="base">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fontAlgn="base">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fontAlgn="base">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fontAlgn="base">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fontAlgn="auto">
              <a:spcBef>
                <a:spcPts val="0"/>
              </a:spcBef>
              <a:spcAft>
                <a:spcPts val="0"/>
              </a:spcAft>
              <a:buFont typeface="Arial" pitchFamily="34" charset="0"/>
              <a:buNone/>
              <a:defRPr/>
            </a:pPr>
            <a:r>
              <a:rPr lang="zh-CN" altLang="en-US" sz="2400" dirty="0" smtClean="0">
                <a:solidFill>
                  <a:prstClr val="white"/>
                </a:solidFill>
              </a:rPr>
              <a:t>第</a:t>
            </a:r>
            <a:r>
              <a:rPr lang="en-US" altLang="zh-CN" sz="2400" dirty="0" smtClean="0">
                <a:solidFill>
                  <a:prstClr val="white"/>
                </a:solidFill>
              </a:rPr>
              <a:t>8</a:t>
            </a:r>
            <a:r>
              <a:rPr lang="zh-CN" altLang="en-US" sz="2400" dirty="0" smtClean="0">
                <a:solidFill>
                  <a:prstClr val="white"/>
                </a:solidFill>
              </a:rPr>
              <a:t>章 热力学基础</a:t>
            </a:r>
            <a:endParaRPr lang="zh-CN" altLang="en-US" sz="2400" dirty="0">
              <a:solidFill>
                <a:prstClr val="white"/>
              </a:solidFill>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TextBox 1"/>
          <p:cNvSpPr txBox="1">
            <a:spLocks noChangeArrowheads="1"/>
          </p:cNvSpPr>
          <p:nvPr userDrawn="1"/>
        </p:nvSpPr>
        <p:spPr bwMode="auto">
          <a:xfrm>
            <a:off x="7929563" y="268288"/>
            <a:ext cx="1035050" cy="460375"/>
          </a:xfrm>
          <a:prstGeom prst="rect">
            <a:avLst/>
          </a:prstGeom>
          <a:noFill/>
          <a:ln>
            <a:noFill/>
          </a:ln>
          <a:extLst>
            <a:ext uri="{909E8E84-426E-40DD-AFC4-6F175D3DCCD1}"/>
            <a:ext uri="{91240B29-F687-4F45-9708-019B960494DF}"/>
          </a:extLst>
        </p:spPr>
        <p:txBody>
          <a:bodyPr wrap="none">
            <a:spAutoFit/>
          </a:bodyPr>
          <a:lstStyle>
            <a:lvl1pPr>
              <a:defRPr sz="2800">
                <a:solidFill>
                  <a:schemeClr val="tx1"/>
                </a:solidFill>
                <a:latin typeface="Times New Roman" pitchFamily="18" charset="0"/>
                <a:ea typeface="宋体" pitchFamily="2" charset="-122"/>
              </a:defRPr>
            </a:lvl1pPr>
            <a:lvl2pPr>
              <a:defRPr sz="2800">
                <a:solidFill>
                  <a:schemeClr val="tx1"/>
                </a:solidFill>
                <a:latin typeface="Times New Roman" pitchFamily="18" charset="0"/>
                <a:ea typeface="宋体" pitchFamily="2" charset="-122"/>
              </a:defRPr>
            </a:lvl2pPr>
            <a:lvl3pPr>
              <a:defRPr sz="2800">
                <a:solidFill>
                  <a:schemeClr val="tx1"/>
                </a:solidFill>
                <a:latin typeface="Times New Roman" pitchFamily="18" charset="0"/>
                <a:ea typeface="宋体" pitchFamily="2" charset="-122"/>
              </a:defRPr>
            </a:lvl3pPr>
            <a:lvl4pPr>
              <a:defRPr sz="2800">
                <a:solidFill>
                  <a:schemeClr val="tx1"/>
                </a:solidFill>
                <a:latin typeface="Times New Roman" pitchFamily="18" charset="0"/>
                <a:ea typeface="宋体" pitchFamily="2" charset="-122"/>
              </a:defRPr>
            </a:lvl4pPr>
            <a:lvl5pPr>
              <a:defRPr sz="2800">
                <a:solidFill>
                  <a:schemeClr val="tx1"/>
                </a:solidFill>
                <a:latin typeface="Times New Roman" pitchFamily="18" charset="0"/>
                <a:ea typeface="宋体" pitchFamily="2" charset="-122"/>
              </a:defRPr>
            </a:lvl5pPr>
            <a:lvl6pPr fontAlgn="base">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fontAlgn="base">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fontAlgn="base">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fontAlgn="base">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fontAlgn="auto">
              <a:spcBef>
                <a:spcPts val="0"/>
              </a:spcBef>
              <a:spcAft>
                <a:spcPts val="0"/>
              </a:spcAft>
              <a:buFont typeface="Arial" pitchFamily="34" charset="0"/>
              <a:buNone/>
              <a:defRPr/>
            </a:pPr>
            <a:r>
              <a:rPr lang="zh-CN" altLang="en-US" sz="2400" dirty="0" smtClean="0">
                <a:solidFill>
                  <a:prstClr val="white"/>
                </a:solidFill>
              </a:rPr>
              <a:t>前   言</a:t>
            </a:r>
            <a:endParaRPr lang="zh-CN" altLang="en-US" sz="2400" dirty="0">
              <a:solidFill>
                <a:prstClr val="white"/>
              </a:solidFil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2" name="矩形 11"/>
          <p:cNvSpPr>
            <a:spLocks noChangeArrowheads="1"/>
          </p:cNvSpPr>
          <p:nvPr userDrawn="1"/>
        </p:nvSpPr>
        <p:spPr bwMode="auto">
          <a:xfrm>
            <a:off x="5003800" y="268288"/>
            <a:ext cx="3960813" cy="446087"/>
          </a:xfrm>
          <a:prstGeom prst="rect">
            <a:avLst/>
          </a:prstGeom>
          <a:noFill/>
          <a:ln>
            <a:noFill/>
          </a:ln>
          <a:extLst>
            <a:ext uri="{909E8E84-426E-40DD-AFC4-6F175D3DCCD1}"/>
            <a:ext uri="{91240B29-F687-4F45-9708-019B960494DF}"/>
          </a:extLst>
        </p:spPr>
        <p:txBody>
          <a:bodyPr>
            <a:spAutoFit/>
          </a:bodyPr>
          <a:lstStyle/>
          <a:p>
            <a:pPr fontAlgn="auto">
              <a:lnSpc>
                <a:spcPct val="115000"/>
              </a:lnSpc>
              <a:spcBef>
                <a:spcPts val="0"/>
              </a:spcBef>
              <a:spcAft>
                <a:spcPts val="0"/>
              </a:spcAft>
              <a:defRPr/>
            </a:pPr>
            <a:r>
              <a:rPr lang="en-US" altLang="zh-CN" sz="2000">
                <a:solidFill>
                  <a:srgbClr val="FFFFFF"/>
                </a:solidFill>
                <a:latin typeface="+mn-lt"/>
                <a:ea typeface="+mn-ea"/>
                <a:cs typeface="Times New Roman" pitchFamily="18" charset="0"/>
              </a:rPr>
              <a:t>§8-1  </a:t>
            </a:r>
            <a:r>
              <a:rPr lang="zh-CN" altLang="en-US" sz="2000">
                <a:solidFill>
                  <a:srgbClr val="FFFFFF"/>
                </a:solidFill>
                <a:latin typeface="+mn-lt"/>
                <a:ea typeface="+mn-ea"/>
                <a:cs typeface="Times New Roman" pitchFamily="18" charset="0"/>
              </a:rPr>
              <a:t>内能 功和热量 准静态过程</a:t>
            </a: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_标题和内容">
    <p:spTree>
      <p:nvGrpSpPr>
        <p:cNvPr id="1" name=""/>
        <p:cNvGrpSpPr/>
        <p:nvPr/>
      </p:nvGrpSpPr>
      <p:grpSpPr>
        <a:xfrm>
          <a:off x="0" y="0"/>
          <a:ext cx="0" cy="0"/>
          <a:chOff x="0" y="0"/>
          <a:chExt cx="0" cy="0"/>
        </a:xfrm>
      </p:grpSpPr>
      <p:sp>
        <p:nvSpPr>
          <p:cNvPr id="2" name="矩形 11"/>
          <p:cNvSpPr>
            <a:spLocks noChangeArrowheads="1"/>
          </p:cNvSpPr>
          <p:nvPr userDrawn="1"/>
        </p:nvSpPr>
        <p:spPr bwMode="auto">
          <a:xfrm>
            <a:off x="6588125" y="320675"/>
            <a:ext cx="2447925" cy="387350"/>
          </a:xfrm>
          <a:prstGeom prst="rect">
            <a:avLst/>
          </a:prstGeom>
          <a:noFill/>
          <a:ln>
            <a:noFill/>
          </a:ln>
          <a:extLst>
            <a:ext uri="{909E8E84-426E-40DD-AFC4-6F175D3DCCD1}"/>
            <a:ext uri="{91240B29-F687-4F45-9708-019B960494DF}"/>
          </a:extLst>
        </p:spPr>
        <p:txBody>
          <a:bodyPr>
            <a:spAutoFit/>
          </a:bodyPr>
          <a:lstStyle/>
          <a:p>
            <a:pPr fontAlgn="auto">
              <a:lnSpc>
                <a:spcPct val="115000"/>
              </a:lnSpc>
              <a:spcBef>
                <a:spcPts val="0"/>
              </a:spcBef>
              <a:spcAft>
                <a:spcPts val="0"/>
              </a:spcAft>
              <a:defRPr/>
            </a:pPr>
            <a:r>
              <a:rPr lang="en-US" altLang="zh-CN" b="1" dirty="0">
                <a:solidFill>
                  <a:srgbClr val="FFFFFF"/>
                </a:solidFill>
                <a:latin typeface="+mn-lt"/>
                <a:ea typeface="+mn-ea"/>
                <a:cs typeface="Times New Roman" pitchFamily="18" charset="0"/>
              </a:rPr>
              <a:t>§8-2  </a:t>
            </a:r>
            <a:r>
              <a:rPr lang="zh-CN" altLang="en-US" b="1" dirty="0">
                <a:solidFill>
                  <a:srgbClr val="FFFFFF"/>
                </a:solidFill>
                <a:latin typeface="+mn-lt"/>
                <a:ea typeface="+mn-ea"/>
                <a:cs typeface="Times New Roman" pitchFamily="18" charset="0"/>
              </a:rPr>
              <a:t>热力学第一定律</a:t>
            </a: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2" name="矩形 11"/>
          <p:cNvSpPr>
            <a:spLocks noChangeArrowheads="1"/>
          </p:cNvSpPr>
          <p:nvPr userDrawn="1"/>
        </p:nvSpPr>
        <p:spPr bwMode="auto">
          <a:xfrm>
            <a:off x="6013450" y="339725"/>
            <a:ext cx="2951163" cy="420688"/>
          </a:xfrm>
          <a:prstGeom prst="rect">
            <a:avLst/>
          </a:prstGeom>
          <a:noFill/>
          <a:ln>
            <a:noFill/>
          </a:ln>
          <a:extLst>
            <a:ext uri="{909E8E84-426E-40DD-AFC4-6F175D3DCCD1}"/>
            <a:ext uri="{91240B29-F687-4F45-9708-019B960494DF}"/>
          </a:extLst>
        </p:spPr>
        <p:txBody>
          <a:bodyPr>
            <a:spAutoFit/>
          </a:bodyPr>
          <a:lstStyle/>
          <a:p>
            <a:pPr fontAlgn="auto">
              <a:lnSpc>
                <a:spcPct val="115000"/>
              </a:lnSpc>
              <a:spcBef>
                <a:spcPts val="0"/>
              </a:spcBef>
              <a:spcAft>
                <a:spcPts val="0"/>
              </a:spcAft>
              <a:defRPr/>
            </a:pPr>
            <a:r>
              <a:rPr lang="en-US" altLang="zh-CN" sz="2000" b="1" dirty="0">
                <a:solidFill>
                  <a:srgbClr val="FFFFFF"/>
                </a:solidFill>
                <a:latin typeface="+mn-lt"/>
                <a:ea typeface="+mn-ea"/>
                <a:cs typeface="Times New Roman" pitchFamily="18" charset="0"/>
              </a:rPr>
              <a:t>§8-3  </a:t>
            </a:r>
            <a:r>
              <a:rPr lang="zh-CN" altLang="en-US" sz="2000" b="1" dirty="0">
                <a:solidFill>
                  <a:srgbClr val="FFFFFF"/>
                </a:solidFill>
                <a:latin typeface="+mn-lt"/>
                <a:ea typeface="+mn-ea"/>
                <a:cs typeface="Times New Roman" pitchFamily="18" charset="0"/>
              </a:rPr>
              <a:t>气体的摩尔热容量</a:t>
            </a: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3_标题和内容">
    <p:spTree>
      <p:nvGrpSpPr>
        <p:cNvPr id="1" name=""/>
        <p:cNvGrpSpPr/>
        <p:nvPr/>
      </p:nvGrpSpPr>
      <p:grpSpPr>
        <a:xfrm>
          <a:off x="0" y="0"/>
          <a:ext cx="0" cy="0"/>
          <a:chOff x="0" y="0"/>
          <a:chExt cx="0" cy="0"/>
        </a:xfrm>
      </p:grpSpPr>
      <p:sp>
        <p:nvSpPr>
          <p:cNvPr id="2" name="矩形 11"/>
          <p:cNvSpPr>
            <a:spLocks noChangeArrowheads="1"/>
          </p:cNvSpPr>
          <p:nvPr userDrawn="1"/>
        </p:nvSpPr>
        <p:spPr bwMode="auto">
          <a:xfrm>
            <a:off x="7164388" y="325438"/>
            <a:ext cx="1871662" cy="387350"/>
          </a:xfrm>
          <a:prstGeom prst="rect">
            <a:avLst/>
          </a:prstGeom>
          <a:noFill/>
          <a:ln>
            <a:noFill/>
          </a:ln>
          <a:extLst>
            <a:ext uri="{909E8E84-426E-40DD-AFC4-6F175D3DCCD1}"/>
            <a:ext uri="{91240B29-F687-4F45-9708-019B960494DF}"/>
          </a:extLst>
        </p:spPr>
        <p:txBody>
          <a:bodyPr>
            <a:spAutoFit/>
          </a:bodyPr>
          <a:lstStyle/>
          <a:p>
            <a:pPr fontAlgn="auto">
              <a:lnSpc>
                <a:spcPct val="115000"/>
              </a:lnSpc>
              <a:spcBef>
                <a:spcPts val="0"/>
              </a:spcBef>
              <a:spcAft>
                <a:spcPts val="0"/>
              </a:spcAft>
              <a:defRPr/>
            </a:pPr>
            <a:r>
              <a:rPr lang="en-US" altLang="zh-CN" b="1" dirty="0">
                <a:solidFill>
                  <a:srgbClr val="FFFFFF"/>
                </a:solidFill>
                <a:latin typeface="+mn-lt"/>
                <a:ea typeface="+mn-ea"/>
                <a:cs typeface="Times New Roman" pitchFamily="18" charset="0"/>
              </a:rPr>
              <a:t>§8-4  </a:t>
            </a:r>
            <a:r>
              <a:rPr lang="zh-CN" altLang="en-US" b="1" dirty="0">
                <a:solidFill>
                  <a:srgbClr val="FFFFFF"/>
                </a:solidFill>
                <a:latin typeface="+mn-lt"/>
                <a:ea typeface="+mn-ea"/>
                <a:cs typeface="Times New Roman" pitchFamily="18" charset="0"/>
              </a:rPr>
              <a:t>绝热过程</a:t>
            </a: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0_标题和内容">
    <p:spTree>
      <p:nvGrpSpPr>
        <p:cNvPr id="1" name=""/>
        <p:cNvGrpSpPr/>
        <p:nvPr/>
      </p:nvGrpSpPr>
      <p:grpSpPr>
        <a:xfrm>
          <a:off x="0" y="0"/>
          <a:ext cx="0" cy="0"/>
          <a:chOff x="0" y="0"/>
          <a:chExt cx="0" cy="0"/>
        </a:xfrm>
      </p:grpSpPr>
      <p:sp>
        <p:nvSpPr>
          <p:cNvPr id="2" name="矩形 11"/>
          <p:cNvSpPr>
            <a:spLocks noChangeArrowheads="1"/>
          </p:cNvSpPr>
          <p:nvPr userDrawn="1"/>
        </p:nvSpPr>
        <p:spPr bwMode="auto">
          <a:xfrm>
            <a:off x="6011863" y="325438"/>
            <a:ext cx="3025775" cy="420687"/>
          </a:xfrm>
          <a:prstGeom prst="rect">
            <a:avLst/>
          </a:prstGeom>
          <a:noFill/>
          <a:ln>
            <a:noFill/>
          </a:ln>
          <a:extLst>
            <a:ext uri="{909E8E84-426E-40DD-AFC4-6F175D3DCCD1}"/>
            <a:ext uri="{91240B29-F687-4F45-9708-019B960494DF}"/>
          </a:extLst>
        </p:spPr>
        <p:txBody>
          <a:bodyPr>
            <a:spAutoFit/>
          </a:bodyPr>
          <a:lstStyle/>
          <a:p>
            <a:pPr fontAlgn="auto">
              <a:lnSpc>
                <a:spcPct val="115000"/>
              </a:lnSpc>
              <a:spcBef>
                <a:spcPts val="0"/>
              </a:spcBef>
              <a:spcAft>
                <a:spcPts val="0"/>
              </a:spcAft>
              <a:defRPr/>
            </a:pPr>
            <a:r>
              <a:rPr lang="en-US" altLang="zh-CN" sz="2000" b="1" dirty="0">
                <a:solidFill>
                  <a:srgbClr val="FFFFFF"/>
                </a:solidFill>
                <a:latin typeface="+mn-lt"/>
                <a:ea typeface="+mn-ea"/>
                <a:cs typeface="Times New Roman" pitchFamily="18" charset="0"/>
              </a:rPr>
              <a:t>§8-5  </a:t>
            </a:r>
            <a:r>
              <a:rPr lang="zh-CN" altLang="en-US" sz="2000" b="1" dirty="0">
                <a:solidFill>
                  <a:srgbClr val="FFFFFF"/>
                </a:solidFill>
                <a:latin typeface="+mn-lt"/>
                <a:ea typeface="+mn-ea"/>
                <a:cs typeface="Times New Roman" pitchFamily="18" charset="0"/>
              </a:rPr>
              <a:t>循环过程 卡诺循环</a:t>
            </a: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矩形 11"/>
          <p:cNvSpPr>
            <a:spLocks noChangeArrowheads="1"/>
          </p:cNvSpPr>
          <p:nvPr userDrawn="1"/>
        </p:nvSpPr>
        <p:spPr bwMode="auto">
          <a:xfrm>
            <a:off x="6227763" y="325438"/>
            <a:ext cx="2736850" cy="420687"/>
          </a:xfrm>
          <a:prstGeom prst="rect">
            <a:avLst/>
          </a:prstGeom>
          <a:noFill/>
          <a:ln>
            <a:noFill/>
          </a:ln>
          <a:extLst>
            <a:ext uri="{909E8E84-426E-40DD-AFC4-6F175D3DCCD1}"/>
            <a:ext uri="{91240B29-F687-4F45-9708-019B960494DF}"/>
          </a:extLst>
        </p:spPr>
        <p:txBody>
          <a:bodyPr>
            <a:spAutoFit/>
          </a:bodyPr>
          <a:lstStyle/>
          <a:p>
            <a:pPr fontAlgn="auto">
              <a:lnSpc>
                <a:spcPct val="115000"/>
              </a:lnSpc>
              <a:spcBef>
                <a:spcPts val="0"/>
              </a:spcBef>
              <a:spcAft>
                <a:spcPts val="0"/>
              </a:spcAft>
              <a:defRPr/>
            </a:pPr>
            <a:r>
              <a:rPr lang="en-US" altLang="zh-CN" sz="2000" b="1" dirty="0">
                <a:solidFill>
                  <a:srgbClr val="FFFFFF"/>
                </a:solidFill>
                <a:latin typeface="+mn-lt"/>
                <a:ea typeface="+mn-ea"/>
                <a:cs typeface="Times New Roman" pitchFamily="18" charset="0"/>
              </a:rPr>
              <a:t>§8-6  </a:t>
            </a:r>
            <a:r>
              <a:rPr lang="zh-CN" altLang="en-US" sz="2000" b="1" dirty="0">
                <a:solidFill>
                  <a:srgbClr val="FFFFFF"/>
                </a:solidFill>
                <a:latin typeface="+mn-lt"/>
                <a:ea typeface="+mn-ea"/>
                <a:cs typeface="Times New Roman" pitchFamily="18" charset="0"/>
              </a:rPr>
              <a:t>热力学第二定律</a:t>
            </a: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矩形 11"/>
          <p:cNvSpPr>
            <a:spLocks noChangeArrowheads="1"/>
          </p:cNvSpPr>
          <p:nvPr userDrawn="1"/>
        </p:nvSpPr>
        <p:spPr bwMode="auto">
          <a:xfrm>
            <a:off x="5724525" y="268288"/>
            <a:ext cx="3311525" cy="420687"/>
          </a:xfrm>
          <a:prstGeom prst="rect">
            <a:avLst/>
          </a:prstGeom>
          <a:noFill/>
          <a:ln>
            <a:noFill/>
          </a:ln>
          <a:extLst>
            <a:ext uri="{909E8E84-426E-40DD-AFC4-6F175D3DCCD1}"/>
            <a:ext uri="{91240B29-F687-4F45-9708-019B960494DF}"/>
          </a:extLst>
        </p:spPr>
        <p:txBody>
          <a:bodyPr>
            <a:spAutoFit/>
          </a:bodyPr>
          <a:lstStyle/>
          <a:p>
            <a:pPr fontAlgn="auto">
              <a:lnSpc>
                <a:spcPct val="115000"/>
              </a:lnSpc>
              <a:spcBef>
                <a:spcPts val="0"/>
              </a:spcBef>
              <a:spcAft>
                <a:spcPts val="0"/>
              </a:spcAft>
              <a:defRPr/>
            </a:pPr>
            <a:r>
              <a:rPr lang="en-US" altLang="zh-CN" sz="2000" b="1" dirty="0">
                <a:solidFill>
                  <a:srgbClr val="FFFFFF"/>
                </a:solidFill>
                <a:latin typeface="+mn-lt"/>
                <a:ea typeface="+mn-ea"/>
                <a:cs typeface="Times New Roman" pitchFamily="18" charset="0"/>
              </a:rPr>
              <a:t>§8-7 </a:t>
            </a:r>
            <a:r>
              <a:rPr lang="zh-CN" altLang="en-US" sz="2000" b="1" dirty="0">
                <a:solidFill>
                  <a:srgbClr val="FFFFFF"/>
                </a:solidFill>
                <a:latin typeface="+mn-lt"/>
                <a:ea typeface="+mn-ea"/>
                <a:cs typeface="Times New Roman" pitchFamily="18" charset="0"/>
              </a:rPr>
              <a:t>卡诺定理  克劳修斯熵</a:t>
            </a: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2" name="矩形 11"/>
          <p:cNvSpPr>
            <a:spLocks noChangeArrowheads="1"/>
          </p:cNvSpPr>
          <p:nvPr userDrawn="1"/>
        </p:nvSpPr>
        <p:spPr bwMode="auto">
          <a:xfrm>
            <a:off x="4932363" y="268288"/>
            <a:ext cx="4103687" cy="387350"/>
          </a:xfrm>
          <a:prstGeom prst="rect">
            <a:avLst/>
          </a:prstGeom>
          <a:noFill/>
          <a:ln>
            <a:noFill/>
          </a:ln>
          <a:extLst>
            <a:ext uri="{909E8E84-426E-40DD-AFC4-6F175D3DCCD1}"/>
            <a:ext uri="{91240B29-F687-4F45-9708-019B960494DF}"/>
          </a:extLst>
        </p:spPr>
        <p:txBody>
          <a:bodyPr>
            <a:spAutoFit/>
          </a:bodyPr>
          <a:lstStyle/>
          <a:p>
            <a:pPr fontAlgn="auto">
              <a:lnSpc>
                <a:spcPct val="115000"/>
              </a:lnSpc>
              <a:spcBef>
                <a:spcPts val="0"/>
              </a:spcBef>
              <a:spcAft>
                <a:spcPts val="0"/>
              </a:spcAft>
              <a:defRPr/>
            </a:pPr>
            <a:r>
              <a:rPr lang="en-US" altLang="zh-CN" b="1" dirty="0">
                <a:solidFill>
                  <a:srgbClr val="FFFFFF"/>
                </a:solidFill>
                <a:latin typeface="+mn-lt"/>
                <a:ea typeface="+mn-ea"/>
                <a:cs typeface="Times New Roman" pitchFamily="18" charset="0"/>
              </a:rPr>
              <a:t>§8-8  </a:t>
            </a:r>
            <a:r>
              <a:rPr lang="zh-CN" altLang="en-US" b="1" dirty="0">
                <a:solidFill>
                  <a:srgbClr val="FFFFFF"/>
                </a:solidFill>
                <a:latin typeface="+mn-lt"/>
                <a:ea typeface="+mn-ea"/>
                <a:cs typeface="Times New Roman" pitchFamily="18" charset="0"/>
              </a:rPr>
              <a:t>热二定律的统计意义 玻尔兹曼熵</a:t>
            </a: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5_标题和内容">
    <p:spTree>
      <p:nvGrpSpPr>
        <p:cNvPr id="1" name=""/>
        <p:cNvGrpSpPr/>
        <p:nvPr/>
      </p:nvGrpSpPr>
      <p:grpSpPr>
        <a:xfrm>
          <a:off x="0" y="0"/>
          <a:ext cx="0" cy="0"/>
          <a:chOff x="0" y="0"/>
          <a:chExt cx="0" cy="0"/>
        </a:xfrm>
      </p:grpSpPr>
      <p:sp>
        <p:nvSpPr>
          <p:cNvPr id="2" name="矩形 11"/>
          <p:cNvSpPr>
            <a:spLocks noChangeArrowheads="1"/>
          </p:cNvSpPr>
          <p:nvPr userDrawn="1"/>
        </p:nvSpPr>
        <p:spPr bwMode="auto">
          <a:xfrm>
            <a:off x="7812088" y="325438"/>
            <a:ext cx="1223962" cy="420687"/>
          </a:xfrm>
          <a:prstGeom prst="rect">
            <a:avLst/>
          </a:prstGeom>
          <a:noFill/>
          <a:ln>
            <a:noFill/>
          </a:ln>
          <a:extLst>
            <a:ext uri="{909E8E84-426E-40DD-AFC4-6F175D3DCCD1}"/>
            <a:ext uri="{91240B29-F687-4F45-9708-019B960494DF}"/>
          </a:extLst>
        </p:spPr>
        <p:txBody>
          <a:bodyPr>
            <a:spAutoFit/>
          </a:bodyPr>
          <a:lstStyle/>
          <a:p>
            <a:pPr fontAlgn="auto">
              <a:lnSpc>
                <a:spcPct val="115000"/>
              </a:lnSpc>
              <a:spcBef>
                <a:spcPts val="0"/>
              </a:spcBef>
              <a:spcAft>
                <a:spcPts val="0"/>
              </a:spcAft>
              <a:defRPr/>
            </a:pPr>
            <a:r>
              <a:rPr lang="zh-CN" altLang="en-US" sz="2000" b="1" dirty="0">
                <a:solidFill>
                  <a:srgbClr val="FFFFFF"/>
                </a:solidFill>
                <a:latin typeface="+mn-lt"/>
                <a:ea typeface="+mn-ea"/>
                <a:cs typeface="Times New Roman" pitchFamily="18" charset="0"/>
              </a:rPr>
              <a:t>本章小结</a:t>
            </a: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空白">
    <p:bg bwMode="auto">
      <p:bgPr>
        <a:gradFill rotWithShape="0">
          <a:gsLst>
            <a:gs pos="0">
              <a:srgbClr val="DDEBCF"/>
            </a:gs>
            <a:gs pos="100000">
              <a:srgbClr val="9CB86E"/>
            </a:gs>
          </a:gsLst>
          <a:lin ang="5400000" scaled="1"/>
        </a:gradFill>
        <a:effectLst/>
      </p:bgPr>
    </p:bg>
    <p:spTree>
      <p:nvGrpSpPr>
        <p:cNvPr id="1" name=""/>
        <p:cNvGrpSpPr/>
        <p:nvPr/>
      </p:nvGrpSpPr>
      <p:grpSpPr>
        <a:xfrm>
          <a:off x="0" y="0"/>
          <a:ext cx="0" cy="0"/>
          <a:chOff x="0" y="0"/>
          <a:chExt cx="0" cy="0"/>
        </a:xfrm>
      </p:grpSpPr>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
        <p:nvSpPr>
          <p:cNvPr id="2" name="TextBox 1"/>
          <p:cNvSpPr txBox="1">
            <a:spLocks noChangeArrowheads="1"/>
          </p:cNvSpPr>
          <p:nvPr userDrawn="1"/>
        </p:nvSpPr>
        <p:spPr bwMode="auto">
          <a:xfrm>
            <a:off x="6372225" y="261938"/>
            <a:ext cx="2581275" cy="461962"/>
          </a:xfrm>
          <a:prstGeom prst="rect">
            <a:avLst/>
          </a:prstGeom>
          <a:noFill/>
          <a:ln>
            <a:noFill/>
          </a:ln>
          <a:extLst>
            <a:ext uri="{909E8E84-426E-40DD-AFC4-6F175D3DCCD1}"/>
            <a:ext uri="{91240B29-F687-4F45-9708-019B960494DF}"/>
          </a:extLst>
        </p:spPr>
        <p:txBody>
          <a:bodyPr wrap="none">
            <a:spAutoFit/>
          </a:bodyPr>
          <a:lstStyle>
            <a:lvl1pPr>
              <a:defRPr sz="2800">
                <a:solidFill>
                  <a:schemeClr val="tx1"/>
                </a:solidFill>
                <a:latin typeface="Times New Roman" pitchFamily="18" charset="0"/>
                <a:ea typeface="宋体" pitchFamily="2" charset="-122"/>
              </a:defRPr>
            </a:lvl1pPr>
            <a:lvl2pPr>
              <a:defRPr sz="2800">
                <a:solidFill>
                  <a:schemeClr val="tx1"/>
                </a:solidFill>
                <a:latin typeface="Times New Roman" pitchFamily="18" charset="0"/>
                <a:ea typeface="宋体" pitchFamily="2" charset="-122"/>
              </a:defRPr>
            </a:lvl2pPr>
            <a:lvl3pPr>
              <a:defRPr sz="2800">
                <a:solidFill>
                  <a:schemeClr val="tx1"/>
                </a:solidFill>
                <a:latin typeface="Times New Roman" pitchFamily="18" charset="0"/>
                <a:ea typeface="宋体" pitchFamily="2" charset="-122"/>
              </a:defRPr>
            </a:lvl3pPr>
            <a:lvl4pPr>
              <a:defRPr sz="2800">
                <a:solidFill>
                  <a:schemeClr val="tx1"/>
                </a:solidFill>
                <a:latin typeface="Times New Roman" pitchFamily="18" charset="0"/>
                <a:ea typeface="宋体" pitchFamily="2" charset="-122"/>
              </a:defRPr>
            </a:lvl4pPr>
            <a:lvl5pPr>
              <a:defRPr sz="2800">
                <a:solidFill>
                  <a:schemeClr val="tx1"/>
                </a:solidFill>
                <a:latin typeface="Times New Roman" pitchFamily="18" charset="0"/>
                <a:ea typeface="宋体" pitchFamily="2" charset="-122"/>
              </a:defRPr>
            </a:lvl5pPr>
            <a:lvl6pPr fontAlgn="base">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fontAlgn="base">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fontAlgn="base">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fontAlgn="base">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fontAlgn="auto">
              <a:spcBef>
                <a:spcPts val="0"/>
              </a:spcBef>
              <a:spcAft>
                <a:spcPts val="0"/>
              </a:spcAft>
              <a:buFont typeface="Arial" pitchFamily="34" charset="0"/>
              <a:buNone/>
              <a:defRPr/>
            </a:pPr>
            <a:r>
              <a:rPr lang="zh-CN" altLang="en-US" sz="2400" b="1" dirty="0" smtClean="0">
                <a:solidFill>
                  <a:prstClr val="white"/>
                </a:solidFill>
              </a:rPr>
              <a:t>第</a:t>
            </a:r>
            <a:r>
              <a:rPr lang="en-US" altLang="zh-CN" sz="2400" b="1" dirty="0" smtClean="0">
                <a:solidFill>
                  <a:prstClr val="white"/>
                </a:solidFill>
              </a:rPr>
              <a:t>8</a:t>
            </a:r>
            <a:r>
              <a:rPr lang="zh-CN" altLang="en-US" sz="2400" b="1" dirty="0" smtClean="0">
                <a:solidFill>
                  <a:prstClr val="white"/>
                </a:solidFill>
              </a:rPr>
              <a:t>章 热力学基础</a:t>
            </a:r>
            <a:endParaRPr lang="zh-CN" altLang="en-US" sz="2400" b="1" dirty="0">
              <a:solidFill>
                <a:prstClr val="white"/>
              </a:solidFill>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4_标题和内容">
    <p:spTree>
      <p:nvGrpSpPr>
        <p:cNvPr id="1" name=""/>
        <p:cNvGrpSpPr/>
        <p:nvPr/>
      </p:nvGrpSpPr>
      <p:grpSpPr>
        <a:xfrm>
          <a:off x="0" y="0"/>
          <a:ext cx="0" cy="0"/>
          <a:chOff x="0" y="0"/>
          <a:chExt cx="0" cy="0"/>
        </a:xfrm>
      </p:grpSpPr>
      <p:sp>
        <p:nvSpPr>
          <p:cNvPr id="2" name="矩形 11"/>
          <p:cNvSpPr>
            <a:spLocks noChangeArrowheads="1"/>
          </p:cNvSpPr>
          <p:nvPr userDrawn="1"/>
        </p:nvSpPr>
        <p:spPr bwMode="auto">
          <a:xfrm>
            <a:off x="5003800" y="268288"/>
            <a:ext cx="3960813" cy="420687"/>
          </a:xfrm>
          <a:prstGeom prst="rect">
            <a:avLst/>
          </a:prstGeom>
          <a:noFill/>
          <a:ln>
            <a:noFill/>
          </a:ln>
          <a:extLst>
            <a:ext uri="{909E8E84-426E-40DD-AFC4-6F175D3DCCD1}"/>
            <a:ext uri="{91240B29-F687-4F45-9708-019B960494DF}"/>
          </a:extLst>
        </p:spPr>
        <p:txBody>
          <a:bodyPr>
            <a:spAutoFit/>
          </a:bodyPr>
          <a:lstStyle/>
          <a:p>
            <a:pPr fontAlgn="auto">
              <a:lnSpc>
                <a:spcPct val="115000"/>
              </a:lnSpc>
              <a:spcBef>
                <a:spcPts val="0"/>
              </a:spcBef>
              <a:spcAft>
                <a:spcPts val="0"/>
              </a:spcAft>
              <a:defRPr/>
            </a:pPr>
            <a:r>
              <a:rPr lang="en-US" altLang="zh-CN" sz="2000" b="1" dirty="0">
                <a:solidFill>
                  <a:srgbClr val="FFFFFF"/>
                </a:solidFill>
                <a:latin typeface="+mn-lt"/>
                <a:ea typeface="+mn-ea"/>
                <a:cs typeface="Times New Roman" pitchFamily="18" charset="0"/>
              </a:rPr>
              <a:t>§8-1  </a:t>
            </a:r>
            <a:r>
              <a:rPr lang="zh-CN" altLang="en-US" sz="2000" b="1" dirty="0">
                <a:solidFill>
                  <a:srgbClr val="FFFFFF"/>
                </a:solidFill>
                <a:latin typeface="+mn-lt"/>
                <a:ea typeface="+mn-ea"/>
                <a:cs typeface="Times New Roman" pitchFamily="18" charset="0"/>
              </a:rPr>
              <a:t>内能 功和热量 准静态过程</a:t>
            </a: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6_标题和内容">
    <p:spTree>
      <p:nvGrpSpPr>
        <p:cNvPr id="1" name=""/>
        <p:cNvGrpSpPr/>
        <p:nvPr/>
      </p:nvGrpSpPr>
      <p:grpSpPr>
        <a:xfrm>
          <a:off x="0" y="0"/>
          <a:ext cx="0" cy="0"/>
          <a:chOff x="0" y="0"/>
          <a:chExt cx="0" cy="0"/>
        </a:xfrm>
      </p:grpSpPr>
      <p:sp>
        <p:nvSpPr>
          <p:cNvPr id="2" name="矩形 11"/>
          <p:cNvSpPr>
            <a:spLocks noChangeArrowheads="1"/>
          </p:cNvSpPr>
          <p:nvPr userDrawn="1"/>
        </p:nvSpPr>
        <p:spPr bwMode="auto">
          <a:xfrm>
            <a:off x="5003800" y="268288"/>
            <a:ext cx="3960813" cy="420687"/>
          </a:xfrm>
          <a:prstGeom prst="rect">
            <a:avLst/>
          </a:prstGeom>
          <a:noFill/>
          <a:ln>
            <a:noFill/>
          </a:ln>
          <a:extLst>
            <a:ext uri="{909E8E84-426E-40DD-AFC4-6F175D3DCCD1}"/>
            <a:ext uri="{91240B29-F687-4F45-9708-019B960494DF}"/>
          </a:extLst>
        </p:spPr>
        <p:txBody>
          <a:bodyPr>
            <a:spAutoFit/>
          </a:bodyPr>
          <a:lstStyle/>
          <a:p>
            <a:pPr fontAlgn="auto">
              <a:lnSpc>
                <a:spcPct val="115000"/>
              </a:lnSpc>
              <a:spcBef>
                <a:spcPts val="0"/>
              </a:spcBef>
              <a:spcAft>
                <a:spcPts val="0"/>
              </a:spcAft>
              <a:defRPr/>
            </a:pPr>
            <a:r>
              <a:rPr lang="en-US" altLang="zh-CN" sz="2000" b="1" dirty="0">
                <a:solidFill>
                  <a:srgbClr val="FFFFFF"/>
                </a:solidFill>
                <a:latin typeface="+mn-lt"/>
                <a:ea typeface="+mn-ea"/>
                <a:cs typeface="Times New Roman" pitchFamily="18" charset="0"/>
              </a:rPr>
              <a:t>§8-1  </a:t>
            </a:r>
            <a:r>
              <a:rPr lang="zh-CN" altLang="en-US" sz="2000" b="1" dirty="0">
                <a:solidFill>
                  <a:srgbClr val="FFFFFF"/>
                </a:solidFill>
                <a:latin typeface="+mn-lt"/>
                <a:ea typeface="+mn-ea"/>
                <a:cs typeface="Times New Roman" pitchFamily="18" charset="0"/>
              </a:rPr>
              <a:t>内能 功和热量 准静态过程</a:t>
            </a: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7_标题和内容">
    <p:spTree>
      <p:nvGrpSpPr>
        <p:cNvPr id="1" name=""/>
        <p:cNvGrpSpPr/>
        <p:nvPr/>
      </p:nvGrpSpPr>
      <p:grpSpPr>
        <a:xfrm>
          <a:off x="0" y="0"/>
          <a:ext cx="0" cy="0"/>
          <a:chOff x="0" y="0"/>
          <a:chExt cx="0" cy="0"/>
        </a:xfrm>
      </p:grpSpPr>
      <p:sp>
        <p:nvSpPr>
          <p:cNvPr id="2" name="矩形 11"/>
          <p:cNvSpPr>
            <a:spLocks noChangeArrowheads="1"/>
          </p:cNvSpPr>
          <p:nvPr userDrawn="1"/>
        </p:nvSpPr>
        <p:spPr bwMode="auto">
          <a:xfrm>
            <a:off x="5003800" y="268288"/>
            <a:ext cx="3960813" cy="420687"/>
          </a:xfrm>
          <a:prstGeom prst="rect">
            <a:avLst/>
          </a:prstGeom>
          <a:noFill/>
          <a:ln>
            <a:noFill/>
          </a:ln>
          <a:extLst>
            <a:ext uri="{909E8E84-426E-40DD-AFC4-6F175D3DCCD1}"/>
            <a:ext uri="{91240B29-F687-4F45-9708-019B960494DF}"/>
          </a:extLst>
        </p:spPr>
        <p:txBody>
          <a:bodyPr>
            <a:spAutoFit/>
          </a:bodyPr>
          <a:lstStyle/>
          <a:p>
            <a:pPr fontAlgn="auto">
              <a:lnSpc>
                <a:spcPct val="115000"/>
              </a:lnSpc>
              <a:spcBef>
                <a:spcPts val="0"/>
              </a:spcBef>
              <a:spcAft>
                <a:spcPts val="0"/>
              </a:spcAft>
              <a:defRPr/>
            </a:pPr>
            <a:r>
              <a:rPr lang="en-US" altLang="zh-CN" sz="2000" b="1" dirty="0">
                <a:solidFill>
                  <a:srgbClr val="FFFFFF"/>
                </a:solidFill>
                <a:latin typeface="+mn-lt"/>
                <a:ea typeface="+mn-ea"/>
                <a:cs typeface="Times New Roman" pitchFamily="18" charset="0"/>
              </a:rPr>
              <a:t>§8-1  </a:t>
            </a:r>
            <a:r>
              <a:rPr lang="zh-CN" altLang="en-US" sz="2000" b="1" dirty="0">
                <a:solidFill>
                  <a:srgbClr val="FFFFFF"/>
                </a:solidFill>
                <a:latin typeface="+mn-lt"/>
                <a:ea typeface="+mn-ea"/>
                <a:cs typeface="Times New Roman" pitchFamily="18" charset="0"/>
              </a:rPr>
              <a:t>内能 功和热量 准静态过程</a:t>
            </a: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8_标题和内容">
    <p:spTree>
      <p:nvGrpSpPr>
        <p:cNvPr id="1" name=""/>
        <p:cNvGrpSpPr/>
        <p:nvPr/>
      </p:nvGrpSpPr>
      <p:grpSpPr>
        <a:xfrm>
          <a:off x="0" y="0"/>
          <a:ext cx="0" cy="0"/>
          <a:chOff x="0" y="0"/>
          <a:chExt cx="0" cy="0"/>
        </a:xfrm>
      </p:grpSpPr>
      <p:sp>
        <p:nvSpPr>
          <p:cNvPr id="2" name="矩形 11"/>
          <p:cNvSpPr>
            <a:spLocks noChangeArrowheads="1"/>
          </p:cNvSpPr>
          <p:nvPr userDrawn="1"/>
        </p:nvSpPr>
        <p:spPr bwMode="auto">
          <a:xfrm>
            <a:off x="5003800" y="268288"/>
            <a:ext cx="3960813" cy="420687"/>
          </a:xfrm>
          <a:prstGeom prst="rect">
            <a:avLst/>
          </a:prstGeom>
          <a:noFill/>
          <a:ln>
            <a:noFill/>
          </a:ln>
          <a:extLst>
            <a:ext uri="{909E8E84-426E-40DD-AFC4-6F175D3DCCD1}"/>
            <a:ext uri="{91240B29-F687-4F45-9708-019B960494DF}"/>
          </a:extLst>
        </p:spPr>
        <p:txBody>
          <a:bodyPr>
            <a:spAutoFit/>
          </a:bodyPr>
          <a:lstStyle/>
          <a:p>
            <a:pPr fontAlgn="auto">
              <a:lnSpc>
                <a:spcPct val="115000"/>
              </a:lnSpc>
              <a:spcBef>
                <a:spcPts val="0"/>
              </a:spcBef>
              <a:spcAft>
                <a:spcPts val="0"/>
              </a:spcAft>
              <a:defRPr/>
            </a:pPr>
            <a:r>
              <a:rPr lang="en-US" altLang="zh-CN" sz="2000" b="1" dirty="0">
                <a:solidFill>
                  <a:srgbClr val="FFFFFF"/>
                </a:solidFill>
                <a:latin typeface="+mn-lt"/>
                <a:ea typeface="+mn-ea"/>
                <a:cs typeface="Times New Roman" pitchFamily="18" charset="0"/>
              </a:rPr>
              <a:t>§8-1  </a:t>
            </a:r>
            <a:r>
              <a:rPr lang="zh-CN" altLang="en-US" sz="2000" b="1" dirty="0">
                <a:solidFill>
                  <a:srgbClr val="FFFFFF"/>
                </a:solidFill>
                <a:latin typeface="+mn-lt"/>
                <a:ea typeface="+mn-ea"/>
                <a:cs typeface="Times New Roman" pitchFamily="18" charset="0"/>
              </a:rPr>
              <a:t>内能 功和热量 准静态过程</a:t>
            </a: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9_标题和内容">
    <p:spTree>
      <p:nvGrpSpPr>
        <p:cNvPr id="1" name=""/>
        <p:cNvGrpSpPr/>
        <p:nvPr/>
      </p:nvGrpSpPr>
      <p:grpSpPr>
        <a:xfrm>
          <a:off x="0" y="0"/>
          <a:ext cx="0" cy="0"/>
          <a:chOff x="0" y="0"/>
          <a:chExt cx="0" cy="0"/>
        </a:xfrm>
      </p:grpSpPr>
      <p:sp>
        <p:nvSpPr>
          <p:cNvPr id="2" name="矩形 11"/>
          <p:cNvSpPr>
            <a:spLocks noChangeArrowheads="1"/>
          </p:cNvSpPr>
          <p:nvPr userDrawn="1"/>
        </p:nvSpPr>
        <p:spPr bwMode="auto">
          <a:xfrm>
            <a:off x="5003800" y="268288"/>
            <a:ext cx="3960813" cy="420687"/>
          </a:xfrm>
          <a:prstGeom prst="rect">
            <a:avLst/>
          </a:prstGeom>
          <a:noFill/>
          <a:ln>
            <a:noFill/>
          </a:ln>
          <a:extLst>
            <a:ext uri="{909E8E84-426E-40DD-AFC4-6F175D3DCCD1}"/>
            <a:ext uri="{91240B29-F687-4F45-9708-019B960494DF}"/>
          </a:extLst>
        </p:spPr>
        <p:txBody>
          <a:bodyPr>
            <a:spAutoFit/>
          </a:bodyPr>
          <a:lstStyle/>
          <a:p>
            <a:pPr fontAlgn="auto">
              <a:lnSpc>
                <a:spcPct val="115000"/>
              </a:lnSpc>
              <a:spcBef>
                <a:spcPts val="0"/>
              </a:spcBef>
              <a:spcAft>
                <a:spcPts val="0"/>
              </a:spcAft>
              <a:defRPr/>
            </a:pPr>
            <a:r>
              <a:rPr lang="en-US" altLang="zh-CN" sz="2000" b="1" dirty="0">
                <a:solidFill>
                  <a:srgbClr val="FFFFFF"/>
                </a:solidFill>
                <a:latin typeface="+mn-lt"/>
                <a:ea typeface="+mn-ea"/>
                <a:cs typeface="Times New Roman" pitchFamily="18" charset="0"/>
              </a:rPr>
              <a:t>§8-1  </a:t>
            </a:r>
            <a:r>
              <a:rPr lang="zh-CN" altLang="en-US" sz="2000" b="1" dirty="0">
                <a:solidFill>
                  <a:srgbClr val="FFFFFF"/>
                </a:solidFill>
                <a:latin typeface="+mn-lt"/>
                <a:ea typeface="+mn-ea"/>
                <a:cs typeface="Times New Roman" pitchFamily="18" charset="0"/>
              </a:rPr>
              <a:t>内能 功和热量 准静态过程</a:t>
            </a: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11_标题和内容">
    <p:spTree>
      <p:nvGrpSpPr>
        <p:cNvPr id="1" name=""/>
        <p:cNvGrpSpPr/>
        <p:nvPr/>
      </p:nvGrpSpPr>
      <p:grpSpPr>
        <a:xfrm>
          <a:off x="0" y="0"/>
          <a:ext cx="0" cy="0"/>
          <a:chOff x="0" y="0"/>
          <a:chExt cx="0" cy="0"/>
        </a:xfrm>
      </p:grpSpPr>
      <p:sp>
        <p:nvSpPr>
          <p:cNvPr id="2" name="矩形 11"/>
          <p:cNvSpPr>
            <a:spLocks noChangeArrowheads="1"/>
          </p:cNvSpPr>
          <p:nvPr userDrawn="1"/>
        </p:nvSpPr>
        <p:spPr bwMode="auto">
          <a:xfrm>
            <a:off x="5003800" y="268288"/>
            <a:ext cx="3960813" cy="420687"/>
          </a:xfrm>
          <a:prstGeom prst="rect">
            <a:avLst/>
          </a:prstGeom>
          <a:noFill/>
          <a:ln>
            <a:noFill/>
          </a:ln>
          <a:extLst>
            <a:ext uri="{909E8E84-426E-40DD-AFC4-6F175D3DCCD1}"/>
            <a:ext uri="{91240B29-F687-4F45-9708-019B960494DF}"/>
          </a:extLst>
        </p:spPr>
        <p:txBody>
          <a:bodyPr>
            <a:spAutoFit/>
          </a:bodyPr>
          <a:lstStyle/>
          <a:p>
            <a:pPr fontAlgn="auto">
              <a:lnSpc>
                <a:spcPct val="115000"/>
              </a:lnSpc>
              <a:spcBef>
                <a:spcPts val="0"/>
              </a:spcBef>
              <a:spcAft>
                <a:spcPts val="0"/>
              </a:spcAft>
              <a:defRPr/>
            </a:pPr>
            <a:r>
              <a:rPr lang="en-US" altLang="zh-CN" sz="2000" b="1" dirty="0">
                <a:solidFill>
                  <a:srgbClr val="FFFFFF"/>
                </a:solidFill>
                <a:latin typeface="+mn-lt"/>
                <a:ea typeface="+mn-ea"/>
                <a:cs typeface="Times New Roman" pitchFamily="18" charset="0"/>
              </a:rPr>
              <a:t>§8-1  </a:t>
            </a:r>
            <a:r>
              <a:rPr lang="zh-CN" altLang="en-US" sz="2000" b="1" dirty="0">
                <a:solidFill>
                  <a:srgbClr val="FFFFFF"/>
                </a:solidFill>
                <a:latin typeface="+mn-lt"/>
                <a:ea typeface="+mn-ea"/>
                <a:cs typeface="Times New Roman" pitchFamily="18" charset="0"/>
              </a:rPr>
              <a:t>内能 功和热量 准静态过程</a:t>
            </a: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12_标题和内容">
    <p:spTree>
      <p:nvGrpSpPr>
        <p:cNvPr id="1" name=""/>
        <p:cNvGrpSpPr/>
        <p:nvPr/>
      </p:nvGrpSpPr>
      <p:grpSpPr>
        <a:xfrm>
          <a:off x="0" y="0"/>
          <a:ext cx="0" cy="0"/>
          <a:chOff x="0" y="0"/>
          <a:chExt cx="0" cy="0"/>
        </a:xfrm>
      </p:grpSpPr>
      <p:sp>
        <p:nvSpPr>
          <p:cNvPr id="2" name="矩形 11"/>
          <p:cNvSpPr>
            <a:spLocks noChangeArrowheads="1"/>
          </p:cNvSpPr>
          <p:nvPr userDrawn="1"/>
        </p:nvSpPr>
        <p:spPr bwMode="auto">
          <a:xfrm>
            <a:off x="6011863" y="325438"/>
            <a:ext cx="3025775" cy="420687"/>
          </a:xfrm>
          <a:prstGeom prst="rect">
            <a:avLst/>
          </a:prstGeom>
          <a:noFill/>
          <a:ln>
            <a:noFill/>
          </a:ln>
          <a:extLst>
            <a:ext uri="{909E8E84-426E-40DD-AFC4-6F175D3DCCD1}"/>
            <a:ext uri="{91240B29-F687-4F45-9708-019B960494DF}"/>
          </a:extLst>
        </p:spPr>
        <p:txBody>
          <a:bodyPr>
            <a:spAutoFit/>
          </a:bodyPr>
          <a:lstStyle/>
          <a:p>
            <a:pPr fontAlgn="auto">
              <a:lnSpc>
                <a:spcPct val="115000"/>
              </a:lnSpc>
              <a:spcBef>
                <a:spcPts val="0"/>
              </a:spcBef>
              <a:spcAft>
                <a:spcPts val="0"/>
              </a:spcAft>
              <a:defRPr/>
            </a:pPr>
            <a:r>
              <a:rPr lang="en-US" altLang="zh-CN" sz="2000" b="1" dirty="0">
                <a:solidFill>
                  <a:srgbClr val="FFFFFF"/>
                </a:solidFill>
                <a:latin typeface="+mn-lt"/>
                <a:ea typeface="+mn-ea"/>
                <a:cs typeface="Times New Roman" pitchFamily="18" charset="0"/>
              </a:rPr>
              <a:t>§8-5  </a:t>
            </a:r>
            <a:r>
              <a:rPr lang="zh-CN" altLang="en-US" sz="2000" b="1" dirty="0">
                <a:solidFill>
                  <a:srgbClr val="FFFFFF"/>
                </a:solidFill>
                <a:latin typeface="+mn-lt"/>
                <a:ea typeface="+mn-ea"/>
                <a:cs typeface="Times New Roman" pitchFamily="18" charset="0"/>
              </a:rPr>
              <a:t>循环过程 卡诺循环</a:t>
            </a: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4_自定义版式">
    <p:spTree>
      <p:nvGrpSpPr>
        <p:cNvPr id="1" name=""/>
        <p:cNvGrpSpPr/>
        <p:nvPr/>
      </p:nvGrpSpPr>
      <p:grpSpPr>
        <a:xfrm>
          <a:off x="0" y="0"/>
          <a:ext cx="0" cy="0"/>
          <a:chOff x="0" y="0"/>
          <a:chExt cx="0" cy="0"/>
        </a:xfrm>
      </p:grpSpPr>
      <p:sp>
        <p:nvSpPr>
          <p:cNvPr id="2" name="矩形 11"/>
          <p:cNvSpPr>
            <a:spLocks noChangeArrowheads="1"/>
          </p:cNvSpPr>
          <p:nvPr userDrawn="1"/>
        </p:nvSpPr>
        <p:spPr bwMode="auto">
          <a:xfrm>
            <a:off x="6227763" y="325438"/>
            <a:ext cx="2736850" cy="420687"/>
          </a:xfrm>
          <a:prstGeom prst="rect">
            <a:avLst/>
          </a:prstGeom>
          <a:noFill/>
          <a:ln>
            <a:noFill/>
          </a:ln>
          <a:extLst>
            <a:ext uri="{909E8E84-426E-40DD-AFC4-6F175D3DCCD1}"/>
            <a:ext uri="{91240B29-F687-4F45-9708-019B960494DF}"/>
          </a:extLst>
        </p:spPr>
        <p:txBody>
          <a:bodyPr>
            <a:spAutoFit/>
          </a:bodyPr>
          <a:lstStyle/>
          <a:p>
            <a:pPr fontAlgn="auto">
              <a:lnSpc>
                <a:spcPct val="115000"/>
              </a:lnSpc>
              <a:spcBef>
                <a:spcPts val="0"/>
              </a:spcBef>
              <a:spcAft>
                <a:spcPts val="0"/>
              </a:spcAft>
              <a:defRPr/>
            </a:pPr>
            <a:r>
              <a:rPr lang="en-US" altLang="zh-CN" sz="2000" b="1" dirty="0">
                <a:solidFill>
                  <a:srgbClr val="FFFFFF"/>
                </a:solidFill>
                <a:latin typeface="+mn-lt"/>
                <a:ea typeface="+mn-ea"/>
                <a:cs typeface="Times New Roman" pitchFamily="18" charset="0"/>
              </a:rPr>
              <a:t>§8-6  </a:t>
            </a:r>
            <a:r>
              <a:rPr lang="zh-CN" altLang="en-US" sz="2000" b="1" dirty="0">
                <a:solidFill>
                  <a:srgbClr val="FFFFFF"/>
                </a:solidFill>
                <a:latin typeface="+mn-lt"/>
                <a:ea typeface="+mn-ea"/>
                <a:cs typeface="Times New Roman" pitchFamily="18" charset="0"/>
              </a:rPr>
              <a:t>热力学第二定律</a:t>
            </a: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5_自定义版式">
    <p:spTree>
      <p:nvGrpSpPr>
        <p:cNvPr id="1" name=""/>
        <p:cNvGrpSpPr/>
        <p:nvPr/>
      </p:nvGrpSpPr>
      <p:grpSpPr>
        <a:xfrm>
          <a:off x="0" y="0"/>
          <a:ext cx="0" cy="0"/>
          <a:chOff x="0" y="0"/>
          <a:chExt cx="0" cy="0"/>
        </a:xfrm>
      </p:grpSpPr>
      <p:sp>
        <p:nvSpPr>
          <p:cNvPr id="2" name="矩形 11"/>
          <p:cNvSpPr>
            <a:spLocks noChangeArrowheads="1"/>
          </p:cNvSpPr>
          <p:nvPr userDrawn="1"/>
        </p:nvSpPr>
        <p:spPr bwMode="auto">
          <a:xfrm>
            <a:off x="4932363" y="268288"/>
            <a:ext cx="4103687" cy="387350"/>
          </a:xfrm>
          <a:prstGeom prst="rect">
            <a:avLst/>
          </a:prstGeom>
          <a:noFill/>
          <a:ln>
            <a:noFill/>
          </a:ln>
          <a:extLst>
            <a:ext uri="{909E8E84-426E-40DD-AFC4-6F175D3DCCD1}"/>
            <a:ext uri="{91240B29-F687-4F45-9708-019B960494DF}"/>
          </a:extLst>
        </p:spPr>
        <p:txBody>
          <a:bodyPr>
            <a:spAutoFit/>
          </a:bodyPr>
          <a:lstStyle/>
          <a:p>
            <a:pPr fontAlgn="auto">
              <a:lnSpc>
                <a:spcPct val="115000"/>
              </a:lnSpc>
              <a:spcBef>
                <a:spcPts val="0"/>
              </a:spcBef>
              <a:spcAft>
                <a:spcPts val="0"/>
              </a:spcAft>
              <a:defRPr/>
            </a:pPr>
            <a:r>
              <a:rPr lang="en-US" altLang="zh-CN" b="1" dirty="0">
                <a:solidFill>
                  <a:srgbClr val="FFFFFF"/>
                </a:solidFill>
                <a:latin typeface="+mn-lt"/>
                <a:ea typeface="+mn-ea"/>
                <a:cs typeface="Times New Roman" pitchFamily="18" charset="0"/>
              </a:rPr>
              <a:t>§8-8  </a:t>
            </a:r>
            <a:r>
              <a:rPr lang="zh-CN" altLang="en-US" b="1" dirty="0">
                <a:solidFill>
                  <a:srgbClr val="FFFFFF"/>
                </a:solidFill>
                <a:latin typeface="+mn-lt"/>
                <a:ea typeface="+mn-ea"/>
                <a:cs typeface="Times New Roman" pitchFamily="18" charset="0"/>
              </a:rPr>
              <a:t>热二定律的统计意义 玻尔兹曼熵</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hyperlink" Target="0-0-&#24635;&#30446;&#24405;.pptx" TargetMode="Externa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1.jpe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slideLayout" Target="../slideLayouts/slideLayout37.xml"/><Relationship Id="rId18" Type="http://schemas.openxmlformats.org/officeDocument/2006/relationships/slideLayout" Target="../slideLayouts/slideLayout42.xml"/><Relationship Id="rId3" Type="http://schemas.openxmlformats.org/officeDocument/2006/relationships/slideLayout" Target="../slideLayouts/slideLayout27.xml"/><Relationship Id="rId21" Type="http://schemas.openxmlformats.org/officeDocument/2006/relationships/slideLayout" Target="../slideLayouts/slideLayout45.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17" Type="http://schemas.openxmlformats.org/officeDocument/2006/relationships/slideLayout" Target="../slideLayouts/slideLayout41.xml"/><Relationship Id="rId2" Type="http://schemas.openxmlformats.org/officeDocument/2006/relationships/slideLayout" Target="../slideLayouts/slideLayout26.xml"/><Relationship Id="rId16" Type="http://schemas.openxmlformats.org/officeDocument/2006/relationships/slideLayout" Target="../slideLayouts/slideLayout40.xml"/><Relationship Id="rId20" Type="http://schemas.openxmlformats.org/officeDocument/2006/relationships/slideLayout" Target="../slideLayouts/slideLayout44.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24" Type="http://schemas.openxmlformats.org/officeDocument/2006/relationships/image" Target="../media/image1.jpeg"/><Relationship Id="rId5" Type="http://schemas.openxmlformats.org/officeDocument/2006/relationships/slideLayout" Target="../slideLayouts/slideLayout29.xml"/><Relationship Id="rId15" Type="http://schemas.openxmlformats.org/officeDocument/2006/relationships/slideLayout" Target="../slideLayouts/slideLayout39.xml"/><Relationship Id="rId23" Type="http://schemas.openxmlformats.org/officeDocument/2006/relationships/theme" Target="../theme/theme3.xml"/><Relationship Id="rId10" Type="http://schemas.openxmlformats.org/officeDocument/2006/relationships/slideLayout" Target="../slideLayouts/slideLayout34.xml"/><Relationship Id="rId19" Type="http://schemas.openxmlformats.org/officeDocument/2006/relationships/slideLayout" Target="../slideLayouts/slideLayout43.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slideLayout" Target="../slideLayouts/slideLayout38.xml"/><Relationship Id="rId22" Type="http://schemas.openxmlformats.org/officeDocument/2006/relationships/slideLayout" Target="../slideLayouts/slideLayout4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rgbClr val="58A289">
            <a:alpha val="20000"/>
          </a:srgbClr>
        </a:solidFill>
        <a:effectLst/>
      </p:bgPr>
    </p:bg>
    <p:spTree>
      <p:nvGrpSpPr>
        <p:cNvPr id="1" name=""/>
        <p:cNvGrpSpPr/>
        <p:nvPr/>
      </p:nvGrpSpPr>
      <p:grpSpPr>
        <a:xfrm>
          <a:off x="0" y="0"/>
          <a:ext cx="0" cy="0"/>
          <a:chOff x="0" y="0"/>
          <a:chExt cx="0" cy="0"/>
        </a:xfrm>
      </p:grpSpPr>
      <p:sp>
        <p:nvSpPr>
          <p:cNvPr id="3" name="矩形 2"/>
          <p:cNvSpPr/>
          <p:nvPr/>
        </p:nvSpPr>
        <p:spPr>
          <a:xfrm>
            <a:off x="-11113" y="-30163"/>
            <a:ext cx="9164638" cy="881063"/>
          </a:xfrm>
          <a:prstGeom prst="rect">
            <a:avLst/>
          </a:prstGeom>
          <a:solidFill>
            <a:srgbClr val="58A28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buFont typeface="Arial" pitchFamily="34" charset="0"/>
              <a:buNone/>
              <a:defRPr/>
            </a:pPr>
            <a:endParaRPr kumimoji="1" lang="zh-CN" altLang="en-US" sz="2400" b="1" noProof="1">
              <a:solidFill>
                <a:prstClr val="white"/>
              </a:solidFill>
            </a:endParaRPr>
          </a:p>
        </p:txBody>
      </p:sp>
      <p:cxnSp>
        <p:nvCxnSpPr>
          <p:cNvPr id="7" name="直接连接符 6"/>
          <p:cNvCxnSpPr/>
          <p:nvPr/>
        </p:nvCxnSpPr>
        <p:spPr>
          <a:xfrm>
            <a:off x="142875" y="771525"/>
            <a:ext cx="8856663" cy="0"/>
          </a:xfrm>
          <a:prstGeom prst="line">
            <a:avLst/>
          </a:prstGeom>
          <a:ln w="31750">
            <a:solidFill>
              <a:schemeClr val="bg1">
                <a:alpha val="24000"/>
              </a:schemeClr>
            </a:solidFill>
          </a:ln>
        </p:spPr>
        <p:style>
          <a:lnRef idx="1">
            <a:schemeClr val="accent1"/>
          </a:lnRef>
          <a:fillRef idx="0">
            <a:schemeClr val="accent1"/>
          </a:fillRef>
          <a:effectRef idx="0">
            <a:schemeClr val="accent1"/>
          </a:effectRef>
          <a:fontRef idx="minor">
            <a:schemeClr val="tx1"/>
          </a:fontRef>
        </p:style>
      </p:cxnSp>
      <p:pic>
        <p:nvPicPr>
          <p:cNvPr id="54276" name="图片 10"/>
          <p:cNvPicPr>
            <a:picLocks noChangeAspect="1" noChangeArrowheads="1"/>
          </p:cNvPicPr>
          <p:nvPr/>
        </p:nvPicPr>
        <p:blipFill>
          <a:blip r:embed="rId14"/>
          <a:srcRect/>
          <a:stretch>
            <a:fillRect/>
          </a:stretch>
        </p:blipFill>
        <p:spPr bwMode="auto">
          <a:xfrm>
            <a:off x="301625" y="85725"/>
            <a:ext cx="525463" cy="612775"/>
          </a:xfrm>
          <a:prstGeom prst="rect">
            <a:avLst/>
          </a:prstGeom>
          <a:noFill/>
          <a:ln w="9525">
            <a:noFill/>
            <a:miter lim="800000"/>
            <a:headEnd/>
            <a:tailEnd/>
          </a:ln>
        </p:spPr>
      </p:pic>
      <p:sp>
        <p:nvSpPr>
          <p:cNvPr id="1029" name="TextBox 11"/>
          <p:cNvSpPr txBox="1">
            <a:spLocks noChangeArrowheads="1"/>
          </p:cNvSpPr>
          <p:nvPr/>
        </p:nvSpPr>
        <p:spPr bwMode="auto">
          <a:xfrm>
            <a:off x="1246188" y="411163"/>
            <a:ext cx="2379662" cy="369887"/>
          </a:xfrm>
          <a:prstGeom prst="rect">
            <a:avLst/>
          </a:prstGeom>
          <a:noFill/>
          <a:ln>
            <a:noFill/>
          </a:ln>
          <a:extLst>
            <a:ext uri="{909E8E84-426E-40DD-AFC4-6F175D3DCCD1}"/>
            <a:ext uri="{91240B29-F687-4F45-9708-019B960494DF}"/>
          </a:extLst>
        </p:spPr>
        <p:txBody>
          <a:bodyPr wrap="none">
            <a:spAutoFit/>
          </a:bodyPr>
          <a:lstStyle>
            <a:lvl1pPr>
              <a:defRPr sz="2800">
                <a:solidFill>
                  <a:schemeClr val="tx1"/>
                </a:solidFill>
                <a:latin typeface="Times New Roman" pitchFamily="18" charset="0"/>
                <a:ea typeface="宋体" pitchFamily="2" charset="-122"/>
              </a:defRPr>
            </a:lvl1pPr>
            <a:lvl2pPr>
              <a:defRPr sz="2800">
                <a:solidFill>
                  <a:schemeClr val="tx1"/>
                </a:solidFill>
                <a:latin typeface="Times New Roman" pitchFamily="18" charset="0"/>
                <a:ea typeface="宋体" pitchFamily="2" charset="-122"/>
              </a:defRPr>
            </a:lvl2pPr>
            <a:lvl3pPr>
              <a:defRPr sz="2800">
                <a:solidFill>
                  <a:schemeClr val="tx1"/>
                </a:solidFill>
                <a:latin typeface="Times New Roman" pitchFamily="18" charset="0"/>
                <a:ea typeface="宋体" pitchFamily="2" charset="-122"/>
              </a:defRPr>
            </a:lvl3pPr>
            <a:lvl4pPr>
              <a:defRPr sz="2800">
                <a:solidFill>
                  <a:schemeClr val="tx1"/>
                </a:solidFill>
                <a:latin typeface="Times New Roman" pitchFamily="18" charset="0"/>
                <a:ea typeface="宋体" pitchFamily="2" charset="-122"/>
              </a:defRPr>
            </a:lvl4pPr>
            <a:lvl5pPr>
              <a:defRPr sz="2800">
                <a:solidFill>
                  <a:schemeClr val="tx1"/>
                </a:solidFill>
                <a:latin typeface="Times New Roman" pitchFamily="18" charset="0"/>
                <a:ea typeface="宋体" pitchFamily="2" charset="-122"/>
              </a:defRPr>
            </a:lvl5pPr>
            <a:lvl6pPr fontAlgn="base">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fontAlgn="base">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fontAlgn="base">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fontAlgn="base">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a:buFont typeface="Arial" pitchFamily="34" charset="0"/>
              <a:buNone/>
              <a:defRPr/>
            </a:pPr>
            <a:r>
              <a:rPr kumimoji="1" lang="zh-CN" altLang="en-US" sz="1800" b="1" dirty="0" smtClean="0">
                <a:solidFill>
                  <a:prstClr val="white"/>
                </a:solidFill>
                <a:latin typeface="Calibri" pitchFamily="34" charset="0"/>
              </a:rPr>
              <a:t>大学物理学（第</a:t>
            </a:r>
            <a:r>
              <a:rPr kumimoji="1" lang="en-US" altLang="zh-CN" sz="1800" b="1" dirty="0" smtClean="0">
                <a:solidFill>
                  <a:prstClr val="white"/>
                </a:solidFill>
                <a:latin typeface="Calibri" pitchFamily="34" charset="0"/>
              </a:rPr>
              <a:t>5</a:t>
            </a:r>
            <a:r>
              <a:rPr kumimoji="1" lang="zh-CN" altLang="en-US" sz="1800" b="1" dirty="0" smtClean="0">
                <a:solidFill>
                  <a:prstClr val="white"/>
                </a:solidFill>
                <a:latin typeface="Calibri" pitchFamily="34" charset="0"/>
              </a:rPr>
              <a:t>版）</a:t>
            </a:r>
            <a:endParaRPr kumimoji="1" lang="zh-CN" altLang="en-US" sz="1800" b="1" dirty="0">
              <a:solidFill>
                <a:prstClr val="white"/>
              </a:solidFill>
              <a:latin typeface="Calibri" pitchFamily="34" charset="0"/>
            </a:endParaRPr>
          </a:p>
        </p:txBody>
      </p:sp>
      <p:sp>
        <p:nvSpPr>
          <p:cNvPr id="1030" name="TextBox 12"/>
          <p:cNvSpPr txBox="1">
            <a:spLocks noChangeArrowheads="1"/>
          </p:cNvSpPr>
          <p:nvPr/>
        </p:nvSpPr>
        <p:spPr bwMode="auto">
          <a:xfrm>
            <a:off x="827088" y="134938"/>
            <a:ext cx="3775075" cy="307975"/>
          </a:xfrm>
          <a:prstGeom prst="rect">
            <a:avLst/>
          </a:prstGeom>
          <a:noFill/>
          <a:ln>
            <a:noFill/>
          </a:ln>
          <a:extLst>
            <a:ext uri="{909E8E84-426E-40DD-AFC4-6F175D3DCCD1}"/>
            <a:ext uri="{91240B29-F687-4F45-9708-019B960494DF}"/>
          </a:extLst>
        </p:spPr>
        <p:txBody>
          <a:bodyPr wrap="none">
            <a:spAutoFit/>
          </a:bodyPr>
          <a:lstStyle>
            <a:lvl1pPr>
              <a:defRPr sz="2800">
                <a:solidFill>
                  <a:schemeClr val="tx1"/>
                </a:solidFill>
                <a:latin typeface="Times New Roman" pitchFamily="18" charset="0"/>
                <a:ea typeface="宋体" pitchFamily="2" charset="-122"/>
              </a:defRPr>
            </a:lvl1pPr>
            <a:lvl2pPr>
              <a:defRPr sz="2800">
                <a:solidFill>
                  <a:schemeClr val="tx1"/>
                </a:solidFill>
                <a:latin typeface="Times New Roman" pitchFamily="18" charset="0"/>
                <a:ea typeface="宋体" pitchFamily="2" charset="-122"/>
              </a:defRPr>
            </a:lvl2pPr>
            <a:lvl3pPr>
              <a:defRPr sz="2800">
                <a:solidFill>
                  <a:schemeClr val="tx1"/>
                </a:solidFill>
                <a:latin typeface="Times New Roman" pitchFamily="18" charset="0"/>
                <a:ea typeface="宋体" pitchFamily="2" charset="-122"/>
              </a:defRPr>
            </a:lvl3pPr>
            <a:lvl4pPr>
              <a:defRPr sz="2800">
                <a:solidFill>
                  <a:schemeClr val="tx1"/>
                </a:solidFill>
                <a:latin typeface="Times New Roman" pitchFamily="18" charset="0"/>
                <a:ea typeface="宋体" pitchFamily="2" charset="-122"/>
              </a:defRPr>
            </a:lvl4pPr>
            <a:lvl5pPr>
              <a:defRPr sz="2800">
                <a:solidFill>
                  <a:schemeClr val="tx1"/>
                </a:solidFill>
                <a:latin typeface="Times New Roman" pitchFamily="18" charset="0"/>
                <a:ea typeface="宋体" pitchFamily="2" charset="-122"/>
              </a:defRPr>
            </a:lvl5pPr>
            <a:lvl6pPr fontAlgn="base">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fontAlgn="base">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fontAlgn="base">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fontAlgn="base">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a:buFont typeface="Arial" pitchFamily="34" charset="0"/>
              <a:buNone/>
              <a:defRPr/>
            </a:pPr>
            <a:r>
              <a:rPr kumimoji="1" lang="zh-CN" altLang="en-US" sz="1400" b="1" dirty="0">
                <a:solidFill>
                  <a:prstClr val="white"/>
                </a:solidFill>
                <a:latin typeface="华文楷体" pitchFamily="2" charset="-122"/>
                <a:ea typeface="华文楷体" pitchFamily="2" charset="-122"/>
              </a:rPr>
              <a:t>“十二五”普通高等教育本科国家级规划教材</a:t>
            </a:r>
          </a:p>
        </p:txBody>
      </p:sp>
      <p:sp>
        <p:nvSpPr>
          <p:cNvPr id="2" name="矩形 1"/>
          <p:cNvSpPr/>
          <p:nvPr/>
        </p:nvSpPr>
        <p:spPr>
          <a:xfrm>
            <a:off x="9525" y="850900"/>
            <a:ext cx="9123363" cy="37433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buFont typeface="Arial" pitchFamily="34" charset="0"/>
              <a:buNone/>
              <a:defRPr/>
            </a:pPr>
            <a:endParaRPr kumimoji="1" lang="zh-CN" altLang="en-US" sz="2400" b="1" noProof="1">
              <a:solidFill>
                <a:prstClr val="white"/>
              </a:solidFill>
            </a:endParaRPr>
          </a:p>
        </p:txBody>
      </p:sp>
      <p:sp>
        <p:nvSpPr>
          <p:cNvPr id="28" name="矩形 27">
            <a:hlinkClick r:id="" action="ppaction://hlinkshowjump?jump=previousslide"/>
          </p:cNvPr>
          <p:cNvSpPr/>
          <p:nvPr/>
        </p:nvSpPr>
        <p:spPr>
          <a:xfrm>
            <a:off x="7532688" y="4732338"/>
            <a:ext cx="720725" cy="288925"/>
          </a:xfrm>
          <a:prstGeom prst="rect">
            <a:avLst/>
          </a:prstGeom>
          <a:solidFill>
            <a:srgbClr val="58A28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kumimoji="1" lang="zh-CN" altLang="en-US" sz="1300" b="1" dirty="0">
              <a:solidFill>
                <a:prstClr val="white"/>
              </a:solidFill>
              <a:latin typeface="方正舒体" panose="02010601030101010101" pitchFamily="2" charset="-122"/>
              <a:ea typeface="方正舒体" panose="02010601030101010101" pitchFamily="2" charset="-122"/>
            </a:endParaRPr>
          </a:p>
        </p:txBody>
      </p:sp>
      <p:sp>
        <p:nvSpPr>
          <p:cNvPr id="29" name="矩形 28">
            <a:hlinkClick r:id="" action="ppaction://hlinkshowjump?jump=nextslide"/>
          </p:cNvPr>
          <p:cNvSpPr/>
          <p:nvPr/>
        </p:nvSpPr>
        <p:spPr>
          <a:xfrm>
            <a:off x="8324850" y="4730750"/>
            <a:ext cx="720725" cy="288925"/>
          </a:xfrm>
          <a:prstGeom prst="rect">
            <a:avLst/>
          </a:prstGeom>
          <a:solidFill>
            <a:srgbClr val="58A28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kumimoji="1" lang="zh-CN" altLang="en-US" sz="1300" b="1" dirty="0">
              <a:solidFill>
                <a:prstClr val="white"/>
              </a:solidFill>
              <a:latin typeface="方正舒体" panose="02010601030101010101" pitchFamily="2" charset="-122"/>
              <a:ea typeface="方正舒体" panose="02010601030101010101" pitchFamily="2" charset="-122"/>
            </a:endParaRPr>
          </a:p>
        </p:txBody>
      </p:sp>
      <p:sp>
        <p:nvSpPr>
          <p:cNvPr id="30" name="矩形 29">
            <a:hlinkClick r:id="" action="ppaction://hlinkshowjump?jump=firstslide"/>
          </p:cNvPr>
          <p:cNvSpPr/>
          <p:nvPr/>
        </p:nvSpPr>
        <p:spPr>
          <a:xfrm>
            <a:off x="6740525" y="4732338"/>
            <a:ext cx="720725" cy="288925"/>
          </a:xfrm>
          <a:prstGeom prst="rect">
            <a:avLst/>
          </a:prstGeom>
          <a:solidFill>
            <a:srgbClr val="58A28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kumimoji="1" lang="zh-CN" altLang="en-US" sz="1300" b="1" dirty="0">
              <a:solidFill>
                <a:prstClr val="white"/>
              </a:solidFill>
              <a:latin typeface="方正舒体" panose="02010601030101010101" pitchFamily="2" charset="-122"/>
              <a:ea typeface="方正舒体" panose="02010601030101010101" pitchFamily="2" charset="-122"/>
            </a:endParaRPr>
          </a:p>
        </p:txBody>
      </p:sp>
      <p:sp>
        <p:nvSpPr>
          <p:cNvPr id="1035" name="矩形 16">
            <a:hlinkClick r:id="" action="ppaction://hlinkshowjump?jump=nextslide"/>
          </p:cNvPr>
          <p:cNvSpPr>
            <a:spLocks noChangeArrowheads="1"/>
          </p:cNvSpPr>
          <p:nvPr/>
        </p:nvSpPr>
        <p:spPr bwMode="auto">
          <a:xfrm>
            <a:off x="8361363" y="4732338"/>
            <a:ext cx="684212" cy="292100"/>
          </a:xfrm>
          <a:prstGeom prst="rect">
            <a:avLst/>
          </a:prstGeom>
          <a:noFill/>
          <a:ln>
            <a:noFill/>
          </a:ln>
          <a:extLst>
            <a:ext uri="{909E8E84-426E-40DD-AFC4-6F175D3DCCD1}"/>
            <a:ext uri="{91240B29-F687-4F45-9708-019B960494DF}"/>
          </a:extLst>
        </p:spPr>
        <p:txBody>
          <a:bodyPr wrap="none">
            <a:spAutoFit/>
          </a:bodyPr>
          <a:lstStyle/>
          <a:p>
            <a:pPr>
              <a:defRPr/>
            </a:pPr>
            <a:r>
              <a:rPr kumimoji="1" lang="zh-CN" altLang="en-US" sz="1300" b="1">
                <a:solidFill>
                  <a:srgbClr val="FFFFFF"/>
                </a:solidFill>
                <a:latin typeface="方正舒体" pitchFamily="2" charset="-122"/>
                <a:ea typeface="方正舒体" pitchFamily="2" charset="-122"/>
              </a:rPr>
              <a:t>下一页</a:t>
            </a:r>
          </a:p>
        </p:txBody>
      </p:sp>
      <p:sp>
        <p:nvSpPr>
          <p:cNvPr id="1036" name="矩形 30">
            <a:hlinkClick r:id="" action="ppaction://hlinkshowjump?jump=previousslide"/>
          </p:cNvPr>
          <p:cNvSpPr>
            <a:spLocks noChangeArrowheads="1"/>
          </p:cNvSpPr>
          <p:nvPr/>
        </p:nvSpPr>
        <p:spPr bwMode="auto">
          <a:xfrm>
            <a:off x="7539038" y="4732338"/>
            <a:ext cx="684212" cy="292100"/>
          </a:xfrm>
          <a:prstGeom prst="rect">
            <a:avLst/>
          </a:prstGeom>
          <a:noFill/>
          <a:ln>
            <a:noFill/>
          </a:ln>
          <a:extLst>
            <a:ext uri="{909E8E84-426E-40DD-AFC4-6F175D3DCCD1}"/>
            <a:ext uri="{91240B29-F687-4F45-9708-019B960494DF}"/>
          </a:extLst>
        </p:spPr>
        <p:txBody>
          <a:bodyPr wrap="none">
            <a:spAutoFit/>
          </a:bodyPr>
          <a:lstStyle/>
          <a:p>
            <a:pPr>
              <a:defRPr/>
            </a:pPr>
            <a:r>
              <a:rPr kumimoji="1" lang="zh-CN" altLang="en-US" sz="1300" b="1">
                <a:solidFill>
                  <a:srgbClr val="FFFFFF"/>
                </a:solidFill>
                <a:latin typeface="方正舒体" pitchFamily="2" charset="-122"/>
                <a:ea typeface="方正舒体" pitchFamily="2" charset="-122"/>
              </a:rPr>
              <a:t>上一页</a:t>
            </a:r>
          </a:p>
        </p:txBody>
      </p:sp>
      <p:sp>
        <p:nvSpPr>
          <p:cNvPr id="1037" name="矩形 1024">
            <a:hlinkClick r:id="" action="ppaction://hlinkshowjump?jump=firstslide"/>
          </p:cNvPr>
          <p:cNvSpPr>
            <a:spLocks noChangeArrowheads="1"/>
          </p:cNvSpPr>
          <p:nvPr/>
        </p:nvSpPr>
        <p:spPr bwMode="auto">
          <a:xfrm>
            <a:off x="6767513" y="4727575"/>
            <a:ext cx="684212" cy="292100"/>
          </a:xfrm>
          <a:prstGeom prst="rect">
            <a:avLst/>
          </a:prstGeom>
          <a:noFill/>
          <a:ln>
            <a:noFill/>
          </a:ln>
          <a:extLst>
            <a:ext uri="{909E8E84-426E-40DD-AFC4-6F175D3DCCD1}"/>
            <a:ext uri="{91240B29-F687-4F45-9708-019B960494DF}"/>
          </a:extLst>
        </p:spPr>
        <p:txBody>
          <a:bodyPr wrap="none">
            <a:spAutoFit/>
          </a:bodyPr>
          <a:lstStyle/>
          <a:p>
            <a:pPr>
              <a:defRPr/>
            </a:pPr>
            <a:r>
              <a:rPr kumimoji="1" lang="zh-CN" altLang="en-US" sz="1300" b="1">
                <a:solidFill>
                  <a:srgbClr val="FFFFFF"/>
                </a:solidFill>
                <a:latin typeface="方正舒体" pitchFamily="2" charset="-122"/>
                <a:ea typeface="方正舒体" pitchFamily="2" charset="-122"/>
              </a:rPr>
              <a:t>节目录</a:t>
            </a:r>
          </a:p>
        </p:txBody>
      </p:sp>
      <p:sp>
        <p:nvSpPr>
          <p:cNvPr id="38" name="矩形 37">
            <a:hlinkClick r:id="rId15" action="ppaction://hlinkpres?slideindex=1&amp;slidetitle="/>
          </p:cNvPr>
          <p:cNvSpPr/>
          <p:nvPr/>
        </p:nvSpPr>
        <p:spPr>
          <a:xfrm>
            <a:off x="5938838" y="4730750"/>
            <a:ext cx="720725" cy="288925"/>
          </a:xfrm>
          <a:prstGeom prst="rect">
            <a:avLst/>
          </a:prstGeom>
          <a:solidFill>
            <a:srgbClr val="58A28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kumimoji="1" lang="zh-CN" altLang="en-US" sz="1300" b="1" dirty="0">
              <a:solidFill>
                <a:prstClr val="white"/>
              </a:solidFill>
              <a:latin typeface="方正舒体" panose="02010601030101010101" pitchFamily="2" charset="-122"/>
              <a:ea typeface="方正舒体" panose="02010601030101010101" pitchFamily="2" charset="-122"/>
            </a:endParaRPr>
          </a:p>
        </p:txBody>
      </p:sp>
      <p:sp>
        <p:nvSpPr>
          <p:cNvPr id="1039" name="矩形 36">
            <a:hlinkClick r:id="rId15" action="ppaction://hlinkpres?slideindex=1&amp;slidetitle="/>
          </p:cNvPr>
          <p:cNvSpPr>
            <a:spLocks noChangeArrowheads="1"/>
          </p:cNvSpPr>
          <p:nvPr/>
        </p:nvSpPr>
        <p:spPr bwMode="auto">
          <a:xfrm>
            <a:off x="5938838" y="4718050"/>
            <a:ext cx="685800" cy="292100"/>
          </a:xfrm>
          <a:prstGeom prst="rect">
            <a:avLst/>
          </a:prstGeom>
          <a:noFill/>
          <a:ln>
            <a:noFill/>
          </a:ln>
          <a:extLst>
            <a:ext uri="{909E8E84-426E-40DD-AFC4-6F175D3DCCD1}"/>
            <a:ext uri="{91240B29-F687-4F45-9708-019B960494DF}"/>
          </a:extLst>
        </p:spPr>
        <p:txBody>
          <a:bodyPr wrap="none">
            <a:spAutoFit/>
          </a:bodyPr>
          <a:lstStyle/>
          <a:p>
            <a:pPr>
              <a:defRPr/>
            </a:pPr>
            <a:r>
              <a:rPr kumimoji="1" lang="zh-CN" altLang="en-US" sz="1300" b="1" dirty="0">
                <a:solidFill>
                  <a:srgbClr val="FFFFFF"/>
                </a:solidFill>
                <a:latin typeface="方正舒体" pitchFamily="2" charset="-122"/>
                <a:ea typeface="方正舒体" pitchFamily="2" charset="-122"/>
              </a:rPr>
              <a:t>章目录</a:t>
            </a:r>
          </a:p>
        </p:txBody>
      </p:sp>
    </p:spTree>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 id="2147483744" r:id="rId12"/>
  </p:sldLayoutIdLst>
  <p:timing>
    <p:tnLst>
      <p:par>
        <p:cTn id="1" dur="indefinite" restart="never" nodeType="tmRoot"/>
      </p:par>
    </p:tnLst>
  </p:timing>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ea typeface="宋体" pitchFamily="2" charset="-122"/>
        </a:defRPr>
      </a:lvl2pPr>
      <a:lvl3pPr algn="ctr" rtl="0" eaLnBrk="0" fontAlgn="base" hangingPunct="0">
        <a:spcBef>
          <a:spcPct val="0"/>
        </a:spcBef>
        <a:spcAft>
          <a:spcPct val="0"/>
        </a:spcAft>
        <a:defRPr sz="4400">
          <a:solidFill>
            <a:schemeClr val="tx1"/>
          </a:solidFill>
          <a:latin typeface="Calibri" pitchFamily="34" charset="0"/>
          <a:ea typeface="宋体" pitchFamily="2" charset="-122"/>
        </a:defRPr>
      </a:lvl3pPr>
      <a:lvl4pPr algn="ctr" rtl="0" eaLnBrk="0" fontAlgn="base" hangingPunct="0">
        <a:spcBef>
          <a:spcPct val="0"/>
        </a:spcBef>
        <a:spcAft>
          <a:spcPct val="0"/>
        </a:spcAft>
        <a:defRPr sz="4400">
          <a:solidFill>
            <a:schemeClr val="tx1"/>
          </a:solidFill>
          <a:latin typeface="Calibri" pitchFamily="34" charset="0"/>
          <a:ea typeface="宋体" pitchFamily="2" charset="-122"/>
        </a:defRPr>
      </a:lvl4pPr>
      <a:lvl5pPr algn="ctr" rtl="0" eaLnBrk="0" fontAlgn="base" hangingPunct="0">
        <a:spcBef>
          <a:spcPct val="0"/>
        </a:spcBef>
        <a:spcAft>
          <a:spcPct val="0"/>
        </a:spcAft>
        <a:defRPr sz="4400">
          <a:solidFill>
            <a:schemeClr val="tx1"/>
          </a:solidFill>
          <a:latin typeface="Calibri" pitchFamily="34" charset="0"/>
          <a:ea typeface="宋体" pitchFamily="2" charset="-122"/>
        </a:defRPr>
      </a:lvl5pPr>
      <a:lvl6pPr marL="457200" algn="ctr" rtl="0" fontAlgn="base">
        <a:spcBef>
          <a:spcPct val="0"/>
        </a:spcBef>
        <a:spcAft>
          <a:spcPct val="0"/>
        </a:spcAft>
        <a:defRPr sz="4400">
          <a:solidFill>
            <a:schemeClr val="tx1"/>
          </a:solidFill>
          <a:latin typeface="Calibri" pitchFamily="34" charset="0"/>
          <a:ea typeface="宋体" pitchFamily="2" charset="-122"/>
        </a:defRPr>
      </a:lvl6pPr>
      <a:lvl7pPr marL="914400" algn="ctr" rtl="0" fontAlgn="base">
        <a:spcBef>
          <a:spcPct val="0"/>
        </a:spcBef>
        <a:spcAft>
          <a:spcPct val="0"/>
        </a:spcAft>
        <a:defRPr sz="4400">
          <a:solidFill>
            <a:schemeClr val="tx1"/>
          </a:solidFill>
          <a:latin typeface="Calibri" pitchFamily="34" charset="0"/>
          <a:ea typeface="宋体" pitchFamily="2" charset="-122"/>
        </a:defRPr>
      </a:lvl7pPr>
      <a:lvl8pPr marL="1371600" algn="ctr" rtl="0" fontAlgn="base">
        <a:spcBef>
          <a:spcPct val="0"/>
        </a:spcBef>
        <a:spcAft>
          <a:spcPct val="0"/>
        </a:spcAft>
        <a:defRPr sz="4400">
          <a:solidFill>
            <a:schemeClr val="tx1"/>
          </a:solidFill>
          <a:latin typeface="Calibri" pitchFamily="34" charset="0"/>
          <a:ea typeface="宋体" pitchFamily="2" charset="-122"/>
        </a:defRPr>
      </a:lvl8pPr>
      <a:lvl9pPr marL="1828800" algn="ctr" rtl="0" fontAlgn="base">
        <a:spcBef>
          <a:spcPct val="0"/>
        </a:spcBef>
        <a:spcAft>
          <a:spcPct val="0"/>
        </a:spcAft>
        <a:defRPr sz="4400">
          <a:solidFill>
            <a:schemeClr val="tx1"/>
          </a:solidFill>
          <a:latin typeface="Calibri" pitchFamily="34" charset="0"/>
          <a:ea typeface="宋体" pitchFamily="2" charset="-122"/>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auto">
      <p:bgPr>
        <a:solidFill>
          <a:srgbClr val="58A289">
            <a:alpha val="20000"/>
          </a:srgbClr>
        </a:solidFill>
        <a:effectLst/>
      </p:bgPr>
    </p:bg>
    <p:spTree>
      <p:nvGrpSpPr>
        <p:cNvPr id="1" name=""/>
        <p:cNvGrpSpPr/>
        <p:nvPr/>
      </p:nvGrpSpPr>
      <p:grpSpPr>
        <a:xfrm>
          <a:off x="0" y="0"/>
          <a:ext cx="0" cy="0"/>
          <a:chOff x="0" y="0"/>
          <a:chExt cx="0" cy="0"/>
        </a:xfrm>
      </p:grpSpPr>
      <p:sp>
        <p:nvSpPr>
          <p:cNvPr id="3" name="矩形 2"/>
          <p:cNvSpPr/>
          <p:nvPr/>
        </p:nvSpPr>
        <p:spPr>
          <a:xfrm>
            <a:off x="-11113" y="-30163"/>
            <a:ext cx="9164638" cy="881063"/>
          </a:xfrm>
          <a:prstGeom prst="rect">
            <a:avLst/>
          </a:prstGeom>
          <a:solidFill>
            <a:srgbClr val="58A28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buFont typeface="Arial" pitchFamily="34" charset="0"/>
              <a:buNone/>
              <a:defRPr/>
            </a:pPr>
            <a:endParaRPr kumimoji="1" lang="zh-CN" altLang="en-US" sz="2400" b="1" noProof="1">
              <a:solidFill>
                <a:prstClr val="white"/>
              </a:solidFill>
            </a:endParaRPr>
          </a:p>
        </p:txBody>
      </p:sp>
      <p:cxnSp>
        <p:nvCxnSpPr>
          <p:cNvPr id="7" name="直接连接符 6"/>
          <p:cNvCxnSpPr/>
          <p:nvPr/>
        </p:nvCxnSpPr>
        <p:spPr>
          <a:xfrm>
            <a:off x="142875" y="771525"/>
            <a:ext cx="8856663" cy="0"/>
          </a:xfrm>
          <a:prstGeom prst="line">
            <a:avLst/>
          </a:prstGeom>
          <a:ln w="31750">
            <a:solidFill>
              <a:schemeClr val="bg1">
                <a:alpha val="24000"/>
              </a:schemeClr>
            </a:solidFill>
          </a:ln>
        </p:spPr>
        <p:style>
          <a:lnRef idx="1">
            <a:schemeClr val="accent1"/>
          </a:lnRef>
          <a:fillRef idx="0">
            <a:schemeClr val="accent1"/>
          </a:fillRef>
          <a:effectRef idx="0">
            <a:schemeClr val="accent1"/>
          </a:effectRef>
          <a:fontRef idx="minor">
            <a:schemeClr val="tx1"/>
          </a:fontRef>
        </p:style>
      </p:cxnSp>
      <p:pic>
        <p:nvPicPr>
          <p:cNvPr id="84996" name="图片 10"/>
          <p:cNvPicPr>
            <a:picLocks noChangeAspect="1" noChangeArrowheads="1"/>
          </p:cNvPicPr>
          <p:nvPr/>
        </p:nvPicPr>
        <p:blipFill>
          <a:blip r:embed="rId14"/>
          <a:srcRect/>
          <a:stretch>
            <a:fillRect/>
          </a:stretch>
        </p:blipFill>
        <p:spPr bwMode="auto">
          <a:xfrm>
            <a:off x="301625" y="85725"/>
            <a:ext cx="525463" cy="612775"/>
          </a:xfrm>
          <a:prstGeom prst="rect">
            <a:avLst/>
          </a:prstGeom>
          <a:noFill/>
          <a:ln w="9525">
            <a:noFill/>
            <a:miter lim="800000"/>
            <a:headEnd/>
            <a:tailEnd/>
          </a:ln>
        </p:spPr>
      </p:pic>
      <p:sp>
        <p:nvSpPr>
          <p:cNvPr id="1029" name="TextBox 11"/>
          <p:cNvSpPr txBox="1">
            <a:spLocks noChangeArrowheads="1"/>
          </p:cNvSpPr>
          <p:nvPr/>
        </p:nvSpPr>
        <p:spPr bwMode="auto">
          <a:xfrm>
            <a:off x="1246188" y="411163"/>
            <a:ext cx="2379662" cy="369887"/>
          </a:xfrm>
          <a:prstGeom prst="rect">
            <a:avLst/>
          </a:prstGeom>
          <a:noFill/>
          <a:ln>
            <a:noFill/>
          </a:ln>
          <a:extLst>
            <a:ext uri="{909E8E84-426E-40DD-AFC4-6F175D3DCCD1}"/>
            <a:ext uri="{91240B29-F687-4F45-9708-019B960494DF}"/>
          </a:extLst>
        </p:spPr>
        <p:txBody>
          <a:bodyPr wrap="none">
            <a:spAutoFit/>
          </a:bodyPr>
          <a:lstStyle>
            <a:lvl1pPr>
              <a:defRPr sz="2800">
                <a:solidFill>
                  <a:schemeClr val="tx1"/>
                </a:solidFill>
                <a:latin typeface="Times New Roman" pitchFamily="18" charset="0"/>
                <a:ea typeface="宋体" pitchFamily="2" charset="-122"/>
              </a:defRPr>
            </a:lvl1pPr>
            <a:lvl2pPr>
              <a:defRPr sz="2800">
                <a:solidFill>
                  <a:schemeClr val="tx1"/>
                </a:solidFill>
                <a:latin typeface="Times New Roman" pitchFamily="18" charset="0"/>
                <a:ea typeface="宋体" pitchFamily="2" charset="-122"/>
              </a:defRPr>
            </a:lvl2pPr>
            <a:lvl3pPr>
              <a:defRPr sz="2800">
                <a:solidFill>
                  <a:schemeClr val="tx1"/>
                </a:solidFill>
                <a:latin typeface="Times New Roman" pitchFamily="18" charset="0"/>
                <a:ea typeface="宋体" pitchFamily="2" charset="-122"/>
              </a:defRPr>
            </a:lvl3pPr>
            <a:lvl4pPr>
              <a:defRPr sz="2800">
                <a:solidFill>
                  <a:schemeClr val="tx1"/>
                </a:solidFill>
                <a:latin typeface="Times New Roman" pitchFamily="18" charset="0"/>
                <a:ea typeface="宋体" pitchFamily="2" charset="-122"/>
              </a:defRPr>
            </a:lvl4pPr>
            <a:lvl5pPr>
              <a:defRPr sz="2800">
                <a:solidFill>
                  <a:schemeClr val="tx1"/>
                </a:solidFill>
                <a:latin typeface="Times New Roman" pitchFamily="18" charset="0"/>
                <a:ea typeface="宋体" pitchFamily="2" charset="-122"/>
              </a:defRPr>
            </a:lvl5pPr>
            <a:lvl6pPr fontAlgn="base">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fontAlgn="base">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fontAlgn="base">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fontAlgn="base">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a:buFont typeface="Arial" pitchFamily="34" charset="0"/>
              <a:buNone/>
              <a:defRPr/>
            </a:pPr>
            <a:r>
              <a:rPr kumimoji="1" lang="zh-CN" altLang="en-US" sz="1800" b="1" dirty="0" smtClean="0">
                <a:solidFill>
                  <a:prstClr val="white"/>
                </a:solidFill>
                <a:latin typeface="Calibri" pitchFamily="34" charset="0"/>
              </a:rPr>
              <a:t>大学物理学（第</a:t>
            </a:r>
            <a:r>
              <a:rPr kumimoji="1" lang="en-US" altLang="zh-CN" sz="1800" b="1" dirty="0" smtClean="0">
                <a:solidFill>
                  <a:prstClr val="white"/>
                </a:solidFill>
                <a:latin typeface="Calibri" pitchFamily="34" charset="0"/>
              </a:rPr>
              <a:t>5</a:t>
            </a:r>
            <a:r>
              <a:rPr kumimoji="1" lang="zh-CN" altLang="en-US" sz="1800" b="1" dirty="0" smtClean="0">
                <a:solidFill>
                  <a:prstClr val="white"/>
                </a:solidFill>
                <a:latin typeface="Calibri" pitchFamily="34" charset="0"/>
              </a:rPr>
              <a:t>版）</a:t>
            </a:r>
            <a:endParaRPr kumimoji="1" lang="zh-CN" altLang="en-US" sz="1800" b="1" dirty="0">
              <a:solidFill>
                <a:prstClr val="white"/>
              </a:solidFill>
              <a:latin typeface="Calibri" pitchFamily="34" charset="0"/>
            </a:endParaRPr>
          </a:p>
        </p:txBody>
      </p:sp>
      <p:sp>
        <p:nvSpPr>
          <p:cNvPr id="1030" name="TextBox 12"/>
          <p:cNvSpPr txBox="1">
            <a:spLocks noChangeArrowheads="1"/>
          </p:cNvSpPr>
          <p:nvPr/>
        </p:nvSpPr>
        <p:spPr bwMode="auto">
          <a:xfrm>
            <a:off x="827088" y="134938"/>
            <a:ext cx="3775075" cy="307975"/>
          </a:xfrm>
          <a:prstGeom prst="rect">
            <a:avLst/>
          </a:prstGeom>
          <a:noFill/>
          <a:ln>
            <a:noFill/>
          </a:ln>
          <a:extLst>
            <a:ext uri="{909E8E84-426E-40DD-AFC4-6F175D3DCCD1}"/>
            <a:ext uri="{91240B29-F687-4F45-9708-019B960494DF}"/>
          </a:extLst>
        </p:spPr>
        <p:txBody>
          <a:bodyPr wrap="none">
            <a:spAutoFit/>
          </a:bodyPr>
          <a:lstStyle>
            <a:lvl1pPr>
              <a:defRPr sz="2800">
                <a:solidFill>
                  <a:schemeClr val="tx1"/>
                </a:solidFill>
                <a:latin typeface="Times New Roman" pitchFamily="18" charset="0"/>
                <a:ea typeface="宋体" pitchFamily="2" charset="-122"/>
              </a:defRPr>
            </a:lvl1pPr>
            <a:lvl2pPr>
              <a:defRPr sz="2800">
                <a:solidFill>
                  <a:schemeClr val="tx1"/>
                </a:solidFill>
                <a:latin typeface="Times New Roman" pitchFamily="18" charset="0"/>
                <a:ea typeface="宋体" pitchFamily="2" charset="-122"/>
              </a:defRPr>
            </a:lvl2pPr>
            <a:lvl3pPr>
              <a:defRPr sz="2800">
                <a:solidFill>
                  <a:schemeClr val="tx1"/>
                </a:solidFill>
                <a:latin typeface="Times New Roman" pitchFamily="18" charset="0"/>
                <a:ea typeface="宋体" pitchFamily="2" charset="-122"/>
              </a:defRPr>
            </a:lvl3pPr>
            <a:lvl4pPr>
              <a:defRPr sz="2800">
                <a:solidFill>
                  <a:schemeClr val="tx1"/>
                </a:solidFill>
                <a:latin typeface="Times New Roman" pitchFamily="18" charset="0"/>
                <a:ea typeface="宋体" pitchFamily="2" charset="-122"/>
              </a:defRPr>
            </a:lvl4pPr>
            <a:lvl5pPr>
              <a:defRPr sz="2800">
                <a:solidFill>
                  <a:schemeClr val="tx1"/>
                </a:solidFill>
                <a:latin typeface="Times New Roman" pitchFamily="18" charset="0"/>
                <a:ea typeface="宋体" pitchFamily="2" charset="-122"/>
              </a:defRPr>
            </a:lvl5pPr>
            <a:lvl6pPr fontAlgn="base">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fontAlgn="base">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fontAlgn="base">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fontAlgn="base">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a:buFont typeface="Arial" pitchFamily="34" charset="0"/>
              <a:buNone/>
              <a:defRPr/>
            </a:pPr>
            <a:r>
              <a:rPr kumimoji="1" lang="zh-CN" altLang="en-US" sz="1400" b="1" dirty="0">
                <a:solidFill>
                  <a:prstClr val="white"/>
                </a:solidFill>
                <a:latin typeface="华文楷体" pitchFamily="2" charset="-122"/>
                <a:ea typeface="华文楷体" pitchFamily="2" charset="-122"/>
              </a:rPr>
              <a:t>“十二五”普通高等教育本科国家级规划教材</a:t>
            </a:r>
          </a:p>
        </p:txBody>
      </p:sp>
      <p:sp>
        <p:nvSpPr>
          <p:cNvPr id="2" name="矩形 1"/>
          <p:cNvSpPr/>
          <p:nvPr/>
        </p:nvSpPr>
        <p:spPr>
          <a:xfrm>
            <a:off x="9525" y="850900"/>
            <a:ext cx="9123363" cy="37433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buFont typeface="Arial" pitchFamily="34" charset="0"/>
              <a:buNone/>
              <a:defRPr/>
            </a:pPr>
            <a:endParaRPr kumimoji="1" lang="zh-CN" altLang="en-US" sz="2400" b="1" noProof="1">
              <a:solidFill>
                <a:prstClr val="white"/>
              </a:solidFill>
            </a:endParaRPr>
          </a:p>
        </p:txBody>
      </p:sp>
      <p:sp>
        <p:nvSpPr>
          <p:cNvPr id="28" name="矩形 27">
            <a:hlinkClick r:id="" action="ppaction://hlinkshowjump?jump=previousslide"/>
          </p:cNvPr>
          <p:cNvSpPr/>
          <p:nvPr/>
        </p:nvSpPr>
        <p:spPr>
          <a:xfrm>
            <a:off x="7532688" y="4732338"/>
            <a:ext cx="720725" cy="288925"/>
          </a:xfrm>
          <a:prstGeom prst="rect">
            <a:avLst/>
          </a:prstGeom>
          <a:solidFill>
            <a:srgbClr val="58A28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kumimoji="1" lang="zh-CN" altLang="en-US" sz="1300" b="1" dirty="0">
              <a:solidFill>
                <a:prstClr val="white"/>
              </a:solidFill>
              <a:latin typeface="方正舒体" panose="02010601030101010101" pitchFamily="2" charset="-122"/>
              <a:ea typeface="方正舒体" panose="02010601030101010101" pitchFamily="2" charset="-122"/>
            </a:endParaRPr>
          </a:p>
        </p:txBody>
      </p:sp>
      <p:sp>
        <p:nvSpPr>
          <p:cNvPr id="29" name="矩形 28">
            <a:hlinkClick r:id="" action="ppaction://hlinkshowjump?jump=nextslide"/>
          </p:cNvPr>
          <p:cNvSpPr/>
          <p:nvPr/>
        </p:nvSpPr>
        <p:spPr>
          <a:xfrm>
            <a:off x="8324850" y="4730750"/>
            <a:ext cx="720725" cy="288925"/>
          </a:xfrm>
          <a:prstGeom prst="rect">
            <a:avLst/>
          </a:prstGeom>
          <a:solidFill>
            <a:srgbClr val="58A28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kumimoji="1" lang="zh-CN" altLang="en-US" sz="1300" b="1" dirty="0">
              <a:solidFill>
                <a:prstClr val="white"/>
              </a:solidFill>
              <a:latin typeface="方正舒体" panose="02010601030101010101" pitchFamily="2" charset="-122"/>
              <a:ea typeface="方正舒体" panose="02010601030101010101" pitchFamily="2" charset="-122"/>
            </a:endParaRPr>
          </a:p>
        </p:txBody>
      </p:sp>
      <p:sp>
        <p:nvSpPr>
          <p:cNvPr id="30" name="矩形 29">
            <a:hlinkClick r:id="" action="ppaction://hlinkshowjump?jump=firstslide"/>
          </p:cNvPr>
          <p:cNvSpPr/>
          <p:nvPr/>
        </p:nvSpPr>
        <p:spPr>
          <a:xfrm>
            <a:off x="6740525" y="4732338"/>
            <a:ext cx="720725" cy="288925"/>
          </a:xfrm>
          <a:prstGeom prst="rect">
            <a:avLst/>
          </a:prstGeom>
          <a:solidFill>
            <a:srgbClr val="58A28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kumimoji="1" lang="zh-CN" altLang="en-US" sz="1300" b="1" dirty="0">
              <a:solidFill>
                <a:prstClr val="white"/>
              </a:solidFill>
              <a:latin typeface="方正舒体" panose="02010601030101010101" pitchFamily="2" charset="-122"/>
              <a:ea typeface="方正舒体" panose="02010601030101010101" pitchFamily="2" charset="-122"/>
            </a:endParaRPr>
          </a:p>
        </p:txBody>
      </p:sp>
      <p:sp>
        <p:nvSpPr>
          <p:cNvPr id="1035" name="矩形 16">
            <a:hlinkClick r:id="" action="ppaction://hlinkshowjump?jump=nextslide"/>
          </p:cNvPr>
          <p:cNvSpPr>
            <a:spLocks noChangeArrowheads="1"/>
          </p:cNvSpPr>
          <p:nvPr/>
        </p:nvSpPr>
        <p:spPr bwMode="auto">
          <a:xfrm>
            <a:off x="8361363" y="4732338"/>
            <a:ext cx="684212" cy="292100"/>
          </a:xfrm>
          <a:prstGeom prst="rect">
            <a:avLst/>
          </a:prstGeom>
          <a:noFill/>
          <a:ln>
            <a:noFill/>
          </a:ln>
          <a:extLst>
            <a:ext uri="{909E8E84-426E-40DD-AFC4-6F175D3DCCD1}"/>
            <a:ext uri="{91240B29-F687-4F45-9708-019B960494DF}"/>
          </a:extLst>
        </p:spPr>
        <p:txBody>
          <a:bodyPr wrap="none">
            <a:spAutoFit/>
          </a:bodyPr>
          <a:lstStyle/>
          <a:p>
            <a:pPr>
              <a:defRPr/>
            </a:pPr>
            <a:r>
              <a:rPr kumimoji="1" lang="zh-CN" altLang="en-US" sz="1300" b="1">
                <a:solidFill>
                  <a:srgbClr val="FFFFFF"/>
                </a:solidFill>
                <a:latin typeface="方正舒体" pitchFamily="2" charset="-122"/>
                <a:ea typeface="方正舒体" pitchFamily="2" charset="-122"/>
              </a:rPr>
              <a:t>下一页</a:t>
            </a:r>
          </a:p>
        </p:txBody>
      </p:sp>
      <p:sp>
        <p:nvSpPr>
          <p:cNvPr id="1036" name="矩形 30">
            <a:hlinkClick r:id="" action="ppaction://hlinkshowjump?jump=previousslide"/>
          </p:cNvPr>
          <p:cNvSpPr>
            <a:spLocks noChangeArrowheads="1"/>
          </p:cNvSpPr>
          <p:nvPr/>
        </p:nvSpPr>
        <p:spPr bwMode="auto">
          <a:xfrm>
            <a:off x="7539038" y="4732338"/>
            <a:ext cx="684212" cy="292100"/>
          </a:xfrm>
          <a:prstGeom prst="rect">
            <a:avLst/>
          </a:prstGeom>
          <a:noFill/>
          <a:ln>
            <a:noFill/>
          </a:ln>
          <a:extLst>
            <a:ext uri="{909E8E84-426E-40DD-AFC4-6F175D3DCCD1}"/>
            <a:ext uri="{91240B29-F687-4F45-9708-019B960494DF}"/>
          </a:extLst>
        </p:spPr>
        <p:txBody>
          <a:bodyPr wrap="none">
            <a:spAutoFit/>
          </a:bodyPr>
          <a:lstStyle/>
          <a:p>
            <a:pPr>
              <a:defRPr/>
            </a:pPr>
            <a:r>
              <a:rPr kumimoji="1" lang="zh-CN" altLang="en-US" sz="1300" b="1">
                <a:solidFill>
                  <a:srgbClr val="FFFFFF"/>
                </a:solidFill>
                <a:latin typeface="方正舒体" pitchFamily="2" charset="-122"/>
                <a:ea typeface="方正舒体" pitchFamily="2" charset="-122"/>
              </a:rPr>
              <a:t>上一页</a:t>
            </a:r>
          </a:p>
        </p:txBody>
      </p:sp>
      <p:sp>
        <p:nvSpPr>
          <p:cNvPr id="1037" name="矩形 1024">
            <a:hlinkClick r:id="" action="ppaction://hlinkshowjump?jump=firstslide"/>
          </p:cNvPr>
          <p:cNvSpPr>
            <a:spLocks noChangeArrowheads="1"/>
          </p:cNvSpPr>
          <p:nvPr/>
        </p:nvSpPr>
        <p:spPr bwMode="auto">
          <a:xfrm>
            <a:off x="6767513" y="4727575"/>
            <a:ext cx="684212" cy="292100"/>
          </a:xfrm>
          <a:prstGeom prst="rect">
            <a:avLst/>
          </a:prstGeom>
          <a:noFill/>
          <a:ln>
            <a:noFill/>
          </a:ln>
          <a:extLst>
            <a:ext uri="{909E8E84-426E-40DD-AFC4-6F175D3DCCD1}"/>
            <a:ext uri="{91240B29-F687-4F45-9708-019B960494DF}"/>
          </a:extLst>
        </p:spPr>
        <p:txBody>
          <a:bodyPr wrap="none">
            <a:spAutoFit/>
          </a:bodyPr>
          <a:lstStyle/>
          <a:p>
            <a:pPr>
              <a:defRPr/>
            </a:pPr>
            <a:r>
              <a:rPr kumimoji="1" lang="zh-CN" altLang="en-US" sz="1300" b="1">
                <a:solidFill>
                  <a:srgbClr val="FFFFFF"/>
                </a:solidFill>
                <a:latin typeface="方正舒体" pitchFamily="2" charset="-122"/>
                <a:ea typeface="方正舒体" pitchFamily="2" charset="-122"/>
              </a:rPr>
              <a:t>节目录</a:t>
            </a:r>
          </a:p>
        </p:txBody>
      </p:sp>
      <p:sp>
        <p:nvSpPr>
          <p:cNvPr id="38" name="矩形 37"/>
          <p:cNvSpPr/>
          <p:nvPr/>
        </p:nvSpPr>
        <p:spPr>
          <a:xfrm>
            <a:off x="5938838" y="4730750"/>
            <a:ext cx="720725" cy="288925"/>
          </a:xfrm>
          <a:prstGeom prst="rect">
            <a:avLst/>
          </a:prstGeom>
          <a:solidFill>
            <a:srgbClr val="58A28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kumimoji="1" lang="zh-CN" altLang="en-US" sz="1300" b="1" dirty="0">
              <a:solidFill>
                <a:prstClr val="white"/>
              </a:solidFill>
              <a:latin typeface="方正舒体" panose="02010601030101010101" pitchFamily="2" charset="-122"/>
              <a:ea typeface="方正舒体" panose="02010601030101010101" pitchFamily="2" charset="-122"/>
            </a:endParaRPr>
          </a:p>
        </p:txBody>
      </p:sp>
      <p:sp>
        <p:nvSpPr>
          <p:cNvPr id="1039" name="矩形 36"/>
          <p:cNvSpPr>
            <a:spLocks noChangeArrowheads="1"/>
          </p:cNvSpPr>
          <p:nvPr/>
        </p:nvSpPr>
        <p:spPr bwMode="auto">
          <a:xfrm>
            <a:off x="5938838" y="4732338"/>
            <a:ext cx="685800" cy="292100"/>
          </a:xfrm>
          <a:prstGeom prst="rect">
            <a:avLst/>
          </a:prstGeom>
          <a:noFill/>
          <a:ln>
            <a:noFill/>
          </a:ln>
          <a:extLst>
            <a:ext uri="{909E8E84-426E-40DD-AFC4-6F175D3DCCD1}"/>
            <a:ext uri="{91240B29-F687-4F45-9708-019B960494DF}"/>
          </a:extLst>
        </p:spPr>
        <p:txBody>
          <a:bodyPr wrap="none">
            <a:spAutoFit/>
          </a:bodyPr>
          <a:lstStyle/>
          <a:p>
            <a:pPr>
              <a:defRPr/>
            </a:pPr>
            <a:r>
              <a:rPr kumimoji="1" lang="zh-CN" altLang="en-US" sz="1300" b="1">
                <a:solidFill>
                  <a:srgbClr val="FFFFFF"/>
                </a:solidFill>
                <a:latin typeface="方正舒体" pitchFamily="2" charset="-122"/>
                <a:ea typeface="方正舒体" pitchFamily="2" charset="-122"/>
              </a:rPr>
              <a:t>章目录</a:t>
            </a:r>
          </a:p>
        </p:txBody>
      </p:sp>
    </p:spTree>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 id="2147483756" r:id="rId12"/>
  </p:sldLayoutIdLst>
  <p:timing>
    <p:tnLst>
      <p:par>
        <p:cTn id="1" dur="indefinite" restart="never" nodeType="tmRoot"/>
      </p:par>
    </p:tnLst>
  </p:timing>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ea typeface="宋体" pitchFamily="2" charset="-122"/>
        </a:defRPr>
      </a:lvl2pPr>
      <a:lvl3pPr algn="ctr" rtl="0" eaLnBrk="0" fontAlgn="base" hangingPunct="0">
        <a:spcBef>
          <a:spcPct val="0"/>
        </a:spcBef>
        <a:spcAft>
          <a:spcPct val="0"/>
        </a:spcAft>
        <a:defRPr sz="4400">
          <a:solidFill>
            <a:schemeClr val="tx1"/>
          </a:solidFill>
          <a:latin typeface="Calibri" pitchFamily="34" charset="0"/>
          <a:ea typeface="宋体" pitchFamily="2" charset="-122"/>
        </a:defRPr>
      </a:lvl3pPr>
      <a:lvl4pPr algn="ctr" rtl="0" eaLnBrk="0" fontAlgn="base" hangingPunct="0">
        <a:spcBef>
          <a:spcPct val="0"/>
        </a:spcBef>
        <a:spcAft>
          <a:spcPct val="0"/>
        </a:spcAft>
        <a:defRPr sz="4400">
          <a:solidFill>
            <a:schemeClr val="tx1"/>
          </a:solidFill>
          <a:latin typeface="Calibri" pitchFamily="34" charset="0"/>
          <a:ea typeface="宋体" pitchFamily="2" charset="-122"/>
        </a:defRPr>
      </a:lvl4pPr>
      <a:lvl5pPr algn="ctr" rtl="0" eaLnBrk="0" fontAlgn="base" hangingPunct="0">
        <a:spcBef>
          <a:spcPct val="0"/>
        </a:spcBef>
        <a:spcAft>
          <a:spcPct val="0"/>
        </a:spcAft>
        <a:defRPr sz="4400">
          <a:solidFill>
            <a:schemeClr val="tx1"/>
          </a:solidFill>
          <a:latin typeface="Calibri" pitchFamily="34" charset="0"/>
          <a:ea typeface="宋体" pitchFamily="2" charset="-122"/>
        </a:defRPr>
      </a:lvl5pPr>
      <a:lvl6pPr marL="457200" algn="ctr" rtl="0" fontAlgn="base">
        <a:spcBef>
          <a:spcPct val="0"/>
        </a:spcBef>
        <a:spcAft>
          <a:spcPct val="0"/>
        </a:spcAft>
        <a:defRPr sz="4400">
          <a:solidFill>
            <a:schemeClr val="tx1"/>
          </a:solidFill>
          <a:latin typeface="Calibri" pitchFamily="34" charset="0"/>
          <a:ea typeface="宋体" pitchFamily="2" charset="-122"/>
        </a:defRPr>
      </a:lvl6pPr>
      <a:lvl7pPr marL="914400" algn="ctr" rtl="0" fontAlgn="base">
        <a:spcBef>
          <a:spcPct val="0"/>
        </a:spcBef>
        <a:spcAft>
          <a:spcPct val="0"/>
        </a:spcAft>
        <a:defRPr sz="4400">
          <a:solidFill>
            <a:schemeClr val="tx1"/>
          </a:solidFill>
          <a:latin typeface="Calibri" pitchFamily="34" charset="0"/>
          <a:ea typeface="宋体" pitchFamily="2" charset="-122"/>
        </a:defRPr>
      </a:lvl7pPr>
      <a:lvl8pPr marL="1371600" algn="ctr" rtl="0" fontAlgn="base">
        <a:spcBef>
          <a:spcPct val="0"/>
        </a:spcBef>
        <a:spcAft>
          <a:spcPct val="0"/>
        </a:spcAft>
        <a:defRPr sz="4400">
          <a:solidFill>
            <a:schemeClr val="tx1"/>
          </a:solidFill>
          <a:latin typeface="Calibri" pitchFamily="34" charset="0"/>
          <a:ea typeface="宋体" pitchFamily="2" charset="-122"/>
        </a:defRPr>
      </a:lvl8pPr>
      <a:lvl9pPr marL="1828800" algn="ctr" rtl="0" fontAlgn="base">
        <a:spcBef>
          <a:spcPct val="0"/>
        </a:spcBef>
        <a:spcAft>
          <a:spcPct val="0"/>
        </a:spcAft>
        <a:defRPr sz="4400">
          <a:solidFill>
            <a:schemeClr val="tx1"/>
          </a:solidFill>
          <a:latin typeface="Calibri" pitchFamily="34" charset="0"/>
          <a:ea typeface="宋体" pitchFamily="2" charset="-122"/>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bwMode="auto">
      <p:bgPr>
        <a:solidFill>
          <a:srgbClr val="58A289">
            <a:alpha val="20000"/>
          </a:srgbClr>
        </a:solidFill>
        <a:effectLst/>
      </p:bgPr>
    </p:bg>
    <p:spTree>
      <p:nvGrpSpPr>
        <p:cNvPr id="1" name=""/>
        <p:cNvGrpSpPr/>
        <p:nvPr/>
      </p:nvGrpSpPr>
      <p:grpSpPr>
        <a:xfrm>
          <a:off x="0" y="0"/>
          <a:ext cx="0" cy="0"/>
          <a:chOff x="0" y="0"/>
          <a:chExt cx="0" cy="0"/>
        </a:xfrm>
      </p:grpSpPr>
      <p:sp>
        <p:nvSpPr>
          <p:cNvPr id="3" name="矩形 2"/>
          <p:cNvSpPr/>
          <p:nvPr/>
        </p:nvSpPr>
        <p:spPr>
          <a:xfrm>
            <a:off x="-11113" y="-30163"/>
            <a:ext cx="9164638" cy="881063"/>
          </a:xfrm>
          <a:prstGeom prst="rect">
            <a:avLst/>
          </a:prstGeom>
          <a:solidFill>
            <a:srgbClr val="58A28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buFont typeface="Arial" pitchFamily="34" charset="0"/>
              <a:buNone/>
              <a:defRPr/>
            </a:pPr>
            <a:endParaRPr lang="zh-CN" altLang="en-US" noProof="1">
              <a:solidFill>
                <a:prstClr val="white"/>
              </a:solidFill>
            </a:endParaRPr>
          </a:p>
        </p:txBody>
      </p:sp>
      <p:cxnSp>
        <p:nvCxnSpPr>
          <p:cNvPr id="7" name="直接连接符 6"/>
          <p:cNvCxnSpPr/>
          <p:nvPr/>
        </p:nvCxnSpPr>
        <p:spPr>
          <a:xfrm>
            <a:off x="142875" y="771525"/>
            <a:ext cx="8856663" cy="0"/>
          </a:xfrm>
          <a:prstGeom prst="line">
            <a:avLst/>
          </a:prstGeom>
          <a:ln w="31750">
            <a:solidFill>
              <a:schemeClr val="bg1">
                <a:alpha val="24000"/>
              </a:schemeClr>
            </a:solidFill>
          </a:ln>
        </p:spPr>
        <p:style>
          <a:lnRef idx="1">
            <a:schemeClr val="accent1"/>
          </a:lnRef>
          <a:fillRef idx="0">
            <a:schemeClr val="accent1"/>
          </a:fillRef>
          <a:effectRef idx="0">
            <a:schemeClr val="accent1"/>
          </a:effectRef>
          <a:fontRef idx="minor">
            <a:schemeClr val="tx1"/>
          </a:fontRef>
        </p:style>
      </p:cxnSp>
      <p:pic>
        <p:nvPicPr>
          <p:cNvPr id="113668" name="图片 10"/>
          <p:cNvPicPr>
            <a:picLocks noChangeAspect="1" noChangeArrowheads="1"/>
          </p:cNvPicPr>
          <p:nvPr/>
        </p:nvPicPr>
        <p:blipFill>
          <a:blip r:embed="rId24"/>
          <a:srcRect/>
          <a:stretch>
            <a:fillRect/>
          </a:stretch>
        </p:blipFill>
        <p:spPr bwMode="auto">
          <a:xfrm>
            <a:off x="301625" y="85725"/>
            <a:ext cx="525463" cy="612775"/>
          </a:xfrm>
          <a:prstGeom prst="rect">
            <a:avLst/>
          </a:prstGeom>
          <a:noFill/>
          <a:ln w="9525">
            <a:noFill/>
            <a:miter lim="800000"/>
            <a:headEnd/>
            <a:tailEnd/>
          </a:ln>
        </p:spPr>
      </p:pic>
      <p:sp>
        <p:nvSpPr>
          <p:cNvPr id="1029" name="TextBox 11"/>
          <p:cNvSpPr txBox="1">
            <a:spLocks noChangeArrowheads="1"/>
          </p:cNvSpPr>
          <p:nvPr/>
        </p:nvSpPr>
        <p:spPr bwMode="auto">
          <a:xfrm>
            <a:off x="1246188" y="411163"/>
            <a:ext cx="2379662" cy="369887"/>
          </a:xfrm>
          <a:prstGeom prst="rect">
            <a:avLst/>
          </a:prstGeom>
          <a:noFill/>
          <a:ln>
            <a:noFill/>
          </a:ln>
          <a:extLst>
            <a:ext uri="{909E8E84-426E-40DD-AFC4-6F175D3DCCD1}"/>
            <a:ext uri="{91240B29-F687-4F45-9708-019B960494DF}"/>
          </a:extLst>
        </p:spPr>
        <p:txBody>
          <a:bodyPr wrap="none">
            <a:spAutoFit/>
          </a:bodyPr>
          <a:lstStyle>
            <a:lvl1pPr>
              <a:defRPr sz="2800">
                <a:solidFill>
                  <a:schemeClr val="tx1"/>
                </a:solidFill>
                <a:latin typeface="Times New Roman" pitchFamily="18" charset="0"/>
                <a:ea typeface="宋体" pitchFamily="2" charset="-122"/>
              </a:defRPr>
            </a:lvl1pPr>
            <a:lvl2pPr>
              <a:defRPr sz="2800">
                <a:solidFill>
                  <a:schemeClr val="tx1"/>
                </a:solidFill>
                <a:latin typeface="Times New Roman" pitchFamily="18" charset="0"/>
                <a:ea typeface="宋体" pitchFamily="2" charset="-122"/>
              </a:defRPr>
            </a:lvl2pPr>
            <a:lvl3pPr>
              <a:defRPr sz="2800">
                <a:solidFill>
                  <a:schemeClr val="tx1"/>
                </a:solidFill>
                <a:latin typeface="Times New Roman" pitchFamily="18" charset="0"/>
                <a:ea typeface="宋体" pitchFamily="2" charset="-122"/>
              </a:defRPr>
            </a:lvl3pPr>
            <a:lvl4pPr>
              <a:defRPr sz="2800">
                <a:solidFill>
                  <a:schemeClr val="tx1"/>
                </a:solidFill>
                <a:latin typeface="Times New Roman" pitchFamily="18" charset="0"/>
                <a:ea typeface="宋体" pitchFamily="2" charset="-122"/>
              </a:defRPr>
            </a:lvl4pPr>
            <a:lvl5pPr>
              <a:defRPr sz="2800">
                <a:solidFill>
                  <a:schemeClr val="tx1"/>
                </a:solidFill>
                <a:latin typeface="Times New Roman" pitchFamily="18" charset="0"/>
                <a:ea typeface="宋体" pitchFamily="2" charset="-122"/>
              </a:defRPr>
            </a:lvl5pPr>
            <a:lvl6pPr fontAlgn="base">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fontAlgn="base">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fontAlgn="base">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fontAlgn="base">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fontAlgn="auto">
              <a:spcBef>
                <a:spcPts val="0"/>
              </a:spcBef>
              <a:spcAft>
                <a:spcPts val="0"/>
              </a:spcAft>
              <a:buFont typeface="Arial" pitchFamily="34" charset="0"/>
              <a:buNone/>
              <a:defRPr/>
            </a:pPr>
            <a:r>
              <a:rPr lang="zh-CN" altLang="en-US" sz="1800" dirty="0" smtClean="0">
                <a:solidFill>
                  <a:prstClr val="white"/>
                </a:solidFill>
                <a:latin typeface="Calibri" pitchFamily="34" charset="0"/>
              </a:rPr>
              <a:t>大学物理学（第</a:t>
            </a:r>
            <a:r>
              <a:rPr lang="en-US" altLang="zh-CN" sz="1800" dirty="0" smtClean="0">
                <a:solidFill>
                  <a:prstClr val="white"/>
                </a:solidFill>
                <a:latin typeface="Calibri" pitchFamily="34" charset="0"/>
              </a:rPr>
              <a:t>5</a:t>
            </a:r>
            <a:r>
              <a:rPr lang="zh-CN" altLang="en-US" sz="1800" dirty="0" smtClean="0">
                <a:solidFill>
                  <a:prstClr val="white"/>
                </a:solidFill>
                <a:latin typeface="Calibri" pitchFamily="34" charset="0"/>
              </a:rPr>
              <a:t>版）</a:t>
            </a:r>
            <a:endParaRPr lang="zh-CN" altLang="en-US" sz="1800" dirty="0">
              <a:solidFill>
                <a:prstClr val="white"/>
              </a:solidFill>
              <a:latin typeface="Calibri" pitchFamily="34" charset="0"/>
            </a:endParaRPr>
          </a:p>
        </p:txBody>
      </p:sp>
      <p:sp>
        <p:nvSpPr>
          <p:cNvPr id="1030" name="TextBox 12"/>
          <p:cNvSpPr txBox="1">
            <a:spLocks noChangeArrowheads="1"/>
          </p:cNvSpPr>
          <p:nvPr/>
        </p:nvSpPr>
        <p:spPr bwMode="auto">
          <a:xfrm>
            <a:off x="827088" y="134938"/>
            <a:ext cx="3775075" cy="307975"/>
          </a:xfrm>
          <a:prstGeom prst="rect">
            <a:avLst/>
          </a:prstGeom>
          <a:noFill/>
          <a:ln>
            <a:noFill/>
          </a:ln>
          <a:extLst>
            <a:ext uri="{909E8E84-426E-40DD-AFC4-6F175D3DCCD1}"/>
            <a:ext uri="{91240B29-F687-4F45-9708-019B960494DF}"/>
          </a:extLst>
        </p:spPr>
        <p:txBody>
          <a:bodyPr wrap="none">
            <a:spAutoFit/>
          </a:bodyPr>
          <a:lstStyle>
            <a:lvl1pPr>
              <a:defRPr sz="2800">
                <a:solidFill>
                  <a:schemeClr val="tx1"/>
                </a:solidFill>
                <a:latin typeface="Times New Roman" pitchFamily="18" charset="0"/>
                <a:ea typeface="宋体" pitchFamily="2" charset="-122"/>
              </a:defRPr>
            </a:lvl1pPr>
            <a:lvl2pPr>
              <a:defRPr sz="2800">
                <a:solidFill>
                  <a:schemeClr val="tx1"/>
                </a:solidFill>
                <a:latin typeface="Times New Roman" pitchFamily="18" charset="0"/>
                <a:ea typeface="宋体" pitchFamily="2" charset="-122"/>
              </a:defRPr>
            </a:lvl2pPr>
            <a:lvl3pPr>
              <a:defRPr sz="2800">
                <a:solidFill>
                  <a:schemeClr val="tx1"/>
                </a:solidFill>
                <a:latin typeface="Times New Roman" pitchFamily="18" charset="0"/>
                <a:ea typeface="宋体" pitchFamily="2" charset="-122"/>
              </a:defRPr>
            </a:lvl3pPr>
            <a:lvl4pPr>
              <a:defRPr sz="2800">
                <a:solidFill>
                  <a:schemeClr val="tx1"/>
                </a:solidFill>
                <a:latin typeface="Times New Roman" pitchFamily="18" charset="0"/>
                <a:ea typeface="宋体" pitchFamily="2" charset="-122"/>
              </a:defRPr>
            </a:lvl4pPr>
            <a:lvl5pPr>
              <a:defRPr sz="2800">
                <a:solidFill>
                  <a:schemeClr val="tx1"/>
                </a:solidFill>
                <a:latin typeface="Times New Roman" pitchFamily="18" charset="0"/>
                <a:ea typeface="宋体" pitchFamily="2" charset="-122"/>
              </a:defRPr>
            </a:lvl5pPr>
            <a:lvl6pPr fontAlgn="base">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fontAlgn="base">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fontAlgn="base">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fontAlgn="base">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fontAlgn="auto">
              <a:spcBef>
                <a:spcPts val="0"/>
              </a:spcBef>
              <a:spcAft>
                <a:spcPts val="0"/>
              </a:spcAft>
              <a:buFont typeface="Arial" pitchFamily="34" charset="0"/>
              <a:buNone/>
              <a:defRPr/>
            </a:pPr>
            <a:r>
              <a:rPr lang="zh-CN" altLang="en-US" sz="1400" dirty="0">
                <a:solidFill>
                  <a:prstClr val="white"/>
                </a:solidFill>
                <a:latin typeface="华文楷体" pitchFamily="2" charset="-122"/>
                <a:ea typeface="华文楷体" pitchFamily="2" charset="-122"/>
              </a:rPr>
              <a:t>“十二五”普通高等教育本科国家级规划教材</a:t>
            </a:r>
          </a:p>
        </p:txBody>
      </p:sp>
      <p:sp>
        <p:nvSpPr>
          <p:cNvPr id="2" name="矩形 1"/>
          <p:cNvSpPr/>
          <p:nvPr/>
        </p:nvSpPr>
        <p:spPr>
          <a:xfrm>
            <a:off x="9525" y="850900"/>
            <a:ext cx="9123363" cy="37433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buFont typeface="Arial" pitchFamily="34" charset="0"/>
              <a:buNone/>
              <a:defRPr/>
            </a:pPr>
            <a:endParaRPr lang="zh-CN" altLang="en-US" noProof="1">
              <a:solidFill>
                <a:prstClr val="white"/>
              </a:solidFill>
            </a:endParaRPr>
          </a:p>
        </p:txBody>
      </p:sp>
      <p:sp>
        <p:nvSpPr>
          <p:cNvPr id="28" name="矩形 27">
            <a:hlinkClick r:id="" action="ppaction://hlinkshowjump?jump=previousslide"/>
          </p:cNvPr>
          <p:cNvSpPr/>
          <p:nvPr/>
        </p:nvSpPr>
        <p:spPr>
          <a:xfrm>
            <a:off x="7532688" y="4732338"/>
            <a:ext cx="720725" cy="288925"/>
          </a:xfrm>
          <a:prstGeom prst="rect">
            <a:avLst/>
          </a:prstGeom>
          <a:solidFill>
            <a:srgbClr val="58A28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endParaRPr lang="zh-CN" altLang="en-US" sz="1300" dirty="0">
              <a:solidFill>
                <a:prstClr val="white"/>
              </a:solidFill>
              <a:latin typeface="方正舒体" panose="02010601030101010101" pitchFamily="2" charset="-122"/>
              <a:ea typeface="方正舒体" panose="02010601030101010101" pitchFamily="2" charset="-122"/>
            </a:endParaRPr>
          </a:p>
        </p:txBody>
      </p:sp>
      <p:sp>
        <p:nvSpPr>
          <p:cNvPr id="29" name="矩形 28">
            <a:hlinkClick r:id="" action="ppaction://hlinkshowjump?jump=nextslide"/>
          </p:cNvPr>
          <p:cNvSpPr/>
          <p:nvPr/>
        </p:nvSpPr>
        <p:spPr>
          <a:xfrm>
            <a:off x="8324850" y="4730750"/>
            <a:ext cx="720725" cy="288925"/>
          </a:xfrm>
          <a:prstGeom prst="rect">
            <a:avLst/>
          </a:prstGeom>
          <a:solidFill>
            <a:srgbClr val="58A28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endParaRPr lang="zh-CN" altLang="en-US" sz="1300" dirty="0">
              <a:solidFill>
                <a:prstClr val="white"/>
              </a:solidFill>
              <a:latin typeface="方正舒体" panose="02010601030101010101" pitchFamily="2" charset="-122"/>
              <a:ea typeface="方正舒体" panose="02010601030101010101" pitchFamily="2" charset="-122"/>
            </a:endParaRPr>
          </a:p>
        </p:txBody>
      </p:sp>
      <p:sp>
        <p:nvSpPr>
          <p:cNvPr id="30" name="矩形 29">
            <a:hlinkClick r:id="" action="ppaction://hlinkshowjump?jump=firstslide"/>
          </p:cNvPr>
          <p:cNvSpPr/>
          <p:nvPr/>
        </p:nvSpPr>
        <p:spPr>
          <a:xfrm>
            <a:off x="6740525" y="4732338"/>
            <a:ext cx="720725" cy="288925"/>
          </a:xfrm>
          <a:prstGeom prst="rect">
            <a:avLst/>
          </a:prstGeom>
          <a:solidFill>
            <a:srgbClr val="58A28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endParaRPr lang="zh-CN" altLang="en-US" sz="1300" dirty="0">
              <a:solidFill>
                <a:prstClr val="white"/>
              </a:solidFill>
              <a:latin typeface="方正舒体" panose="02010601030101010101" pitchFamily="2" charset="-122"/>
              <a:ea typeface="方正舒体" panose="02010601030101010101" pitchFamily="2" charset="-122"/>
            </a:endParaRPr>
          </a:p>
        </p:txBody>
      </p:sp>
      <p:sp>
        <p:nvSpPr>
          <p:cNvPr id="1035" name="矩形 16">
            <a:hlinkClick r:id="" action="ppaction://hlinkshowjump?jump=nextslide"/>
          </p:cNvPr>
          <p:cNvSpPr>
            <a:spLocks noChangeArrowheads="1"/>
          </p:cNvSpPr>
          <p:nvPr/>
        </p:nvSpPr>
        <p:spPr bwMode="auto">
          <a:xfrm>
            <a:off x="8361363" y="4732338"/>
            <a:ext cx="684212" cy="292100"/>
          </a:xfrm>
          <a:prstGeom prst="rect">
            <a:avLst/>
          </a:prstGeom>
          <a:noFill/>
          <a:ln>
            <a:noFill/>
          </a:ln>
          <a:extLst>
            <a:ext uri="{909E8E84-426E-40DD-AFC4-6F175D3DCCD1}"/>
            <a:ext uri="{91240B29-F687-4F45-9708-019B960494DF}"/>
          </a:extLst>
        </p:spPr>
        <p:txBody>
          <a:bodyPr wrap="none">
            <a:spAutoFit/>
          </a:bodyPr>
          <a:lstStyle/>
          <a:p>
            <a:pPr fontAlgn="auto">
              <a:spcBef>
                <a:spcPts val="0"/>
              </a:spcBef>
              <a:spcAft>
                <a:spcPts val="0"/>
              </a:spcAft>
              <a:defRPr/>
            </a:pPr>
            <a:r>
              <a:rPr lang="zh-CN" altLang="en-US" sz="1300">
                <a:solidFill>
                  <a:srgbClr val="FFFFFF"/>
                </a:solidFill>
                <a:latin typeface="方正舒体" pitchFamily="2" charset="-122"/>
                <a:ea typeface="方正舒体" pitchFamily="2" charset="-122"/>
              </a:rPr>
              <a:t>下一页</a:t>
            </a:r>
          </a:p>
        </p:txBody>
      </p:sp>
      <p:sp>
        <p:nvSpPr>
          <p:cNvPr id="1036" name="矩形 30">
            <a:hlinkClick r:id="" action="ppaction://hlinkshowjump?jump=previousslide"/>
          </p:cNvPr>
          <p:cNvSpPr>
            <a:spLocks noChangeArrowheads="1"/>
          </p:cNvSpPr>
          <p:nvPr/>
        </p:nvSpPr>
        <p:spPr bwMode="auto">
          <a:xfrm>
            <a:off x="7539038" y="4732338"/>
            <a:ext cx="684212" cy="292100"/>
          </a:xfrm>
          <a:prstGeom prst="rect">
            <a:avLst/>
          </a:prstGeom>
          <a:noFill/>
          <a:ln>
            <a:noFill/>
          </a:ln>
          <a:extLst>
            <a:ext uri="{909E8E84-426E-40DD-AFC4-6F175D3DCCD1}"/>
            <a:ext uri="{91240B29-F687-4F45-9708-019B960494DF}"/>
          </a:extLst>
        </p:spPr>
        <p:txBody>
          <a:bodyPr wrap="none">
            <a:spAutoFit/>
          </a:bodyPr>
          <a:lstStyle/>
          <a:p>
            <a:pPr fontAlgn="auto">
              <a:spcBef>
                <a:spcPts val="0"/>
              </a:spcBef>
              <a:spcAft>
                <a:spcPts val="0"/>
              </a:spcAft>
              <a:defRPr/>
            </a:pPr>
            <a:r>
              <a:rPr lang="zh-CN" altLang="en-US" sz="1300">
                <a:solidFill>
                  <a:srgbClr val="FFFFFF"/>
                </a:solidFill>
                <a:latin typeface="方正舒体" pitchFamily="2" charset="-122"/>
                <a:ea typeface="方正舒体" pitchFamily="2" charset="-122"/>
              </a:rPr>
              <a:t>上一页</a:t>
            </a:r>
          </a:p>
        </p:txBody>
      </p:sp>
      <p:sp>
        <p:nvSpPr>
          <p:cNvPr id="1037" name="矩形 1024">
            <a:hlinkClick r:id="" action="ppaction://hlinkshowjump?jump=firstslide"/>
          </p:cNvPr>
          <p:cNvSpPr>
            <a:spLocks noChangeArrowheads="1"/>
          </p:cNvSpPr>
          <p:nvPr/>
        </p:nvSpPr>
        <p:spPr bwMode="auto">
          <a:xfrm>
            <a:off x="6767513" y="4727575"/>
            <a:ext cx="684212" cy="292100"/>
          </a:xfrm>
          <a:prstGeom prst="rect">
            <a:avLst/>
          </a:prstGeom>
          <a:noFill/>
          <a:ln>
            <a:noFill/>
          </a:ln>
          <a:extLst>
            <a:ext uri="{909E8E84-426E-40DD-AFC4-6F175D3DCCD1}"/>
            <a:ext uri="{91240B29-F687-4F45-9708-019B960494DF}"/>
          </a:extLst>
        </p:spPr>
        <p:txBody>
          <a:bodyPr wrap="none">
            <a:spAutoFit/>
          </a:bodyPr>
          <a:lstStyle/>
          <a:p>
            <a:pPr fontAlgn="auto">
              <a:spcBef>
                <a:spcPts val="0"/>
              </a:spcBef>
              <a:spcAft>
                <a:spcPts val="0"/>
              </a:spcAft>
              <a:defRPr/>
            </a:pPr>
            <a:r>
              <a:rPr lang="zh-CN" altLang="en-US" sz="1300">
                <a:solidFill>
                  <a:srgbClr val="FFFFFF"/>
                </a:solidFill>
                <a:latin typeface="方正舒体" pitchFamily="2" charset="-122"/>
                <a:ea typeface="方正舒体" pitchFamily="2" charset="-122"/>
              </a:rPr>
              <a:t>节目录</a:t>
            </a:r>
          </a:p>
        </p:txBody>
      </p:sp>
      <p:sp>
        <p:nvSpPr>
          <p:cNvPr id="38" name="矩形 37"/>
          <p:cNvSpPr/>
          <p:nvPr/>
        </p:nvSpPr>
        <p:spPr>
          <a:xfrm>
            <a:off x="5938838" y="4730750"/>
            <a:ext cx="720725" cy="288925"/>
          </a:xfrm>
          <a:prstGeom prst="rect">
            <a:avLst/>
          </a:prstGeom>
          <a:solidFill>
            <a:srgbClr val="58A28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endParaRPr lang="zh-CN" altLang="en-US" sz="1300" dirty="0">
              <a:solidFill>
                <a:prstClr val="white"/>
              </a:solidFill>
              <a:latin typeface="方正舒体" panose="02010601030101010101" pitchFamily="2" charset="-122"/>
              <a:ea typeface="方正舒体" panose="02010601030101010101" pitchFamily="2" charset="-122"/>
            </a:endParaRPr>
          </a:p>
        </p:txBody>
      </p:sp>
      <p:sp>
        <p:nvSpPr>
          <p:cNvPr id="1039" name="矩形 36"/>
          <p:cNvSpPr>
            <a:spLocks noChangeArrowheads="1"/>
          </p:cNvSpPr>
          <p:nvPr/>
        </p:nvSpPr>
        <p:spPr bwMode="auto">
          <a:xfrm>
            <a:off x="5938838" y="4732338"/>
            <a:ext cx="685800" cy="292100"/>
          </a:xfrm>
          <a:prstGeom prst="rect">
            <a:avLst/>
          </a:prstGeom>
          <a:noFill/>
          <a:ln>
            <a:noFill/>
          </a:ln>
          <a:extLst>
            <a:ext uri="{909E8E84-426E-40DD-AFC4-6F175D3DCCD1}"/>
            <a:ext uri="{91240B29-F687-4F45-9708-019B960494DF}"/>
          </a:extLst>
        </p:spPr>
        <p:txBody>
          <a:bodyPr wrap="none">
            <a:spAutoFit/>
          </a:bodyPr>
          <a:lstStyle/>
          <a:p>
            <a:pPr fontAlgn="auto">
              <a:spcBef>
                <a:spcPts val="0"/>
              </a:spcBef>
              <a:spcAft>
                <a:spcPts val="0"/>
              </a:spcAft>
              <a:defRPr/>
            </a:pPr>
            <a:r>
              <a:rPr lang="zh-CN" altLang="en-US" sz="1300">
                <a:solidFill>
                  <a:srgbClr val="FFFFFF"/>
                </a:solidFill>
                <a:latin typeface="方正舒体" pitchFamily="2" charset="-122"/>
                <a:ea typeface="方正舒体" pitchFamily="2" charset="-122"/>
              </a:rPr>
              <a:t>章目录</a:t>
            </a:r>
          </a:p>
        </p:txBody>
      </p:sp>
    </p:spTree>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 id="2147483768" r:id="rId12"/>
    <p:sldLayoutId id="2147483769" r:id="rId13"/>
    <p:sldLayoutId id="2147483770" r:id="rId14"/>
    <p:sldLayoutId id="2147483771" r:id="rId15"/>
    <p:sldLayoutId id="2147483772" r:id="rId16"/>
    <p:sldLayoutId id="2147483773" r:id="rId17"/>
    <p:sldLayoutId id="2147483774" r:id="rId18"/>
    <p:sldLayoutId id="2147483775" r:id="rId19"/>
    <p:sldLayoutId id="2147483776" r:id="rId20"/>
    <p:sldLayoutId id="2147483777" r:id="rId21"/>
    <p:sldLayoutId id="2147483778" r:id="rId22"/>
  </p:sldLayoutIdLst>
  <p:timing>
    <p:tnLst>
      <p:par>
        <p:cTn id="1" dur="indefinite" restart="never" nodeType="tmRoot"/>
      </p:par>
    </p:tnLst>
  </p:timing>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ea typeface="宋体" pitchFamily="2" charset="-122"/>
        </a:defRPr>
      </a:lvl2pPr>
      <a:lvl3pPr algn="ctr" rtl="0" eaLnBrk="0" fontAlgn="base" hangingPunct="0">
        <a:spcBef>
          <a:spcPct val="0"/>
        </a:spcBef>
        <a:spcAft>
          <a:spcPct val="0"/>
        </a:spcAft>
        <a:defRPr sz="4400">
          <a:solidFill>
            <a:schemeClr val="tx1"/>
          </a:solidFill>
          <a:latin typeface="Calibri" pitchFamily="34" charset="0"/>
          <a:ea typeface="宋体" pitchFamily="2" charset="-122"/>
        </a:defRPr>
      </a:lvl3pPr>
      <a:lvl4pPr algn="ctr" rtl="0" eaLnBrk="0" fontAlgn="base" hangingPunct="0">
        <a:spcBef>
          <a:spcPct val="0"/>
        </a:spcBef>
        <a:spcAft>
          <a:spcPct val="0"/>
        </a:spcAft>
        <a:defRPr sz="4400">
          <a:solidFill>
            <a:schemeClr val="tx1"/>
          </a:solidFill>
          <a:latin typeface="Calibri" pitchFamily="34" charset="0"/>
          <a:ea typeface="宋体" pitchFamily="2" charset="-122"/>
        </a:defRPr>
      </a:lvl4pPr>
      <a:lvl5pPr algn="ctr" rtl="0" eaLnBrk="0" fontAlgn="base" hangingPunct="0">
        <a:spcBef>
          <a:spcPct val="0"/>
        </a:spcBef>
        <a:spcAft>
          <a:spcPct val="0"/>
        </a:spcAft>
        <a:defRPr sz="4400">
          <a:solidFill>
            <a:schemeClr val="tx1"/>
          </a:solidFill>
          <a:latin typeface="Calibri" pitchFamily="34" charset="0"/>
          <a:ea typeface="宋体" pitchFamily="2" charset="-122"/>
        </a:defRPr>
      </a:lvl5pPr>
      <a:lvl6pPr marL="457200" algn="ctr" rtl="0" fontAlgn="base">
        <a:spcBef>
          <a:spcPct val="0"/>
        </a:spcBef>
        <a:spcAft>
          <a:spcPct val="0"/>
        </a:spcAft>
        <a:defRPr sz="4400">
          <a:solidFill>
            <a:schemeClr val="tx1"/>
          </a:solidFill>
          <a:latin typeface="Calibri" pitchFamily="34" charset="0"/>
          <a:ea typeface="宋体" pitchFamily="2" charset="-122"/>
        </a:defRPr>
      </a:lvl6pPr>
      <a:lvl7pPr marL="914400" algn="ctr" rtl="0" fontAlgn="base">
        <a:spcBef>
          <a:spcPct val="0"/>
        </a:spcBef>
        <a:spcAft>
          <a:spcPct val="0"/>
        </a:spcAft>
        <a:defRPr sz="4400">
          <a:solidFill>
            <a:schemeClr val="tx1"/>
          </a:solidFill>
          <a:latin typeface="Calibri" pitchFamily="34" charset="0"/>
          <a:ea typeface="宋体" pitchFamily="2" charset="-122"/>
        </a:defRPr>
      </a:lvl7pPr>
      <a:lvl8pPr marL="1371600" algn="ctr" rtl="0" fontAlgn="base">
        <a:spcBef>
          <a:spcPct val="0"/>
        </a:spcBef>
        <a:spcAft>
          <a:spcPct val="0"/>
        </a:spcAft>
        <a:defRPr sz="4400">
          <a:solidFill>
            <a:schemeClr val="tx1"/>
          </a:solidFill>
          <a:latin typeface="Calibri" pitchFamily="34" charset="0"/>
          <a:ea typeface="宋体" pitchFamily="2" charset="-122"/>
        </a:defRPr>
      </a:lvl8pPr>
      <a:lvl9pPr marL="1828800" algn="ctr" rtl="0" fontAlgn="base">
        <a:spcBef>
          <a:spcPct val="0"/>
        </a:spcBef>
        <a:spcAft>
          <a:spcPct val="0"/>
        </a:spcAft>
        <a:defRPr sz="4400">
          <a:solidFill>
            <a:schemeClr val="tx1"/>
          </a:solidFill>
          <a:latin typeface="Calibri" pitchFamily="34" charset="0"/>
          <a:ea typeface="宋体" pitchFamily="2" charset="-122"/>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slide" Target="slide40.xml"/><Relationship Id="rId3" Type="http://schemas.openxmlformats.org/officeDocument/2006/relationships/audio" Target="../media/audio1.wav"/><Relationship Id="rId7" Type="http://schemas.openxmlformats.org/officeDocument/2006/relationships/slide" Target="slide29.xml"/><Relationship Id="rId2" Type="http://schemas.openxmlformats.org/officeDocument/2006/relationships/slide" Target="slide50.xml"/><Relationship Id="rId1" Type="http://schemas.openxmlformats.org/officeDocument/2006/relationships/slideLayout" Target="../slideLayouts/slideLayout1.xml"/><Relationship Id="rId6" Type="http://schemas.openxmlformats.org/officeDocument/2006/relationships/slide" Target="slide23.xml"/><Relationship Id="rId5" Type="http://schemas.openxmlformats.org/officeDocument/2006/relationships/slide" Target="slide8.xml"/><Relationship Id="rId10" Type="http://schemas.openxmlformats.org/officeDocument/2006/relationships/slide" Target="slide16.xml"/><Relationship Id="rId4" Type="http://schemas.openxmlformats.org/officeDocument/2006/relationships/slide" Target="slide2.xml"/><Relationship Id="rId9" Type="http://schemas.openxmlformats.org/officeDocument/2006/relationships/slide" Target="slide59.xml"/></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3.xml"/><Relationship Id="rId1" Type="http://schemas.openxmlformats.org/officeDocument/2006/relationships/vmlDrawing" Target="../drawings/vmlDrawing1.vml"/><Relationship Id="rId4" Type="http://schemas.openxmlformats.org/officeDocument/2006/relationships/oleObject" Target="../embeddings/oleObject2.bin"/></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3.xml"/><Relationship Id="rId1" Type="http://schemas.openxmlformats.org/officeDocument/2006/relationships/vmlDrawing" Target="../drawings/vmlDrawing2.v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3.xml"/><Relationship Id="rId1" Type="http://schemas.openxmlformats.org/officeDocument/2006/relationships/vmlDrawing" Target="../drawings/vmlDrawing3.vml"/><Relationship Id="rId5" Type="http://schemas.openxmlformats.org/officeDocument/2006/relationships/oleObject" Target="../embeddings/oleObject6.bin"/><Relationship Id="rId4" Type="http://schemas.openxmlformats.org/officeDocument/2006/relationships/oleObject" Target="../embeddings/oleObject5.bin"/></Relationships>
</file>

<file path=ppt/slides/_rels/slide7.xml.rels><?xml version="1.0" encoding="UTF-8" standalone="yes"?>
<Relationships xmlns="http://schemas.openxmlformats.org/package/2006/relationships"><Relationship Id="rId8" Type="http://schemas.openxmlformats.org/officeDocument/2006/relationships/oleObject" Target="../embeddings/oleObject12.bin"/><Relationship Id="rId3" Type="http://schemas.openxmlformats.org/officeDocument/2006/relationships/oleObject" Target="../embeddings/oleObject7.bin"/><Relationship Id="rId7" Type="http://schemas.openxmlformats.org/officeDocument/2006/relationships/oleObject" Target="../embeddings/oleObject11.bin"/><Relationship Id="rId2" Type="http://schemas.openxmlformats.org/officeDocument/2006/relationships/slideLayout" Target="../slideLayouts/slideLayout3.xml"/><Relationship Id="rId1" Type="http://schemas.openxmlformats.org/officeDocument/2006/relationships/vmlDrawing" Target="../drawings/vmlDrawing4.vml"/><Relationship Id="rId6" Type="http://schemas.openxmlformats.org/officeDocument/2006/relationships/oleObject" Target="../embeddings/oleObject10.bin"/><Relationship Id="rId11" Type="http://schemas.openxmlformats.org/officeDocument/2006/relationships/oleObject" Target="../embeddings/oleObject15.bin"/><Relationship Id="rId5" Type="http://schemas.openxmlformats.org/officeDocument/2006/relationships/oleObject" Target="../embeddings/oleObject9.bin"/><Relationship Id="rId10" Type="http://schemas.openxmlformats.org/officeDocument/2006/relationships/oleObject" Target="../embeddings/oleObject14.bin"/><Relationship Id="rId4" Type="http://schemas.openxmlformats.org/officeDocument/2006/relationships/oleObject" Target="../embeddings/oleObject8.bin"/><Relationship Id="rId9" Type="http://schemas.openxmlformats.org/officeDocument/2006/relationships/oleObject" Target="../embeddings/oleObject13.bin"/></Relationships>
</file>

<file path=ppt/slides/_rels/slide8.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4.xml"/><Relationship Id="rId1" Type="http://schemas.openxmlformats.org/officeDocument/2006/relationships/vmlDrawing" Target="../drawings/vmlDrawing5.vml"/><Relationship Id="rId6" Type="http://schemas.openxmlformats.org/officeDocument/2006/relationships/oleObject" Target="../embeddings/oleObject18.bin"/><Relationship Id="rId5" Type="http://schemas.openxmlformats.org/officeDocument/2006/relationships/oleObject" Target="../embeddings/oleObject17.bin"/><Relationship Id="rId4" Type="http://schemas.openxmlformats.org/officeDocument/2006/relationships/oleObject" Target="../embeddings/oleObject16.bin"/></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8" Type="http://schemas.openxmlformats.org/officeDocument/2006/relationships/oleObject" Target="../embeddings/oleObject24.bin"/><Relationship Id="rId3" Type="http://schemas.openxmlformats.org/officeDocument/2006/relationships/oleObject" Target="../embeddings/oleObject19.bin"/><Relationship Id="rId7" Type="http://schemas.openxmlformats.org/officeDocument/2006/relationships/oleObject" Target="../embeddings/oleObject23.bin"/><Relationship Id="rId2" Type="http://schemas.openxmlformats.org/officeDocument/2006/relationships/slideLayout" Target="../slideLayouts/slideLayout4.xml"/><Relationship Id="rId1" Type="http://schemas.openxmlformats.org/officeDocument/2006/relationships/vmlDrawing" Target="../drawings/vmlDrawing6.vml"/><Relationship Id="rId6" Type="http://schemas.openxmlformats.org/officeDocument/2006/relationships/oleObject" Target="../embeddings/oleObject22.bin"/><Relationship Id="rId5" Type="http://schemas.openxmlformats.org/officeDocument/2006/relationships/oleObject" Target="../embeddings/oleObject21.bin"/><Relationship Id="rId4" Type="http://schemas.openxmlformats.org/officeDocument/2006/relationships/oleObject" Target="../embeddings/oleObject20.bin"/><Relationship Id="rId9" Type="http://schemas.openxmlformats.org/officeDocument/2006/relationships/oleObject" Target="../embeddings/oleObject25.bin"/></Relationships>
</file>

<file path=ppt/slides/_rels/slide11.xml.rels><?xml version="1.0" encoding="UTF-8" standalone="yes"?>
<Relationships xmlns="http://schemas.openxmlformats.org/package/2006/relationships"><Relationship Id="rId8" Type="http://schemas.openxmlformats.org/officeDocument/2006/relationships/oleObject" Target="../embeddings/oleObject31.bin"/><Relationship Id="rId13" Type="http://schemas.openxmlformats.org/officeDocument/2006/relationships/oleObject" Target="../embeddings/oleObject36.bin"/><Relationship Id="rId3" Type="http://schemas.openxmlformats.org/officeDocument/2006/relationships/oleObject" Target="../embeddings/oleObject26.bin"/><Relationship Id="rId7" Type="http://schemas.openxmlformats.org/officeDocument/2006/relationships/oleObject" Target="../embeddings/oleObject30.bin"/><Relationship Id="rId12" Type="http://schemas.openxmlformats.org/officeDocument/2006/relationships/oleObject" Target="../embeddings/oleObject35.bin"/><Relationship Id="rId2" Type="http://schemas.openxmlformats.org/officeDocument/2006/relationships/slideLayout" Target="../slideLayouts/slideLayout4.xml"/><Relationship Id="rId1" Type="http://schemas.openxmlformats.org/officeDocument/2006/relationships/vmlDrawing" Target="../drawings/vmlDrawing7.vml"/><Relationship Id="rId6" Type="http://schemas.openxmlformats.org/officeDocument/2006/relationships/oleObject" Target="../embeddings/oleObject29.bin"/><Relationship Id="rId11" Type="http://schemas.openxmlformats.org/officeDocument/2006/relationships/oleObject" Target="../embeddings/oleObject34.bin"/><Relationship Id="rId5" Type="http://schemas.openxmlformats.org/officeDocument/2006/relationships/oleObject" Target="../embeddings/oleObject28.bin"/><Relationship Id="rId15" Type="http://schemas.openxmlformats.org/officeDocument/2006/relationships/oleObject" Target="../embeddings/oleObject38.bin"/><Relationship Id="rId10" Type="http://schemas.openxmlformats.org/officeDocument/2006/relationships/oleObject" Target="../embeddings/oleObject33.bin"/><Relationship Id="rId4" Type="http://schemas.openxmlformats.org/officeDocument/2006/relationships/oleObject" Target="../embeddings/oleObject27.bin"/><Relationship Id="rId9" Type="http://schemas.openxmlformats.org/officeDocument/2006/relationships/oleObject" Target="../embeddings/oleObject32.bin"/><Relationship Id="rId14" Type="http://schemas.openxmlformats.org/officeDocument/2006/relationships/oleObject" Target="../embeddings/oleObject37.bin"/></Relationships>
</file>

<file path=ppt/slides/_rels/slide12.xml.rels><?xml version="1.0" encoding="UTF-8" standalone="yes"?>
<Relationships xmlns="http://schemas.openxmlformats.org/package/2006/relationships"><Relationship Id="rId8" Type="http://schemas.openxmlformats.org/officeDocument/2006/relationships/oleObject" Target="../embeddings/oleObject44.bin"/><Relationship Id="rId3" Type="http://schemas.openxmlformats.org/officeDocument/2006/relationships/oleObject" Target="../embeddings/oleObject39.bin"/><Relationship Id="rId7" Type="http://schemas.openxmlformats.org/officeDocument/2006/relationships/oleObject" Target="../embeddings/oleObject43.bin"/><Relationship Id="rId2" Type="http://schemas.openxmlformats.org/officeDocument/2006/relationships/slideLayout" Target="../slideLayouts/slideLayout4.xml"/><Relationship Id="rId1" Type="http://schemas.openxmlformats.org/officeDocument/2006/relationships/vmlDrawing" Target="../drawings/vmlDrawing8.vml"/><Relationship Id="rId6" Type="http://schemas.openxmlformats.org/officeDocument/2006/relationships/oleObject" Target="../embeddings/oleObject42.bin"/><Relationship Id="rId11" Type="http://schemas.openxmlformats.org/officeDocument/2006/relationships/oleObject" Target="../embeddings/oleObject47.bin"/><Relationship Id="rId5" Type="http://schemas.openxmlformats.org/officeDocument/2006/relationships/oleObject" Target="../embeddings/oleObject41.bin"/><Relationship Id="rId10" Type="http://schemas.openxmlformats.org/officeDocument/2006/relationships/oleObject" Target="../embeddings/oleObject46.bin"/><Relationship Id="rId4" Type="http://schemas.openxmlformats.org/officeDocument/2006/relationships/oleObject" Target="../embeddings/oleObject40.bin"/><Relationship Id="rId9" Type="http://schemas.openxmlformats.org/officeDocument/2006/relationships/oleObject" Target="../embeddings/oleObject45.bin"/></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8" Type="http://schemas.openxmlformats.org/officeDocument/2006/relationships/oleObject" Target="../embeddings/oleObject53.bin"/><Relationship Id="rId13" Type="http://schemas.openxmlformats.org/officeDocument/2006/relationships/oleObject" Target="../embeddings/oleObject58.bin"/><Relationship Id="rId18" Type="http://schemas.openxmlformats.org/officeDocument/2006/relationships/oleObject" Target="../embeddings/oleObject63.bin"/><Relationship Id="rId3" Type="http://schemas.openxmlformats.org/officeDocument/2006/relationships/oleObject" Target="../embeddings/oleObject48.bin"/><Relationship Id="rId21" Type="http://schemas.openxmlformats.org/officeDocument/2006/relationships/oleObject" Target="../embeddings/oleObject66.bin"/><Relationship Id="rId7" Type="http://schemas.openxmlformats.org/officeDocument/2006/relationships/oleObject" Target="../embeddings/oleObject52.bin"/><Relationship Id="rId12" Type="http://schemas.openxmlformats.org/officeDocument/2006/relationships/oleObject" Target="../embeddings/oleObject57.bin"/><Relationship Id="rId17" Type="http://schemas.openxmlformats.org/officeDocument/2006/relationships/oleObject" Target="../embeddings/oleObject62.bin"/><Relationship Id="rId2" Type="http://schemas.openxmlformats.org/officeDocument/2006/relationships/slideLayout" Target="../slideLayouts/slideLayout4.xml"/><Relationship Id="rId16" Type="http://schemas.openxmlformats.org/officeDocument/2006/relationships/oleObject" Target="../embeddings/oleObject61.bin"/><Relationship Id="rId20" Type="http://schemas.openxmlformats.org/officeDocument/2006/relationships/oleObject" Target="../embeddings/oleObject65.bin"/><Relationship Id="rId1" Type="http://schemas.openxmlformats.org/officeDocument/2006/relationships/vmlDrawing" Target="../drawings/vmlDrawing9.vml"/><Relationship Id="rId6" Type="http://schemas.openxmlformats.org/officeDocument/2006/relationships/oleObject" Target="../embeddings/oleObject51.bin"/><Relationship Id="rId11" Type="http://schemas.openxmlformats.org/officeDocument/2006/relationships/oleObject" Target="../embeddings/oleObject56.bin"/><Relationship Id="rId5" Type="http://schemas.openxmlformats.org/officeDocument/2006/relationships/oleObject" Target="../embeddings/oleObject50.bin"/><Relationship Id="rId15" Type="http://schemas.openxmlformats.org/officeDocument/2006/relationships/oleObject" Target="../embeddings/oleObject60.bin"/><Relationship Id="rId23" Type="http://schemas.openxmlformats.org/officeDocument/2006/relationships/oleObject" Target="../embeddings/oleObject68.bin"/><Relationship Id="rId10" Type="http://schemas.openxmlformats.org/officeDocument/2006/relationships/oleObject" Target="../embeddings/oleObject55.bin"/><Relationship Id="rId19" Type="http://schemas.openxmlformats.org/officeDocument/2006/relationships/oleObject" Target="../embeddings/oleObject64.bin"/><Relationship Id="rId4" Type="http://schemas.openxmlformats.org/officeDocument/2006/relationships/oleObject" Target="../embeddings/oleObject49.bin"/><Relationship Id="rId9" Type="http://schemas.openxmlformats.org/officeDocument/2006/relationships/oleObject" Target="../embeddings/oleObject54.bin"/><Relationship Id="rId14" Type="http://schemas.openxmlformats.org/officeDocument/2006/relationships/oleObject" Target="../embeddings/oleObject59.bin"/><Relationship Id="rId22" Type="http://schemas.openxmlformats.org/officeDocument/2006/relationships/oleObject" Target="../embeddings/oleObject67.bin"/></Relationships>
</file>

<file path=ppt/slides/_rels/slide15.xml.rels><?xml version="1.0" encoding="UTF-8" standalone="yes"?>
<Relationships xmlns="http://schemas.openxmlformats.org/package/2006/relationships"><Relationship Id="rId8" Type="http://schemas.openxmlformats.org/officeDocument/2006/relationships/oleObject" Target="../embeddings/oleObject74.bin"/><Relationship Id="rId3" Type="http://schemas.openxmlformats.org/officeDocument/2006/relationships/oleObject" Target="../embeddings/oleObject69.bin"/><Relationship Id="rId7" Type="http://schemas.openxmlformats.org/officeDocument/2006/relationships/oleObject" Target="../embeddings/oleObject73.bin"/><Relationship Id="rId2" Type="http://schemas.openxmlformats.org/officeDocument/2006/relationships/slideLayout" Target="../slideLayouts/slideLayout4.xml"/><Relationship Id="rId1" Type="http://schemas.openxmlformats.org/officeDocument/2006/relationships/vmlDrawing" Target="../drawings/vmlDrawing10.vml"/><Relationship Id="rId6" Type="http://schemas.openxmlformats.org/officeDocument/2006/relationships/oleObject" Target="../embeddings/oleObject72.bin"/><Relationship Id="rId5" Type="http://schemas.openxmlformats.org/officeDocument/2006/relationships/oleObject" Target="../embeddings/oleObject71.bin"/><Relationship Id="rId4" Type="http://schemas.openxmlformats.org/officeDocument/2006/relationships/oleObject" Target="../embeddings/oleObject70.bin"/><Relationship Id="rId9" Type="http://schemas.openxmlformats.org/officeDocument/2006/relationships/oleObject" Target="../embeddings/oleObject75.bin"/></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76.bin"/><Relationship Id="rId2" Type="http://schemas.openxmlformats.org/officeDocument/2006/relationships/slideLayout" Target="../slideLayouts/slideLayout5.xml"/><Relationship Id="rId1" Type="http://schemas.openxmlformats.org/officeDocument/2006/relationships/vmlDrawing" Target="../drawings/vmlDrawing11.vml"/><Relationship Id="rId6" Type="http://schemas.openxmlformats.org/officeDocument/2006/relationships/oleObject" Target="../embeddings/oleObject79.bin"/><Relationship Id="rId5" Type="http://schemas.openxmlformats.org/officeDocument/2006/relationships/oleObject" Target="../embeddings/oleObject78.bin"/><Relationship Id="rId4" Type="http://schemas.openxmlformats.org/officeDocument/2006/relationships/oleObject" Target="../embeddings/oleObject77.bin"/></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80.bin"/><Relationship Id="rId7" Type="http://schemas.openxmlformats.org/officeDocument/2006/relationships/oleObject" Target="../embeddings/oleObject84.bin"/><Relationship Id="rId2" Type="http://schemas.openxmlformats.org/officeDocument/2006/relationships/slideLayout" Target="../slideLayouts/slideLayout5.xml"/><Relationship Id="rId1" Type="http://schemas.openxmlformats.org/officeDocument/2006/relationships/vmlDrawing" Target="../drawings/vmlDrawing12.vml"/><Relationship Id="rId6" Type="http://schemas.openxmlformats.org/officeDocument/2006/relationships/oleObject" Target="../embeddings/oleObject83.bin"/><Relationship Id="rId5" Type="http://schemas.openxmlformats.org/officeDocument/2006/relationships/oleObject" Target="../embeddings/oleObject82.bin"/><Relationship Id="rId4" Type="http://schemas.openxmlformats.org/officeDocument/2006/relationships/oleObject" Target="../embeddings/oleObject81.bin"/></Relationships>
</file>

<file path=ppt/slides/_rels/slide18.xml.rels><?xml version="1.0" encoding="UTF-8" standalone="yes"?>
<Relationships xmlns="http://schemas.openxmlformats.org/package/2006/relationships"><Relationship Id="rId8" Type="http://schemas.openxmlformats.org/officeDocument/2006/relationships/oleObject" Target="../embeddings/oleObject90.bin"/><Relationship Id="rId13" Type="http://schemas.openxmlformats.org/officeDocument/2006/relationships/oleObject" Target="../embeddings/oleObject95.bin"/><Relationship Id="rId3" Type="http://schemas.openxmlformats.org/officeDocument/2006/relationships/oleObject" Target="../embeddings/oleObject85.bin"/><Relationship Id="rId7" Type="http://schemas.openxmlformats.org/officeDocument/2006/relationships/oleObject" Target="../embeddings/oleObject89.bin"/><Relationship Id="rId12" Type="http://schemas.openxmlformats.org/officeDocument/2006/relationships/oleObject" Target="../embeddings/oleObject94.bin"/><Relationship Id="rId2" Type="http://schemas.openxmlformats.org/officeDocument/2006/relationships/slideLayout" Target="../slideLayouts/slideLayout5.xml"/><Relationship Id="rId1" Type="http://schemas.openxmlformats.org/officeDocument/2006/relationships/vmlDrawing" Target="../drawings/vmlDrawing13.vml"/><Relationship Id="rId6" Type="http://schemas.openxmlformats.org/officeDocument/2006/relationships/oleObject" Target="../embeddings/oleObject88.bin"/><Relationship Id="rId11" Type="http://schemas.openxmlformats.org/officeDocument/2006/relationships/oleObject" Target="../embeddings/oleObject93.bin"/><Relationship Id="rId5" Type="http://schemas.openxmlformats.org/officeDocument/2006/relationships/oleObject" Target="../embeddings/oleObject87.bin"/><Relationship Id="rId10" Type="http://schemas.openxmlformats.org/officeDocument/2006/relationships/oleObject" Target="../embeddings/oleObject92.bin"/><Relationship Id="rId4" Type="http://schemas.openxmlformats.org/officeDocument/2006/relationships/oleObject" Target="../embeddings/oleObject86.bin"/><Relationship Id="rId9" Type="http://schemas.openxmlformats.org/officeDocument/2006/relationships/oleObject" Target="../embeddings/oleObject91.bin"/><Relationship Id="rId14" Type="http://schemas.openxmlformats.org/officeDocument/2006/relationships/oleObject" Target="../embeddings/oleObject96.bin"/></Relationships>
</file>

<file path=ppt/slides/_rels/slide19.xml.rels><?xml version="1.0" encoding="UTF-8" standalone="yes"?>
<Relationships xmlns="http://schemas.openxmlformats.org/package/2006/relationships"><Relationship Id="rId8" Type="http://schemas.openxmlformats.org/officeDocument/2006/relationships/oleObject" Target="../embeddings/oleObject102.bin"/><Relationship Id="rId3" Type="http://schemas.openxmlformats.org/officeDocument/2006/relationships/oleObject" Target="../embeddings/oleObject97.bin"/><Relationship Id="rId7" Type="http://schemas.openxmlformats.org/officeDocument/2006/relationships/oleObject" Target="../embeddings/oleObject101.bin"/><Relationship Id="rId12" Type="http://schemas.openxmlformats.org/officeDocument/2006/relationships/oleObject" Target="../embeddings/oleObject106.bin"/><Relationship Id="rId2" Type="http://schemas.openxmlformats.org/officeDocument/2006/relationships/slideLayout" Target="../slideLayouts/slideLayout5.xml"/><Relationship Id="rId1" Type="http://schemas.openxmlformats.org/officeDocument/2006/relationships/vmlDrawing" Target="../drawings/vmlDrawing14.vml"/><Relationship Id="rId6" Type="http://schemas.openxmlformats.org/officeDocument/2006/relationships/oleObject" Target="../embeddings/oleObject100.bin"/><Relationship Id="rId11" Type="http://schemas.openxmlformats.org/officeDocument/2006/relationships/oleObject" Target="../embeddings/oleObject105.bin"/><Relationship Id="rId5" Type="http://schemas.openxmlformats.org/officeDocument/2006/relationships/oleObject" Target="../embeddings/oleObject99.bin"/><Relationship Id="rId10" Type="http://schemas.openxmlformats.org/officeDocument/2006/relationships/oleObject" Target="../embeddings/oleObject104.bin"/><Relationship Id="rId4" Type="http://schemas.openxmlformats.org/officeDocument/2006/relationships/oleObject" Target="../embeddings/oleObject98.bin"/><Relationship Id="rId9" Type="http://schemas.openxmlformats.org/officeDocument/2006/relationships/oleObject" Target="../embeddings/oleObject103.bin"/></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107.bin"/><Relationship Id="rId2" Type="http://schemas.openxmlformats.org/officeDocument/2006/relationships/slideLayout" Target="../slideLayouts/slideLayout5.xml"/><Relationship Id="rId1" Type="http://schemas.openxmlformats.org/officeDocument/2006/relationships/vmlDrawing" Target="../drawings/vmlDrawing15.vml"/><Relationship Id="rId6" Type="http://schemas.openxmlformats.org/officeDocument/2006/relationships/oleObject" Target="../embeddings/oleObject110.bin"/><Relationship Id="rId5" Type="http://schemas.openxmlformats.org/officeDocument/2006/relationships/oleObject" Target="../embeddings/oleObject109.bin"/><Relationship Id="rId4" Type="http://schemas.openxmlformats.org/officeDocument/2006/relationships/oleObject" Target="../embeddings/oleObject108.bin"/></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8" Type="http://schemas.openxmlformats.org/officeDocument/2006/relationships/oleObject" Target="../embeddings/oleObject116.bin"/><Relationship Id="rId3" Type="http://schemas.openxmlformats.org/officeDocument/2006/relationships/oleObject" Target="../embeddings/oleObject111.bin"/><Relationship Id="rId7" Type="http://schemas.openxmlformats.org/officeDocument/2006/relationships/oleObject" Target="../embeddings/oleObject115.bin"/><Relationship Id="rId2" Type="http://schemas.openxmlformats.org/officeDocument/2006/relationships/slideLayout" Target="../slideLayouts/slideLayout5.xml"/><Relationship Id="rId1" Type="http://schemas.openxmlformats.org/officeDocument/2006/relationships/vmlDrawing" Target="../drawings/vmlDrawing16.vml"/><Relationship Id="rId6" Type="http://schemas.openxmlformats.org/officeDocument/2006/relationships/oleObject" Target="../embeddings/oleObject114.bin"/><Relationship Id="rId11" Type="http://schemas.openxmlformats.org/officeDocument/2006/relationships/oleObject" Target="../embeddings/oleObject119.bin"/><Relationship Id="rId5" Type="http://schemas.openxmlformats.org/officeDocument/2006/relationships/oleObject" Target="../embeddings/oleObject113.bin"/><Relationship Id="rId10" Type="http://schemas.openxmlformats.org/officeDocument/2006/relationships/oleObject" Target="../embeddings/oleObject118.bin"/><Relationship Id="rId4" Type="http://schemas.openxmlformats.org/officeDocument/2006/relationships/oleObject" Target="../embeddings/oleObject112.bin"/><Relationship Id="rId9" Type="http://schemas.openxmlformats.org/officeDocument/2006/relationships/oleObject" Target="../embeddings/oleObject117.bin"/></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120.bin"/><Relationship Id="rId2" Type="http://schemas.openxmlformats.org/officeDocument/2006/relationships/slideLayout" Target="../slideLayouts/slideLayout6.xml"/><Relationship Id="rId1" Type="http://schemas.openxmlformats.org/officeDocument/2006/relationships/vmlDrawing" Target="../drawings/vmlDrawing17.vml"/><Relationship Id="rId6" Type="http://schemas.openxmlformats.org/officeDocument/2006/relationships/oleObject" Target="../embeddings/oleObject123.bin"/><Relationship Id="rId5" Type="http://schemas.openxmlformats.org/officeDocument/2006/relationships/oleObject" Target="../embeddings/oleObject122.bin"/><Relationship Id="rId4" Type="http://schemas.openxmlformats.org/officeDocument/2006/relationships/oleObject" Target="../embeddings/oleObject121.bin"/></Relationships>
</file>

<file path=ppt/slides/_rels/slide24.xml.rels><?xml version="1.0" encoding="UTF-8" standalone="yes"?>
<Relationships xmlns="http://schemas.openxmlformats.org/package/2006/relationships"><Relationship Id="rId8" Type="http://schemas.openxmlformats.org/officeDocument/2006/relationships/oleObject" Target="../embeddings/oleObject129.bin"/><Relationship Id="rId3" Type="http://schemas.openxmlformats.org/officeDocument/2006/relationships/oleObject" Target="../embeddings/oleObject124.bin"/><Relationship Id="rId7" Type="http://schemas.openxmlformats.org/officeDocument/2006/relationships/oleObject" Target="../embeddings/oleObject128.bin"/><Relationship Id="rId12" Type="http://schemas.openxmlformats.org/officeDocument/2006/relationships/oleObject" Target="../embeddings/oleObject133.bin"/><Relationship Id="rId2" Type="http://schemas.openxmlformats.org/officeDocument/2006/relationships/slideLayout" Target="../slideLayouts/slideLayout6.xml"/><Relationship Id="rId1" Type="http://schemas.openxmlformats.org/officeDocument/2006/relationships/vmlDrawing" Target="../drawings/vmlDrawing18.vml"/><Relationship Id="rId6" Type="http://schemas.openxmlformats.org/officeDocument/2006/relationships/oleObject" Target="../embeddings/oleObject127.bin"/><Relationship Id="rId11" Type="http://schemas.openxmlformats.org/officeDocument/2006/relationships/oleObject" Target="../embeddings/oleObject132.bin"/><Relationship Id="rId5" Type="http://schemas.openxmlformats.org/officeDocument/2006/relationships/oleObject" Target="../embeddings/oleObject126.bin"/><Relationship Id="rId10" Type="http://schemas.openxmlformats.org/officeDocument/2006/relationships/oleObject" Target="../embeddings/oleObject131.bin"/><Relationship Id="rId4" Type="http://schemas.openxmlformats.org/officeDocument/2006/relationships/oleObject" Target="../embeddings/oleObject125.bin"/><Relationship Id="rId9" Type="http://schemas.openxmlformats.org/officeDocument/2006/relationships/oleObject" Target="../embeddings/oleObject130.bin"/></Relationships>
</file>

<file path=ppt/slides/_rels/slide25.xml.rels><?xml version="1.0" encoding="UTF-8" standalone="yes"?>
<Relationships xmlns="http://schemas.openxmlformats.org/package/2006/relationships"><Relationship Id="rId8" Type="http://schemas.openxmlformats.org/officeDocument/2006/relationships/oleObject" Target="../embeddings/oleObject139.bin"/><Relationship Id="rId3" Type="http://schemas.openxmlformats.org/officeDocument/2006/relationships/oleObject" Target="../embeddings/oleObject134.bin"/><Relationship Id="rId7" Type="http://schemas.openxmlformats.org/officeDocument/2006/relationships/oleObject" Target="../embeddings/oleObject138.bin"/><Relationship Id="rId12" Type="http://schemas.openxmlformats.org/officeDocument/2006/relationships/oleObject" Target="../embeddings/oleObject143.bin"/><Relationship Id="rId2" Type="http://schemas.openxmlformats.org/officeDocument/2006/relationships/slideLayout" Target="../slideLayouts/slideLayout6.xml"/><Relationship Id="rId1" Type="http://schemas.openxmlformats.org/officeDocument/2006/relationships/vmlDrawing" Target="../drawings/vmlDrawing19.vml"/><Relationship Id="rId6" Type="http://schemas.openxmlformats.org/officeDocument/2006/relationships/oleObject" Target="../embeddings/oleObject137.bin"/><Relationship Id="rId11" Type="http://schemas.openxmlformats.org/officeDocument/2006/relationships/oleObject" Target="../embeddings/oleObject142.bin"/><Relationship Id="rId5" Type="http://schemas.openxmlformats.org/officeDocument/2006/relationships/oleObject" Target="../embeddings/oleObject136.bin"/><Relationship Id="rId10" Type="http://schemas.openxmlformats.org/officeDocument/2006/relationships/oleObject" Target="../embeddings/oleObject141.bin"/><Relationship Id="rId4" Type="http://schemas.openxmlformats.org/officeDocument/2006/relationships/oleObject" Target="../embeddings/oleObject135.bin"/><Relationship Id="rId9" Type="http://schemas.openxmlformats.org/officeDocument/2006/relationships/oleObject" Target="../embeddings/oleObject140.bin"/></Relationships>
</file>

<file path=ppt/slides/_rels/slide26.xml.rels><?xml version="1.0" encoding="UTF-8" standalone="yes"?>
<Relationships xmlns="http://schemas.openxmlformats.org/package/2006/relationships"><Relationship Id="rId8" Type="http://schemas.openxmlformats.org/officeDocument/2006/relationships/oleObject" Target="../embeddings/oleObject149.bin"/><Relationship Id="rId3" Type="http://schemas.openxmlformats.org/officeDocument/2006/relationships/oleObject" Target="../embeddings/oleObject144.bin"/><Relationship Id="rId7" Type="http://schemas.openxmlformats.org/officeDocument/2006/relationships/oleObject" Target="../embeddings/oleObject148.bin"/><Relationship Id="rId2" Type="http://schemas.openxmlformats.org/officeDocument/2006/relationships/slideLayout" Target="../slideLayouts/slideLayout6.xml"/><Relationship Id="rId1" Type="http://schemas.openxmlformats.org/officeDocument/2006/relationships/vmlDrawing" Target="../drawings/vmlDrawing20.vml"/><Relationship Id="rId6" Type="http://schemas.openxmlformats.org/officeDocument/2006/relationships/oleObject" Target="../embeddings/oleObject147.bin"/><Relationship Id="rId5" Type="http://schemas.openxmlformats.org/officeDocument/2006/relationships/oleObject" Target="../embeddings/oleObject146.bin"/><Relationship Id="rId10" Type="http://schemas.openxmlformats.org/officeDocument/2006/relationships/oleObject" Target="../embeddings/oleObject151.bin"/><Relationship Id="rId4" Type="http://schemas.openxmlformats.org/officeDocument/2006/relationships/oleObject" Target="../embeddings/oleObject145.bin"/><Relationship Id="rId9" Type="http://schemas.openxmlformats.org/officeDocument/2006/relationships/oleObject" Target="../embeddings/oleObject150.bin"/></Relationships>
</file>

<file path=ppt/slides/_rels/slide27.xml.rels><?xml version="1.0" encoding="UTF-8" standalone="yes"?>
<Relationships xmlns="http://schemas.openxmlformats.org/package/2006/relationships"><Relationship Id="rId8" Type="http://schemas.openxmlformats.org/officeDocument/2006/relationships/oleObject" Target="../embeddings/oleObject157.bin"/><Relationship Id="rId3" Type="http://schemas.openxmlformats.org/officeDocument/2006/relationships/oleObject" Target="../embeddings/oleObject152.bin"/><Relationship Id="rId7" Type="http://schemas.openxmlformats.org/officeDocument/2006/relationships/oleObject" Target="../embeddings/oleObject156.bin"/><Relationship Id="rId2" Type="http://schemas.openxmlformats.org/officeDocument/2006/relationships/slideLayout" Target="../slideLayouts/slideLayout6.xml"/><Relationship Id="rId1" Type="http://schemas.openxmlformats.org/officeDocument/2006/relationships/vmlDrawing" Target="../drawings/vmlDrawing21.vml"/><Relationship Id="rId6" Type="http://schemas.openxmlformats.org/officeDocument/2006/relationships/oleObject" Target="../embeddings/oleObject155.bin"/><Relationship Id="rId5" Type="http://schemas.openxmlformats.org/officeDocument/2006/relationships/oleObject" Target="../embeddings/oleObject154.bin"/><Relationship Id="rId4" Type="http://schemas.openxmlformats.org/officeDocument/2006/relationships/oleObject" Target="../embeddings/oleObject153.bin"/><Relationship Id="rId9" Type="http://schemas.openxmlformats.org/officeDocument/2006/relationships/oleObject" Target="../embeddings/oleObject158.bin"/></Relationships>
</file>

<file path=ppt/slides/_rels/slide28.xml.rels><?xml version="1.0" encoding="UTF-8" standalone="yes"?>
<Relationships xmlns="http://schemas.openxmlformats.org/package/2006/relationships"><Relationship Id="rId8" Type="http://schemas.openxmlformats.org/officeDocument/2006/relationships/oleObject" Target="../embeddings/oleObject164.bin"/><Relationship Id="rId3" Type="http://schemas.openxmlformats.org/officeDocument/2006/relationships/oleObject" Target="../embeddings/oleObject159.bin"/><Relationship Id="rId7" Type="http://schemas.openxmlformats.org/officeDocument/2006/relationships/oleObject" Target="../embeddings/oleObject163.bin"/><Relationship Id="rId2" Type="http://schemas.openxmlformats.org/officeDocument/2006/relationships/slideLayout" Target="../slideLayouts/slideLayout6.xml"/><Relationship Id="rId1" Type="http://schemas.openxmlformats.org/officeDocument/2006/relationships/vmlDrawing" Target="../drawings/vmlDrawing22.vml"/><Relationship Id="rId6" Type="http://schemas.openxmlformats.org/officeDocument/2006/relationships/oleObject" Target="../embeddings/oleObject162.bin"/><Relationship Id="rId11" Type="http://schemas.openxmlformats.org/officeDocument/2006/relationships/oleObject" Target="../embeddings/oleObject167.bin"/><Relationship Id="rId5" Type="http://schemas.openxmlformats.org/officeDocument/2006/relationships/oleObject" Target="../embeddings/oleObject161.bin"/><Relationship Id="rId10" Type="http://schemas.openxmlformats.org/officeDocument/2006/relationships/oleObject" Target="../embeddings/oleObject166.bin"/><Relationship Id="rId4" Type="http://schemas.openxmlformats.org/officeDocument/2006/relationships/oleObject" Target="../embeddings/oleObject160.bin"/><Relationship Id="rId9" Type="http://schemas.openxmlformats.org/officeDocument/2006/relationships/oleObject" Target="../embeddings/oleObject165.bin"/></Relationships>
</file>

<file path=ppt/slides/_rels/slide29.xml.rels><?xml version="1.0" encoding="UTF-8" standalone="yes"?>
<Relationships xmlns="http://schemas.openxmlformats.org/package/2006/relationships"><Relationship Id="rId8" Type="http://schemas.openxmlformats.org/officeDocument/2006/relationships/oleObject" Target="../embeddings/oleObject173.bin"/><Relationship Id="rId13" Type="http://schemas.openxmlformats.org/officeDocument/2006/relationships/oleObject" Target="../embeddings/oleObject178.bin"/><Relationship Id="rId18" Type="http://schemas.openxmlformats.org/officeDocument/2006/relationships/oleObject" Target="../embeddings/oleObject183.bin"/><Relationship Id="rId3" Type="http://schemas.openxmlformats.org/officeDocument/2006/relationships/oleObject" Target="../embeddings/oleObject168.bin"/><Relationship Id="rId7" Type="http://schemas.openxmlformats.org/officeDocument/2006/relationships/oleObject" Target="../embeddings/oleObject172.bin"/><Relationship Id="rId12" Type="http://schemas.openxmlformats.org/officeDocument/2006/relationships/oleObject" Target="../embeddings/oleObject177.bin"/><Relationship Id="rId17" Type="http://schemas.openxmlformats.org/officeDocument/2006/relationships/oleObject" Target="../embeddings/oleObject182.bin"/><Relationship Id="rId2" Type="http://schemas.openxmlformats.org/officeDocument/2006/relationships/slideLayout" Target="../slideLayouts/slideLayout7.xml"/><Relationship Id="rId16" Type="http://schemas.openxmlformats.org/officeDocument/2006/relationships/oleObject" Target="../embeddings/oleObject181.bin"/><Relationship Id="rId1" Type="http://schemas.openxmlformats.org/officeDocument/2006/relationships/vmlDrawing" Target="../drawings/vmlDrawing23.vml"/><Relationship Id="rId6" Type="http://schemas.openxmlformats.org/officeDocument/2006/relationships/oleObject" Target="../embeddings/oleObject171.bin"/><Relationship Id="rId11" Type="http://schemas.openxmlformats.org/officeDocument/2006/relationships/oleObject" Target="../embeddings/oleObject176.bin"/><Relationship Id="rId5" Type="http://schemas.openxmlformats.org/officeDocument/2006/relationships/oleObject" Target="../embeddings/oleObject170.bin"/><Relationship Id="rId15" Type="http://schemas.openxmlformats.org/officeDocument/2006/relationships/oleObject" Target="../embeddings/oleObject180.bin"/><Relationship Id="rId10" Type="http://schemas.openxmlformats.org/officeDocument/2006/relationships/oleObject" Target="../embeddings/oleObject175.bin"/><Relationship Id="rId4" Type="http://schemas.openxmlformats.org/officeDocument/2006/relationships/oleObject" Target="../embeddings/oleObject169.bin"/><Relationship Id="rId9" Type="http://schemas.openxmlformats.org/officeDocument/2006/relationships/oleObject" Target="../embeddings/oleObject174.bin"/><Relationship Id="rId14" Type="http://schemas.openxmlformats.org/officeDocument/2006/relationships/oleObject" Target="../embeddings/oleObject179.bin"/></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1.xml"/><Relationship Id="rId7" Type="http://schemas.openxmlformats.org/officeDocument/2006/relationships/oleObject" Target="../embeddings/oleObject187.bin"/><Relationship Id="rId2" Type="http://schemas.openxmlformats.org/officeDocument/2006/relationships/slideLayout" Target="../slideLayouts/slideLayout7.xml"/><Relationship Id="rId1" Type="http://schemas.openxmlformats.org/officeDocument/2006/relationships/vmlDrawing" Target="../drawings/vmlDrawing24.vml"/><Relationship Id="rId6" Type="http://schemas.openxmlformats.org/officeDocument/2006/relationships/oleObject" Target="../embeddings/oleObject186.bin"/><Relationship Id="rId5" Type="http://schemas.openxmlformats.org/officeDocument/2006/relationships/oleObject" Target="../embeddings/oleObject185.bin"/><Relationship Id="rId4" Type="http://schemas.openxmlformats.org/officeDocument/2006/relationships/oleObject" Target="../embeddings/oleObject184.bin"/></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188.bin"/><Relationship Id="rId2" Type="http://schemas.openxmlformats.org/officeDocument/2006/relationships/slideLayout" Target="../slideLayouts/slideLayout7.xml"/><Relationship Id="rId1" Type="http://schemas.openxmlformats.org/officeDocument/2006/relationships/vmlDrawing" Target="../drawings/vmlDrawing25.vml"/><Relationship Id="rId6" Type="http://schemas.openxmlformats.org/officeDocument/2006/relationships/oleObject" Target="../embeddings/oleObject191.bin"/><Relationship Id="rId5" Type="http://schemas.openxmlformats.org/officeDocument/2006/relationships/oleObject" Target="../embeddings/oleObject190.bin"/><Relationship Id="rId4" Type="http://schemas.openxmlformats.org/officeDocument/2006/relationships/oleObject" Target="../embeddings/oleObject189.bin"/></Relationships>
</file>

<file path=ppt/slides/_rels/slide32.xml.rels><?xml version="1.0" encoding="UTF-8" standalone="yes"?>
<Relationships xmlns="http://schemas.openxmlformats.org/package/2006/relationships"><Relationship Id="rId8" Type="http://schemas.openxmlformats.org/officeDocument/2006/relationships/oleObject" Target="../embeddings/oleObject197.bin"/><Relationship Id="rId3" Type="http://schemas.openxmlformats.org/officeDocument/2006/relationships/oleObject" Target="../embeddings/oleObject192.bin"/><Relationship Id="rId7" Type="http://schemas.openxmlformats.org/officeDocument/2006/relationships/oleObject" Target="../embeddings/oleObject196.bin"/><Relationship Id="rId2" Type="http://schemas.openxmlformats.org/officeDocument/2006/relationships/slideLayout" Target="../slideLayouts/slideLayout7.xml"/><Relationship Id="rId1" Type="http://schemas.openxmlformats.org/officeDocument/2006/relationships/vmlDrawing" Target="../drawings/vmlDrawing26.vml"/><Relationship Id="rId6" Type="http://schemas.openxmlformats.org/officeDocument/2006/relationships/oleObject" Target="../embeddings/oleObject195.bin"/><Relationship Id="rId5" Type="http://schemas.openxmlformats.org/officeDocument/2006/relationships/oleObject" Target="../embeddings/oleObject194.bin"/><Relationship Id="rId10" Type="http://schemas.openxmlformats.org/officeDocument/2006/relationships/oleObject" Target="../embeddings/oleObject199.bin"/><Relationship Id="rId4" Type="http://schemas.openxmlformats.org/officeDocument/2006/relationships/oleObject" Target="../embeddings/oleObject193.bin"/><Relationship Id="rId9" Type="http://schemas.openxmlformats.org/officeDocument/2006/relationships/oleObject" Target="../embeddings/oleObject198.bin"/></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200.bin"/><Relationship Id="rId2" Type="http://schemas.openxmlformats.org/officeDocument/2006/relationships/slideLayout" Target="../slideLayouts/slideLayout7.xml"/><Relationship Id="rId1" Type="http://schemas.openxmlformats.org/officeDocument/2006/relationships/vmlDrawing" Target="../drawings/vmlDrawing27.vml"/><Relationship Id="rId6" Type="http://schemas.openxmlformats.org/officeDocument/2006/relationships/oleObject" Target="../embeddings/oleObject203.bin"/><Relationship Id="rId5" Type="http://schemas.openxmlformats.org/officeDocument/2006/relationships/oleObject" Target="../embeddings/oleObject202.bin"/><Relationship Id="rId4" Type="http://schemas.openxmlformats.org/officeDocument/2006/relationships/oleObject" Target="../embeddings/oleObject201.bin"/></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8" Type="http://schemas.openxmlformats.org/officeDocument/2006/relationships/oleObject" Target="../embeddings/oleObject209.bin"/><Relationship Id="rId3" Type="http://schemas.openxmlformats.org/officeDocument/2006/relationships/oleObject" Target="../embeddings/oleObject204.bin"/><Relationship Id="rId7" Type="http://schemas.openxmlformats.org/officeDocument/2006/relationships/oleObject" Target="../embeddings/oleObject208.bin"/><Relationship Id="rId2" Type="http://schemas.openxmlformats.org/officeDocument/2006/relationships/slideLayout" Target="../slideLayouts/slideLayout7.xml"/><Relationship Id="rId1" Type="http://schemas.openxmlformats.org/officeDocument/2006/relationships/vmlDrawing" Target="../drawings/vmlDrawing28.vml"/><Relationship Id="rId6" Type="http://schemas.openxmlformats.org/officeDocument/2006/relationships/oleObject" Target="../embeddings/oleObject207.bin"/><Relationship Id="rId5" Type="http://schemas.openxmlformats.org/officeDocument/2006/relationships/oleObject" Target="../embeddings/oleObject206.bin"/><Relationship Id="rId10" Type="http://schemas.openxmlformats.org/officeDocument/2006/relationships/oleObject" Target="../embeddings/oleObject211.bin"/><Relationship Id="rId4" Type="http://schemas.openxmlformats.org/officeDocument/2006/relationships/oleObject" Target="../embeddings/oleObject205.bin"/><Relationship Id="rId9" Type="http://schemas.openxmlformats.org/officeDocument/2006/relationships/oleObject" Target="../embeddings/oleObject210.bin"/></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212.bin"/><Relationship Id="rId2" Type="http://schemas.openxmlformats.org/officeDocument/2006/relationships/slideLayout" Target="../slideLayouts/slideLayout7.xml"/><Relationship Id="rId1" Type="http://schemas.openxmlformats.org/officeDocument/2006/relationships/vmlDrawing" Target="../drawings/vmlDrawing29.vml"/></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213.bin"/><Relationship Id="rId2" Type="http://schemas.openxmlformats.org/officeDocument/2006/relationships/slideLayout" Target="../slideLayouts/slideLayout7.xml"/><Relationship Id="rId1" Type="http://schemas.openxmlformats.org/officeDocument/2006/relationships/vmlDrawing" Target="../drawings/vmlDrawing30.vml"/><Relationship Id="rId4" Type="http://schemas.openxmlformats.org/officeDocument/2006/relationships/image" Target="../media/image204.jpeg"/></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214.bin"/><Relationship Id="rId2" Type="http://schemas.openxmlformats.org/officeDocument/2006/relationships/slideLayout" Target="../slideLayouts/slideLayout7.xml"/><Relationship Id="rId1" Type="http://schemas.openxmlformats.org/officeDocument/2006/relationships/vmlDrawing" Target="../drawings/vmlDrawing31.vml"/></Relationships>
</file>

<file path=ppt/slides/_rels/slide39.xml.rels><?xml version="1.0" encoding="UTF-8" standalone="yes"?>
<Relationships xmlns="http://schemas.openxmlformats.org/package/2006/relationships"><Relationship Id="rId8" Type="http://schemas.openxmlformats.org/officeDocument/2006/relationships/oleObject" Target="../embeddings/oleObject220.bin"/><Relationship Id="rId3" Type="http://schemas.openxmlformats.org/officeDocument/2006/relationships/oleObject" Target="../embeddings/oleObject215.bin"/><Relationship Id="rId7" Type="http://schemas.openxmlformats.org/officeDocument/2006/relationships/oleObject" Target="../embeddings/oleObject219.bin"/><Relationship Id="rId2" Type="http://schemas.openxmlformats.org/officeDocument/2006/relationships/slideLayout" Target="../slideLayouts/slideLayout7.xml"/><Relationship Id="rId1" Type="http://schemas.openxmlformats.org/officeDocument/2006/relationships/vmlDrawing" Target="../drawings/vmlDrawing32.vml"/><Relationship Id="rId6" Type="http://schemas.openxmlformats.org/officeDocument/2006/relationships/oleObject" Target="../embeddings/oleObject218.bin"/><Relationship Id="rId11" Type="http://schemas.openxmlformats.org/officeDocument/2006/relationships/oleObject" Target="../embeddings/oleObject223.bin"/><Relationship Id="rId5" Type="http://schemas.openxmlformats.org/officeDocument/2006/relationships/oleObject" Target="../embeddings/oleObject217.bin"/><Relationship Id="rId10" Type="http://schemas.openxmlformats.org/officeDocument/2006/relationships/oleObject" Target="../embeddings/oleObject222.bin"/><Relationship Id="rId4" Type="http://schemas.openxmlformats.org/officeDocument/2006/relationships/oleObject" Target="../embeddings/oleObject216.bin"/><Relationship Id="rId9" Type="http://schemas.openxmlformats.org/officeDocument/2006/relationships/oleObject" Target="../embeddings/oleObject221.bin"/></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224.bin"/><Relationship Id="rId2" Type="http://schemas.openxmlformats.org/officeDocument/2006/relationships/slideLayout" Target="../slideLayouts/slideLayout8.xml"/><Relationship Id="rId1" Type="http://schemas.openxmlformats.org/officeDocument/2006/relationships/vmlDrawing" Target="../drawings/vmlDrawing33.v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0.xml.rels><?xml version="1.0" encoding="UTF-8" standalone="yes"?>
<Relationships xmlns="http://schemas.openxmlformats.org/package/2006/relationships"><Relationship Id="rId3" Type="http://schemas.openxmlformats.org/officeDocument/2006/relationships/oleObject" Target="../embeddings/oleObject225.bin"/><Relationship Id="rId2" Type="http://schemas.openxmlformats.org/officeDocument/2006/relationships/slideLayout" Target="../slideLayouts/slideLayout9.xml"/><Relationship Id="rId1" Type="http://schemas.openxmlformats.org/officeDocument/2006/relationships/vmlDrawing" Target="../drawings/vmlDrawing34.vml"/><Relationship Id="rId5" Type="http://schemas.openxmlformats.org/officeDocument/2006/relationships/oleObject" Target="../embeddings/oleObject227.bin"/><Relationship Id="rId4" Type="http://schemas.openxmlformats.org/officeDocument/2006/relationships/oleObject" Target="../embeddings/oleObject226.bin"/></Relationships>
</file>

<file path=ppt/slides/_rels/slide51.xml.rels><?xml version="1.0" encoding="UTF-8" standalone="yes"?>
<Relationships xmlns="http://schemas.openxmlformats.org/package/2006/relationships"><Relationship Id="rId8" Type="http://schemas.openxmlformats.org/officeDocument/2006/relationships/oleObject" Target="../embeddings/oleObject233.bin"/><Relationship Id="rId3" Type="http://schemas.openxmlformats.org/officeDocument/2006/relationships/oleObject" Target="../embeddings/oleObject228.bin"/><Relationship Id="rId7" Type="http://schemas.openxmlformats.org/officeDocument/2006/relationships/oleObject" Target="../embeddings/oleObject232.bin"/><Relationship Id="rId2" Type="http://schemas.openxmlformats.org/officeDocument/2006/relationships/slideLayout" Target="../slideLayouts/slideLayout9.xml"/><Relationship Id="rId1" Type="http://schemas.openxmlformats.org/officeDocument/2006/relationships/vmlDrawing" Target="../drawings/vmlDrawing35.vml"/><Relationship Id="rId6" Type="http://schemas.openxmlformats.org/officeDocument/2006/relationships/oleObject" Target="../embeddings/oleObject231.bin"/><Relationship Id="rId5" Type="http://schemas.openxmlformats.org/officeDocument/2006/relationships/oleObject" Target="../embeddings/oleObject230.bin"/><Relationship Id="rId4" Type="http://schemas.openxmlformats.org/officeDocument/2006/relationships/oleObject" Target="../embeddings/oleObject229.bin"/><Relationship Id="rId9" Type="http://schemas.openxmlformats.org/officeDocument/2006/relationships/oleObject" Target="../embeddings/oleObject234.bin"/></Relationships>
</file>

<file path=ppt/slides/_rels/slide52.xml.rels><?xml version="1.0" encoding="UTF-8" standalone="yes"?>
<Relationships xmlns="http://schemas.openxmlformats.org/package/2006/relationships"><Relationship Id="rId8" Type="http://schemas.openxmlformats.org/officeDocument/2006/relationships/oleObject" Target="../embeddings/oleObject240.bin"/><Relationship Id="rId3" Type="http://schemas.openxmlformats.org/officeDocument/2006/relationships/oleObject" Target="../embeddings/oleObject235.bin"/><Relationship Id="rId7" Type="http://schemas.openxmlformats.org/officeDocument/2006/relationships/oleObject" Target="../embeddings/oleObject239.bin"/><Relationship Id="rId2" Type="http://schemas.openxmlformats.org/officeDocument/2006/relationships/slideLayout" Target="../slideLayouts/slideLayout9.xml"/><Relationship Id="rId1" Type="http://schemas.openxmlformats.org/officeDocument/2006/relationships/vmlDrawing" Target="../drawings/vmlDrawing36.vml"/><Relationship Id="rId6" Type="http://schemas.openxmlformats.org/officeDocument/2006/relationships/oleObject" Target="../embeddings/oleObject238.bin"/><Relationship Id="rId5" Type="http://schemas.openxmlformats.org/officeDocument/2006/relationships/oleObject" Target="../embeddings/oleObject237.bin"/><Relationship Id="rId10" Type="http://schemas.openxmlformats.org/officeDocument/2006/relationships/oleObject" Target="../embeddings/oleObject242.bin"/><Relationship Id="rId4" Type="http://schemas.openxmlformats.org/officeDocument/2006/relationships/oleObject" Target="../embeddings/oleObject236.bin"/><Relationship Id="rId9" Type="http://schemas.openxmlformats.org/officeDocument/2006/relationships/oleObject" Target="../embeddings/oleObject241.bin"/></Relationships>
</file>

<file path=ppt/slides/_rels/slide53.xml.rels><?xml version="1.0" encoding="UTF-8" standalone="yes"?>
<Relationships xmlns="http://schemas.openxmlformats.org/package/2006/relationships"><Relationship Id="rId3" Type="http://schemas.openxmlformats.org/officeDocument/2006/relationships/audio" Target="../media/audio1.wav"/><Relationship Id="rId7" Type="http://schemas.openxmlformats.org/officeDocument/2006/relationships/oleObject" Target="../embeddings/oleObject246.bin"/><Relationship Id="rId2" Type="http://schemas.openxmlformats.org/officeDocument/2006/relationships/slideLayout" Target="../slideLayouts/slideLayout9.xml"/><Relationship Id="rId1" Type="http://schemas.openxmlformats.org/officeDocument/2006/relationships/vmlDrawing" Target="../drawings/vmlDrawing37.vml"/><Relationship Id="rId6" Type="http://schemas.openxmlformats.org/officeDocument/2006/relationships/oleObject" Target="../embeddings/oleObject245.bin"/><Relationship Id="rId5" Type="http://schemas.openxmlformats.org/officeDocument/2006/relationships/oleObject" Target="../embeddings/oleObject244.bin"/><Relationship Id="rId4" Type="http://schemas.openxmlformats.org/officeDocument/2006/relationships/oleObject" Target="../embeddings/oleObject243.bin"/></Relationships>
</file>

<file path=ppt/slides/_rels/slide54.xml.rels><?xml version="1.0" encoding="UTF-8" standalone="yes"?>
<Relationships xmlns="http://schemas.openxmlformats.org/package/2006/relationships"><Relationship Id="rId3" Type="http://schemas.openxmlformats.org/officeDocument/2006/relationships/oleObject" Target="../embeddings/oleObject247.bin"/><Relationship Id="rId7" Type="http://schemas.openxmlformats.org/officeDocument/2006/relationships/oleObject" Target="../embeddings/oleObject251.bin"/><Relationship Id="rId2" Type="http://schemas.openxmlformats.org/officeDocument/2006/relationships/slideLayout" Target="../slideLayouts/slideLayout9.xml"/><Relationship Id="rId1" Type="http://schemas.openxmlformats.org/officeDocument/2006/relationships/vmlDrawing" Target="../drawings/vmlDrawing38.vml"/><Relationship Id="rId6" Type="http://schemas.openxmlformats.org/officeDocument/2006/relationships/oleObject" Target="../embeddings/oleObject250.bin"/><Relationship Id="rId5" Type="http://schemas.openxmlformats.org/officeDocument/2006/relationships/oleObject" Target="../embeddings/oleObject249.bin"/><Relationship Id="rId4" Type="http://schemas.openxmlformats.org/officeDocument/2006/relationships/oleObject" Target="../embeddings/oleObject248.bin"/></Relationships>
</file>

<file path=ppt/slides/_rels/slide55.xml.rels><?xml version="1.0" encoding="UTF-8" standalone="yes"?>
<Relationships xmlns="http://schemas.openxmlformats.org/package/2006/relationships"><Relationship Id="rId3" Type="http://schemas.openxmlformats.org/officeDocument/2006/relationships/oleObject" Target="../embeddings/oleObject252.bin"/><Relationship Id="rId2" Type="http://schemas.openxmlformats.org/officeDocument/2006/relationships/slideLayout" Target="../slideLayouts/slideLayout9.xml"/><Relationship Id="rId1" Type="http://schemas.openxmlformats.org/officeDocument/2006/relationships/vmlDrawing" Target="../drawings/vmlDrawing39.vml"/><Relationship Id="rId5" Type="http://schemas.openxmlformats.org/officeDocument/2006/relationships/oleObject" Target="../embeddings/oleObject254.bin"/><Relationship Id="rId4" Type="http://schemas.openxmlformats.org/officeDocument/2006/relationships/oleObject" Target="../embeddings/oleObject253.bin"/></Relationships>
</file>

<file path=ppt/slides/_rels/slide56.xml.rels><?xml version="1.0" encoding="UTF-8" standalone="yes"?>
<Relationships xmlns="http://schemas.openxmlformats.org/package/2006/relationships"><Relationship Id="rId3" Type="http://schemas.openxmlformats.org/officeDocument/2006/relationships/oleObject" Target="../embeddings/oleObject255.bin"/><Relationship Id="rId2" Type="http://schemas.openxmlformats.org/officeDocument/2006/relationships/slideLayout" Target="../slideLayouts/slideLayout9.xml"/><Relationship Id="rId1" Type="http://schemas.openxmlformats.org/officeDocument/2006/relationships/vmlDrawing" Target="../drawings/vmlDrawing40.vml"/><Relationship Id="rId6" Type="http://schemas.openxmlformats.org/officeDocument/2006/relationships/oleObject" Target="../embeddings/oleObject258.bin"/><Relationship Id="rId5" Type="http://schemas.openxmlformats.org/officeDocument/2006/relationships/oleObject" Target="../embeddings/oleObject257.bin"/><Relationship Id="rId4" Type="http://schemas.openxmlformats.org/officeDocument/2006/relationships/oleObject" Target="../embeddings/oleObject256.bin"/></Relationships>
</file>

<file path=ppt/slides/_rels/slide57.xml.rels><?xml version="1.0" encoding="UTF-8" standalone="yes"?>
<Relationships xmlns="http://schemas.openxmlformats.org/package/2006/relationships"><Relationship Id="rId8" Type="http://schemas.openxmlformats.org/officeDocument/2006/relationships/oleObject" Target="../embeddings/oleObject264.bin"/><Relationship Id="rId3" Type="http://schemas.openxmlformats.org/officeDocument/2006/relationships/oleObject" Target="../embeddings/oleObject259.bin"/><Relationship Id="rId7" Type="http://schemas.openxmlformats.org/officeDocument/2006/relationships/oleObject" Target="../embeddings/oleObject263.bin"/><Relationship Id="rId2" Type="http://schemas.openxmlformats.org/officeDocument/2006/relationships/slideLayout" Target="../slideLayouts/slideLayout9.xml"/><Relationship Id="rId1" Type="http://schemas.openxmlformats.org/officeDocument/2006/relationships/vmlDrawing" Target="../drawings/vmlDrawing41.vml"/><Relationship Id="rId6" Type="http://schemas.openxmlformats.org/officeDocument/2006/relationships/oleObject" Target="../embeddings/oleObject262.bin"/><Relationship Id="rId5" Type="http://schemas.openxmlformats.org/officeDocument/2006/relationships/oleObject" Target="../embeddings/oleObject261.bin"/><Relationship Id="rId4" Type="http://schemas.openxmlformats.org/officeDocument/2006/relationships/oleObject" Target="../embeddings/oleObject260.bin"/><Relationship Id="rId9" Type="http://schemas.openxmlformats.org/officeDocument/2006/relationships/oleObject" Target="../embeddings/oleObject265.bin"/></Relationships>
</file>

<file path=ppt/slides/_rels/slide58.xml.rels><?xml version="1.0" encoding="UTF-8" standalone="yes"?>
<Relationships xmlns="http://schemas.openxmlformats.org/package/2006/relationships"><Relationship Id="rId8" Type="http://schemas.openxmlformats.org/officeDocument/2006/relationships/oleObject" Target="../embeddings/oleObject270.bin"/><Relationship Id="rId3" Type="http://schemas.openxmlformats.org/officeDocument/2006/relationships/audio" Target="../media/audio2.wav"/><Relationship Id="rId7" Type="http://schemas.openxmlformats.org/officeDocument/2006/relationships/oleObject" Target="../embeddings/oleObject269.bin"/><Relationship Id="rId2" Type="http://schemas.openxmlformats.org/officeDocument/2006/relationships/slideLayout" Target="../slideLayouts/slideLayout9.xml"/><Relationship Id="rId1" Type="http://schemas.openxmlformats.org/officeDocument/2006/relationships/vmlDrawing" Target="../drawings/vmlDrawing42.vml"/><Relationship Id="rId6" Type="http://schemas.openxmlformats.org/officeDocument/2006/relationships/oleObject" Target="../embeddings/oleObject268.bin"/><Relationship Id="rId5" Type="http://schemas.openxmlformats.org/officeDocument/2006/relationships/oleObject" Target="../embeddings/oleObject267.bin"/><Relationship Id="rId4" Type="http://schemas.openxmlformats.org/officeDocument/2006/relationships/oleObject" Target="../embeddings/oleObject266.bin"/></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60.xml.rels><?xml version="1.0" encoding="UTF-8" standalone="yes"?>
<Relationships xmlns="http://schemas.openxmlformats.org/package/2006/relationships"><Relationship Id="rId3" Type="http://schemas.openxmlformats.org/officeDocument/2006/relationships/oleObject" Target="../embeddings/oleObject271.bin"/><Relationship Id="rId2" Type="http://schemas.openxmlformats.org/officeDocument/2006/relationships/slideLayout" Target="../slideLayouts/slideLayout34.xml"/><Relationship Id="rId1" Type="http://schemas.openxmlformats.org/officeDocument/2006/relationships/vmlDrawing" Target="../drawings/vmlDrawing43.v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65.xml.rels><?xml version="1.0" encoding="UTF-8" standalone="yes"?>
<Relationships xmlns="http://schemas.openxmlformats.org/package/2006/relationships"><Relationship Id="rId2" Type="http://schemas.openxmlformats.org/officeDocument/2006/relationships/image" Target="../media/image263.gif"/><Relationship Id="rId1" Type="http://schemas.openxmlformats.org/officeDocument/2006/relationships/slideLayout" Target="../slideLayouts/slideLayout34.xml"/></Relationships>
</file>

<file path=ppt/slides/_rels/slide66.xml.rels><?xml version="1.0" encoding="UTF-8" standalone="yes"?>
<Relationships xmlns="http://schemas.openxmlformats.org/package/2006/relationships"><Relationship Id="rId3" Type="http://schemas.openxmlformats.org/officeDocument/2006/relationships/audio" Target="../media/audio1.wav"/><Relationship Id="rId7" Type="http://schemas.openxmlformats.org/officeDocument/2006/relationships/oleObject" Target="../embeddings/oleObject275.bin"/><Relationship Id="rId2" Type="http://schemas.openxmlformats.org/officeDocument/2006/relationships/slideLayout" Target="../slideLayouts/slideLayout34.xml"/><Relationship Id="rId1" Type="http://schemas.openxmlformats.org/officeDocument/2006/relationships/vmlDrawing" Target="../drawings/vmlDrawing44.vml"/><Relationship Id="rId6" Type="http://schemas.openxmlformats.org/officeDocument/2006/relationships/oleObject" Target="../embeddings/oleObject274.bin"/><Relationship Id="rId5" Type="http://schemas.openxmlformats.org/officeDocument/2006/relationships/oleObject" Target="../embeddings/oleObject273.bin"/><Relationship Id="rId4" Type="http://schemas.openxmlformats.org/officeDocument/2006/relationships/oleObject" Target="../embeddings/oleObject272.bin"/></Relationships>
</file>

<file path=ppt/slides/_rels/slide67.xml.rels><?xml version="1.0" encoding="UTF-8" standalone="yes"?>
<Relationships xmlns="http://schemas.openxmlformats.org/package/2006/relationships"><Relationship Id="rId3" Type="http://schemas.openxmlformats.org/officeDocument/2006/relationships/oleObject" Target="../embeddings/oleObject276.bin"/><Relationship Id="rId2" Type="http://schemas.openxmlformats.org/officeDocument/2006/relationships/slideLayout" Target="../slideLayouts/slideLayout34.xml"/><Relationship Id="rId1" Type="http://schemas.openxmlformats.org/officeDocument/2006/relationships/vmlDrawing" Target="../drawings/vmlDrawing45.vml"/></Relationships>
</file>

<file path=ppt/slides/_rels/slide68.xml.rels><?xml version="1.0" encoding="UTF-8" standalone="yes"?>
<Relationships xmlns="http://schemas.openxmlformats.org/package/2006/relationships"><Relationship Id="rId3" Type="http://schemas.openxmlformats.org/officeDocument/2006/relationships/oleObject" Target="../embeddings/oleObject277.bin"/><Relationship Id="rId7" Type="http://schemas.openxmlformats.org/officeDocument/2006/relationships/oleObject" Target="../embeddings/oleObject281.bin"/><Relationship Id="rId2" Type="http://schemas.openxmlformats.org/officeDocument/2006/relationships/slideLayout" Target="../slideLayouts/slideLayout35.xml"/><Relationship Id="rId1" Type="http://schemas.openxmlformats.org/officeDocument/2006/relationships/vmlDrawing" Target="../drawings/vmlDrawing46.vml"/><Relationship Id="rId6" Type="http://schemas.openxmlformats.org/officeDocument/2006/relationships/oleObject" Target="../embeddings/oleObject280.bin"/><Relationship Id="rId5" Type="http://schemas.openxmlformats.org/officeDocument/2006/relationships/oleObject" Target="../embeddings/oleObject279.bin"/><Relationship Id="rId4" Type="http://schemas.openxmlformats.org/officeDocument/2006/relationships/oleObject" Target="../embeddings/oleObject278.bin"/></Relationships>
</file>

<file path=ppt/slides/_rels/slide69.xml.rels><?xml version="1.0" encoding="UTF-8" standalone="yes"?>
<Relationships xmlns="http://schemas.openxmlformats.org/package/2006/relationships"><Relationship Id="rId3" Type="http://schemas.openxmlformats.org/officeDocument/2006/relationships/oleObject" Target="../embeddings/oleObject282.bin"/><Relationship Id="rId7" Type="http://schemas.openxmlformats.org/officeDocument/2006/relationships/oleObject" Target="../embeddings/oleObject286.bin"/><Relationship Id="rId2" Type="http://schemas.openxmlformats.org/officeDocument/2006/relationships/slideLayout" Target="../slideLayouts/slideLayout35.xml"/><Relationship Id="rId1" Type="http://schemas.openxmlformats.org/officeDocument/2006/relationships/vmlDrawing" Target="../drawings/vmlDrawing47.vml"/><Relationship Id="rId6" Type="http://schemas.openxmlformats.org/officeDocument/2006/relationships/oleObject" Target="../embeddings/oleObject285.bin"/><Relationship Id="rId5" Type="http://schemas.openxmlformats.org/officeDocument/2006/relationships/oleObject" Target="../embeddings/oleObject284.bin"/><Relationship Id="rId4" Type="http://schemas.openxmlformats.org/officeDocument/2006/relationships/oleObject" Target="../embeddings/oleObject283.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Text Box 3">
            <a:hlinkClick r:id="rId2" action="ppaction://hlinksldjump" highlightClick="1">
              <a:snd r:embed="rId3" name="camera.wav"/>
            </a:hlinkClick>
          </p:cNvPr>
          <p:cNvSpPr txBox="1">
            <a:spLocks noChangeArrowheads="1"/>
          </p:cNvSpPr>
          <p:nvPr/>
        </p:nvSpPr>
        <p:spPr bwMode="auto">
          <a:xfrm>
            <a:off x="2105025" y="3602038"/>
            <a:ext cx="3244850" cy="369887"/>
          </a:xfrm>
          <a:prstGeom prst="rect">
            <a:avLst/>
          </a:prstGeom>
          <a:noFill/>
          <a:ln w="9525">
            <a:noFill/>
            <a:miter lim="800000"/>
            <a:headEnd/>
            <a:tailEnd/>
          </a:ln>
        </p:spPr>
        <p:txBody>
          <a:bodyPr>
            <a:spAutoFit/>
          </a:bodyPr>
          <a:lstStyle/>
          <a:p>
            <a:r>
              <a:rPr kumimoji="1" lang="en-US" altLang="zh-CN" b="1">
                <a:solidFill>
                  <a:srgbClr val="000000"/>
                </a:solidFill>
                <a:latin typeface="华文中宋"/>
                <a:ea typeface="华文中宋"/>
                <a:cs typeface="华文中宋"/>
              </a:rPr>
              <a:t>§8-7 </a:t>
            </a:r>
            <a:r>
              <a:rPr lang="zh-CN" altLang="en-US" b="1">
                <a:solidFill>
                  <a:srgbClr val="000000"/>
                </a:solidFill>
                <a:latin typeface="Times New Roman" pitchFamily="18" charset="0"/>
                <a:ea typeface="华文中宋"/>
                <a:cs typeface="华文中宋"/>
              </a:rPr>
              <a:t>卡诺定理  克劳修斯熵</a:t>
            </a:r>
            <a:endParaRPr lang="zh-CN" altLang="en-US" b="1">
              <a:solidFill>
                <a:srgbClr val="000000"/>
              </a:solidFill>
              <a:latin typeface="华文中宋"/>
              <a:ea typeface="华文中宋"/>
              <a:cs typeface="华文中宋"/>
            </a:endParaRPr>
          </a:p>
        </p:txBody>
      </p:sp>
      <p:sp>
        <p:nvSpPr>
          <p:cNvPr id="52226" name="Rectangle 5">
            <a:hlinkClick r:id="rId4" action="ppaction://hlinksldjump" highlightClick="1">
              <a:snd r:embed="rId3" name="camera.wav"/>
            </a:hlinkClick>
          </p:cNvPr>
          <p:cNvSpPr>
            <a:spLocks noChangeArrowheads="1"/>
          </p:cNvSpPr>
          <p:nvPr/>
        </p:nvSpPr>
        <p:spPr bwMode="auto">
          <a:xfrm>
            <a:off x="2105025" y="987425"/>
            <a:ext cx="4338638" cy="369888"/>
          </a:xfrm>
          <a:prstGeom prst="rect">
            <a:avLst/>
          </a:prstGeom>
          <a:noFill/>
          <a:ln w="9525">
            <a:noFill/>
            <a:miter lim="800000"/>
            <a:headEnd/>
            <a:tailEnd/>
          </a:ln>
        </p:spPr>
        <p:txBody>
          <a:bodyPr>
            <a:spAutoFit/>
          </a:bodyPr>
          <a:lstStyle/>
          <a:p>
            <a:r>
              <a:rPr lang="en-US" altLang="zh-CN" b="1">
                <a:solidFill>
                  <a:srgbClr val="000000"/>
                </a:solidFill>
                <a:latin typeface="华文中宋"/>
                <a:ea typeface="华文中宋"/>
                <a:cs typeface="华文中宋"/>
              </a:rPr>
              <a:t>§8-1 </a:t>
            </a:r>
            <a:r>
              <a:rPr lang="zh-CN" altLang="en-US" b="1">
                <a:solidFill>
                  <a:srgbClr val="000000"/>
                </a:solidFill>
                <a:latin typeface="华文中宋"/>
                <a:ea typeface="华文中宋"/>
                <a:cs typeface="华文中宋"/>
              </a:rPr>
              <a:t>内能 功和热量 准静态过程</a:t>
            </a:r>
          </a:p>
        </p:txBody>
      </p:sp>
      <p:sp>
        <p:nvSpPr>
          <p:cNvPr id="52227" name="Rectangle 6">
            <a:hlinkClick r:id="rId5" action="ppaction://hlinksldjump" highlightClick="1">
              <a:snd r:embed="rId3" name="camera.wav"/>
            </a:hlinkClick>
          </p:cNvPr>
          <p:cNvSpPr>
            <a:spLocks noChangeArrowheads="1"/>
          </p:cNvSpPr>
          <p:nvPr/>
        </p:nvSpPr>
        <p:spPr bwMode="auto">
          <a:xfrm>
            <a:off x="2105025" y="1419225"/>
            <a:ext cx="3762375" cy="369888"/>
          </a:xfrm>
          <a:prstGeom prst="rect">
            <a:avLst/>
          </a:prstGeom>
          <a:noFill/>
          <a:ln w="9525">
            <a:noFill/>
            <a:miter lim="800000"/>
            <a:headEnd/>
            <a:tailEnd/>
          </a:ln>
        </p:spPr>
        <p:txBody>
          <a:bodyPr>
            <a:spAutoFit/>
          </a:bodyPr>
          <a:lstStyle/>
          <a:p>
            <a:r>
              <a:rPr lang="en-US" altLang="zh-CN" b="1">
                <a:solidFill>
                  <a:srgbClr val="000000"/>
                </a:solidFill>
                <a:latin typeface="华文中宋"/>
                <a:ea typeface="华文中宋"/>
                <a:cs typeface="华文中宋"/>
              </a:rPr>
              <a:t>§8-2 </a:t>
            </a:r>
            <a:r>
              <a:rPr lang="zh-CN" altLang="en-US" b="1">
                <a:solidFill>
                  <a:srgbClr val="000000"/>
                </a:solidFill>
                <a:latin typeface="华文中宋"/>
                <a:ea typeface="华文中宋"/>
                <a:cs typeface="华文中宋"/>
              </a:rPr>
              <a:t>热力学第一定律</a:t>
            </a:r>
          </a:p>
        </p:txBody>
      </p:sp>
      <p:sp>
        <p:nvSpPr>
          <p:cNvPr id="52228" name="Rectangle 7">
            <a:hlinkClick r:id="rId6" action="ppaction://hlinksldjump" highlightClick="1">
              <a:snd r:embed="rId3" name="camera.wav"/>
            </a:hlinkClick>
          </p:cNvPr>
          <p:cNvSpPr>
            <a:spLocks noChangeArrowheads="1"/>
          </p:cNvSpPr>
          <p:nvPr/>
        </p:nvSpPr>
        <p:spPr bwMode="auto">
          <a:xfrm>
            <a:off x="2105025" y="2271713"/>
            <a:ext cx="3238500" cy="369887"/>
          </a:xfrm>
          <a:prstGeom prst="rect">
            <a:avLst/>
          </a:prstGeom>
          <a:noFill/>
          <a:ln w="9525">
            <a:noFill/>
            <a:miter lim="800000"/>
            <a:headEnd/>
            <a:tailEnd/>
          </a:ln>
        </p:spPr>
        <p:txBody>
          <a:bodyPr>
            <a:spAutoFit/>
          </a:bodyPr>
          <a:lstStyle/>
          <a:p>
            <a:r>
              <a:rPr lang="en-US" altLang="zh-CN" b="1">
                <a:solidFill>
                  <a:srgbClr val="000000"/>
                </a:solidFill>
                <a:latin typeface="华文中宋"/>
                <a:ea typeface="华文中宋"/>
                <a:cs typeface="华文中宋"/>
              </a:rPr>
              <a:t>§8-4 </a:t>
            </a:r>
            <a:r>
              <a:rPr lang="zh-CN" altLang="en-US" b="1">
                <a:solidFill>
                  <a:srgbClr val="000000"/>
                </a:solidFill>
                <a:latin typeface="华文中宋"/>
                <a:ea typeface="华文中宋"/>
                <a:cs typeface="华文中宋"/>
              </a:rPr>
              <a:t>绝热过程</a:t>
            </a:r>
          </a:p>
        </p:txBody>
      </p:sp>
      <p:sp>
        <p:nvSpPr>
          <p:cNvPr id="52229" name="Rectangle 8">
            <a:hlinkClick r:id="rId7" action="ppaction://hlinksldjump" highlightClick="1">
              <a:snd r:embed="rId3" name="camera.wav"/>
            </a:hlinkClick>
          </p:cNvPr>
          <p:cNvSpPr>
            <a:spLocks noChangeArrowheads="1"/>
          </p:cNvSpPr>
          <p:nvPr/>
        </p:nvSpPr>
        <p:spPr bwMode="auto">
          <a:xfrm>
            <a:off x="2105025" y="2705100"/>
            <a:ext cx="3238500" cy="368300"/>
          </a:xfrm>
          <a:prstGeom prst="rect">
            <a:avLst/>
          </a:prstGeom>
          <a:noFill/>
          <a:ln w="9525">
            <a:noFill/>
            <a:miter lim="800000"/>
            <a:headEnd/>
            <a:tailEnd/>
          </a:ln>
        </p:spPr>
        <p:txBody>
          <a:bodyPr>
            <a:spAutoFit/>
          </a:bodyPr>
          <a:lstStyle/>
          <a:p>
            <a:r>
              <a:rPr lang="en-US" altLang="zh-CN" b="1">
                <a:solidFill>
                  <a:srgbClr val="000000"/>
                </a:solidFill>
                <a:latin typeface="华文中宋"/>
                <a:ea typeface="华文中宋"/>
                <a:cs typeface="华文中宋"/>
              </a:rPr>
              <a:t>§8-5 </a:t>
            </a:r>
            <a:r>
              <a:rPr lang="zh-CN" altLang="en-US" b="1">
                <a:solidFill>
                  <a:srgbClr val="000000"/>
                </a:solidFill>
                <a:latin typeface="华文中宋"/>
                <a:ea typeface="华文中宋"/>
                <a:cs typeface="华文中宋"/>
              </a:rPr>
              <a:t>循环过程 卡诺循环</a:t>
            </a:r>
          </a:p>
        </p:txBody>
      </p:sp>
      <p:sp>
        <p:nvSpPr>
          <p:cNvPr id="52230" name="Rectangle 9">
            <a:hlinkClick r:id="rId8" action="ppaction://hlinksldjump" highlightClick="1">
              <a:snd r:embed="rId3" name="camera.wav"/>
            </a:hlinkClick>
          </p:cNvPr>
          <p:cNvSpPr>
            <a:spLocks noChangeArrowheads="1"/>
          </p:cNvSpPr>
          <p:nvPr/>
        </p:nvSpPr>
        <p:spPr bwMode="auto">
          <a:xfrm>
            <a:off x="2105025" y="3133725"/>
            <a:ext cx="3238500" cy="369888"/>
          </a:xfrm>
          <a:prstGeom prst="rect">
            <a:avLst/>
          </a:prstGeom>
          <a:noFill/>
          <a:ln w="9525">
            <a:noFill/>
            <a:miter lim="800000"/>
            <a:headEnd/>
            <a:tailEnd/>
          </a:ln>
        </p:spPr>
        <p:txBody>
          <a:bodyPr>
            <a:spAutoFit/>
          </a:bodyPr>
          <a:lstStyle/>
          <a:p>
            <a:r>
              <a:rPr kumimoji="1" lang="en-US" altLang="zh-CN" b="1">
                <a:solidFill>
                  <a:srgbClr val="000000"/>
                </a:solidFill>
                <a:latin typeface="华文中宋"/>
                <a:ea typeface="华文中宋"/>
                <a:cs typeface="华文中宋"/>
              </a:rPr>
              <a:t>§8-6 </a:t>
            </a:r>
            <a:r>
              <a:rPr kumimoji="1" lang="zh-CN" altLang="en-US" b="1">
                <a:solidFill>
                  <a:srgbClr val="000000"/>
                </a:solidFill>
                <a:latin typeface="华文中宋"/>
                <a:ea typeface="华文中宋"/>
                <a:cs typeface="华文中宋"/>
              </a:rPr>
              <a:t>热力学第二定律</a:t>
            </a:r>
          </a:p>
        </p:txBody>
      </p:sp>
      <p:sp>
        <p:nvSpPr>
          <p:cNvPr id="52231" name="Rectangle 10">
            <a:hlinkClick r:id="rId9" action="ppaction://hlinksldjump" highlightClick="1">
              <a:snd r:embed="rId3" name="camera.wav"/>
            </a:hlinkClick>
          </p:cNvPr>
          <p:cNvSpPr>
            <a:spLocks noChangeArrowheads="1"/>
          </p:cNvSpPr>
          <p:nvPr/>
        </p:nvSpPr>
        <p:spPr bwMode="auto">
          <a:xfrm>
            <a:off x="2119313" y="4065588"/>
            <a:ext cx="4324350" cy="368300"/>
          </a:xfrm>
          <a:prstGeom prst="rect">
            <a:avLst/>
          </a:prstGeom>
          <a:noFill/>
          <a:ln w="9525">
            <a:noFill/>
            <a:miter lim="800000"/>
            <a:headEnd/>
            <a:tailEnd/>
          </a:ln>
        </p:spPr>
        <p:txBody>
          <a:bodyPr>
            <a:spAutoFit/>
          </a:bodyPr>
          <a:lstStyle/>
          <a:p>
            <a:r>
              <a:rPr lang="en-US" altLang="zh-CN" b="1">
                <a:solidFill>
                  <a:srgbClr val="000000"/>
                </a:solidFill>
                <a:latin typeface="华文中宋"/>
                <a:ea typeface="华文中宋"/>
                <a:cs typeface="华文中宋"/>
              </a:rPr>
              <a:t>§8-8 </a:t>
            </a:r>
            <a:r>
              <a:rPr kumimoji="1" lang="zh-CN" altLang="en-US" b="1">
                <a:solidFill>
                  <a:srgbClr val="000000"/>
                </a:solidFill>
                <a:latin typeface="Times New Roman" pitchFamily="18" charset="0"/>
                <a:ea typeface="华文中宋"/>
                <a:cs typeface="华文中宋"/>
              </a:rPr>
              <a:t>热二定律的统计意义 玻尔兹曼</a:t>
            </a:r>
            <a:r>
              <a:rPr lang="zh-CN" altLang="en-US" b="1">
                <a:solidFill>
                  <a:srgbClr val="000000"/>
                </a:solidFill>
                <a:latin typeface="Times New Roman" pitchFamily="18" charset="0"/>
                <a:ea typeface="华文中宋"/>
                <a:cs typeface="华文中宋"/>
              </a:rPr>
              <a:t>熵</a:t>
            </a:r>
            <a:endParaRPr lang="zh-CN" altLang="en-US" b="1">
              <a:solidFill>
                <a:srgbClr val="000000"/>
              </a:solidFill>
              <a:latin typeface="华文中宋"/>
              <a:ea typeface="华文中宋"/>
              <a:cs typeface="华文中宋"/>
            </a:endParaRPr>
          </a:p>
        </p:txBody>
      </p:sp>
      <p:sp>
        <p:nvSpPr>
          <p:cNvPr id="52232" name="Rectangle 11">
            <a:hlinkClick r:id="rId10" action="ppaction://hlinksldjump" highlightClick="1">
              <a:snd r:embed="rId3" name="camera.wav"/>
            </a:hlinkClick>
          </p:cNvPr>
          <p:cNvSpPr>
            <a:spLocks noChangeArrowheads="1"/>
          </p:cNvSpPr>
          <p:nvPr/>
        </p:nvSpPr>
        <p:spPr bwMode="auto">
          <a:xfrm>
            <a:off x="2128838" y="1839913"/>
            <a:ext cx="3451225" cy="369887"/>
          </a:xfrm>
          <a:prstGeom prst="rect">
            <a:avLst/>
          </a:prstGeom>
          <a:noFill/>
          <a:ln w="9525">
            <a:noFill/>
            <a:miter lim="800000"/>
            <a:headEnd/>
            <a:tailEnd/>
          </a:ln>
        </p:spPr>
        <p:txBody>
          <a:bodyPr>
            <a:spAutoFit/>
          </a:bodyPr>
          <a:lstStyle/>
          <a:p>
            <a:r>
              <a:rPr lang="en-US" altLang="zh-CN" b="1">
                <a:solidFill>
                  <a:srgbClr val="000000"/>
                </a:solidFill>
                <a:latin typeface="华文中宋"/>
                <a:ea typeface="华文中宋"/>
                <a:cs typeface="华文中宋"/>
              </a:rPr>
              <a:t>§8-3 </a:t>
            </a:r>
            <a:r>
              <a:rPr lang="zh-CN" altLang="en-US" b="1">
                <a:solidFill>
                  <a:srgbClr val="000000"/>
                </a:solidFill>
                <a:latin typeface="华文中宋"/>
                <a:ea typeface="华文中宋"/>
                <a:cs typeface="华文中宋"/>
              </a:rPr>
              <a:t>气体的摩尔热容量</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Box 19"/>
          <p:cNvSpPr txBox="1">
            <a:spLocks noChangeArrowheads="1"/>
          </p:cNvSpPr>
          <p:nvPr/>
        </p:nvSpPr>
        <p:spPr bwMode="auto">
          <a:xfrm>
            <a:off x="682625" y="1266825"/>
            <a:ext cx="8281988" cy="368300"/>
          </a:xfrm>
          <a:prstGeom prst="rect">
            <a:avLst/>
          </a:prstGeom>
          <a:noFill/>
          <a:ln w="9525">
            <a:noFill/>
            <a:miter lim="800000"/>
            <a:headEnd/>
            <a:tailEnd/>
          </a:ln>
        </p:spPr>
        <p:txBody>
          <a:bodyPr anchor="ctr">
            <a:spAutoFit/>
          </a:bodyPr>
          <a:lstStyle/>
          <a:p>
            <a:r>
              <a:rPr kumimoji="1" lang="zh-CN" altLang="en-US" b="1">
                <a:solidFill>
                  <a:srgbClr val="C0504D"/>
                </a:solidFill>
                <a:latin typeface="华文中宋"/>
                <a:ea typeface="华文中宋"/>
                <a:cs typeface="华文中宋"/>
              </a:rPr>
              <a:t>气体动理论：</a:t>
            </a:r>
            <a:r>
              <a:rPr lang="zh-CN" altLang="en-US" b="1">
                <a:solidFill>
                  <a:srgbClr val="000000"/>
                </a:solidFill>
                <a:latin typeface="Times New Roman" pitchFamily="18" charset="0"/>
                <a:ea typeface="华文中宋"/>
                <a:cs typeface="华文中宋"/>
              </a:rPr>
              <a:t>内能是指分子的热运动动能和分子势能之总和</a:t>
            </a:r>
            <a:endParaRPr lang="zh-CN" altLang="en-US" b="1">
              <a:solidFill>
                <a:srgbClr val="000000"/>
              </a:solidFill>
              <a:latin typeface="华文中宋"/>
              <a:ea typeface="华文中宋"/>
              <a:cs typeface="华文中宋"/>
            </a:endParaRPr>
          </a:p>
        </p:txBody>
      </p:sp>
      <p:sp>
        <p:nvSpPr>
          <p:cNvPr id="13" name="Text Box 25"/>
          <p:cNvSpPr txBox="1">
            <a:spLocks noChangeArrowheads="1"/>
          </p:cNvSpPr>
          <p:nvPr/>
        </p:nvSpPr>
        <p:spPr bwMode="auto">
          <a:xfrm>
            <a:off x="2051050" y="1587500"/>
            <a:ext cx="4833938" cy="368300"/>
          </a:xfrm>
          <a:prstGeom prst="rect">
            <a:avLst/>
          </a:prstGeom>
          <a:noFill/>
          <a:ln w="9525">
            <a:noFill/>
            <a:miter lim="800000"/>
            <a:headEnd/>
            <a:tailEnd/>
          </a:ln>
        </p:spPr>
        <p:txBody>
          <a:bodyPr anchor="ctr">
            <a:spAutoFit/>
          </a:bodyPr>
          <a:lstStyle/>
          <a:p>
            <a:r>
              <a:rPr kumimoji="1" lang="zh-CN" altLang="en-US" b="1">
                <a:solidFill>
                  <a:srgbClr val="000000"/>
                </a:solidFill>
                <a:latin typeface="华文中宋"/>
                <a:ea typeface="华文中宋"/>
                <a:cs typeface="华文中宋"/>
              </a:rPr>
              <a:t>内能是状态量： </a:t>
            </a:r>
            <a:r>
              <a:rPr kumimoji="1" lang="en-US" altLang="zh-CN" b="1" i="1">
                <a:solidFill>
                  <a:srgbClr val="000000"/>
                </a:solidFill>
                <a:latin typeface="Times New Roman" pitchFamily="18" charset="0"/>
                <a:ea typeface="华文中宋"/>
                <a:cs typeface="华文中宋"/>
              </a:rPr>
              <a:t>E = E</a:t>
            </a:r>
            <a:r>
              <a:rPr kumimoji="1" lang="en-US" altLang="zh-CN" b="1">
                <a:solidFill>
                  <a:srgbClr val="000000"/>
                </a:solidFill>
                <a:latin typeface="Times New Roman" pitchFamily="18" charset="0"/>
                <a:ea typeface="华文中宋"/>
                <a:cs typeface="华文中宋"/>
              </a:rPr>
              <a:t>(</a:t>
            </a:r>
            <a:r>
              <a:rPr kumimoji="1" lang="en-US" altLang="zh-CN" b="1" i="1">
                <a:solidFill>
                  <a:srgbClr val="000000"/>
                </a:solidFill>
                <a:latin typeface="Times New Roman" pitchFamily="18" charset="0"/>
                <a:ea typeface="华文中宋"/>
                <a:cs typeface="华文中宋"/>
              </a:rPr>
              <a:t>T,V</a:t>
            </a:r>
            <a:r>
              <a:rPr kumimoji="1" lang="en-US" altLang="zh-CN" b="1">
                <a:solidFill>
                  <a:srgbClr val="000000"/>
                </a:solidFill>
                <a:latin typeface="Times New Roman" pitchFamily="18" charset="0"/>
                <a:ea typeface="华文中宋"/>
                <a:cs typeface="华文中宋"/>
              </a:rPr>
              <a:t> ) </a:t>
            </a:r>
          </a:p>
        </p:txBody>
      </p:sp>
      <p:sp>
        <p:nvSpPr>
          <p:cNvPr id="14" name="Rectangle 26"/>
          <p:cNvSpPr>
            <a:spLocks noChangeArrowheads="1"/>
          </p:cNvSpPr>
          <p:nvPr/>
        </p:nvSpPr>
        <p:spPr bwMode="auto">
          <a:xfrm>
            <a:off x="2052638" y="1984375"/>
            <a:ext cx="2317750" cy="369888"/>
          </a:xfrm>
          <a:prstGeom prst="rect">
            <a:avLst/>
          </a:prstGeom>
          <a:noFill/>
          <a:ln w="9525">
            <a:noFill/>
            <a:miter lim="800000"/>
            <a:headEnd/>
            <a:tailEnd/>
          </a:ln>
        </p:spPr>
        <p:txBody>
          <a:bodyPr lIns="92075" tIns="46038" rIns="92075" bIns="46038">
            <a:spAutoFit/>
          </a:bodyPr>
          <a:lstStyle/>
          <a:p>
            <a:pPr eaLnBrk="0" hangingPunct="0"/>
            <a:r>
              <a:rPr kumimoji="1" lang="zh-CN" altLang="en-US" b="1">
                <a:solidFill>
                  <a:srgbClr val="000000"/>
                </a:solidFill>
                <a:latin typeface="华文中宋"/>
                <a:ea typeface="华文中宋"/>
                <a:cs typeface="华文中宋"/>
              </a:rPr>
              <a:t>理想气体内能：</a:t>
            </a:r>
          </a:p>
        </p:txBody>
      </p:sp>
      <p:graphicFrame>
        <p:nvGraphicFramePr>
          <p:cNvPr id="2" name="Object 24"/>
          <p:cNvGraphicFramePr>
            <a:graphicFrameLocks noChangeAspect="1"/>
          </p:cNvGraphicFramePr>
          <p:nvPr/>
        </p:nvGraphicFramePr>
        <p:xfrm>
          <a:off x="3767138" y="1924050"/>
          <a:ext cx="1641475" cy="549275"/>
        </p:xfrm>
        <a:graphic>
          <a:graphicData uri="http://schemas.openxmlformats.org/presentationml/2006/ole">
            <p:oleObj spid="_x0000_s1048" name="Equation" r:id="rId3" imgW="965200" imgH="431800" progId="Equation.DSMT4">
              <p:embed/>
            </p:oleObj>
          </a:graphicData>
        </a:graphic>
      </p:graphicFrame>
      <p:sp>
        <p:nvSpPr>
          <p:cNvPr id="3" name="Rectangle 26"/>
          <p:cNvSpPr>
            <a:spLocks noChangeArrowheads="1"/>
          </p:cNvSpPr>
          <p:nvPr/>
        </p:nvSpPr>
        <p:spPr bwMode="auto">
          <a:xfrm>
            <a:off x="5567363" y="1968500"/>
            <a:ext cx="2317750" cy="369888"/>
          </a:xfrm>
          <a:prstGeom prst="rect">
            <a:avLst/>
          </a:prstGeom>
          <a:noFill/>
          <a:ln w="9525">
            <a:noFill/>
            <a:miter lim="800000"/>
            <a:headEnd/>
            <a:tailEnd/>
          </a:ln>
        </p:spPr>
        <p:txBody>
          <a:bodyPr lIns="92075" tIns="46038" rIns="92075" bIns="46038">
            <a:spAutoFit/>
          </a:bodyPr>
          <a:lstStyle/>
          <a:p>
            <a:pPr eaLnBrk="0" hangingPunct="0"/>
            <a:r>
              <a:rPr kumimoji="1" lang="zh-CN" altLang="en-US" b="1">
                <a:solidFill>
                  <a:srgbClr val="000000"/>
                </a:solidFill>
                <a:latin typeface="华文中宋"/>
                <a:ea typeface="华文中宋"/>
                <a:cs typeface="华文中宋"/>
              </a:rPr>
              <a:t>温度的单值函数</a:t>
            </a:r>
          </a:p>
        </p:txBody>
      </p:sp>
      <p:sp>
        <p:nvSpPr>
          <p:cNvPr id="14598" name="Rectangle 1286"/>
          <p:cNvSpPr>
            <a:spLocks noChangeArrowheads="1"/>
          </p:cNvSpPr>
          <p:nvPr/>
        </p:nvSpPr>
        <p:spPr bwMode="auto">
          <a:xfrm>
            <a:off x="755650" y="2571750"/>
            <a:ext cx="2592388" cy="646113"/>
          </a:xfrm>
          <a:prstGeom prst="rect">
            <a:avLst/>
          </a:prstGeom>
          <a:noFill/>
          <a:ln w="9525">
            <a:noFill/>
            <a:miter lim="800000"/>
            <a:headEnd/>
            <a:tailEnd/>
          </a:ln>
        </p:spPr>
        <p:txBody>
          <a:bodyPr>
            <a:spAutoFit/>
          </a:bodyPr>
          <a:lstStyle/>
          <a:p>
            <a:r>
              <a:rPr lang="zh-CN" altLang="en-US" b="1">
                <a:solidFill>
                  <a:srgbClr val="000000"/>
                </a:solidFill>
                <a:latin typeface="Times New Roman" pitchFamily="18" charset="0"/>
                <a:ea typeface="华文中宋"/>
                <a:cs typeface="华文中宋"/>
              </a:rPr>
              <a:t>热力学系统状态改变的</a:t>
            </a:r>
            <a:endParaRPr lang="en-US" altLang="zh-CN" b="1">
              <a:solidFill>
                <a:srgbClr val="000000"/>
              </a:solidFill>
              <a:latin typeface="Times New Roman" pitchFamily="18" charset="0"/>
              <a:ea typeface="华文中宋"/>
              <a:cs typeface="华文中宋"/>
            </a:endParaRPr>
          </a:p>
          <a:p>
            <a:r>
              <a:rPr lang="zh-CN" altLang="en-US" b="1">
                <a:solidFill>
                  <a:srgbClr val="000000"/>
                </a:solidFill>
                <a:latin typeface="Times New Roman" pitchFamily="18" charset="0"/>
                <a:ea typeface="华文中宋"/>
                <a:cs typeface="华文中宋"/>
              </a:rPr>
              <a:t>两种方式：</a:t>
            </a:r>
            <a:r>
              <a:rPr lang="zh-CN" altLang="en-US" b="1">
                <a:solidFill>
                  <a:srgbClr val="C0504D"/>
                </a:solidFill>
                <a:latin typeface="Times New Roman" pitchFamily="18" charset="0"/>
                <a:ea typeface="华文中宋"/>
                <a:cs typeface="华文中宋"/>
              </a:rPr>
              <a:t>做功与传热</a:t>
            </a:r>
          </a:p>
        </p:txBody>
      </p:sp>
      <p:sp>
        <p:nvSpPr>
          <p:cNvPr id="35" name="Text Box 163"/>
          <p:cNvSpPr txBox="1">
            <a:spLocks noChangeArrowheads="1"/>
          </p:cNvSpPr>
          <p:nvPr/>
        </p:nvSpPr>
        <p:spPr bwMode="auto">
          <a:xfrm>
            <a:off x="3649663" y="2674938"/>
            <a:ext cx="1768475" cy="582612"/>
          </a:xfrm>
          <a:prstGeom prst="rect">
            <a:avLst/>
          </a:prstGeom>
          <a:noFill/>
          <a:ln w="9525">
            <a:solidFill>
              <a:srgbClr val="A50021"/>
            </a:solidFill>
            <a:miter lim="800000"/>
            <a:headEnd/>
            <a:tailEnd/>
          </a:ln>
        </p:spPr>
        <p:txBody>
          <a:bodyPr anchor="ctr">
            <a:spAutoFit/>
          </a:bodyPr>
          <a:lstStyle/>
          <a:p>
            <a:pPr algn="ctr">
              <a:lnSpc>
                <a:spcPct val="110000"/>
              </a:lnSpc>
            </a:pPr>
            <a:r>
              <a:rPr kumimoji="1" lang="zh-CN" altLang="en-US" sz="1500" b="1">
                <a:solidFill>
                  <a:srgbClr val="000000"/>
                </a:solidFill>
                <a:latin typeface="Times New Roman" pitchFamily="18" charset="0"/>
                <a:ea typeface="华文中宋"/>
                <a:cs typeface="华文中宋"/>
              </a:rPr>
              <a:t>分子规则</a:t>
            </a:r>
          </a:p>
          <a:p>
            <a:pPr algn="ctr">
              <a:lnSpc>
                <a:spcPct val="110000"/>
              </a:lnSpc>
            </a:pPr>
            <a:r>
              <a:rPr kumimoji="1" lang="zh-CN" altLang="en-US" sz="1500" b="1">
                <a:solidFill>
                  <a:srgbClr val="000000"/>
                </a:solidFill>
                <a:latin typeface="Times New Roman" pitchFamily="18" charset="0"/>
                <a:ea typeface="华文中宋"/>
                <a:cs typeface="华文中宋"/>
              </a:rPr>
              <a:t>运动能量</a:t>
            </a:r>
          </a:p>
        </p:txBody>
      </p:sp>
      <p:sp>
        <p:nvSpPr>
          <p:cNvPr id="39" name="Text Box 167"/>
          <p:cNvSpPr txBox="1">
            <a:spLocks noChangeArrowheads="1"/>
          </p:cNvSpPr>
          <p:nvPr/>
        </p:nvSpPr>
        <p:spPr bwMode="auto">
          <a:xfrm>
            <a:off x="7096125" y="2674938"/>
            <a:ext cx="1795463" cy="582612"/>
          </a:xfrm>
          <a:prstGeom prst="rect">
            <a:avLst/>
          </a:prstGeom>
          <a:noFill/>
          <a:ln w="9525">
            <a:solidFill>
              <a:srgbClr val="A50021"/>
            </a:solidFill>
            <a:miter lim="800000"/>
            <a:headEnd/>
            <a:tailEnd/>
          </a:ln>
        </p:spPr>
        <p:txBody>
          <a:bodyPr anchor="ctr">
            <a:spAutoFit/>
          </a:bodyPr>
          <a:lstStyle/>
          <a:p>
            <a:pPr algn="ctr">
              <a:lnSpc>
                <a:spcPct val="110000"/>
              </a:lnSpc>
            </a:pPr>
            <a:r>
              <a:rPr kumimoji="1" lang="zh-CN" altLang="en-US" sz="1500" b="1">
                <a:solidFill>
                  <a:srgbClr val="000000"/>
                </a:solidFill>
                <a:latin typeface="Times New Roman" pitchFamily="18" charset="0"/>
                <a:ea typeface="华文中宋"/>
                <a:cs typeface="华文中宋"/>
              </a:rPr>
              <a:t>分子无规则</a:t>
            </a:r>
            <a:endParaRPr kumimoji="1" lang="en-US" altLang="zh-CN" sz="1500" b="1">
              <a:solidFill>
                <a:srgbClr val="000000"/>
              </a:solidFill>
              <a:latin typeface="Times New Roman" pitchFamily="18" charset="0"/>
              <a:ea typeface="华文中宋"/>
              <a:cs typeface="华文中宋"/>
            </a:endParaRPr>
          </a:p>
          <a:p>
            <a:pPr algn="ctr">
              <a:lnSpc>
                <a:spcPct val="110000"/>
              </a:lnSpc>
            </a:pPr>
            <a:r>
              <a:rPr kumimoji="1" lang="zh-CN" altLang="en-US" sz="1500" b="1">
                <a:solidFill>
                  <a:srgbClr val="000000"/>
                </a:solidFill>
                <a:latin typeface="Times New Roman" pitchFamily="18" charset="0"/>
                <a:ea typeface="华文中宋"/>
                <a:cs typeface="华文中宋"/>
              </a:rPr>
              <a:t>运动的能量</a:t>
            </a:r>
          </a:p>
        </p:txBody>
      </p:sp>
      <p:sp>
        <p:nvSpPr>
          <p:cNvPr id="50" name="Text Box 183"/>
          <p:cNvSpPr txBox="1">
            <a:spLocks noChangeArrowheads="1"/>
          </p:cNvSpPr>
          <p:nvPr/>
        </p:nvSpPr>
        <p:spPr bwMode="auto">
          <a:xfrm>
            <a:off x="3622675" y="3578225"/>
            <a:ext cx="1833563" cy="582613"/>
          </a:xfrm>
          <a:prstGeom prst="rect">
            <a:avLst/>
          </a:prstGeom>
          <a:noFill/>
          <a:ln w="9525">
            <a:solidFill>
              <a:srgbClr val="A50021"/>
            </a:solidFill>
            <a:miter lim="800000"/>
            <a:headEnd/>
            <a:tailEnd/>
          </a:ln>
        </p:spPr>
        <p:txBody>
          <a:bodyPr anchor="ctr">
            <a:spAutoFit/>
          </a:bodyPr>
          <a:lstStyle/>
          <a:p>
            <a:pPr algn="ctr">
              <a:lnSpc>
                <a:spcPct val="110000"/>
              </a:lnSpc>
            </a:pPr>
            <a:r>
              <a:rPr kumimoji="1" lang="zh-CN" altLang="en-US" sz="1500" b="1">
                <a:solidFill>
                  <a:srgbClr val="000000"/>
                </a:solidFill>
                <a:latin typeface="Times New Roman" pitchFamily="18" charset="0"/>
                <a:ea typeface="华文中宋"/>
                <a:cs typeface="华文中宋"/>
              </a:rPr>
              <a:t>分子无规则</a:t>
            </a:r>
            <a:endParaRPr kumimoji="1" lang="en-US" altLang="zh-CN" sz="1500" b="1">
              <a:solidFill>
                <a:srgbClr val="000000"/>
              </a:solidFill>
              <a:latin typeface="Times New Roman" pitchFamily="18" charset="0"/>
              <a:ea typeface="华文中宋"/>
              <a:cs typeface="华文中宋"/>
            </a:endParaRPr>
          </a:p>
          <a:p>
            <a:pPr algn="ctr">
              <a:lnSpc>
                <a:spcPct val="110000"/>
              </a:lnSpc>
            </a:pPr>
            <a:r>
              <a:rPr kumimoji="1" lang="zh-CN" altLang="en-US" sz="1500" b="1">
                <a:solidFill>
                  <a:srgbClr val="000000"/>
                </a:solidFill>
                <a:latin typeface="Times New Roman" pitchFamily="18" charset="0"/>
                <a:ea typeface="华文中宋"/>
                <a:cs typeface="华文中宋"/>
              </a:rPr>
              <a:t>运动的能量</a:t>
            </a:r>
          </a:p>
        </p:txBody>
      </p:sp>
      <p:sp>
        <p:nvSpPr>
          <p:cNvPr id="57" name="Rectangle 189"/>
          <p:cNvSpPr>
            <a:spLocks noChangeArrowheads="1"/>
          </p:cNvSpPr>
          <p:nvPr/>
        </p:nvSpPr>
        <p:spPr bwMode="auto">
          <a:xfrm>
            <a:off x="7091363" y="3541713"/>
            <a:ext cx="1822450" cy="582612"/>
          </a:xfrm>
          <a:prstGeom prst="rect">
            <a:avLst/>
          </a:prstGeom>
          <a:noFill/>
          <a:ln w="9525">
            <a:solidFill>
              <a:srgbClr val="A50021"/>
            </a:solidFill>
            <a:miter lim="800000"/>
            <a:headEnd/>
            <a:tailEnd/>
          </a:ln>
        </p:spPr>
        <p:txBody>
          <a:bodyPr>
            <a:spAutoFit/>
          </a:bodyPr>
          <a:lstStyle/>
          <a:p>
            <a:pPr algn="ctr">
              <a:lnSpc>
                <a:spcPct val="110000"/>
              </a:lnSpc>
            </a:pPr>
            <a:r>
              <a:rPr kumimoji="1" lang="zh-CN" altLang="en-US" sz="1500" b="1">
                <a:solidFill>
                  <a:srgbClr val="000000"/>
                </a:solidFill>
                <a:latin typeface="Times New Roman" pitchFamily="18" charset="0"/>
                <a:ea typeface="华文中宋"/>
                <a:cs typeface="华文中宋"/>
              </a:rPr>
              <a:t>分子无规则</a:t>
            </a:r>
            <a:endParaRPr kumimoji="1" lang="en-US" altLang="zh-CN" sz="1500" b="1">
              <a:solidFill>
                <a:srgbClr val="000000"/>
              </a:solidFill>
              <a:latin typeface="Times New Roman" pitchFamily="18" charset="0"/>
              <a:ea typeface="华文中宋"/>
              <a:cs typeface="华文中宋"/>
            </a:endParaRPr>
          </a:p>
          <a:p>
            <a:pPr algn="ctr">
              <a:lnSpc>
                <a:spcPct val="110000"/>
              </a:lnSpc>
            </a:pPr>
            <a:r>
              <a:rPr kumimoji="1" lang="zh-CN" altLang="en-US" sz="1500" b="1">
                <a:solidFill>
                  <a:srgbClr val="000000"/>
                </a:solidFill>
                <a:latin typeface="Times New Roman" pitchFamily="18" charset="0"/>
                <a:ea typeface="华文中宋"/>
                <a:cs typeface="华文中宋"/>
              </a:rPr>
              <a:t>运动的能量</a:t>
            </a:r>
          </a:p>
        </p:txBody>
      </p:sp>
      <p:grpSp>
        <p:nvGrpSpPr>
          <p:cNvPr id="5" name="Group 1311"/>
          <p:cNvGrpSpPr>
            <a:grpSpLocks/>
          </p:cNvGrpSpPr>
          <p:nvPr/>
        </p:nvGrpSpPr>
        <p:grpSpPr bwMode="auto">
          <a:xfrm>
            <a:off x="5435600" y="2662238"/>
            <a:ext cx="1655763" cy="652462"/>
            <a:chOff x="3243" y="2659"/>
            <a:chExt cx="1043" cy="548"/>
          </a:xfrm>
        </p:grpSpPr>
        <p:sp>
          <p:nvSpPr>
            <p:cNvPr id="1075" name="Text Box 165"/>
            <p:cNvSpPr txBox="1">
              <a:spLocks noChangeArrowheads="1"/>
            </p:cNvSpPr>
            <p:nvPr/>
          </p:nvSpPr>
          <p:spPr bwMode="auto">
            <a:xfrm>
              <a:off x="3470" y="2659"/>
              <a:ext cx="589" cy="276"/>
            </a:xfrm>
            <a:prstGeom prst="rect">
              <a:avLst/>
            </a:prstGeom>
            <a:noFill/>
            <a:ln w="9525">
              <a:noFill/>
              <a:miter lim="800000"/>
              <a:headEnd/>
              <a:tailEnd/>
            </a:ln>
          </p:spPr>
          <p:txBody>
            <a:bodyPr>
              <a:spAutoFit/>
            </a:bodyPr>
            <a:lstStyle/>
            <a:p>
              <a:pPr algn="ctr">
                <a:lnSpc>
                  <a:spcPct val="110000"/>
                </a:lnSpc>
              </a:pPr>
              <a:r>
                <a:rPr kumimoji="1" lang="zh-CN" altLang="en-US" sz="1500" b="1">
                  <a:solidFill>
                    <a:srgbClr val="FF0000"/>
                  </a:solidFill>
                  <a:latin typeface="Times New Roman" pitchFamily="18" charset="0"/>
                  <a:ea typeface="华文中宋"/>
                  <a:cs typeface="华文中宋"/>
                </a:rPr>
                <a:t>碰撞</a:t>
              </a:r>
            </a:p>
          </p:txBody>
        </p:sp>
        <p:sp>
          <p:nvSpPr>
            <p:cNvPr id="1076" name="AutoShape 1298"/>
            <p:cNvSpPr>
              <a:spLocks noChangeArrowheads="1"/>
            </p:cNvSpPr>
            <p:nvPr/>
          </p:nvSpPr>
          <p:spPr bwMode="auto">
            <a:xfrm>
              <a:off x="3243" y="2882"/>
              <a:ext cx="1043" cy="136"/>
            </a:xfrm>
            <a:prstGeom prst="leftRightArrow">
              <a:avLst>
                <a:gd name="adj1" fmla="val 50000"/>
                <a:gd name="adj2" fmla="val 153382"/>
              </a:avLst>
            </a:prstGeom>
            <a:solidFill>
              <a:schemeClr val="accent1"/>
            </a:solidFill>
            <a:ln w="9525">
              <a:solidFill>
                <a:schemeClr val="tx1"/>
              </a:solidFill>
              <a:miter lim="800000"/>
              <a:headEnd/>
              <a:tailEnd/>
            </a:ln>
          </p:spPr>
          <p:txBody>
            <a:bodyPr wrap="none" anchor="ctr"/>
            <a:lstStyle/>
            <a:p>
              <a:endParaRPr kumimoji="1" lang="zh-CN" altLang="en-US" sz="2400" b="1">
                <a:solidFill>
                  <a:srgbClr val="000000"/>
                </a:solidFill>
                <a:latin typeface="Times New Roman" pitchFamily="18" charset="0"/>
                <a:ea typeface="华文中宋"/>
                <a:cs typeface="华文中宋"/>
              </a:endParaRPr>
            </a:p>
          </p:txBody>
        </p:sp>
        <p:sp>
          <p:nvSpPr>
            <p:cNvPr id="1077" name="Rectangle 188"/>
            <p:cNvSpPr>
              <a:spLocks noChangeArrowheads="1"/>
            </p:cNvSpPr>
            <p:nvPr/>
          </p:nvSpPr>
          <p:spPr bwMode="auto">
            <a:xfrm>
              <a:off x="3288" y="2931"/>
              <a:ext cx="907" cy="276"/>
            </a:xfrm>
            <a:prstGeom prst="rect">
              <a:avLst/>
            </a:prstGeom>
            <a:noFill/>
            <a:ln w="9525">
              <a:noFill/>
              <a:miter lim="800000"/>
              <a:headEnd/>
              <a:tailEnd/>
            </a:ln>
          </p:spPr>
          <p:txBody>
            <a:bodyPr>
              <a:spAutoFit/>
            </a:bodyPr>
            <a:lstStyle/>
            <a:p>
              <a:pPr algn="ctr">
                <a:lnSpc>
                  <a:spcPct val="110000"/>
                </a:lnSpc>
              </a:pPr>
              <a:r>
                <a:rPr kumimoji="1" lang="zh-CN" altLang="en-US" sz="1500" b="1">
                  <a:solidFill>
                    <a:srgbClr val="0000FF"/>
                  </a:solidFill>
                  <a:latin typeface="Times New Roman" pitchFamily="18" charset="0"/>
                  <a:ea typeface="华文中宋"/>
                  <a:cs typeface="华文中宋"/>
                </a:rPr>
                <a:t>压强差</a:t>
              </a:r>
            </a:p>
          </p:txBody>
        </p:sp>
      </p:grpSp>
      <p:grpSp>
        <p:nvGrpSpPr>
          <p:cNvPr id="6" name="Group 1312"/>
          <p:cNvGrpSpPr>
            <a:grpSpLocks/>
          </p:cNvGrpSpPr>
          <p:nvPr/>
        </p:nvGrpSpPr>
        <p:grpSpPr bwMode="auto">
          <a:xfrm>
            <a:off x="5435600" y="3497263"/>
            <a:ext cx="1665288" cy="681037"/>
            <a:chOff x="3243" y="3361"/>
            <a:chExt cx="1049" cy="572"/>
          </a:xfrm>
        </p:grpSpPr>
        <p:sp>
          <p:nvSpPr>
            <p:cNvPr id="1072" name="Text Box 185"/>
            <p:cNvSpPr txBox="1">
              <a:spLocks noChangeArrowheads="1"/>
            </p:cNvSpPr>
            <p:nvPr/>
          </p:nvSpPr>
          <p:spPr bwMode="auto">
            <a:xfrm>
              <a:off x="3490" y="3361"/>
              <a:ext cx="579" cy="276"/>
            </a:xfrm>
            <a:prstGeom prst="rect">
              <a:avLst/>
            </a:prstGeom>
            <a:noFill/>
            <a:ln w="9525">
              <a:noFill/>
              <a:miter lim="800000"/>
              <a:headEnd/>
              <a:tailEnd/>
            </a:ln>
          </p:spPr>
          <p:txBody>
            <a:bodyPr>
              <a:spAutoFit/>
            </a:bodyPr>
            <a:lstStyle/>
            <a:p>
              <a:pPr algn="ctr">
                <a:lnSpc>
                  <a:spcPct val="110000"/>
                </a:lnSpc>
              </a:pPr>
              <a:r>
                <a:rPr kumimoji="1" lang="zh-CN" altLang="en-US" sz="1500" b="1">
                  <a:solidFill>
                    <a:srgbClr val="FF0000"/>
                  </a:solidFill>
                  <a:latin typeface="Times New Roman" pitchFamily="18" charset="0"/>
                  <a:ea typeface="华文中宋"/>
                  <a:cs typeface="华文中宋"/>
                </a:rPr>
                <a:t>碰撞</a:t>
              </a:r>
            </a:p>
          </p:txBody>
        </p:sp>
        <p:sp>
          <p:nvSpPr>
            <p:cNvPr id="1073" name="Rectangle 188"/>
            <p:cNvSpPr>
              <a:spLocks noChangeArrowheads="1"/>
            </p:cNvSpPr>
            <p:nvPr/>
          </p:nvSpPr>
          <p:spPr bwMode="auto">
            <a:xfrm>
              <a:off x="3243" y="3657"/>
              <a:ext cx="1049" cy="276"/>
            </a:xfrm>
            <a:prstGeom prst="rect">
              <a:avLst/>
            </a:prstGeom>
            <a:noFill/>
            <a:ln w="9525">
              <a:noFill/>
              <a:miter lim="800000"/>
              <a:headEnd/>
              <a:tailEnd/>
            </a:ln>
          </p:spPr>
          <p:txBody>
            <a:bodyPr>
              <a:spAutoFit/>
            </a:bodyPr>
            <a:lstStyle/>
            <a:p>
              <a:pPr algn="ctr">
                <a:lnSpc>
                  <a:spcPct val="110000"/>
                </a:lnSpc>
              </a:pPr>
              <a:r>
                <a:rPr kumimoji="1" lang="zh-CN" altLang="en-US" sz="1500" b="1">
                  <a:solidFill>
                    <a:srgbClr val="0000FF"/>
                  </a:solidFill>
                  <a:latin typeface="Times New Roman" pitchFamily="18" charset="0"/>
                  <a:ea typeface="华文中宋"/>
                  <a:cs typeface="华文中宋"/>
                </a:rPr>
                <a:t>温度差</a:t>
              </a:r>
            </a:p>
          </p:txBody>
        </p:sp>
        <p:sp>
          <p:nvSpPr>
            <p:cNvPr id="1074" name="AutoShape 1300"/>
            <p:cNvSpPr>
              <a:spLocks noChangeArrowheads="1"/>
            </p:cNvSpPr>
            <p:nvPr/>
          </p:nvSpPr>
          <p:spPr bwMode="auto">
            <a:xfrm>
              <a:off x="3243" y="3609"/>
              <a:ext cx="1043" cy="136"/>
            </a:xfrm>
            <a:prstGeom prst="leftRightArrow">
              <a:avLst>
                <a:gd name="adj1" fmla="val 50000"/>
                <a:gd name="adj2" fmla="val 153382"/>
              </a:avLst>
            </a:prstGeom>
            <a:solidFill>
              <a:schemeClr val="accent1"/>
            </a:solidFill>
            <a:ln w="9525">
              <a:solidFill>
                <a:schemeClr val="tx1"/>
              </a:solidFill>
              <a:miter lim="800000"/>
              <a:headEnd/>
              <a:tailEnd/>
            </a:ln>
          </p:spPr>
          <p:txBody>
            <a:bodyPr wrap="none" anchor="ctr"/>
            <a:lstStyle/>
            <a:p>
              <a:endParaRPr kumimoji="1" lang="zh-CN" altLang="en-US" sz="2400" b="1">
                <a:solidFill>
                  <a:srgbClr val="000000"/>
                </a:solidFill>
                <a:latin typeface="Times New Roman" pitchFamily="18" charset="0"/>
                <a:ea typeface="华文中宋"/>
                <a:cs typeface="华文中宋"/>
              </a:endParaRPr>
            </a:p>
          </p:txBody>
        </p:sp>
      </p:grpSp>
      <p:sp>
        <p:nvSpPr>
          <p:cNvPr id="14614" name="Rectangle 1302"/>
          <p:cNvSpPr>
            <a:spLocks noChangeArrowheads="1"/>
          </p:cNvSpPr>
          <p:nvPr/>
        </p:nvSpPr>
        <p:spPr bwMode="auto">
          <a:xfrm>
            <a:off x="4140200" y="4183063"/>
            <a:ext cx="793750" cy="323850"/>
          </a:xfrm>
          <a:prstGeom prst="rect">
            <a:avLst/>
          </a:prstGeom>
          <a:noFill/>
          <a:ln w="9525">
            <a:noFill/>
            <a:miter lim="800000"/>
            <a:headEnd/>
            <a:tailEnd/>
          </a:ln>
        </p:spPr>
        <p:txBody>
          <a:bodyPr>
            <a:spAutoFit/>
          </a:bodyPr>
          <a:lstStyle/>
          <a:p>
            <a:pPr algn="ctr"/>
            <a:r>
              <a:rPr lang="zh-CN" altLang="en-US" sz="1500" b="1">
                <a:solidFill>
                  <a:srgbClr val="FF00FF"/>
                </a:solidFill>
                <a:latin typeface="Times New Roman" pitchFamily="18" charset="0"/>
                <a:ea typeface="华文中宋"/>
                <a:cs typeface="华文中宋"/>
              </a:rPr>
              <a:t>外界</a:t>
            </a:r>
          </a:p>
        </p:txBody>
      </p:sp>
      <p:sp>
        <p:nvSpPr>
          <p:cNvPr id="14615" name="Rectangle 1303"/>
          <p:cNvSpPr>
            <a:spLocks noChangeArrowheads="1"/>
          </p:cNvSpPr>
          <p:nvPr/>
        </p:nvSpPr>
        <p:spPr bwMode="auto">
          <a:xfrm>
            <a:off x="7737475" y="4154488"/>
            <a:ext cx="793750" cy="323850"/>
          </a:xfrm>
          <a:prstGeom prst="rect">
            <a:avLst/>
          </a:prstGeom>
          <a:noFill/>
          <a:ln w="9525">
            <a:noFill/>
            <a:miter lim="800000"/>
            <a:headEnd/>
            <a:tailEnd/>
          </a:ln>
        </p:spPr>
        <p:txBody>
          <a:bodyPr>
            <a:spAutoFit/>
          </a:bodyPr>
          <a:lstStyle/>
          <a:p>
            <a:r>
              <a:rPr lang="zh-CN" altLang="en-US" sz="1500" b="1">
                <a:solidFill>
                  <a:srgbClr val="0000FF"/>
                </a:solidFill>
                <a:latin typeface="Times New Roman" pitchFamily="18" charset="0"/>
                <a:ea typeface="华文中宋"/>
                <a:cs typeface="华文中宋"/>
              </a:rPr>
              <a:t>系统</a:t>
            </a:r>
          </a:p>
        </p:txBody>
      </p:sp>
      <p:sp>
        <p:nvSpPr>
          <p:cNvPr id="14616" name="Rectangle 1304"/>
          <p:cNvSpPr>
            <a:spLocks noChangeArrowheads="1"/>
          </p:cNvSpPr>
          <p:nvPr/>
        </p:nvSpPr>
        <p:spPr bwMode="auto">
          <a:xfrm>
            <a:off x="2625725" y="4264025"/>
            <a:ext cx="793750" cy="323850"/>
          </a:xfrm>
          <a:prstGeom prst="rect">
            <a:avLst/>
          </a:prstGeom>
          <a:noFill/>
          <a:ln w="9525">
            <a:noFill/>
            <a:miter lim="800000"/>
            <a:headEnd/>
            <a:tailEnd/>
          </a:ln>
        </p:spPr>
        <p:txBody>
          <a:bodyPr>
            <a:spAutoFit/>
          </a:bodyPr>
          <a:lstStyle/>
          <a:p>
            <a:r>
              <a:rPr lang="zh-CN" altLang="en-US" sz="1500" b="1">
                <a:solidFill>
                  <a:srgbClr val="000000"/>
                </a:solidFill>
                <a:latin typeface="Times New Roman" pitchFamily="18" charset="0"/>
                <a:ea typeface="华文中宋"/>
                <a:cs typeface="华文中宋"/>
              </a:rPr>
              <a:t>传热</a:t>
            </a:r>
          </a:p>
        </p:txBody>
      </p:sp>
      <p:sp>
        <p:nvSpPr>
          <p:cNvPr id="14617" name="Rectangle 1305"/>
          <p:cNvSpPr>
            <a:spLocks noChangeArrowheads="1"/>
          </p:cNvSpPr>
          <p:nvPr/>
        </p:nvSpPr>
        <p:spPr bwMode="auto">
          <a:xfrm>
            <a:off x="2625725" y="3454400"/>
            <a:ext cx="793750" cy="323850"/>
          </a:xfrm>
          <a:prstGeom prst="rect">
            <a:avLst/>
          </a:prstGeom>
          <a:noFill/>
          <a:ln w="9525">
            <a:noFill/>
            <a:miter lim="800000"/>
            <a:headEnd/>
            <a:tailEnd/>
          </a:ln>
        </p:spPr>
        <p:txBody>
          <a:bodyPr>
            <a:spAutoFit/>
          </a:bodyPr>
          <a:lstStyle/>
          <a:p>
            <a:r>
              <a:rPr lang="zh-CN" altLang="en-US" sz="1500" b="1">
                <a:solidFill>
                  <a:srgbClr val="000000"/>
                </a:solidFill>
                <a:latin typeface="Times New Roman" pitchFamily="18" charset="0"/>
                <a:ea typeface="华文中宋"/>
                <a:cs typeface="华文中宋"/>
              </a:rPr>
              <a:t>做功</a:t>
            </a:r>
          </a:p>
        </p:txBody>
      </p:sp>
      <p:grpSp>
        <p:nvGrpSpPr>
          <p:cNvPr id="7" name="Group 1313"/>
          <p:cNvGrpSpPr>
            <a:grpSpLocks/>
          </p:cNvGrpSpPr>
          <p:nvPr/>
        </p:nvGrpSpPr>
        <p:grpSpPr bwMode="auto">
          <a:xfrm>
            <a:off x="849313" y="3616325"/>
            <a:ext cx="1704975" cy="865188"/>
            <a:chOff x="355" y="2970"/>
            <a:chExt cx="1074" cy="726"/>
          </a:xfrm>
        </p:grpSpPr>
        <p:sp>
          <p:nvSpPr>
            <p:cNvPr id="1070" name="Rectangle 1301"/>
            <p:cNvSpPr>
              <a:spLocks noChangeArrowheads="1"/>
            </p:cNvSpPr>
            <p:nvPr/>
          </p:nvSpPr>
          <p:spPr bwMode="auto">
            <a:xfrm>
              <a:off x="385" y="3112"/>
              <a:ext cx="884" cy="271"/>
            </a:xfrm>
            <a:prstGeom prst="rect">
              <a:avLst/>
            </a:prstGeom>
            <a:noFill/>
            <a:ln w="9525">
              <a:noFill/>
              <a:miter lim="800000"/>
              <a:headEnd/>
              <a:tailEnd/>
            </a:ln>
          </p:spPr>
          <p:txBody>
            <a:bodyPr>
              <a:spAutoFit/>
            </a:bodyPr>
            <a:lstStyle/>
            <a:p>
              <a:pPr algn="ctr"/>
              <a:r>
                <a:rPr lang="zh-CN" altLang="en-US" sz="1500" b="1">
                  <a:solidFill>
                    <a:srgbClr val="000000"/>
                  </a:solidFill>
                  <a:latin typeface="Times New Roman" pitchFamily="18" charset="0"/>
                  <a:ea typeface="华文中宋"/>
                  <a:cs typeface="华文中宋"/>
                </a:rPr>
                <a:t>热功当量</a:t>
              </a:r>
            </a:p>
          </p:txBody>
        </p:sp>
        <p:graphicFrame>
          <p:nvGraphicFramePr>
            <p:cNvPr id="1049" name="Object 25"/>
            <p:cNvGraphicFramePr>
              <a:graphicFrameLocks noChangeAspect="1"/>
            </p:cNvGraphicFramePr>
            <p:nvPr/>
          </p:nvGraphicFramePr>
          <p:xfrm>
            <a:off x="355" y="3443"/>
            <a:ext cx="967" cy="215"/>
          </p:xfrm>
          <a:graphic>
            <a:graphicData uri="http://schemas.openxmlformats.org/presentationml/2006/ole">
              <p:oleObj spid="_x0000_s1049" name="Equation" r:id="rId4" imgW="799753" imgH="177723" progId="Equation.DSMT4">
                <p:embed/>
              </p:oleObj>
            </a:graphicData>
          </a:graphic>
        </p:graphicFrame>
        <p:sp>
          <p:nvSpPr>
            <p:cNvPr id="1071" name="AutoShape 1307"/>
            <p:cNvSpPr>
              <a:spLocks/>
            </p:cNvSpPr>
            <p:nvPr/>
          </p:nvSpPr>
          <p:spPr bwMode="auto">
            <a:xfrm>
              <a:off x="1383" y="2970"/>
              <a:ext cx="46" cy="726"/>
            </a:xfrm>
            <a:prstGeom prst="leftBrace">
              <a:avLst>
                <a:gd name="adj1" fmla="val 131522"/>
                <a:gd name="adj2" fmla="val 50000"/>
              </a:avLst>
            </a:prstGeom>
            <a:noFill/>
            <a:ln w="25400">
              <a:solidFill>
                <a:schemeClr val="tx1"/>
              </a:solidFill>
              <a:round/>
              <a:headEnd/>
              <a:tailEnd/>
            </a:ln>
          </p:spPr>
          <p:txBody>
            <a:bodyPr wrap="none" anchor="ctr"/>
            <a:lstStyle/>
            <a:p>
              <a:endParaRPr kumimoji="1" lang="zh-CN" altLang="en-US" sz="2400" b="1">
                <a:solidFill>
                  <a:srgbClr val="000000"/>
                </a:solidFill>
                <a:latin typeface="Times New Roman" pitchFamily="18" charset="0"/>
                <a:ea typeface="华文中宋"/>
                <a:cs typeface="华文中宋"/>
              </a:endParaRPr>
            </a:p>
          </p:txBody>
        </p:sp>
      </p:grpSp>
      <p:sp>
        <p:nvSpPr>
          <p:cNvPr id="14620" name="AutoShape 1308"/>
          <p:cNvSpPr>
            <a:spLocks noChangeArrowheads="1"/>
          </p:cNvSpPr>
          <p:nvPr/>
        </p:nvSpPr>
        <p:spPr bwMode="auto">
          <a:xfrm>
            <a:off x="3490913" y="2500313"/>
            <a:ext cx="2089150" cy="1997075"/>
          </a:xfrm>
          <a:prstGeom prst="roundRect">
            <a:avLst>
              <a:gd name="adj" fmla="val 16667"/>
            </a:avLst>
          </a:prstGeom>
          <a:noFill/>
          <a:ln w="25400">
            <a:solidFill>
              <a:srgbClr val="FF00FF"/>
            </a:solidFill>
            <a:prstDash val="dash"/>
            <a:round/>
            <a:headEnd/>
            <a:tailEnd/>
          </a:ln>
        </p:spPr>
        <p:txBody>
          <a:bodyPr wrap="none" anchor="ctr"/>
          <a:lstStyle/>
          <a:p>
            <a:endParaRPr kumimoji="1" lang="zh-CN" altLang="en-US" sz="2400" b="1">
              <a:solidFill>
                <a:srgbClr val="000000"/>
              </a:solidFill>
              <a:latin typeface="Times New Roman" pitchFamily="18" charset="0"/>
              <a:ea typeface="华文中宋"/>
              <a:cs typeface="华文中宋"/>
            </a:endParaRPr>
          </a:p>
        </p:txBody>
      </p:sp>
      <p:sp>
        <p:nvSpPr>
          <p:cNvPr id="14621" name="AutoShape 1309"/>
          <p:cNvSpPr>
            <a:spLocks noChangeArrowheads="1"/>
          </p:cNvSpPr>
          <p:nvPr/>
        </p:nvSpPr>
        <p:spPr bwMode="auto">
          <a:xfrm>
            <a:off x="6946900" y="2500313"/>
            <a:ext cx="2089150" cy="1997075"/>
          </a:xfrm>
          <a:prstGeom prst="roundRect">
            <a:avLst>
              <a:gd name="adj" fmla="val 16667"/>
            </a:avLst>
          </a:prstGeom>
          <a:noFill/>
          <a:ln w="25400">
            <a:solidFill>
              <a:srgbClr val="0000FF"/>
            </a:solidFill>
            <a:prstDash val="dash"/>
            <a:round/>
            <a:headEnd/>
            <a:tailEnd/>
          </a:ln>
        </p:spPr>
        <p:txBody>
          <a:bodyPr wrap="none" anchor="ctr"/>
          <a:lstStyle/>
          <a:p>
            <a:pPr algn="ctr"/>
            <a:endParaRPr kumimoji="1" lang="zh-CN" altLang="zh-CN" sz="2400">
              <a:solidFill>
                <a:srgbClr val="0000FF"/>
              </a:solidFill>
              <a:latin typeface="Times New Roman" pitchFamily="18" charset="0"/>
              <a:ea typeface="华文中宋"/>
              <a:cs typeface="华文中宋"/>
            </a:endParaRPr>
          </a:p>
        </p:txBody>
      </p:sp>
      <p:sp>
        <p:nvSpPr>
          <p:cNvPr id="14622" name="Rectangle 1310"/>
          <p:cNvSpPr>
            <a:spLocks noChangeArrowheads="1"/>
          </p:cNvSpPr>
          <p:nvPr/>
        </p:nvSpPr>
        <p:spPr bwMode="auto">
          <a:xfrm>
            <a:off x="755650" y="3209925"/>
            <a:ext cx="1655763" cy="369888"/>
          </a:xfrm>
          <a:prstGeom prst="rect">
            <a:avLst/>
          </a:prstGeom>
          <a:noFill/>
          <a:ln w="9525">
            <a:noFill/>
            <a:miter lim="800000"/>
            <a:headEnd/>
            <a:tailEnd/>
          </a:ln>
        </p:spPr>
        <p:txBody>
          <a:bodyPr>
            <a:spAutoFit/>
          </a:bodyPr>
          <a:lstStyle/>
          <a:p>
            <a:r>
              <a:rPr lang="zh-CN" altLang="en-US" b="1">
                <a:solidFill>
                  <a:srgbClr val="000000"/>
                </a:solidFill>
                <a:latin typeface="Times New Roman" pitchFamily="18" charset="0"/>
                <a:ea typeface="华文中宋"/>
                <a:cs typeface="华文中宋"/>
              </a:rPr>
              <a:t>微观本质不同：</a:t>
            </a:r>
          </a:p>
        </p:txBody>
      </p:sp>
      <p:sp>
        <p:nvSpPr>
          <p:cNvPr id="33" name="Text Box 2"/>
          <p:cNvSpPr>
            <a:spLocks noChangeArrowheads="1"/>
          </p:cNvSpPr>
          <p:nvPr/>
        </p:nvSpPr>
        <p:spPr bwMode="auto">
          <a:xfrm>
            <a:off x="839788" y="874713"/>
            <a:ext cx="1320800" cy="400050"/>
          </a:xfrm>
          <a:prstGeom prst="homePlate">
            <a:avLst>
              <a:gd name="adj" fmla="val 49937"/>
            </a:avLst>
          </a:prstGeom>
          <a:solidFill>
            <a:srgbClr val="539A84"/>
          </a:solidFill>
          <a:ln w="9525">
            <a:noFill/>
            <a:miter lim="800000"/>
            <a:headEnd/>
            <a:tailEnd/>
          </a:ln>
        </p:spPr>
        <p:txBody>
          <a:bodyPr>
            <a:spAutoFit/>
          </a:bodyPr>
          <a:lstStyle/>
          <a:p>
            <a:pPr>
              <a:buFont typeface="Arial" charset="0"/>
              <a:buNone/>
            </a:pPr>
            <a:r>
              <a:rPr kumimoji="1" lang="zh-CN" altLang="en-US" sz="2000" b="1">
                <a:solidFill>
                  <a:srgbClr val="FFFFFF"/>
                </a:solidFill>
                <a:latin typeface="微软雅黑" pitchFamily="34" charset="-122"/>
                <a:ea typeface="微软雅黑" pitchFamily="34" charset="-122"/>
              </a:rPr>
              <a:t>一、内能</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500"/>
                                        <p:tgtEl>
                                          <p:spTgt spid="3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1">
                                            <p:txEl>
                                              <p:pRg st="0" end="0"/>
                                            </p:txEl>
                                          </p:spTgt>
                                        </p:tgtEl>
                                        <p:attrNameLst>
                                          <p:attrName>style.visibility</p:attrName>
                                        </p:attrNameLst>
                                      </p:cBhvr>
                                      <p:to>
                                        <p:strVal val="visible"/>
                                      </p:to>
                                    </p:set>
                                    <p:animEffect transition="in" filter="wipe(left)">
                                      <p:cBhvr>
                                        <p:cTn id="12" dur="500"/>
                                        <p:tgtEl>
                                          <p:spTgt spid="11">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wipe(left)">
                                      <p:cBhvr>
                                        <p:cTn id="17" dur="500"/>
                                        <p:tgtEl>
                                          <p:spTgt spid="1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wipe(left)">
                                      <p:cBhvr>
                                        <p:cTn id="22" dur="500"/>
                                        <p:tgtEl>
                                          <p:spTgt spid="1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wipe(left)">
                                      <p:cBhvr>
                                        <p:cTn id="27" dur="500"/>
                                        <p:tgtEl>
                                          <p:spTgt spid="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wipe(left)">
                                      <p:cBhvr>
                                        <p:cTn id="32" dur="500"/>
                                        <p:tgtEl>
                                          <p:spTgt spid="3"/>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4598"/>
                                        </p:tgtEl>
                                        <p:attrNameLst>
                                          <p:attrName>style.visibility</p:attrName>
                                        </p:attrNameLst>
                                      </p:cBhvr>
                                      <p:to>
                                        <p:strVal val="visible"/>
                                      </p:to>
                                    </p:set>
                                    <p:animEffect transition="in" filter="blinds(horizontal)">
                                      <p:cBhvr>
                                        <p:cTn id="37" dur="500"/>
                                        <p:tgtEl>
                                          <p:spTgt spid="14598"/>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14622"/>
                                        </p:tgtEl>
                                        <p:attrNameLst>
                                          <p:attrName>style.visibility</p:attrName>
                                        </p:attrNameLst>
                                      </p:cBhvr>
                                      <p:to>
                                        <p:strVal val="visible"/>
                                      </p:to>
                                    </p:set>
                                    <p:animEffect transition="in" filter="blinds(horizontal)">
                                      <p:cBhvr>
                                        <p:cTn id="42" dur="500"/>
                                        <p:tgtEl>
                                          <p:spTgt spid="14622"/>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14617"/>
                                        </p:tgtEl>
                                        <p:attrNameLst>
                                          <p:attrName>style.visibility</p:attrName>
                                        </p:attrNameLst>
                                      </p:cBhvr>
                                      <p:to>
                                        <p:strVal val="visible"/>
                                      </p:to>
                                    </p:set>
                                    <p:animEffect transition="in" filter="blinds(horizontal)">
                                      <p:cBhvr>
                                        <p:cTn id="47" dur="500"/>
                                        <p:tgtEl>
                                          <p:spTgt spid="14617"/>
                                        </p:tgtEl>
                                      </p:cBhvr>
                                    </p:animEffect>
                                  </p:childTnLst>
                                </p:cTn>
                              </p:par>
                              <p:par>
                                <p:cTn id="48" presetID="3" presetClass="entr" presetSubtype="10" fill="hold" grpId="0" nodeType="withEffect">
                                  <p:stCondLst>
                                    <p:cond delay="0"/>
                                  </p:stCondLst>
                                  <p:childTnLst>
                                    <p:set>
                                      <p:cBhvr>
                                        <p:cTn id="49" dur="1" fill="hold">
                                          <p:stCondLst>
                                            <p:cond delay="0"/>
                                          </p:stCondLst>
                                        </p:cTn>
                                        <p:tgtEl>
                                          <p:spTgt spid="14616"/>
                                        </p:tgtEl>
                                        <p:attrNameLst>
                                          <p:attrName>style.visibility</p:attrName>
                                        </p:attrNameLst>
                                      </p:cBhvr>
                                      <p:to>
                                        <p:strVal val="visible"/>
                                      </p:to>
                                    </p:set>
                                    <p:animEffect transition="in" filter="blinds(horizontal)">
                                      <p:cBhvr>
                                        <p:cTn id="50" dur="500"/>
                                        <p:tgtEl>
                                          <p:spTgt spid="14616"/>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3" presetClass="entr" presetSubtype="10" fill="hold" grpId="0" nodeType="clickEffect">
                                  <p:stCondLst>
                                    <p:cond delay="0"/>
                                  </p:stCondLst>
                                  <p:childTnLst>
                                    <p:set>
                                      <p:cBhvr>
                                        <p:cTn id="54" dur="1" fill="hold">
                                          <p:stCondLst>
                                            <p:cond delay="0"/>
                                          </p:stCondLst>
                                        </p:cTn>
                                        <p:tgtEl>
                                          <p:spTgt spid="14620"/>
                                        </p:tgtEl>
                                        <p:attrNameLst>
                                          <p:attrName>style.visibility</p:attrName>
                                        </p:attrNameLst>
                                      </p:cBhvr>
                                      <p:to>
                                        <p:strVal val="visible"/>
                                      </p:to>
                                    </p:set>
                                    <p:animEffect transition="in" filter="blinds(horizontal)">
                                      <p:cBhvr>
                                        <p:cTn id="55" dur="500"/>
                                        <p:tgtEl>
                                          <p:spTgt spid="14620"/>
                                        </p:tgtEl>
                                      </p:cBhvr>
                                    </p:animEffect>
                                  </p:childTnLst>
                                </p:cTn>
                              </p:par>
                              <p:par>
                                <p:cTn id="56" presetID="3" presetClass="entr" presetSubtype="10" fill="hold" grpId="0" nodeType="withEffect">
                                  <p:stCondLst>
                                    <p:cond delay="0"/>
                                  </p:stCondLst>
                                  <p:childTnLst>
                                    <p:set>
                                      <p:cBhvr>
                                        <p:cTn id="57" dur="1" fill="hold">
                                          <p:stCondLst>
                                            <p:cond delay="0"/>
                                          </p:stCondLst>
                                        </p:cTn>
                                        <p:tgtEl>
                                          <p:spTgt spid="14614"/>
                                        </p:tgtEl>
                                        <p:attrNameLst>
                                          <p:attrName>style.visibility</p:attrName>
                                        </p:attrNameLst>
                                      </p:cBhvr>
                                      <p:to>
                                        <p:strVal val="visible"/>
                                      </p:to>
                                    </p:set>
                                    <p:animEffect transition="in" filter="blinds(horizontal)">
                                      <p:cBhvr>
                                        <p:cTn id="58" dur="500"/>
                                        <p:tgtEl>
                                          <p:spTgt spid="14614"/>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3" presetClass="entr" presetSubtype="10" fill="hold" grpId="0" nodeType="clickEffect">
                                  <p:stCondLst>
                                    <p:cond delay="0"/>
                                  </p:stCondLst>
                                  <p:childTnLst>
                                    <p:set>
                                      <p:cBhvr>
                                        <p:cTn id="62" dur="1" fill="hold">
                                          <p:stCondLst>
                                            <p:cond delay="0"/>
                                          </p:stCondLst>
                                        </p:cTn>
                                        <p:tgtEl>
                                          <p:spTgt spid="14621"/>
                                        </p:tgtEl>
                                        <p:attrNameLst>
                                          <p:attrName>style.visibility</p:attrName>
                                        </p:attrNameLst>
                                      </p:cBhvr>
                                      <p:to>
                                        <p:strVal val="visible"/>
                                      </p:to>
                                    </p:set>
                                    <p:animEffect transition="in" filter="blinds(horizontal)">
                                      <p:cBhvr>
                                        <p:cTn id="63" dur="500"/>
                                        <p:tgtEl>
                                          <p:spTgt spid="14621"/>
                                        </p:tgtEl>
                                      </p:cBhvr>
                                    </p:animEffect>
                                  </p:childTnLst>
                                </p:cTn>
                              </p:par>
                              <p:par>
                                <p:cTn id="64" presetID="3" presetClass="entr" presetSubtype="10" fill="hold" grpId="0" nodeType="withEffect">
                                  <p:stCondLst>
                                    <p:cond delay="0"/>
                                  </p:stCondLst>
                                  <p:childTnLst>
                                    <p:set>
                                      <p:cBhvr>
                                        <p:cTn id="65" dur="1" fill="hold">
                                          <p:stCondLst>
                                            <p:cond delay="0"/>
                                          </p:stCondLst>
                                        </p:cTn>
                                        <p:tgtEl>
                                          <p:spTgt spid="14615"/>
                                        </p:tgtEl>
                                        <p:attrNameLst>
                                          <p:attrName>style.visibility</p:attrName>
                                        </p:attrNameLst>
                                      </p:cBhvr>
                                      <p:to>
                                        <p:strVal val="visible"/>
                                      </p:to>
                                    </p:set>
                                    <p:animEffect transition="in" filter="blinds(horizontal)">
                                      <p:cBhvr>
                                        <p:cTn id="66" dur="500"/>
                                        <p:tgtEl>
                                          <p:spTgt spid="14615"/>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22" presetClass="entr" presetSubtype="8" fill="hold" grpId="0" nodeType="clickEffect">
                                  <p:stCondLst>
                                    <p:cond delay="0"/>
                                  </p:stCondLst>
                                  <p:childTnLst>
                                    <p:set>
                                      <p:cBhvr>
                                        <p:cTn id="70" dur="1" fill="hold">
                                          <p:stCondLst>
                                            <p:cond delay="0"/>
                                          </p:stCondLst>
                                        </p:cTn>
                                        <p:tgtEl>
                                          <p:spTgt spid="35"/>
                                        </p:tgtEl>
                                        <p:attrNameLst>
                                          <p:attrName>style.visibility</p:attrName>
                                        </p:attrNameLst>
                                      </p:cBhvr>
                                      <p:to>
                                        <p:strVal val="visible"/>
                                      </p:to>
                                    </p:set>
                                    <p:animEffect transition="in" filter="wipe(left)">
                                      <p:cBhvr>
                                        <p:cTn id="71" dur="500"/>
                                        <p:tgtEl>
                                          <p:spTgt spid="35"/>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3" presetClass="entr" presetSubtype="10" fill="hold" nodeType="clickEffect">
                                  <p:stCondLst>
                                    <p:cond delay="0"/>
                                  </p:stCondLst>
                                  <p:childTnLst>
                                    <p:set>
                                      <p:cBhvr>
                                        <p:cTn id="75" dur="1" fill="hold">
                                          <p:stCondLst>
                                            <p:cond delay="0"/>
                                          </p:stCondLst>
                                        </p:cTn>
                                        <p:tgtEl>
                                          <p:spTgt spid="5"/>
                                        </p:tgtEl>
                                        <p:attrNameLst>
                                          <p:attrName>style.visibility</p:attrName>
                                        </p:attrNameLst>
                                      </p:cBhvr>
                                      <p:to>
                                        <p:strVal val="visible"/>
                                      </p:to>
                                    </p:set>
                                    <p:animEffect transition="in" filter="blinds(horizontal)">
                                      <p:cBhvr>
                                        <p:cTn id="76" dur="500"/>
                                        <p:tgtEl>
                                          <p:spTgt spid="5"/>
                                        </p:tgtEl>
                                      </p:cBhvr>
                                    </p:animEffect>
                                  </p:childTnLst>
                                </p:cTn>
                              </p:par>
                            </p:childTnLst>
                          </p:cTn>
                        </p:par>
                      </p:childTnLst>
                    </p:cTn>
                  </p:par>
                  <p:par>
                    <p:cTn id="77" fill="hold" nodeType="clickPar">
                      <p:stCondLst>
                        <p:cond delay="indefinite"/>
                      </p:stCondLst>
                      <p:childTnLst>
                        <p:par>
                          <p:cTn id="78" fill="hold" nodeType="withGroup">
                            <p:stCondLst>
                              <p:cond delay="0"/>
                            </p:stCondLst>
                            <p:childTnLst>
                              <p:par>
                                <p:cTn id="79" presetID="22" presetClass="entr" presetSubtype="8" fill="hold" grpId="0" nodeType="clickEffect">
                                  <p:stCondLst>
                                    <p:cond delay="0"/>
                                  </p:stCondLst>
                                  <p:childTnLst>
                                    <p:set>
                                      <p:cBhvr>
                                        <p:cTn id="80" dur="1" fill="hold">
                                          <p:stCondLst>
                                            <p:cond delay="0"/>
                                          </p:stCondLst>
                                        </p:cTn>
                                        <p:tgtEl>
                                          <p:spTgt spid="39"/>
                                        </p:tgtEl>
                                        <p:attrNameLst>
                                          <p:attrName>style.visibility</p:attrName>
                                        </p:attrNameLst>
                                      </p:cBhvr>
                                      <p:to>
                                        <p:strVal val="visible"/>
                                      </p:to>
                                    </p:set>
                                    <p:animEffect transition="in" filter="wipe(left)">
                                      <p:cBhvr>
                                        <p:cTn id="81" dur="500"/>
                                        <p:tgtEl>
                                          <p:spTgt spid="39"/>
                                        </p:tgtEl>
                                      </p:cBhvr>
                                    </p:animEffect>
                                  </p:childTnLst>
                                </p:cTn>
                              </p:par>
                            </p:childTnLst>
                          </p:cTn>
                        </p:par>
                      </p:childTnLst>
                    </p:cTn>
                  </p:par>
                  <p:par>
                    <p:cTn id="82" fill="hold" nodeType="clickPar">
                      <p:stCondLst>
                        <p:cond delay="indefinite"/>
                      </p:stCondLst>
                      <p:childTnLst>
                        <p:par>
                          <p:cTn id="83" fill="hold" nodeType="withGroup">
                            <p:stCondLst>
                              <p:cond delay="0"/>
                            </p:stCondLst>
                            <p:childTnLst>
                              <p:par>
                                <p:cTn id="84" presetID="22" presetClass="entr" presetSubtype="8" fill="hold" grpId="0" nodeType="clickEffect">
                                  <p:stCondLst>
                                    <p:cond delay="0"/>
                                  </p:stCondLst>
                                  <p:childTnLst>
                                    <p:set>
                                      <p:cBhvr>
                                        <p:cTn id="85" dur="1" fill="hold">
                                          <p:stCondLst>
                                            <p:cond delay="0"/>
                                          </p:stCondLst>
                                        </p:cTn>
                                        <p:tgtEl>
                                          <p:spTgt spid="50"/>
                                        </p:tgtEl>
                                        <p:attrNameLst>
                                          <p:attrName>style.visibility</p:attrName>
                                        </p:attrNameLst>
                                      </p:cBhvr>
                                      <p:to>
                                        <p:strVal val="visible"/>
                                      </p:to>
                                    </p:set>
                                    <p:animEffect transition="in" filter="wipe(left)">
                                      <p:cBhvr>
                                        <p:cTn id="86" dur="500"/>
                                        <p:tgtEl>
                                          <p:spTgt spid="50"/>
                                        </p:tgtEl>
                                      </p:cBhvr>
                                    </p:animEffect>
                                  </p:childTnLst>
                                </p:cTn>
                              </p:par>
                            </p:childTnLst>
                          </p:cTn>
                        </p:par>
                      </p:childTnLst>
                    </p:cTn>
                  </p:par>
                  <p:par>
                    <p:cTn id="87" fill="hold" nodeType="clickPar">
                      <p:stCondLst>
                        <p:cond delay="indefinite"/>
                      </p:stCondLst>
                      <p:childTnLst>
                        <p:par>
                          <p:cTn id="88" fill="hold" nodeType="withGroup">
                            <p:stCondLst>
                              <p:cond delay="0"/>
                            </p:stCondLst>
                            <p:childTnLst>
                              <p:par>
                                <p:cTn id="89" presetID="3" presetClass="entr" presetSubtype="10" fill="hold" nodeType="clickEffect">
                                  <p:stCondLst>
                                    <p:cond delay="0"/>
                                  </p:stCondLst>
                                  <p:childTnLst>
                                    <p:set>
                                      <p:cBhvr>
                                        <p:cTn id="90" dur="1" fill="hold">
                                          <p:stCondLst>
                                            <p:cond delay="0"/>
                                          </p:stCondLst>
                                        </p:cTn>
                                        <p:tgtEl>
                                          <p:spTgt spid="6"/>
                                        </p:tgtEl>
                                        <p:attrNameLst>
                                          <p:attrName>style.visibility</p:attrName>
                                        </p:attrNameLst>
                                      </p:cBhvr>
                                      <p:to>
                                        <p:strVal val="visible"/>
                                      </p:to>
                                    </p:set>
                                    <p:animEffect transition="in" filter="blinds(horizontal)">
                                      <p:cBhvr>
                                        <p:cTn id="91" dur="500"/>
                                        <p:tgtEl>
                                          <p:spTgt spid="6"/>
                                        </p:tgtEl>
                                      </p:cBhvr>
                                    </p:animEffect>
                                  </p:childTnLst>
                                </p:cTn>
                              </p:par>
                            </p:childTnLst>
                          </p:cTn>
                        </p:par>
                      </p:childTnLst>
                    </p:cTn>
                  </p:par>
                  <p:par>
                    <p:cTn id="92" fill="hold" nodeType="clickPar">
                      <p:stCondLst>
                        <p:cond delay="indefinite"/>
                      </p:stCondLst>
                      <p:childTnLst>
                        <p:par>
                          <p:cTn id="93" fill="hold" nodeType="withGroup">
                            <p:stCondLst>
                              <p:cond delay="0"/>
                            </p:stCondLst>
                            <p:childTnLst>
                              <p:par>
                                <p:cTn id="94" presetID="22" presetClass="entr" presetSubtype="8" fill="hold" grpId="0" nodeType="clickEffect">
                                  <p:stCondLst>
                                    <p:cond delay="0"/>
                                  </p:stCondLst>
                                  <p:childTnLst>
                                    <p:set>
                                      <p:cBhvr>
                                        <p:cTn id="95" dur="1" fill="hold">
                                          <p:stCondLst>
                                            <p:cond delay="0"/>
                                          </p:stCondLst>
                                        </p:cTn>
                                        <p:tgtEl>
                                          <p:spTgt spid="57"/>
                                        </p:tgtEl>
                                        <p:attrNameLst>
                                          <p:attrName>style.visibility</p:attrName>
                                        </p:attrNameLst>
                                      </p:cBhvr>
                                      <p:to>
                                        <p:strVal val="visible"/>
                                      </p:to>
                                    </p:set>
                                    <p:animEffect transition="in" filter="wipe(left)">
                                      <p:cBhvr>
                                        <p:cTn id="96" dur="500"/>
                                        <p:tgtEl>
                                          <p:spTgt spid="57"/>
                                        </p:tgtEl>
                                      </p:cBhvr>
                                    </p:animEffect>
                                  </p:childTnLst>
                                </p:cTn>
                              </p:par>
                            </p:childTnLst>
                          </p:cTn>
                        </p:par>
                      </p:childTnLst>
                    </p:cTn>
                  </p:par>
                  <p:par>
                    <p:cTn id="97" fill="hold" nodeType="clickPar">
                      <p:stCondLst>
                        <p:cond delay="indefinite"/>
                      </p:stCondLst>
                      <p:childTnLst>
                        <p:par>
                          <p:cTn id="98" fill="hold" nodeType="withGroup">
                            <p:stCondLst>
                              <p:cond delay="0"/>
                            </p:stCondLst>
                            <p:childTnLst>
                              <p:par>
                                <p:cTn id="99" presetID="3" presetClass="entr" presetSubtype="10" fill="hold" nodeType="clickEffect">
                                  <p:stCondLst>
                                    <p:cond delay="0"/>
                                  </p:stCondLst>
                                  <p:childTnLst>
                                    <p:set>
                                      <p:cBhvr>
                                        <p:cTn id="100" dur="1" fill="hold">
                                          <p:stCondLst>
                                            <p:cond delay="0"/>
                                          </p:stCondLst>
                                        </p:cTn>
                                        <p:tgtEl>
                                          <p:spTgt spid="7"/>
                                        </p:tgtEl>
                                        <p:attrNameLst>
                                          <p:attrName>style.visibility</p:attrName>
                                        </p:attrNameLst>
                                      </p:cBhvr>
                                      <p:to>
                                        <p:strVal val="visible"/>
                                      </p:to>
                                    </p:set>
                                    <p:animEffect transition="in" filter="blinds(horizontal)">
                                      <p:cBhvr>
                                        <p:cTn id="10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P spid="13" grpId="0"/>
      <p:bldP spid="14" grpId="0" autoUpdateAnimBg="0"/>
      <p:bldP spid="3" grpId="0" autoUpdateAnimBg="0"/>
      <p:bldP spid="14598" grpId="0"/>
      <p:bldP spid="35" grpId="0" animBg="1" autoUpdateAnimBg="0"/>
      <p:bldP spid="39" grpId="0" animBg="1" autoUpdateAnimBg="0"/>
      <p:bldP spid="50" grpId="0" animBg="1"/>
      <p:bldP spid="57" grpId="0" animBg="1"/>
      <p:bldP spid="14614" grpId="0"/>
      <p:bldP spid="14615" grpId="0"/>
      <p:bldP spid="14616" grpId="0"/>
      <p:bldP spid="14617" grpId="0"/>
      <p:bldP spid="14620" grpId="0" animBg="1"/>
      <p:bldP spid="14621" grpId="0" animBg="1"/>
      <p:bldP spid="14622" grpId="0"/>
      <p:bldP spid="33"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8" name="Rectangle 6"/>
          <p:cNvSpPr>
            <a:spLocks noChangeArrowheads="1"/>
          </p:cNvSpPr>
          <p:nvPr/>
        </p:nvSpPr>
        <p:spPr bwMode="auto">
          <a:xfrm>
            <a:off x="323850" y="1347788"/>
            <a:ext cx="8351838" cy="646112"/>
          </a:xfrm>
          <a:prstGeom prst="rect">
            <a:avLst/>
          </a:prstGeom>
          <a:noFill/>
          <a:ln w="9525">
            <a:noFill/>
            <a:miter lim="800000"/>
            <a:headEnd/>
            <a:tailEnd/>
          </a:ln>
        </p:spPr>
        <p:txBody>
          <a:bodyPr>
            <a:spAutoFit/>
          </a:bodyPr>
          <a:lstStyle/>
          <a:p>
            <a:r>
              <a:rPr kumimoji="1" lang="zh-CN" altLang="en-US" b="1">
                <a:solidFill>
                  <a:srgbClr val="FF0000"/>
                </a:solidFill>
                <a:latin typeface="华文中宋"/>
                <a:ea typeface="华文中宋"/>
                <a:cs typeface="华文中宋"/>
              </a:rPr>
              <a:t>热力学过程：</a:t>
            </a:r>
            <a:r>
              <a:rPr kumimoji="1" lang="zh-CN" altLang="en-US" b="1">
                <a:solidFill>
                  <a:srgbClr val="000000"/>
                </a:solidFill>
                <a:latin typeface="华文中宋"/>
                <a:ea typeface="华文中宋"/>
                <a:cs typeface="华文中宋"/>
              </a:rPr>
              <a:t>当热力学系统在外界影响下，从一个状态到另一个状态的变化过程，称为热力学过程，简称过程。</a:t>
            </a:r>
          </a:p>
        </p:txBody>
      </p:sp>
      <p:sp>
        <p:nvSpPr>
          <p:cNvPr id="74832" name="Rectangle 80"/>
          <p:cNvSpPr>
            <a:spLocks noChangeArrowheads="1"/>
          </p:cNvSpPr>
          <p:nvPr/>
        </p:nvSpPr>
        <p:spPr bwMode="auto">
          <a:xfrm>
            <a:off x="1398588" y="2857500"/>
            <a:ext cx="1412875" cy="323850"/>
          </a:xfrm>
          <a:prstGeom prst="rect">
            <a:avLst/>
          </a:prstGeom>
          <a:noFill/>
          <a:ln w="9525">
            <a:solidFill>
              <a:schemeClr val="hlink"/>
            </a:solidFill>
            <a:miter lim="800000"/>
            <a:headEnd/>
            <a:tailEnd/>
          </a:ln>
        </p:spPr>
        <p:txBody>
          <a:bodyPr>
            <a:spAutoFit/>
          </a:bodyPr>
          <a:lstStyle/>
          <a:p>
            <a:pPr algn="ctr"/>
            <a:r>
              <a:rPr kumimoji="1" lang="zh-CN" altLang="en-US" sz="1500" b="1">
                <a:solidFill>
                  <a:srgbClr val="0000FF"/>
                </a:solidFill>
                <a:latin typeface="华文中宋"/>
                <a:ea typeface="华文中宋"/>
                <a:cs typeface="华文中宋"/>
              </a:rPr>
              <a:t>始平衡态</a:t>
            </a:r>
          </a:p>
        </p:txBody>
      </p:sp>
      <p:sp>
        <p:nvSpPr>
          <p:cNvPr id="74866" name="Rectangle 114"/>
          <p:cNvSpPr>
            <a:spLocks noChangeArrowheads="1"/>
          </p:cNvSpPr>
          <p:nvPr/>
        </p:nvSpPr>
        <p:spPr bwMode="auto">
          <a:xfrm>
            <a:off x="6137275" y="2882900"/>
            <a:ext cx="1412875" cy="322263"/>
          </a:xfrm>
          <a:prstGeom prst="rect">
            <a:avLst/>
          </a:prstGeom>
          <a:noFill/>
          <a:ln w="9525">
            <a:solidFill>
              <a:schemeClr val="hlink"/>
            </a:solidFill>
            <a:miter lim="800000"/>
            <a:headEnd/>
            <a:tailEnd/>
          </a:ln>
        </p:spPr>
        <p:txBody>
          <a:bodyPr>
            <a:spAutoFit/>
          </a:bodyPr>
          <a:lstStyle/>
          <a:p>
            <a:pPr algn="ctr"/>
            <a:r>
              <a:rPr kumimoji="1" lang="zh-CN" altLang="en-US" sz="1500" b="1">
                <a:solidFill>
                  <a:srgbClr val="0000FF"/>
                </a:solidFill>
                <a:latin typeface="华文中宋"/>
                <a:ea typeface="华文中宋"/>
                <a:cs typeface="华文中宋"/>
              </a:rPr>
              <a:t>末平衡态</a:t>
            </a:r>
          </a:p>
        </p:txBody>
      </p:sp>
      <p:sp>
        <p:nvSpPr>
          <p:cNvPr id="74867" name="Rectangle 115"/>
          <p:cNvSpPr>
            <a:spLocks noChangeArrowheads="1"/>
          </p:cNvSpPr>
          <p:nvPr/>
        </p:nvSpPr>
        <p:spPr bwMode="auto">
          <a:xfrm>
            <a:off x="323850" y="3206750"/>
            <a:ext cx="8424863" cy="647700"/>
          </a:xfrm>
          <a:prstGeom prst="rect">
            <a:avLst/>
          </a:prstGeom>
          <a:noFill/>
          <a:ln w="9525">
            <a:noFill/>
            <a:miter lim="800000"/>
            <a:headEnd/>
            <a:tailEnd/>
          </a:ln>
        </p:spPr>
        <p:txBody>
          <a:bodyPr anchor="ctr">
            <a:spAutoFit/>
          </a:bodyPr>
          <a:lstStyle/>
          <a:p>
            <a:r>
              <a:rPr kumimoji="1" lang="zh-CN" altLang="en-US" b="1">
                <a:solidFill>
                  <a:srgbClr val="A50021"/>
                </a:solidFill>
                <a:latin typeface="华文中宋"/>
                <a:ea typeface="华文中宋"/>
                <a:cs typeface="华文中宋"/>
              </a:rPr>
              <a:t>准静态过程：</a:t>
            </a:r>
            <a:r>
              <a:rPr kumimoji="1" lang="zh-CN" altLang="en-US" b="1">
                <a:solidFill>
                  <a:srgbClr val="000000"/>
                </a:solidFill>
                <a:latin typeface="华文中宋"/>
                <a:ea typeface="华文中宋"/>
                <a:cs typeface="华文中宋"/>
              </a:rPr>
              <a:t>系统从一平衡态到另一平衡态，如果过程中所有中间态都可以近似地看作平衡态的过程。</a:t>
            </a:r>
          </a:p>
        </p:txBody>
      </p:sp>
      <p:grpSp>
        <p:nvGrpSpPr>
          <p:cNvPr id="2" name="组合 40"/>
          <p:cNvGrpSpPr>
            <a:grpSpLocks/>
          </p:cNvGrpSpPr>
          <p:nvPr/>
        </p:nvGrpSpPr>
        <p:grpSpPr bwMode="auto">
          <a:xfrm>
            <a:off x="2881313" y="2860675"/>
            <a:ext cx="3149600" cy="323850"/>
            <a:chOff x="2852836" y="2487617"/>
            <a:chExt cx="3149600" cy="431278"/>
          </a:xfrm>
        </p:grpSpPr>
        <p:sp>
          <p:nvSpPr>
            <p:cNvPr id="55314" name="AutoShape 83"/>
            <p:cNvSpPr>
              <a:spLocks noChangeArrowheads="1"/>
            </p:cNvSpPr>
            <p:nvPr/>
          </p:nvSpPr>
          <p:spPr bwMode="auto">
            <a:xfrm>
              <a:off x="2852836" y="2589781"/>
              <a:ext cx="539750" cy="225425"/>
            </a:xfrm>
            <a:prstGeom prst="notchedRightArrow">
              <a:avLst>
                <a:gd name="adj1" fmla="val 50000"/>
                <a:gd name="adj2" fmla="val 59859"/>
              </a:avLst>
            </a:prstGeom>
            <a:gradFill rotWithShape="1">
              <a:gsLst>
                <a:gs pos="0">
                  <a:srgbClr val="762F47"/>
                </a:gs>
                <a:gs pos="100000">
                  <a:srgbClr val="FF6699"/>
                </a:gs>
              </a:gsLst>
              <a:lin ang="0" scaled="1"/>
            </a:gradFill>
            <a:ln w="19050">
              <a:solidFill>
                <a:schemeClr val="hlink"/>
              </a:solidFill>
              <a:miter lim="800000"/>
              <a:headEnd/>
              <a:tailEnd/>
            </a:ln>
          </p:spPr>
          <p:txBody>
            <a:bodyPr wrap="none" anchor="ctr"/>
            <a:lstStyle/>
            <a:p>
              <a:endParaRPr lang="zh-CN" altLang="zh-CN" sz="2400" b="1">
                <a:solidFill>
                  <a:srgbClr val="0000FF"/>
                </a:solidFill>
                <a:latin typeface="华文中宋"/>
                <a:ea typeface="华文中宋"/>
                <a:cs typeface="华文中宋"/>
              </a:endParaRPr>
            </a:p>
          </p:txBody>
        </p:sp>
        <p:sp>
          <p:nvSpPr>
            <p:cNvPr id="3" name="Rectangle 109"/>
            <p:cNvSpPr>
              <a:spLocks noChangeArrowheads="1"/>
            </p:cNvSpPr>
            <p:nvPr/>
          </p:nvSpPr>
          <p:spPr bwMode="auto">
            <a:xfrm>
              <a:off x="3537048" y="2487617"/>
              <a:ext cx="1800225" cy="431278"/>
            </a:xfrm>
            <a:prstGeom prst="rect">
              <a:avLst/>
            </a:prstGeom>
            <a:solidFill>
              <a:schemeClr val="accent6">
                <a:lumMod val="40000"/>
                <a:lumOff val="60000"/>
              </a:schemeClr>
            </a:solidFill>
            <a:ln w="9525">
              <a:solidFill>
                <a:srgbClr val="0070C0"/>
              </a:solidFill>
              <a:miter lim="800000"/>
              <a:headEnd/>
              <a:tailEnd/>
            </a:ln>
          </p:spPr>
          <p:txBody>
            <a:bodyPr>
              <a:spAutoFit/>
            </a:bodyPr>
            <a:lstStyle/>
            <a:p>
              <a:pPr algn="ctr" eaLnBrk="0" hangingPunct="0">
                <a:spcBef>
                  <a:spcPct val="50000"/>
                </a:spcBef>
                <a:defRPr/>
              </a:pPr>
              <a:r>
                <a:rPr kumimoji="1" lang="zh-CN" altLang="en-US" sz="1500" b="1" dirty="0">
                  <a:solidFill>
                    <a:srgbClr val="0000FF"/>
                  </a:solidFill>
                  <a:latin typeface="华文中宋" pitchFamily="2" charset="-122"/>
                  <a:ea typeface="华文中宋" pitchFamily="2" charset="-122"/>
                </a:rPr>
                <a:t>一系列非平衡态</a:t>
              </a:r>
            </a:p>
          </p:txBody>
        </p:sp>
        <p:sp>
          <p:nvSpPr>
            <p:cNvPr id="55316" name="AutoShape 113"/>
            <p:cNvSpPr>
              <a:spLocks noChangeArrowheads="1"/>
            </p:cNvSpPr>
            <p:nvPr/>
          </p:nvSpPr>
          <p:spPr bwMode="auto">
            <a:xfrm>
              <a:off x="5462686" y="2600893"/>
              <a:ext cx="539750" cy="225425"/>
            </a:xfrm>
            <a:prstGeom prst="notchedRightArrow">
              <a:avLst>
                <a:gd name="adj1" fmla="val 50000"/>
                <a:gd name="adj2" fmla="val 59859"/>
              </a:avLst>
            </a:prstGeom>
            <a:gradFill rotWithShape="1">
              <a:gsLst>
                <a:gs pos="0">
                  <a:srgbClr val="FF6699"/>
                </a:gs>
                <a:gs pos="100000">
                  <a:srgbClr val="762F47"/>
                </a:gs>
              </a:gsLst>
              <a:lin ang="0" scaled="1"/>
            </a:gradFill>
            <a:ln w="19050">
              <a:solidFill>
                <a:schemeClr val="hlink"/>
              </a:solidFill>
              <a:miter lim="800000"/>
              <a:headEnd/>
              <a:tailEnd/>
            </a:ln>
          </p:spPr>
          <p:txBody>
            <a:bodyPr wrap="none" anchor="ctr"/>
            <a:lstStyle/>
            <a:p>
              <a:endParaRPr lang="zh-CN" altLang="zh-CN" sz="2400" b="1">
                <a:solidFill>
                  <a:srgbClr val="0000FF"/>
                </a:solidFill>
                <a:latin typeface="华文中宋"/>
                <a:ea typeface="华文中宋"/>
                <a:cs typeface="华文中宋"/>
              </a:endParaRPr>
            </a:p>
          </p:txBody>
        </p:sp>
      </p:grpSp>
      <p:sp>
        <p:nvSpPr>
          <p:cNvPr id="46" name="Text Box 133"/>
          <p:cNvSpPr txBox="1">
            <a:spLocks noChangeArrowheads="1"/>
          </p:cNvSpPr>
          <p:nvPr/>
        </p:nvSpPr>
        <p:spPr bwMode="auto">
          <a:xfrm>
            <a:off x="323850" y="4275138"/>
            <a:ext cx="2709863" cy="600075"/>
          </a:xfrm>
          <a:prstGeom prst="rect">
            <a:avLst/>
          </a:prstGeom>
          <a:noFill/>
          <a:ln w="19050">
            <a:solidFill>
              <a:srgbClr val="00B050"/>
            </a:solidFill>
            <a:prstDash val="dashDot"/>
            <a:miter lim="800000"/>
            <a:headEnd/>
            <a:tailEnd/>
          </a:ln>
        </p:spPr>
        <p:txBody>
          <a:bodyPr>
            <a:spAutoFit/>
          </a:bodyPr>
          <a:lstStyle/>
          <a:p>
            <a:pPr>
              <a:lnSpc>
                <a:spcPct val="110000"/>
              </a:lnSpc>
            </a:pPr>
            <a:r>
              <a:rPr kumimoji="1" lang="zh-CN" altLang="en-US" sz="1500" b="1">
                <a:solidFill>
                  <a:srgbClr val="000000"/>
                </a:solidFill>
                <a:latin typeface="Times New Roman" pitchFamily="18" charset="0"/>
                <a:ea typeface="华文中宋"/>
                <a:cs typeface="华文中宋"/>
              </a:rPr>
              <a:t>平衡即不变</a:t>
            </a:r>
          </a:p>
          <a:p>
            <a:pPr>
              <a:lnSpc>
                <a:spcPct val="110000"/>
              </a:lnSpc>
            </a:pPr>
            <a:r>
              <a:rPr kumimoji="1" lang="zh-CN" altLang="en-US" sz="1500" b="1">
                <a:solidFill>
                  <a:srgbClr val="000000"/>
                </a:solidFill>
                <a:latin typeface="Times New Roman" pitchFamily="18" charset="0"/>
                <a:ea typeface="华文中宋"/>
                <a:cs typeface="华文中宋"/>
              </a:rPr>
              <a:t>过程是变化</a:t>
            </a:r>
          </a:p>
        </p:txBody>
      </p:sp>
      <p:sp>
        <p:nvSpPr>
          <p:cNvPr id="147472" name="Text Box 135"/>
          <p:cNvSpPr txBox="1">
            <a:spLocks noChangeArrowheads="1"/>
          </p:cNvSpPr>
          <p:nvPr/>
        </p:nvSpPr>
        <p:spPr bwMode="auto">
          <a:xfrm>
            <a:off x="1550988" y="4416425"/>
            <a:ext cx="1365250" cy="346075"/>
          </a:xfrm>
          <a:prstGeom prst="rect">
            <a:avLst/>
          </a:prstGeom>
          <a:noFill/>
          <a:ln w="9525">
            <a:noFill/>
            <a:miter lim="800000"/>
            <a:headEnd/>
            <a:tailEnd/>
          </a:ln>
        </p:spPr>
        <p:txBody>
          <a:bodyPr>
            <a:spAutoFit/>
          </a:bodyPr>
          <a:lstStyle/>
          <a:p>
            <a:pPr>
              <a:lnSpc>
                <a:spcPct val="110000"/>
              </a:lnSpc>
            </a:pPr>
            <a:r>
              <a:rPr kumimoji="1" lang="zh-CN" altLang="en-US" sz="1500" b="1">
                <a:solidFill>
                  <a:srgbClr val="FF0000"/>
                </a:solidFill>
                <a:latin typeface="Times New Roman" pitchFamily="18" charset="0"/>
                <a:ea typeface="华文中宋"/>
                <a:cs typeface="华文中宋"/>
              </a:rPr>
              <a:t>这是一对矛盾？</a:t>
            </a:r>
          </a:p>
        </p:txBody>
      </p:sp>
      <p:sp>
        <p:nvSpPr>
          <p:cNvPr id="147473" name="AutoShape 136"/>
          <p:cNvSpPr>
            <a:spLocks/>
          </p:cNvSpPr>
          <p:nvPr/>
        </p:nvSpPr>
        <p:spPr bwMode="auto">
          <a:xfrm>
            <a:off x="1449388" y="4389438"/>
            <a:ext cx="203200" cy="387350"/>
          </a:xfrm>
          <a:prstGeom prst="rightBrace">
            <a:avLst>
              <a:gd name="adj1" fmla="val 16415"/>
              <a:gd name="adj2" fmla="val 50000"/>
            </a:avLst>
          </a:prstGeom>
          <a:noFill/>
          <a:ln w="19050">
            <a:solidFill>
              <a:schemeClr val="tx1"/>
            </a:solidFill>
            <a:round/>
            <a:headEnd/>
            <a:tailEnd/>
          </a:ln>
        </p:spPr>
        <p:txBody>
          <a:bodyPr anchor="ctr">
            <a:spAutoFit/>
          </a:bodyPr>
          <a:lstStyle/>
          <a:p>
            <a:endParaRPr lang="zh-CN" altLang="zh-CN">
              <a:solidFill>
                <a:srgbClr val="000000"/>
              </a:solidFill>
              <a:latin typeface="Times New Roman" pitchFamily="18" charset="0"/>
            </a:endParaRPr>
          </a:p>
        </p:txBody>
      </p:sp>
      <p:sp>
        <p:nvSpPr>
          <p:cNvPr id="4" name="Rectangle 80"/>
          <p:cNvSpPr>
            <a:spLocks noChangeArrowheads="1"/>
          </p:cNvSpPr>
          <p:nvPr/>
        </p:nvSpPr>
        <p:spPr bwMode="auto">
          <a:xfrm>
            <a:off x="1433513" y="3854450"/>
            <a:ext cx="1412875" cy="322263"/>
          </a:xfrm>
          <a:prstGeom prst="rect">
            <a:avLst/>
          </a:prstGeom>
          <a:noFill/>
          <a:ln w="9525">
            <a:solidFill>
              <a:schemeClr val="hlink"/>
            </a:solidFill>
            <a:miter lim="800000"/>
            <a:headEnd/>
            <a:tailEnd/>
          </a:ln>
        </p:spPr>
        <p:txBody>
          <a:bodyPr>
            <a:spAutoFit/>
          </a:bodyPr>
          <a:lstStyle/>
          <a:p>
            <a:pPr algn="ctr"/>
            <a:r>
              <a:rPr kumimoji="1" lang="zh-CN" altLang="en-US" sz="1500" b="1">
                <a:solidFill>
                  <a:srgbClr val="0000FF"/>
                </a:solidFill>
                <a:latin typeface="华文中宋"/>
                <a:ea typeface="华文中宋"/>
                <a:cs typeface="华文中宋"/>
              </a:rPr>
              <a:t>始平衡态</a:t>
            </a:r>
          </a:p>
        </p:txBody>
      </p:sp>
      <p:sp>
        <p:nvSpPr>
          <p:cNvPr id="5" name="Rectangle 114"/>
          <p:cNvSpPr>
            <a:spLocks noChangeArrowheads="1"/>
          </p:cNvSpPr>
          <p:nvPr/>
        </p:nvSpPr>
        <p:spPr bwMode="auto">
          <a:xfrm>
            <a:off x="6172200" y="3878263"/>
            <a:ext cx="1412875" cy="323850"/>
          </a:xfrm>
          <a:prstGeom prst="rect">
            <a:avLst/>
          </a:prstGeom>
          <a:noFill/>
          <a:ln w="9525">
            <a:solidFill>
              <a:schemeClr val="hlink"/>
            </a:solidFill>
            <a:miter lim="800000"/>
            <a:headEnd/>
            <a:tailEnd/>
          </a:ln>
        </p:spPr>
        <p:txBody>
          <a:bodyPr>
            <a:spAutoFit/>
          </a:bodyPr>
          <a:lstStyle/>
          <a:p>
            <a:pPr algn="ctr"/>
            <a:r>
              <a:rPr kumimoji="1" lang="zh-CN" altLang="en-US" sz="1500" b="1">
                <a:solidFill>
                  <a:srgbClr val="0000FF"/>
                </a:solidFill>
                <a:latin typeface="Times New Roman" pitchFamily="18" charset="0"/>
                <a:ea typeface="华文中宋"/>
                <a:cs typeface="华文中宋"/>
              </a:rPr>
              <a:t>末平衡态</a:t>
            </a:r>
          </a:p>
        </p:txBody>
      </p:sp>
      <p:grpSp>
        <p:nvGrpSpPr>
          <p:cNvPr id="6" name="组合 40"/>
          <p:cNvGrpSpPr>
            <a:grpSpLocks/>
          </p:cNvGrpSpPr>
          <p:nvPr/>
        </p:nvGrpSpPr>
        <p:grpSpPr bwMode="auto">
          <a:xfrm>
            <a:off x="2916238" y="3886200"/>
            <a:ext cx="3149600" cy="322263"/>
            <a:chOff x="2852836" y="2502174"/>
            <a:chExt cx="3149600" cy="431278"/>
          </a:xfrm>
        </p:grpSpPr>
        <p:sp>
          <p:nvSpPr>
            <p:cNvPr id="55311" name="AutoShape 83"/>
            <p:cNvSpPr>
              <a:spLocks noChangeArrowheads="1"/>
            </p:cNvSpPr>
            <p:nvPr/>
          </p:nvSpPr>
          <p:spPr bwMode="auto">
            <a:xfrm>
              <a:off x="2852836" y="2589781"/>
              <a:ext cx="539750" cy="225425"/>
            </a:xfrm>
            <a:prstGeom prst="notchedRightArrow">
              <a:avLst>
                <a:gd name="adj1" fmla="val 50000"/>
                <a:gd name="adj2" fmla="val 59859"/>
              </a:avLst>
            </a:prstGeom>
            <a:gradFill rotWithShape="1">
              <a:gsLst>
                <a:gs pos="0">
                  <a:srgbClr val="762F47"/>
                </a:gs>
                <a:gs pos="100000">
                  <a:srgbClr val="FF6699"/>
                </a:gs>
              </a:gsLst>
              <a:lin ang="0" scaled="1"/>
            </a:gradFill>
            <a:ln w="19050">
              <a:solidFill>
                <a:schemeClr val="hlink"/>
              </a:solidFill>
              <a:miter lim="800000"/>
              <a:headEnd/>
              <a:tailEnd/>
            </a:ln>
          </p:spPr>
          <p:txBody>
            <a:bodyPr wrap="none" anchor="ctr"/>
            <a:lstStyle/>
            <a:p>
              <a:endParaRPr lang="zh-CN" altLang="zh-CN" sz="2400" b="1">
                <a:solidFill>
                  <a:srgbClr val="0000FF"/>
                </a:solidFill>
                <a:latin typeface="华文中宋"/>
                <a:ea typeface="华文中宋"/>
                <a:cs typeface="华文中宋"/>
              </a:endParaRPr>
            </a:p>
          </p:txBody>
        </p:sp>
        <p:sp>
          <p:nvSpPr>
            <p:cNvPr id="7186" name="Rectangle 109"/>
            <p:cNvSpPr>
              <a:spLocks noChangeArrowheads="1"/>
            </p:cNvSpPr>
            <p:nvPr/>
          </p:nvSpPr>
          <p:spPr bwMode="auto">
            <a:xfrm>
              <a:off x="3537048" y="2502174"/>
              <a:ext cx="1800225" cy="431278"/>
            </a:xfrm>
            <a:prstGeom prst="rect">
              <a:avLst/>
            </a:prstGeom>
            <a:solidFill>
              <a:schemeClr val="accent6">
                <a:lumMod val="40000"/>
                <a:lumOff val="60000"/>
              </a:schemeClr>
            </a:solidFill>
            <a:ln w="9525">
              <a:solidFill>
                <a:srgbClr val="0070C0"/>
              </a:solidFill>
              <a:miter lim="800000"/>
              <a:headEnd/>
              <a:tailEnd/>
            </a:ln>
          </p:spPr>
          <p:txBody>
            <a:bodyPr>
              <a:spAutoFit/>
            </a:bodyPr>
            <a:lstStyle/>
            <a:p>
              <a:pPr algn="ctr" eaLnBrk="0" hangingPunct="0">
                <a:spcBef>
                  <a:spcPct val="50000"/>
                </a:spcBef>
                <a:defRPr/>
              </a:pPr>
              <a:r>
                <a:rPr kumimoji="1" lang="zh-CN" altLang="en-US" sz="1500" b="1" dirty="0">
                  <a:solidFill>
                    <a:srgbClr val="0000FF"/>
                  </a:solidFill>
                  <a:latin typeface="华文中宋" pitchFamily="2" charset="-122"/>
                  <a:ea typeface="华文中宋" pitchFamily="2" charset="-122"/>
                </a:rPr>
                <a:t>一系列 准平衡态</a:t>
              </a:r>
            </a:p>
          </p:txBody>
        </p:sp>
        <p:sp>
          <p:nvSpPr>
            <p:cNvPr id="55313" name="AutoShape 113"/>
            <p:cNvSpPr>
              <a:spLocks noChangeArrowheads="1"/>
            </p:cNvSpPr>
            <p:nvPr/>
          </p:nvSpPr>
          <p:spPr bwMode="auto">
            <a:xfrm>
              <a:off x="5462686" y="2600893"/>
              <a:ext cx="539750" cy="225425"/>
            </a:xfrm>
            <a:prstGeom prst="notchedRightArrow">
              <a:avLst>
                <a:gd name="adj1" fmla="val 50000"/>
                <a:gd name="adj2" fmla="val 59859"/>
              </a:avLst>
            </a:prstGeom>
            <a:gradFill rotWithShape="1">
              <a:gsLst>
                <a:gs pos="0">
                  <a:srgbClr val="FF6699"/>
                </a:gs>
                <a:gs pos="100000">
                  <a:srgbClr val="762F47"/>
                </a:gs>
              </a:gsLst>
              <a:lin ang="0" scaled="1"/>
            </a:gradFill>
            <a:ln w="19050">
              <a:solidFill>
                <a:schemeClr val="hlink"/>
              </a:solidFill>
              <a:miter lim="800000"/>
              <a:headEnd/>
              <a:tailEnd/>
            </a:ln>
          </p:spPr>
          <p:txBody>
            <a:bodyPr wrap="none" anchor="ctr"/>
            <a:lstStyle/>
            <a:p>
              <a:endParaRPr lang="zh-CN" altLang="zh-CN" sz="2400" b="1">
                <a:solidFill>
                  <a:srgbClr val="0000FF"/>
                </a:solidFill>
                <a:latin typeface="华文中宋"/>
                <a:ea typeface="华文中宋"/>
                <a:cs typeface="华文中宋"/>
              </a:endParaRPr>
            </a:p>
          </p:txBody>
        </p:sp>
      </p:grpSp>
      <p:sp>
        <p:nvSpPr>
          <p:cNvPr id="236581" name="Rectangle 37"/>
          <p:cNvSpPr>
            <a:spLocks noChangeArrowheads="1"/>
          </p:cNvSpPr>
          <p:nvPr/>
        </p:nvSpPr>
        <p:spPr bwMode="auto">
          <a:xfrm>
            <a:off x="323850" y="2476500"/>
            <a:ext cx="8424863" cy="369888"/>
          </a:xfrm>
          <a:prstGeom prst="rect">
            <a:avLst/>
          </a:prstGeom>
          <a:noFill/>
          <a:ln w="9525">
            <a:noFill/>
            <a:miter lim="800000"/>
            <a:headEnd/>
            <a:tailEnd/>
          </a:ln>
        </p:spPr>
        <p:txBody>
          <a:bodyPr anchor="ctr">
            <a:spAutoFit/>
          </a:bodyPr>
          <a:lstStyle/>
          <a:p>
            <a:r>
              <a:rPr kumimoji="1" lang="zh-CN" altLang="en-US" b="1">
                <a:solidFill>
                  <a:srgbClr val="A50021"/>
                </a:solidFill>
                <a:latin typeface="Times New Roman" pitchFamily="18" charset="0"/>
                <a:ea typeface="华文中宋"/>
                <a:cs typeface="华文中宋"/>
              </a:rPr>
              <a:t>非静态过程：</a:t>
            </a:r>
            <a:r>
              <a:rPr kumimoji="1" lang="zh-CN" altLang="en-US" b="1">
                <a:solidFill>
                  <a:srgbClr val="000000"/>
                </a:solidFill>
                <a:latin typeface="Times New Roman" pitchFamily="18" charset="0"/>
                <a:ea typeface="华文中宋"/>
                <a:cs typeface="华文中宋"/>
              </a:rPr>
              <a:t>系统从一平衡态到另一平衡态，过程中所有中间态为非平衡态的过程。</a:t>
            </a:r>
          </a:p>
        </p:txBody>
      </p:sp>
      <p:sp>
        <p:nvSpPr>
          <p:cNvPr id="147483" name="Rectangle 39"/>
          <p:cNvSpPr>
            <a:spLocks noChangeArrowheads="1"/>
          </p:cNvSpPr>
          <p:nvPr/>
        </p:nvSpPr>
        <p:spPr bwMode="auto">
          <a:xfrm>
            <a:off x="323850" y="2116138"/>
            <a:ext cx="6696075" cy="369887"/>
          </a:xfrm>
          <a:prstGeom prst="rect">
            <a:avLst/>
          </a:prstGeom>
          <a:noFill/>
          <a:ln w="9525">
            <a:noFill/>
            <a:miter lim="800000"/>
            <a:headEnd/>
            <a:tailEnd/>
          </a:ln>
        </p:spPr>
        <p:txBody>
          <a:bodyPr lIns="92075" tIns="46038" rIns="92075" bIns="46038">
            <a:spAutoFit/>
          </a:bodyPr>
          <a:lstStyle/>
          <a:p>
            <a:pPr marL="342900" indent="-342900"/>
            <a:r>
              <a:rPr lang="zh-CN" altLang="en-US" b="1">
                <a:solidFill>
                  <a:srgbClr val="000000"/>
                </a:solidFill>
                <a:latin typeface="Times New Roman" pitchFamily="18" charset="0"/>
                <a:ea typeface="华文中宋"/>
                <a:cs typeface="华文中宋"/>
              </a:rPr>
              <a:t>热力学过程可分为：</a:t>
            </a:r>
            <a:r>
              <a:rPr lang="zh-CN" altLang="en-US" b="1">
                <a:solidFill>
                  <a:srgbClr val="FF0000"/>
                </a:solidFill>
                <a:latin typeface="Times New Roman" pitchFamily="18" charset="0"/>
                <a:ea typeface="华文中宋"/>
                <a:cs typeface="华文中宋"/>
              </a:rPr>
              <a:t>非静态过程</a:t>
            </a:r>
            <a:r>
              <a:rPr lang="zh-CN" altLang="en-US" b="1">
                <a:solidFill>
                  <a:srgbClr val="000000"/>
                </a:solidFill>
                <a:latin typeface="Times New Roman" pitchFamily="18" charset="0"/>
                <a:ea typeface="华文中宋"/>
                <a:cs typeface="华文中宋"/>
              </a:rPr>
              <a:t>与</a:t>
            </a:r>
            <a:r>
              <a:rPr lang="zh-CN" altLang="en-US" b="1">
                <a:solidFill>
                  <a:srgbClr val="FF0000"/>
                </a:solidFill>
                <a:latin typeface="Times New Roman" pitchFamily="18" charset="0"/>
                <a:ea typeface="华文中宋"/>
                <a:cs typeface="华文中宋"/>
              </a:rPr>
              <a:t>准静态过程</a:t>
            </a:r>
          </a:p>
        </p:txBody>
      </p:sp>
      <p:sp>
        <p:nvSpPr>
          <p:cNvPr id="22" name="Text Box 2"/>
          <p:cNvSpPr>
            <a:spLocks noChangeArrowheads="1"/>
          </p:cNvSpPr>
          <p:nvPr/>
        </p:nvSpPr>
        <p:spPr bwMode="auto">
          <a:xfrm>
            <a:off x="839788" y="874713"/>
            <a:ext cx="2219325" cy="400050"/>
          </a:xfrm>
          <a:prstGeom prst="homePlate">
            <a:avLst>
              <a:gd name="adj" fmla="val 49903"/>
            </a:avLst>
          </a:prstGeom>
          <a:solidFill>
            <a:srgbClr val="539A84"/>
          </a:solidFill>
          <a:ln w="9525">
            <a:noFill/>
            <a:miter lim="800000"/>
            <a:headEnd/>
            <a:tailEnd/>
          </a:ln>
        </p:spPr>
        <p:txBody>
          <a:bodyPr>
            <a:spAutoFit/>
          </a:bodyPr>
          <a:lstStyle/>
          <a:p>
            <a:pPr>
              <a:buFont typeface="Arial" charset="0"/>
              <a:buNone/>
            </a:pPr>
            <a:r>
              <a:rPr kumimoji="1" lang="zh-CN" altLang="en-US" sz="2000" b="1">
                <a:solidFill>
                  <a:srgbClr val="FFFFFF"/>
                </a:solidFill>
                <a:latin typeface="微软雅黑" pitchFamily="34" charset="-122"/>
                <a:ea typeface="微软雅黑" pitchFamily="34" charset="-122"/>
              </a:rPr>
              <a:t>二、准静态过程</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wipe(left)">
                                      <p:cBhvr>
                                        <p:cTn id="7" dur="500"/>
                                        <p:tgtEl>
                                          <p:spTgt spid="2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4758"/>
                                        </p:tgtEl>
                                        <p:attrNameLst>
                                          <p:attrName>style.visibility</p:attrName>
                                        </p:attrNameLst>
                                      </p:cBhvr>
                                      <p:to>
                                        <p:strVal val="visible"/>
                                      </p:to>
                                    </p:set>
                                    <p:animEffect transition="in" filter="wipe(left)">
                                      <p:cBhvr>
                                        <p:cTn id="12" dur="500"/>
                                        <p:tgtEl>
                                          <p:spTgt spid="7475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47483"/>
                                        </p:tgtEl>
                                        <p:attrNameLst>
                                          <p:attrName>style.visibility</p:attrName>
                                        </p:attrNameLst>
                                      </p:cBhvr>
                                      <p:to>
                                        <p:strVal val="visible"/>
                                      </p:to>
                                    </p:set>
                                    <p:animEffect transition="in" filter="blinds(horizontal)">
                                      <p:cBhvr>
                                        <p:cTn id="17" dur="500"/>
                                        <p:tgtEl>
                                          <p:spTgt spid="14748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36581"/>
                                        </p:tgtEl>
                                        <p:attrNameLst>
                                          <p:attrName>style.visibility</p:attrName>
                                        </p:attrNameLst>
                                      </p:cBhvr>
                                      <p:to>
                                        <p:strVal val="visible"/>
                                      </p:to>
                                    </p:set>
                                    <p:animEffect transition="in" filter="wipe(left)">
                                      <p:cBhvr>
                                        <p:cTn id="22" dur="500"/>
                                        <p:tgtEl>
                                          <p:spTgt spid="23658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74832"/>
                                        </p:tgtEl>
                                        <p:attrNameLst>
                                          <p:attrName>style.visibility</p:attrName>
                                        </p:attrNameLst>
                                      </p:cBhvr>
                                      <p:to>
                                        <p:strVal val="visible"/>
                                      </p:to>
                                    </p:set>
                                    <p:animEffect transition="in" filter="wipe(left)">
                                      <p:cBhvr>
                                        <p:cTn id="27" dur="500"/>
                                        <p:tgtEl>
                                          <p:spTgt spid="7483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wipe(left)">
                                      <p:cBhvr>
                                        <p:cTn id="32" dur="500"/>
                                        <p:tgtEl>
                                          <p:spTgt spid="2"/>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74866"/>
                                        </p:tgtEl>
                                        <p:attrNameLst>
                                          <p:attrName>style.visibility</p:attrName>
                                        </p:attrNameLst>
                                      </p:cBhvr>
                                      <p:to>
                                        <p:strVal val="visible"/>
                                      </p:to>
                                    </p:set>
                                    <p:animEffect transition="in" filter="wipe(left)">
                                      <p:cBhvr>
                                        <p:cTn id="37" dur="500"/>
                                        <p:tgtEl>
                                          <p:spTgt spid="74866"/>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74867"/>
                                        </p:tgtEl>
                                        <p:attrNameLst>
                                          <p:attrName>style.visibility</p:attrName>
                                        </p:attrNameLst>
                                      </p:cBhvr>
                                      <p:to>
                                        <p:strVal val="visible"/>
                                      </p:to>
                                    </p:set>
                                    <p:animEffect transition="in" filter="wipe(left)">
                                      <p:cBhvr>
                                        <p:cTn id="42" dur="500"/>
                                        <p:tgtEl>
                                          <p:spTgt spid="74867"/>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4"/>
                                        </p:tgtEl>
                                        <p:attrNameLst>
                                          <p:attrName>style.visibility</p:attrName>
                                        </p:attrNameLst>
                                      </p:cBhvr>
                                      <p:to>
                                        <p:strVal val="visible"/>
                                      </p:to>
                                    </p:set>
                                    <p:animEffect transition="in" filter="wipe(left)">
                                      <p:cBhvr>
                                        <p:cTn id="47" dur="500"/>
                                        <p:tgtEl>
                                          <p:spTgt spid="4"/>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6"/>
                                        </p:tgtEl>
                                        <p:attrNameLst>
                                          <p:attrName>style.visibility</p:attrName>
                                        </p:attrNameLst>
                                      </p:cBhvr>
                                      <p:to>
                                        <p:strVal val="visible"/>
                                      </p:to>
                                    </p:set>
                                    <p:animEffect transition="in" filter="wipe(left)">
                                      <p:cBhvr>
                                        <p:cTn id="52" dur="500"/>
                                        <p:tgtEl>
                                          <p:spTgt spid="6"/>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5"/>
                                        </p:tgtEl>
                                        <p:attrNameLst>
                                          <p:attrName>style.visibility</p:attrName>
                                        </p:attrNameLst>
                                      </p:cBhvr>
                                      <p:to>
                                        <p:strVal val="visible"/>
                                      </p:to>
                                    </p:set>
                                    <p:animEffect transition="in" filter="wipe(left)">
                                      <p:cBhvr>
                                        <p:cTn id="57" dur="500"/>
                                        <p:tgtEl>
                                          <p:spTgt spid="5"/>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46"/>
                                        </p:tgtEl>
                                        <p:attrNameLst>
                                          <p:attrName>style.visibility</p:attrName>
                                        </p:attrNameLst>
                                      </p:cBhvr>
                                      <p:to>
                                        <p:strVal val="visible"/>
                                      </p:to>
                                    </p:set>
                                    <p:animEffect transition="in" filter="wipe(left)">
                                      <p:cBhvr>
                                        <p:cTn id="62" dur="500"/>
                                        <p:tgtEl>
                                          <p:spTgt spid="46"/>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147473"/>
                                        </p:tgtEl>
                                        <p:attrNameLst>
                                          <p:attrName>style.visibility</p:attrName>
                                        </p:attrNameLst>
                                      </p:cBhvr>
                                      <p:to>
                                        <p:strVal val="visible"/>
                                      </p:to>
                                    </p:set>
                                    <p:animEffect transition="in" filter="blinds(horizontal)">
                                      <p:cBhvr>
                                        <p:cTn id="67" dur="500"/>
                                        <p:tgtEl>
                                          <p:spTgt spid="147473"/>
                                        </p:tgtEl>
                                      </p:cBhvr>
                                    </p:animEffect>
                                  </p:childTnLst>
                                </p:cTn>
                              </p:par>
                              <p:par>
                                <p:cTn id="68" presetID="3" presetClass="entr" presetSubtype="10" fill="hold" grpId="0" nodeType="withEffect">
                                  <p:stCondLst>
                                    <p:cond delay="0"/>
                                  </p:stCondLst>
                                  <p:childTnLst>
                                    <p:set>
                                      <p:cBhvr>
                                        <p:cTn id="69" dur="1" fill="hold">
                                          <p:stCondLst>
                                            <p:cond delay="0"/>
                                          </p:stCondLst>
                                        </p:cTn>
                                        <p:tgtEl>
                                          <p:spTgt spid="147472"/>
                                        </p:tgtEl>
                                        <p:attrNameLst>
                                          <p:attrName>style.visibility</p:attrName>
                                        </p:attrNameLst>
                                      </p:cBhvr>
                                      <p:to>
                                        <p:strVal val="visible"/>
                                      </p:to>
                                    </p:set>
                                    <p:animEffect transition="in" filter="blinds(horizontal)">
                                      <p:cBhvr>
                                        <p:cTn id="70" dur="500"/>
                                        <p:tgtEl>
                                          <p:spTgt spid="1474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58" grpId="0" autoUpdateAnimBg="0"/>
      <p:bldP spid="74832" grpId="0" animBg="1"/>
      <p:bldP spid="74866" grpId="0" animBg="1"/>
      <p:bldP spid="74867" grpId="0" autoUpdateAnimBg="0"/>
      <p:bldP spid="46" grpId="0" animBg="1" autoUpdateAnimBg="0"/>
      <p:bldP spid="147472" grpId="0"/>
      <p:bldP spid="147473" grpId="0" animBg="1"/>
      <p:bldP spid="4" grpId="0" animBg="1"/>
      <p:bldP spid="5" grpId="0" animBg="1"/>
      <p:bldP spid="236581" grpId="0"/>
      <p:bldP spid="147483" grpId="0"/>
      <p:bldP spid="22"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41"/>
          <p:cNvGrpSpPr>
            <a:grpSpLocks/>
          </p:cNvGrpSpPr>
          <p:nvPr/>
        </p:nvGrpSpPr>
        <p:grpSpPr bwMode="auto">
          <a:xfrm>
            <a:off x="1954213" y="1101725"/>
            <a:ext cx="1677987" cy="855663"/>
            <a:chOff x="896" y="3039"/>
            <a:chExt cx="1384" cy="870"/>
          </a:xfrm>
        </p:grpSpPr>
        <p:grpSp>
          <p:nvGrpSpPr>
            <p:cNvPr id="56358" name="Group 142"/>
            <p:cNvGrpSpPr>
              <a:grpSpLocks/>
            </p:cNvGrpSpPr>
            <p:nvPr/>
          </p:nvGrpSpPr>
          <p:grpSpPr bwMode="auto">
            <a:xfrm>
              <a:off x="896" y="3039"/>
              <a:ext cx="1384" cy="595"/>
              <a:chOff x="952" y="3436"/>
              <a:chExt cx="1384" cy="595"/>
            </a:xfrm>
          </p:grpSpPr>
          <p:sp>
            <p:nvSpPr>
              <p:cNvPr id="56361" name="Rectangle 143"/>
              <p:cNvSpPr>
                <a:spLocks noChangeArrowheads="1"/>
              </p:cNvSpPr>
              <p:nvPr/>
            </p:nvSpPr>
            <p:spPr bwMode="auto">
              <a:xfrm>
                <a:off x="1888" y="3436"/>
                <a:ext cx="43" cy="595"/>
              </a:xfrm>
              <a:prstGeom prst="rect">
                <a:avLst/>
              </a:prstGeom>
              <a:solidFill>
                <a:srgbClr val="00B0F0"/>
              </a:solidFill>
              <a:ln w="9525">
                <a:solidFill>
                  <a:schemeClr val="tx1"/>
                </a:solidFill>
                <a:miter lim="800000"/>
                <a:headEnd/>
                <a:tailEnd/>
              </a:ln>
            </p:spPr>
            <p:txBody>
              <a:bodyPr wrap="none" anchor="ctr"/>
              <a:lstStyle/>
              <a:p>
                <a:endParaRPr lang="zh-CN" altLang="zh-CN" sz="2000" b="1">
                  <a:solidFill>
                    <a:srgbClr val="000000"/>
                  </a:solidFill>
                  <a:latin typeface="Times New Roman" pitchFamily="18" charset="0"/>
                </a:endParaRPr>
              </a:p>
            </p:txBody>
          </p:sp>
          <p:sp>
            <p:nvSpPr>
              <p:cNvPr id="8216" name="Rectangle 144"/>
              <p:cNvSpPr>
                <a:spLocks noChangeArrowheads="1"/>
              </p:cNvSpPr>
              <p:nvPr/>
            </p:nvSpPr>
            <p:spPr bwMode="auto">
              <a:xfrm>
                <a:off x="1916" y="3720"/>
                <a:ext cx="385" cy="47"/>
              </a:xfrm>
              <a:prstGeom prst="rect">
                <a:avLst/>
              </a:prstGeom>
              <a:solidFill>
                <a:schemeClr val="bg1">
                  <a:lumMod val="75000"/>
                </a:schemeClr>
              </a:solidFill>
              <a:ln w="9525">
                <a:solidFill>
                  <a:srgbClr val="0070C0"/>
                </a:solidFill>
                <a:miter lim="800000"/>
                <a:headEnd/>
                <a:tailEnd/>
              </a:ln>
            </p:spPr>
            <p:txBody>
              <a:bodyPr wrap="none" anchor="ctr"/>
              <a:lstStyle/>
              <a:p>
                <a:pPr>
                  <a:defRPr/>
                </a:pPr>
                <a:endParaRPr lang="zh-CN" altLang="en-US" sz="2000" b="1">
                  <a:solidFill>
                    <a:prstClr val="black"/>
                  </a:solidFill>
                  <a:latin typeface="Times New Roman" pitchFamily="18" charset="0"/>
                  <a:ea typeface="+mn-ea"/>
                </a:endParaRPr>
              </a:p>
            </p:txBody>
          </p:sp>
          <p:sp>
            <p:nvSpPr>
              <p:cNvPr id="56363" name="Rectangle 145"/>
              <p:cNvSpPr>
                <a:spLocks noChangeArrowheads="1"/>
              </p:cNvSpPr>
              <p:nvPr/>
            </p:nvSpPr>
            <p:spPr bwMode="auto">
              <a:xfrm>
                <a:off x="952" y="3436"/>
                <a:ext cx="935" cy="595"/>
              </a:xfrm>
              <a:prstGeom prst="rect">
                <a:avLst/>
              </a:prstGeom>
              <a:gradFill rotWithShape="0">
                <a:gsLst>
                  <a:gs pos="0">
                    <a:srgbClr val="FF3300"/>
                  </a:gs>
                  <a:gs pos="17999">
                    <a:srgbClr val="FF3300"/>
                  </a:gs>
                  <a:gs pos="100000">
                    <a:srgbClr val="F2AC71"/>
                  </a:gs>
                </a:gsLst>
                <a:lin ang="10800000"/>
              </a:gradFill>
              <a:ln w="9525">
                <a:noFill/>
                <a:miter lim="800000"/>
                <a:headEnd/>
                <a:tailEnd/>
              </a:ln>
            </p:spPr>
            <p:txBody>
              <a:bodyPr wrap="none" anchor="ctr"/>
              <a:lstStyle/>
              <a:p>
                <a:endParaRPr lang="zh-CN" altLang="zh-CN" sz="2000" b="1">
                  <a:solidFill>
                    <a:srgbClr val="000000"/>
                  </a:solidFill>
                  <a:latin typeface="Times New Roman" pitchFamily="18" charset="0"/>
                </a:endParaRPr>
              </a:p>
            </p:txBody>
          </p:sp>
          <p:sp>
            <p:nvSpPr>
              <p:cNvPr id="56364" name="Freeform 146"/>
              <p:cNvSpPr>
                <a:spLocks/>
              </p:cNvSpPr>
              <p:nvPr/>
            </p:nvSpPr>
            <p:spPr bwMode="auto">
              <a:xfrm>
                <a:off x="952" y="3436"/>
                <a:ext cx="1384" cy="595"/>
              </a:xfrm>
              <a:custGeom>
                <a:avLst/>
                <a:gdLst>
                  <a:gd name="T0" fmla="*/ 37 w 1440"/>
                  <a:gd name="T1" fmla="*/ 0 h 672"/>
                  <a:gd name="T2" fmla="*/ 0 w 1440"/>
                  <a:gd name="T3" fmla="*/ 0 h 672"/>
                  <a:gd name="T4" fmla="*/ 0 w 1440"/>
                  <a:gd name="T5" fmla="*/ 4 h 672"/>
                  <a:gd name="T6" fmla="*/ 37 w 1440"/>
                  <a:gd name="T7" fmla="*/ 4 h 672"/>
                  <a:gd name="T8" fmla="*/ 0 60000 65536"/>
                  <a:gd name="T9" fmla="*/ 0 60000 65536"/>
                  <a:gd name="T10" fmla="*/ 0 60000 65536"/>
                  <a:gd name="T11" fmla="*/ 0 60000 65536"/>
                  <a:gd name="T12" fmla="*/ 0 w 1440"/>
                  <a:gd name="T13" fmla="*/ 0 h 672"/>
                  <a:gd name="T14" fmla="*/ 1440 w 1440"/>
                  <a:gd name="T15" fmla="*/ 672 h 672"/>
                </a:gdLst>
                <a:ahLst/>
                <a:cxnLst>
                  <a:cxn ang="T8">
                    <a:pos x="T0" y="T1"/>
                  </a:cxn>
                  <a:cxn ang="T9">
                    <a:pos x="T2" y="T3"/>
                  </a:cxn>
                  <a:cxn ang="T10">
                    <a:pos x="T4" y="T5"/>
                  </a:cxn>
                  <a:cxn ang="T11">
                    <a:pos x="T6" y="T7"/>
                  </a:cxn>
                </a:cxnLst>
                <a:rect l="T12" t="T13" r="T14" b="T15"/>
                <a:pathLst>
                  <a:path w="1440" h="672">
                    <a:moveTo>
                      <a:pt x="1440" y="0"/>
                    </a:moveTo>
                    <a:lnTo>
                      <a:pt x="0" y="0"/>
                    </a:lnTo>
                    <a:lnTo>
                      <a:pt x="0" y="672"/>
                    </a:lnTo>
                    <a:lnTo>
                      <a:pt x="1440" y="672"/>
                    </a:lnTo>
                  </a:path>
                </a:pathLst>
              </a:custGeom>
              <a:noFill/>
              <a:ln w="38100">
                <a:solidFill>
                  <a:srgbClr val="0070C0"/>
                </a:solidFill>
                <a:round/>
                <a:headEnd/>
                <a:tailEnd/>
              </a:ln>
            </p:spPr>
            <p:txBody>
              <a:bodyPr/>
              <a:lstStyle/>
              <a:p>
                <a:endParaRPr lang="zh-CN" altLang="en-US"/>
              </a:p>
            </p:txBody>
          </p:sp>
        </p:grpSp>
        <p:sp>
          <p:nvSpPr>
            <p:cNvPr id="56359" name="Rectangle 147"/>
            <p:cNvSpPr>
              <a:spLocks noChangeArrowheads="1"/>
            </p:cNvSpPr>
            <p:nvPr/>
          </p:nvSpPr>
          <p:spPr bwMode="auto">
            <a:xfrm>
              <a:off x="1100" y="3638"/>
              <a:ext cx="601" cy="271"/>
            </a:xfrm>
            <a:prstGeom prst="rect">
              <a:avLst/>
            </a:prstGeom>
            <a:noFill/>
            <a:ln w="9525">
              <a:noFill/>
              <a:miter lim="800000"/>
              <a:headEnd/>
              <a:tailEnd/>
            </a:ln>
          </p:spPr>
          <p:txBody>
            <a:bodyPr wrap="none">
              <a:spAutoFit/>
            </a:bodyPr>
            <a:lstStyle/>
            <a:p>
              <a:r>
                <a:rPr kumimoji="1" lang="zh-CN" altLang="en-US" sz="1500" b="1">
                  <a:solidFill>
                    <a:srgbClr val="000000"/>
                  </a:solidFill>
                  <a:latin typeface="Times New Roman" pitchFamily="18" charset="0"/>
                  <a:ea typeface="华文中宋"/>
                  <a:cs typeface="华文中宋"/>
                </a:rPr>
                <a:t>非平衡态</a:t>
              </a:r>
            </a:p>
          </p:txBody>
        </p:sp>
        <p:sp>
          <p:nvSpPr>
            <p:cNvPr id="56360" name="Rectangle 148"/>
            <p:cNvSpPr>
              <a:spLocks noChangeArrowheads="1"/>
            </p:cNvSpPr>
            <p:nvPr/>
          </p:nvSpPr>
          <p:spPr bwMode="auto">
            <a:xfrm>
              <a:off x="1831" y="3063"/>
              <a:ext cx="359" cy="271"/>
            </a:xfrm>
            <a:prstGeom prst="rect">
              <a:avLst/>
            </a:prstGeom>
            <a:noFill/>
            <a:ln w="9525">
              <a:noFill/>
              <a:miter lim="800000"/>
              <a:headEnd/>
              <a:tailEnd/>
            </a:ln>
          </p:spPr>
          <p:txBody>
            <a:bodyPr wrap="none">
              <a:spAutoFit/>
            </a:bodyPr>
            <a:lstStyle/>
            <a:p>
              <a:r>
                <a:rPr kumimoji="1" lang="en-US" altLang="zh-CN" sz="1500" b="1">
                  <a:solidFill>
                    <a:srgbClr val="0000FF"/>
                  </a:solidFill>
                  <a:latin typeface="Times New Roman" pitchFamily="18" charset="0"/>
                  <a:ea typeface="华文中宋"/>
                  <a:cs typeface="华文中宋"/>
                </a:rPr>
                <a:t>←</a:t>
              </a:r>
              <a:r>
                <a:rPr kumimoji="1" lang="zh-CN" altLang="en-US" sz="1500" b="1">
                  <a:solidFill>
                    <a:srgbClr val="0000FF"/>
                  </a:solidFill>
                  <a:latin typeface="Times New Roman" pitchFamily="18" charset="0"/>
                  <a:ea typeface="华文中宋"/>
                  <a:cs typeface="华文中宋"/>
                </a:rPr>
                <a:t>快</a:t>
              </a:r>
            </a:p>
          </p:txBody>
        </p:sp>
      </p:grpSp>
      <p:grpSp>
        <p:nvGrpSpPr>
          <p:cNvPr id="5" name="Group 149"/>
          <p:cNvGrpSpPr>
            <a:grpSpLocks/>
          </p:cNvGrpSpPr>
          <p:nvPr/>
        </p:nvGrpSpPr>
        <p:grpSpPr bwMode="auto">
          <a:xfrm>
            <a:off x="5014913" y="1111250"/>
            <a:ext cx="2005012" cy="904875"/>
            <a:chOff x="3022" y="3039"/>
            <a:chExt cx="1654" cy="885"/>
          </a:xfrm>
        </p:grpSpPr>
        <p:grpSp>
          <p:nvGrpSpPr>
            <p:cNvPr id="56351" name="Group 150"/>
            <p:cNvGrpSpPr>
              <a:grpSpLocks/>
            </p:cNvGrpSpPr>
            <p:nvPr/>
          </p:nvGrpSpPr>
          <p:grpSpPr bwMode="auto">
            <a:xfrm>
              <a:off x="3022" y="3039"/>
              <a:ext cx="1384" cy="595"/>
              <a:chOff x="952" y="3436"/>
              <a:chExt cx="1384" cy="595"/>
            </a:xfrm>
          </p:grpSpPr>
          <p:sp>
            <p:nvSpPr>
              <p:cNvPr id="56354" name="Rectangle 151"/>
              <p:cNvSpPr>
                <a:spLocks noChangeArrowheads="1"/>
              </p:cNvSpPr>
              <p:nvPr/>
            </p:nvSpPr>
            <p:spPr bwMode="auto">
              <a:xfrm>
                <a:off x="1888" y="3436"/>
                <a:ext cx="43" cy="595"/>
              </a:xfrm>
              <a:prstGeom prst="rect">
                <a:avLst/>
              </a:prstGeom>
              <a:solidFill>
                <a:srgbClr val="00B0F0"/>
              </a:solidFill>
              <a:ln w="9525">
                <a:solidFill>
                  <a:schemeClr val="tx1"/>
                </a:solidFill>
                <a:miter lim="800000"/>
                <a:headEnd/>
                <a:tailEnd/>
              </a:ln>
            </p:spPr>
            <p:txBody>
              <a:bodyPr wrap="none" anchor="ctr"/>
              <a:lstStyle/>
              <a:p>
                <a:endParaRPr lang="zh-CN" altLang="zh-CN" sz="2000" b="1">
                  <a:solidFill>
                    <a:srgbClr val="000000"/>
                  </a:solidFill>
                  <a:latin typeface="Times New Roman" pitchFamily="18" charset="0"/>
                </a:endParaRPr>
              </a:p>
            </p:txBody>
          </p:sp>
          <p:sp>
            <p:nvSpPr>
              <p:cNvPr id="8209" name="Rectangle 152"/>
              <p:cNvSpPr>
                <a:spLocks noChangeArrowheads="1"/>
              </p:cNvSpPr>
              <p:nvPr/>
            </p:nvSpPr>
            <p:spPr bwMode="auto">
              <a:xfrm>
                <a:off x="1916" y="3719"/>
                <a:ext cx="385" cy="48"/>
              </a:xfrm>
              <a:prstGeom prst="rect">
                <a:avLst/>
              </a:prstGeom>
              <a:solidFill>
                <a:schemeClr val="bg1">
                  <a:lumMod val="75000"/>
                </a:schemeClr>
              </a:solidFill>
              <a:ln w="9525">
                <a:solidFill>
                  <a:schemeClr val="tx1"/>
                </a:solidFill>
                <a:miter lim="800000"/>
                <a:headEnd/>
                <a:tailEnd/>
              </a:ln>
            </p:spPr>
            <p:txBody>
              <a:bodyPr wrap="none" anchor="ctr"/>
              <a:lstStyle/>
              <a:p>
                <a:pPr>
                  <a:defRPr/>
                </a:pPr>
                <a:endParaRPr lang="zh-CN" altLang="en-US" sz="2000" b="1">
                  <a:solidFill>
                    <a:prstClr val="black"/>
                  </a:solidFill>
                  <a:latin typeface="Times New Roman" pitchFamily="18" charset="0"/>
                  <a:ea typeface="+mn-ea"/>
                </a:endParaRPr>
              </a:p>
            </p:txBody>
          </p:sp>
          <p:sp>
            <p:nvSpPr>
              <p:cNvPr id="8210" name="Rectangle 153"/>
              <p:cNvSpPr>
                <a:spLocks noChangeArrowheads="1"/>
              </p:cNvSpPr>
              <p:nvPr/>
            </p:nvSpPr>
            <p:spPr bwMode="auto">
              <a:xfrm>
                <a:off x="952" y="3436"/>
                <a:ext cx="935" cy="595"/>
              </a:xfrm>
              <a:prstGeom prst="rect">
                <a:avLst/>
              </a:prstGeom>
              <a:solidFill>
                <a:schemeClr val="accent6">
                  <a:lumMod val="60000"/>
                  <a:lumOff val="40000"/>
                </a:schemeClr>
              </a:solidFill>
              <a:ln>
                <a:noFill/>
              </a:ln>
              <a:extLst/>
            </p:spPr>
            <p:txBody>
              <a:bodyPr wrap="none" anchor="ctr"/>
              <a:lstStyle/>
              <a:p>
                <a:pPr>
                  <a:defRPr/>
                </a:pPr>
                <a:endParaRPr lang="zh-CN" altLang="en-US" sz="2000" b="1">
                  <a:solidFill>
                    <a:prstClr val="black"/>
                  </a:solidFill>
                  <a:latin typeface="Times New Roman" pitchFamily="18" charset="0"/>
                  <a:ea typeface="+mn-ea"/>
                </a:endParaRPr>
              </a:p>
            </p:txBody>
          </p:sp>
          <p:sp>
            <p:nvSpPr>
              <p:cNvPr id="56357" name="Freeform 154"/>
              <p:cNvSpPr>
                <a:spLocks/>
              </p:cNvSpPr>
              <p:nvPr/>
            </p:nvSpPr>
            <p:spPr bwMode="auto">
              <a:xfrm>
                <a:off x="952" y="3436"/>
                <a:ext cx="1384" cy="595"/>
              </a:xfrm>
              <a:custGeom>
                <a:avLst/>
                <a:gdLst>
                  <a:gd name="T0" fmla="*/ 37 w 1440"/>
                  <a:gd name="T1" fmla="*/ 0 h 672"/>
                  <a:gd name="T2" fmla="*/ 0 w 1440"/>
                  <a:gd name="T3" fmla="*/ 0 h 672"/>
                  <a:gd name="T4" fmla="*/ 0 w 1440"/>
                  <a:gd name="T5" fmla="*/ 4 h 672"/>
                  <a:gd name="T6" fmla="*/ 37 w 1440"/>
                  <a:gd name="T7" fmla="*/ 4 h 672"/>
                  <a:gd name="T8" fmla="*/ 0 60000 65536"/>
                  <a:gd name="T9" fmla="*/ 0 60000 65536"/>
                  <a:gd name="T10" fmla="*/ 0 60000 65536"/>
                  <a:gd name="T11" fmla="*/ 0 60000 65536"/>
                  <a:gd name="T12" fmla="*/ 0 w 1440"/>
                  <a:gd name="T13" fmla="*/ 0 h 672"/>
                  <a:gd name="T14" fmla="*/ 1440 w 1440"/>
                  <a:gd name="T15" fmla="*/ 672 h 672"/>
                </a:gdLst>
                <a:ahLst/>
                <a:cxnLst>
                  <a:cxn ang="T8">
                    <a:pos x="T0" y="T1"/>
                  </a:cxn>
                  <a:cxn ang="T9">
                    <a:pos x="T2" y="T3"/>
                  </a:cxn>
                  <a:cxn ang="T10">
                    <a:pos x="T4" y="T5"/>
                  </a:cxn>
                  <a:cxn ang="T11">
                    <a:pos x="T6" y="T7"/>
                  </a:cxn>
                </a:cxnLst>
                <a:rect l="T12" t="T13" r="T14" b="T15"/>
                <a:pathLst>
                  <a:path w="1440" h="672">
                    <a:moveTo>
                      <a:pt x="1440" y="0"/>
                    </a:moveTo>
                    <a:lnTo>
                      <a:pt x="0" y="0"/>
                    </a:lnTo>
                    <a:lnTo>
                      <a:pt x="0" y="672"/>
                    </a:lnTo>
                    <a:lnTo>
                      <a:pt x="1440" y="672"/>
                    </a:lnTo>
                  </a:path>
                </a:pathLst>
              </a:custGeom>
              <a:noFill/>
              <a:ln w="38100">
                <a:solidFill>
                  <a:srgbClr val="0070C0"/>
                </a:solidFill>
                <a:round/>
                <a:headEnd/>
                <a:tailEnd/>
              </a:ln>
            </p:spPr>
            <p:txBody>
              <a:bodyPr/>
              <a:lstStyle/>
              <a:p>
                <a:endParaRPr lang="zh-CN" altLang="en-US"/>
              </a:p>
            </p:txBody>
          </p:sp>
        </p:grpSp>
        <p:sp>
          <p:nvSpPr>
            <p:cNvPr id="56352" name="Rectangle 155"/>
            <p:cNvSpPr>
              <a:spLocks noChangeArrowheads="1"/>
            </p:cNvSpPr>
            <p:nvPr/>
          </p:nvSpPr>
          <p:spPr bwMode="auto">
            <a:xfrm>
              <a:off x="3954" y="3039"/>
              <a:ext cx="722" cy="261"/>
            </a:xfrm>
            <a:prstGeom prst="rect">
              <a:avLst/>
            </a:prstGeom>
            <a:noFill/>
            <a:ln w="9525">
              <a:noFill/>
              <a:miter lim="800000"/>
              <a:headEnd/>
              <a:tailEnd/>
            </a:ln>
          </p:spPr>
          <p:txBody>
            <a:bodyPr wrap="none">
              <a:spAutoFit/>
            </a:bodyPr>
            <a:lstStyle/>
            <a:p>
              <a:r>
                <a:rPr kumimoji="1" lang="en-US" altLang="zh-CN" sz="1500" b="1">
                  <a:solidFill>
                    <a:srgbClr val="0000FF"/>
                  </a:solidFill>
                  <a:latin typeface="Times New Roman" pitchFamily="18" charset="0"/>
                  <a:ea typeface="华文中宋"/>
                  <a:cs typeface="华文中宋"/>
                </a:rPr>
                <a:t>←</a:t>
              </a:r>
              <a:r>
                <a:rPr kumimoji="1" lang="zh-CN" altLang="en-US" sz="1500" b="1">
                  <a:solidFill>
                    <a:srgbClr val="0000FF"/>
                  </a:solidFill>
                  <a:latin typeface="Times New Roman" pitchFamily="18" charset="0"/>
                  <a:ea typeface="华文中宋"/>
                  <a:cs typeface="华文中宋"/>
                </a:rPr>
                <a:t>无限缓慢</a:t>
              </a:r>
            </a:p>
          </p:txBody>
        </p:sp>
        <p:sp>
          <p:nvSpPr>
            <p:cNvPr id="56353" name="Rectangle 156"/>
            <p:cNvSpPr>
              <a:spLocks noChangeArrowheads="1"/>
            </p:cNvSpPr>
            <p:nvPr/>
          </p:nvSpPr>
          <p:spPr bwMode="auto">
            <a:xfrm>
              <a:off x="3250" y="3663"/>
              <a:ext cx="722" cy="261"/>
            </a:xfrm>
            <a:prstGeom prst="rect">
              <a:avLst/>
            </a:prstGeom>
            <a:noFill/>
            <a:ln w="9525">
              <a:noFill/>
              <a:miter lim="800000"/>
              <a:headEnd/>
              <a:tailEnd/>
            </a:ln>
          </p:spPr>
          <p:txBody>
            <a:bodyPr wrap="none">
              <a:spAutoFit/>
            </a:bodyPr>
            <a:lstStyle/>
            <a:p>
              <a:r>
                <a:rPr kumimoji="1" lang="zh-CN" altLang="en-US" sz="1500" b="1">
                  <a:solidFill>
                    <a:srgbClr val="000000"/>
                  </a:solidFill>
                  <a:latin typeface="Times New Roman" pitchFamily="18" charset="0"/>
                  <a:ea typeface="华文中宋"/>
                  <a:cs typeface="华文中宋"/>
                </a:rPr>
                <a:t>接近平衡态</a:t>
              </a:r>
            </a:p>
          </p:txBody>
        </p:sp>
      </p:grpSp>
      <p:sp>
        <p:nvSpPr>
          <p:cNvPr id="24" name="Text Box 20"/>
          <p:cNvSpPr txBox="1">
            <a:spLocks noChangeArrowheads="1"/>
          </p:cNvSpPr>
          <p:nvPr/>
        </p:nvSpPr>
        <p:spPr bwMode="auto">
          <a:xfrm>
            <a:off x="2986088" y="771525"/>
            <a:ext cx="3025775" cy="396875"/>
          </a:xfrm>
          <a:prstGeom prst="rect">
            <a:avLst/>
          </a:prstGeom>
          <a:noFill/>
          <a:ln w="9525">
            <a:noFill/>
            <a:miter lim="800000"/>
            <a:headEnd/>
            <a:tailEnd/>
          </a:ln>
        </p:spPr>
        <p:txBody>
          <a:bodyPr>
            <a:spAutoFit/>
          </a:bodyPr>
          <a:lstStyle/>
          <a:p>
            <a:pPr algn="ctr">
              <a:lnSpc>
                <a:spcPct val="110000"/>
              </a:lnSpc>
            </a:pPr>
            <a:r>
              <a:rPr kumimoji="1" lang="zh-CN" altLang="en-US" b="1">
                <a:solidFill>
                  <a:srgbClr val="000000"/>
                </a:solidFill>
                <a:latin typeface="Times New Roman" pitchFamily="18" charset="0"/>
                <a:ea typeface="华文中宋"/>
                <a:cs typeface="华文中宋"/>
              </a:rPr>
              <a:t>矛盾统一于</a:t>
            </a:r>
            <a:r>
              <a:rPr kumimoji="1" lang="zh-CN" altLang="en-US" b="1">
                <a:solidFill>
                  <a:srgbClr val="000000"/>
                </a:solidFill>
                <a:latin typeface="华文中宋"/>
                <a:ea typeface="华文中宋"/>
                <a:cs typeface="华文中宋"/>
              </a:rPr>
              <a:t>“</a:t>
            </a:r>
            <a:r>
              <a:rPr kumimoji="1" lang="zh-CN" altLang="en-US" b="1">
                <a:solidFill>
                  <a:srgbClr val="000000"/>
                </a:solidFill>
                <a:latin typeface="Times New Roman" pitchFamily="18" charset="0"/>
                <a:ea typeface="华文中宋"/>
                <a:cs typeface="华文中宋"/>
              </a:rPr>
              <a:t>无限缓慢</a:t>
            </a:r>
            <a:r>
              <a:rPr kumimoji="1" lang="zh-CN" altLang="en-US" b="1">
                <a:solidFill>
                  <a:srgbClr val="000000"/>
                </a:solidFill>
                <a:latin typeface="华文中宋"/>
                <a:ea typeface="华文中宋"/>
                <a:cs typeface="华文中宋"/>
              </a:rPr>
              <a:t>”</a:t>
            </a:r>
            <a:endParaRPr kumimoji="1" lang="zh-CN" altLang="en-US" b="1">
              <a:solidFill>
                <a:srgbClr val="000000"/>
              </a:solidFill>
              <a:latin typeface="Times New Roman" pitchFamily="18" charset="0"/>
              <a:ea typeface="华文中宋"/>
              <a:cs typeface="华文中宋"/>
            </a:endParaRPr>
          </a:p>
        </p:txBody>
      </p:sp>
      <p:sp>
        <p:nvSpPr>
          <p:cNvPr id="32" name="Rectangle 36"/>
          <p:cNvSpPr>
            <a:spLocks noChangeArrowheads="1"/>
          </p:cNvSpPr>
          <p:nvPr/>
        </p:nvSpPr>
        <p:spPr bwMode="auto">
          <a:xfrm>
            <a:off x="1692275" y="1936750"/>
            <a:ext cx="5327650" cy="347663"/>
          </a:xfrm>
          <a:prstGeom prst="rect">
            <a:avLst/>
          </a:prstGeom>
          <a:noFill/>
          <a:ln w="9525">
            <a:noFill/>
            <a:miter lim="800000"/>
            <a:headEnd/>
            <a:tailEnd/>
          </a:ln>
        </p:spPr>
        <p:txBody>
          <a:bodyPr>
            <a:spAutoFit/>
          </a:bodyPr>
          <a:lstStyle/>
          <a:p>
            <a:pPr algn="ctr">
              <a:lnSpc>
                <a:spcPct val="110000"/>
              </a:lnSpc>
            </a:pPr>
            <a:r>
              <a:rPr kumimoji="1" lang="zh-CN" altLang="en-US" sz="1500" b="1">
                <a:solidFill>
                  <a:srgbClr val="000000"/>
                </a:solidFill>
                <a:latin typeface="Times New Roman" pitchFamily="18" charset="0"/>
                <a:ea typeface="华文中宋"/>
                <a:cs typeface="华文中宋"/>
              </a:rPr>
              <a:t>无限缓慢只是个相对的概念，如何判定？</a:t>
            </a:r>
          </a:p>
        </p:txBody>
      </p:sp>
      <p:sp>
        <p:nvSpPr>
          <p:cNvPr id="26" name="Rectangle 23"/>
          <p:cNvSpPr>
            <a:spLocks noChangeArrowheads="1"/>
          </p:cNvSpPr>
          <p:nvPr/>
        </p:nvSpPr>
        <p:spPr bwMode="auto">
          <a:xfrm>
            <a:off x="5435600" y="2392363"/>
            <a:ext cx="1184275" cy="323850"/>
          </a:xfrm>
          <a:prstGeom prst="rect">
            <a:avLst/>
          </a:prstGeom>
          <a:noFill/>
          <a:ln w="9525">
            <a:solidFill>
              <a:srgbClr val="FF00FF"/>
            </a:solidFill>
            <a:miter lim="800000"/>
            <a:headEnd/>
            <a:tailEnd/>
          </a:ln>
        </p:spPr>
        <p:txBody>
          <a:bodyPr>
            <a:spAutoFit/>
          </a:bodyPr>
          <a:lstStyle/>
          <a:p>
            <a:pPr algn="ctr"/>
            <a:r>
              <a:rPr kumimoji="1" lang="zh-CN" altLang="en-US" sz="1500" b="1">
                <a:solidFill>
                  <a:srgbClr val="000000"/>
                </a:solidFill>
                <a:latin typeface="Times New Roman" pitchFamily="18" charset="0"/>
                <a:ea typeface="华文中宋"/>
                <a:cs typeface="华文中宋"/>
              </a:rPr>
              <a:t>平衡态破坏</a:t>
            </a:r>
          </a:p>
        </p:txBody>
      </p:sp>
      <p:sp>
        <p:nvSpPr>
          <p:cNvPr id="28" name="Rectangle 25"/>
          <p:cNvSpPr>
            <a:spLocks noChangeArrowheads="1"/>
          </p:cNvSpPr>
          <p:nvPr/>
        </p:nvSpPr>
        <p:spPr bwMode="auto">
          <a:xfrm>
            <a:off x="7389813" y="2365375"/>
            <a:ext cx="1196975" cy="323850"/>
          </a:xfrm>
          <a:prstGeom prst="rect">
            <a:avLst/>
          </a:prstGeom>
          <a:noFill/>
          <a:ln w="9525">
            <a:solidFill>
              <a:srgbClr val="FF00FF"/>
            </a:solidFill>
            <a:miter lim="800000"/>
            <a:headEnd/>
            <a:tailEnd/>
          </a:ln>
        </p:spPr>
        <p:txBody>
          <a:bodyPr>
            <a:spAutoFit/>
          </a:bodyPr>
          <a:lstStyle/>
          <a:p>
            <a:pPr algn="ctr">
              <a:spcBef>
                <a:spcPct val="50000"/>
              </a:spcBef>
            </a:pPr>
            <a:r>
              <a:rPr kumimoji="1" lang="zh-CN" altLang="en-US" sz="1500" b="1">
                <a:solidFill>
                  <a:srgbClr val="000000"/>
                </a:solidFill>
                <a:latin typeface="Times New Roman" pitchFamily="18" charset="0"/>
                <a:ea typeface="华文中宋"/>
                <a:cs typeface="华文中宋"/>
              </a:rPr>
              <a:t>新的平衡态</a:t>
            </a:r>
          </a:p>
        </p:txBody>
      </p:sp>
      <p:sp>
        <p:nvSpPr>
          <p:cNvPr id="29" name="Rectangle 26"/>
          <p:cNvSpPr>
            <a:spLocks noChangeArrowheads="1"/>
          </p:cNvSpPr>
          <p:nvPr/>
        </p:nvSpPr>
        <p:spPr bwMode="auto">
          <a:xfrm>
            <a:off x="6648450" y="2225675"/>
            <a:ext cx="381000" cy="323850"/>
          </a:xfrm>
          <a:prstGeom prst="rect">
            <a:avLst/>
          </a:prstGeom>
          <a:noFill/>
          <a:ln w="9525">
            <a:noFill/>
            <a:miter lim="800000"/>
            <a:headEnd/>
            <a:tailEnd/>
          </a:ln>
        </p:spPr>
        <p:txBody>
          <a:bodyPr>
            <a:spAutoFit/>
          </a:bodyPr>
          <a:lstStyle/>
          <a:p>
            <a:pPr algn="r" eaLnBrk="0" hangingPunct="0"/>
            <a:r>
              <a:rPr kumimoji="1" lang="en-US" altLang="zh-CN" sz="1500" b="1" i="1">
                <a:solidFill>
                  <a:srgbClr val="0000FF"/>
                </a:solidFill>
                <a:latin typeface="Times New Roman" pitchFamily="18" charset="0"/>
                <a:sym typeface="Symbol" pitchFamily="18" charset="2"/>
              </a:rPr>
              <a:t></a:t>
            </a:r>
          </a:p>
        </p:txBody>
      </p:sp>
      <p:sp>
        <p:nvSpPr>
          <p:cNvPr id="30" name="Rectangle 34"/>
          <p:cNvSpPr>
            <a:spLocks noChangeArrowheads="1"/>
          </p:cNvSpPr>
          <p:nvPr/>
        </p:nvSpPr>
        <p:spPr bwMode="auto">
          <a:xfrm>
            <a:off x="323850" y="2211388"/>
            <a:ext cx="4900613" cy="701675"/>
          </a:xfrm>
          <a:prstGeom prst="rect">
            <a:avLst/>
          </a:prstGeom>
          <a:noFill/>
          <a:ln w="9525">
            <a:noFill/>
            <a:miter lim="800000"/>
            <a:headEnd/>
            <a:tailEnd/>
          </a:ln>
        </p:spPr>
        <p:txBody>
          <a:bodyPr>
            <a:spAutoFit/>
          </a:bodyPr>
          <a:lstStyle/>
          <a:p>
            <a:pPr>
              <a:lnSpc>
                <a:spcPct val="110000"/>
              </a:lnSpc>
            </a:pPr>
            <a:r>
              <a:rPr kumimoji="1" lang="zh-CN" altLang="en-US" b="1">
                <a:solidFill>
                  <a:srgbClr val="0000FF"/>
                </a:solidFill>
                <a:latin typeface="华文中宋"/>
                <a:ea typeface="华文中宋"/>
                <a:cs typeface="华文中宋"/>
              </a:rPr>
              <a:t>弛豫时间</a:t>
            </a:r>
            <a:r>
              <a:rPr kumimoji="1" lang="zh-CN" altLang="en-US" b="1" i="1">
                <a:solidFill>
                  <a:srgbClr val="0000FF"/>
                </a:solidFill>
                <a:latin typeface="华文中宋"/>
                <a:ea typeface="华文中宋"/>
                <a:cs typeface="华文中宋"/>
                <a:sym typeface="Symbol" pitchFamily="18" charset="2"/>
              </a:rPr>
              <a:t> </a:t>
            </a:r>
            <a:r>
              <a:rPr kumimoji="1" lang="en-US" altLang="zh-CN" b="1">
                <a:solidFill>
                  <a:srgbClr val="0000FF"/>
                </a:solidFill>
                <a:latin typeface="华文中宋"/>
                <a:ea typeface="华文中宋"/>
                <a:cs typeface="华文中宋"/>
                <a:sym typeface="Symbol" pitchFamily="18" charset="2"/>
              </a:rPr>
              <a:t>: </a:t>
            </a:r>
            <a:r>
              <a:rPr lang="zh-CN" altLang="en-US" b="1">
                <a:solidFill>
                  <a:srgbClr val="000000"/>
                </a:solidFill>
                <a:latin typeface="华文中宋"/>
                <a:ea typeface="华文中宋"/>
                <a:cs typeface="华文中宋"/>
              </a:rPr>
              <a:t>系统从一个平衡态变到相邻平衡态</a:t>
            </a:r>
            <a:endParaRPr lang="en-US" altLang="zh-CN" b="1">
              <a:solidFill>
                <a:srgbClr val="000000"/>
              </a:solidFill>
              <a:latin typeface="华文中宋"/>
              <a:ea typeface="华文中宋"/>
              <a:cs typeface="华文中宋"/>
            </a:endParaRPr>
          </a:p>
          <a:p>
            <a:pPr>
              <a:lnSpc>
                <a:spcPct val="110000"/>
              </a:lnSpc>
            </a:pPr>
            <a:r>
              <a:rPr lang="en-US" altLang="zh-CN" b="1">
                <a:solidFill>
                  <a:srgbClr val="000000"/>
                </a:solidFill>
                <a:latin typeface="华文中宋"/>
                <a:ea typeface="华文中宋"/>
                <a:cs typeface="华文中宋"/>
              </a:rPr>
              <a:t>                 </a:t>
            </a:r>
            <a:r>
              <a:rPr lang="zh-CN" altLang="en-US" b="1">
                <a:solidFill>
                  <a:srgbClr val="000000"/>
                </a:solidFill>
                <a:latin typeface="华文中宋"/>
                <a:ea typeface="华文中宋"/>
                <a:cs typeface="华文中宋"/>
              </a:rPr>
              <a:t>所经过的时间。</a:t>
            </a:r>
          </a:p>
        </p:txBody>
      </p:sp>
      <p:sp>
        <p:nvSpPr>
          <p:cNvPr id="31" name="Text Box 35"/>
          <p:cNvSpPr txBox="1">
            <a:spLocks noChangeArrowheads="1"/>
          </p:cNvSpPr>
          <p:nvPr/>
        </p:nvSpPr>
        <p:spPr bwMode="auto">
          <a:xfrm>
            <a:off x="250825" y="2841625"/>
            <a:ext cx="4826000" cy="396875"/>
          </a:xfrm>
          <a:prstGeom prst="rect">
            <a:avLst/>
          </a:prstGeom>
          <a:noFill/>
          <a:ln w="9525">
            <a:noFill/>
            <a:miter lim="800000"/>
            <a:headEnd/>
            <a:tailEnd/>
          </a:ln>
        </p:spPr>
        <p:txBody>
          <a:bodyPr>
            <a:spAutoFit/>
          </a:bodyPr>
          <a:lstStyle/>
          <a:p>
            <a:pPr>
              <a:lnSpc>
                <a:spcPct val="110000"/>
              </a:lnSpc>
            </a:pPr>
            <a:r>
              <a:rPr kumimoji="1" lang="en-US" altLang="zh-CN" b="1">
                <a:solidFill>
                  <a:srgbClr val="0000FF"/>
                </a:solidFill>
                <a:latin typeface="华文中宋"/>
                <a:ea typeface="华文中宋"/>
                <a:cs typeface="华文中宋"/>
              </a:rPr>
              <a:t> </a:t>
            </a:r>
            <a:r>
              <a:rPr kumimoji="1" lang="en-US" altLang="zh-CN" b="1">
                <a:solidFill>
                  <a:srgbClr val="0000FF"/>
                </a:solidFill>
                <a:latin typeface="华文中宋"/>
                <a:ea typeface="华文中宋"/>
                <a:cs typeface="华文中宋"/>
                <a:sym typeface="Symbol" pitchFamily="18" charset="2"/>
              </a:rPr>
              <a:t></a:t>
            </a:r>
            <a:r>
              <a:rPr kumimoji="1" lang="en-US" altLang="zh-CN" b="1" i="1">
                <a:solidFill>
                  <a:srgbClr val="0000FF"/>
                </a:solidFill>
                <a:latin typeface="华文中宋"/>
                <a:ea typeface="华文中宋"/>
                <a:cs typeface="华文中宋"/>
              </a:rPr>
              <a:t>t</a:t>
            </a:r>
            <a:r>
              <a:rPr kumimoji="1" lang="zh-CN" altLang="en-US" b="1" baseline="-25000">
                <a:solidFill>
                  <a:srgbClr val="0000FF"/>
                </a:solidFill>
                <a:latin typeface="华文中宋"/>
                <a:ea typeface="华文中宋"/>
                <a:cs typeface="华文中宋"/>
              </a:rPr>
              <a:t>过程</a:t>
            </a:r>
            <a:r>
              <a:rPr kumimoji="1" lang="zh-CN" altLang="en-US" b="1">
                <a:solidFill>
                  <a:srgbClr val="0000FF"/>
                </a:solidFill>
                <a:latin typeface="华文中宋"/>
                <a:ea typeface="华文中宋"/>
                <a:cs typeface="华文中宋"/>
              </a:rPr>
              <a:t> </a:t>
            </a:r>
            <a:r>
              <a:rPr kumimoji="1" lang="en-US" altLang="zh-CN" b="1">
                <a:solidFill>
                  <a:srgbClr val="0000FF"/>
                </a:solidFill>
                <a:latin typeface="华文中宋"/>
                <a:ea typeface="华文中宋"/>
                <a:cs typeface="华文中宋"/>
              </a:rPr>
              <a:t>&gt;&gt; </a:t>
            </a:r>
            <a:r>
              <a:rPr kumimoji="1" lang="en-US" altLang="zh-CN" b="1" i="1">
                <a:solidFill>
                  <a:srgbClr val="0000FF"/>
                </a:solidFill>
                <a:latin typeface="华文中宋"/>
                <a:ea typeface="华文中宋"/>
                <a:cs typeface="华文中宋"/>
                <a:sym typeface="Symbol" pitchFamily="18" charset="2"/>
              </a:rPr>
              <a:t></a:t>
            </a:r>
            <a:r>
              <a:rPr kumimoji="1" lang="en-US" altLang="zh-CN" b="1">
                <a:solidFill>
                  <a:srgbClr val="000000"/>
                </a:solidFill>
                <a:latin typeface="华文中宋"/>
                <a:ea typeface="华文中宋"/>
                <a:cs typeface="华文中宋"/>
              </a:rPr>
              <a:t> </a:t>
            </a:r>
            <a:r>
              <a:rPr kumimoji="1" lang="zh-CN" altLang="en-US" b="1">
                <a:solidFill>
                  <a:srgbClr val="000000"/>
                </a:solidFill>
                <a:latin typeface="华文中宋"/>
                <a:ea typeface="华文中宋"/>
                <a:cs typeface="华文中宋"/>
              </a:rPr>
              <a:t>：该过程就可视为准静态过程。</a:t>
            </a:r>
          </a:p>
        </p:txBody>
      </p:sp>
      <p:sp>
        <p:nvSpPr>
          <p:cNvPr id="148508" name="Line 28"/>
          <p:cNvSpPr>
            <a:spLocks noChangeShapeType="1"/>
          </p:cNvSpPr>
          <p:nvPr/>
        </p:nvSpPr>
        <p:spPr bwMode="auto">
          <a:xfrm>
            <a:off x="6619875" y="2554288"/>
            <a:ext cx="769938" cy="0"/>
          </a:xfrm>
          <a:prstGeom prst="line">
            <a:avLst/>
          </a:prstGeom>
          <a:noFill/>
          <a:ln w="63500">
            <a:solidFill>
              <a:schemeClr val="tx1"/>
            </a:solidFill>
            <a:round/>
            <a:headEnd/>
            <a:tailEnd type="stealth" w="lg" len="lg"/>
          </a:ln>
        </p:spPr>
        <p:txBody>
          <a:bodyPr/>
          <a:lstStyle/>
          <a:p>
            <a:endParaRPr lang="zh-CN" altLang="en-US"/>
          </a:p>
        </p:txBody>
      </p:sp>
      <p:sp>
        <p:nvSpPr>
          <p:cNvPr id="17" name="Text Box 15"/>
          <p:cNvSpPr txBox="1">
            <a:spLocks noChangeArrowheads="1"/>
          </p:cNvSpPr>
          <p:nvPr/>
        </p:nvSpPr>
        <p:spPr bwMode="auto">
          <a:xfrm>
            <a:off x="323850" y="3614738"/>
            <a:ext cx="2562225" cy="396875"/>
          </a:xfrm>
          <a:prstGeom prst="rect">
            <a:avLst/>
          </a:prstGeom>
          <a:noFill/>
          <a:ln w="9525">
            <a:noFill/>
            <a:miter lim="800000"/>
            <a:headEnd/>
            <a:tailEnd/>
          </a:ln>
        </p:spPr>
        <p:txBody>
          <a:bodyPr>
            <a:spAutoFit/>
          </a:bodyPr>
          <a:lstStyle/>
          <a:p>
            <a:pPr eaLnBrk="0" hangingPunct="0">
              <a:lnSpc>
                <a:spcPct val="110000"/>
              </a:lnSpc>
            </a:pPr>
            <a:r>
              <a:rPr lang="zh-CN" altLang="en-US" b="1">
                <a:solidFill>
                  <a:srgbClr val="0000FF"/>
                </a:solidFill>
                <a:latin typeface="华文中宋"/>
                <a:ea typeface="华文中宋"/>
                <a:cs typeface="华文中宋"/>
              </a:rPr>
              <a:t>准静态过程的</a:t>
            </a:r>
            <a:r>
              <a:rPr kumimoji="1" lang="zh-CN" altLang="en-US" b="1">
                <a:solidFill>
                  <a:srgbClr val="0000FF"/>
                </a:solidFill>
                <a:latin typeface="华文中宋"/>
                <a:ea typeface="华文中宋"/>
                <a:cs typeface="华文中宋"/>
              </a:rPr>
              <a:t>过程曲线</a:t>
            </a:r>
            <a:endParaRPr lang="zh-CN" altLang="en-US" b="1">
              <a:solidFill>
                <a:srgbClr val="0000FF"/>
              </a:solidFill>
              <a:latin typeface="华文中宋"/>
              <a:ea typeface="华文中宋"/>
              <a:cs typeface="华文中宋"/>
            </a:endParaRPr>
          </a:p>
        </p:txBody>
      </p:sp>
      <p:grpSp>
        <p:nvGrpSpPr>
          <p:cNvPr id="7" name="组合 8"/>
          <p:cNvGrpSpPr>
            <a:grpSpLocks/>
          </p:cNvGrpSpPr>
          <p:nvPr/>
        </p:nvGrpSpPr>
        <p:grpSpPr bwMode="auto">
          <a:xfrm>
            <a:off x="2843213" y="3181350"/>
            <a:ext cx="2305050" cy="1411288"/>
            <a:chOff x="1912215" y="3649661"/>
            <a:chExt cx="2402659" cy="2021629"/>
          </a:xfrm>
        </p:grpSpPr>
        <p:sp>
          <p:nvSpPr>
            <p:cNvPr id="56335" name="Text Box 20"/>
            <p:cNvSpPr txBox="1">
              <a:spLocks noChangeArrowheads="1"/>
            </p:cNvSpPr>
            <p:nvPr/>
          </p:nvSpPr>
          <p:spPr bwMode="auto">
            <a:xfrm>
              <a:off x="2711465" y="5240339"/>
              <a:ext cx="1233510" cy="430887"/>
            </a:xfrm>
            <a:prstGeom prst="rect">
              <a:avLst/>
            </a:prstGeom>
            <a:noFill/>
            <a:ln w="9525">
              <a:noFill/>
              <a:miter lim="800000"/>
              <a:headEnd/>
              <a:tailEnd/>
            </a:ln>
          </p:spPr>
          <p:txBody>
            <a:bodyPr>
              <a:spAutoFit/>
            </a:bodyPr>
            <a:lstStyle/>
            <a:p>
              <a:pPr eaLnBrk="0" hangingPunct="0"/>
              <a:r>
                <a:rPr lang="en-US" altLang="zh-CN" sz="1500" b="1" i="1">
                  <a:solidFill>
                    <a:srgbClr val="000000"/>
                  </a:solidFill>
                  <a:latin typeface="Times New Roman" pitchFamily="18" charset="0"/>
                </a:rPr>
                <a:t>p</a:t>
              </a:r>
              <a:r>
                <a:rPr lang="zh-CN" altLang="en-US" sz="1500" b="1">
                  <a:solidFill>
                    <a:srgbClr val="000000"/>
                  </a:solidFill>
                  <a:latin typeface="Times New Roman" pitchFamily="18" charset="0"/>
                </a:rPr>
                <a:t>－</a:t>
              </a:r>
              <a:r>
                <a:rPr lang="en-US" altLang="zh-CN" sz="1500" b="1" i="1">
                  <a:solidFill>
                    <a:srgbClr val="000000"/>
                  </a:solidFill>
                  <a:latin typeface="Times New Roman" pitchFamily="18" charset="0"/>
                </a:rPr>
                <a:t>V</a:t>
              </a:r>
              <a:r>
                <a:rPr lang="zh-CN" altLang="en-US" sz="1500" b="1">
                  <a:solidFill>
                    <a:srgbClr val="000000"/>
                  </a:solidFill>
                  <a:latin typeface="Times New Roman" pitchFamily="18" charset="0"/>
                </a:rPr>
                <a:t>图</a:t>
              </a:r>
            </a:p>
          </p:txBody>
        </p:sp>
        <p:sp>
          <p:nvSpPr>
            <p:cNvPr id="56336" name="Line 21"/>
            <p:cNvSpPr>
              <a:spLocks noChangeShapeType="1"/>
            </p:cNvSpPr>
            <p:nvPr/>
          </p:nvSpPr>
          <p:spPr bwMode="auto">
            <a:xfrm>
              <a:off x="2154238" y="5276850"/>
              <a:ext cx="1924431" cy="0"/>
            </a:xfrm>
            <a:prstGeom prst="line">
              <a:avLst/>
            </a:prstGeom>
            <a:noFill/>
            <a:ln w="12700">
              <a:solidFill>
                <a:srgbClr val="0070C0"/>
              </a:solidFill>
              <a:round/>
              <a:headEnd/>
              <a:tailEnd type="triangle" w="med" len="med"/>
            </a:ln>
          </p:spPr>
          <p:txBody>
            <a:bodyPr wrap="none" anchor="ctr"/>
            <a:lstStyle/>
            <a:p>
              <a:endParaRPr lang="zh-CN" altLang="en-US"/>
            </a:p>
          </p:txBody>
        </p:sp>
        <p:sp>
          <p:nvSpPr>
            <p:cNvPr id="56337" name="Line 22"/>
            <p:cNvSpPr>
              <a:spLocks noChangeShapeType="1"/>
            </p:cNvSpPr>
            <p:nvPr/>
          </p:nvSpPr>
          <p:spPr bwMode="auto">
            <a:xfrm flipV="1">
              <a:off x="2171701" y="3790950"/>
              <a:ext cx="0" cy="1487488"/>
            </a:xfrm>
            <a:prstGeom prst="line">
              <a:avLst/>
            </a:prstGeom>
            <a:noFill/>
            <a:ln w="12700">
              <a:solidFill>
                <a:srgbClr val="0070C0"/>
              </a:solidFill>
              <a:round/>
              <a:headEnd/>
              <a:tailEnd type="triangle" w="med" len="med"/>
            </a:ln>
          </p:spPr>
          <p:txBody>
            <a:bodyPr wrap="none" anchor="ctr"/>
            <a:lstStyle/>
            <a:p>
              <a:endParaRPr lang="zh-CN" altLang="en-US"/>
            </a:p>
          </p:txBody>
        </p:sp>
        <p:sp>
          <p:nvSpPr>
            <p:cNvPr id="56338" name="Text Box 23"/>
            <p:cNvSpPr txBox="1">
              <a:spLocks noChangeArrowheads="1"/>
            </p:cNvSpPr>
            <p:nvPr/>
          </p:nvSpPr>
          <p:spPr bwMode="auto">
            <a:xfrm>
              <a:off x="1912215" y="3702049"/>
              <a:ext cx="280851" cy="437130"/>
            </a:xfrm>
            <a:prstGeom prst="rect">
              <a:avLst/>
            </a:prstGeom>
            <a:noFill/>
            <a:ln w="9525">
              <a:noFill/>
              <a:miter lim="800000"/>
              <a:headEnd/>
              <a:tailEnd/>
            </a:ln>
          </p:spPr>
          <p:txBody>
            <a:bodyPr wrap="none">
              <a:spAutoFit/>
            </a:bodyPr>
            <a:lstStyle/>
            <a:p>
              <a:pPr algn="ctr">
                <a:lnSpc>
                  <a:spcPct val="110000"/>
                </a:lnSpc>
              </a:pPr>
              <a:r>
                <a:rPr kumimoji="1" lang="en-US" altLang="zh-CN" sz="1500" b="1" i="1">
                  <a:solidFill>
                    <a:srgbClr val="000000"/>
                  </a:solidFill>
                  <a:latin typeface="Times New Roman" pitchFamily="18" charset="0"/>
                </a:rPr>
                <a:t>p</a:t>
              </a:r>
            </a:p>
          </p:txBody>
        </p:sp>
        <p:sp>
          <p:nvSpPr>
            <p:cNvPr id="56339" name="Text Box 24"/>
            <p:cNvSpPr txBox="1">
              <a:spLocks noChangeArrowheads="1"/>
            </p:cNvSpPr>
            <p:nvPr/>
          </p:nvSpPr>
          <p:spPr bwMode="auto">
            <a:xfrm>
              <a:off x="1915050" y="5141913"/>
              <a:ext cx="351384" cy="529377"/>
            </a:xfrm>
            <a:prstGeom prst="rect">
              <a:avLst/>
            </a:prstGeom>
            <a:noFill/>
            <a:ln w="9525">
              <a:noFill/>
              <a:miter lim="800000"/>
              <a:headEnd/>
              <a:tailEnd/>
            </a:ln>
          </p:spPr>
          <p:txBody>
            <a:bodyPr wrap="none">
              <a:spAutoFit/>
            </a:bodyPr>
            <a:lstStyle/>
            <a:p>
              <a:pPr algn="ctr">
                <a:lnSpc>
                  <a:spcPct val="110000"/>
                </a:lnSpc>
              </a:pPr>
              <a:r>
                <a:rPr kumimoji="1" lang="en-US" altLang="zh-CN" b="1" i="1">
                  <a:solidFill>
                    <a:srgbClr val="000000"/>
                  </a:solidFill>
                  <a:latin typeface="Times New Roman" pitchFamily="18" charset="0"/>
                </a:rPr>
                <a:t>O</a:t>
              </a:r>
            </a:p>
          </p:txBody>
        </p:sp>
        <p:sp>
          <p:nvSpPr>
            <p:cNvPr id="56340" name="Text Box 25"/>
            <p:cNvSpPr txBox="1">
              <a:spLocks noChangeArrowheads="1"/>
            </p:cNvSpPr>
            <p:nvPr/>
          </p:nvSpPr>
          <p:spPr bwMode="auto">
            <a:xfrm>
              <a:off x="3988548" y="5205413"/>
              <a:ext cx="312912" cy="437130"/>
            </a:xfrm>
            <a:prstGeom prst="rect">
              <a:avLst/>
            </a:prstGeom>
            <a:noFill/>
            <a:ln w="9525">
              <a:noFill/>
              <a:miter lim="800000"/>
              <a:headEnd/>
              <a:tailEnd/>
            </a:ln>
          </p:spPr>
          <p:txBody>
            <a:bodyPr wrap="none">
              <a:spAutoFit/>
            </a:bodyPr>
            <a:lstStyle/>
            <a:p>
              <a:pPr algn="ctr">
                <a:lnSpc>
                  <a:spcPct val="110000"/>
                </a:lnSpc>
              </a:pPr>
              <a:r>
                <a:rPr kumimoji="1" lang="en-US" altLang="zh-CN" sz="1500" b="1" i="1">
                  <a:solidFill>
                    <a:srgbClr val="000000"/>
                  </a:solidFill>
                  <a:latin typeface="Times New Roman" pitchFamily="18" charset="0"/>
                </a:rPr>
                <a:t>V</a:t>
              </a:r>
            </a:p>
          </p:txBody>
        </p:sp>
        <p:sp>
          <p:nvSpPr>
            <p:cNvPr id="56341" name="Oval 39"/>
            <p:cNvSpPr>
              <a:spLocks noChangeArrowheads="1"/>
            </p:cNvSpPr>
            <p:nvPr/>
          </p:nvSpPr>
          <p:spPr bwMode="auto">
            <a:xfrm>
              <a:off x="2620963" y="4083050"/>
              <a:ext cx="90487" cy="90488"/>
            </a:xfrm>
            <a:prstGeom prst="ellipse">
              <a:avLst/>
            </a:prstGeom>
            <a:solidFill>
              <a:srgbClr val="FF8669"/>
            </a:solidFill>
            <a:ln w="9525">
              <a:solidFill>
                <a:srgbClr val="FF00FF"/>
              </a:solidFill>
              <a:round/>
              <a:headEnd/>
              <a:tailEnd/>
            </a:ln>
          </p:spPr>
          <p:txBody>
            <a:bodyPr wrap="none" anchor="ctr"/>
            <a:lstStyle/>
            <a:p>
              <a:endParaRPr lang="zh-CN" altLang="zh-CN">
                <a:solidFill>
                  <a:srgbClr val="000000"/>
                </a:solidFill>
                <a:latin typeface="Times New Roman" pitchFamily="18" charset="0"/>
              </a:endParaRPr>
            </a:p>
          </p:txBody>
        </p:sp>
        <p:sp>
          <p:nvSpPr>
            <p:cNvPr id="56342" name="Oval 57"/>
            <p:cNvSpPr>
              <a:spLocks noChangeArrowheads="1"/>
            </p:cNvSpPr>
            <p:nvPr/>
          </p:nvSpPr>
          <p:spPr bwMode="auto">
            <a:xfrm>
              <a:off x="3522663" y="4940300"/>
              <a:ext cx="90487" cy="90488"/>
            </a:xfrm>
            <a:prstGeom prst="ellipse">
              <a:avLst/>
            </a:prstGeom>
            <a:solidFill>
              <a:srgbClr val="FF8669"/>
            </a:solidFill>
            <a:ln w="9525">
              <a:solidFill>
                <a:srgbClr val="FF00FF"/>
              </a:solidFill>
              <a:round/>
              <a:headEnd/>
              <a:tailEnd/>
            </a:ln>
          </p:spPr>
          <p:txBody>
            <a:bodyPr wrap="none" anchor="ctr"/>
            <a:lstStyle/>
            <a:p>
              <a:endParaRPr lang="zh-CN" altLang="zh-CN">
                <a:solidFill>
                  <a:srgbClr val="000000"/>
                </a:solidFill>
                <a:latin typeface="Times New Roman" pitchFamily="18" charset="0"/>
              </a:endParaRPr>
            </a:p>
          </p:txBody>
        </p:sp>
        <p:sp>
          <p:nvSpPr>
            <p:cNvPr id="56343" name="Text Box 59"/>
            <p:cNvSpPr txBox="1">
              <a:spLocks noChangeArrowheads="1"/>
            </p:cNvSpPr>
            <p:nvPr/>
          </p:nvSpPr>
          <p:spPr bwMode="auto">
            <a:xfrm>
              <a:off x="2216156" y="4699000"/>
              <a:ext cx="761761" cy="430887"/>
            </a:xfrm>
            <a:prstGeom prst="rect">
              <a:avLst/>
            </a:prstGeom>
            <a:noFill/>
            <a:ln w="9525">
              <a:noFill/>
              <a:miter lim="800000"/>
              <a:headEnd/>
              <a:tailEnd/>
            </a:ln>
          </p:spPr>
          <p:txBody>
            <a:bodyPr wrap="none">
              <a:spAutoFit/>
            </a:bodyPr>
            <a:lstStyle/>
            <a:p>
              <a:pPr eaLnBrk="0" hangingPunct="0"/>
              <a:r>
                <a:rPr lang="zh-CN" altLang="en-US" sz="1500" b="1">
                  <a:solidFill>
                    <a:srgbClr val="C00000"/>
                  </a:solidFill>
                  <a:latin typeface="Times New Roman" pitchFamily="18" charset="0"/>
                </a:rPr>
                <a:t>等温线</a:t>
              </a:r>
            </a:p>
          </p:txBody>
        </p:sp>
        <p:grpSp>
          <p:nvGrpSpPr>
            <p:cNvPr id="56344" name="Group 61"/>
            <p:cNvGrpSpPr>
              <a:grpSpLocks/>
            </p:cNvGrpSpPr>
            <p:nvPr/>
          </p:nvGrpSpPr>
          <p:grpSpPr bwMode="auto">
            <a:xfrm>
              <a:off x="2906761" y="4324419"/>
              <a:ext cx="1408113" cy="430213"/>
              <a:chOff x="3107" y="3219"/>
              <a:chExt cx="887" cy="271"/>
            </a:xfrm>
          </p:grpSpPr>
          <p:sp>
            <p:nvSpPr>
              <p:cNvPr id="56349" name="Text Box 62"/>
              <p:cNvSpPr txBox="1">
                <a:spLocks noChangeArrowheads="1"/>
              </p:cNvSpPr>
              <p:nvPr/>
            </p:nvSpPr>
            <p:spPr bwMode="auto">
              <a:xfrm>
                <a:off x="3514" y="3219"/>
                <a:ext cx="480" cy="271"/>
              </a:xfrm>
              <a:prstGeom prst="rect">
                <a:avLst/>
              </a:prstGeom>
              <a:noFill/>
              <a:ln w="9525">
                <a:noFill/>
                <a:miter lim="800000"/>
                <a:headEnd/>
                <a:tailEnd/>
              </a:ln>
            </p:spPr>
            <p:txBody>
              <a:bodyPr wrap="none">
                <a:spAutoFit/>
              </a:bodyPr>
              <a:lstStyle/>
              <a:p>
                <a:pPr eaLnBrk="0" hangingPunct="0"/>
                <a:r>
                  <a:rPr lang="zh-CN" altLang="en-US" sz="1500" b="1">
                    <a:solidFill>
                      <a:srgbClr val="000000"/>
                    </a:solidFill>
                    <a:latin typeface="Times New Roman" pitchFamily="18" charset="0"/>
                  </a:rPr>
                  <a:t>等压线</a:t>
                </a:r>
              </a:p>
            </p:txBody>
          </p:sp>
          <p:sp>
            <p:nvSpPr>
              <p:cNvPr id="56350" name="Line 63"/>
              <p:cNvSpPr>
                <a:spLocks noChangeShapeType="1"/>
              </p:cNvSpPr>
              <p:nvPr/>
            </p:nvSpPr>
            <p:spPr bwMode="auto">
              <a:xfrm>
                <a:off x="3107" y="3237"/>
                <a:ext cx="685" cy="0"/>
              </a:xfrm>
              <a:prstGeom prst="line">
                <a:avLst/>
              </a:prstGeom>
              <a:noFill/>
              <a:ln w="19050">
                <a:solidFill>
                  <a:srgbClr val="0000FF"/>
                </a:solidFill>
                <a:round/>
                <a:headEnd/>
                <a:tailEnd/>
              </a:ln>
            </p:spPr>
            <p:txBody>
              <a:bodyPr wrap="none">
                <a:spAutoFit/>
              </a:bodyPr>
              <a:lstStyle/>
              <a:p>
                <a:endParaRPr lang="zh-CN" altLang="en-US"/>
              </a:p>
            </p:txBody>
          </p:sp>
        </p:grpSp>
        <p:grpSp>
          <p:nvGrpSpPr>
            <p:cNvPr id="56345" name="Group 64"/>
            <p:cNvGrpSpPr>
              <a:grpSpLocks/>
            </p:cNvGrpSpPr>
            <p:nvPr/>
          </p:nvGrpSpPr>
          <p:grpSpPr bwMode="auto">
            <a:xfrm>
              <a:off x="3171969" y="3649661"/>
              <a:ext cx="781051" cy="1196975"/>
              <a:chOff x="4694" y="1971"/>
              <a:chExt cx="492" cy="754"/>
            </a:xfrm>
          </p:grpSpPr>
          <p:sp>
            <p:nvSpPr>
              <p:cNvPr id="56347" name="Text Box 65"/>
              <p:cNvSpPr txBox="1">
                <a:spLocks noChangeArrowheads="1"/>
              </p:cNvSpPr>
              <p:nvPr/>
            </p:nvSpPr>
            <p:spPr bwMode="auto">
              <a:xfrm>
                <a:off x="4706" y="1971"/>
                <a:ext cx="480" cy="271"/>
              </a:xfrm>
              <a:prstGeom prst="rect">
                <a:avLst/>
              </a:prstGeom>
              <a:noFill/>
              <a:ln w="9525">
                <a:noFill/>
                <a:miter lim="800000"/>
                <a:headEnd/>
                <a:tailEnd/>
              </a:ln>
            </p:spPr>
            <p:txBody>
              <a:bodyPr wrap="none">
                <a:spAutoFit/>
              </a:bodyPr>
              <a:lstStyle/>
              <a:p>
                <a:pPr eaLnBrk="0" hangingPunct="0"/>
                <a:r>
                  <a:rPr lang="zh-CN" altLang="en-US" sz="1500" b="1">
                    <a:solidFill>
                      <a:srgbClr val="0000FF"/>
                    </a:solidFill>
                    <a:latin typeface="Times New Roman" pitchFamily="18" charset="0"/>
                  </a:rPr>
                  <a:t>等容线</a:t>
                </a:r>
              </a:p>
            </p:txBody>
          </p:sp>
          <p:sp>
            <p:nvSpPr>
              <p:cNvPr id="56348" name="Line 66"/>
              <p:cNvSpPr>
                <a:spLocks noChangeShapeType="1"/>
              </p:cNvSpPr>
              <p:nvPr/>
            </p:nvSpPr>
            <p:spPr bwMode="auto">
              <a:xfrm>
                <a:off x="4694" y="2131"/>
                <a:ext cx="0" cy="594"/>
              </a:xfrm>
              <a:prstGeom prst="line">
                <a:avLst/>
              </a:prstGeom>
              <a:noFill/>
              <a:ln w="19050">
                <a:solidFill>
                  <a:srgbClr val="7030A0"/>
                </a:solidFill>
                <a:round/>
                <a:headEnd/>
                <a:tailEnd/>
              </a:ln>
            </p:spPr>
            <p:txBody>
              <a:bodyPr wrap="none">
                <a:spAutoFit/>
              </a:bodyPr>
              <a:lstStyle/>
              <a:p>
                <a:endParaRPr lang="zh-CN" altLang="en-US"/>
              </a:p>
            </p:txBody>
          </p:sp>
        </p:grpSp>
        <p:sp>
          <p:nvSpPr>
            <p:cNvPr id="56346" name="任意多边形 7"/>
            <p:cNvSpPr>
              <a:spLocks/>
            </p:cNvSpPr>
            <p:nvPr/>
          </p:nvSpPr>
          <p:spPr bwMode="auto">
            <a:xfrm>
              <a:off x="2672179" y="4154750"/>
              <a:ext cx="914400" cy="861133"/>
            </a:xfrm>
            <a:custGeom>
              <a:avLst/>
              <a:gdLst>
                <a:gd name="T0" fmla="*/ 914400 w 914400"/>
                <a:gd name="T1" fmla="*/ 861133 h 861133"/>
                <a:gd name="T2" fmla="*/ 0 w 914400"/>
                <a:gd name="T3" fmla="*/ 0 h 861133"/>
                <a:gd name="T4" fmla="*/ 0 60000 65536"/>
                <a:gd name="T5" fmla="*/ 0 60000 65536"/>
                <a:gd name="T6" fmla="*/ 0 w 914400"/>
                <a:gd name="T7" fmla="*/ 0 h 861133"/>
                <a:gd name="T8" fmla="*/ 914400 w 914400"/>
                <a:gd name="T9" fmla="*/ 861133 h 861133"/>
              </a:gdLst>
              <a:ahLst/>
              <a:cxnLst>
                <a:cxn ang="T4">
                  <a:pos x="T0" y="T1"/>
                </a:cxn>
                <a:cxn ang="T5">
                  <a:pos x="T2" y="T3"/>
                </a:cxn>
              </a:cxnLst>
              <a:rect l="T6" t="T7" r="T8" b="T9"/>
              <a:pathLst>
                <a:path w="914400" h="861133">
                  <a:moveTo>
                    <a:pt x="914400" y="861133"/>
                  </a:moveTo>
                  <a:cubicBezTo>
                    <a:pt x="343269" y="813786"/>
                    <a:pt x="100614" y="473475"/>
                    <a:pt x="0" y="0"/>
                  </a:cubicBezTo>
                </a:path>
              </a:pathLst>
            </a:custGeom>
            <a:noFill/>
            <a:ln w="19050" algn="ctr">
              <a:solidFill>
                <a:srgbClr val="FF0000"/>
              </a:solidFill>
              <a:round/>
              <a:headEnd/>
              <a:tailEnd/>
            </a:ln>
          </p:spPr>
          <p:txBody>
            <a:bodyPr/>
            <a:lstStyle/>
            <a:p>
              <a:endParaRPr lang="zh-CN" altLang="en-US"/>
            </a:p>
          </p:txBody>
        </p:sp>
      </p:grpSp>
      <p:sp>
        <p:nvSpPr>
          <p:cNvPr id="4" name="Text Box 45"/>
          <p:cNvSpPr txBox="1">
            <a:spLocks noChangeArrowheads="1"/>
          </p:cNvSpPr>
          <p:nvPr/>
        </p:nvSpPr>
        <p:spPr bwMode="auto">
          <a:xfrm>
            <a:off x="5364163" y="3435350"/>
            <a:ext cx="3671887" cy="369888"/>
          </a:xfrm>
          <a:prstGeom prst="rect">
            <a:avLst/>
          </a:prstGeom>
          <a:noFill/>
          <a:ln w="9525">
            <a:noFill/>
            <a:miter lim="800000"/>
            <a:headEnd/>
            <a:tailEnd/>
          </a:ln>
        </p:spPr>
        <p:txBody>
          <a:bodyPr>
            <a:spAutoFit/>
          </a:bodyPr>
          <a:lstStyle/>
          <a:p>
            <a:r>
              <a:rPr kumimoji="1" lang="en-US" altLang="zh-CN" b="1" i="1">
                <a:solidFill>
                  <a:srgbClr val="000000"/>
                </a:solidFill>
                <a:latin typeface="Times New Roman" pitchFamily="18" charset="0"/>
                <a:ea typeface="华文中宋"/>
                <a:cs typeface="华文中宋"/>
              </a:rPr>
              <a:t>p</a:t>
            </a:r>
            <a:r>
              <a:rPr kumimoji="1" lang="zh-CN" altLang="en-US" b="1" i="1">
                <a:solidFill>
                  <a:srgbClr val="000000"/>
                </a:solidFill>
                <a:latin typeface="Times New Roman" pitchFamily="18" charset="0"/>
                <a:ea typeface="华文中宋"/>
                <a:cs typeface="华文中宋"/>
              </a:rPr>
              <a:t>－</a:t>
            </a:r>
            <a:r>
              <a:rPr kumimoji="1" lang="en-US" altLang="zh-CN" b="1" i="1">
                <a:solidFill>
                  <a:srgbClr val="000000"/>
                </a:solidFill>
                <a:latin typeface="Times New Roman" pitchFamily="18" charset="0"/>
                <a:ea typeface="华文中宋"/>
                <a:cs typeface="华文中宋"/>
              </a:rPr>
              <a:t>V</a:t>
            </a:r>
            <a:r>
              <a:rPr kumimoji="1" lang="zh-CN" altLang="en-US" b="1">
                <a:solidFill>
                  <a:srgbClr val="000000"/>
                </a:solidFill>
                <a:latin typeface="Times New Roman" pitchFamily="18" charset="0"/>
                <a:ea typeface="华文中宋"/>
                <a:cs typeface="华文中宋"/>
              </a:rPr>
              <a:t>图上， 一点代表一个平衡态</a:t>
            </a:r>
            <a:endParaRPr kumimoji="1" lang="zh-CN" altLang="en-US" b="1">
              <a:solidFill>
                <a:srgbClr val="66FF33"/>
              </a:solidFill>
              <a:latin typeface="Times New Roman" pitchFamily="18" charset="0"/>
              <a:ea typeface="华文中宋"/>
              <a:cs typeface="华文中宋"/>
            </a:endParaRPr>
          </a:p>
        </p:txBody>
      </p:sp>
      <p:sp>
        <p:nvSpPr>
          <p:cNvPr id="33" name="Text Box 49"/>
          <p:cNvSpPr txBox="1">
            <a:spLocks noChangeArrowheads="1"/>
          </p:cNvSpPr>
          <p:nvPr/>
        </p:nvSpPr>
        <p:spPr bwMode="auto">
          <a:xfrm>
            <a:off x="5360988" y="3854450"/>
            <a:ext cx="3819525" cy="368300"/>
          </a:xfrm>
          <a:prstGeom prst="rect">
            <a:avLst/>
          </a:prstGeom>
          <a:noFill/>
          <a:ln w="9525">
            <a:noFill/>
            <a:miter lim="800000"/>
            <a:headEnd/>
            <a:tailEnd/>
          </a:ln>
        </p:spPr>
        <p:txBody>
          <a:bodyPr>
            <a:spAutoFit/>
          </a:bodyPr>
          <a:lstStyle/>
          <a:p>
            <a:r>
              <a:rPr kumimoji="1" lang="zh-CN" altLang="en-US" b="1">
                <a:solidFill>
                  <a:srgbClr val="000000"/>
                </a:solidFill>
                <a:latin typeface="Times New Roman" pitchFamily="18" charset="0"/>
                <a:ea typeface="华文中宋"/>
                <a:cs typeface="华文中宋"/>
              </a:rPr>
              <a:t>一条连续曲线代表一个准静态过程。</a:t>
            </a:r>
            <a:endParaRPr kumimoji="1" lang="zh-CN" altLang="en-US" b="1">
              <a:solidFill>
                <a:srgbClr val="66FF33"/>
              </a:solidFill>
              <a:latin typeface="Times New Roman" pitchFamily="18" charset="0"/>
              <a:ea typeface="华文中宋"/>
              <a:cs typeface="华文中宋"/>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left)">
                                      <p:cBhvr>
                                        <p:cTn id="7" dur="500"/>
                                        <p:tgtEl>
                                          <p:spTgt spid="2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3" presetClass="entr" presetSubtype="16"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500" fill="hold"/>
                                        <p:tgtEl>
                                          <p:spTgt spid="2"/>
                                        </p:tgtEl>
                                        <p:attrNameLst>
                                          <p:attrName>ppt_w</p:attrName>
                                        </p:attrNameLst>
                                      </p:cBhvr>
                                      <p:tavLst>
                                        <p:tav tm="0">
                                          <p:val>
                                            <p:fltVal val="0"/>
                                          </p:val>
                                        </p:tav>
                                        <p:tav tm="100000">
                                          <p:val>
                                            <p:strVal val="#ppt_w"/>
                                          </p:val>
                                        </p:tav>
                                      </p:tavLst>
                                    </p:anim>
                                    <p:anim calcmode="lin" valueType="num">
                                      <p:cBhvr>
                                        <p:cTn id="13" dur="500" fill="hold"/>
                                        <p:tgtEl>
                                          <p:spTgt spid="2"/>
                                        </p:tgtEl>
                                        <p:attrNameLst>
                                          <p:attrName>ppt_h</p:attrName>
                                        </p:attrNameLst>
                                      </p:cBhvr>
                                      <p:tavLst>
                                        <p:tav tm="0">
                                          <p:val>
                                            <p:fltVal val="0"/>
                                          </p:val>
                                        </p:tav>
                                        <p:tav tm="100000">
                                          <p:val>
                                            <p:strVal val="#ppt_h"/>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3" presetClass="entr" presetSubtype="16" fill="hold" nodeType="clickEffect">
                                  <p:stCondLst>
                                    <p:cond delay="0"/>
                                  </p:stCondLst>
                                  <p:childTnLst>
                                    <p:set>
                                      <p:cBhvr>
                                        <p:cTn id="17" dur="1" fill="hold">
                                          <p:stCondLst>
                                            <p:cond delay="0"/>
                                          </p:stCondLst>
                                        </p:cTn>
                                        <p:tgtEl>
                                          <p:spTgt spid="5"/>
                                        </p:tgtEl>
                                        <p:attrNameLst>
                                          <p:attrName>style.visibility</p:attrName>
                                        </p:attrNameLst>
                                      </p:cBhvr>
                                      <p:to>
                                        <p:strVal val="visible"/>
                                      </p:to>
                                    </p:set>
                                    <p:anim calcmode="lin" valueType="num">
                                      <p:cBhvr>
                                        <p:cTn id="18" dur="500" fill="hold"/>
                                        <p:tgtEl>
                                          <p:spTgt spid="5"/>
                                        </p:tgtEl>
                                        <p:attrNameLst>
                                          <p:attrName>ppt_w</p:attrName>
                                        </p:attrNameLst>
                                      </p:cBhvr>
                                      <p:tavLst>
                                        <p:tav tm="0">
                                          <p:val>
                                            <p:fltVal val="0"/>
                                          </p:val>
                                        </p:tav>
                                        <p:tav tm="100000">
                                          <p:val>
                                            <p:strVal val="#ppt_w"/>
                                          </p:val>
                                        </p:tav>
                                      </p:tavLst>
                                    </p:anim>
                                    <p:anim calcmode="lin" valueType="num">
                                      <p:cBhvr>
                                        <p:cTn id="19"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32"/>
                                        </p:tgtEl>
                                        <p:attrNameLst>
                                          <p:attrName>style.visibility</p:attrName>
                                        </p:attrNameLst>
                                      </p:cBhvr>
                                      <p:to>
                                        <p:strVal val="visible"/>
                                      </p:to>
                                    </p:set>
                                    <p:animEffect transition="in" filter="wipe(left)">
                                      <p:cBhvr>
                                        <p:cTn id="24" dur="500"/>
                                        <p:tgtEl>
                                          <p:spTgt spid="32"/>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30"/>
                                        </p:tgtEl>
                                        <p:attrNameLst>
                                          <p:attrName>style.visibility</p:attrName>
                                        </p:attrNameLst>
                                      </p:cBhvr>
                                      <p:to>
                                        <p:strVal val="visible"/>
                                      </p:to>
                                    </p:set>
                                    <p:animEffect transition="in" filter="wipe(left)">
                                      <p:cBhvr>
                                        <p:cTn id="29" dur="500"/>
                                        <p:tgtEl>
                                          <p:spTgt spid="30"/>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26"/>
                                        </p:tgtEl>
                                        <p:attrNameLst>
                                          <p:attrName>style.visibility</p:attrName>
                                        </p:attrNameLst>
                                      </p:cBhvr>
                                      <p:to>
                                        <p:strVal val="visible"/>
                                      </p:to>
                                    </p:set>
                                    <p:animEffect transition="in" filter="wipe(left)">
                                      <p:cBhvr>
                                        <p:cTn id="34" dur="500"/>
                                        <p:tgtEl>
                                          <p:spTgt spid="26"/>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3" presetClass="entr" presetSubtype="10" fill="hold" grpId="0" nodeType="clickEffect">
                                  <p:stCondLst>
                                    <p:cond delay="0"/>
                                  </p:stCondLst>
                                  <p:childTnLst>
                                    <p:set>
                                      <p:cBhvr>
                                        <p:cTn id="38" dur="1" fill="hold">
                                          <p:stCondLst>
                                            <p:cond delay="0"/>
                                          </p:stCondLst>
                                        </p:cTn>
                                        <p:tgtEl>
                                          <p:spTgt spid="148508"/>
                                        </p:tgtEl>
                                        <p:attrNameLst>
                                          <p:attrName>style.visibility</p:attrName>
                                        </p:attrNameLst>
                                      </p:cBhvr>
                                      <p:to>
                                        <p:strVal val="visible"/>
                                      </p:to>
                                    </p:set>
                                    <p:animEffect transition="in" filter="blinds(horizontal)">
                                      <p:cBhvr>
                                        <p:cTn id="39" dur="500"/>
                                        <p:tgtEl>
                                          <p:spTgt spid="148508"/>
                                        </p:tgtEl>
                                      </p:cBhvr>
                                    </p:animEffect>
                                  </p:childTnLst>
                                </p:cTn>
                              </p:par>
                              <p:par>
                                <p:cTn id="40" presetID="3" presetClass="entr" presetSubtype="10" fill="hold" grpId="0" nodeType="withEffect">
                                  <p:stCondLst>
                                    <p:cond delay="0"/>
                                  </p:stCondLst>
                                  <p:childTnLst>
                                    <p:set>
                                      <p:cBhvr>
                                        <p:cTn id="41" dur="1" fill="hold">
                                          <p:stCondLst>
                                            <p:cond delay="0"/>
                                          </p:stCondLst>
                                        </p:cTn>
                                        <p:tgtEl>
                                          <p:spTgt spid="28"/>
                                        </p:tgtEl>
                                        <p:attrNameLst>
                                          <p:attrName>style.visibility</p:attrName>
                                        </p:attrNameLst>
                                      </p:cBhvr>
                                      <p:to>
                                        <p:strVal val="visible"/>
                                      </p:to>
                                    </p:set>
                                    <p:animEffect transition="in" filter="blinds(horizontal)">
                                      <p:cBhvr>
                                        <p:cTn id="42" dur="500"/>
                                        <p:tgtEl>
                                          <p:spTgt spid="28"/>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9"/>
                                        </p:tgtEl>
                                        <p:attrNameLst>
                                          <p:attrName>style.visibility</p:attrName>
                                        </p:attrNameLst>
                                      </p:cBhvr>
                                      <p:to>
                                        <p:strVal val="visible"/>
                                      </p:to>
                                    </p:set>
                                    <p:animEffect transition="in" filter="wipe(left)">
                                      <p:cBhvr>
                                        <p:cTn id="47" dur="500"/>
                                        <p:tgtEl>
                                          <p:spTgt spid="29"/>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31"/>
                                        </p:tgtEl>
                                        <p:attrNameLst>
                                          <p:attrName>style.visibility</p:attrName>
                                        </p:attrNameLst>
                                      </p:cBhvr>
                                      <p:to>
                                        <p:strVal val="visible"/>
                                      </p:to>
                                    </p:set>
                                    <p:animEffect transition="in" filter="wipe(left)">
                                      <p:cBhvr>
                                        <p:cTn id="52" dur="500"/>
                                        <p:tgtEl>
                                          <p:spTgt spid="31"/>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7"/>
                                        </p:tgtEl>
                                        <p:attrNameLst>
                                          <p:attrName>style.visibility</p:attrName>
                                        </p:attrNameLst>
                                      </p:cBhvr>
                                      <p:to>
                                        <p:strVal val="visible"/>
                                      </p:to>
                                    </p:set>
                                    <p:animEffect transition="in" filter="wipe(left)">
                                      <p:cBhvr>
                                        <p:cTn id="57" dur="500"/>
                                        <p:tgtEl>
                                          <p:spTgt spid="17"/>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53" presetClass="entr" presetSubtype="16" fill="hold" nodeType="clickEffect">
                                  <p:stCondLst>
                                    <p:cond delay="0"/>
                                  </p:stCondLst>
                                  <p:childTnLst>
                                    <p:set>
                                      <p:cBhvr>
                                        <p:cTn id="61" dur="1" fill="hold">
                                          <p:stCondLst>
                                            <p:cond delay="0"/>
                                          </p:stCondLst>
                                        </p:cTn>
                                        <p:tgtEl>
                                          <p:spTgt spid="7"/>
                                        </p:tgtEl>
                                        <p:attrNameLst>
                                          <p:attrName>style.visibility</p:attrName>
                                        </p:attrNameLst>
                                      </p:cBhvr>
                                      <p:to>
                                        <p:strVal val="visible"/>
                                      </p:to>
                                    </p:set>
                                    <p:anim calcmode="lin" valueType="num">
                                      <p:cBhvr>
                                        <p:cTn id="62" dur="500" fill="hold"/>
                                        <p:tgtEl>
                                          <p:spTgt spid="7"/>
                                        </p:tgtEl>
                                        <p:attrNameLst>
                                          <p:attrName>ppt_w</p:attrName>
                                        </p:attrNameLst>
                                      </p:cBhvr>
                                      <p:tavLst>
                                        <p:tav tm="0">
                                          <p:val>
                                            <p:fltVal val="0"/>
                                          </p:val>
                                        </p:tav>
                                        <p:tav tm="100000">
                                          <p:val>
                                            <p:strVal val="#ppt_w"/>
                                          </p:val>
                                        </p:tav>
                                      </p:tavLst>
                                    </p:anim>
                                    <p:anim calcmode="lin" valueType="num">
                                      <p:cBhvr>
                                        <p:cTn id="63" dur="500" fill="hold"/>
                                        <p:tgtEl>
                                          <p:spTgt spid="7"/>
                                        </p:tgtEl>
                                        <p:attrNameLst>
                                          <p:attrName>ppt_h</p:attrName>
                                        </p:attrNameLst>
                                      </p:cBhvr>
                                      <p:tavLst>
                                        <p:tav tm="0">
                                          <p:val>
                                            <p:fltVal val="0"/>
                                          </p:val>
                                        </p:tav>
                                        <p:tav tm="100000">
                                          <p:val>
                                            <p:strVal val="#ppt_h"/>
                                          </p:val>
                                        </p:tav>
                                      </p:tavLst>
                                    </p:anim>
                                    <p:animEffect transition="in" filter="fade">
                                      <p:cBhvr>
                                        <p:cTn id="64" dur="500"/>
                                        <p:tgtEl>
                                          <p:spTgt spid="7"/>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22" presetClass="entr" presetSubtype="8" fill="hold" grpId="0" nodeType="clickEffect">
                                  <p:stCondLst>
                                    <p:cond delay="0"/>
                                  </p:stCondLst>
                                  <p:childTnLst>
                                    <p:set>
                                      <p:cBhvr>
                                        <p:cTn id="68" dur="1" fill="hold">
                                          <p:stCondLst>
                                            <p:cond delay="0"/>
                                          </p:stCondLst>
                                        </p:cTn>
                                        <p:tgtEl>
                                          <p:spTgt spid="4"/>
                                        </p:tgtEl>
                                        <p:attrNameLst>
                                          <p:attrName>style.visibility</p:attrName>
                                        </p:attrNameLst>
                                      </p:cBhvr>
                                      <p:to>
                                        <p:strVal val="visible"/>
                                      </p:to>
                                    </p:set>
                                    <p:animEffect transition="in" filter="wipe(left)">
                                      <p:cBhvr>
                                        <p:cTn id="69" dur="500"/>
                                        <p:tgtEl>
                                          <p:spTgt spid="4"/>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22" presetClass="entr" presetSubtype="8" fill="hold" grpId="0" nodeType="clickEffect">
                                  <p:stCondLst>
                                    <p:cond delay="0"/>
                                  </p:stCondLst>
                                  <p:childTnLst>
                                    <p:set>
                                      <p:cBhvr>
                                        <p:cTn id="73" dur="1" fill="hold">
                                          <p:stCondLst>
                                            <p:cond delay="0"/>
                                          </p:stCondLst>
                                        </p:cTn>
                                        <p:tgtEl>
                                          <p:spTgt spid="33"/>
                                        </p:tgtEl>
                                        <p:attrNameLst>
                                          <p:attrName>style.visibility</p:attrName>
                                        </p:attrNameLst>
                                      </p:cBhvr>
                                      <p:to>
                                        <p:strVal val="visible"/>
                                      </p:to>
                                    </p:set>
                                    <p:animEffect transition="in" filter="wipe(left)">
                                      <p:cBhvr>
                                        <p:cTn id="74"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32" grpId="0"/>
      <p:bldP spid="26" grpId="0" animBg="1"/>
      <p:bldP spid="28" grpId="0" animBg="1"/>
      <p:bldP spid="29" grpId="0"/>
      <p:bldP spid="30" grpId="0"/>
      <p:bldP spid="31" grpId="0"/>
      <p:bldP spid="148508" grpId="0" animBg="1"/>
      <p:bldP spid="17" grpId="0"/>
      <p:bldP spid="4" grpId="0"/>
      <p:bldP spid="3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943" name="Text Box 55"/>
          <p:cNvSpPr txBox="1">
            <a:spLocks noChangeArrowheads="1"/>
          </p:cNvSpPr>
          <p:nvPr/>
        </p:nvSpPr>
        <p:spPr bwMode="auto">
          <a:xfrm>
            <a:off x="250825" y="1276350"/>
            <a:ext cx="5257800" cy="701675"/>
          </a:xfrm>
          <a:prstGeom prst="rect">
            <a:avLst/>
          </a:prstGeom>
          <a:noFill/>
          <a:ln w="9525">
            <a:noFill/>
            <a:miter lim="800000"/>
            <a:headEnd/>
            <a:tailEnd/>
          </a:ln>
        </p:spPr>
        <p:txBody>
          <a:bodyPr>
            <a:spAutoFit/>
          </a:bodyPr>
          <a:lstStyle/>
          <a:p>
            <a:pPr eaLnBrk="0" hangingPunct="0">
              <a:lnSpc>
                <a:spcPct val="110000"/>
              </a:lnSpc>
            </a:pPr>
            <a:r>
              <a:rPr kumimoji="1" lang="zh-CN" altLang="en-US" b="1">
                <a:solidFill>
                  <a:srgbClr val="000000"/>
                </a:solidFill>
                <a:latin typeface="华文中宋"/>
                <a:ea typeface="华文中宋"/>
                <a:cs typeface="华文中宋"/>
              </a:rPr>
              <a:t>作功与传热</a:t>
            </a:r>
            <a:r>
              <a:rPr lang="zh-CN" altLang="en-US" b="1">
                <a:solidFill>
                  <a:srgbClr val="000000"/>
                </a:solidFill>
                <a:latin typeface="华文中宋"/>
                <a:ea typeface="华文中宋"/>
                <a:cs typeface="华文中宋"/>
              </a:rPr>
              <a:t>，都能使系统的热力学状态 </a:t>
            </a:r>
            <a:r>
              <a:rPr lang="en-US" altLang="zh-CN" b="1">
                <a:solidFill>
                  <a:srgbClr val="000000"/>
                </a:solidFill>
                <a:latin typeface="华文中宋"/>
                <a:ea typeface="华文中宋"/>
                <a:cs typeface="华文中宋"/>
              </a:rPr>
              <a:t>(</a:t>
            </a:r>
            <a:r>
              <a:rPr lang="zh-CN" altLang="en-US" b="1">
                <a:solidFill>
                  <a:srgbClr val="000000"/>
                </a:solidFill>
                <a:latin typeface="华文中宋"/>
                <a:ea typeface="华文中宋"/>
                <a:cs typeface="华文中宋"/>
              </a:rPr>
              <a:t>如内能</a:t>
            </a:r>
            <a:r>
              <a:rPr lang="en-US" altLang="zh-CN" b="1">
                <a:solidFill>
                  <a:srgbClr val="000000"/>
                </a:solidFill>
                <a:latin typeface="华文中宋"/>
                <a:ea typeface="华文中宋"/>
                <a:cs typeface="华文中宋"/>
              </a:rPr>
              <a:t>)</a:t>
            </a:r>
            <a:r>
              <a:rPr lang="zh-CN" altLang="en-US" b="1">
                <a:solidFill>
                  <a:srgbClr val="000000"/>
                </a:solidFill>
                <a:latin typeface="华文中宋"/>
                <a:ea typeface="华文中宋"/>
                <a:cs typeface="华文中宋"/>
              </a:rPr>
              <a:t>发生改变。</a:t>
            </a:r>
          </a:p>
        </p:txBody>
      </p:sp>
      <p:sp>
        <p:nvSpPr>
          <p:cNvPr id="3" name="任意多边形 2"/>
          <p:cNvSpPr/>
          <p:nvPr/>
        </p:nvSpPr>
        <p:spPr bwMode="auto">
          <a:xfrm>
            <a:off x="6376988" y="2960688"/>
            <a:ext cx="1254125" cy="1263650"/>
          </a:xfrm>
          <a:custGeom>
            <a:avLst/>
            <a:gdLst>
              <a:gd name="connsiteX0" fmla="*/ 8877 w 1260629"/>
              <a:gd name="connsiteY0" fmla="*/ 1669002 h 1669002"/>
              <a:gd name="connsiteX1" fmla="*/ 1260629 w 1260629"/>
              <a:gd name="connsiteY1" fmla="*/ 1669002 h 1669002"/>
              <a:gd name="connsiteX2" fmla="*/ 1260629 w 1260629"/>
              <a:gd name="connsiteY2" fmla="*/ 1162975 h 1669002"/>
              <a:gd name="connsiteX3" fmla="*/ 0 w 1260629"/>
              <a:gd name="connsiteY3" fmla="*/ 0 h 1669002"/>
              <a:gd name="connsiteX4" fmla="*/ 8877 w 1260629"/>
              <a:gd name="connsiteY4" fmla="*/ 1669002 h 1669002"/>
              <a:gd name="connsiteX0" fmla="*/ 8877 w 1260629"/>
              <a:gd name="connsiteY0" fmla="*/ 1669002 h 1669002"/>
              <a:gd name="connsiteX1" fmla="*/ 1260629 w 1260629"/>
              <a:gd name="connsiteY1" fmla="*/ 1669002 h 1669002"/>
              <a:gd name="connsiteX2" fmla="*/ 1260629 w 1260629"/>
              <a:gd name="connsiteY2" fmla="*/ 1162975 h 1669002"/>
              <a:gd name="connsiteX3" fmla="*/ 0 w 1260629"/>
              <a:gd name="connsiteY3" fmla="*/ 0 h 1669002"/>
              <a:gd name="connsiteX4" fmla="*/ 8877 w 1260629"/>
              <a:gd name="connsiteY4" fmla="*/ 1669002 h 1669002"/>
              <a:gd name="connsiteX0" fmla="*/ 8877 w 1260629"/>
              <a:gd name="connsiteY0" fmla="*/ 1669002 h 1669002"/>
              <a:gd name="connsiteX1" fmla="*/ 1260629 w 1260629"/>
              <a:gd name="connsiteY1" fmla="*/ 1669002 h 1669002"/>
              <a:gd name="connsiteX2" fmla="*/ 1260629 w 1260629"/>
              <a:gd name="connsiteY2" fmla="*/ 1162975 h 1669002"/>
              <a:gd name="connsiteX3" fmla="*/ 0 w 1260629"/>
              <a:gd name="connsiteY3" fmla="*/ 0 h 1669002"/>
              <a:gd name="connsiteX4" fmla="*/ 8877 w 1260629"/>
              <a:gd name="connsiteY4" fmla="*/ 1669002 h 1669002"/>
              <a:gd name="connsiteX0" fmla="*/ 8877 w 1260629"/>
              <a:gd name="connsiteY0" fmla="*/ 1669002 h 1669002"/>
              <a:gd name="connsiteX1" fmla="*/ 1260629 w 1260629"/>
              <a:gd name="connsiteY1" fmla="*/ 1669002 h 1669002"/>
              <a:gd name="connsiteX2" fmla="*/ 1260629 w 1260629"/>
              <a:gd name="connsiteY2" fmla="*/ 1162975 h 1669002"/>
              <a:gd name="connsiteX3" fmla="*/ 0 w 1260629"/>
              <a:gd name="connsiteY3" fmla="*/ 0 h 1669002"/>
              <a:gd name="connsiteX4" fmla="*/ 8877 w 1260629"/>
              <a:gd name="connsiteY4" fmla="*/ 1669002 h 1669002"/>
              <a:gd name="connsiteX0" fmla="*/ 8877 w 1260629"/>
              <a:gd name="connsiteY0" fmla="*/ 1669463 h 1669463"/>
              <a:gd name="connsiteX1" fmla="*/ 1260629 w 1260629"/>
              <a:gd name="connsiteY1" fmla="*/ 1669463 h 1669463"/>
              <a:gd name="connsiteX2" fmla="*/ 1260629 w 1260629"/>
              <a:gd name="connsiteY2" fmla="*/ 1163436 h 1669463"/>
              <a:gd name="connsiteX3" fmla="*/ 0 w 1260629"/>
              <a:gd name="connsiteY3" fmla="*/ 461 h 1669463"/>
              <a:gd name="connsiteX4" fmla="*/ 8877 w 1260629"/>
              <a:gd name="connsiteY4" fmla="*/ 1669463 h 1669463"/>
              <a:gd name="connsiteX0" fmla="*/ 8877 w 1260629"/>
              <a:gd name="connsiteY0" fmla="*/ 1669002 h 1669002"/>
              <a:gd name="connsiteX1" fmla="*/ 1260629 w 1260629"/>
              <a:gd name="connsiteY1" fmla="*/ 1669002 h 1669002"/>
              <a:gd name="connsiteX2" fmla="*/ 1260629 w 1260629"/>
              <a:gd name="connsiteY2" fmla="*/ 1162975 h 1669002"/>
              <a:gd name="connsiteX3" fmla="*/ 0 w 1260629"/>
              <a:gd name="connsiteY3" fmla="*/ 0 h 1669002"/>
              <a:gd name="connsiteX4" fmla="*/ 8877 w 1260629"/>
              <a:gd name="connsiteY4" fmla="*/ 1669002 h 1669002"/>
              <a:gd name="connsiteX0" fmla="*/ 8877 w 1260629"/>
              <a:gd name="connsiteY0" fmla="*/ 1669002 h 1669002"/>
              <a:gd name="connsiteX1" fmla="*/ 1260629 w 1260629"/>
              <a:gd name="connsiteY1" fmla="*/ 1669002 h 1669002"/>
              <a:gd name="connsiteX2" fmla="*/ 1260629 w 1260629"/>
              <a:gd name="connsiteY2" fmla="*/ 1162975 h 1669002"/>
              <a:gd name="connsiteX3" fmla="*/ 0 w 1260629"/>
              <a:gd name="connsiteY3" fmla="*/ 0 h 1669002"/>
              <a:gd name="connsiteX4" fmla="*/ 8877 w 1260629"/>
              <a:gd name="connsiteY4" fmla="*/ 1669002 h 16690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60629" h="1669002">
                <a:moveTo>
                  <a:pt x="8877" y="1669002"/>
                </a:moveTo>
                <a:lnTo>
                  <a:pt x="1260629" y="1669002"/>
                </a:lnTo>
                <a:lnTo>
                  <a:pt x="1260629" y="1162975"/>
                </a:lnTo>
                <a:cubicBezTo>
                  <a:pt x="1080116" y="659907"/>
                  <a:pt x="848528" y="78882"/>
                  <a:pt x="0" y="0"/>
                </a:cubicBezTo>
                <a:lnTo>
                  <a:pt x="8877" y="1669002"/>
                </a:lnTo>
                <a:close/>
              </a:path>
            </a:pathLst>
          </a:custGeom>
          <a:pattFill prst="dashVert">
            <a:fgClr>
              <a:schemeClr val="accent1">
                <a:lumMod val="75000"/>
              </a:schemeClr>
            </a:fgClr>
            <a:bgClr>
              <a:schemeClr val="bg1"/>
            </a:bgClr>
          </a:pattFill>
          <a:ln w="9525" cap="flat" cmpd="sng" algn="ctr">
            <a:solidFill>
              <a:schemeClr val="tx1"/>
            </a:solidFill>
            <a:prstDash val="solid"/>
            <a:round/>
            <a:headEnd type="none" w="med" len="med"/>
            <a:tailEnd type="none" w="med" len="med"/>
          </a:ln>
          <a:effectLst/>
        </p:spPr>
        <p:txBody>
          <a:bodyPr/>
          <a:lstStyle/>
          <a:p>
            <a:pPr fontAlgn="auto">
              <a:spcBef>
                <a:spcPts val="0"/>
              </a:spcBef>
              <a:spcAft>
                <a:spcPts val="0"/>
              </a:spcAft>
              <a:defRPr/>
            </a:pPr>
            <a:endParaRPr lang="zh-CN" altLang="en-US">
              <a:solidFill>
                <a:prstClr val="black"/>
              </a:solidFill>
              <a:latin typeface="+mn-lt"/>
              <a:ea typeface="+mn-ea"/>
            </a:endParaRPr>
          </a:p>
        </p:txBody>
      </p:sp>
      <p:grpSp>
        <p:nvGrpSpPr>
          <p:cNvPr id="2" name="组合 12"/>
          <p:cNvGrpSpPr>
            <a:grpSpLocks/>
          </p:cNvGrpSpPr>
          <p:nvPr/>
        </p:nvGrpSpPr>
        <p:grpSpPr bwMode="auto">
          <a:xfrm>
            <a:off x="5580063" y="2684463"/>
            <a:ext cx="2463800" cy="1825625"/>
            <a:chOff x="5837923" y="3673985"/>
            <a:chExt cx="2464935" cy="2436871"/>
          </a:xfrm>
        </p:grpSpPr>
        <p:sp>
          <p:nvSpPr>
            <p:cNvPr id="2089" name="Line 130"/>
            <p:cNvSpPr>
              <a:spLocks noChangeShapeType="1"/>
            </p:cNvSpPr>
            <p:nvPr/>
          </p:nvSpPr>
          <p:spPr bwMode="auto">
            <a:xfrm>
              <a:off x="6178076" y="5738813"/>
              <a:ext cx="2026125" cy="0"/>
            </a:xfrm>
            <a:prstGeom prst="line">
              <a:avLst/>
            </a:prstGeom>
            <a:noFill/>
            <a:ln w="9525">
              <a:solidFill>
                <a:srgbClr val="0070C0"/>
              </a:solidFill>
              <a:round/>
              <a:headEnd/>
              <a:tailEnd type="triangle" w="med" len="med"/>
            </a:ln>
          </p:spPr>
          <p:txBody>
            <a:bodyPr/>
            <a:lstStyle/>
            <a:p>
              <a:endParaRPr lang="zh-CN" altLang="en-US"/>
            </a:p>
          </p:txBody>
        </p:sp>
        <p:sp>
          <p:nvSpPr>
            <p:cNvPr id="2090" name="Line 131"/>
            <p:cNvSpPr>
              <a:spLocks noChangeShapeType="1"/>
            </p:cNvSpPr>
            <p:nvPr/>
          </p:nvSpPr>
          <p:spPr bwMode="auto">
            <a:xfrm flipV="1">
              <a:off x="6185449" y="3752851"/>
              <a:ext cx="0" cy="1985963"/>
            </a:xfrm>
            <a:prstGeom prst="line">
              <a:avLst/>
            </a:prstGeom>
            <a:noFill/>
            <a:ln w="9525">
              <a:solidFill>
                <a:srgbClr val="0070C0"/>
              </a:solidFill>
              <a:round/>
              <a:headEnd/>
              <a:tailEnd type="triangle" w="med" len="med"/>
            </a:ln>
          </p:spPr>
          <p:txBody>
            <a:bodyPr/>
            <a:lstStyle/>
            <a:p>
              <a:endParaRPr lang="zh-CN" altLang="en-US"/>
            </a:p>
          </p:txBody>
        </p:sp>
        <p:sp>
          <p:nvSpPr>
            <p:cNvPr id="2091" name="Line 132"/>
            <p:cNvSpPr>
              <a:spLocks noChangeShapeType="1"/>
            </p:cNvSpPr>
            <p:nvPr/>
          </p:nvSpPr>
          <p:spPr bwMode="auto">
            <a:xfrm>
              <a:off x="6178076" y="4043363"/>
              <a:ext cx="433483" cy="0"/>
            </a:xfrm>
            <a:prstGeom prst="line">
              <a:avLst/>
            </a:prstGeom>
            <a:noFill/>
            <a:ln w="9525">
              <a:solidFill>
                <a:schemeClr val="tx1"/>
              </a:solidFill>
              <a:prstDash val="dash"/>
              <a:round/>
              <a:headEnd/>
              <a:tailEnd/>
            </a:ln>
          </p:spPr>
          <p:txBody>
            <a:bodyPr/>
            <a:lstStyle/>
            <a:p>
              <a:endParaRPr lang="zh-CN" altLang="en-US"/>
            </a:p>
          </p:txBody>
        </p:sp>
        <p:sp>
          <p:nvSpPr>
            <p:cNvPr id="2092" name="Line 133"/>
            <p:cNvSpPr>
              <a:spLocks noChangeShapeType="1"/>
            </p:cNvSpPr>
            <p:nvPr/>
          </p:nvSpPr>
          <p:spPr bwMode="auto">
            <a:xfrm>
              <a:off x="6187221" y="5235576"/>
              <a:ext cx="1705829" cy="0"/>
            </a:xfrm>
            <a:prstGeom prst="line">
              <a:avLst/>
            </a:prstGeom>
            <a:noFill/>
            <a:ln w="9525">
              <a:solidFill>
                <a:schemeClr val="tx1"/>
              </a:solidFill>
              <a:prstDash val="dash"/>
              <a:round/>
              <a:headEnd/>
              <a:tailEnd/>
            </a:ln>
          </p:spPr>
          <p:txBody>
            <a:bodyPr/>
            <a:lstStyle/>
            <a:p>
              <a:endParaRPr lang="zh-CN" altLang="en-US"/>
            </a:p>
          </p:txBody>
        </p:sp>
        <p:sp>
          <p:nvSpPr>
            <p:cNvPr id="2093" name="Rectangle 134" descr="宽上对角线"/>
            <p:cNvSpPr>
              <a:spLocks noChangeArrowheads="1"/>
            </p:cNvSpPr>
            <p:nvPr/>
          </p:nvSpPr>
          <p:spPr bwMode="auto">
            <a:xfrm>
              <a:off x="7467557" y="4481329"/>
              <a:ext cx="91453" cy="1243884"/>
            </a:xfrm>
            <a:prstGeom prst="rect">
              <a:avLst/>
            </a:prstGeom>
            <a:pattFill prst="wdDnDiag">
              <a:fgClr>
                <a:srgbClr val="00FF00"/>
              </a:fgClr>
              <a:bgClr>
                <a:schemeClr val="bg1"/>
              </a:bgClr>
            </a:pattFill>
            <a:ln w="9525">
              <a:solidFill>
                <a:srgbClr val="002060"/>
              </a:solidFill>
              <a:miter lim="800000"/>
              <a:headEnd/>
              <a:tailEnd/>
            </a:ln>
          </p:spPr>
          <p:txBody>
            <a:bodyPr wrap="none" anchor="ctr"/>
            <a:lstStyle/>
            <a:p>
              <a:endParaRPr lang="zh-CN" altLang="zh-CN">
                <a:solidFill>
                  <a:srgbClr val="002060"/>
                </a:solidFill>
                <a:latin typeface="Times New Roman" pitchFamily="18" charset="0"/>
              </a:endParaRPr>
            </a:p>
          </p:txBody>
        </p:sp>
        <p:sp>
          <p:nvSpPr>
            <p:cNvPr id="2094" name="Line 135"/>
            <p:cNvSpPr>
              <a:spLocks noChangeShapeType="1"/>
            </p:cNvSpPr>
            <p:nvPr/>
          </p:nvSpPr>
          <p:spPr bwMode="auto">
            <a:xfrm flipH="1">
              <a:off x="6178075" y="4481328"/>
              <a:ext cx="1353497" cy="27439"/>
            </a:xfrm>
            <a:prstGeom prst="line">
              <a:avLst/>
            </a:prstGeom>
            <a:noFill/>
            <a:ln w="19050">
              <a:solidFill>
                <a:srgbClr val="0070C0"/>
              </a:solidFill>
              <a:prstDash val="dash"/>
              <a:round/>
              <a:headEnd/>
              <a:tailEnd/>
            </a:ln>
          </p:spPr>
          <p:txBody>
            <a:bodyPr/>
            <a:lstStyle/>
            <a:p>
              <a:endParaRPr lang="zh-CN" altLang="en-US"/>
            </a:p>
          </p:txBody>
        </p:sp>
        <p:sp>
          <p:nvSpPr>
            <p:cNvPr id="2095" name="Text Box 136"/>
            <p:cNvSpPr txBox="1">
              <a:spLocks noChangeArrowheads="1"/>
            </p:cNvSpPr>
            <p:nvPr/>
          </p:nvSpPr>
          <p:spPr bwMode="auto">
            <a:xfrm>
              <a:off x="7240235" y="5665505"/>
              <a:ext cx="420473" cy="431059"/>
            </a:xfrm>
            <a:prstGeom prst="rect">
              <a:avLst/>
            </a:prstGeom>
            <a:noFill/>
            <a:ln w="9525">
              <a:noFill/>
              <a:miter lim="800000"/>
              <a:headEnd/>
              <a:tailEnd/>
            </a:ln>
          </p:spPr>
          <p:txBody>
            <a:bodyPr wrap="none">
              <a:spAutoFit/>
            </a:bodyPr>
            <a:lstStyle/>
            <a:p>
              <a:pPr eaLnBrk="0" hangingPunct="0"/>
              <a:r>
                <a:rPr lang="en-US" altLang="zh-CN" sz="1500" b="1">
                  <a:solidFill>
                    <a:srgbClr val="002060"/>
                  </a:solidFill>
                  <a:latin typeface="Times New Roman" pitchFamily="18" charset="0"/>
                </a:rPr>
                <a:t>d</a:t>
              </a:r>
              <a:r>
                <a:rPr lang="en-US" altLang="zh-CN" sz="1500" b="1" i="1">
                  <a:solidFill>
                    <a:srgbClr val="002060"/>
                  </a:solidFill>
                  <a:latin typeface="Times New Roman" pitchFamily="18" charset="0"/>
                </a:rPr>
                <a:t>V</a:t>
              </a:r>
            </a:p>
          </p:txBody>
        </p:sp>
        <p:sp>
          <p:nvSpPr>
            <p:cNvPr id="2096" name="Rectangle 137"/>
            <p:cNvSpPr>
              <a:spLocks noChangeArrowheads="1"/>
            </p:cNvSpPr>
            <p:nvPr/>
          </p:nvSpPr>
          <p:spPr bwMode="auto">
            <a:xfrm>
              <a:off x="5874450" y="3842327"/>
              <a:ext cx="345101" cy="431059"/>
            </a:xfrm>
            <a:prstGeom prst="rect">
              <a:avLst/>
            </a:prstGeom>
            <a:noFill/>
            <a:ln w="9525">
              <a:noFill/>
              <a:miter lim="800000"/>
              <a:headEnd/>
              <a:tailEnd/>
            </a:ln>
          </p:spPr>
          <p:txBody>
            <a:bodyPr wrap="none">
              <a:spAutoFit/>
            </a:bodyPr>
            <a:lstStyle/>
            <a:p>
              <a:pPr eaLnBrk="0" hangingPunct="0"/>
              <a:r>
                <a:rPr lang="en-US" altLang="zh-CN" sz="1500" i="1">
                  <a:solidFill>
                    <a:srgbClr val="002060"/>
                  </a:solidFill>
                  <a:latin typeface="Times New Roman" pitchFamily="18" charset="0"/>
                </a:rPr>
                <a:t>p</a:t>
              </a:r>
              <a:r>
                <a:rPr lang="en-US" altLang="zh-CN" sz="1500" baseline="-25000">
                  <a:solidFill>
                    <a:srgbClr val="002060"/>
                  </a:solidFill>
                  <a:latin typeface="Times New Roman" pitchFamily="18" charset="0"/>
                </a:rPr>
                <a:t>1</a:t>
              </a:r>
              <a:endParaRPr lang="en-US" altLang="zh-CN" sz="1500">
                <a:solidFill>
                  <a:srgbClr val="002060"/>
                </a:solidFill>
                <a:latin typeface="Times New Roman" pitchFamily="18" charset="0"/>
              </a:endParaRPr>
            </a:p>
          </p:txBody>
        </p:sp>
        <p:sp>
          <p:nvSpPr>
            <p:cNvPr id="2097" name="Rectangle 138"/>
            <p:cNvSpPr>
              <a:spLocks noChangeArrowheads="1"/>
            </p:cNvSpPr>
            <p:nvPr/>
          </p:nvSpPr>
          <p:spPr bwMode="auto">
            <a:xfrm>
              <a:off x="5904530" y="4321243"/>
              <a:ext cx="280956" cy="431059"/>
            </a:xfrm>
            <a:prstGeom prst="rect">
              <a:avLst/>
            </a:prstGeom>
            <a:noFill/>
            <a:ln w="9525">
              <a:noFill/>
              <a:miter lim="800000"/>
              <a:headEnd/>
              <a:tailEnd/>
            </a:ln>
          </p:spPr>
          <p:txBody>
            <a:bodyPr wrap="none">
              <a:spAutoFit/>
            </a:bodyPr>
            <a:lstStyle/>
            <a:p>
              <a:pPr eaLnBrk="0" hangingPunct="0"/>
              <a:r>
                <a:rPr lang="en-US" altLang="zh-CN" sz="1500" i="1">
                  <a:solidFill>
                    <a:srgbClr val="002060"/>
                  </a:solidFill>
                  <a:latin typeface="Times New Roman" pitchFamily="18" charset="0"/>
                </a:rPr>
                <a:t>p</a:t>
              </a:r>
            </a:p>
          </p:txBody>
        </p:sp>
        <p:sp>
          <p:nvSpPr>
            <p:cNvPr id="2098" name="Rectangle 139"/>
            <p:cNvSpPr>
              <a:spLocks noChangeArrowheads="1"/>
            </p:cNvSpPr>
            <p:nvPr/>
          </p:nvSpPr>
          <p:spPr bwMode="auto">
            <a:xfrm>
              <a:off x="5837923" y="5004841"/>
              <a:ext cx="511375" cy="431059"/>
            </a:xfrm>
            <a:prstGeom prst="rect">
              <a:avLst/>
            </a:prstGeom>
            <a:noFill/>
            <a:ln w="9525">
              <a:noFill/>
              <a:miter lim="800000"/>
              <a:headEnd/>
              <a:tailEnd/>
            </a:ln>
          </p:spPr>
          <p:txBody>
            <a:bodyPr>
              <a:spAutoFit/>
            </a:bodyPr>
            <a:lstStyle/>
            <a:p>
              <a:pPr eaLnBrk="0" hangingPunct="0"/>
              <a:r>
                <a:rPr lang="en-US" altLang="zh-CN" sz="1500" i="1">
                  <a:solidFill>
                    <a:srgbClr val="002060"/>
                  </a:solidFill>
                  <a:latin typeface="Times New Roman" pitchFamily="18" charset="0"/>
                </a:rPr>
                <a:t>p</a:t>
              </a:r>
              <a:r>
                <a:rPr lang="en-US" altLang="zh-CN" sz="1500" baseline="-25000">
                  <a:solidFill>
                    <a:srgbClr val="002060"/>
                  </a:solidFill>
                  <a:latin typeface="Times New Roman" pitchFamily="18" charset="0"/>
                </a:rPr>
                <a:t>2</a:t>
              </a:r>
              <a:endParaRPr lang="en-US" altLang="zh-CN" sz="1500">
                <a:solidFill>
                  <a:srgbClr val="002060"/>
                </a:solidFill>
                <a:latin typeface="Times New Roman" pitchFamily="18" charset="0"/>
              </a:endParaRPr>
            </a:p>
          </p:txBody>
        </p:sp>
        <p:sp>
          <p:nvSpPr>
            <p:cNvPr id="2099" name="Rectangle 140"/>
            <p:cNvSpPr>
              <a:spLocks noChangeArrowheads="1"/>
            </p:cNvSpPr>
            <p:nvPr/>
          </p:nvSpPr>
          <p:spPr bwMode="auto">
            <a:xfrm>
              <a:off x="6485877" y="3673985"/>
              <a:ext cx="280956" cy="431059"/>
            </a:xfrm>
            <a:prstGeom prst="rect">
              <a:avLst/>
            </a:prstGeom>
            <a:noFill/>
            <a:ln w="9525">
              <a:noFill/>
              <a:miter lim="800000"/>
              <a:headEnd/>
              <a:tailEnd/>
            </a:ln>
          </p:spPr>
          <p:txBody>
            <a:bodyPr wrap="none">
              <a:spAutoFit/>
            </a:bodyPr>
            <a:lstStyle/>
            <a:p>
              <a:pPr eaLnBrk="0" hangingPunct="0"/>
              <a:r>
                <a:rPr lang="en-US" altLang="zh-CN" sz="1500" i="1">
                  <a:solidFill>
                    <a:srgbClr val="002060"/>
                  </a:solidFill>
                  <a:latin typeface="Times New Roman" pitchFamily="18" charset="0"/>
                </a:rPr>
                <a:t>a</a:t>
              </a:r>
            </a:p>
          </p:txBody>
        </p:sp>
        <p:sp>
          <p:nvSpPr>
            <p:cNvPr id="2100" name="Rectangle 141"/>
            <p:cNvSpPr>
              <a:spLocks noChangeArrowheads="1"/>
            </p:cNvSpPr>
            <p:nvPr/>
          </p:nvSpPr>
          <p:spPr bwMode="auto">
            <a:xfrm>
              <a:off x="6327065" y="5676624"/>
              <a:ext cx="365950" cy="431059"/>
            </a:xfrm>
            <a:prstGeom prst="rect">
              <a:avLst/>
            </a:prstGeom>
            <a:noFill/>
            <a:ln w="9525">
              <a:noFill/>
              <a:miter lim="800000"/>
              <a:headEnd/>
              <a:tailEnd/>
            </a:ln>
          </p:spPr>
          <p:txBody>
            <a:bodyPr wrap="none">
              <a:spAutoFit/>
            </a:bodyPr>
            <a:lstStyle/>
            <a:p>
              <a:pPr eaLnBrk="0" hangingPunct="0"/>
              <a:r>
                <a:rPr lang="en-US" altLang="zh-CN" sz="1500" i="1">
                  <a:solidFill>
                    <a:srgbClr val="002060"/>
                  </a:solidFill>
                  <a:latin typeface="Times New Roman" pitchFamily="18" charset="0"/>
                </a:rPr>
                <a:t>V</a:t>
              </a:r>
              <a:r>
                <a:rPr lang="en-US" altLang="zh-CN" sz="1500" baseline="-25000">
                  <a:solidFill>
                    <a:srgbClr val="002060"/>
                  </a:solidFill>
                  <a:latin typeface="Times New Roman" pitchFamily="18" charset="0"/>
                </a:rPr>
                <a:t>1</a:t>
              </a:r>
              <a:endParaRPr lang="en-US" altLang="zh-CN" sz="1500">
                <a:solidFill>
                  <a:srgbClr val="002060"/>
                </a:solidFill>
                <a:latin typeface="Times New Roman" pitchFamily="18" charset="0"/>
              </a:endParaRPr>
            </a:p>
          </p:txBody>
        </p:sp>
        <p:sp>
          <p:nvSpPr>
            <p:cNvPr id="2101" name="Text Box 142"/>
            <p:cNvSpPr txBox="1">
              <a:spLocks noChangeArrowheads="1"/>
            </p:cNvSpPr>
            <p:nvPr/>
          </p:nvSpPr>
          <p:spPr bwMode="auto">
            <a:xfrm>
              <a:off x="7661088" y="5668680"/>
              <a:ext cx="377174" cy="431059"/>
            </a:xfrm>
            <a:prstGeom prst="rect">
              <a:avLst/>
            </a:prstGeom>
            <a:noFill/>
            <a:ln w="9525">
              <a:noFill/>
              <a:miter lim="800000"/>
              <a:headEnd/>
              <a:tailEnd/>
            </a:ln>
          </p:spPr>
          <p:txBody>
            <a:bodyPr wrap="none">
              <a:spAutoFit/>
            </a:bodyPr>
            <a:lstStyle/>
            <a:p>
              <a:pPr eaLnBrk="0" hangingPunct="0"/>
              <a:r>
                <a:rPr lang="en-US" altLang="zh-CN" sz="1500" b="1" i="1">
                  <a:solidFill>
                    <a:srgbClr val="002060"/>
                  </a:solidFill>
                  <a:latin typeface="Times New Roman" pitchFamily="18" charset="0"/>
                </a:rPr>
                <a:t>V</a:t>
              </a:r>
              <a:r>
                <a:rPr lang="en-US" altLang="zh-CN" sz="1500" b="1" baseline="-25000">
                  <a:solidFill>
                    <a:srgbClr val="002060"/>
                  </a:solidFill>
                  <a:latin typeface="Times New Roman" pitchFamily="18" charset="0"/>
                </a:rPr>
                <a:t>2</a:t>
              </a:r>
              <a:endParaRPr lang="en-US" altLang="zh-CN" sz="1500" b="1">
                <a:solidFill>
                  <a:srgbClr val="002060"/>
                </a:solidFill>
                <a:latin typeface="Times New Roman" pitchFamily="18" charset="0"/>
              </a:endParaRPr>
            </a:p>
          </p:txBody>
        </p:sp>
        <p:sp>
          <p:nvSpPr>
            <p:cNvPr id="2102" name="Text Box 143"/>
            <p:cNvSpPr txBox="1">
              <a:spLocks noChangeArrowheads="1"/>
            </p:cNvSpPr>
            <p:nvPr/>
          </p:nvSpPr>
          <p:spPr bwMode="auto">
            <a:xfrm>
              <a:off x="7989829" y="5679797"/>
              <a:ext cx="313029" cy="431059"/>
            </a:xfrm>
            <a:prstGeom prst="rect">
              <a:avLst/>
            </a:prstGeom>
            <a:noFill/>
            <a:ln w="9525">
              <a:noFill/>
              <a:miter lim="800000"/>
              <a:headEnd/>
              <a:tailEnd/>
            </a:ln>
          </p:spPr>
          <p:txBody>
            <a:bodyPr wrap="none">
              <a:spAutoFit/>
            </a:bodyPr>
            <a:lstStyle/>
            <a:p>
              <a:pPr eaLnBrk="0" hangingPunct="0"/>
              <a:r>
                <a:rPr lang="en-US" altLang="zh-CN" sz="1500" b="1" i="1">
                  <a:solidFill>
                    <a:srgbClr val="002060"/>
                  </a:solidFill>
                  <a:latin typeface="Times New Roman" pitchFamily="18" charset="0"/>
                </a:rPr>
                <a:t>V</a:t>
              </a:r>
            </a:p>
          </p:txBody>
        </p:sp>
        <p:sp>
          <p:nvSpPr>
            <p:cNvPr id="2103" name="Text Box 144"/>
            <p:cNvSpPr txBox="1">
              <a:spLocks noChangeArrowheads="1"/>
            </p:cNvSpPr>
            <p:nvPr/>
          </p:nvSpPr>
          <p:spPr bwMode="auto">
            <a:xfrm>
              <a:off x="5903036" y="5528925"/>
              <a:ext cx="351516" cy="492639"/>
            </a:xfrm>
            <a:prstGeom prst="rect">
              <a:avLst/>
            </a:prstGeom>
            <a:noFill/>
            <a:ln w="9525">
              <a:noFill/>
              <a:miter lim="800000"/>
              <a:headEnd/>
              <a:tailEnd/>
            </a:ln>
          </p:spPr>
          <p:txBody>
            <a:bodyPr wrap="none">
              <a:spAutoFit/>
            </a:bodyPr>
            <a:lstStyle/>
            <a:p>
              <a:pPr eaLnBrk="0" hangingPunct="0"/>
              <a:r>
                <a:rPr lang="en-US" altLang="zh-CN" b="1" i="1">
                  <a:solidFill>
                    <a:srgbClr val="002060"/>
                  </a:solidFill>
                  <a:latin typeface="Times New Roman" pitchFamily="18" charset="0"/>
                </a:rPr>
                <a:t>O</a:t>
              </a:r>
            </a:p>
          </p:txBody>
        </p:sp>
        <p:sp>
          <p:nvSpPr>
            <p:cNvPr id="2104" name="Rectangle 145"/>
            <p:cNvSpPr>
              <a:spLocks noChangeArrowheads="1"/>
            </p:cNvSpPr>
            <p:nvPr/>
          </p:nvSpPr>
          <p:spPr bwMode="auto">
            <a:xfrm>
              <a:off x="7899306" y="4965139"/>
              <a:ext cx="280956" cy="431059"/>
            </a:xfrm>
            <a:prstGeom prst="rect">
              <a:avLst/>
            </a:prstGeom>
            <a:noFill/>
            <a:ln w="9525">
              <a:noFill/>
              <a:miter lim="800000"/>
              <a:headEnd/>
              <a:tailEnd/>
            </a:ln>
          </p:spPr>
          <p:txBody>
            <a:bodyPr wrap="none">
              <a:spAutoFit/>
            </a:bodyPr>
            <a:lstStyle/>
            <a:p>
              <a:pPr eaLnBrk="0" hangingPunct="0"/>
              <a:r>
                <a:rPr lang="en-US" altLang="zh-CN" sz="1500" i="1">
                  <a:solidFill>
                    <a:srgbClr val="002060"/>
                  </a:solidFill>
                  <a:latin typeface="Times New Roman" pitchFamily="18" charset="0"/>
                </a:rPr>
                <a:t>b</a:t>
              </a:r>
            </a:p>
          </p:txBody>
        </p:sp>
        <p:sp>
          <p:nvSpPr>
            <p:cNvPr id="2105" name="椭圆 2"/>
            <p:cNvSpPr>
              <a:spLocks noChangeArrowheads="1"/>
            </p:cNvSpPr>
            <p:nvPr/>
          </p:nvSpPr>
          <p:spPr bwMode="auto">
            <a:xfrm>
              <a:off x="6581270" y="3996769"/>
              <a:ext cx="84841" cy="84841"/>
            </a:xfrm>
            <a:prstGeom prst="ellipse">
              <a:avLst/>
            </a:prstGeom>
            <a:solidFill>
              <a:schemeClr val="accent1"/>
            </a:solidFill>
            <a:ln w="9525" algn="ctr">
              <a:solidFill>
                <a:schemeClr val="tx1"/>
              </a:solidFill>
              <a:round/>
              <a:headEnd/>
              <a:tailEnd/>
            </a:ln>
          </p:spPr>
          <p:txBody>
            <a:bodyPr/>
            <a:lstStyle/>
            <a:p>
              <a:endParaRPr lang="zh-CN" altLang="zh-CN">
                <a:solidFill>
                  <a:srgbClr val="002060"/>
                </a:solidFill>
                <a:latin typeface="Times New Roman" pitchFamily="18" charset="0"/>
              </a:endParaRPr>
            </a:p>
          </p:txBody>
        </p:sp>
        <p:sp>
          <p:nvSpPr>
            <p:cNvPr id="2106" name="椭圆 52"/>
            <p:cNvSpPr>
              <a:spLocks noChangeArrowheads="1"/>
            </p:cNvSpPr>
            <p:nvPr/>
          </p:nvSpPr>
          <p:spPr bwMode="auto">
            <a:xfrm>
              <a:off x="7868092" y="5193155"/>
              <a:ext cx="84841" cy="84841"/>
            </a:xfrm>
            <a:prstGeom prst="ellipse">
              <a:avLst/>
            </a:prstGeom>
            <a:solidFill>
              <a:schemeClr val="accent1"/>
            </a:solidFill>
            <a:ln w="9525" algn="ctr">
              <a:solidFill>
                <a:schemeClr val="tx1"/>
              </a:solidFill>
              <a:round/>
              <a:headEnd/>
              <a:tailEnd/>
            </a:ln>
          </p:spPr>
          <p:txBody>
            <a:bodyPr/>
            <a:lstStyle/>
            <a:p>
              <a:endParaRPr lang="zh-CN" altLang="zh-CN">
                <a:solidFill>
                  <a:srgbClr val="002060"/>
                </a:solidFill>
                <a:latin typeface="Times New Roman" pitchFamily="18" charset="0"/>
              </a:endParaRPr>
            </a:p>
          </p:txBody>
        </p:sp>
        <p:sp>
          <p:nvSpPr>
            <p:cNvPr id="2107" name="任意多边形 4"/>
            <p:cNvSpPr>
              <a:spLocks/>
            </p:cNvSpPr>
            <p:nvPr/>
          </p:nvSpPr>
          <p:spPr bwMode="auto">
            <a:xfrm>
              <a:off x="6636470" y="4044099"/>
              <a:ext cx="1282504" cy="1215219"/>
            </a:xfrm>
            <a:custGeom>
              <a:avLst/>
              <a:gdLst>
                <a:gd name="T0" fmla="*/ 0 w 1282504"/>
                <a:gd name="T1" fmla="*/ 0 h 1215219"/>
                <a:gd name="T2" fmla="*/ 781966 w 1282504"/>
                <a:gd name="T3" fmla="*/ 310311 h 1215219"/>
                <a:gd name="T4" fmla="*/ 1282504 w 1282504"/>
                <a:gd name="T5" fmla="*/ 1215219 h 1215219"/>
                <a:gd name="T6" fmla="*/ 0 60000 65536"/>
                <a:gd name="T7" fmla="*/ 0 60000 65536"/>
                <a:gd name="T8" fmla="*/ 0 60000 65536"/>
                <a:gd name="T9" fmla="*/ 0 w 1282504"/>
                <a:gd name="T10" fmla="*/ 0 h 1215219"/>
                <a:gd name="T11" fmla="*/ 1282504 w 1282504"/>
                <a:gd name="T12" fmla="*/ 1215219 h 1215219"/>
              </a:gdLst>
              <a:ahLst/>
              <a:cxnLst>
                <a:cxn ang="T6">
                  <a:pos x="T0" y="T1"/>
                </a:cxn>
                <a:cxn ang="T7">
                  <a:pos x="T2" y="T3"/>
                </a:cxn>
                <a:cxn ang="T8">
                  <a:pos x="T4" y="T5"/>
                </a:cxn>
              </a:cxnLst>
              <a:rect l="T9" t="T10" r="T11" b="T12"/>
              <a:pathLst>
                <a:path w="1282504" h="1215219">
                  <a:moveTo>
                    <a:pt x="0" y="0"/>
                  </a:moveTo>
                  <a:cubicBezTo>
                    <a:pt x="374798" y="43216"/>
                    <a:pt x="557651" y="150525"/>
                    <a:pt x="781966" y="310311"/>
                  </a:cubicBezTo>
                  <a:cubicBezTo>
                    <a:pt x="997211" y="506703"/>
                    <a:pt x="1153766" y="865851"/>
                    <a:pt x="1282504" y="1215219"/>
                  </a:cubicBezTo>
                </a:path>
              </a:pathLst>
            </a:custGeom>
            <a:noFill/>
            <a:ln w="19050" algn="ctr">
              <a:solidFill>
                <a:srgbClr val="FF0000"/>
              </a:solidFill>
              <a:round/>
              <a:headEnd/>
              <a:tailEnd/>
            </a:ln>
          </p:spPr>
          <p:txBody>
            <a:bodyPr/>
            <a:lstStyle/>
            <a:p>
              <a:endParaRPr lang="zh-CN" altLang="en-US"/>
            </a:p>
          </p:txBody>
        </p:sp>
        <p:cxnSp>
          <p:nvCxnSpPr>
            <p:cNvPr id="2108" name="直接箭头连接符 6"/>
            <p:cNvCxnSpPr>
              <a:cxnSpLocks noChangeShapeType="1"/>
            </p:cNvCxnSpPr>
            <p:nvPr/>
          </p:nvCxnSpPr>
          <p:spPr bwMode="auto">
            <a:xfrm>
              <a:off x="7129182" y="4170357"/>
              <a:ext cx="123824" cy="71003"/>
            </a:xfrm>
            <a:prstGeom prst="straightConnector1">
              <a:avLst/>
            </a:prstGeom>
            <a:noFill/>
            <a:ln w="19050" algn="ctr">
              <a:solidFill>
                <a:srgbClr val="FF0000"/>
              </a:solidFill>
              <a:round/>
              <a:headEnd/>
              <a:tailEnd type="arrow" w="med" len="med"/>
            </a:ln>
          </p:spPr>
        </p:cxnSp>
        <p:cxnSp>
          <p:nvCxnSpPr>
            <p:cNvPr id="2109" name="直接连接符 9"/>
            <p:cNvCxnSpPr>
              <a:cxnSpLocks noChangeShapeType="1"/>
            </p:cNvCxnSpPr>
            <p:nvPr/>
          </p:nvCxnSpPr>
          <p:spPr bwMode="auto">
            <a:xfrm>
              <a:off x="6617105" y="4069185"/>
              <a:ext cx="12425" cy="1674457"/>
            </a:xfrm>
            <a:prstGeom prst="line">
              <a:avLst/>
            </a:prstGeom>
            <a:noFill/>
            <a:ln w="9525" algn="ctr">
              <a:solidFill>
                <a:schemeClr val="tx1"/>
              </a:solidFill>
              <a:prstDash val="dash"/>
              <a:round/>
              <a:headEnd/>
              <a:tailEnd/>
            </a:ln>
          </p:spPr>
        </p:cxnSp>
        <p:cxnSp>
          <p:nvCxnSpPr>
            <p:cNvPr id="2110" name="直接连接符 11"/>
            <p:cNvCxnSpPr>
              <a:cxnSpLocks noChangeShapeType="1"/>
              <a:stCxn id="2106" idx="4"/>
            </p:cNvCxnSpPr>
            <p:nvPr/>
          </p:nvCxnSpPr>
          <p:spPr bwMode="auto">
            <a:xfrm>
              <a:off x="7910513" y="5277996"/>
              <a:ext cx="0" cy="465646"/>
            </a:xfrm>
            <a:prstGeom prst="line">
              <a:avLst/>
            </a:prstGeom>
            <a:noFill/>
            <a:ln w="9525" algn="ctr">
              <a:solidFill>
                <a:schemeClr val="tx1"/>
              </a:solidFill>
              <a:prstDash val="dash"/>
              <a:round/>
              <a:headEnd/>
              <a:tailEnd/>
            </a:ln>
          </p:spPr>
        </p:cxnSp>
      </p:grpSp>
      <p:sp>
        <p:nvSpPr>
          <p:cNvPr id="53" name="任意多边形 52"/>
          <p:cNvSpPr>
            <a:spLocks/>
          </p:cNvSpPr>
          <p:nvPr/>
        </p:nvSpPr>
        <p:spPr bwMode="auto">
          <a:xfrm>
            <a:off x="6383338" y="2963863"/>
            <a:ext cx="1228725" cy="895350"/>
          </a:xfrm>
          <a:custGeom>
            <a:avLst/>
            <a:gdLst>
              <a:gd name="T0" fmla="*/ 0 w 1291472"/>
              <a:gd name="T1" fmla="*/ 0 h 1168923"/>
              <a:gd name="T2" fmla="*/ 118436 w 1291472"/>
              <a:gd name="T3" fmla="*/ 399642 h 1168923"/>
              <a:gd name="T4" fmla="*/ 279754 w 1291472"/>
              <a:gd name="T5" fmla="*/ 527188 h 1168923"/>
              <a:gd name="T6" fmla="*/ 0 60000 65536"/>
              <a:gd name="T7" fmla="*/ 0 60000 65536"/>
              <a:gd name="T8" fmla="*/ 0 60000 65536"/>
              <a:gd name="T9" fmla="*/ 0 w 1291472"/>
              <a:gd name="T10" fmla="*/ 0 h 1168923"/>
              <a:gd name="T11" fmla="*/ 1291472 w 1291472"/>
              <a:gd name="T12" fmla="*/ 1168923 h 1168923"/>
            </a:gdLst>
            <a:ahLst/>
            <a:cxnLst>
              <a:cxn ang="T6">
                <a:pos x="T0" y="T1"/>
              </a:cxn>
              <a:cxn ang="T7">
                <a:pos x="T2" y="T3"/>
              </a:cxn>
              <a:cxn ang="T8">
                <a:pos x="T4" y="T5"/>
              </a:cxn>
            </a:cxnLst>
            <a:rect l="T9" t="T10" r="T11" b="T12"/>
            <a:pathLst>
              <a:path w="1291472" h="1168923">
                <a:moveTo>
                  <a:pt x="0" y="0"/>
                </a:moveTo>
                <a:cubicBezTo>
                  <a:pt x="165754" y="345649"/>
                  <a:pt x="331509" y="691299"/>
                  <a:pt x="546754" y="886119"/>
                </a:cubicBezTo>
                <a:cubicBezTo>
                  <a:pt x="761999" y="1080940"/>
                  <a:pt x="1026735" y="1124931"/>
                  <a:pt x="1291472" y="1168923"/>
                </a:cubicBezTo>
              </a:path>
            </a:pathLst>
          </a:custGeom>
          <a:noFill/>
          <a:ln w="19050" algn="ctr">
            <a:solidFill>
              <a:srgbClr val="0000FF"/>
            </a:solidFill>
            <a:round/>
            <a:headEnd/>
            <a:tailEnd/>
          </a:ln>
        </p:spPr>
        <p:txBody>
          <a:bodyPr/>
          <a:lstStyle/>
          <a:p>
            <a:endParaRPr lang="zh-CN" altLang="en-US"/>
          </a:p>
        </p:txBody>
      </p:sp>
      <p:grpSp>
        <p:nvGrpSpPr>
          <p:cNvPr id="4" name="Group 57"/>
          <p:cNvGrpSpPr>
            <a:grpSpLocks/>
          </p:cNvGrpSpPr>
          <p:nvPr/>
        </p:nvGrpSpPr>
        <p:grpSpPr bwMode="auto">
          <a:xfrm>
            <a:off x="5651500" y="1495425"/>
            <a:ext cx="2203450" cy="1093788"/>
            <a:chOff x="3584" y="1592"/>
            <a:chExt cx="1388" cy="919"/>
          </a:xfrm>
        </p:grpSpPr>
        <p:sp>
          <p:nvSpPr>
            <p:cNvPr id="10278" name="Rectangle 58" descr="小纸屑"/>
            <p:cNvSpPr>
              <a:spLocks noChangeArrowheads="1"/>
            </p:cNvSpPr>
            <p:nvPr/>
          </p:nvSpPr>
          <p:spPr bwMode="auto">
            <a:xfrm>
              <a:off x="3618" y="1616"/>
              <a:ext cx="759" cy="575"/>
            </a:xfrm>
            <a:prstGeom prst="rect">
              <a:avLst/>
            </a:prstGeom>
            <a:pattFill prst="lgConfetti">
              <a:fgClr>
                <a:schemeClr val="accent6">
                  <a:lumMod val="40000"/>
                  <a:lumOff val="60000"/>
                </a:schemeClr>
              </a:fgClr>
              <a:bgClr>
                <a:schemeClr val="bg1"/>
              </a:bgClr>
            </a:pattFill>
            <a:ln w="9525">
              <a:solidFill>
                <a:schemeClr val="tx1"/>
              </a:solidFill>
              <a:miter lim="800000"/>
              <a:headEnd/>
              <a:tailEnd/>
            </a:ln>
          </p:spPr>
          <p:txBody>
            <a:bodyPr wrap="none" anchor="ctr"/>
            <a:lstStyle/>
            <a:p>
              <a:pPr fontAlgn="auto">
                <a:spcBef>
                  <a:spcPts val="0"/>
                </a:spcBef>
                <a:spcAft>
                  <a:spcPts val="0"/>
                </a:spcAft>
                <a:defRPr/>
              </a:pPr>
              <a:endParaRPr lang="zh-CN" altLang="en-US">
                <a:solidFill>
                  <a:prstClr val="black"/>
                </a:solidFill>
                <a:latin typeface="+mn-lt"/>
                <a:ea typeface="+mn-ea"/>
              </a:endParaRPr>
            </a:p>
          </p:txBody>
        </p:sp>
        <p:grpSp>
          <p:nvGrpSpPr>
            <p:cNvPr id="2075" name="Group 59"/>
            <p:cNvGrpSpPr>
              <a:grpSpLocks/>
            </p:cNvGrpSpPr>
            <p:nvPr/>
          </p:nvGrpSpPr>
          <p:grpSpPr bwMode="auto">
            <a:xfrm>
              <a:off x="4444" y="2209"/>
              <a:ext cx="344" cy="198"/>
              <a:chOff x="1702" y="2191"/>
              <a:chExt cx="344" cy="149"/>
            </a:xfrm>
          </p:grpSpPr>
          <p:sp>
            <p:nvSpPr>
              <p:cNvPr id="2086" name="Line 60"/>
              <p:cNvSpPr>
                <a:spLocks noChangeShapeType="1"/>
              </p:cNvSpPr>
              <p:nvPr/>
            </p:nvSpPr>
            <p:spPr bwMode="auto">
              <a:xfrm>
                <a:off x="1702" y="2196"/>
                <a:ext cx="0" cy="144"/>
              </a:xfrm>
              <a:prstGeom prst="line">
                <a:avLst/>
              </a:prstGeom>
              <a:noFill/>
              <a:ln w="9525">
                <a:solidFill>
                  <a:schemeClr val="tx1"/>
                </a:solidFill>
                <a:round/>
                <a:headEnd/>
                <a:tailEnd/>
              </a:ln>
            </p:spPr>
            <p:txBody>
              <a:bodyPr wrap="none" anchor="ctr"/>
              <a:lstStyle/>
              <a:p>
                <a:endParaRPr lang="zh-CN" altLang="en-US"/>
              </a:p>
            </p:txBody>
          </p:sp>
          <p:sp>
            <p:nvSpPr>
              <p:cNvPr id="2087" name="Line 61"/>
              <p:cNvSpPr>
                <a:spLocks noChangeShapeType="1"/>
              </p:cNvSpPr>
              <p:nvPr/>
            </p:nvSpPr>
            <p:spPr bwMode="auto">
              <a:xfrm>
                <a:off x="2046" y="2191"/>
                <a:ext cx="0" cy="144"/>
              </a:xfrm>
              <a:prstGeom prst="line">
                <a:avLst/>
              </a:prstGeom>
              <a:noFill/>
              <a:ln w="9525">
                <a:solidFill>
                  <a:schemeClr val="tx1"/>
                </a:solidFill>
                <a:round/>
                <a:headEnd/>
                <a:tailEnd/>
              </a:ln>
            </p:spPr>
            <p:txBody>
              <a:bodyPr wrap="none" anchor="ctr"/>
              <a:lstStyle/>
              <a:p>
                <a:endParaRPr lang="zh-CN" altLang="en-US"/>
              </a:p>
            </p:txBody>
          </p:sp>
          <p:sp>
            <p:nvSpPr>
              <p:cNvPr id="2088" name="Line 62"/>
              <p:cNvSpPr>
                <a:spLocks noChangeShapeType="1"/>
              </p:cNvSpPr>
              <p:nvPr/>
            </p:nvSpPr>
            <p:spPr bwMode="auto">
              <a:xfrm>
                <a:off x="1708" y="2296"/>
                <a:ext cx="336" cy="0"/>
              </a:xfrm>
              <a:prstGeom prst="line">
                <a:avLst/>
              </a:prstGeom>
              <a:noFill/>
              <a:ln w="9525">
                <a:solidFill>
                  <a:schemeClr val="tx1"/>
                </a:solidFill>
                <a:round/>
                <a:headEnd/>
                <a:tailEnd/>
              </a:ln>
            </p:spPr>
            <p:txBody>
              <a:bodyPr wrap="none" anchor="ctr"/>
              <a:lstStyle/>
              <a:p>
                <a:endParaRPr lang="zh-CN" altLang="en-US"/>
              </a:p>
            </p:txBody>
          </p:sp>
        </p:grpSp>
        <p:sp>
          <p:nvSpPr>
            <p:cNvPr id="2076" name="Rectangle 63" descr="深色上对角线"/>
            <p:cNvSpPr>
              <a:spLocks noChangeArrowheads="1"/>
            </p:cNvSpPr>
            <p:nvPr/>
          </p:nvSpPr>
          <p:spPr bwMode="auto">
            <a:xfrm>
              <a:off x="3584" y="1592"/>
              <a:ext cx="1382" cy="40"/>
            </a:xfrm>
            <a:prstGeom prst="rect">
              <a:avLst/>
            </a:prstGeom>
            <a:pattFill prst="ltDnDiag">
              <a:fgClr>
                <a:schemeClr val="tx1"/>
              </a:fgClr>
              <a:bgClr>
                <a:srgbClr val="FFFFFF"/>
              </a:bgClr>
            </a:pattFill>
            <a:ln w="9525">
              <a:solidFill>
                <a:schemeClr val="tx1"/>
              </a:solidFill>
              <a:miter lim="800000"/>
              <a:headEnd/>
              <a:tailEnd/>
            </a:ln>
          </p:spPr>
          <p:txBody>
            <a:bodyPr wrap="none" anchor="ctr"/>
            <a:lstStyle/>
            <a:p>
              <a:endParaRPr lang="zh-CN" altLang="zh-CN">
                <a:solidFill>
                  <a:srgbClr val="000000"/>
                </a:solidFill>
                <a:latin typeface="Times New Roman" pitchFamily="18" charset="0"/>
              </a:endParaRPr>
            </a:p>
          </p:txBody>
        </p:sp>
        <p:sp>
          <p:nvSpPr>
            <p:cNvPr id="2077" name="Rectangle 64" descr="深色上对角线"/>
            <p:cNvSpPr>
              <a:spLocks noChangeArrowheads="1"/>
            </p:cNvSpPr>
            <p:nvPr/>
          </p:nvSpPr>
          <p:spPr bwMode="auto">
            <a:xfrm>
              <a:off x="3584" y="1632"/>
              <a:ext cx="44" cy="565"/>
            </a:xfrm>
            <a:prstGeom prst="rect">
              <a:avLst/>
            </a:prstGeom>
            <a:pattFill prst="ltUpDiag">
              <a:fgClr>
                <a:schemeClr val="tx1"/>
              </a:fgClr>
              <a:bgClr>
                <a:srgbClr val="FFFFFF"/>
              </a:bgClr>
            </a:pattFill>
            <a:ln w="9525">
              <a:solidFill>
                <a:schemeClr val="tx1"/>
              </a:solidFill>
              <a:miter lim="800000"/>
              <a:headEnd/>
              <a:tailEnd/>
            </a:ln>
          </p:spPr>
          <p:txBody>
            <a:bodyPr wrap="none" anchor="ctr"/>
            <a:lstStyle/>
            <a:p>
              <a:endParaRPr lang="zh-CN" altLang="zh-CN">
                <a:solidFill>
                  <a:srgbClr val="000000"/>
                </a:solidFill>
                <a:latin typeface="Times New Roman" pitchFamily="18" charset="0"/>
              </a:endParaRPr>
            </a:p>
          </p:txBody>
        </p:sp>
        <p:sp>
          <p:nvSpPr>
            <p:cNvPr id="2078" name="Rectangle 65" descr="深色上对角线"/>
            <p:cNvSpPr>
              <a:spLocks noChangeArrowheads="1"/>
            </p:cNvSpPr>
            <p:nvPr/>
          </p:nvSpPr>
          <p:spPr bwMode="auto">
            <a:xfrm>
              <a:off x="3584" y="2190"/>
              <a:ext cx="1388" cy="40"/>
            </a:xfrm>
            <a:prstGeom prst="rect">
              <a:avLst/>
            </a:prstGeom>
            <a:pattFill prst="ltDnDiag">
              <a:fgClr>
                <a:schemeClr val="tx1"/>
              </a:fgClr>
              <a:bgClr>
                <a:srgbClr val="FFFFFF"/>
              </a:bgClr>
            </a:pattFill>
            <a:ln w="9525">
              <a:solidFill>
                <a:schemeClr val="tx1"/>
              </a:solidFill>
              <a:miter lim="800000"/>
              <a:headEnd/>
              <a:tailEnd/>
            </a:ln>
          </p:spPr>
          <p:txBody>
            <a:bodyPr wrap="none" anchor="ctr"/>
            <a:lstStyle/>
            <a:p>
              <a:endParaRPr lang="zh-CN" altLang="zh-CN">
                <a:solidFill>
                  <a:srgbClr val="000000"/>
                </a:solidFill>
                <a:latin typeface="Times New Roman" pitchFamily="18" charset="0"/>
              </a:endParaRPr>
            </a:p>
          </p:txBody>
        </p:sp>
        <p:sp>
          <p:nvSpPr>
            <p:cNvPr id="165954" name="Rectangle 66"/>
            <p:cNvSpPr>
              <a:spLocks noChangeArrowheads="1"/>
            </p:cNvSpPr>
            <p:nvPr/>
          </p:nvSpPr>
          <p:spPr bwMode="auto">
            <a:xfrm>
              <a:off x="4384" y="1624"/>
              <a:ext cx="50" cy="567"/>
            </a:xfrm>
            <a:prstGeom prst="rect">
              <a:avLst/>
            </a:prstGeom>
            <a:gradFill rotWithShape="0">
              <a:gsLst>
                <a:gs pos="0">
                  <a:schemeClr val="folHlink">
                    <a:gamma/>
                    <a:shade val="46275"/>
                    <a:invGamma/>
                  </a:schemeClr>
                </a:gs>
                <a:gs pos="50000">
                  <a:schemeClr val="folHlink"/>
                </a:gs>
                <a:gs pos="100000">
                  <a:schemeClr val="folHlink">
                    <a:gamma/>
                    <a:shade val="46275"/>
                    <a:invGamma/>
                  </a:schemeClr>
                </a:gs>
              </a:gsLst>
              <a:lin ang="5400000" scaled="1"/>
            </a:gradFill>
            <a:ln w="9525">
              <a:solidFill>
                <a:schemeClr val="tx1"/>
              </a:solidFill>
              <a:miter lim="800000"/>
              <a:headEnd/>
              <a:tailEnd/>
            </a:ln>
            <a:effectLst/>
          </p:spPr>
          <p:txBody>
            <a:bodyPr wrap="none" anchor="ctr"/>
            <a:lstStyle/>
            <a:p>
              <a:pPr fontAlgn="auto">
                <a:spcBef>
                  <a:spcPts val="0"/>
                </a:spcBef>
                <a:spcAft>
                  <a:spcPts val="0"/>
                </a:spcAft>
                <a:defRPr/>
              </a:pPr>
              <a:endParaRPr lang="zh-CN" altLang="en-US">
                <a:solidFill>
                  <a:prstClr val="black"/>
                </a:solidFill>
                <a:latin typeface="+mn-lt"/>
                <a:ea typeface="+mn-ea"/>
              </a:endParaRPr>
            </a:p>
          </p:txBody>
        </p:sp>
        <p:sp>
          <p:nvSpPr>
            <p:cNvPr id="2080" name="Rectangle 67"/>
            <p:cNvSpPr>
              <a:spLocks noChangeArrowheads="1"/>
            </p:cNvSpPr>
            <p:nvPr/>
          </p:nvSpPr>
          <p:spPr bwMode="auto">
            <a:xfrm>
              <a:off x="4750" y="1624"/>
              <a:ext cx="38" cy="561"/>
            </a:xfrm>
            <a:prstGeom prst="rect">
              <a:avLst/>
            </a:prstGeom>
            <a:solidFill>
              <a:schemeClr val="bg1"/>
            </a:solidFill>
            <a:ln w="9525">
              <a:solidFill>
                <a:schemeClr val="tx1"/>
              </a:solidFill>
              <a:miter lim="800000"/>
              <a:headEnd/>
              <a:tailEnd/>
            </a:ln>
          </p:spPr>
          <p:txBody>
            <a:bodyPr wrap="none" anchor="ctr"/>
            <a:lstStyle/>
            <a:p>
              <a:endParaRPr lang="zh-CN" altLang="zh-CN">
                <a:solidFill>
                  <a:srgbClr val="000000"/>
                </a:solidFill>
                <a:latin typeface="Times New Roman" pitchFamily="18" charset="0"/>
              </a:endParaRPr>
            </a:p>
          </p:txBody>
        </p:sp>
        <p:sp>
          <p:nvSpPr>
            <p:cNvPr id="2081" name="AutoShape 68"/>
            <p:cNvSpPr>
              <a:spLocks/>
            </p:cNvSpPr>
            <p:nvPr/>
          </p:nvSpPr>
          <p:spPr bwMode="auto">
            <a:xfrm>
              <a:off x="4740" y="1836"/>
              <a:ext cx="227" cy="271"/>
            </a:xfrm>
            <a:prstGeom prst="callout1">
              <a:avLst>
                <a:gd name="adj1" fmla="val 24491"/>
                <a:gd name="adj2" fmla="val -21144"/>
                <a:gd name="adj3" fmla="val 41542"/>
                <a:gd name="adj4" fmla="val -128278"/>
              </a:avLst>
            </a:prstGeom>
            <a:noFill/>
            <a:ln w="9525">
              <a:solidFill>
                <a:srgbClr val="FF0000"/>
              </a:solidFill>
              <a:miter lim="800000"/>
              <a:headEnd/>
              <a:tailEnd/>
            </a:ln>
          </p:spPr>
          <p:txBody>
            <a:bodyPr>
              <a:spAutoFit/>
            </a:bodyPr>
            <a:lstStyle/>
            <a:p>
              <a:pPr eaLnBrk="0" hangingPunct="0"/>
              <a:r>
                <a:rPr lang="en-US" altLang="zh-CN" sz="1500" i="1">
                  <a:solidFill>
                    <a:srgbClr val="000000"/>
                  </a:solidFill>
                  <a:latin typeface="Times New Roman" pitchFamily="18" charset="0"/>
                </a:rPr>
                <a:t>S</a:t>
              </a:r>
            </a:p>
          </p:txBody>
        </p:sp>
        <p:sp>
          <p:nvSpPr>
            <p:cNvPr id="2082" name="Line 69"/>
            <p:cNvSpPr>
              <a:spLocks noChangeShapeType="1"/>
            </p:cNvSpPr>
            <p:nvPr/>
          </p:nvSpPr>
          <p:spPr bwMode="auto">
            <a:xfrm>
              <a:off x="4052" y="1826"/>
              <a:ext cx="336" cy="0"/>
            </a:xfrm>
            <a:prstGeom prst="line">
              <a:avLst/>
            </a:prstGeom>
            <a:noFill/>
            <a:ln w="38100">
              <a:solidFill>
                <a:srgbClr val="FF0000"/>
              </a:solidFill>
              <a:round/>
              <a:headEnd/>
              <a:tailEnd type="triangle" w="med" len="med"/>
            </a:ln>
          </p:spPr>
          <p:txBody>
            <a:bodyPr/>
            <a:lstStyle/>
            <a:p>
              <a:endParaRPr lang="zh-CN" altLang="en-US"/>
            </a:p>
          </p:txBody>
        </p:sp>
        <p:sp>
          <p:nvSpPr>
            <p:cNvPr id="2083" name="Line 70"/>
            <p:cNvSpPr>
              <a:spLocks noChangeShapeType="1"/>
            </p:cNvSpPr>
            <p:nvPr/>
          </p:nvSpPr>
          <p:spPr bwMode="auto">
            <a:xfrm>
              <a:off x="4053" y="2006"/>
              <a:ext cx="336" cy="0"/>
            </a:xfrm>
            <a:prstGeom prst="line">
              <a:avLst/>
            </a:prstGeom>
            <a:noFill/>
            <a:ln w="38100">
              <a:solidFill>
                <a:srgbClr val="FF0000"/>
              </a:solidFill>
              <a:round/>
              <a:headEnd/>
              <a:tailEnd type="triangle" w="med" len="med"/>
            </a:ln>
          </p:spPr>
          <p:txBody>
            <a:bodyPr/>
            <a:lstStyle/>
            <a:p>
              <a:endParaRPr lang="zh-CN" altLang="en-US"/>
            </a:p>
          </p:txBody>
        </p:sp>
        <p:sp>
          <p:nvSpPr>
            <p:cNvPr id="2084" name="Text Box 71"/>
            <p:cNvSpPr txBox="1">
              <a:spLocks noChangeArrowheads="1"/>
            </p:cNvSpPr>
            <p:nvPr/>
          </p:nvSpPr>
          <p:spPr bwMode="auto">
            <a:xfrm>
              <a:off x="3892" y="1830"/>
              <a:ext cx="177" cy="271"/>
            </a:xfrm>
            <a:prstGeom prst="rect">
              <a:avLst/>
            </a:prstGeom>
            <a:noFill/>
            <a:ln w="9525">
              <a:noFill/>
              <a:miter lim="800000"/>
              <a:headEnd/>
              <a:tailEnd/>
            </a:ln>
          </p:spPr>
          <p:txBody>
            <a:bodyPr wrap="none">
              <a:spAutoFit/>
            </a:bodyPr>
            <a:lstStyle/>
            <a:p>
              <a:pPr eaLnBrk="0" hangingPunct="0"/>
              <a:r>
                <a:rPr lang="en-US" altLang="zh-CN" sz="1500" b="1" i="1">
                  <a:solidFill>
                    <a:srgbClr val="1F497D"/>
                  </a:solidFill>
                  <a:latin typeface="Times New Roman" pitchFamily="18" charset="0"/>
                </a:rPr>
                <a:t>p</a:t>
              </a:r>
            </a:p>
          </p:txBody>
        </p:sp>
        <p:sp>
          <p:nvSpPr>
            <p:cNvPr id="2085" name="Rectangle 72"/>
            <p:cNvSpPr>
              <a:spLocks noChangeArrowheads="1"/>
            </p:cNvSpPr>
            <p:nvPr/>
          </p:nvSpPr>
          <p:spPr bwMode="auto">
            <a:xfrm>
              <a:off x="4513" y="2240"/>
              <a:ext cx="210" cy="271"/>
            </a:xfrm>
            <a:prstGeom prst="rect">
              <a:avLst/>
            </a:prstGeom>
            <a:solidFill>
              <a:srgbClr val="FFFFFF"/>
            </a:solidFill>
            <a:ln w="9525">
              <a:noFill/>
              <a:miter lim="800000"/>
              <a:headEnd/>
              <a:tailEnd/>
            </a:ln>
          </p:spPr>
          <p:txBody>
            <a:bodyPr wrap="none">
              <a:spAutoFit/>
            </a:bodyPr>
            <a:lstStyle/>
            <a:p>
              <a:pPr eaLnBrk="0" hangingPunct="0"/>
              <a:r>
                <a:rPr lang="en-US" altLang="zh-CN" sz="1500">
                  <a:solidFill>
                    <a:srgbClr val="1F497D"/>
                  </a:solidFill>
                  <a:latin typeface="Times New Roman" pitchFamily="18" charset="0"/>
                </a:rPr>
                <a:t>d</a:t>
              </a:r>
              <a:r>
                <a:rPr lang="en-US" altLang="zh-CN" sz="1500" i="1">
                  <a:solidFill>
                    <a:srgbClr val="1F497D"/>
                  </a:solidFill>
                  <a:latin typeface="Times New Roman" pitchFamily="18" charset="0"/>
                </a:rPr>
                <a:t>l</a:t>
              </a:r>
            </a:p>
          </p:txBody>
        </p:sp>
      </p:grpSp>
      <p:sp>
        <p:nvSpPr>
          <p:cNvPr id="165944" name="Text Box 56"/>
          <p:cNvSpPr txBox="1">
            <a:spLocks noChangeArrowheads="1"/>
          </p:cNvSpPr>
          <p:nvPr/>
        </p:nvSpPr>
        <p:spPr bwMode="auto">
          <a:xfrm>
            <a:off x="468313" y="1836738"/>
            <a:ext cx="1981200" cy="374650"/>
          </a:xfrm>
          <a:prstGeom prst="rect">
            <a:avLst/>
          </a:prstGeom>
          <a:noFill/>
          <a:ln w="9525">
            <a:noFill/>
            <a:miter lim="800000"/>
            <a:headEnd/>
            <a:tailEnd/>
          </a:ln>
        </p:spPr>
        <p:txBody>
          <a:bodyPr>
            <a:spAutoFit/>
          </a:bodyPr>
          <a:lstStyle/>
          <a:p>
            <a:pPr eaLnBrk="0" hangingPunct="0">
              <a:lnSpc>
                <a:spcPct val="110000"/>
              </a:lnSpc>
            </a:pPr>
            <a:r>
              <a:rPr kumimoji="1" lang="en-US" altLang="zh-CN" b="1">
                <a:solidFill>
                  <a:srgbClr val="0000FF"/>
                </a:solidFill>
                <a:latin typeface="华文中宋"/>
                <a:ea typeface="华文中宋"/>
                <a:cs typeface="华文中宋"/>
              </a:rPr>
              <a:t>1</a:t>
            </a:r>
            <a:r>
              <a:rPr kumimoji="1" lang="zh-CN" altLang="en-US" b="1">
                <a:solidFill>
                  <a:srgbClr val="0000FF"/>
                </a:solidFill>
                <a:latin typeface="华文中宋"/>
                <a:ea typeface="华文中宋"/>
                <a:cs typeface="华文中宋"/>
              </a:rPr>
              <a:t>、体积功</a:t>
            </a:r>
          </a:p>
        </p:txBody>
      </p:sp>
      <p:sp>
        <p:nvSpPr>
          <p:cNvPr id="165961" name="Text Box 73"/>
          <p:cNvSpPr txBox="1">
            <a:spLocks noChangeArrowheads="1"/>
          </p:cNvSpPr>
          <p:nvPr/>
        </p:nvSpPr>
        <p:spPr bwMode="auto">
          <a:xfrm>
            <a:off x="781050" y="2174875"/>
            <a:ext cx="2287588" cy="396875"/>
          </a:xfrm>
          <a:prstGeom prst="rect">
            <a:avLst/>
          </a:prstGeom>
          <a:noFill/>
          <a:ln w="9525">
            <a:noFill/>
            <a:miter lim="800000"/>
            <a:headEnd/>
            <a:tailEnd/>
          </a:ln>
        </p:spPr>
        <p:txBody>
          <a:bodyPr>
            <a:spAutoFit/>
          </a:bodyPr>
          <a:lstStyle/>
          <a:p>
            <a:pPr algn="ctr">
              <a:lnSpc>
                <a:spcPct val="110000"/>
              </a:lnSpc>
            </a:pPr>
            <a:r>
              <a:rPr kumimoji="1" lang="zh-CN" altLang="en-US" b="1">
                <a:solidFill>
                  <a:srgbClr val="000000"/>
                </a:solidFill>
                <a:latin typeface="Times New Roman" pitchFamily="18" charset="0"/>
                <a:ea typeface="华文中宋"/>
                <a:cs typeface="华文中宋"/>
              </a:rPr>
              <a:t>元功：</a:t>
            </a:r>
            <a:r>
              <a:rPr kumimoji="1" lang="en-US" altLang="zh-CN" b="1">
                <a:solidFill>
                  <a:srgbClr val="000000"/>
                </a:solidFill>
                <a:latin typeface="Times New Roman" pitchFamily="18" charset="0"/>
              </a:rPr>
              <a:t>d</a:t>
            </a:r>
            <a:r>
              <a:rPr kumimoji="1" lang="en-US" altLang="zh-CN" b="1" i="1">
                <a:solidFill>
                  <a:srgbClr val="000000"/>
                </a:solidFill>
                <a:latin typeface="Times New Roman" pitchFamily="18" charset="0"/>
              </a:rPr>
              <a:t>W </a:t>
            </a:r>
            <a:r>
              <a:rPr kumimoji="1" lang="en-US" altLang="zh-CN" b="1">
                <a:solidFill>
                  <a:srgbClr val="000000"/>
                </a:solidFill>
                <a:latin typeface="Times New Roman" pitchFamily="18" charset="0"/>
              </a:rPr>
              <a:t>= </a:t>
            </a:r>
            <a:r>
              <a:rPr kumimoji="1" lang="en-US" altLang="zh-CN" b="1" i="1">
                <a:solidFill>
                  <a:srgbClr val="000000"/>
                </a:solidFill>
                <a:latin typeface="Times New Roman" pitchFamily="18" charset="0"/>
              </a:rPr>
              <a:t>F</a:t>
            </a:r>
            <a:r>
              <a:rPr kumimoji="1" lang="en-US" altLang="zh-CN" b="1">
                <a:solidFill>
                  <a:srgbClr val="000000"/>
                </a:solidFill>
                <a:latin typeface="Times New Roman" pitchFamily="18" charset="0"/>
              </a:rPr>
              <a:t>d</a:t>
            </a:r>
            <a:r>
              <a:rPr kumimoji="1" lang="en-US" altLang="zh-CN" b="1" i="1">
                <a:solidFill>
                  <a:srgbClr val="000000"/>
                </a:solidFill>
                <a:latin typeface="Times New Roman" pitchFamily="18" charset="0"/>
              </a:rPr>
              <a:t>l</a:t>
            </a:r>
          </a:p>
        </p:txBody>
      </p:sp>
      <p:sp>
        <p:nvSpPr>
          <p:cNvPr id="165962" name="Text Box 74"/>
          <p:cNvSpPr txBox="1">
            <a:spLocks noChangeArrowheads="1"/>
          </p:cNvSpPr>
          <p:nvPr/>
        </p:nvSpPr>
        <p:spPr bwMode="auto">
          <a:xfrm>
            <a:off x="2643188" y="2174875"/>
            <a:ext cx="992187" cy="396875"/>
          </a:xfrm>
          <a:prstGeom prst="rect">
            <a:avLst/>
          </a:prstGeom>
          <a:noFill/>
          <a:ln w="9525">
            <a:noFill/>
            <a:miter lim="800000"/>
            <a:headEnd/>
            <a:tailEnd/>
          </a:ln>
        </p:spPr>
        <p:txBody>
          <a:bodyPr>
            <a:spAutoFit/>
          </a:bodyPr>
          <a:lstStyle/>
          <a:p>
            <a:pPr algn="ctr">
              <a:lnSpc>
                <a:spcPct val="110000"/>
              </a:lnSpc>
            </a:pPr>
            <a:r>
              <a:rPr kumimoji="1" lang="en-US" altLang="zh-CN" b="1">
                <a:solidFill>
                  <a:srgbClr val="000000"/>
                </a:solidFill>
                <a:latin typeface="Times New Roman" pitchFamily="18" charset="0"/>
              </a:rPr>
              <a:t>= </a:t>
            </a:r>
            <a:r>
              <a:rPr kumimoji="1" lang="en-US" altLang="zh-CN" b="1" i="1">
                <a:solidFill>
                  <a:srgbClr val="000000"/>
                </a:solidFill>
                <a:latin typeface="Times New Roman" pitchFamily="18" charset="0"/>
              </a:rPr>
              <a:t>pS</a:t>
            </a:r>
            <a:r>
              <a:rPr kumimoji="1" lang="en-US" altLang="zh-CN" b="1">
                <a:solidFill>
                  <a:srgbClr val="000000"/>
                </a:solidFill>
                <a:latin typeface="Times New Roman" pitchFamily="18" charset="0"/>
              </a:rPr>
              <a:t>d</a:t>
            </a:r>
            <a:r>
              <a:rPr kumimoji="1" lang="en-US" altLang="zh-CN" b="1" i="1">
                <a:solidFill>
                  <a:srgbClr val="000000"/>
                </a:solidFill>
                <a:latin typeface="Times New Roman" pitchFamily="18" charset="0"/>
              </a:rPr>
              <a:t>l</a:t>
            </a:r>
          </a:p>
        </p:txBody>
      </p:sp>
      <p:sp>
        <p:nvSpPr>
          <p:cNvPr id="165963" name="Text Box 75"/>
          <p:cNvSpPr txBox="1">
            <a:spLocks noChangeArrowheads="1"/>
          </p:cNvSpPr>
          <p:nvPr/>
        </p:nvSpPr>
        <p:spPr bwMode="auto">
          <a:xfrm>
            <a:off x="3343275" y="2174875"/>
            <a:ext cx="941388" cy="374650"/>
          </a:xfrm>
          <a:prstGeom prst="rect">
            <a:avLst/>
          </a:prstGeom>
          <a:noFill/>
          <a:ln w="9525">
            <a:noFill/>
            <a:miter lim="800000"/>
            <a:headEnd/>
            <a:tailEnd/>
          </a:ln>
        </p:spPr>
        <p:txBody>
          <a:bodyPr>
            <a:spAutoFit/>
          </a:bodyPr>
          <a:lstStyle/>
          <a:p>
            <a:pPr algn="ctr">
              <a:lnSpc>
                <a:spcPct val="110000"/>
              </a:lnSpc>
            </a:pPr>
            <a:r>
              <a:rPr kumimoji="1" lang="en-US" altLang="zh-CN" b="1">
                <a:solidFill>
                  <a:srgbClr val="000000"/>
                </a:solidFill>
                <a:latin typeface="Times New Roman" pitchFamily="18" charset="0"/>
              </a:rPr>
              <a:t>= pdV</a:t>
            </a:r>
          </a:p>
        </p:txBody>
      </p:sp>
      <p:sp>
        <p:nvSpPr>
          <p:cNvPr id="165965" name="Rectangle 77"/>
          <p:cNvSpPr>
            <a:spLocks noChangeArrowheads="1"/>
          </p:cNvSpPr>
          <p:nvPr/>
        </p:nvSpPr>
        <p:spPr bwMode="auto">
          <a:xfrm>
            <a:off x="755650" y="2825750"/>
            <a:ext cx="4365625" cy="609600"/>
          </a:xfrm>
          <a:prstGeom prst="rect">
            <a:avLst/>
          </a:prstGeom>
          <a:noFill/>
          <a:ln w="9525">
            <a:noFill/>
            <a:miter lim="800000"/>
            <a:headEnd/>
            <a:tailEnd/>
          </a:ln>
        </p:spPr>
        <p:txBody>
          <a:bodyPr lIns="0" tIns="0" rIns="0" bIns="0">
            <a:spAutoFit/>
          </a:bodyPr>
          <a:lstStyle/>
          <a:p>
            <a:pPr>
              <a:lnSpc>
                <a:spcPct val="110000"/>
              </a:lnSpc>
            </a:pPr>
            <a:r>
              <a:rPr kumimoji="1" lang="zh-CN" altLang="en-US" b="1">
                <a:solidFill>
                  <a:srgbClr val="000000"/>
                </a:solidFill>
                <a:latin typeface="Times New Roman" pitchFamily="18" charset="0"/>
                <a:ea typeface="华文中宋"/>
                <a:cs typeface="华文中宋"/>
              </a:rPr>
              <a:t>系统对外界作正功  </a:t>
            </a:r>
            <a:r>
              <a:rPr kumimoji="1" lang="en-US" altLang="zh-CN" b="1">
                <a:solidFill>
                  <a:srgbClr val="000000"/>
                </a:solidFill>
                <a:latin typeface="Times New Roman" pitchFamily="18" charset="0"/>
                <a:ea typeface="华文中宋"/>
                <a:cs typeface="华文中宋"/>
              </a:rPr>
              <a:t>d</a:t>
            </a:r>
            <a:r>
              <a:rPr kumimoji="1" lang="en-US" altLang="zh-CN" b="1" i="1">
                <a:solidFill>
                  <a:srgbClr val="000000"/>
                </a:solidFill>
                <a:latin typeface="Times New Roman" pitchFamily="18" charset="0"/>
                <a:ea typeface="华文中宋"/>
                <a:cs typeface="华文中宋"/>
              </a:rPr>
              <a:t>W </a:t>
            </a:r>
            <a:r>
              <a:rPr kumimoji="1" lang="en-US" altLang="zh-CN" b="1">
                <a:solidFill>
                  <a:srgbClr val="000000"/>
                </a:solidFill>
                <a:latin typeface="Times New Roman" pitchFamily="18" charset="0"/>
                <a:ea typeface="华文中宋"/>
                <a:cs typeface="华文中宋"/>
              </a:rPr>
              <a:t>&gt;0</a:t>
            </a:r>
          </a:p>
          <a:p>
            <a:pPr>
              <a:lnSpc>
                <a:spcPct val="110000"/>
              </a:lnSpc>
            </a:pPr>
            <a:r>
              <a:rPr kumimoji="1" lang="zh-CN" altLang="en-US" b="1">
                <a:solidFill>
                  <a:srgbClr val="000000"/>
                </a:solidFill>
                <a:latin typeface="Times New Roman" pitchFamily="18" charset="0"/>
                <a:ea typeface="华文中宋"/>
                <a:cs typeface="华文中宋"/>
              </a:rPr>
              <a:t>系统对外界作负功  </a:t>
            </a:r>
            <a:r>
              <a:rPr kumimoji="1" lang="en-US" altLang="zh-CN" b="1">
                <a:solidFill>
                  <a:srgbClr val="000000"/>
                </a:solidFill>
                <a:latin typeface="Times New Roman" pitchFamily="18" charset="0"/>
                <a:ea typeface="华文中宋"/>
                <a:cs typeface="华文中宋"/>
              </a:rPr>
              <a:t>d</a:t>
            </a:r>
            <a:r>
              <a:rPr kumimoji="1" lang="en-US" altLang="zh-CN" b="1" i="1">
                <a:solidFill>
                  <a:srgbClr val="000000"/>
                </a:solidFill>
                <a:latin typeface="Times New Roman" pitchFamily="18" charset="0"/>
                <a:ea typeface="华文中宋"/>
                <a:cs typeface="华文中宋"/>
              </a:rPr>
              <a:t>W </a:t>
            </a:r>
            <a:r>
              <a:rPr kumimoji="1" lang="en-US" altLang="zh-CN" b="1">
                <a:solidFill>
                  <a:srgbClr val="000000"/>
                </a:solidFill>
                <a:latin typeface="Times New Roman" pitchFamily="18" charset="0"/>
                <a:ea typeface="华文中宋"/>
                <a:cs typeface="华文中宋"/>
              </a:rPr>
              <a:t>&lt;0</a:t>
            </a:r>
          </a:p>
        </p:txBody>
      </p:sp>
      <p:sp>
        <p:nvSpPr>
          <p:cNvPr id="165966" name="Rectangle 78"/>
          <p:cNvSpPr>
            <a:spLocks noChangeArrowheads="1"/>
          </p:cNvSpPr>
          <p:nvPr/>
        </p:nvSpPr>
        <p:spPr bwMode="auto">
          <a:xfrm>
            <a:off x="755650" y="3636963"/>
            <a:ext cx="2654300" cy="374650"/>
          </a:xfrm>
          <a:prstGeom prst="rect">
            <a:avLst/>
          </a:prstGeom>
          <a:noFill/>
          <a:ln w="9525">
            <a:noFill/>
            <a:miter lim="800000"/>
            <a:headEnd/>
            <a:tailEnd/>
          </a:ln>
        </p:spPr>
        <p:txBody>
          <a:bodyPr>
            <a:spAutoFit/>
          </a:bodyPr>
          <a:lstStyle/>
          <a:p>
            <a:pPr eaLnBrk="0" hangingPunct="0">
              <a:lnSpc>
                <a:spcPct val="110000"/>
              </a:lnSpc>
            </a:pPr>
            <a:r>
              <a:rPr kumimoji="1" lang="zh-CN" altLang="en-US" b="1">
                <a:solidFill>
                  <a:srgbClr val="000000"/>
                </a:solidFill>
                <a:latin typeface="Times New Roman" pitchFamily="18" charset="0"/>
                <a:ea typeface="华文中宋"/>
                <a:cs typeface="华文中宋"/>
              </a:rPr>
              <a:t>功是过程量</a:t>
            </a:r>
          </a:p>
        </p:txBody>
      </p:sp>
      <p:graphicFrame>
        <p:nvGraphicFramePr>
          <p:cNvPr id="15" name="Object 13"/>
          <p:cNvGraphicFramePr>
            <a:graphicFrameLocks noChangeAspect="1"/>
          </p:cNvGraphicFramePr>
          <p:nvPr/>
        </p:nvGraphicFramePr>
        <p:xfrm>
          <a:off x="1304925" y="3952875"/>
          <a:ext cx="2835275" cy="635000"/>
        </p:xfrm>
        <a:graphic>
          <a:graphicData uri="http://schemas.openxmlformats.org/presentationml/2006/ole">
            <p:oleObj spid="_x0000_s2061" name="Equation" r:id="rId3" imgW="1333500" imgH="355600" progId="Equation.DSMT4">
              <p:embed/>
            </p:oleObj>
          </a:graphicData>
        </a:graphic>
      </p:graphicFrame>
      <p:sp>
        <p:nvSpPr>
          <p:cNvPr id="52" name="Text Box 2"/>
          <p:cNvSpPr>
            <a:spLocks noChangeArrowheads="1"/>
          </p:cNvSpPr>
          <p:nvPr/>
        </p:nvSpPr>
        <p:spPr bwMode="auto">
          <a:xfrm>
            <a:off x="839788" y="874713"/>
            <a:ext cx="3619500" cy="400050"/>
          </a:xfrm>
          <a:prstGeom prst="homePlate">
            <a:avLst>
              <a:gd name="adj" fmla="val 49929"/>
            </a:avLst>
          </a:prstGeom>
          <a:solidFill>
            <a:srgbClr val="539A84"/>
          </a:solidFill>
          <a:ln w="9525">
            <a:noFill/>
            <a:miter lim="800000"/>
            <a:headEnd/>
            <a:tailEnd/>
          </a:ln>
        </p:spPr>
        <p:txBody>
          <a:bodyPr>
            <a:spAutoFit/>
          </a:bodyPr>
          <a:lstStyle/>
          <a:p>
            <a:pPr>
              <a:buFont typeface="Arial" charset="0"/>
              <a:buNone/>
            </a:pPr>
            <a:r>
              <a:rPr kumimoji="1" lang="zh-CN" altLang="en-US" sz="2000" b="1">
                <a:solidFill>
                  <a:srgbClr val="FFFFFF"/>
                </a:solidFill>
                <a:latin typeface="微软雅黑" pitchFamily="34" charset="-122"/>
                <a:ea typeface="微软雅黑" pitchFamily="34" charset="-122"/>
              </a:rPr>
              <a:t>三、准静态过程的功与热量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2"/>
                                        </p:tgtEl>
                                        <p:attrNameLst>
                                          <p:attrName>style.visibility</p:attrName>
                                        </p:attrNameLst>
                                      </p:cBhvr>
                                      <p:to>
                                        <p:strVal val="visible"/>
                                      </p:to>
                                    </p:set>
                                    <p:animEffect transition="in" filter="wipe(left)">
                                      <p:cBhvr>
                                        <p:cTn id="7" dur="500"/>
                                        <p:tgtEl>
                                          <p:spTgt spid="5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5943"/>
                                        </p:tgtEl>
                                        <p:attrNameLst>
                                          <p:attrName>style.visibility</p:attrName>
                                        </p:attrNameLst>
                                      </p:cBhvr>
                                      <p:to>
                                        <p:strVal val="visible"/>
                                      </p:to>
                                    </p:set>
                                    <p:animEffect transition="in" filter="wipe(left)">
                                      <p:cBhvr>
                                        <p:cTn id="12" dur="500"/>
                                        <p:tgtEl>
                                          <p:spTgt spid="16594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65944"/>
                                        </p:tgtEl>
                                        <p:attrNameLst>
                                          <p:attrName>style.visibility</p:attrName>
                                        </p:attrNameLst>
                                      </p:cBhvr>
                                      <p:to>
                                        <p:strVal val="visible"/>
                                      </p:to>
                                    </p:set>
                                    <p:animEffect transition="in" filter="wipe(left)">
                                      <p:cBhvr>
                                        <p:cTn id="17" dur="500"/>
                                        <p:tgtEl>
                                          <p:spTgt spid="16594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wipe(left)">
                                      <p:cBhvr>
                                        <p:cTn id="22" dur="500"/>
                                        <p:tgtEl>
                                          <p:spTgt spid="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65961"/>
                                        </p:tgtEl>
                                        <p:attrNameLst>
                                          <p:attrName>style.visibility</p:attrName>
                                        </p:attrNameLst>
                                      </p:cBhvr>
                                      <p:to>
                                        <p:strVal val="visible"/>
                                      </p:to>
                                    </p:set>
                                    <p:animEffect transition="in" filter="wipe(left)">
                                      <p:cBhvr>
                                        <p:cTn id="27" dur="500"/>
                                        <p:tgtEl>
                                          <p:spTgt spid="16596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65962"/>
                                        </p:tgtEl>
                                        <p:attrNameLst>
                                          <p:attrName>style.visibility</p:attrName>
                                        </p:attrNameLst>
                                      </p:cBhvr>
                                      <p:to>
                                        <p:strVal val="visible"/>
                                      </p:to>
                                    </p:set>
                                    <p:animEffect transition="in" filter="wipe(left)">
                                      <p:cBhvr>
                                        <p:cTn id="32" dur="500"/>
                                        <p:tgtEl>
                                          <p:spTgt spid="165962"/>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65963"/>
                                        </p:tgtEl>
                                        <p:attrNameLst>
                                          <p:attrName>style.visibility</p:attrName>
                                        </p:attrNameLst>
                                      </p:cBhvr>
                                      <p:to>
                                        <p:strVal val="visible"/>
                                      </p:to>
                                    </p:set>
                                    <p:animEffect transition="in" filter="wipe(left)">
                                      <p:cBhvr>
                                        <p:cTn id="37" dur="500"/>
                                        <p:tgtEl>
                                          <p:spTgt spid="165963"/>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53" presetClass="entr" presetSubtype="16" fill="hold" nodeType="clickEffect">
                                  <p:stCondLst>
                                    <p:cond delay="0"/>
                                  </p:stCondLst>
                                  <p:childTnLst>
                                    <p:set>
                                      <p:cBhvr>
                                        <p:cTn id="41" dur="1" fill="hold">
                                          <p:stCondLst>
                                            <p:cond delay="0"/>
                                          </p:stCondLst>
                                        </p:cTn>
                                        <p:tgtEl>
                                          <p:spTgt spid="2"/>
                                        </p:tgtEl>
                                        <p:attrNameLst>
                                          <p:attrName>style.visibility</p:attrName>
                                        </p:attrNameLst>
                                      </p:cBhvr>
                                      <p:to>
                                        <p:strVal val="visible"/>
                                      </p:to>
                                    </p:set>
                                    <p:anim calcmode="lin" valueType="num">
                                      <p:cBhvr>
                                        <p:cTn id="42" dur="500" fill="hold"/>
                                        <p:tgtEl>
                                          <p:spTgt spid="2"/>
                                        </p:tgtEl>
                                        <p:attrNameLst>
                                          <p:attrName>ppt_w</p:attrName>
                                        </p:attrNameLst>
                                      </p:cBhvr>
                                      <p:tavLst>
                                        <p:tav tm="0">
                                          <p:val>
                                            <p:fltVal val="0"/>
                                          </p:val>
                                        </p:tav>
                                        <p:tav tm="100000">
                                          <p:val>
                                            <p:strVal val="#ppt_w"/>
                                          </p:val>
                                        </p:tav>
                                      </p:tavLst>
                                    </p:anim>
                                    <p:anim calcmode="lin" valueType="num">
                                      <p:cBhvr>
                                        <p:cTn id="43" dur="500" fill="hold"/>
                                        <p:tgtEl>
                                          <p:spTgt spid="2"/>
                                        </p:tgtEl>
                                        <p:attrNameLst>
                                          <p:attrName>ppt_h</p:attrName>
                                        </p:attrNameLst>
                                      </p:cBhvr>
                                      <p:tavLst>
                                        <p:tav tm="0">
                                          <p:val>
                                            <p:fltVal val="0"/>
                                          </p:val>
                                        </p:tav>
                                        <p:tav tm="100000">
                                          <p:val>
                                            <p:strVal val="#ppt_h"/>
                                          </p:val>
                                        </p:tav>
                                      </p:tavLst>
                                    </p:anim>
                                    <p:animEffect transition="in" filter="fade">
                                      <p:cBhvr>
                                        <p:cTn id="44" dur="500"/>
                                        <p:tgtEl>
                                          <p:spTgt spid="2"/>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1" fill="hold" nodeType="clickEffect">
                                  <p:stCondLst>
                                    <p:cond delay="0"/>
                                  </p:stCondLst>
                                  <p:childTnLst>
                                    <p:set>
                                      <p:cBhvr>
                                        <p:cTn id="48" dur="1" fill="hold">
                                          <p:stCondLst>
                                            <p:cond delay="0"/>
                                          </p:stCondLst>
                                        </p:cTn>
                                        <p:tgtEl>
                                          <p:spTgt spid="3"/>
                                        </p:tgtEl>
                                        <p:attrNameLst>
                                          <p:attrName>style.visibility</p:attrName>
                                        </p:attrNameLst>
                                      </p:cBhvr>
                                      <p:to>
                                        <p:strVal val="visible"/>
                                      </p:to>
                                    </p:set>
                                    <p:animEffect transition="in" filter="wipe(up)">
                                      <p:cBhvr>
                                        <p:cTn id="49" dur="500"/>
                                        <p:tgtEl>
                                          <p:spTgt spid="3"/>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1" fill="hold" grpId="0" nodeType="clickEffect">
                                  <p:stCondLst>
                                    <p:cond delay="0"/>
                                  </p:stCondLst>
                                  <p:childTnLst>
                                    <p:set>
                                      <p:cBhvr>
                                        <p:cTn id="53" dur="1" fill="hold">
                                          <p:stCondLst>
                                            <p:cond delay="0"/>
                                          </p:stCondLst>
                                        </p:cTn>
                                        <p:tgtEl>
                                          <p:spTgt spid="53"/>
                                        </p:tgtEl>
                                        <p:attrNameLst>
                                          <p:attrName>style.visibility</p:attrName>
                                        </p:attrNameLst>
                                      </p:cBhvr>
                                      <p:to>
                                        <p:strVal val="visible"/>
                                      </p:to>
                                    </p:set>
                                    <p:animEffect transition="in" filter="wipe(up)">
                                      <p:cBhvr>
                                        <p:cTn id="54" dur="500"/>
                                        <p:tgtEl>
                                          <p:spTgt spid="53"/>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165965">
                                            <p:txEl>
                                              <p:pRg st="0" end="0"/>
                                            </p:txEl>
                                          </p:spTgt>
                                        </p:tgtEl>
                                        <p:attrNameLst>
                                          <p:attrName>style.visibility</p:attrName>
                                        </p:attrNameLst>
                                      </p:cBhvr>
                                      <p:to>
                                        <p:strVal val="visible"/>
                                      </p:to>
                                    </p:set>
                                    <p:animEffect transition="in" filter="wipe(left)">
                                      <p:cBhvr>
                                        <p:cTn id="59" dur="500"/>
                                        <p:tgtEl>
                                          <p:spTgt spid="165965">
                                            <p:txEl>
                                              <p:pRg st="0" end="0"/>
                                            </p:txEl>
                                          </p:spTgt>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22" presetClass="entr" presetSubtype="8" fill="hold" grpId="0" nodeType="clickEffect">
                                  <p:stCondLst>
                                    <p:cond delay="0"/>
                                  </p:stCondLst>
                                  <p:childTnLst>
                                    <p:set>
                                      <p:cBhvr>
                                        <p:cTn id="63" dur="1" fill="hold">
                                          <p:stCondLst>
                                            <p:cond delay="0"/>
                                          </p:stCondLst>
                                        </p:cTn>
                                        <p:tgtEl>
                                          <p:spTgt spid="165965">
                                            <p:txEl>
                                              <p:pRg st="1" end="1"/>
                                            </p:txEl>
                                          </p:spTgt>
                                        </p:tgtEl>
                                        <p:attrNameLst>
                                          <p:attrName>style.visibility</p:attrName>
                                        </p:attrNameLst>
                                      </p:cBhvr>
                                      <p:to>
                                        <p:strVal val="visible"/>
                                      </p:to>
                                    </p:set>
                                    <p:animEffect transition="in" filter="wipe(left)">
                                      <p:cBhvr>
                                        <p:cTn id="64" dur="500"/>
                                        <p:tgtEl>
                                          <p:spTgt spid="165965">
                                            <p:txEl>
                                              <p:pRg st="1" end="1"/>
                                            </p:txEl>
                                          </p:spTgt>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22" presetClass="entr" presetSubtype="8" fill="hold" grpId="0" nodeType="clickEffect">
                                  <p:stCondLst>
                                    <p:cond delay="0"/>
                                  </p:stCondLst>
                                  <p:childTnLst>
                                    <p:set>
                                      <p:cBhvr>
                                        <p:cTn id="68" dur="1" fill="hold">
                                          <p:stCondLst>
                                            <p:cond delay="0"/>
                                          </p:stCondLst>
                                        </p:cTn>
                                        <p:tgtEl>
                                          <p:spTgt spid="165966"/>
                                        </p:tgtEl>
                                        <p:attrNameLst>
                                          <p:attrName>style.visibility</p:attrName>
                                        </p:attrNameLst>
                                      </p:cBhvr>
                                      <p:to>
                                        <p:strVal val="visible"/>
                                      </p:to>
                                    </p:set>
                                    <p:animEffect transition="in" filter="wipe(left)">
                                      <p:cBhvr>
                                        <p:cTn id="69" dur="500"/>
                                        <p:tgtEl>
                                          <p:spTgt spid="165966"/>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22" presetClass="entr" presetSubtype="8" fill="hold" nodeType="clickEffect">
                                  <p:stCondLst>
                                    <p:cond delay="0"/>
                                  </p:stCondLst>
                                  <p:childTnLst>
                                    <p:set>
                                      <p:cBhvr>
                                        <p:cTn id="73" dur="1" fill="hold">
                                          <p:stCondLst>
                                            <p:cond delay="0"/>
                                          </p:stCondLst>
                                        </p:cTn>
                                        <p:tgtEl>
                                          <p:spTgt spid="15"/>
                                        </p:tgtEl>
                                        <p:attrNameLst>
                                          <p:attrName>style.visibility</p:attrName>
                                        </p:attrNameLst>
                                      </p:cBhvr>
                                      <p:to>
                                        <p:strVal val="visible"/>
                                      </p:to>
                                    </p:set>
                                    <p:animEffect transition="in" filter="wipe(left)">
                                      <p:cBhvr>
                                        <p:cTn id="74"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5943" grpId="0"/>
      <p:bldP spid="53" grpId="0" animBg="1"/>
      <p:bldP spid="165944" grpId="0"/>
      <p:bldP spid="165961" grpId="0"/>
      <p:bldP spid="165962" grpId="0"/>
      <p:bldP spid="165963" grpId="0"/>
      <p:bldP spid="165965" grpId="0" build="p"/>
      <p:bldP spid="165966" grpId="0" autoUpdateAnimBg="0"/>
      <p:bldP spid="5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4" name="Text Box 1058"/>
          <p:cNvSpPr txBox="1">
            <a:spLocks noChangeArrowheads="1"/>
          </p:cNvSpPr>
          <p:nvPr/>
        </p:nvSpPr>
        <p:spPr bwMode="auto">
          <a:xfrm>
            <a:off x="395288" y="835025"/>
            <a:ext cx="4127500" cy="368300"/>
          </a:xfrm>
          <a:prstGeom prst="rect">
            <a:avLst/>
          </a:prstGeom>
          <a:noFill/>
          <a:ln w="9525">
            <a:noFill/>
            <a:miter lim="800000"/>
            <a:headEnd/>
            <a:tailEnd/>
          </a:ln>
        </p:spPr>
        <p:txBody>
          <a:bodyPr>
            <a:spAutoFit/>
          </a:bodyPr>
          <a:lstStyle/>
          <a:p>
            <a:pPr eaLnBrk="0" hangingPunct="0"/>
            <a:r>
              <a:rPr lang="en-US" altLang="zh-CN" b="1">
                <a:solidFill>
                  <a:srgbClr val="C0504D"/>
                </a:solidFill>
                <a:latin typeface="Times New Roman" pitchFamily="18" charset="0"/>
                <a:ea typeface="华文中宋"/>
                <a:cs typeface="华文中宋"/>
              </a:rPr>
              <a:t>2</a:t>
            </a:r>
            <a:r>
              <a:rPr lang="zh-CN" altLang="en-US" b="1">
                <a:solidFill>
                  <a:srgbClr val="C0504D"/>
                </a:solidFill>
                <a:latin typeface="Times New Roman" pitchFamily="18" charset="0"/>
                <a:ea typeface="华文中宋"/>
                <a:cs typeface="华文中宋"/>
              </a:rPr>
              <a:t>、准静态过程的热量</a:t>
            </a:r>
          </a:p>
        </p:txBody>
      </p:sp>
      <p:sp>
        <p:nvSpPr>
          <p:cNvPr id="20515" name="Text Box 1059"/>
          <p:cNvSpPr txBox="1">
            <a:spLocks noChangeArrowheads="1"/>
          </p:cNvSpPr>
          <p:nvPr/>
        </p:nvSpPr>
        <p:spPr bwMode="auto">
          <a:xfrm>
            <a:off x="533400" y="1409700"/>
            <a:ext cx="2814638" cy="369888"/>
          </a:xfrm>
          <a:prstGeom prst="rect">
            <a:avLst/>
          </a:prstGeom>
          <a:noFill/>
          <a:ln w="9525">
            <a:noFill/>
            <a:miter lim="800000"/>
            <a:headEnd/>
            <a:tailEnd/>
          </a:ln>
        </p:spPr>
        <p:txBody>
          <a:bodyPr>
            <a:spAutoFit/>
          </a:bodyPr>
          <a:lstStyle/>
          <a:p>
            <a:pPr eaLnBrk="0" hangingPunct="0"/>
            <a:r>
              <a:rPr lang="zh-CN" altLang="en-US" b="1">
                <a:solidFill>
                  <a:srgbClr val="FF0000"/>
                </a:solidFill>
                <a:latin typeface="Times New Roman" pitchFamily="18" charset="0"/>
                <a:ea typeface="华文中宋"/>
                <a:cs typeface="华文中宋"/>
              </a:rPr>
              <a:t>（１）热容量法</a:t>
            </a:r>
            <a:endParaRPr lang="zh-CN" altLang="en-US" b="1">
              <a:solidFill>
                <a:srgbClr val="000000"/>
              </a:solidFill>
              <a:latin typeface="Times New Roman" pitchFamily="18" charset="0"/>
              <a:ea typeface="华文中宋"/>
              <a:cs typeface="华文中宋"/>
            </a:endParaRPr>
          </a:p>
        </p:txBody>
      </p:sp>
      <p:sp>
        <p:nvSpPr>
          <p:cNvPr id="20517" name="Text Box 1061"/>
          <p:cNvSpPr txBox="1">
            <a:spLocks noChangeArrowheads="1"/>
          </p:cNvSpPr>
          <p:nvPr/>
        </p:nvSpPr>
        <p:spPr bwMode="auto">
          <a:xfrm>
            <a:off x="457200" y="1709738"/>
            <a:ext cx="8458200" cy="646112"/>
          </a:xfrm>
          <a:prstGeom prst="rect">
            <a:avLst/>
          </a:prstGeom>
          <a:noFill/>
          <a:ln w="9525">
            <a:noFill/>
            <a:miter lim="800000"/>
            <a:headEnd/>
            <a:tailEnd/>
          </a:ln>
        </p:spPr>
        <p:txBody>
          <a:bodyPr>
            <a:spAutoFit/>
          </a:bodyPr>
          <a:lstStyle/>
          <a:p>
            <a:pPr eaLnBrk="0" hangingPunct="0"/>
            <a:r>
              <a:rPr lang="en-US" altLang="zh-CN" b="1">
                <a:solidFill>
                  <a:srgbClr val="000000"/>
                </a:solidFill>
                <a:latin typeface="Times New Roman" pitchFamily="18" charset="0"/>
                <a:ea typeface="华文中宋"/>
                <a:cs typeface="华文中宋"/>
              </a:rPr>
              <a:t>        </a:t>
            </a:r>
            <a:r>
              <a:rPr lang="zh-CN" altLang="en-US" b="1">
                <a:solidFill>
                  <a:srgbClr val="000000"/>
                </a:solidFill>
                <a:latin typeface="Times New Roman" pitchFamily="18" charset="0"/>
                <a:ea typeface="华文中宋"/>
                <a:cs typeface="华文中宋"/>
              </a:rPr>
              <a:t>系统在某一无限小过程中吸收的热量与温度变化的比值称为该系统在这一过程中的热容：</a:t>
            </a:r>
          </a:p>
        </p:txBody>
      </p:sp>
      <p:sp>
        <p:nvSpPr>
          <p:cNvPr id="20519" name="Text Box 1063"/>
          <p:cNvSpPr txBox="1">
            <a:spLocks noChangeArrowheads="1"/>
          </p:cNvSpPr>
          <p:nvPr/>
        </p:nvSpPr>
        <p:spPr bwMode="auto">
          <a:xfrm>
            <a:off x="468313" y="4227513"/>
            <a:ext cx="4451350" cy="369887"/>
          </a:xfrm>
          <a:prstGeom prst="rect">
            <a:avLst/>
          </a:prstGeom>
          <a:noFill/>
          <a:ln w="9525">
            <a:noFill/>
            <a:miter lim="800000"/>
            <a:headEnd/>
            <a:tailEnd/>
          </a:ln>
        </p:spPr>
        <p:txBody>
          <a:bodyPr>
            <a:spAutoFit/>
          </a:bodyPr>
          <a:lstStyle/>
          <a:p>
            <a:pPr eaLnBrk="0" hangingPunct="0"/>
            <a:r>
              <a:rPr lang="zh-CN" altLang="en-US" b="1">
                <a:solidFill>
                  <a:srgbClr val="FF0000"/>
                </a:solidFill>
                <a:latin typeface="Times New Roman" pitchFamily="18" charset="0"/>
                <a:ea typeface="华文中宋"/>
                <a:cs typeface="华文中宋"/>
              </a:rPr>
              <a:t>（２）热力学第一定律计算</a:t>
            </a:r>
            <a:endParaRPr lang="zh-CN" altLang="en-US">
              <a:solidFill>
                <a:srgbClr val="000000"/>
              </a:solidFill>
              <a:latin typeface="Times New Roman" pitchFamily="18" charset="0"/>
              <a:ea typeface="华文中宋"/>
              <a:cs typeface="华文中宋"/>
            </a:endParaRPr>
          </a:p>
        </p:txBody>
      </p:sp>
      <p:sp>
        <p:nvSpPr>
          <p:cNvPr id="20520" name="Rectangle 1064"/>
          <p:cNvSpPr>
            <a:spLocks noChangeArrowheads="1"/>
          </p:cNvSpPr>
          <p:nvPr/>
        </p:nvSpPr>
        <p:spPr bwMode="auto">
          <a:xfrm>
            <a:off x="827088" y="3867150"/>
            <a:ext cx="5930900" cy="369888"/>
          </a:xfrm>
          <a:prstGeom prst="rect">
            <a:avLst/>
          </a:prstGeom>
          <a:noFill/>
          <a:ln w="9525">
            <a:noFill/>
            <a:miter lim="800000"/>
            <a:headEnd/>
            <a:tailEnd/>
          </a:ln>
        </p:spPr>
        <p:txBody>
          <a:bodyPr>
            <a:spAutoFit/>
          </a:bodyPr>
          <a:lstStyle/>
          <a:p>
            <a:pPr eaLnBrk="0" hangingPunct="0"/>
            <a:r>
              <a:rPr lang="zh-CN" altLang="en-US" b="1">
                <a:solidFill>
                  <a:srgbClr val="FF0000"/>
                </a:solidFill>
                <a:latin typeface="Times New Roman" pitchFamily="18" charset="0"/>
                <a:ea typeface="华文中宋"/>
                <a:cs typeface="华文中宋"/>
              </a:rPr>
              <a:t>注意：</a:t>
            </a:r>
            <a:r>
              <a:rPr lang="zh-CN" altLang="en-US" b="1">
                <a:solidFill>
                  <a:srgbClr val="000000"/>
                </a:solidFill>
                <a:latin typeface="Times New Roman" pitchFamily="18" charset="0"/>
                <a:ea typeface="华文中宋"/>
                <a:cs typeface="华文中宋"/>
              </a:rPr>
              <a:t>过程不同，</a:t>
            </a:r>
            <a:r>
              <a:rPr lang="en-US" altLang="zh-CN" b="1" i="1">
                <a:solidFill>
                  <a:srgbClr val="000000"/>
                </a:solidFill>
                <a:latin typeface="Times New Roman" pitchFamily="18" charset="0"/>
                <a:ea typeface="华文中宋"/>
                <a:cs typeface="华文中宋"/>
              </a:rPr>
              <a:t>C</a:t>
            </a:r>
            <a:r>
              <a:rPr lang="zh-CN" altLang="en-US" b="1">
                <a:solidFill>
                  <a:srgbClr val="000000"/>
                </a:solidFill>
                <a:latin typeface="Times New Roman" pitchFamily="18" charset="0"/>
                <a:ea typeface="华文中宋"/>
                <a:cs typeface="华文中宋"/>
              </a:rPr>
              <a:t>和</a:t>
            </a:r>
            <a:r>
              <a:rPr lang="en-US" altLang="zh-CN" b="1" i="1">
                <a:solidFill>
                  <a:srgbClr val="000000"/>
                </a:solidFill>
                <a:latin typeface="Times New Roman" pitchFamily="18" charset="0"/>
                <a:ea typeface="华文中宋"/>
                <a:cs typeface="华文中宋"/>
              </a:rPr>
              <a:t>C</a:t>
            </a:r>
            <a:r>
              <a:rPr lang="en-US" altLang="zh-CN" b="1" i="1" baseline="-25000">
                <a:solidFill>
                  <a:srgbClr val="000000"/>
                </a:solidFill>
                <a:latin typeface="Times New Roman" pitchFamily="18" charset="0"/>
                <a:ea typeface="华文中宋"/>
                <a:cs typeface="华文中宋"/>
              </a:rPr>
              <a:t>m</a:t>
            </a:r>
            <a:r>
              <a:rPr lang="zh-CN" altLang="en-US" b="1">
                <a:solidFill>
                  <a:srgbClr val="000000"/>
                </a:solidFill>
                <a:latin typeface="Times New Roman" pitchFamily="18" charset="0"/>
                <a:ea typeface="华文中宋"/>
                <a:cs typeface="华文中宋"/>
              </a:rPr>
              <a:t>不同，是过程量。</a:t>
            </a:r>
          </a:p>
        </p:txBody>
      </p:sp>
      <p:sp>
        <p:nvSpPr>
          <p:cNvPr id="20523" name="Text Box 1067"/>
          <p:cNvSpPr txBox="1">
            <a:spLocks noChangeArrowheads="1"/>
          </p:cNvSpPr>
          <p:nvPr/>
        </p:nvSpPr>
        <p:spPr bwMode="auto">
          <a:xfrm>
            <a:off x="684213" y="3363913"/>
            <a:ext cx="3976687" cy="369887"/>
          </a:xfrm>
          <a:prstGeom prst="rect">
            <a:avLst/>
          </a:prstGeom>
          <a:noFill/>
          <a:ln w="9525">
            <a:noFill/>
            <a:miter lim="800000"/>
            <a:headEnd/>
            <a:tailEnd/>
          </a:ln>
        </p:spPr>
        <p:txBody>
          <a:bodyPr>
            <a:spAutoFit/>
          </a:bodyPr>
          <a:lstStyle/>
          <a:p>
            <a:pPr eaLnBrk="0" hangingPunct="0"/>
            <a:r>
              <a:rPr lang="zh-CN" altLang="en-US" b="1">
                <a:solidFill>
                  <a:srgbClr val="000000"/>
                </a:solidFill>
                <a:latin typeface="Times New Roman" pitchFamily="18" charset="0"/>
                <a:ea typeface="华文中宋"/>
                <a:cs typeface="华文中宋"/>
              </a:rPr>
              <a:t>所以系统在某一过程中吸收的热量：</a:t>
            </a:r>
          </a:p>
        </p:txBody>
      </p:sp>
      <p:graphicFrame>
        <p:nvGraphicFramePr>
          <p:cNvPr id="20537" name="Object 35"/>
          <p:cNvGraphicFramePr>
            <a:graphicFrameLocks noChangeAspect="1"/>
          </p:cNvGraphicFramePr>
          <p:nvPr/>
        </p:nvGraphicFramePr>
        <p:xfrm>
          <a:off x="4859338" y="2073275"/>
          <a:ext cx="1031875" cy="588963"/>
        </p:xfrm>
        <a:graphic>
          <a:graphicData uri="http://schemas.openxmlformats.org/presentationml/2006/ole">
            <p:oleObj spid="_x0000_s3107" name="Equation" r:id="rId3" imgW="533169" imgH="406224" progId="Equation.DSMT4">
              <p:embed/>
            </p:oleObj>
          </a:graphicData>
        </a:graphic>
      </p:graphicFrame>
      <p:sp>
        <p:nvSpPr>
          <p:cNvPr id="20538" name="Text Box 1082"/>
          <p:cNvSpPr txBox="1">
            <a:spLocks noChangeArrowheads="1"/>
          </p:cNvSpPr>
          <p:nvPr/>
        </p:nvSpPr>
        <p:spPr bwMode="auto">
          <a:xfrm>
            <a:off x="600075" y="2736850"/>
            <a:ext cx="3827463" cy="369888"/>
          </a:xfrm>
          <a:prstGeom prst="rect">
            <a:avLst/>
          </a:prstGeom>
          <a:noFill/>
          <a:ln w="9525">
            <a:noFill/>
            <a:miter lim="800000"/>
            <a:headEnd/>
            <a:tailEnd/>
          </a:ln>
        </p:spPr>
        <p:txBody>
          <a:bodyPr>
            <a:spAutoFit/>
          </a:bodyPr>
          <a:lstStyle/>
          <a:p>
            <a:pPr eaLnBrk="0" hangingPunct="0"/>
            <a:r>
              <a:rPr lang="en-US" altLang="zh-CN" b="1">
                <a:solidFill>
                  <a:srgbClr val="000000"/>
                </a:solidFill>
                <a:latin typeface="Times New Roman" pitchFamily="18" charset="0"/>
                <a:ea typeface="华文中宋"/>
                <a:cs typeface="华文中宋"/>
              </a:rPr>
              <a:t>  1mol</a:t>
            </a:r>
            <a:r>
              <a:rPr lang="zh-CN" altLang="en-US" b="1">
                <a:solidFill>
                  <a:srgbClr val="000000"/>
                </a:solidFill>
                <a:latin typeface="Times New Roman" pitchFamily="18" charset="0"/>
                <a:ea typeface="华文中宋"/>
                <a:cs typeface="华文中宋"/>
              </a:rPr>
              <a:t>物质的热容即为摩尔热容量：</a:t>
            </a:r>
          </a:p>
        </p:txBody>
      </p:sp>
      <p:graphicFrame>
        <p:nvGraphicFramePr>
          <p:cNvPr id="20539" name="Object 36"/>
          <p:cNvGraphicFramePr>
            <a:graphicFrameLocks noChangeAspect="1"/>
          </p:cNvGraphicFramePr>
          <p:nvPr/>
        </p:nvGraphicFramePr>
        <p:xfrm>
          <a:off x="4919663" y="2701925"/>
          <a:ext cx="1506537" cy="590550"/>
        </p:xfrm>
        <a:graphic>
          <a:graphicData uri="http://schemas.openxmlformats.org/presentationml/2006/ole">
            <p:oleObj spid="_x0000_s3108" name="Equation" r:id="rId4" imgW="850531" imgH="444307" progId="Equation.DSMT4">
              <p:embed/>
            </p:oleObj>
          </a:graphicData>
        </a:graphic>
      </p:graphicFrame>
      <p:graphicFrame>
        <p:nvGraphicFramePr>
          <p:cNvPr id="20542" name="Object 37"/>
          <p:cNvGraphicFramePr>
            <a:graphicFrameLocks noChangeAspect="1"/>
          </p:cNvGraphicFramePr>
          <p:nvPr/>
        </p:nvGraphicFramePr>
        <p:xfrm>
          <a:off x="4919663" y="3292475"/>
          <a:ext cx="3990975" cy="609600"/>
        </p:xfrm>
        <a:graphic>
          <a:graphicData uri="http://schemas.openxmlformats.org/presentationml/2006/ole">
            <p:oleObj spid="_x0000_s3109" name="Equation" r:id="rId5" imgW="2400300" imgH="444500" progId="Equation.DSMT4">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0514"/>
                                        </p:tgtEl>
                                        <p:attrNameLst>
                                          <p:attrName>style.visibility</p:attrName>
                                        </p:attrNameLst>
                                      </p:cBhvr>
                                      <p:to>
                                        <p:strVal val="visible"/>
                                      </p:to>
                                    </p:set>
                                    <p:animEffect transition="in" filter="box(in)">
                                      <p:cBhvr>
                                        <p:cTn id="7" dur="500"/>
                                        <p:tgtEl>
                                          <p:spTgt spid="2051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20515"/>
                                        </p:tgtEl>
                                        <p:attrNameLst>
                                          <p:attrName>style.visibility</p:attrName>
                                        </p:attrNameLst>
                                      </p:cBhvr>
                                      <p:to>
                                        <p:strVal val="visible"/>
                                      </p:to>
                                    </p:set>
                                    <p:animEffect transition="in" filter="box(in)">
                                      <p:cBhvr>
                                        <p:cTn id="12" dur="500"/>
                                        <p:tgtEl>
                                          <p:spTgt spid="2051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20517"/>
                                        </p:tgtEl>
                                        <p:attrNameLst>
                                          <p:attrName>style.visibility</p:attrName>
                                        </p:attrNameLst>
                                      </p:cBhvr>
                                      <p:to>
                                        <p:strVal val="visible"/>
                                      </p:to>
                                    </p:set>
                                    <p:animEffect transition="in" filter="box(in)">
                                      <p:cBhvr>
                                        <p:cTn id="17" dur="500"/>
                                        <p:tgtEl>
                                          <p:spTgt spid="2051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20537"/>
                                        </p:tgtEl>
                                        <p:attrNameLst>
                                          <p:attrName>style.visibility</p:attrName>
                                        </p:attrNameLst>
                                      </p:cBhvr>
                                      <p:to>
                                        <p:strVal val="visible"/>
                                      </p:to>
                                    </p:set>
                                    <p:animEffect transition="in" filter="blinds(horizontal)">
                                      <p:cBhvr>
                                        <p:cTn id="22" dur="500"/>
                                        <p:tgtEl>
                                          <p:spTgt spid="2053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20538"/>
                                        </p:tgtEl>
                                        <p:attrNameLst>
                                          <p:attrName>style.visibility</p:attrName>
                                        </p:attrNameLst>
                                      </p:cBhvr>
                                      <p:to>
                                        <p:strVal val="visible"/>
                                      </p:to>
                                    </p:set>
                                    <p:animEffect transition="in" filter="box(in)">
                                      <p:cBhvr>
                                        <p:cTn id="27" dur="500"/>
                                        <p:tgtEl>
                                          <p:spTgt spid="2053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20539"/>
                                        </p:tgtEl>
                                        <p:attrNameLst>
                                          <p:attrName>style.visibility</p:attrName>
                                        </p:attrNameLst>
                                      </p:cBhvr>
                                      <p:to>
                                        <p:strVal val="visible"/>
                                      </p:to>
                                    </p:set>
                                    <p:animEffect transition="in" filter="blinds(horizontal)">
                                      <p:cBhvr>
                                        <p:cTn id="32" dur="500"/>
                                        <p:tgtEl>
                                          <p:spTgt spid="20539"/>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16" fill="hold" grpId="0" nodeType="clickEffect">
                                  <p:stCondLst>
                                    <p:cond delay="0"/>
                                  </p:stCondLst>
                                  <p:childTnLst>
                                    <p:set>
                                      <p:cBhvr>
                                        <p:cTn id="36" dur="1" fill="hold">
                                          <p:stCondLst>
                                            <p:cond delay="0"/>
                                          </p:stCondLst>
                                        </p:cTn>
                                        <p:tgtEl>
                                          <p:spTgt spid="20523"/>
                                        </p:tgtEl>
                                        <p:attrNameLst>
                                          <p:attrName>style.visibility</p:attrName>
                                        </p:attrNameLst>
                                      </p:cBhvr>
                                      <p:to>
                                        <p:strVal val="visible"/>
                                      </p:to>
                                    </p:set>
                                    <p:animEffect transition="in" filter="box(in)">
                                      <p:cBhvr>
                                        <p:cTn id="37" dur="500"/>
                                        <p:tgtEl>
                                          <p:spTgt spid="20523"/>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20542"/>
                                        </p:tgtEl>
                                        <p:attrNameLst>
                                          <p:attrName>style.visibility</p:attrName>
                                        </p:attrNameLst>
                                      </p:cBhvr>
                                      <p:to>
                                        <p:strVal val="visible"/>
                                      </p:to>
                                    </p:set>
                                    <p:animEffect transition="in" filter="blinds(horizontal)">
                                      <p:cBhvr>
                                        <p:cTn id="42" dur="500"/>
                                        <p:tgtEl>
                                          <p:spTgt spid="20542"/>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4" presetClass="entr" presetSubtype="16" fill="hold" grpId="0" nodeType="clickEffect">
                                  <p:stCondLst>
                                    <p:cond delay="0"/>
                                  </p:stCondLst>
                                  <p:childTnLst>
                                    <p:set>
                                      <p:cBhvr>
                                        <p:cTn id="46" dur="1" fill="hold">
                                          <p:stCondLst>
                                            <p:cond delay="0"/>
                                          </p:stCondLst>
                                        </p:cTn>
                                        <p:tgtEl>
                                          <p:spTgt spid="20520"/>
                                        </p:tgtEl>
                                        <p:attrNameLst>
                                          <p:attrName>style.visibility</p:attrName>
                                        </p:attrNameLst>
                                      </p:cBhvr>
                                      <p:to>
                                        <p:strVal val="visible"/>
                                      </p:to>
                                    </p:set>
                                    <p:animEffect transition="in" filter="box(in)">
                                      <p:cBhvr>
                                        <p:cTn id="47" dur="500"/>
                                        <p:tgtEl>
                                          <p:spTgt spid="20520"/>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4" presetClass="entr" presetSubtype="16" fill="hold" grpId="0" nodeType="clickEffect">
                                  <p:stCondLst>
                                    <p:cond delay="0"/>
                                  </p:stCondLst>
                                  <p:childTnLst>
                                    <p:set>
                                      <p:cBhvr>
                                        <p:cTn id="51" dur="1" fill="hold">
                                          <p:stCondLst>
                                            <p:cond delay="0"/>
                                          </p:stCondLst>
                                        </p:cTn>
                                        <p:tgtEl>
                                          <p:spTgt spid="20519"/>
                                        </p:tgtEl>
                                        <p:attrNameLst>
                                          <p:attrName>style.visibility</p:attrName>
                                        </p:attrNameLst>
                                      </p:cBhvr>
                                      <p:to>
                                        <p:strVal val="visible"/>
                                      </p:to>
                                    </p:set>
                                    <p:animEffect transition="in" filter="box(in)">
                                      <p:cBhvr>
                                        <p:cTn id="52" dur="500"/>
                                        <p:tgtEl>
                                          <p:spTgt spid="205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14" grpId="0" autoUpdateAnimBg="0"/>
      <p:bldP spid="20515" grpId="0" autoUpdateAnimBg="0"/>
      <p:bldP spid="20517" grpId="0" autoUpdateAnimBg="0"/>
      <p:bldP spid="20519" grpId="0" autoUpdateAnimBg="0"/>
      <p:bldP spid="20520" grpId="0" autoUpdateAnimBg="0"/>
      <p:bldP spid="20523" grpId="0" autoUpdateAnimBg="0"/>
      <p:bldP spid="20538" grpId="0"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06" name="Text Box 2"/>
          <p:cNvSpPr txBox="1">
            <a:spLocks noChangeArrowheads="1"/>
          </p:cNvSpPr>
          <p:nvPr/>
        </p:nvSpPr>
        <p:spPr bwMode="auto">
          <a:xfrm>
            <a:off x="250825" y="844550"/>
            <a:ext cx="8321675" cy="647700"/>
          </a:xfrm>
          <a:prstGeom prst="rect">
            <a:avLst/>
          </a:prstGeom>
          <a:noFill/>
          <a:ln w="9525">
            <a:noFill/>
            <a:miter lim="800000"/>
            <a:headEnd/>
            <a:tailEnd/>
          </a:ln>
        </p:spPr>
        <p:txBody>
          <a:bodyPr>
            <a:spAutoFit/>
          </a:bodyPr>
          <a:lstStyle/>
          <a:p>
            <a:r>
              <a:rPr lang="zh-CN" altLang="en-US" b="1">
                <a:solidFill>
                  <a:srgbClr val="0000FF"/>
                </a:solidFill>
                <a:latin typeface="Times New Roman" pitchFamily="18" charset="0"/>
                <a:ea typeface="华文中宋"/>
                <a:cs typeface="华文中宋"/>
              </a:rPr>
              <a:t>例  有</a:t>
            </a:r>
            <a:r>
              <a:rPr lang="en-US" altLang="zh-CN" b="1" i="1">
                <a:solidFill>
                  <a:srgbClr val="0000FF"/>
                </a:solidFill>
                <a:latin typeface="Times New Roman" pitchFamily="18" charset="0"/>
                <a:ea typeface="华文中宋"/>
                <a:cs typeface="华文中宋"/>
              </a:rPr>
              <a:t>v </a:t>
            </a:r>
            <a:r>
              <a:rPr lang="en-US" altLang="zh-CN" b="1">
                <a:solidFill>
                  <a:srgbClr val="0000FF"/>
                </a:solidFill>
                <a:latin typeface="Times New Roman" pitchFamily="18" charset="0"/>
                <a:ea typeface="华文中宋"/>
                <a:cs typeface="华文中宋"/>
              </a:rPr>
              <a:t>mol</a:t>
            </a:r>
            <a:r>
              <a:rPr lang="zh-CN" altLang="en-US" b="1">
                <a:solidFill>
                  <a:srgbClr val="0000FF"/>
                </a:solidFill>
                <a:latin typeface="Times New Roman" pitchFamily="18" charset="0"/>
                <a:ea typeface="华文中宋"/>
                <a:cs typeface="华文中宋"/>
              </a:rPr>
              <a:t>的理想气体，经历如图所示的准静态过程</a:t>
            </a:r>
            <a:r>
              <a:rPr lang="en-US" altLang="zh-CN" b="1">
                <a:solidFill>
                  <a:srgbClr val="0000FF"/>
                </a:solidFill>
                <a:latin typeface="Times New Roman" pitchFamily="18" charset="0"/>
                <a:ea typeface="华文中宋"/>
                <a:cs typeface="华文中宋"/>
              </a:rPr>
              <a:t>. </a:t>
            </a:r>
            <a:r>
              <a:rPr lang="zh-CN" altLang="en-US" b="1">
                <a:solidFill>
                  <a:srgbClr val="0000FF"/>
                </a:solidFill>
                <a:latin typeface="Times New Roman" pitchFamily="18" charset="0"/>
                <a:ea typeface="华文中宋"/>
                <a:cs typeface="华文中宋"/>
              </a:rPr>
              <a:t>图中</a:t>
            </a:r>
            <a:r>
              <a:rPr lang="en-US" altLang="zh-CN" b="1" i="1">
                <a:solidFill>
                  <a:srgbClr val="0000FF"/>
                </a:solidFill>
                <a:latin typeface="Times New Roman" pitchFamily="18" charset="0"/>
                <a:ea typeface="华文中宋"/>
                <a:cs typeface="华文中宋"/>
              </a:rPr>
              <a:t>p</a:t>
            </a:r>
            <a:r>
              <a:rPr lang="en-US" altLang="zh-CN" b="1" baseline="-25000">
                <a:solidFill>
                  <a:srgbClr val="0000FF"/>
                </a:solidFill>
                <a:latin typeface="Times New Roman" pitchFamily="18" charset="0"/>
                <a:ea typeface="华文中宋"/>
                <a:cs typeface="华文中宋"/>
              </a:rPr>
              <a:t>0</a:t>
            </a:r>
            <a:r>
              <a:rPr lang="zh-CN" altLang="en-US" b="1">
                <a:solidFill>
                  <a:srgbClr val="0000FF"/>
                </a:solidFill>
                <a:latin typeface="Times New Roman" pitchFamily="18" charset="0"/>
                <a:ea typeface="华文中宋"/>
                <a:cs typeface="华文中宋"/>
              </a:rPr>
              <a:t>、</a:t>
            </a:r>
            <a:r>
              <a:rPr lang="en-US" altLang="zh-CN" b="1" i="1">
                <a:solidFill>
                  <a:srgbClr val="0000FF"/>
                </a:solidFill>
                <a:latin typeface="Times New Roman" pitchFamily="18" charset="0"/>
                <a:ea typeface="华文中宋"/>
                <a:cs typeface="华文中宋"/>
              </a:rPr>
              <a:t>V</a:t>
            </a:r>
            <a:r>
              <a:rPr lang="en-US" altLang="zh-CN" b="1" baseline="-25000">
                <a:solidFill>
                  <a:srgbClr val="0000FF"/>
                </a:solidFill>
                <a:latin typeface="Times New Roman" pitchFamily="18" charset="0"/>
                <a:ea typeface="华文中宋"/>
                <a:cs typeface="华文中宋"/>
              </a:rPr>
              <a:t>0</a:t>
            </a:r>
            <a:r>
              <a:rPr lang="zh-CN" altLang="en-US" b="1">
                <a:solidFill>
                  <a:srgbClr val="0000FF"/>
                </a:solidFill>
                <a:latin typeface="Times New Roman" pitchFamily="18" charset="0"/>
                <a:ea typeface="华文中宋"/>
                <a:cs typeface="华文中宋"/>
              </a:rPr>
              <a:t>是已知量，</a:t>
            </a:r>
            <a:r>
              <a:rPr lang="en-US" altLang="zh-CN" b="1" i="1">
                <a:solidFill>
                  <a:srgbClr val="0000FF"/>
                </a:solidFill>
                <a:latin typeface="Times New Roman" pitchFamily="18" charset="0"/>
                <a:ea typeface="华文中宋"/>
                <a:cs typeface="华文中宋"/>
              </a:rPr>
              <a:t>ab</a:t>
            </a:r>
            <a:r>
              <a:rPr lang="zh-CN" altLang="en-US" b="1">
                <a:solidFill>
                  <a:srgbClr val="0000FF"/>
                </a:solidFill>
                <a:latin typeface="Times New Roman" pitchFamily="18" charset="0"/>
                <a:ea typeface="华文中宋"/>
                <a:cs typeface="华文中宋"/>
              </a:rPr>
              <a:t>是直线，求气体在该过程中对外界所作的功。</a:t>
            </a:r>
          </a:p>
        </p:txBody>
      </p:sp>
      <p:grpSp>
        <p:nvGrpSpPr>
          <p:cNvPr id="4207" name="Group 30"/>
          <p:cNvGrpSpPr>
            <a:grpSpLocks/>
          </p:cNvGrpSpPr>
          <p:nvPr/>
        </p:nvGrpSpPr>
        <p:grpSpPr bwMode="auto">
          <a:xfrm>
            <a:off x="5724525" y="1168400"/>
            <a:ext cx="3024188" cy="1308100"/>
            <a:chOff x="2653" y="1842"/>
            <a:chExt cx="2070" cy="1281"/>
          </a:xfrm>
        </p:grpSpPr>
        <p:sp>
          <p:nvSpPr>
            <p:cNvPr id="4213" name="Oval 12"/>
            <p:cNvSpPr>
              <a:spLocks noChangeArrowheads="1"/>
            </p:cNvSpPr>
            <p:nvPr/>
          </p:nvSpPr>
          <p:spPr bwMode="auto">
            <a:xfrm>
              <a:off x="2971" y="2160"/>
              <a:ext cx="57" cy="57"/>
            </a:xfrm>
            <a:prstGeom prst="ellipse">
              <a:avLst/>
            </a:prstGeom>
            <a:solidFill>
              <a:srgbClr val="FF3300"/>
            </a:solidFill>
            <a:ln w="9525">
              <a:solidFill>
                <a:schemeClr val="tx1"/>
              </a:solidFill>
              <a:round/>
              <a:headEnd/>
              <a:tailEnd/>
            </a:ln>
          </p:spPr>
          <p:txBody>
            <a:bodyPr wrap="none" anchor="ctr"/>
            <a:lstStyle/>
            <a:p>
              <a:endParaRPr lang="zh-CN" altLang="zh-CN">
                <a:solidFill>
                  <a:srgbClr val="000000"/>
                </a:solidFill>
                <a:latin typeface="Times New Roman" pitchFamily="18" charset="0"/>
              </a:endParaRPr>
            </a:p>
          </p:txBody>
        </p:sp>
        <p:sp>
          <p:nvSpPr>
            <p:cNvPr id="4214" name="Oval 13"/>
            <p:cNvSpPr>
              <a:spLocks noChangeArrowheads="1"/>
            </p:cNvSpPr>
            <p:nvPr/>
          </p:nvSpPr>
          <p:spPr bwMode="auto">
            <a:xfrm>
              <a:off x="4014" y="2795"/>
              <a:ext cx="57" cy="57"/>
            </a:xfrm>
            <a:prstGeom prst="ellipse">
              <a:avLst/>
            </a:prstGeom>
            <a:solidFill>
              <a:srgbClr val="FF3300"/>
            </a:solidFill>
            <a:ln w="9525">
              <a:solidFill>
                <a:schemeClr val="tx1"/>
              </a:solidFill>
              <a:round/>
              <a:headEnd/>
              <a:tailEnd/>
            </a:ln>
          </p:spPr>
          <p:txBody>
            <a:bodyPr wrap="none" anchor="ctr"/>
            <a:lstStyle/>
            <a:p>
              <a:endParaRPr lang="zh-CN" altLang="zh-CN">
                <a:solidFill>
                  <a:srgbClr val="000000"/>
                </a:solidFill>
                <a:latin typeface="Times New Roman" pitchFamily="18" charset="0"/>
              </a:endParaRPr>
            </a:p>
          </p:txBody>
        </p:sp>
        <p:sp>
          <p:nvSpPr>
            <p:cNvPr id="4215" name="Text Box 17"/>
            <p:cNvSpPr txBox="1">
              <a:spLocks noChangeArrowheads="1"/>
            </p:cNvSpPr>
            <p:nvPr/>
          </p:nvSpPr>
          <p:spPr bwMode="auto">
            <a:xfrm>
              <a:off x="2971" y="1974"/>
              <a:ext cx="571" cy="271"/>
            </a:xfrm>
            <a:prstGeom prst="rect">
              <a:avLst/>
            </a:prstGeom>
            <a:noFill/>
            <a:ln w="9525">
              <a:noFill/>
              <a:miter lim="800000"/>
              <a:headEnd/>
              <a:tailEnd/>
            </a:ln>
          </p:spPr>
          <p:txBody>
            <a:bodyPr wrap="none">
              <a:spAutoFit/>
            </a:bodyPr>
            <a:lstStyle/>
            <a:p>
              <a:r>
                <a:rPr lang="en-US" altLang="zh-CN" sz="1500" b="1" i="1">
                  <a:solidFill>
                    <a:srgbClr val="000000"/>
                  </a:solidFill>
                  <a:latin typeface="Times New Roman" pitchFamily="18" charset="0"/>
                </a:rPr>
                <a:t>a</a:t>
              </a:r>
              <a:r>
                <a:rPr lang="en-US" altLang="zh-CN" sz="1500" b="1">
                  <a:solidFill>
                    <a:srgbClr val="000000"/>
                  </a:solidFill>
                  <a:latin typeface="Times New Roman" pitchFamily="18" charset="0"/>
                </a:rPr>
                <a:t>(3</a:t>
              </a:r>
              <a:r>
                <a:rPr lang="en-US" altLang="zh-CN" sz="1500" b="1" i="1">
                  <a:solidFill>
                    <a:srgbClr val="000000"/>
                  </a:solidFill>
                  <a:latin typeface="Times New Roman" pitchFamily="18" charset="0"/>
                </a:rPr>
                <a:t>p</a:t>
              </a:r>
              <a:r>
                <a:rPr lang="en-US" altLang="zh-CN" sz="1500" b="1" baseline="-25000">
                  <a:solidFill>
                    <a:srgbClr val="000000"/>
                  </a:solidFill>
                  <a:latin typeface="Times New Roman" pitchFamily="18" charset="0"/>
                </a:rPr>
                <a:t>0</a:t>
              </a:r>
              <a:r>
                <a:rPr lang="en-US" altLang="zh-CN" sz="1500" b="1">
                  <a:solidFill>
                    <a:srgbClr val="000000"/>
                  </a:solidFill>
                  <a:latin typeface="Times New Roman" pitchFamily="18" charset="0"/>
                </a:rPr>
                <a:t>,</a:t>
              </a:r>
              <a:r>
                <a:rPr lang="en-US" altLang="zh-CN" sz="1500" b="1" i="1">
                  <a:solidFill>
                    <a:srgbClr val="000000"/>
                  </a:solidFill>
                  <a:latin typeface="Times New Roman" pitchFamily="18" charset="0"/>
                </a:rPr>
                <a:t>V</a:t>
              </a:r>
              <a:r>
                <a:rPr lang="en-US" altLang="zh-CN" sz="1500" b="1" baseline="-25000">
                  <a:solidFill>
                    <a:srgbClr val="000000"/>
                  </a:solidFill>
                  <a:latin typeface="Times New Roman" pitchFamily="18" charset="0"/>
                </a:rPr>
                <a:t>0</a:t>
              </a:r>
              <a:r>
                <a:rPr lang="en-US" altLang="zh-CN" sz="1500" b="1">
                  <a:solidFill>
                    <a:srgbClr val="000000"/>
                  </a:solidFill>
                  <a:latin typeface="Times New Roman" pitchFamily="18" charset="0"/>
                </a:rPr>
                <a:t>)</a:t>
              </a:r>
            </a:p>
          </p:txBody>
        </p:sp>
        <p:sp>
          <p:nvSpPr>
            <p:cNvPr id="4216" name="Text Box 18"/>
            <p:cNvSpPr txBox="1">
              <a:spLocks noChangeArrowheads="1"/>
            </p:cNvSpPr>
            <p:nvPr/>
          </p:nvSpPr>
          <p:spPr bwMode="auto">
            <a:xfrm>
              <a:off x="4014" y="2568"/>
              <a:ext cx="571" cy="271"/>
            </a:xfrm>
            <a:prstGeom prst="rect">
              <a:avLst/>
            </a:prstGeom>
            <a:noFill/>
            <a:ln w="9525">
              <a:noFill/>
              <a:miter lim="800000"/>
              <a:headEnd/>
              <a:tailEnd/>
            </a:ln>
          </p:spPr>
          <p:txBody>
            <a:bodyPr wrap="none">
              <a:spAutoFit/>
            </a:bodyPr>
            <a:lstStyle/>
            <a:p>
              <a:r>
                <a:rPr lang="en-US" altLang="zh-CN" sz="1500" b="1" i="1">
                  <a:solidFill>
                    <a:srgbClr val="000000"/>
                  </a:solidFill>
                  <a:latin typeface="Times New Roman" pitchFamily="18" charset="0"/>
                </a:rPr>
                <a:t>b</a:t>
              </a:r>
              <a:r>
                <a:rPr lang="en-US" altLang="zh-CN" sz="1500" b="1">
                  <a:solidFill>
                    <a:srgbClr val="000000"/>
                  </a:solidFill>
                  <a:latin typeface="Times New Roman" pitchFamily="18" charset="0"/>
                </a:rPr>
                <a:t>(</a:t>
              </a:r>
              <a:r>
                <a:rPr lang="en-US" altLang="zh-CN" sz="1500" b="1" i="1">
                  <a:solidFill>
                    <a:srgbClr val="000000"/>
                  </a:solidFill>
                  <a:latin typeface="Times New Roman" pitchFamily="18" charset="0"/>
                </a:rPr>
                <a:t>p</a:t>
              </a:r>
              <a:r>
                <a:rPr lang="en-US" altLang="zh-CN" sz="1500" b="1" baseline="-25000">
                  <a:solidFill>
                    <a:srgbClr val="000000"/>
                  </a:solidFill>
                  <a:latin typeface="Times New Roman" pitchFamily="18" charset="0"/>
                </a:rPr>
                <a:t>0</a:t>
              </a:r>
              <a:r>
                <a:rPr lang="en-US" altLang="zh-CN" sz="1500" b="1">
                  <a:solidFill>
                    <a:srgbClr val="000000"/>
                  </a:solidFill>
                  <a:latin typeface="Times New Roman" pitchFamily="18" charset="0"/>
                </a:rPr>
                <a:t>,4</a:t>
              </a:r>
              <a:r>
                <a:rPr lang="en-US" altLang="zh-CN" sz="1500" b="1" i="1">
                  <a:solidFill>
                    <a:srgbClr val="000000"/>
                  </a:solidFill>
                  <a:latin typeface="Times New Roman" pitchFamily="18" charset="0"/>
                </a:rPr>
                <a:t>V</a:t>
              </a:r>
              <a:r>
                <a:rPr lang="en-US" altLang="zh-CN" sz="1500" b="1" baseline="-25000">
                  <a:solidFill>
                    <a:srgbClr val="000000"/>
                  </a:solidFill>
                  <a:latin typeface="Times New Roman" pitchFamily="18" charset="0"/>
                </a:rPr>
                <a:t>0</a:t>
              </a:r>
              <a:r>
                <a:rPr lang="en-US" altLang="zh-CN" sz="1500" b="1">
                  <a:solidFill>
                    <a:srgbClr val="000000"/>
                  </a:solidFill>
                  <a:latin typeface="Times New Roman" pitchFamily="18" charset="0"/>
                </a:rPr>
                <a:t>)</a:t>
              </a:r>
            </a:p>
          </p:txBody>
        </p:sp>
        <p:sp>
          <p:nvSpPr>
            <p:cNvPr id="292895" name="Freeform 31"/>
            <p:cNvSpPr>
              <a:spLocks/>
            </p:cNvSpPr>
            <p:nvPr/>
          </p:nvSpPr>
          <p:spPr bwMode="auto">
            <a:xfrm>
              <a:off x="3016" y="2204"/>
              <a:ext cx="999" cy="875"/>
            </a:xfrm>
            <a:custGeom>
              <a:avLst/>
              <a:gdLst>
                <a:gd name="T0" fmla="*/ 0 w 454"/>
                <a:gd name="T1" fmla="*/ 0 h 567"/>
                <a:gd name="T2" fmla="*/ 2147483647 w 454"/>
                <a:gd name="T3" fmla="*/ 2147483647 h 567"/>
                <a:gd name="T4" fmla="*/ 2147483647 w 454"/>
                <a:gd name="T5" fmla="*/ 2147483647 h 567"/>
                <a:gd name="T6" fmla="*/ 0 w 454"/>
                <a:gd name="T7" fmla="*/ 2147483647 h 567"/>
                <a:gd name="T8" fmla="*/ 0 w 454"/>
                <a:gd name="T9" fmla="*/ 0 h 567"/>
                <a:gd name="T10" fmla="*/ 0 60000 65536"/>
                <a:gd name="T11" fmla="*/ 0 60000 65536"/>
                <a:gd name="T12" fmla="*/ 0 60000 65536"/>
                <a:gd name="T13" fmla="*/ 0 60000 65536"/>
                <a:gd name="T14" fmla="*/ 0 60000 65536"/>
                <a:gd name="T15" fmla="*/ 0 w 454"/>
                <a:gd name="T16" fmla="*/ 0 h 567"/>
                <a:gd name="T17" fmla="*/ 454 w 454"/>
                <a:gd name="T18" fmla="*/ 567 h 567"/>
                <a:gd name="connsiteX0" fmla="*/ 0 w 10000"/>
                <a:gd name="connsiteY0" fmla="*/ 0 h 10000"/>
                <a:gd name="connsiteX1" fmla="*/ 10000 w 10000"/>
                <a:gd name="connsiteY1" fmla="*/ 6927 h 10000"/>
                <a:gd name="connsiteX2" fmla="*/ 10000 w 10000"/>
                <a:gd name="connsiteY2" fmla="*/ 10000 h 10000"/>
                <a:gd name="connsiteX3" fmla="*/ 0 w 10000"/>
                <a:gd name="connsiteY3" fmla="*/ 10000 h 10000"/>
                <a:gd name="connsiteX4" fmla="*/ 0 w 10000"/>
                <a:gd name="connsiteY4" fmla="*/ 0 h 10000"/>
                <a:gd name="connsiteX0" fmla="*/ 0 w 10128"/>
                <a:gd name="connsiteY0" fmla="*/ 0 h 10546"/>
                <a:gd name="connsiteX1" fmla="*/ 10128 w 10128"/>
                <a:gd name="connsiteY1" fmla="*/ 7473 h 10546"/>
                <a:gd name="connsiteX2" fmla="*/ 10128 w 10128"/>
                <a:gd name="connsiteY2" fmla="*/ 10546 h 10546"/>
                <a:gd name="connsiteX3" fmla="*/ 128 w 10128"/>
                <a:gd name="connsiteY3" fmla="*/ 10546 h 10546"/>
                <a:gd name="connsiteX4" fmla="*/ 0 w 10128"/>
                <a:gd name="connsiteY4" fmla="*/ 0 h 105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28" h="10546">
                  <a:moveTo>
                    <a:pt x="0" y="0"/>
                  </a:moveTo>
                  <a:lnTo>
                    <a:pt x="10128" y="7473"/>
                  </a:lnTo>
                  <a:lnTo>
                    <a:pt x="10128" y="10546"/>
                  </a:lnTo>
                  <a:lnTo>
                    <a:pt x="128" y="10546"/>
                  </a:lnTo>
                  <a:cubicBezTo>
                    <a:pt x="85" y="7031"/>
                    <a:pt x="43" y="3515"/>
                    <a:pt x="0" y="0"/>
                  </a:cubicBezTo>
                  <a:close/>
                </a:path>
              </a:pathLst>
            </a:custGeom>
            <a:pattFill prst="dashVert">
              <a:fgClr>
                <a:schemeClr val="accent6">
                  <a:lumMod val="75000"/>
                </a:schemeClr>
              </a:fgClr>
              <a:bgClr>
                <a:schemeClr val="bg1"/>
              </a:bgClr>
            </a:pattFill>
            <a:ln>
              <a:solidFill>
                <a:schemeClr val="accent6">
                  <a:lumMod val="50000"/>
                </a:schemeClr>
              </a:solidFill>
            </a:ln>
          </p:spPr>
          <p:txBody>
            <a:bodyPr/>
            <a:lstStyle/>
            <a:p>
              <a:pPr fontAlgn="auto">
                <a:spcBef>
                  <a:spcPts val="0"/>
                </a:spcBef>
                <a:spcAft>
                  <a:spcPts val="0"/>
                </a:spcAft>
                <a:defRPr/>
              </a:pPr>
              <a:endParaRPr lang="zh-CN" altLang="en-US">
                <a:solidFill>
                  <a:prstClr val="black"/>
                </a:solidFill>
                <a:latin typeface="+mn-lt"/>
                <a:ea typeface="+mn-ea"/>
              </a:endParaRPr>
            </a:p>
          </p:txBody>
        </p:sp>
        <p:sp>
          <p:nvSpPr>
            <p:cNvPr id="4218" name="Line 23"/>
            <p:cNvSpPr>
              <a:spLocks noChangeShapeType="1"/>
            </p:cNvSpPr>
            <p:nvPr/>
          </p:nvSpPr>
          <p:spPr bwMode="auto">
            <a:xfrm flipV="1">
              <a:off x="2744" y="2024"/>
              <a:ext cx="0" cy="1043"/>
            </a:xfrm>
            <a:prstGeom prst="line">
              <a:avLst/>
            </a:prstGeom>
            <a:noFill/>
            <a:ln w="25400">
              <a:solidFill>
                <a:schemeClr val="tx1"/>
              </a:solidFill>
              <a:round/>
              <a:headEnd/>
              <a:tailEnd type="stealth" w="lg" len="lg"/>
            </a:ln>
          </p:spPr>
          <p:txBody>
            <a:bodyPr/>
            <a:lstStyle/>
            <a:p>
              <a:endParaRPr lang="zh-CN" altLang="en-US"/>
            </a:p>
          </p:txBody>
        </p:sp>
        <p:sp>
          <p:nvSpPr>
            <p:cNvPr id="4219" name="Line 24"/>
            <p:cNvSpPr>
              <a:spLocks noChangeShapeType="1"/>
            </p:cNvSpPr>
            <p:nvPr/>
          </p:nvSpPr>
          <p:spPr bwMode="auto">
            <a:xfrm>
              <a:off x="2744" y="3067"/>
              <a:ext cx="1814" cy="0"/>
            </a:xfrm>
            <a:prstGeom prst="line">
              <a:avLst/>
            </a:prstGeom>
            <a:noFill/>
            <a:ln w="25400">
              <a:solidFill>
                <a:schemeClr val="tx1"/>
              </a:solidFill>
              <a:round/>
              <a:headEnd/>
              <a:tailEnd type="stealth" w="lg" len="lg"/>
            </a:ln>
          </p:spPr>
          <p:txBody>
            <a:bodyPr/>
            <a:lstStyle/>
            <a:p>
              <a:endParaRPr lang="zh-CN" altLang="en-US"/>
            </a:p>
          </p:txBody>
        </p:sp>
        <p:graphicFrame>
          <p:nvGraphicFramePr>
            <p:cNvPr id="4197" name="Object 101"/>
            <p:cNvGraphicFramePr>
              <a:graphicFrameLocks noChangeAspect="1"/>
            </p:cNvGraphicFramePr>
            <p:nvPr/>
          </p:nvGraphicFramePr>
          <p:xfrm>
            <a:off x="2653" y="1842"/>
            <a:ext cx="174" cy="188"/>
          </p:xfrm>
          <a:graphic>
            <a:graphicData uri="http://schemas.openxmlformats.org/presentationml/2006/ole">
              <p:oleObj spid="_x0000_s4197" name="Equation" r:id="rId3" imgW="152268" imgH="164957" progId="Equation.DSMT4">
                <p:embed/>
              </p:oleObj>
            </a:graphicData>
          </a:graphic>
        </p:graphicFrame>
        <p:sp>
          <p:nvSpPr>
            <p:cNvPr id="4220" name="Line 26"/>
            <p:cNvSpPr>
              <a:spLocks noChangeShapeType="1"/>
            </p:cNvSpPr>
            <p:nvPr/>
          </p:nvSpPr>
          <p:spPr bwMode="auto">
            <a:xfrm>
              <a:off x="3016" y="2205"/>
              <a:ext cx="1043" cy="635"/>
            </a:xfrm>
            <a:prstGeom prst="line">
              <a:avLst/>
            </a:prstGeom>
            <a:noFill/>
            <a:ln w="25400">
              <a:solidFill>
                <a:srgbClr val="0000FF"/>
              </a:solidFill>
              <a:round/>
              <a:headEnd/>
              <a:tailEnd type="stealth" w="lg" len="lg"/>
            </a:ln>
          </p:spPr>
          <p:txBody>
            <a:bodyPr/>
            <a:lstStyle/>
            <a:p>
              <a:endParaRPr lang="zh-CN" altLang="en-US"/>
            </a:p>
          </p:txBody>
        </p:sp>
        <p:sp>
          <p:nvSpPr>
            <p:cNvPr id="4221" name="Line 27"/>
            <p:cNvSpPr>
              <a:spLocks noChangeShapeType="1"/>
            </p:cNvSpPr>
            <p:nvPr/>
          </p:nvSpPr>
          <p:spPr bwMode="auto">
            <a:xfrm>
              <a:off x="3016" y="2205"/>
              <a:ext cx="0" cy="862"/>
            </a:xfrm>
            <a:prstGeom prst="line">
              <a:avLst/>
            </a:prstGeom>
            <a:noFill/>
            <a:ln w="25400">
              <a:solidFill>
                <a:schemeClr val="tx1"/>
              </a:solidFill>
              <a:prstDash val="dash"/>
              <a:round/>
              <a:headEnd/>
              <a:tailEnd/>
            </a:ln>
          </p:spPr>
          <p:txBody>
            <a:bodyPr/>
            <a:lstStyle/>
            <a:p>
              <a:endParaRPr lang="zh-CN" altLang="en-US"/>
            </a:p>
          </p:txBody>
        </p:sp>
        <p:sp>
          <p:nvSpPr>
            <p:cNvPr id="4222" name="Line 28"/>
            <p:cNvSpPr>
              <a:spLocks noChangeShapeType="1"/>
            </p:cNvSpPr>
            <p:nvPr/>
          </p:nvSpPr>
          <p:spPr bwMode="auto">
            <a:xfrm>
              <a:off x="4014" y="2795"/>
              <a:ext cx="0" cy="272"/>
            </a:xfrm>
            <a:prstGeom prst="line">
              <a:avLst/>
            </a:prstGeom>
            <a:noFill/>
            <a:ln w="25400">
              <a:solidFill>
                <a:schemeClr val="tx1"/>
              </a:solidFill>
              <a:prstDash val="dash"/>
              <a:round/>
              <a:headEnd/>
              <a:tailEnd/>
            </a:ln>
          </p:spPr>
          <p:txBody>
            <a:bodyPr/>
            <a:lstStyle/>
            <a:p>
              <a:endParaRPr lang="zh-CN" altLang="en-US"/>
            </a:p>
          </p:txBody>
        </p:sp>
        <p:graphicFrame>
          <p:nvGraphicFramePr>
            <p:cNvPr id="4198" name="Object 102"/>
            <p:cNvGraphicFramePr>
              <a:graphicFrameLocks noChangeAspect="1"/>
            </p:cNvGraphicFramePr>
            <p:nvPr/>
          </p:nvGraphicFramePr>
          <p:xfrm>
            <a:off x="4558" y="2931"/>
            <a:ext cx="165" cy="192"/>
          </p:xfrm>
          <a:graphic>
            <a:graphicData uri="http://schemas.openxmlformats.org/presentationml/2006/ole">
              <p:oleObj spid="_x0000_s4198" name="Equation" r:id="rId4" imgW="152202" imgH="177569" progId="Equation.DSMT4">
                <p:embed/>
              </p:oleObj>
            </a:graphicData>
          </a:graphic>
        </p:graphicFrame>
      </p:grpSp>
      <p:sp>
        <p:nvSpPr>
          <p:cNvPr id="292884" name="Rectangle 20"/>
          <p:cNvSpPr>
            <a:spLocks noChangeArrowheads="1"/>
          </p:cNvSpPr>
          <p:nvPr/>
        </p:nvSpPr>
        <p:spPr bwMode="auto">
          <a:xfrm>
            <a:off x="539750" y="1544638"/>
            <a:ext cx="4146550" cy="369887"/>
          </a:xfrm>
          <a:prstGeom prst="rect">
            <a:avLst/>
          </a:prstGeom>
          <a:noFill/>
          <a:ln w="9525">
            <a:noFill/>
            <a:miter lim="800000"/>
            <a:headEnd/>
            <a:tailEnd/>
          </a:ln>
        </p:spPr>
        <p:txBody>
          <a:bodyPr>
            <a:spAutoFit/>
          </a:bodyPr>
          <a:lstStyle/>
          <a:p>
            <a:r>
              <a:rPr lang="zh-CN" altLang="en-US" b="1">
                <a:solidFill>
                  <a:srgbClr val="FF0000"/>
                </a:solidFill>
                <a:latin typeface="Times New Roman" pitchFamily="18" charset="0"/>
                <a:ea typeface="华文中宋"/>
                <a:cs typeface="华文中宋"/>
              </a:rPr>
              <a:t>解：</a:t>
            </a:r>
            <a:r>
              <a:rPr lang="zh-CN" altLang="en-US" b="1">
                <a:solidFill>
                  <a:srgbClr val="000000"/>
                </a:solidFill>
                <a:latin typeface="Times New Roman" pitchFamily="18" charset="0"/>
                <a:ea typeface="华文中宋"/>
                <a:cs typeface="华文中宋"/>
              </a:rPr>
              <a:t>由图知过程曲线的斜率：</a:t>
            </a:r>
          </a:p>
        </p:txBody>
      </p:sp>
      <p:sp>
        <p:nvSpPr>
          <p:cNvPr id="292887" name="Rectangle 23"/>
          <p:cNvSpPr>
            <a:spLocks noChangeArrowheads="1"/>
          </p:cNvSpPr>
          <p:nvPr/>
        </p:nvSpPr>
        <p:spPr bwMode="auto">
          <a:xfrm>
            <a:off x="954088" y="3138488"/>
            <a:ext cx="2970212" cy="369887"/>
          </a:xfrm>
          <a:prstGeom prst="rect">
            <a:avLst/>
          </a:prstGeom>
          <a:noFill/>
          <a:ln w="9525">
            <a:noFill/>
            <a:miter lim="800000"/>
            <a:headEnd/>
            <a:tailEnd/>
          </a:ln>
        </p:spPr>
        <p:txBody>
          <a:bodyPr>
            <a:spAutoFit/>
          </a:bodyPr>
          <a:lstStyle/>
          <a:p>
            <a:r>
              <a:rPr lang="zh-CN" altLang="en-US" b="1">
                <a:solidFill>
                  <a:srgbClr val="000000"/>
                </a:solidFill>
                <a:latin typeface="Times New Roman" pitchFamily="18" charset="0"/>
                <a:ea typeface="华文中宋"/>
                <a:cs typeface="华文中宋"/>
              </a:rPr>
              <a:t>气体对外作</a:t>
            </a:r>
            <a:r>
              <a:rPr lang="zh-CN" altLang="en-US" b="1">
                <a:solidFill>
                  <a:srgbClr val="FF0000"/>
                </a:solidFill>
                <a:latin typeface="Times New Roman" pitchFamily="18" charset="0"/>
                <a:ea typeface="华文中宋"/>
                <a:cs typeface="华文中宋"/>
              </a:rPr>
              <a:t>功</a:t>
            </a:r>
            <a:r>
              <a:rPr lang="zh-CN" altLang="en-US" b="1">
                <a:solidFill>
                  <a:srgbClr val="000000"/>
                </a:solidFill>
                <a:latin typeface="Times New Roman" pitchFamily="18" charset="0"/>
                <a:ea typeface="华文中宋"/>
                <a:cs typeface="华文中宋"/>
              </a:rPr>
              <a:t>为：</a:t>
            </a:r>
          </a:p>
        </p:txBody>
      </p:sp>
      <p:graphicFrame>
        <p:nvGraphicFramePr>
          <p:cNvPr id="150562" name="Object 103"/>
          <p:cNvGraphicFramePr>
            <a:graphicFrameLocks noChangeAspect="1"/>
          </p:cNvGraphicFramePr>
          <p:nvPr/>
        </p:nvGraphicFramePr>
        <p:xfrm>
          <a:off x="2195513" y="2071688"/>
          <a:ext cx="2376487" cy="571500"/>
        </p:xfrm>
        <a:graphic>
          <a:graphicData uri="http://schemas.openxmlformats.org/presentationml/2006/ole">
            <p:oleObj spid="_x0000_s4199" name="Equation" r:id="rId5" imgW="1384300" imgH="444500" progId="Equation.DSMT4">
              <p:embed/>
            </p:oleObj>
          </a:graphicData>
        </a:graphic>
      </p:graphicFrame>
      <p:sp>
        <p:nvSpPr>
          <p:cNvPr id="2" name="Rectangle 23"/>
          <p:cNvSpPr>
            <a:spLocks noChangeArrowheads="1"/>
          </p:cNvSpPr>
          <p:nvPr/>
        </p:nvSpPr>
        <p:spPr bwMode="auto">
          <a:xfrm>
            <a:off x="1044575" y="2667000"/>
            <a:ext cx="1655763" cy="368300"/>
          </a:xfrm>
          <a:prstGeom prst="rect">
            <a:avLst/>
          </a:prstGeom>
          <a:noFill/>
          <a:ln w="9525">
            <a:noFill/>
            <a:miter lim="800000"/>
            <a:headEnd/>
            <a:tailEnd/>
          </a:ln>
        </p:spPr>
        <p:txBody>
          <a:bodyPr>
            <a:spAutoFit/>
          </a:bodyPr>
          <a:lstStyle/>
          <a:p>
            <a:r>
              <a:rPr lang="zh-CN" altLang="en-US" b="1">
                <a:solidFill>
                  <a:srgbClr val="000000"/>
                </a:solidFill>
                <a:latin typeface="Times New Roman" pitchFamily="18" charset="0"/>
                <a:ea typeface="华文中宋"/>
                <a:cs typeface="华文中宋"/>
              </a:rPr>
              <a:t>所以：</a:t>
            </a:r>
          </a:p>
        </p:txBody>
      </p:sp>
      <p:graphicFrame>
        <p:nvGraphicFramePr>
          <p:cNvPr id="150564" name="Object 104"/>
          <p:cNvGraphicFramePr>
            <a:graphicFrameLocks noChangeAspect="1"/>
          </p:cNvGraphicFramePr>
          <p:nvPr/>
        </p:nvGraphicFramePr>
        <p:xfrm>
          <a:off x="1835150" y="2571750"/>
          <a:ext cx="3600450" cy="582613"/>
        </p:xfrm>
        <a:graphic>
          <a:graphicData uri="http://schemas.openxmlformats.org/presentationml/2006/ole">
            <p:oleObj spid="_x0000_s4200" name="Equation" r:id="rId6" imgW="2057400" imgH="444500" progId="Equation.DSMT4">
              <p:embed/>
            </p:oleObj>
          </a:graphicData>
        </a:graphic>
      </p:graphicFrame>
      <p:graphicFrame>
        <p:nvGraphicFramePr>
          <p:cNvPr id="15" name="Object 105"/>
          <p:cNvGraphicFramePr>
            <a:graphicFrameLocks noChangeAspect="1"/>
          </p:cNvGraphicFramePr>
          <p:nvPr/>
        </p:nvGraphicFramePr>
        <p:xfrm>
          <a:off x="531813" y="3579813"/>
          <a:ext cx="4327525" cy="706437"/>
        </p:xfrm>
        <a:graphic>
          <a:graphicData uri="http://schemas.openxmlformats.org/presentationml/2006/ole">
            <p:oleObj spid="_x0000_s4201" name="Equation" r:id="rId7" imgW="2489200" imgH="482600" progId="Equation.DSMT4">
              <p:embed/>
            </p:oleObj>
          </a:graphicData>
        </a:graphic>
      </p:graphicFrame>
      <p:graphicFrame>
        <p:nvGraphicFramePr>
          <p:cNvPr id="150566" name="Object 106"/>
          <p:cNvGraphicFramePr>
            <a:graphicFrameLocks noChangeAspect="1"/>
          </p:cNvGraphicFramePr>
          <p:nvPr/>
        </p:nvGraphicFramePr>
        <p:xfrm>
          <a:off x="1981200" y="4300538"/>
          <a:ext cx="935038" cy="306387"/>
        </p:xfrm>
        <a:graphic>
          <a:graphicData uri="http://schemas.openxmlformats.org/presentationml/2006/ole">
            <p:oleObj spid="_x0000_s4202" name="Equation" r:id="rId8" imgW="520700" imgH="228600" progId="Equation.DSMT4">
              <p:embed/>
            </p:oleObj>
          </a:graphicData>
        </a:graphic>
      </p:graphicFrame>
      <p:sp>
        <p:nvSpPr>
          <p:cNvPr id="4211" name="Line 39"/>
          <p:cNvSpPr>
            <a:spLocks noChangeShapeType="1"/>
          </p:cNvSpPr>
          <p:nvPr/>
        </p:nvSpPr>
        <p:spPr bwMode="auto">
          <a:xfrm>
            <a:off x="6272213" y="2200275"/>
            <a:ext cx="1443037" cy="11113"/>
          </a:xfrm>
          <a:prstGeom prst="line">
            <a:avLst/>
          </a:prstGeom>
          <a:noFill/>
          <a:ln w="25400">
            <a:solidFill>
              <a:srgbClr val="FF0000"/>
            </a:solidFill>
            <a:round/>
            <a:headEnd/>
            <a:tailEnd/>
          </a:ln>
        </p:spPr>
        <p:txBody>
          <a:bodyPr/>
          <a:lstStyle/>
          <a:p>
            <a:endParaRPr lang="zh-CN" altLang="en-US"/>
          </a:p>
        </p:txBody>
      </p:sp>
      <p:sp>
        <p:nvSpPr>
          <p:cNvPr id="3" name="Rectangle 23"/>
          <p:cNvSpPr>
            <a:spLocks noChangeArrowheads="1"/>
          </p:cNvSpPr>
          <p:nvPr/>
        </p:nvSpPr>
        <p:spPr bwMode="auto">
          <a:xfrm>
            <a:off x="4572000" y="3076575"/>
            <a:ext cx="4103688" cy="368300"/>
          </a:xfrm>
          <a:prstGeom prst="rect">
            <a:avLst/>
          </a:prstGeom>
          <a:noFill/>
          <a:ln w="9525">
            <a:noFill/>
            <a:miter lim="800000"/>
            <a:headEnd/>
            <a:tailEnd/>
          </a:ln>
        </p:spPr>
        <p:txBody>
          <a:bodyPr>
            <a:spAutoFit/>
          </a:bodyPr>
          <a:lstStyle/>
          <a:p>
            <a:r>
              <a:rPr lang="zh-CN" altLang="en-US" b="1">
                <a:solidFill>
                  <a:srgbClr val="000000"/>
                </a:solidFill>
                <a:latin typeface="Times New Roman" pitchFamily="18" charset="0"/>
                <a:ea typeface="华文中宋"/>
                <a:cs typeface="华文中宋"/>
              </a:rPr>
              <a:t>或者计算曲线下面积可得气体对外作</a:t>
            </a:r>
            <a:r>
              <a:rPr lang="zh-CN" altLang="en-US" b="1">
                <a:solidFill>
                  <a:srgbClr val="FF0000"/>
                </a:solidFill>
                <a:latin typeface="Times New Roman" pitchFamily="18" charset="0"/>
                <a:ea typeface="华文中宋"/>
                <a:cs typeface="华文中宋"/>
              </a:rPr>
              <a:t>功</a:t>
            </a:r>
            <a:r>
              <a:rPr lang="zh-CN" altLang="en-US" b="1">
                <a:solidFill>
                  <a:srgbClr val="000000"/>
                </a:solidFill>
                <a:latin typeface="Times New Roman" pitchFamily="18" charset="0"/>
                <a:ea typeface="华文中宋"/>
                <a:cs typeface="华文中宋"/>
              </a:rPr>
              <a:t>：</a:t>
            </a:r>
          </a:p>
        </p:txBody>
      </p:sp>
      <p:graphicFrame>
        <p:nvGraphicFramePr>
          <p:cNvPr id="150569" name="Object 107"/>
          <p:cNvGraphicFramePr>
            <a:graphicFrameLocks noChangeAspect="1"/>
          </p:cNvGraphicFramePr>
          <p:nvPr/>
        </p:nvGraphicFramePr>
        <p:xfrm>
          <a:off x="5219700" y="3363913"/>
          <a:ext cx="2305050" cy="576262"/>
        </p:xfrm>
        <a:graphic>
          <a:graphicData uri="http://schemas.openxmlformats.org/presentationml/2006/ole">
            <p:oleObj spid="_x0000_s4203" name="Equation" r:id="rId9" imgW="1218671" imgH="406224" progId="Equation.DSMT4">
              <p:embed/>
            </p:oleObj>
          </a:graphicData>
        </a:graphic>
      </p:graphicFrame>
      <p:graphicFrame>
        <p:nvGraphicFramePr>
          <p:cNvPr id="150570" name="Object 108"/>
          <p:cNvGraphicFramePr>
            <a:graphicFrameLocks noChangeAspect="1"/>
          </p:cNvGraphicFramePr>
          <p:nvPr/>
        </p:nvGraphicFramePr>
        <p:xfrm>
          <a:off x="5580063" y="3881438"/>
          <a:ext cx="2663825" cy="528637"/>
        </p:xfrm>
        <a:graphic>
          <a:graphicData uri="http://schemas.openxmlformats.org/presentationml/2006/ole">
            <p:oleObj spid="_x0000_s4204" name="Equation" r:id="rId10" imgW="1536033" imgH="406224" progId="Equation.DSMT4">
              <p:embed/>
            </p:oleObj>
          </a:graphicData>
        </a:graphic>
      </p:graphicFrame>
      <p:graphicFrame>
        <p:nvGraphicFramePr>
          <p:cNvPr id="150571" name="Object 109"/>
          <p:cNvGraphicFramePr>
            <a:graphicFrameLocks noChangeAspect="1"/>
          </p:cNvGraphicFramePr>
          <p:nvPr/>
        </p:nvGraphicFramePr>
        <p:xfrm>
          <a:off x="5581650" y="4352925"/>
          <a:ext cx="935038" cy="306388"/>
        </p:xfrm>
        <a:graphic>
          <a:graphicData uri="http://schemas.openxmlformats.org/presentationml/2006/ole">
            <p:oleObj spid="_x0000_s4205" name="Equation" r:id="rId11" imgW="520700" imgH="228600" progId="Equation.DSMT4">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92884"/>
                                        </p:tgtEl>
                                        <p:attrNameLst>
                                          <p:attrName>style.visibility</p:attrName>
                                        </p:attrNameLst>
                                      </p:cBhvr>
                                      <p:to>
                                        <p:strVal val="visible"/>
                                      </p:to>
                                    </p:set>
                                    <p:animEffect transition="in" filter="wipe(left)">
                                      <p:cBhvr>
                                        <p:cTn id="7" dur="500"/>
                                        <p:tgtEl>
                                          <p:spTgt spid="29288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150562"/>
                                        </p:tgtEl>
                                        <p:attrNameLst>
                                          <p:attrName>style.visibility</p:attrName>
                                        </p:attrNameLst>
                                      </p:cBhvr>
                                      <p:to>
                                        <p:strVal val="visible"/>
                                      </p:to>
                                    </p:set>
                                    <p:animEffect transition="in" filter="blinds(horizontal)">
                                      <p:cBhvr>
                                        <p:cTn id="12" dur="500"/>
                                        <p:tgtEl>
                                          <p:spTgt spid="15056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blinds(horizontal)">
                                      <p:cBhvr>
                                        <p:cTn id="17" dur="500"/>
                                        <p:tgtEl>
                                          <p:spTgt spid="2"/>
                                        </p:tgtEl>
                                      </p:cBhvr>
                                    </p:animEffect>
                                  </p:childTnLst>
                                </p:cTn>
                              </p:par>
                              <p:par>
                                <p:cTn id="18" presetID="3" presetClass="entr" presetSubtype="10" fill="hold" nodeType="withEffect">
                                  <p:stCondLst>
                                    <p:cond delay="0"/>
                                  </p:stCondLst>
                                  <p:childTnLst>
                                    <p:set>
                                      <p:cBhvr>
                                        <p:cTn id="19" dur="1" fill="hold">
                                          <p:stCondLst>
                                            <p:cond delay="0"/>
                                          </p:stCondLst>
                                        </p:cTn>
                                        <p:tgtEl>
                                          <p:spTgt spid="150564"/>
                                        </p:tgtEl>
                                        <p:attrNameLst>
                                          <p:attrName>style.visibility</p:attrName>
                                        </p:attrNameLst>
                                      </p:cBhvr>
                                      <p:to>
                                        <p:strVal val="visible"/>
                                      </p:to>
                                    </p:set>
                                    <p:animEffect transition="in" filter="blinds(horizontal)">
                                      <p:cBhvr>
                                        <p:cTn id="20" dur="500"/>
                                        <p:tgtEl>
                                          <p:spTgt spid="150564"/>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292887"/>
                                        </p:tgtEl>
                                        <p:attrNameLst>
                                          <p:attrName>style.visibility</p:attrName>
                                        </p:attrNameLst>
                                      </p:cBhvr>
                                      <p:to>
                                        <p:strVal val="visible"/>
                                      </p:to>
                                    </p:set>
                                    <p:animEffect transition="in" filter="wipe(left)">
                                      <p:cBhvr>
                                        <p:cTn id="25" dur="500"/>
                                        <p:tgtEl>
                                          <p:spTgt spid="292887"/>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nodeType="click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wipe(left)">
                                      <p:cBhvr>
                                        <p:cTn id="30" dur="500"/>
                                        <p:tgtEl>
                                          <p:spTgt spid="15"/>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3" presetClass="entr" presetSubtype="10" fill="hold" nodeType="clickEffect">
                                  <p:stCondLst>
                                    <p:cond delay="0"/>
                                  </p:stCondLst>
                                  <p:childTnLst>
                                    <p:set>
                                      <p:cBhvr>
                                        <p:cTn id="34" dur="1" fill="hold">
                                          <p:stCondLst>
                                            <p:cond delay="0"/>
                                          </p:stCondLst>
                                        </p:cTn>
                                        <p:tgtEl>
                                          <p:spTgt spid="150566"/>
                                        </p:tgtEl>
                                        <p:attrNameLst>
                                          <p:attrName>style.visibility</p:attrName>
                                        </p:attrNameLst>
                                      </p:cBhvr>
                                      <p:to>
                                        <p:strVal val="visible"/>
                                      </p:to>
                                    </p:set>
                                    <p:animEffect transition="in" filter="blinds(horizontal)">
                                      <p:cBhvr>
                                        <p:cTn id="35" dur="500"/>
                                        <p:tgtEl>
                                          <p:spTgt spid="150566"/>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3"/>
                                        </p:tgtEl>
                                        <p:attrNameLst>
                                          <p:attrName>style.visibility</p:attrName>
                                        </p:attrNameLst>
                                      </p:cBhvr>
                                      <p:to>
                                        <p:strVal val="visible"/>
                                      </p:to>
                                    </p:set>
                                    <p:animEffect transition="in" filter="wipe(left)">
                                      <p:cBhvr>
                                        <p:cTn id="40" dur="500"/>
                                        <p:tgtEl>
                                          <p:spTgt spid="3"/>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3" presetClass="entr" presetSubtype="10" fill="hold" nodeType="clickEffect">
                                  <p:stCondLst>
                                    <p:cond delay="0"/>
                                  </p:stCondLst>
                                  <p:childTnLst>
                                    <p:set>
                                      <p:cBhvr>
                                        <p:cTn id="44" dur="1" fill="hold">
                                          <p:stCondLst>
                                            <p:cond delay="0"/>
                                          </p:stCondLst>
                                        </p:cTn>
                                        <p:tgtEl>
                                          <p:spTgt spid="150569"/>
                                        </p:tgtEl>
                                        <p:attrNameLst>
                                          <p:attrName>style.visibility</p:attrName>
                                        </p:attrNameLst>
                                      </p:cBhvr>
                                      <p:to>
                                        <p:strVal val="visible"/>
                                      </p:to>
                                    </p:set>
                                    <p:animEffect transition="in" filter="blinds(horizontal)">
                                      <p:cBhvr>
                                        <p:cTn id="45" dur="500"/>
                                        <p:tgtEl>
                                          <p:spTgt spid="150569"/>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3" presetClass="entr" presetSubtype="10" fill="hold" nodeType="clickEffect">
                                  <p:stCondLst>
                                    <p:cond delay="0"/>
                                  </p:stCondLst>
                                  <p:childTnLst>
                                    <p:set>
                                      <p:cBhvr>
                                        <p:cTn id="49" dur="1" fill="hold">
                                          <p:stCondLst>
                                            <p:cond delay="0"/>
                                          </p:stCondLst>
                                        </p:cTn>
                                        <p:tgtEl>
                                          <p:spTgt spid="150570"/>
                                        </p:tgtEl>
                                        <p:attrNameLst>
                                          <p:attrName>style.visibility</p:attrName>
                                        </p:attrNameLst>
                                      </p:cBhvr>
                                      <p:to>
                                        <p:strVal val="visible"/>
                                      </p:to>
                                    </p:set>
                                    <p:animEffect transition="in" filter="blinds(horizontal)">
                                      <p:cBhvr>
                                        <p:cTn id="50" dur="500"/>
                                        <p:tgtEl>
                                          <p:spTgt spid="150570"/>
                                        </p:tgtEl>
                                      </p:cBhvr>
                                    </p:animEffect>
                                  </p:childTnLst>
                                </p:cTn>
                              </p:par>
                              <p:par>
                                <p:cTn id="51" presetID="3" presetClass="entr" presetSubtype="10" fill="hold" nodeType="withEffect">
                                  <p:stCondLst>
                                    <p:cond delay="0"/>
                                  </p:stCondLst>
                                  <p:childTnLst>
                                    <p:set>
                                      <p:cBhvr>
                                        <p:cTn id="52" dur="1" fill="hold">
                                          <p:stCondLst>
                                            <p:cond delay="0"/>
                                          </p:stCondLst>
                                        </p:cTn>
                                        <p:tgtEl>
                                          <p:spTgt spid="150571"/>
                                        </p:tgtEl>
                                        <p:attrNameLst>
                                          <p:attrName>style.visibility</p:attrName>
                                        </p:attrNameLst>
                                      </p:cBhvr>
                                      <p:to>
                                        <p:strVal val="visible"/>
                                      </p:to>
                                    </p:set>
                                    <p:animEffect transition="in" filter="blinds(horizontal)">
                                      <p:cBhvr>
                                        <p:cTn id="53" dur="500"/>
                                        <p:tgtEl>
                                          <p:spTgt spid="1505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2884" grpId="0"/>
      <p:bldP spid="292887" grpId="0"/>
      <p:bldP spid="2" grpId="0"/>
      <p:bldP spid="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56" name="Text Box 116"/>
          <p:cNvSpPr txBox="1">
            <a:spLocks noChangeArrowheads="1"/>
          </p:cNvSpPr>
          <p:nvPr/>
        </p:nvSpPr>
        <p:spPr bwMode="auto">
          <a:xfrm>
            <a:off x="1108075" y="3894138"/>
            <a:ext cx="2087563" cy="369887"/>
          </a:xfrm>
          <a:prstGeom prst="rect">
            <a:avLst/>
          </a:prstGeom>
          <a:noFill/>
          <a:ln w="9525">
            <a:noFill/>
            <a:miter lim="800000"/>
            <a:headEnd/>
            <a:tailEnd/>
          </a:ln>
        </p:spPr>
        <p:txBody>
          <a:bodyPr>
            <a:spAutoFit/>
          </a:bodyPr>
          <a:lstStyle/>
          <a:p>
            <a:pPr eaLnBrk="0" hangingPunct="0"/>
            <a:r>
              <a:rPr lang="zh-CN" altLang="en-US" b="1">
                <a:solidFill>
                  <a:srgbClr val="000000"/>
                </a:solidFill>
                <a:latin typeface="Times New Roman" pitchFamily="18" charset="0"/>
                <a:ea typeface="华文中宋"/>
                <a:cs typeface="华文中宋"/>
              </a:rPr>
              <a:t>对于一元过程：</a:t>
            </a:r>
          </a:p>
        </p:txBody>
      </p:sp>
      <p:sp>
        <p:nvSpPr>
          <p:cNvPr id="10357" name="Text Box 117"/>
          <p:cNvSpPr txBox="1">
            <a:spLocks noChangeArrowheads="1"/>
          </p:cNvSpPr>
          <p:nvPr/>
        </p:nvSpPr>
        <p:spPr bwMode="auto">
          <a:xfrm>
            <a:off x="468313" y="3276600"/>
            <a:ext cx="8382000" cy="590550"/>
          </a:xfrm>
          <a:prstGeom prst="rect">
            <a:avLst/>
          </a:prstGeom>
          <a:noFill/>
          <a:ln w="9525">
            <a:noFill/>
            <a:miter lim="800000"/>
            <a:headEnd/>
            <a:tailEnd/>
          </a:ln>
        </p:spPr>
        <p:txBody>
          <a:bodyPr>
            <a:spAutoFit/>
          </a:bodyPr>
          <a:lstStyle/>
          <a:p>
            <a:pPr eaLnBrk="0" hangingPunct="0">
              <a:lnSpc>
                <a:spcPct val="90000"/>
              </a:lnSpc>
            </a:pPr>
            <a:r>
              <a:rPr lang="en-US" altLang="zh-CN" b="1">
                <a:solidFill>
                  <a:srgbClr val="000000"/>
                </a:solidFill>
                <a:latin typeface="华文中宋"/>
                <a:ea typeface="华文中宋"/>
                <a:cs typeface="华文中宋"/>
              </a:rPr>
              <a:t>      </a:t>
            </a:r>
            <a:r>
              <a:rPr lang="zh-CN" altLang="en-US" b="1">
                <a:solidFill>
                  <a:srgbClr val="000000"/>
                </a:solidFill>
                <a:latin typeface="华文中宋"/>
                <a:ea typeface="华文中宋"/>
                <a:cs typeface="华文中宋"/>
              </a:rPr>
              <a:t>系统吸收的热量，一部分转化成系统的内能；另一部分转化为系统对外所作的功。这就是热力学第一定律。    </a:t>
            </a:r>
          </a:p>
        </p:txBody>
      </p:sp>
      <p:sp>
        <p:nvSpPr>
          <p:cNvPr id="10365" name="Rectangle 125" descr="浅色上对角线"/>
          <p:cNvSpPr>
            <a:spLocks noChangeArrowheads="1"/>
          </p:cNvSpPr>
          <p:nvPr/>
        </p:nvSpPr>
        <p:spPr bwMode="auto">
          <a:xfrm>
            <a:off x="468313" y="4227513"/>
            <a:ext cx="8458200" cy="369887"/>
          </a:xfrm>
          <a:prstGeom prst="rect">
            <a:avLst/>
          </a:prstGeom>
          <a:noFill/>
          <a:ln w="9525">
            <a:noFill/>
            <a:miter lim="800000"/>
            <a:headEnd/>
            <a:tailEnd/>
          </a:ln>
        </p:spPr>
        <p:txBody>
          <a:bodyPr>
            <a:spAutoFit/>
          </a:bodyPr>
          <a:lstStyle/>
          <a:p>
            <a:pPr algn="ctr" eaLnBrk="0" hangingPunct="0"/>
            <a:r>
              <a:rPr lang="zh-CN" altLang="en-US" b="1">
                <a:solidFill>
                  <a:srgbClr val="000000"/>
                </a:solidFill>
                <a:latin typeface="华文中宋"/>
                <a:ea typeface="华文中宋"/>
                <a:cs typeface="华文中宋"/>
              </a:rPr>
              <a:t>热力学第一定律就是与热现象有关的能量转化与守恒定律。</a:t>
            </a:r>
          </a:p>
        </p:txBody>
      </p:sp>
      <p:grpSp>
        <p:nvGrpSpPr>
          <p:cNvPr id="2" name="Group 146"/>
          <p:cNvGrpSpPr>
            <a:grpSpLocks/>
          </p:cNvGrpSpPr>
          <p:nvPr/>
        </p:nvGrpSpPr>
        <p:grpSpPr bwMode="auto">
          <a:xfrm>
            <a:off x="2149475" y="1425575"/>
            <a:ext cx="1639888" cy="520700"/>
            <a:chOff x="1354" y="987"/>
            <a:chExt cx="1033" cy="437"/>
          </a:xfrm>
        </p:grpSpPr>
        <p:sp>
          <p:nvSpPr>
            <p:cNvPr id="5171" name="Rectangle 13"/>
            <p:cNvSpPr>
              <a:spLocks noChangeArrowheads="1"/>
            </p:cNvSpPr>
            <p:nvPr/>
          </p:nvSpPr>
          <p:spPr bwMode="auto">
            <a:xfrm>
              <a:off x="1354" y="1071"/>
              <a:ext cx="619" cy="276"/>
            </a:xfrm>
            <a:prstGeom prst="rect">
              <a:avLst/>
            </a:prstGeom>
            <a:noFill/>
            <a:ln w="9525">
              <a:noFill/>
              <a:miter lim="800000"/>
              <a:headEnd/>
              <a:tailEnd/>
            </a:ln>
          </p:spPr>
          <p:txBody>
            <a:bodyPr>
              <a:spAutoFit/>
            </a:bodyPr>
            <a:lstStyle/>
            <a:p>
              <a:pPr algn="ctr" eaLnBrk="0" hangingPunct="0">
                <a:lnSpc>
                  <a:spcPct val="110000"/>
                </a:lnSpc>
              </a:pPr>
              <a:r>
                <a:rPr lang="zh-CN" altLang="en-US" sz="1500" b="1">
                  <a:solidFill>
                    <a:srgbClr val="000000"/>
                  </a:solidFill>
                  <a:latin typeface="华文中宋"/>
                  <a:ea typeface="华文中宋"/>
                  <a:cs typeface="华文中宋"/>
                </a:rPr>
                <a:t>状态</a:t>
              </a:r>
              <a:r>
                <a:rPr lang="en-US" altLang="zh-CN" sz="1500" b="1">
                  <a:solidFill>
                    <a:srgbClr val="000000"/>
                  </a:solidFill>
                  <a:latin typeface="华文中宋"/>
                  <a:ea typeface="华文中宋"/>
                  <a:cs typeface="华文中宋"/>
                </a:rPr>
                <a:t>1</a:t>
              </a:r>
            </a:p>
          </p:txBody>
        </p:sp>
        <p:sp>
          <p:nvSpPr>
            <p:cNvPr id="5172" name="圆角矩形 24"/>
            <p:cNvSpPr>
              <a:spLocks noChangeArrowheads="1"/>
            </p:cNvSpPr>
            <p:nvPr/>
          </p:nvSpPr>
          <p:spPr bwMode="auto">
            <a:xfrm>
              <a:off x="1818" y="987"/>
              <a:ext cx="569" cy="437"/>
            </a:xfrm>
            <a:prstGeom prst="roundRect">
              <a:avLst>
                <a:gd name="adj" fmla="val 36981"/>
              </a:avLst>
            </a:prstGeom>
            <a:solidFill>
              <a:srgbClr val="FFCCFF"/>
            </a:solidFill>
            <a:ln w="9525" algn="ctr">
              <a:solidFill>
                <a:srgbClr val="00B0F0"/>
              </a:solidFill>
              <a:round/>
              <a:headEnd/>
              <a:tailEnd/>
            </a:ln>
          </p:spPr>
          <p:txBody>
            <a:bodyPr/>
            <a:lstStyle/>
            <a:p>
              <a:endParaRPr lang="zh-CN" altLang="zh-CN" b="1">
                <a:solidFill>
                  <a:srgbClr val="000000"/>
                </a:solidFill>
                <a:latin typeface="Times New Roman" pitchFamily="18" charset="0"/>
              </a:endParaRPr>
            </a:p>
          </p:txBody>
        </p:sp>
        <p:sp>
          <p:nvSpPr>
            <p:cNvPr id="5173" name="Text Box 20"/>
            <p:cNvSpPr txBox="1">
              <a:spLocks noChangeArrowheads="1"/>
            </p:cNvSpPr>
            <p:nvPr/>
          </p:nvSpPr>
          <p:spPr bwMode="auto">
            <a:xfrm>
              <a:off x="1935" y="1056"/>
              <a:ext cx="368" cy="271"/>
            </a:xfrm>
            <a:prstGeom prst="rect">
              <a:avLst/>
            </a:prstGeom>
            <a:noFill/>
            <a:ln w="9525">
              <a:noFill/>
              <a:miter lim="800000"/>
              <a:headEnd/>
              <a:tailEnd/>
            </a:ln>
          </p:spPr>
          <p:txBody>
            <a:bodyPr>
              <a:spAutoFit/>
            </a:bodyPr>
            <a:lstStyle/>
            <a:p>
              <a:pPr algn="ctr" eaLnBrk="0" hangingPunct="0"/>
              <a:r>
                <a:rPr lang="en-US" altLang="zh-CN" sz="1500" b="1" i="1">
                  <a:solidFill>
                    <a:srgbClr val="002060"/>
                  </a:solidFill>
                  <a:latin typeface="Times New Roman" pitchFamily="18" charset="0"/>
                </a:rPr>
                <a:t>E</a:t>
              </a:r>
              <a:r>
                <a:rPr lang="en-US" altLang="zh-CN" sz="1500" b="1" baseline="-25000">
                  <a:solidFill>
                    <a:srgbClr val="002060"/>
                  </a:solidFill>
                  <a:latin typeface="Times New Roman" pitchFamily="18" charset="0"/>
                </a:rPr>
                <a:t>1</a:t>
              </a:r>
            </a:p>
          </p:txBody>
        </p:sp>
      </p:grpSp>
      <p:grpSp>
        <p:nvGrpSpPr>
          <p:cNvPr id="3" name="Group 147"/>
          <p:cNvGrpSpPr>
            <a:grpSpLocks/>
          </p:cNvGrpSpPr>
          <p:nvPr/>
        </p:nvGrpSpPr>
        <p:grpSpPr bwMode="auto">
          <a:xfrm>
            <a:off x="5407025" y="1411288"/>
            <a:ext cx="1851025" cy="523875"/>
            <a:chOff x="3406" y="975"/>
            <a:chExt cx="1166" cy="439"/>
          </a:xfrm>
        </p:grpSpPr>
        <p:sp>
          <p:nvSpPr>
            <p:cNvPr id="5168" name="Rectangle 13"/>
            <p:cNvSpPr>
              <a:spLocks noChangeArrowheads="1"/>
            </p:cNvSpPr>
            <p:nvPr/>
          </p:nvSpPr>
          <p:spPr bwMode="auto">
            <a:xfrm>
              <a:off x="3953" y="1039"/>
              <a:ext cx="619" cy="276"/>
            </a:xfrm>
            <a:prstGeom prst="rect">
              <a:avLst/>
            </a:prstGeom>
            <a:noFill/>
            <a:ln w="9525">
              <a:noFill/>
              <a:miter lim="800000"/>
              <a:headEnd/>
              <a:tailEnd/>
            </a:ln>
          </p:spPr>
          <p:txBody>
            <a:bodyPr>
              <a:spAutoFit/>
            </a:bodyPr>
            <a:lstStyle/>
            <a:p>
              <a:pPr algn="ctr" eaLnBrk="0" hangingPunct="0">
                <a:lnSpc>
                  <a:spcPct val="110000"/>
                </a:lnSpc>
              </a:pPr>
              <a:r>
                <a:rPr lang="zh-CN" altLang="en-US" sz="1500" b="1">
                  <a:solidFill>
                    <a:srgbClr val="000000"/>
                  </a:solidFill>
                  <a:latin typeface="华文中宋"/>
                  <a:ea typeface="华文中宋"/>
                  <a:cs typeface="华文中宋"/>
                </a:rPr>
                <a:t>状态</a:t>
              </a:r>
              <a:r>
                <a:rPr lang="en-US" altLang="zh-CN" sz="1500" b="1">
                  <a:solidFill>
                    <a:srgbClr val="000000"/>
                  </a:solidFill>
                  <a:latin typeface="华文中宋"/>
                  <a:ea typeface="华文中宋"/>
                  <a:cs typeface="华文中宋"/>
                </a:rPr>
                <a:t>2</a:t>
              </a:r>
            </a:p>
          </p:txBody>
        </p:sp>
        <p:sp>
          <p:nvSpPr>
            <p:cNvPr id="29" name="圆角矩形 28"/>
            <p:cNvSpPr/>
            <p:nvPr/>
          </p:nvSpPr>
          <p:spPr bwMode="auto">
            <a:xfrm>
              <a:off x="3406" y="975"/>
              <a:ext cx="569" cy="439"/>
            </a:xfrm>
            <a:prstGeom prst="roundRect">
              <a:avLst>
                <a:gd name="adj" fmla="val 36980"/>
              </a:avLst>
            </a:prstGeom>
            <a:solidFill>
              <a:srgbClr val="FFFF00"/>
            </a:solidFill>
            <a:ln w="9525" cap="flat" cmpd="sng" algn="ctr">
              <a:solidFill>
                <a:srgbClr val="00B0F0"/>
              </a:solidFill>
              <a:prstDash val="solid"/>
              <a:round/>
              <a:headEnd type="none" w="med" len="med"/>
              <a:tailEnd type="none" w="med" len="med"/>
            </a:ln>
            <a:effectLst/>
          </p:spPr>
          <p:txBody>
            <a:bodyPr/>
            <a:lstStyle/>
            <a:p>
              <a:pPr fontAlgn="auto">
                <a:spcBef>
                  <a:spcPts val="0"/>
                </a:spcBef>
                <a:spcAft>
                  <a:spcPts val="0"/>
                </a:spcAft>
                <a:defRPr/>
              </a:pPr>
              <a:endParaRPr lang="zh-CN" altLang="en-US" b="1">
                <a:ln>
                  <a:solidFill>
                    <a:sysClr val="windowText" lastClr="000000"/>
                  </a:solidFill>
                </a:ln>
                <a:solidFill>
                  <a:prstClr val="black"/>
                </a:solidFill>
                <a:latin typeface="+mn-lt"/>
                <a:ea typeface="+mn-ea"/>
              </a:endParaRPr>
            </a:p>
          </p:txBody>
        </p:sp>
        <p:sp>
          <p:nvSpPr>
            <p:cNvPr id="5170" name="Text Box 20"/>
            <p:cNvSpPr txBox="1">
              <a:spLocks noChangeArrowheads="1"/>
            </p:cNvSpPr>
            <p:nvPr/>
          </p:nvSpPr>
          <p:spPr bwMode="auto">
            <a:xfrm>
              <a:off x="3555" y="1046"/>
              <a:ext cx="368" cy="271"/>
            </a:xfrm>
            <a:prstGeom prst="rect">
              <a:avLst/>
            </a:prstGeom>
            <a:noFill/>
            <a:ln w="9525">
              <a:noFill/>
              <a:miter lim="800000"/>
              <a:headEnd/>
              <a:tailEnd/>
            </a:ln>
          </p:spPr>
          <p:txBody>
            <a:bodyPr>
              <a:spAutoFit/>
            </a:bodyPr>
            <a:lstStyle/>
            <a:p>
              <a:pPr algn="ctr" eaLnBrk="0" hangingPunct="0"/>
              <a:r>
                <a:rPr lang="en-US" altLang="zh-CN" sz="1500" b="1" i="1">
                  <a:solidFill>
                    <a:srgbClr val="002060"/>
                  </a:solidFill>
                  <a:latin typeface="Times New Roman" pitchFamily="18" charset="0"/>
                </a:rPr>
                <a:t>E</a:t>
              </a:r>
              <a:r>
                <a:rPr lang="en-US" altLang="zh-CN" sz="1500" b="1" baseline="-25000">
                  <a:solidFill>
                    <a:srgbClr val="002060"/>
                  </a:solidFill>
                  <a:latin typeface="Times New Roman" pitchFamily="18" charset="0"/>
                </a:rPr>
                <a:t>2</a:t>
              </a:r>
            </a:p>
          </p:txBody>
        </p:sp>
      </p:grpSp>
      <p:sp>
        <p:nvSpPr>
          <p:cNvPr id="31" name="右箭头 30"/>
          <p:cNvSpPr/>
          <p:nvPr/>
        </p:nvSpPr>
        <p:spPr bwMode="auto">
          <a:xfrm>
            <a:off x="3900488" y="1560513"/>
            <a:ext cx="1481137" cy="230187"/>
          </a:xfrm>
          <a:prstGeom prst="rightArrow">
            <a:avLst>
              <a:gd name="adj1" fmla="val 50000"/>
              <a:gd name="adj2" fmla="val 108370"/>
            </a:avLst>
          </a:prstGeom>
          <a:noFill/>
          <a:ln w="9525" cap="flat" cmpd="sng" algn="ctr">
            <a:solidFill>
              <a:srgbClr val="0070C0"/>
            </a:solidFill>
            <a:prstDash val="solid"/>
            <a:round/>
            <a:headEnd type="none" w="med" len="med"/>
            <a:tailEnd type="none" w="med" len="med"/>
          </a:ln>
          <a:effectLst/>
        </p:spPr>
        <p:txBody>
          <a:bodyPr/>
          <a:lstStyle/>
          <a:p>
            <a:pPr fontAlgn="auto">
              <a:spcBef>
                <a:spcPts val="0"/>
              </a:spcBef>
              <a:spcAft>
                <a:spcPts val="0"/>
              </a:spcAft>
              <a:defRPr/>
            </a:pPr>
            <a:endParaRPr lang="zh-CN" altLang="en-US" b="1">
              <a:ln>
                <a:solidFill>
                  <a:srgbClr val="002060"/>
                </a:solidFill>
              </a:ln>
              <a:solidFill>
                <a:prstClr val="black"/>
              </a:solidFill>
              <a:latin typeface="+mn-lt"/>
              <a:ea typeface="+mn-ea"/>
            </a:endParaRPr>
          </a:p>
        </p:txBody>
      </p:sp>
      <p:sp>
        <p:nvSpPr>
          <p:cNvPr id="32" name="Rectangle 42"/>
          <p:cNvSpPr>
            <a:spLocks noChangeArrowheads="1"/>
          </p:cNvSpPr>
          <p:nvPr/>
        </p:nvSpPr>
        <p:spPr bwMode="auto">
          <a:xfrm>
            <a:off x="4324350" y="1363663"/>
            <a:ext cx="355600" cy="328612"/>
          </a:xfrm>
          <a:prstGeom prst="rect">
            <a:avLst/>
          </a:prstGeom>
          <a:noFill/>
          <a:ln w="9525">
            <a:noFill/>
            <a:miter lim="800000"/>
            <a:headEnd/>
            <a:tailEnd/>
          </a:ln>
        </p:spPr>
        <p:txBody>
          <a:bodyPr wrap="none">
            <a:spAutoFit/>
          </a:bodyPr>
          <a:lstStyle/>
          <a:p>
            <a:pPr>
              <a:lnSpc>
                <a:spcPct val="110000"/>
              </a:lnSpc>
            </a:pPr>
            <a:r>
              <a:rPr kumimoji="1" lang="en-US" altLang="zh-CN" sz="1500" b="1" i="1">
                <a:solidFill>
                  <a:srgbClr val="FF0000"/>
                </a:solidFill>
                <a:latin typeface="Times New Roman" pitchFamily="18" charset="0"/>
              </a:rPr>
              <a:t>W</a:t>
            </a:r>
          </a:p>
        </p:txBody>
      </p:sp>
      <p:sp>
        <p:nvSpPr>
          <p:cNvPr id="33" name="Rectangle 43"/>
          <p:cNvSpPr>
            <a:spLocks noChangeArrowheads="1"/>
          </p:cNvSpPr>
          <p:nvPr/>
        </p:nvSpPr>
        <p:spPr bwMode="auto">
          <a:xfrm>
            <a:off x="4314825" y="1673225"/>
            <a:ext cx="323850" cy="322263"/>
          </a:xfrm>
          <a:prstGeom prst="rect">
            <a:avLst/>
          </a:prstGeom>
          <a:noFill/>
          <a:ln w="9525">
            <a:noFill/>
            <a:miter lim="800000"/>
            <a:headEnd/>
            <a:tailEnd/>
          </a:ln>
        </p:spPr>
        <p:txBody>
          <a:bodyPr wrap="none">
            <a:spAutoFit/>
          </a:bodyPr>
          <a:lstStyle/>
          <a:p>
            <a:r>
              <a:rPr kumimoji="1" lang="en-US" altLang="zh-CN" sz="1500" b="1" i="1">
                <a:solidFill>
                  <a:srgbClr val="FF0000"/>
                </a:solidFill>
                <a:latin typeface="Times New Roman" pitchFamily="18" charset="0"/>
              </a:rPr>
              <a:t>Q</a:t>
            </a:r>
          </a:p>
        </p:txBody>
      </p:sp>
      <p:sp>
        <p:nvSpPr>
          <p:cNvPr id="34" name="Text Box 29"/>
          <p:cNvSpPr txBox="1">
            <a:spLocks noChangeArrowheads="1"/>
          </p:cNvSpPr>
          <p:nvPr/>
        </p:nvSpPr>
        <p:spPr bwMode="auto">
          <a:xfrm>
            <a:off x="1108075" y="2014538"/>
            <a:ext cx="5768975" cy="376237"/>
          </a:xfrm>
          <a:prstGeom prst="rect">
            <a:avLst/>
          </a:prstGeom>
          <a:noFill/>
          <a:ln w="9525">
            <a:noFill/>
            <a:miter lim="800000"/>
            <a:headEnd/>
            <a:tailEnd/>
          </a:ln>
        </p:spPr>
        <p:txBody>
          <a:bodyPr>
            <a:spAutoFit/>
          </a:bodyPr>
          <a:lstStyle/>
          <a:p>
            <a:pPr>
              <a:lnSpc>
                <a:spcPct val="110000"/>
              </a:lnSpc>
            </a:pPr>
            <a:r>
              <a:rPr kumimoji="1" lang="zh-CN" altLang="en-US" b="1">
                <a:solidFill>
                  <a:srgbClr val="000000"/>
                </a:solidFill>
                <a:latin typeface="华文中宋"/>
                <a:ea typeface="华文中宋"/>
                <a:cs typeface="华文中宋"/>
              </a:rPr>
              <a:t>对于任一过程</a:t>
            </a:r>
            <a:r>
              <a:rPr kumimoji="1" lang="zh-CN" altLang="en-US" b="1">
                <a:solidFill>
                  <a:srgbClr val="000000"/>
                </a:solidFill>
                <a:latin typeface="华文中宋"/>
                <a:ea typeface="华文中宋"/>
                <a:cs typeface="华文中宋"/>
                <a:sym typeface="Symbol" pitchFamily="18" charset="2"/>
              </a:rPr>
              <a:t>，依据</a:t>
            </a:r>
            <a:r>
              <a:rPr kumimoji="1" lang="zh-CN" altLang="en-US" b="1">
                <a:solidFill>
                  <a:srgbClr val="FF0000"/>
                </a:solidFill>
                <a:latin typeface="华文中宋"/>
                <a:ea typeface="华文中宋"/>
                <a:cs typeface="华文中宋"/>
                <a:sym typeface="Symbol" pitchFamily="18" charset="2"/>
              </a:rPr>
              <a:t>能量转化与守恒律</a:t>
            </a:r>
            <a:r>
              <a:rPr kumimoji="1" lang="zh-CN" altLang="en-US" b="1">
                <a:solidFill>
                  <a:srgbClr val="000000"/>
                </a:solidFill>
                <a:latin typeface="华文中宋"/>
                <a:ea typeface="华文中宋"/>
                <a:cs typeface="华文中宋"/>
                <a:sym typeface="Symbol" pitchFamily="18" charset="2"/>
              </a:rPr>
              <a:t>：</a:t>
            </a:r>
          </a:p>
        </p:txBody>
      </p:sp>
      <p:graphicFrame>
        <p:nvGraphicFramePr>
          <p:cNvPr id="24599" name="Object 35"/>
          <p:cNvGraphicFramePr>
            <a:graphicFrameLocks noChangeAspect="1"/>
          </p:cNvGraphicFramePr>
          <p:nvPr/>
        </p:nvGraphicFramePr>
        <p:xfrm>
          <a:off x="3132138" y="2444750"/>
          <a:ext cx="2303462" cy="307975"/>
        </p:xfrm>
        <a:graphic>
          <a:graphicData uri="http://schemas.openxmlformats.org/presentationml/2006/ole">
            <p:oleObj spid="_x0000_s5155" name="Equation" r:id="rId4" imgW="1282700" imgH="228600" progId="Equation.DSMT4">
              <p:embed/>
            </p:oleObj>
          </a:graphicData>
        </a:graphic>
      </p:graphicFrame>
      <p:graphicFrame>
        <p:nvGraphicFramePr>
          <p:cNvPr id="24600" name="Object 36"/>
          <p:cNvGraphicFramePr>
            <a:graphicFrameLocks noChangeAspect="1"/>
          </p:cNvGraphicFramePr>
          <p:nvPr/>
        </p:nvGraphicFramePr>
        <p:xfrm>
          <a:off x="3348038" y="2824163"/>
          <a:ext cx="1728787" cy="323850"/>
        </p:xfrm>
        <a:graphic>
          <a:graphicData uri="http://schemas.openxmlformats.org/presentationml/2006/ole">
            <p:oleObj spid="_x0000_s5156" name="Equation" r:id="rId5" imgW="812447" imgH="203112" progId="Equation.DSMT4">
              <p:embed/>
            </p:oleObj>
          </a:graphicData>
        </a:graphic>
      </p:graphicFrame>
      <p:graphicFrame>
        <p:nvGraphicFramePr>
          <p:cNvPr id="24601" name="Object 37"/>
          <p:cNvGraphicFramePr>
            <a:graphicFrameLocks noChangeAspect="1"/>
          </p:cNvGraphicFramePr>
          <p:nvPr/>
        </p:nvGraphicFramePr>
        <p:xfrm>
          <a:off x="3348038" y="3952875"/>
          <a:ext cx="1666875" cy="307975"/>
        </p:xfrm>
        <a:graphic>
          <a:graphicData uri="http://schemas.openxmlformats.org/presentationml/2006/ole">
            <p:oleObj spid="_x0000_s5157" name="Equation" r:id="rId6" imgW="977476" imgH="203112" progId="Equation.DSMT4">
              <p:embed/>
            </p:oleObj>
          </a:graphicData>
        </a:graphic>
      </p:graphicFrame>
      <p:sp>
        <p:nvSpPr>
          <p:cNvPr id="22" name="Text Box 2"/>
          <p:cNvSpPr>
            <a:spLocks noChangeArrowheads="1"/>
          </p:cNvSpPr>
          <p:nvPr/>
        </p:nvSpPr>
        <p:spPr bwMode="auto">
          <a:xfrm>
            <a:off x="839788" y="874713"/>
            <a:ext cx="2593975" cy="400050"/>
          </a:xfrm>
          <a:prstGeom prst="homePlate">
            <a:avLst>
              <a:gd name="adj" fmla="val 49922"/>
            </a:avLst>
          </a:prstGeom>
          <a:solidFill>
            <a:srgbClr val="539A84"/>
          </a:solidFill>
          <a:ln w="9525">
            <a:noFill/>
            <a:miter lim="800000"/>
            <a:headEnd/>
            <a:tailEnd/>
          </a:ln>
        </p:spPr>
        <p:txBody>
          <a:bodyPr>
            <a:spAutoFit/>
          </a:bodyPr>
          <a:lstStyle/>
          <a:p>
            <a:pPr>
              <a:buFont typeface="Arial" charset="0"/>
              <a:buNone/>
            </a:pPr>
            <a:r>
              <a:rPr kumimoji="1" lang="zh-CN" altLang="en-US" sz="2000" b="1">
                <a:solidFill>
                  <a:srgbClr val="FFFFFF"/>
                </a:solidFill>
                <a:latin typeface="微软雅黑" pitchFamily="34" charset="-122"/>
                <a:ea typeface="微软雅黑" pitchFamily="34" charset="-122"/>
              </a:rPr>
              <a:t>一、热力学第一定律</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wipe(left)">
                                      <p:cBhvr>
                                        <p:cTn id="7" dur="500"/>
                                        <p:tgtEl>
                                          <p:spTgt spid="2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1"/>
                                        </p:tgtEl>
                                        <p:attrNameLst>
                                          <p:attrName>style.visibility</p:attrName>
                                        </p:attrNameLst>
                                      </p:cBhvr>
                                      <p:to>
                                        <p:strVal val="visible"/>
                                      </p:to>
                                    </p:set>
                                    <p:animEffect transition="in" filter="wipe(left)">
                                      <p:cBhvr>
                                        <p:cTn id="17" dur="500"/>
                                        <p:tgtEl>
                                          <p:spTgt spid="3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blinds(horizontal)">
                                      <p:cBhvr>
                                        <p:cTn id="22" dur="500"/>
                                        <p:tgtEl>
                                          <p:spTgt spid="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2"/>
                                        </p:tgtEl>
                                        <p:attrNameLst>
                                          <p:attrName>style.visibility</p:attrName>
                                        </p:attrNameLst>
                                      </p:cBhvr>
                                      <p:to>
                                        <p:strVal val="visible"/>
                                      </p:to>
                                    </p:set>
                                    <p:animEffect transition="in" filter="wipe(left)">
                                      <p:cBhvr>
                                        <p:cTn id="27" dur="500"/>
                                        <p:tgtEl>
                                          <p:spTgt spid="3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3"/>
                                        </p:tgtEl>
                                        <p:attrNameLst>
                                          <p:attrName>style.visibility</p:attrName>
                                        </p:attrNameLst>
                                      </p:cBhvr>
                                      <p:to>
                                        <p:strVal val="visible"/>
                                      </p:to>
                                    </p:set>
                                    <p:animEffect transition="in" filter="wipe(left)">
                                      <p:cBhvr>
                                        <p:cTn id="32" dur="500"/>
                                        <p:tgtEl>
                                          <p:spTgt spid="33"/>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34"/>
                                        </p:tgtEl>
                                        <p:attrNameLst>
                                          <p:attrName>style.visibility</p:attrName>
                                        </p:attrNameLst>
                                      </p:cBhvr>
                                      <p:to>
                                        <p:strVal val="visible"/>
                                      </p:to>
                                    </p:set>
                                    <p:animEffect transition="in" filter="wipe(left)">
                                      <p:cBhvr>
                                        <p:cTn id="37" dur="500"/>
                                        <p:tgtEl>
                                          <p:spTgt spid="34"/>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24599"/>
                                        </p:tgtEl>
                                        <p:attrNameLst>
                                          <p:attrName>style.visibility</p:attrName>
                                        </p:attrNameLst>
                                      </p:cBhvr>
                                      <p:to>
                                        <p:strVal val="visible"/>
                                      </p:to>
                                    </p:set>
                                    <p:animEffect transition="in" filter="blinds(horizontal)">
                                      <p:cBhvr>
                                        <p:cTn id="42" dur="500"/>
                                        <p:tgtEl>
                                          <p:spTgt spid="24599"/>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nodeType="clickEffect">
                                  <p:stCondLst>
                                    <p:cond delay="0"/>
                                  </p:stCondLst>
                                  <p:childTnLst>
                                    <p:set>
                                      <p:cBhvr>
                                        <p:cTn id="46" dur="1" fill="hold">
                                          <p:stCondLst>
                                            <p:cond delay="0"/>
                                          </p:stCondLst>
                                        </p:cTn>
                                        <p:tgtEl>
                                          <p:spTgt spid="24600"/>
                                        </p:tgtEl>
                                        <p:attrNameLst>
                                          <p:attrName>style.visibility</p:attrName>
                                        </p:attrNameLst>
                                      </p:cBhvr>
                                      <p:to>
                                        <p:strVal val="visible"/>
                                      </p:to>
                                    </p:set>
                                    <p:animEffect transition="in" filter="blinds(horizontal)">
                                      <p:cBhvr>
                                        <p:cTn id="47" dur="500"/>
                                        <p:tgtEl>
                                          <p:spTgt spid="24600"/>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18" presetClass="entr" presetSubtype="12" fill="hold" grpId="0" nodeType="clickEffect">
                                  <p:stCondLst>
                                    <p:cond delay="0"/>
                                  </p:stCondLst>
                                  <p:childTnLst>
                                    <p:set>
                                      <p:cBhvr>
                                        <p:cTn id="51" dur="1" fill="hold">
                                          <p:stCondLst>
                                            <p:cond delay="0"/>
                                          </p:stCondLst>
                                        </p:cTn>
                                        <p:tgtEl>
                                          <p:spTgt spid="10357"/>
                                        </p:tgtEl>
                                        <p:attrNameLst>
                                          <p:attrName>style.visibility</p:attrName>
                                        </p:attrNameLst>
                                      </p:cBhvr>
                                      <p:to>
                                        <p:strVal val="visible"/>
                                      </p:to>
                                    </p:set>
                                    <p:animEffect transition="in" filter="strips(downLeft)">
                                      <p:cBhvr>
                                        <p:cTn id="52" dur="500"/>
                                        <p:tgtEl>
                                          <p:spTgt spid="10357"/>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18" presetClass="entr" presetSubtype="12" fill="hold" grpId="0" nodeType="clickEffect">
                                  <p:stCondLst>
                                    <p:cond delay="0"/>
                                  </p:stCondLst>
                                  <p:childTnLst>
                                    <p:set>
                                      <p:cBhvr>
                                        <p:cTn id="56" dur="1" fill="hold">
                                          <p:stCondLst>
                                            <p:cond delay="0"/>
                                          </p:stCondLst>
                                        </p:cTn>
                                        <p:tgtEl>
                                          <p:spTgt spid="10356"/>
                                        </p:tgtEl>
                                        <p:attrNameLst>
                                          <p:attrName>style.visibility</p:attrName>
                                        </p:attrNameLst>
                                      </p:cBhvr>
                                      <p:to>
                                        <p:strVal val="visible"/>
                                      </p:to>
                                    </p:set>
                                    <p:animEffect transition="in" filter="strips(downLeft)">
                                      <p:cBhvr>
                                        <p:cTn id="57" dur="500"/>
                                        <p:tgtEl>
                                          <p:spTgt spid="10356"/>
                                        </p:tgtEl>
                                      </p:cBhvr>
                                    </p:animEffect>
                                  </p:childTnLst>
                                  <p:subTnLst>
                                    <p:audio>
                                      <p:cMediaNode>
                                        <p:cTn display="0" masterRel="sameClick">
                                          <p:stCondLst>
                                            <p:cond evt="begin" delay="0">
                                              <p:tn val="55"/>
                                            </p:cond>
                                          </p:stCondLst>
                                          <p:endCondLst>
                                            <p:cond evt="onStopAudio" delay="0">
                                              <p:tgtEl>
                                                <p:sldTgt/>
                                              </p:tgtEl>
                                            </p:cond>
                                          </p:endCondLst>
                                        </p:cTn>
                                        <p:tgtEl>
                                          <p:sndTgt r:embed="rId3" name="camera.wav"/>
                                        </p:tgtEl>
                                      </p:cMediaNode>
                                    </p:audio>
                                  </p:subTnLst>
                                </p:cTn>
                              </p:par>
                            </p:childTnLst>
                          </p:cTn>
                        </p:par>
                      </p:childTnLst>
                    </p:cTn>
                  </p:par>
                  <p:par>
                    <p:cTn id="58" fill="hold" nodeType="clickPar">
                      <p:stCondLst>
                        <p:cond delay="indefinite"/>
                      </p:stCondLst>
                      <p:childTnLst>
                        <p:par>
                          <p:cTn id="59" fill="hold" nodeType="withGroup">
                            <p:stCondLst>
                              <p:cond delay="0"/>
                            </p:stCondLst>
                            <p:childTnLst>
                              <p:par>
                                <p:cTn id="60" presetID="3" presetClass="entr" presetSubtype="10" fill="hold" nodeType="clickEffect">
                                  <p:stCondLst>
                                    <p:cond delay="0"/>
                                  </p:stCondLst>
                                  <p:childTnLst>
                                    <p:set>
                                      <p:cBhvr>
                                        <p:cTn id="61" dur="1" fill="hold">
                                          <p:stCondLst>
                                            <p:cond delay="0"/>
                                          </p:stCondLst>
                                        </p:cTn>
                                        <p:tgtEl>
                                          <p:spTgt spid="24601"/>
                                        </p:tgtEl>
                                        <p:attrNameLst>
                                          <p:attrName>style.visibility</p:attrName>
                                        </p:attrNameLst>
                                      </p:cBhvr>
                                      <p:to>
                                        <p:strVal val="visible"/>
                                      </p:to>
                                    </p:set>
                                    <p:animEffect transition="in" filter="blinds(horizontal)">
                                      <p:cBhvr>
                                        <p:cTn id="62" dur="500"/>
                                        <p:tgtEl>
                                          <p:spTgt spid="24601"/>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18" presetClass="entr" presetSubtype="12" fill="hold" grpId="0" nodeType="clickEffect">
                                  <p:stCondLst>
                                    <p:cond delay="0"/>
                                  </p:stCondLst>
                                  <p:childTnLst>
                                    <p:set>
                                      <p:cBhvr>
                                        <p:cTn id="66" dur="1" fill="hold">
                                          <p:stCondLst>
                                            <p:cond delay="0"/>
                                          </p:stCondLst>
                                        </p:cTn>
                                        <p:tgtEl>
                                          <p:spTgt spid="10365"/>
                                        </p:tgtEl>
                                        <p:attrNameLst>
                                          <p:attrName>style.visibility</p:attrName>
                                        </p:attrNameLst>
                                      </p:cBhvr>
                                      <p:to>
                                        <p:strVal val="visible"/>
                                      </p:to>
                                    </p:set>
                                    <p:animEffect transition="in" filter="strips(downLeft)">
                                      <p:cBhvr>
                                        <p:cTn id="67" dur="500"/>
                                        <p:tgtEl>
                                          <p:spTgt spid="103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56" grpId="0" autoUpdateAnimBg="0"/>
      <p:bldP spid="10357" grpId="0" autoUpdateAnimBg="0"/>
      <p:bldP spid="10365" grpId="0" autoUpdateAnimBg="0"/>
      <p:bldP spid="31" grpId="0" animBg="1"/>
      <p:bldP spid="32" grpId="0"/>
      <p:bldP spid="33" grpId="0"/>
      <p:bldP spid="34" grpId="0"/>
      <p:bldP spid="2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3" name="Text Box 7"/>
          <p:cNvSpPr txBox="1">
            <a:spLocks noChangeArrowheads="1"/>
          </p:cNvSpPr>
          <p:nvPr/>
        </p:nvSpPr>
        <p:spPr bwMode="auto">
          <a:xfrm>
            <a:off x="1116013" y="1765300"/>
            <a:ext cx="5541962" cy="369888"/>
          </a:xfrm>
          <a:prstGeom prst="rect">
            <a:avLst/>
          </a:prstGeom>
          <a:noFill/>
          <a:ln w="9525">
            <a:noFill/>
            <a:miter lim="800000"/>
            <a:headEnd/>
            <a:tailEnd/>
          </a:ln>
        </p:spPr>
        <p:txBody>
          <a:bodyPr>
            <a:spAutoFit/>
          </a:bodyPr>
          <a:lstStyle/>
          <a:p>
            <a:pPr eaLnBrk="0" hangingPunct="0"/>
            <a:r>
              <a:rPr lang="zh-CN" altLang="en-US" b="1">
                <a:solidFill>
                  <a:srgbClr val="C0504D"/>
                </a:solidFill>
                <a:latin typeface="华文中宋"/>
                <a:ea typeface="华文中宋"/>
                <a:cs typeface="华文中宋"/>
              </a:rPr>
              <a:t>各物理量的单位统一用国际单位制</a:t>
            </a:r>
          </a:p>
        </p:txBody>
      </p:sp>
      <p:sp>
        <p:nvSpPr>
          <p:cNvPr id="37" name="Text Box 32"/>
          <p:cNvSpPr txBox="1">
            <a:spLocks noChangeArrowheads="1"/>
          </p:cNvSpPr>
          <p:nvPr/>
        </p:nvSpPr>
        <p:spPr bwMode="auto">
          <a:xfrm>
            <a:off x="1187450" y="773113"/>
            <a:ext cx="5959475" cy="1006475"/>
          </a:xfrm>
          <a:prstGeom prst="rect">
            <a:avLst/>
          </a:prstGeom>
          <a:noFill/>
          <a:ln w="9525">
            <a:noFill/>
            <a:miter lim="800000"/>
            <a:headEnd/>
            <a:tailEnd/>
          </a:ln>
        </p:spPr>
        <p:txBody>
          <a:bodyPr anchor="ctr">
            <a:spAutoFit/>
          </a:bodyPr>
          <a:lstStyle/>
          <a:p>
            <a:pPr>
              <a:lnSpc>
                <a:spcPct val="110000"/>
              </a:lnSpc>
            </a:pPr>
            <a:r>
              <a:rPr kumimoji="1" lang="zh-CN" altLang="en-US" b="1">
                <a:solidFill>
                  <a:srgbClr val="FF0000"/>
                </a:solidFill>
                <a:latin typeface="Times New Roman" pitchFamily="18" charset="0"/>
                <a:ea typeface="华文中宋"/>
                <a:cs typeface="华文中宋"/>
              </a:rPr>
              <a:t>符号规定</a:t>
            </a:r>
            <a:r>
              <a:rPr kumimoji="1" lang="en-US" altLang="zh-CN" b="1">
                <a:solidFill>
                  <a:srgbClr val="FF0000"/>
                </a:solidFill>
                <a:latin typeface="Times New Roman" pitchFamily="18" charset="0"/>
                <a:ea typeface="华文中宋"/>
                <a:cs typeface="华文中宋"/>
              </a:rPr>
              <a:t>:</a:t>
            </a:r>
            <a:r>
              <a:rPr kumimoji="1" lang="en-US" altLang="zh-CN" b="1">
                <a:solidFill>
                  <a:srgbClr val="000000"/>
                </a:solidFill>
                <a:latin typeface="Times New Roman" pitchFamily="18" charset="0"/>
                <a:ea typeface="华文中宋"/>
                <a:cs typeface="华文中宋"/>
              </a:rPr>
              <a:t>    </a:t>
            </a:r>
            <a:r>
              <a:rPr kumimoji="1" lang="zh-CN" altLang="en-US" b="1">
                <a:solidFill>
                  <a:srgbClr val="000000"/>
                </a:solidFill>
                <a:latin typeface="Times New Roman" pitchFamily="18" charset="0"/>
                <a:ea typeface="华文中宋"/>
                <a:cs typeface="华文中宋"/>
              </a:rPr>
              <a:t>系统吸热               </a:t>
            </a:r>
            <a:r>
              <a:rPr kumimoji="1" lang="en-US" altLang="zh-CN" b="1" i="1">
                <a:solidFill>
                  <a:srgbClr val="000000"/>
                </a:solidFill>
                <a:latin typeface="Times New Roman" pitchFamily="18" charset="0"/>
                <a:ea typeface="华文中宋"/>
                <a:cs typeface="华文中宋"/>
              </a:rPr>
              <a:t>Q</a:t>
            </a:r>
            <a:r>
              <a:rPr kumimoji="1" lang="en-US" altLang="zh-CN" b="1">
                <a:solidFill>
                  <a:srgbClr val="000000"/>
                </a:solidFill>
                <a:latin typeface="Times New Roman" pitchFamily="18" charset="0"/>
                <a:ea typeface="华文中宋"/>
                <a:cs typeface="华文中宋"/>
              </a:rPr>
              <a:t>  &gt;  0 </a:t>
            </a:r>
          </a:p>
          <a:p>
            <a:pPr>
              <a:lnSpc>
                <a:spcPct val="110000"/>
              </a:lnSpc>
            </a:pPr>
            <a:r>
              <a:rPr kumimoji="1" lang="en-US" altLang="zh-CN" b="1">
                <a:solidFill>
                  <a:srgbClr val="000000"/>
                </a:solidFill>
                <a:latin typeface="Times New Roman" pitchFamily="18" charset="0"/>
                <a:ea typeface="华文中宋"/>
                <a:cs typeface="华文中宋"/>
              </a:rPr>
              <a:t>                     </a:t>
            </a:r>
            <a:r>
              <a:rPr kumimoji="1" lang="zh-CN" altLang="en-US" b="1">
                <a:solidFill>
                  <a:srgbClr val="000000"/>
                </a:solidFill>
                <a:latin typeface="Times New Roman" pitchFamily="18" charset="0"/>
                <a:ea typeface="华文中宋"/>
                <a:cs typeface="华文中宋"/>
              </a:rPr>
              <a:t>系统内能增加       </a:t>
            </a:r>
            <a:r>
              <a:rPr kumimoji="1" lang="zh-CN" altLang="en-US" b="1">
                <a:solidFill>
                  <a:srgbClr val="000000"/>
                </a:solidFill>
                <a:latin typeface="Times New Roman" pitchFamily="18" charset="0"/>
                <a:ea typeface="华文中宋"/>
                <a:cs typeface="华文中宋"/>
                <a:sym typeface="Symbol" pitchFamily="18" charset="2"/>
              </a:rPr>
              <a:t></a:t>
            </a:r>
            <a:r>
              <a:rPr kumimoji="1" lang="en-US" altLang="zh-CN" b="1" i="1">
                <a:solidFill>
                  <a:srgbClr val="000000"/>
                </a:solidFill>
                <a:latin typeface="Times New Roman" pitchFamily="18" charset="0"/>
                <a:ea typeface="华文中宋"/>
                <a:cs typeface="华文中宋"/>
              </a:rPr>
              <a:t>E</a:t>
            </a:r>
            <a:r>
              <a:rPr kumimoji="1" lang="en-US" altLang="zh-CN" b="1">
                <a:solidFill>
                  <a:srgbClr val="000000"/>
                </a:solidFill>
                <a:latin typeface="Times New Roman" pitchFamily="18" charset="0"/>
                <a:ea typeface="华文中宋"/>
                <a:cs typeface="华文中宋"/>
              </a:rPr>
              <a:t> &gt; 0 </a:t>
            </a:r>
          </a:p>
          <a:p>
            <a:pPr>
              <a:lnSpc>
                <a:spcPct val="110000"/>
              </a:lnSpc>
            </a:pPr>
            <a:r>
              <a:rPr kumimoji="1" lang="en-US" altLang="zh-CN" b="1">
                <a:solidFill>
                  <a:srgbClr val="000000"/>
                </a:solidFill>
                <a:latin typeface="Times New Roman" pitchFamily="18" charset="0"/>
                <a:ea typeface="华文中宋"/>
                <a:cs typeface="华文中宋"/>
              </a:rPr>
              <a:t>                     </a:t>
            </a:r>
            <a:r>
              <a:rPr kumimoji="1" lang="zh-CN" altLang="en-US" b="1">
                <a:solidFill>
                  <a:srgbClr val="000000"/>
                </a:solidFill>
                <a:latin typeface="Times New Roman" pitchFamily="18" charset="0"/>
                <a:ea typeface="华文中宋"/>
                <a:cs typeface="华文中宋"/>
              </a:rPr>
              <a:t>系统对外界作功   </a:t>
            </a:r>
            <a:r>
              <a:rPr kumimoji="1" lang="en-US" altLang="zh-CN" b="1" i="1">
                <a:solidFill>
                  <a:srgbClr val="000000"/>
                </a:solidFill>
                <a:latin typeface="Times New Roman" pitchFamily="18" charset="0"/>
                <a:ea typeface="华文中宋"/>
                <a:cs typeface="华文中宋"/>
              </a:rPr>
              <a:t>W   </a:t>
            </a:r>
            <a:r>
              <a:rPr kumimoji="1" lang="en-US" altLang="zh-CN" b="1">
                <a:solidFill>
                  <a:srgbClr val="000000"/>
                </a:solidFill>
                <a:latin typeface="Times New Roman" pitchFamily="18" charset="0"/>
                <a:ea typeface="华文中宋"/>
                <a:cs typeface="华文中宋"/>
              </a:rPr>
              <a:t>&gt; 0 </a:t>
            </a:r>
          </a:p>
        </p:txBody>
      </p:sp>
      <p:sp>
        <p:nvSpPr>
          <p:cNvPr id="18" name="Text Box 5"/>
          <p:cNvSpPr txBox="1">
            <a:spLocks noChangeArrowheads="1"/>
          </p:cNvSpPr>
          <p:nvPr/>
        </p:nvSpPr>
        <p:spPr bwMode="auto">
          <a:xfrm>
            <a:off x="1177925" y="2268538"/>
            <a:ext cx="6778625" cy="374650"/>
          </a:xfrm>
          <a:prstGeom prst="rect">
            <a:avLst/>
          </a:prstGeom>
          <a:noFill/>
          <a:ln w="9525">
            <a:noFill/>
            <a:miter lim="800000"/>
            <a:headEnd/>
            <a:tailEnd/>
          </a:ln>
        </p:spPr>
        <p:txBody>
          <a:bodyPr>
            <a:spAutoFit/>
          </a:bodyPr>
          <a:lstStyle/>
          <a:p>
            <a:pPr>
              <a:lnSpc>
                <a:spcPct val="110000"/>
              </a:lnSpc>
            </a:pPr>
            <a:r>
              <a:rPr kumimoji="1" lang="zh-CN" altLang="en-US" b="1">
                <a:solidFill>
                  <a:srgbClr val="000000"/>
                </a:solidFill>
                <a:latin typeface="华文中宋"/>
                <a:ea typeface="华文中宋"/>
                <a:cs typeface="华文中宋"/>
                <a:sym typeface="Symbol" pitchFamily="18" charset="2"/>
              </a:rPr>
              <a:t>另一</a:t>
            </a:r>
            <a:r>
              <a:rPr kumimoji="1" lang="zh-CN" altLang="en-US" b="1">
                <a:solidFill>
                  <a:srgbClr val="000000"/>
                </a:solidFill>
                <a:latin typeface="华文中宋"/>
                <a:ea typeface="华文中宋"/>
                <a:cs typeface="华文中宋"/>
              </a:rPr>
              <a:t>种表述：第一类永动机是不可能制成的。</a:t>
            </a:r>
          </a:p>
        </p:txBody>
      </p:sp>
      <p:sp>
        <p:nvSpPr>
          <p:cNvPr id="27" name="Text Box 26"/>
          <p:cNvSpPr txBox="1">
            <a:spLocks noChangeArrowheads="1"/>
          </p:cNvSpPr>
          <p:nvPr/>
        </p:nvSpPr>
        <p:spPr bwMode="auto">
          <a:xfrm>
            <a:off x="539750" y="3598863"/>
            <a:ext cx="8135938" cy="1004887"/>
          </a:xfrm>
          <a:prstGeom prst="rect">
            <a:avLst/>
          </a:prstGeom>
          <a:noFill/>
          <a:ln w="9525">
            <a:noFill/>
            <a:miter lim="800000"/>
            <a:headEnd/>
            <a:tailEnd/>
          </a:ln>
        </p:spPr>
        <p:txBody>
          <a:bodyPr>
            <a:spAutoFit/>
          </a:bodyPr>
          <a:lstStyle/>
          <a:p>
            <a:pPr algn="ctr">
              <a:lnSpc>
                <a:spcPct val="110000"/>
              </a:lnSpc>
            </a:pPr>
            <a:r>
              <a:rPr kumimoji="1" lang="zh-CN" altLang="en-US" b="1">
                <a:solidFill>
                  <a:srgbClr val="000000"/>
                </a:solidFill>
                <a:latin typeface="Times New Roman" pitchFamily="18" charset="0"/>
                <a:ea typeface="华文中宋"/>
                <a:cs typeface="华文中宋"/>
                <a:sym typeface="Symbol" pitchFamily="18" charset="2"/>
              </a:rPr>
              <a:t>既要“马儿跑”          </a:t>
            </a:r>
            <a:r>
              <a:rPr kumimoji="1" lang="en-US" altLang="zh-CN" b="1">
                <a:solidFill>
                  <a:srgbClr val="000000"/>
                </a:solidFill>
                <a:latin typeface="Times New Roman" pitchFamily="18" charset="0"/>
                <a:ea typeface="华文中宋"/>
                <a:cs typeface="华文中宋"/>
                <a:sym typeface="Symbol" pitchFamily="18" charset="2"/>
              </a:rPr>
              <a:t>(</a:t>
            </a:r>
            <a:r>
              <a:rPr kumimoji="1" lang="en-US" altLang="zh-CN" b="1" i="1">
                <a:solidFill>
                  <a:srgbClr val="0000FF"/>
                </a:solidFill>
                <a:latin typeface="Times New Roman" pitchFamily="18" charset="0"/>
                <a:ea typeface="华文中宋"/>
                <a:cs typeface="华文中宋"/>
                <a:sym typeface="Symbol" pitchFamily="18" charset="2"/>
              </a:rPr>
              <a:t>W</a:t>
            </a:r>
            <a:r>
              <a:rPr kumimoji="1" lang="en-US" altLang="zh-CN" b="1">
                <a:solidFill>
                  <a:srgbClr val="0000FF"/>
                </a:solidFill>
                <a:latin typeface="Times New Roman" pitchFamily="18" charset="0"/>
                <a:ea typeface="华文中宋"/>
                <a:cs typeface="华文中宋"/>
                <a:sym typeface="Symbol" pitchFamily="18" charset="2"/>
              </a:rPr>
              <a:t>&gt;0</a:t>
            </a:r>
            <a:r>
              <a:rPr kumimoji="1" lang="en-US" altLang="zh-CN" b="1">
                <a:solidFill>
                  <a:srgbClr val="000000"/>
                </a:solidFill>
                <a:latin typeface="Times New Roman" pitchFamily="18" charset="0"/>
                <a:ea typeface="华文中宋"/>
                <a:cs typeface="华文中宋"/>
                <a:sym typeface="Symbol" pitchFamily="18" charset="2"/>
              </a:rPr>
              <a:t>)</a:t>
            </a:r>
            <a:r>
              <a:rPr kumimoji="1" lang="zh-CN" altLang="en-US" b="1">
                <a:solidFill>
                  <a:srgbClr val="000000"/>
                </a:solidFill>
                <a:latin typeface="Times New Roman" pitchFamily="18" charset="0"/>
                <a:ea typeface="华文中宋"/>
                <a:cs typeface="华文中宋"/>
                <a:sym typeface="Symbol" pitchFamily="18" charset="2"/>
              </a:rPr>
              <a:t>，</a:t>
            </a:r>
            <a:endParaRPr kumimoji="1" lang="en-US" altLang="zh-CN" b="1">
              <a:solidFill>
                <a:srgbClr val="000000"/>
              </a:solidFill>
              <a:latin typeface="Times New Roman" pitchFamily="18" charset="0"/>
              <a:ea typeface="华文中宋"/>
              <a:cs typeface="华文中宋"/>
              <a:sym typeface="Symbol" pitchFamily="18" charset="2"/>
            </a:endParaRPr>
          </a:p>
          <a:p>
            <a:pPr algn="ctr">
              <a:lnSpc>
                <a:spcPct val="110000"/>
              </a:lnSpc>
            </a:pPr>
            <a:r>
              <a:rPr kumimoji="1" lang="zh-CN" altLang="en-US" b="1">
                <a:solidFill>
                  <a:srgbClr val="000000"/>
                </a:solidFill>
                <a:latin typeface="Times New Roman" pitchFamily="18" charset="0"/>
                <a:ea typeface="华文中宋"/>
                <a:cs typeface="华文中宋"/>
                <a:sym typeface="Symbol" pitchFamily="18" charset="2"/>
              </a:rPr>
              <a:t>又要“马儿不吃草” </a:t>
            </a:r>
            <a:r>
              <a:rPr kumimoji="1" lang="en-US" altLang="zh-CN" b="1">
                <a:solidFill>
                  <a:srgbClr val="000000"/>
                </a:solidFill>
                <a:latin typeface="Times New Roman" pitchFamily="18" charset="0"/>
                <a:ea typeface="华文中宋"/>
                <a:cs typeface="华文中宋"/>
                <a:sym typeface="Symbol" pitchFamily="18" charset="2"/>
              </a:rPr>
              <a:t>(</a:t>
            </a:r>
            <a:r>
              <a:rPr kumimoji="1" lang="en-US" altLang="zh-CN" b="1" i="1">
                <a:solidFill>
                  <a:srgbClr val="0000FF"/>
                </a:solidFill>
                <a:latin typeface="Times New Roman" pitchFamily="18" charset="0"/>
                <a:ea typeface="华文中宋"/>
                <a:cs typeface="华文中宋"/>
                <a:sym typeface="Symbol" pitchFamily="18" charset="2"/>
              </a:rPr>
              <a:t>Q</a:t>
            </a:r>
            <a:r>
              <a:rPr kumimoji="1" lang="en-US" altLang="zh-CN" b="1">
                <a:solidFill>
                  <a:srgbClr val="0000FF"/>
                </a:solidFill>
                <a:latin typeface="Times New Roman" pitchFamily="18" charset="0"/>
                <a:ea typeface="华文中宋"/>
                <a:cs typeface="华文中宋"/>
                <a:sym typeface="Symbol" pitchFamily="18" charset="2"/>
              </a:rPr>
              <a:t>=0</a:t>
            </a:r>
            <a:r>
              <a:rPr kumimoji="1" lang="en-US" altLang="zh-CN" b="1">
                <a:solidFill>
                  <a:srgbClr val="000000"/>
                </a:solidFill>
                <a:latin typeface="Times New Roman" pitchFamily="18" charset="0"/>
                <a:ea typeface="华文中宋"/>
                <a:cs typeface="华文中宋"/>
                <a:sym typeface="Symbol" pitchFamily="18" charset="2"/>
              </a:rPr>
              <a:t>)</a:t>
            </a:r>
            <a:r>
              <a:rPr kumimoji="1" lang="zh-CN" altLang="en-US" b="1">
                <a:solidFill>
                  <a:srgbClr val="000000"/>
                </a:solidFill>
                <a:latin typeface="Times New Roman" pitchFamily="18" charset="0"/>
                <a:ea typeface="华文中宋"/>
                <a:cs typeface="华文中宋"/>
                <a:sym typeface="Symbol" pitchFamily="18" charset="2"/>
              </a:rPr>
              <a:t>，</a:t>
            </a:r>
            <a:endParaRPr kumimoji="1" lang="en-US" altLang="zh-CN" b="1">
              <a:solidFill>
                <a:srgbClr val="000000"/>
              </a:solidFill>
              <a:latin typeface="Times New Roman" pitchFamily="18" charset="0"/>
              <a:ea typeface="华文中宋"/>
              <a:cs typeface="华文中宋"/>
              <a:sym typeface="Symbol" pitchFamily="18" charset="2"/>
            </a:endParaRPr>
          </a:p>
          <a:p>
            <a:pPr algn="ctr">
              <a:lnSpc>
                <a:spcPct val="110000"/>
              </a:lnSpc>
            </a:pPr>
            <a:r>
              <a:rPr kumimoji="1" lang="zh-CN" altLang="en-US" b="1">
                <a:solidFill>
                  <a:srgbClr val="000000"/>
                </a:solidFill>
                <a:latin typeface="Times New Roman" pitchFamily="18" charset="0"/>
                <a:ea typeface="华文中宋"/>
                <a:cs typeface="华文中宋"/>
                <a:sym typeface="Symbol" pitchFamily="18" charset="2"/>
              </a:rPr>
              <a:t>还要“马儿不掉膘”    </a:t>
            </a:r>
            <a:r>
              <a:rPr kumimoji="1" lang="en-US" altLang="zh-CN" b="1">
                <a:solidFill>
                  <a:srgbClr val="000000"/>
                </a:solidFill>
                <a:latin typeface="Times New Roman" pitchFamily="18" charset="0"/>
                <a:ea typeface="华文中宋"/>
                <a:cs typeface="华文中宋"/>
                <a:sym typeface="Symbol" pitchFamily="18" charset="2"/>
              </a:rPr>
              <a:t>(</a:t>
            </a:r>
            <a:r>
              <a:rPr kumimoji="1" lang="en-US" altLang="zh-CN" b="1">
                <a:solidFill>
                  <a:srgbClr val="0000FF"/>
                </a:solidFill>
                <a:latin typeface="Times New Roman" pitchFamily="18" charset="0"/>
                <a:ea typeface="华文中宋"/>
                <a:cs typeface="华文中宋"/>
                <a:sym typeface="Symbol" pitchFamily="18" charset="2"/>
              </a:rPr>
              <a:t></a:t>
            </a:r>
            <a:r>
              <a:rPr kumimoji="1" lang="en-US" altLang="zh-CN" b="1" i="1">
                <a:solidFill>
                  <a:srgbClr val="0000FF"/>
                </a:solidFill>
                <a:latin typeface="Times New Roman" pitchFamily="18" charset="0"/>
                <a:ea typeface="华文中宋"/>
                <a:cs typeface="华文中宋"/>
                <a:sym typeface="Symbol" pitchFamily="18" charset="2"/>
              </a:rPr>
              <a:t>E</a:t>
            </a:r>
            <a:r>
              <a:rPr kumimoji="1" lang="en-US" altLang="zh-CN" b="1">
                <a:solidFill>
                  <a:srgbClr val="0000FF"/>
                </a:solidFill>
                <a:latin typeface="Times New Roman" pitchFamily="18" charset="0"/>
                <a:ea typeface="华文中宋"/>
                <a:cs typeface="华文中宋"/>
                <a:sym typeface="Symbol" pitchFamily="18" charset="2"/>
              </a:rPr>
              <a:t>=0</a:t>
            </a:r>
            <a:r>
              <a:rPr kumimoji="1" lang="en-US" altLang="zh-CN" b="1">
                <a:solidFill>
                  <a:srgbClr val="000000"/>
                </a:solidFill>
                <a:latin typeface="Times New Roman" pitchFamily="18" charset="0"/>
                <a:ea typeface="华文中宋"/>
                <a:cs typeface="华文中宋"/>
                <a:sym typeface="Symbol" pitchFamily="18" charset="2"/>
              </a:rPr>
              <a:t>) </a:t>
            </a:r>
            <a:r>
              <a:rPr kumimoji="1" lang="zh-CN" altLang="en-US" b="1">
                <a:solidFill>
                  <a:srgbClr val="000000"/>
                </a:solidFill>
                <a:latin typeface="Times New Roman" pitchFamily="18" charset="0"/>
                <a:ea typeface="华文中宋"/>
                <a:cs typeface="华文中宋"/>
                <a:sym typeface="Symbol" pitchFamily="18" charset="2"/>
              </a:rPr>
              <a:t>。</a:t>
            </a:r>
          </a:p>
        </p:txBody>
      </p:sp>
      <p:grpSp>
        <p:nvGrpSpPr>
          <p:cNvPr id="2" name="Group 22"/>
          <p:cNvGrpSpPr>
            <a:grpSpLocks/>
          </p:cNvGrpSpPr>
          <p:nvPr/>
        </p:nvGrpSpPr>
        <p:grpSpPr bwMode="auto">
          <a:xfrm>
            <a:off x="2001838" y="2644775"/>
            <a:ext cx="5075237" cy="863600"/>
            <a:chOff x="1261" y="2115"/>
            <a:chExt cx="3197" cy="725"/>
          </a:xfrm>
        </p:grpSpPr>
        <p:sp>
          <p:nvSpPr>
            <p:cNvPr id="65542" name="Text Box 22"/>
            <p:cNvSpPr txBox="1">
              <a:spLocks noChangeArrowheads="1"/>
            </p:cNvSpPr>
            <p:nvPr/>
          </p:nvSpPr>
          <p:spPr bwMode="auto">
            <a:xfrm>
              <a:off x="3878" y="2478"/>
              <a:ext cx="580" cy="275"/>
            </a:xfrm>
            <a:prstGeom prst="rect">
              <a:avLst/>
            </a:prstGeom>
            <a:noFill/>
            <a:ln w="9525">
              <a:noFill/>
              <a:miter lim="800000"/>
              <a:headEnd/>
              <a:tailEnd/>
            </a:ln>
          </p:spPr>
          <p:txBody>
            <a:bodyPr>
              <a:spAutoFit/>
            </a:bodyPr>
            <a:lstStyle/>
            <a:p>
              <a:pPr algn="ctr">
                <a:lnSpc>
                  <a:spcPct val="110000"/>
                </a:lnSpc>
              </a:pPr>
              <a:r>
                <a:rPr kumimoji="1" lang="en-US" altLang="zh-CN" sz="1500" b="1" i="1">
                  <a:solidFill>
                    <a:srgbClr val="3333FF"/>
                  </a:solidFill>
                  <a:latin typeface="Times New Roman" pitchFamily="18" charset="0"/>
                </a:rPr>
                <a:t>W</a:t>
              </a:r>
              <a:r>
                <a:rPr kumimoji="1" lang="en-US" altLang="zh-CN" sz="1500" b="1">
                  <a:solidFill>
                    <a:srgbClr val="3333FF"/>
                  </a:solidFill>
                  <a:latin typeface="Times New Roman" pitchFamily="18" charset="0"/>
                </a:rPr>
                <a:t>&gt;0</a:t>
              </a:r>
            </a:p>
          </p:txBody>
        </p:sp>
        <p:sp>
          <p:nvSpPr>
            <p:cNvPr id="65543" name="Text Box 12"/>
            <p:cNvSpPr txBox="1">
              <a:spLocks noChangeArrowheads="1"/>
            </p:cNvSpPr>
            <p:nvPr/>
          </p:nvSpPr>
          <p:spPr bwMode="auto">
            <a:xfrm>
              <a:off x="1261" y="2478"/>
              <a:ext cx="530" cy="275"/>
            </a:xfrm>
            <a:prstGeom prst="rect">
              <a:avLst/>
            </a:prstGeom>
            <a:noFill/>
            <a:ln w="9525">
              <a:noFill/>
              <a:miter lim="800000"/>
              <a:headEnd/>
              <a:tailEnd/>
            </a:ln>
          </p:spPr>
          <p:txBody>
            <a:bodyPr>
              <a:spAutoFit/>
            </a:bodyPr>
            <a:lstStyle/>
            <a:p>
              <a:pPr algn="ctr">
                <a:lnSpc>
                  <a:spcPct val="110000"/>
                </a:lnSpc>
              </a:pPr>
              <a:r>
                <a:rPr kumimoji="1" lang="en-US" altLang="zh-CN" sz="1500" b="1" i="1">
                  <a:solidFill>
                    <a:srgbClr val="3333FF"/>
                  </a:solidFill>
                  <a:latin typeface="Times New Roman" pitchFamily="18" charset="0"/>
                </a:rPr>
                <a:t>Q</a:t>
              </a:r>
              <a:r>
                <a:rPr kumimoji="1" lang="en-US" altLang="zh-CN" sz="1500" b="1">
                  <a:solidFill>
                    <a:srgbClr val="3333FF"/>
                  </a:solidFill>
                  <a:latin typeface="Times New Roman" pitchFamily="18" charset="0"/>
                </a:rPr>
                <a:t>=0</a:t>
              </a:r>
            </a:p>
          </p:txBody>
        </p:sp>
        <p:sp>
          <p:nvSpPr>
            <p:cNvPr id="65544" name="Text Box 13"/>
            <p:cNvSpPr txBox="1">
              <a:spLocks noChangeArrowheads="1"/>
            </p:cNvSpPr>
            <p:nvPr/>
          </p:nvSpPr>
          <p:spPr bwMode="auto">
            <a:xfrm>
              <a:off x="2556" y="2115"/>
              <a:ext cx="642" cy="275"/>
            </a:xfrm>
            <a:prstGeom prst="rect">
              <a:avLst/>
            </a:prstGeom>
            <a:noFill/>
            <a:ln w="9525">
              <a:noFill/>
              <a:miter lim="800000"/>
              <a:headEnd/>
              <a:tailEnd/>
            </a:ln>
          </p:spPr>
          <p:txBody>
            <a:bodyPr>
              <a:spAutoFit/>
            </a:bodyPr>
            <a:lstStyle/>
            <a:p>
              <a:pPr algn="ctr">
                <a:lnSpc>
                  <a:spcPct val="110000"/>
                </a:lnSpc>
              </a:pPr>
              <a:r>
                <a:rPr kumimoji="1" lang="en-US" altLang="zh-CN" sz="1500" b="1">
                  <a:solidFill>
                    <a:srgbClr val="3333FF"/>
                  </a:solidFill>
                  <a:latin typeface="Times New Roman" pitchFamily="18" charset="0"/>
                  <a:sym typeface="Symbol" pitchFamily="18" charset="2"/>
                </a:rPr>
                <a:t></a:t>
              </a:r>
              <a:r>
                <a:rPr kumimoji="1" lang="en-US" altLang="zh-CN" sz="1500" b="1" i="1">
                  <a:solidFill>
                    <a:srgbClr val="3333FF"/>
                  </a:solidFill>
                  <a:latin typeface="Times New Roman" pitchFamily="18" charset="0"/>
                </a:rPr>
                <a:t>E</a:t>
              </a:r>
              <a:r>
                <a:rPr kumimoji="1" lang="en-US" altLang="zh-CN" sz="1500" b="1">
                  <a:solidFill>
                    <a:srgbClr val="3333FF"/>
                  </a:solidFill>
                  <a:latin typeface="Times New Roman" pitchFamily="18" charset="0"/>
                </a:rPr>
                <a:t>=0</a:t>
              </a:r>
            </a:p>
          </p:txBody>
        </p:sp>
        <p:sp>
          <p:nvSpPr>
            <p:cNvPr id="65545" name="AutoShape 19"/>
            <p:cNvSpPr>
              <a:spLocks noChangeArrowheads="1"/>
            </p:cNvSpPr>
            <p:nvPr/>
          </p:nvSpPr>
          <p:spPr bwMode="auto">
            <a:xfrm>
              <a:off x="2426" y="2432"/>
              <a:ext cx="817" cy="408"/>
            </a:xfrm>
            <a:prstGeom prst="roundRect">
              <a:avLst>
                <a:gd name="adj" fmla="val 16667"/>
              </a:avLst>
            </a:prstGeom>
            <a:solidFill>
              <a:schemeClr val="accent1"/>
            </a:solidFill>
            <a:ln w="9525">
              <a:solidFill>
                <a:schemeClr val="tx1"/>
              </a:solidFill>
              <a:round/>
              <a:headEnd/>
              <a:tailEnd/>
            </a:ln>
          </p:spPr>
          <p:txBody>
            <a:bodyPr wrap="none" anchor="ctr"/>
            <a:lstStyle/>
            <a:p>
              <a:pPr algn="ctr"/>
              <a:r>
                <a:rPr kumimoji="1" lang="zh-CN" altLang="en-US" sz="1500" b="1">
                  <a:solidFill>
                    <a:srgbClr val="000000"/>
                  </a:solidFill>
                  <a:latin typeface="Times New Roman" pitchFamily="18" charset="0"/>
                  <a:ea typeface="华文中宋"/>
                  <a:cs typeface="华文中宋"/>
                </a:rPr>
                <a:t>永动机</a:t>
              </a:r>
            </a:p>
          </p:txBody>
        </p:sp>
        <p:sp>
          <p:nvSpPr>
            <p:cNvPr id="65546" name="Line 20"/>
            <p:cNvSpPr>
              <a:spLocks noChangeShapeType="1"/>
            </p:cNvSpPr>
            <p:nvPr/>
          </p:nvSpPr>
          <p:spPr bwMode="auto">
            <a:xfrm>
              <a:off x="1791" y="2659"/>
              <a:ext cx="590" cy="0"/>
            </a:xfrm>
            <a:prstGeom prst="line">
              <a:avLst/>
            </a:prstGeom>
            <a:noFill/>
            <a:ln w="101600">
              <a:solidFill>
                <a:srgbClr val="0000FF"/>
              </a:solidFill>
              <a:round/>
              <a:headEnd/>
              <a:tailEnd type="stealth" w="lg" len="lg"/>
            </a:ln>
          </p:spPr>
          <p:txBody>
            <a:bodyPr/>
            <a:lstStyle/>
            <a:p>
              <a:endParaRPr lang="zh-CN" altLang="en-US"/>
            </a:p>
          </p:txBody>
        </p:sp>
        <p:sp>
          <p:nvSpPr>
            <p:cNvPr id="65547" name="Line 21"/>
            <p:cNvSpPr>
              <a:spLocks noChangeShapeType="1"/>
            </p:cNvSpPr>
            <p:nvPr/>
          </p:nvSpPr>
          <p:spPr bwMode="auto">
            <a:xfrm>
              <a:off x="3288" y="2659"/>
              <a:ext cx="590" cy="0"/>
            </a:xfrm>
            <a:prstGeom prst="line">
              <a:avLst/>
            </a:prstGeom>
            <a:noFill/>
            <a:ln w="101600">
              <a:solidFill>
                <a:srgbClr val="0000FF"/>
              </a:solidFill>
              <a:round/>
              <a:headEnd/>
              <a:tailEnd type="stealth" w="lg" len="lg"/>
            </a:ln>
          </p:spPr>
          <p:txBody>
            <a:body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7">
                                            <p:txEl>
                                              <p:pRg st="0" end="0"/>
                                            </p:txEl>
                                          </p:spTgt>
                                        </p:tgtEl>
                                        <p:attrNameLst>
                                          <p:attrName>style.visibility</p:attrName>
                                        </p:attrNameLst>
                                      </p:cBhvr>
                                      <p:to>
                                        <p:strVal val="visible"/>
                                      </p:to>
                                    </p:set>
                                    <p:animEffect transition="in" filter="wipe(left)">
                                      <p:cBhvr>
                                        <p:cTn id="7" dur="500"/>
                                        <p:tgtEl>
                                          <p:spTgt spid="3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7">
                                            <p:txEl>
                                              <p:pRg st="1" end="1"/>
                                            </p:txEl>
                                          </p:spTgt>
                                        </p:tgtEl>
                                        <p:attrNameLst>
                                          <p:attrName>style.visibility</p:attrName>
                                        </p:attrNameLst>
                                      </p:cBhvr>
                                      <p:to>
                                        <p:strVal val="visible"/>
                                      </p:to>
                                    </p:set>
                                    <p:animEffect transition="in" filter="wipe(left)">
                                      <p:cBhvr>
                                        <p:cTn id="12" dur="500"/>
                                        <p:tgtEl>
                                          <p:spTgt spid="3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7">
                                            <p:txEl>
                                              <p:pRg st="2" end="2"/>
                                            </p:txEl>
                                          </p:spTgt>
                                        </p:tgtEl>
                                        <p:attrNameLst>
                                          <p:attrName>style.visibility</p:attrName>
                                        </p:attrNameLst>
                                      </p:cBhvr>
                                      <p:to>
                                        <p:strVal val="visible"/>
                                      </p:to>
                                    </p:set>
                                    <p:animEffect transition="in" filter="wipe(left)">
                                      <p:cBhvr>
                                        <p:cTn id="17" dur="500"/>
                                        <p:tgtEl>
                                          <p:spTgt spid="3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24583"/>
                                        </p:tgtEl>
                                        <p:attrNameLst>
                                          <p:attrName>style.visibility</p:attrName>
                                        </p:attrNameLst>
                                      </p:cBhvr>
                                      <p:to>
                                        <p:strVal val="visible"/>
                                      </p:to>
                                    </p:set>
                                    <p:animEffect transition="in" filter="box(in)">
                                      <p:cBhvr>
                                        <p:cTn id="22" dur="500"/>
                                        <p:tgtEl>
                                          <p:spTgt spid="2458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wipe(left)">
                                      <p:cBhvr>
                                        <p:cTn id="27" dur="500"/>
                                        <p:tgtEl>
                                          <p:spTgt spid="1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blinds(horizontal)">
                                      <p:cBhvr>
                                        <p:cTn id="32" dur="500"/>
                                        <p:tgtEl>
                                          <p:spTgt spid="2"/>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7">
                                            <p:txEl>
                                              <p:pRg st="0" end="0"/>
                                            </p:txEl>
                                          </p:spTgt>
                                        </p:tgtEl>
                                        <p:attrNameLst>
                                          <p:attrName>style.visibility</p:attrName>
                                        </p:attrNameLst>
                                      </p:cBhvr>
                                      <p:to>
                                        <p:strVal val="visible"/>
                                      </p:to>
                                    </p:set>
                                    <p:animEffect transition="in" filter="wipe(left)">
                                      <p:cBhvr>
                                        <p:cTn id="37" dur="500"/>
                                        <p:tgtEl>
                                          <p:spTgt spid="27">
                                            <p:txEl>
                                              <p:pRg st="0" end="0"/>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7">
                                            <p:txEl>
                                              <p:pRg st="1" end="1"/>
                                            </p:txEl>
                                          </p:spTgt>
                                        </p:tgtEl>
                                        <p:attrNameLst>
                                          <p:attrName>style.visibility</p:attrName>
                                        </p:attrNameLst>
                                      </p:cBhvr>
                                      <p:to>
                                        <p:strVal val="visible"/>
                                      </p:to>
                                    </p:set>
                                    <p:animEffect transition="in" filter="wipe(left)">
                                      <p:cBhvr>
                                        <p:cTn id="42" dur="500"/>
                                        <p:tgtEl>
                                          <p:spTgt spid="27">
                                            <p:txEl>
                                              <p:pRg st="1" end="1"/>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7">
                                            <p:txEl>
                                              <p:pRg st="2" end="2"/>
                                            </p:txEl>
                                          </p:spTgt>
                                        </p:tgtEl>
                                        <p:attrNameLst>
                                          <p:attrName>style.visibility</p:attrName>
                                        </p:attrNameLst>
                                      </p:cBhvr>
                                      <p:to>
                                        <p:strVal val="visible"/>
                                      </p:to>
                                    </p:set>
                                    <p:animEffect transition="in" filter="wipe(left)">
                                      <p:cBhvr>
                                        <p:cTn id="47" dur="500"/>
                                        <p:tgtEl>
                                          <p:spTgt spid="2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83" grpId="0" autoUpdateAnimBg="0"/>
      <p:bldP spid="37" grpId="0" build="p"/>
      <p:bldP spid="18" grpId="0" autoUpdateAnimBg="0"/>
      <p:bldP spid="27" grpId="0" build="p"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 Box 54"/>
          <p:cNvSpPr txBox="1">
            <a:spLocks noChangeArrowheads="1"/>
          </p:cNvSpPr>
          <p:nvPr/>
        </p:nvSpPr>
        <p:spPr bwMode="auto">
          <a:xfrm>
            <a:off x="901700" y="1338263"/>
            <a:ext cx="2182813" cy="369887"/>
          </a:xfrm>
          <a:prstGeom prst="rect">
            <a:avLst/>
          </a:prstGeom>
          <a:noFill/>
          <a:ln w="9525">
            <a:noFill/>
            <a:miter lim="800000"/>
            <a:headEnd/>
            <a:tailEnd/>
          </a:ln>
        </p:spPr>
        <p:txBody>
          <a:bodyPr>
            <a:spAutoFit/>
          </a:bodyPr>
          <a:lstStyle/>
          <a:p>
            <a:r>
              <a:rPr kumimoji="1" lang="en-US" altLang="zh-CN" b="1">
                <a:solidFill>
                  <a:srgbClr val="0000FF"/>
                </a:solidFill>
                <a:latin typeface="华文中宋"/>
                <a:ea typeface="华文中宋"/>
                <a:cs typeface="Times New Roman" pitchFamily="18" charset="0"/>
              </a:rPr>
              <a:t>1</a:t>
            </a:r>
            <a:r>
              <a:rPr kumimoji="1" lang="zh-CN" altLang="en-US" b="1">
                <a:solidFill>
                  <a:srgbClr val="0000FF"/>
                </a:solidFill>
                <a:latin typeface="华文中宋"/>
                <a:ea typeface="华文中宋"/>
                <a:cs typeface="Times New Roman" pitchFamily="18" charset="0"/>
              </a:rPr>
              <a:t>、等容过程</a:t>
            </a:r>
          </a:p>
        </p:txBody>
      </p:sp>
      <p:grpSp>
        <p:nvGrpSpPr>
          <p:cNvPr id="2" name="Group 55"/>
          <p:cNvGrpSpPr>
            <a:grpSpLocks/>
          </p:cNvGrpSpPr>
          <p:nvPr/>
        </p:nvGrpSpPr>
        <p:grpSpPr bwMode="auto">
          <a:xfrm>
            <a:off x="6300788" y="990600"/>
            <a:ext cx="2071687" cy="1581150"/>
            <a:chOff x="3711" y="490"/>
            <a:chExt cx="1305" cy="1328"/>
          </a:xfrm>
        </p:grpSpPr>
        <p:sp>
          <p:nvSpPr>
            <p:cNvPr id="6251" name="Line 56"/>
            <p:cNvSpPr>
              <a:spLocks noChangeShapeType="1"/>
            </p:cNvSpPr>
            <p:nvPr/>
          </p:nvSpPr>
          <p:spPr bwMode="auto">
            <a:xfrm>
              <a:off x="3901" y="1576"/>
              <a:ext cx="1002" cy="0"/>
            </a:xfrm>
            <a:prstGeom prst="line">
              <a:avLst/>
            </a:prstGeom>
            <a:noFill/>
            <a:ln w="9525">
              <a:solidFill>
                <a:srgbClr val="0070C0"/>
              </a:solidFill>
              <a:round/>
              <a:headEnd/>
              <a:tailEnd type="triangle" w="med" len="med"/>
            </a:ln>
          </p:spPr>
          <p:txBody>
            <a:bodyPr>
              <a:spAutoFit/>
            </a:bodyPr>
            <a:lstStyle/>
            <a:p>
              <a:endParaRPr lang="zh-CN" altLang="en-US"/>
            </a:p>
          </p:txBody>
        </p:sp>
        <p:sp>
          <p:nvSpPr>
            <p:cNvPr id="6252" name="Line 57"/>
            <p:cNvSpPr>
              <a:spLocks noChangeShapeType="1"/>
            </p:cNvSpPr>
            <p:nvPr/>
          </p:nvSpPr>
          <p:spPr bwMode="auto">
            <a:xfrm flipV="1">
              <a:off x="3907" y="636"/>
              <a:ext cx="0" cy="939"/>
            </a:xfrm>
            <a:prstGeom prst="line">
              <a:avLst/>
            </a:prstGeom>
            <a:noFill/>
            <a:ln w="9525">
              <a:solidFill>
                <a:srgbClr val="0070C0"/>
              </a:solidFill>
              <a:round/>
              <a:headEnd/>
              <a:tailEnd type="triangle" w="med" len="med"/>
            </a:ln>
          </p:spPr>
          <p:txBody>
            <a:bodyPr>
              <a:spAutoFit/>
            </a:bodyPr>
            <a:lstStyle/>
            <a:p>
              <a:endParaRPr lang="zh-CN" altLang="en-US"/>
            </a:p>
          </p:txBody>
        </p:sp>
        <p:sp>
          <p:nvSpPr>
            <p:cNvPr id="6253" name="Text Box 58"/>
            <p:cNvSpPr txBox="1">
              <a:spLocks noChangeArrowheads="1"/>
            </p:cNvSpPr>
            <p:nvPr/>
          </p:nvSpPr>
          <p:spPr bwMode="auto">
            <a:xfrm>
              <a:off x="3711" y="490"/>
              <a:ext cx="258" cy="275"/>
            </a:xfrm>
            <a:prstGeom prst="rect">
              <a:avLst/>
            </a:prstGeom>
            <a:noFill/>
            <a:ln w="9525">
              <a:noFill/>
              <a:miter lim="800000"/>
              <a:headEnd/>
              <a:tailEnd/>
            </a:ln>
          </p:spPr>
          <p:txBody>
            <a:bodyPr>
              <a:spAutoFit/>
            </a:bodyPr>
            <a:lstStyle/>
            <a:p>
              <a:pPr algn="ctr">
                <a:lnSpc>
                  <a:spcPct val="110000"/>
                </a:lnSpc>
              </a:pPr>
              <a:r>
                <a:rPr kumimoji="1" lang="en-US" altLang="zh-CN" sz="1500" b="1" i="1">
                  <a:solidFill>
                    <a:srgbClr val="000000"/>
                  </a:solidFill>
                  <a:latin typeface="Times New Roman" pitchFamily="18" charset="0"/>
                </a:rPr>
                <a:t>p</a:t>
              </a:r>
            </a:p>
          </p:txBody>
        </p:sp>
        <p:sp>
          <p:nvSpPr>
            <p:cNvPr id="6254" name="Text Box 59"/>
            <p:cNvSpPr txBox="1">
              <a:spLocks noChangeArrowheads="1"/>
            </p:cNvSpPr>
            <p:nvPr/>
          </p:nvSpPr>
          <p:spPr bwMode="auto">
            <a:xfrm>
              <a:off x="4819" y="1543"/>
              <a:ext cx="197" cy="275"/>
            </a:xfrm>
            <a:prstGeom prst="rect">
              <a:avLst/>
            </a:prstGeom>
            <a:noFill/>
            <a:ln w="9525">
              <a:noFill/>
              <a:miter lim="800000"/>
              <a:headEnd/>
              <a:tailEnd/>
            </a:ln>
          </p:spPr>
          <p:txBody>
            <a:bodyPr wrap="none">
              <a:spAutoFit/>
            </a:bodyPr>
            <a:lstStyle/>
            <a:p>
              <a:pPr algn="ctr">
                <a:lnSpc>
                  <a:spcPct val="110000"/>
                </a:lnSpc>
              </a:pPr>
              <a:r>
                <a:rPr kumimoji="1" lang="en-US" altLang="zh-CN" sz="1500" b="1" i="1">
                  <a:solidFill>
                    <a:srgbClr val="000000"/>
                  </a:solidFill>
                  <a:latin typeface="Times New Roman" pitchFamily="18" charset="0"/>
                </a:rPr>
                <a:t>V</a:t>
              </a:r>
            </a:p>
          </p:txBody>
        </p:sp>
        <p:sp>
          <p:nvSpPr>
            <p:cNvPr id="6255" name="Text Box 60"/>
            <p:cNvSpPr txBox="1">
              <a:spLocks noChangeArrowheads="1"/>
            </p:cNvSpPr>
            <p:nvPr/>
          </p:nvSpPr>
          <p:spPr bwMode="auto">
            <a:xfrm>
              <a:off x="4432" y="1531"/>
              <a:ext cx="237" cy="275"/>
            </a:xfrm>
            <a:prstGeom prst="rect">
              <a:avLst/>
            </a:prstGeom>
            <a:noFill/>
            <a:ln w="9525">
              <a:noFill/>
              <a:miter lim="800000"/>
              <a:headEnd/>
              <a:tailEnd/>
            </a:ln>
          </p:spPr>
          <p:txBody>
            <a:bodyPr wrap="none">
              <a:spAutoFit/>
            </a:bodyPr>
            <a:lstStyle/>
            <a:p>
              <a:pPr algn="ctr">
                <a:lnSpc>
                  <a:spcPct val="110000"/>
                </a:lnSpc>
              </a:pPr>
              <a:r>
                <a:rPr kumimoji="1" lang="en-US" altLang="zh-CN" sz="1500" b="1" i="1">
                  <a:solidFill>
                    <a:srgbClr val="000000"/>
                  </a:solidFill>
                  <a:latin typeface="Times New Roman" pitchFamily="18" charset="0"/>
                </a:rPr>
                <a:t>V</a:t>
              </a:r>
              <a:r>
                <a:rPr kumimoji="1" lang="en-US" altLang="zh-CN" sz="1500" b="1" baseline="-25000">
                  <a:solidFill>
                    <a:srgbClr val="000000"/>
                  </a:solidFill>
                  <a:latin typeface="Times New Roman" pitchFamily="18" charset="0"/>
                </a:rPr>
                <a:t>1</a:t>
              </a:r>
            </a:p>
          </p:txBody>
        </p:sp>
        <p:sp>
          <p:nvSpPr>
            <p:cNvPr id="6256" name="Text Box 61"/>
            <p:cNvSpPr txBox="1">
              <a:spLocks noChangeArrowheads="1"/>
            </p:cNvSpPr>
            <p:nvPr/>
          </p:nvSpPr>
          <p:spPr bwMode="auto">
            <a:xfrm>
              <a:off x="3768" y="1518"/>
              <a:ext cx="204" cy="275"/>
            </a:xfrm>
            <a:prstGeom prst="rect">
              <a:avLst/>
            </a:prstGeom>
            <a:noFill/>
            <a:ln w="9525">
              <a:noFill/>
              <a:miter lim="800000"/>
              <a:headEnd/>
              <a:tailEnd/>
            </a:ln>
          </p:spPr>
          <p:txBody>
            <a:bodyPr wrap="none">
              <a:spAutoFit/>
            </a:bodyPr>
            <a:lstStyle/>
            <a:p>
              <a:pPr algn="ctr">
                <a:lnSpc>
                  <a:spcPct val="110000"/>
                </a:lnSpc>
              </a:pPr>
              <a:r>
                <a:rPr kumimoji="1" lang="en-US" altLang="zh-CN" sz="1500" b="1" i="1">
                  <a:solidFill>
                    <a:srgbClr val="000000"/>
                  </a:solidFill>
                  <a:latin typeface="Times New Roman" pitchFamily="18" charset="0"/>
                </a:rPr>
                <a:t>O</a:t>
              </a:r>
            </a:p>
          </p:txBody>
        </p:sp>
        <p:sp>
          <p:nvSpPr>
            <p:cNvPr id="6257" name="Line 62"/>
            <p:cNvSpPr>
              <a:spLocks noChangeShapeType="1"/>
            </p:cNvSpPr>
            <p:nvPr/>
          </p:nvSpPr>
          <p:spPr bwMode="auto">
            <a:xfrm>
              <a:off x="4522" y="826"/>
              <a:ext cx="2" cy="456"/>
            </a:xfrm>
            <a:prstGeom prst="line">
              <a:avLst/>
            </a:prstGeom>
            <a:noFill/>
            <a:ln w="28575">
              <a:solidFill>
                <a:srgbClr val="3333FF"/>
              </a:solidFill>
              <a:round/>
              <a:headEnd/>
              <a:tailEnd/>
            </a:ln>
          </p:spPr>
          <p:txBody>
            <a:bodyPr>
              <a:spAutoFit/>
            </a:bodyPr>
            <a:lstStyle/>
            <a:p>
              <a:endParaRPr lang="zh-CN" altLang="en-US"/>
            </a:p>
          </p:txBody>
        </p:sp>
        <p:sp>
          <p:nvSpPr>
            <p:cNvPr id="6258" name="Line 63"/>
            <p:cNvSpPr>
              <a:spLocks noChangeShapeType="1"/>
            </p:cNvSpPr>
            <p:nvPr/>
          </p:nvSpPr>
          <p:spPr bwMode="auto">
            <a:xfrm flipH="1">
              <a:off x="4522" y="1231"/>
              <a:ext cx="2" cy="358"/>
            </a:xfrm>
            <a:prstGeom prst="line">
              <a:avLst/>
            </a:prstGeom>
            <a:noFill/>
            <a:ln w="9525">
              <a:solidFill>
                <a:schemeClr val="tx1"/>
              </a:solidFill>
              <a:prstDash val="dash"/>
              <a:round/>
              <a:headEnd/>
              <a:tailEnd/>
            </a:ln>
          </p:spPr>
          <p:txBody>
            <a:bodyPr>
              <a:spAutoFit/>
            </a:bodyPr>
            <a:lstStyle/>
            <a:p>
              <a:endParaRPr lang="zh-CN" altLang="en-US"/>
            </a:p>
          </p:txBody>
        </p:sp>
        <p:sp>
          <p:nvSpPr>
            <p:cNvPr id="6259" name="Line 64"/>
            <p:cNvSpPr>
              <a:spLocks noChangeShapeType="1"/>
            </p:cNvSpPr>
            <p:nvPr/>
          </p:nvSpPr>
          <p:spPr bwMode="auto">
            <a:xfrm>
              <a:off x="3923" y="824"/>
              <a:ext cx="623" cy="0"/>
            </a:xfrm>
            <a:prstGeom prst="line">
              <a:avLst/>
            </a:prstGeom>
            <a:noFill/>
            <a:ln w="9525">
              <a:solidFill>
                <a:schemeClr val="tx1"/>
              </a:solidFill>
              <a:prstDash val="dash"/>
              <a:round/>
              <a:headEnd/>
              <a:tailEnd/>
            </a:ln>
          </p:spPr>
          <p:txBody>
            <a:bodyPr wrap="none">
              <a:spAutoFit/>
            </a:bodyPr>
            <a:lstStyle/>
            <a:p>
              <a:endParaRPr lang="zh-CN" altLang="en-US"/>
            </a:p>
          </p:txBody>
        </p:sp>
        <p:sp>
          <p:nvSpPr>
            <p:cNvPr id="6260" name="Line 65"/>
            <p:cNvSpPr>
              <a:spLocks noChangeShapeType="1"/>
            </p:cNvSpPr>
            <p:nvPr/>
          </p:nvSpPr>
          <p:spPr bwMode="auto">
            <a:xfrm>
              <a:off x="3907" y="1286"/>
              <a:ext cx="595" cy="0"/>
            </a:xfrm>
            <a:prstGeom prst="line">
              <a:avLst/>
            </a:prstGeom>
            <a:noFill/>
            <a:ln w="9525">
              <a:solidFill>
                <a:schemeClr val="tx1"/>
              </a:solidFill>
              <a:prstDash val="dash"/>
              <a:round/>
              <a:headEnd/>
              <a:tailEnd/>
            </a:ln>
          </p:spPr>
          <p:txBody>
            <a:bodyPr>
              <a:spAutoFit/>
            </a:bodyPr>
            <a:lstStyle/>
            <a:p>
              <a:endParaRPr lang="zh-CN" altLang="en-US"/>
            </a:p>
          </p:txBody>
        </p:sp>
        <p:sp>
          <p:nvSpPr>
            <p:cNvPr id="6261" name="Text Box 66"/>
            <p:cNvSpPr txBox="1">
              <a:spLocks noChangeArrowheads="1"/>
            </p:cNvSpPr>
            <p:nvPr/>
          </p:nvSpPr>
          <p:spPr bwMode="auto">
            <a:xfrm>
              <a:off x="3712" y="1106"/>
              <a:ext cx="217" cy="275"/>
            </a:xfrm>
            <a:prstGeom prst="rect">
              <a:avLst/>
            </a:prstGeom>
            <a:noFill/>
            <a:ln w="9525">
              <a:noFill/>
              <a:miter lim="800000"/>
              <a:headEnd/>
              <a:tailEnd/>
            </a:ln>
          </p:spPr>
          <p:txBody>
            <a:bodyPr wrap="none">
              <a:spAutoFit/>
            </a:bodyPr>
            <a:lstStyle/>
            <a:p>
              <a:pPr algn="ctr">
                <a:lnSpc>
                  <a:spcPct val="110000"/>
                </a:lnSpc>
              </a:pPr>
              <a:r>
                <a:rPr kumimoji="1" lang="en-US" altLang="zh-CN" sz="1500" b="1" i="1">
                  <a:solidFill>
                    <a:srgbClr val="000000"/>
                  </a:solidFill>
                  <a:latin typeface="Times New Roman" pitchFamily="18" charset="0"/>
                </a:rPr>
                <a:t>p</a:t>
              </a:r>
              <a:r>
                <a:rPr kumimoji="1" lang="en-US" altLang="zh-CN" sz="1500" b="1" baseline="-25000">
                  <a:solidFill>
                    <a:srgbClr val="000000"/>
                  </a:solidFill>
                  <a:latin typeface="Times New Roman" pitchFamily="18" charset="0"/>
                </a:rPr>
                <a:t>1</a:t>
              </a:r>
            </a:p>
          </p:txBody>
        </p:sp>
        <p:sp>
          <p:nvSpPr>
            <p:cNvPr id="6262" name="Text Box 67"/>
            <p:cNvSpPr txBox="1">
              <a:spLocks noChangeArrowheads="1"/>
            </p:cNvSpPr>
            <p:nvPr/>
          </p:nvSpPr>
          <p:spPr bwMode="auto">
            <a:xfrm>
              <a:off x="3717" y="738"/>
              <a:ext cx="217" cy="275"/>
            </a:xfrm>
            <a:prstGeom prst="rect">
              <a:avLst/>
            </a:prstGeom>
            <a:noFill/>
            <a:ln w="9525">
              <a:noFill/>
              <a:miter lim="800000"/>
              <a:headEnd/>
              <a:tailEnd/>
            </a:ln>
          </p:spPr>
          <p:txBody>
            <a:bodyPr wrap="none">
              <a:spAutoFit/>
            </a:bodyPr>
            <a:lstStyle/>
            <a:p>
              <a:pPr algn="ctr">
                <a:lnSpc>
                  <a:spcPct val="110000"/>
                </a:lnSpc>
              </a:pPr>
              <a:r>
                <a:rPr kumimoji="1" lang="en-US" altLang="zh-CN" sz="1500" b="1" i="1">
                  <a:solidFill>
                    <a:srgbClr val="000000"/>
                  </a:solidFill>
                  <a:latin typeface="Times New Roman" pitchFamily="18" charset="0"/>
                </a:rPr>
                <a:t>p</a:t>
              </a:r>
              <a:r>
                <a:rPr kumimoji="1" lang="en-US" altLang="zh-CN" sz="1500" b="1" baseline="-25000">
                  <a:solidFill>
                    <a:srgbClr val="000000"/>
                  </a:solidFill>
                  <a:latin typeface="Times New Roman" pitchFamily="18" charset="0"/>
                </a:rPr>
                <a:t>2</a:t>
              </a:r>
            </a:p>
          </p:txBody>
        </p:sp>
        <p:sp>
          <p:nvSpPr>
            <p:cNvPr id="6263" name="Text Box 68"/>
            <p:cNvSpPr txBox="1">
              <a:spLocks noChangeArrowheads="1"/>
            </p:cNvSpPr>
            <p:nvPr/>
          </p:nvSpPr>
          <p:spPr bwMode="auto">
            <a:xfrm>
              <a:off x="4510" y="1139"/>
              <a:ext cx="164" cy="275"/>
            </a:xfrm>
            <a:prstGeom prst="rect">
              <a:avLst/>
            </a:prstGeom>
            <a:noFill/>
            <a:ln w="9525">
              <a:noFill/>
              <a:miter lim="800000"/>
              <a:headEnd/>
              <a:tailEnd/>
            </a:ln>
          </p:spPr>
          <p:txBody>
            <a:bodyPr wrap="none">
              <a:spAutoFit/>
            </a:bodyPr>
            <a:lstStyle/>
            <a:p>
              <a:pPr algn="ctr">
                <a:lnSpc>
                  <a:spcPct val="110000"/>
                </a:lnSpc>
              </a:pPr>
              <a:r>
                <a:rPr kumimoji="1" lang="en-US" altLang="zh-CN" sz="1500" b="1" i="1">
                  <a:solidFill>
                    <a:srgbClr val="3333FF"/>
                  </a:solidFill>
                  <a:latin typeface="Times New Roman" pitchFamily="18" charset="0"/>
                </a:rPr>
                <a:t>I</a:t>
              </a:r>
            </a:p>
          </p:txBody>
        </p:sp>
        <p:sp>
          <p:nvSpPr>
            <p:cNvPr id="6264" name="Text Box 69"/>
            <p:cNvSpPr txBox="1">
              <a:spLocks noChangeArrowheads="1"/>
            </p:cNvSpPr>
            <p:nvPr/>
          </p:nvSpPr>
          <p:spPr bwMode="auto">
            <a:xfrm>
              <a:off x="4494" y="661"/>
              <a:ext cx="211" cy="275"/>
            </a:xfrm>
            <a:prstGeom prst="rect">
              <a:avLst/>
            </a:prstGeom>
            <a:noFill/>
            <a:ln w="9525">
              <a:noFill/>
              <a:miter lim="800000"/>
              <a:headEnd/>
              <a:tailEnd/>
            </a:ln>
          </p:spPr>
          <p:txBody>
            <a:bodyPr wrap="none">
              <a:spAutoFit/>
            </a:bodyPr>
            <a:lstStyle/>
            <a:p>
              <a:pPr algn="ctr">
                <a:lnSpc>
                  <a:spcPct val="110000"/>
                </a:lnSpc>
              </a:pPr>
              <a:r>
                <a:rPr kumimoji="1" lang="en-US" altLang="zh-CN" sz="1500" b="1" i="1">
                  <a:solidFill>
                    <a:srgbClr val="3333FF"/>
                  </a:solidFill>
                  <a:latin typeface="Times New Roman" pitchFamily="18" charset="0"/>
                </a:rPr>
                <a:t>II</a:t>
              </a:r>
            </a:p>
          </p:txBody>
        </p:sp>
      </p:grpSp>
      <p:sp>
        <p:nvSpPr>
          <p:cNvPr id="48" name="Text Box 70"/>
          <p:cNvSpPr txBox="1">
            <a:spLocks noChangeArrowheads="1"/>
          </p:cNvSpPr>
          <p:nvPr/>
        </p:nvSpPr>
        <p:spPr bwMode="auto">
          <a:xfrm>
            <a:off x="2332038" y="1335088"/>
            <a:ext cx="1114425" cy="368300"/>
          </a:xfrm>
          <a:prstGeom prst="rect">
            <a:avLst/>
          </a:prstGeom>
          <a:noFill/>
          <a:ln w="9525">
            <a:noFill/>
            <a:miter lim="800000"/>
            <a:headEnd/>
            <a:tailEnd/>
          </a:ln>
        </p:spPr>
        <p:txBody>
          <a:bodyPr>
            <a:spAutoFit/>
          </a:bodyPr>
          <a:lstStyle/>
          <a:p>
            <a:r>
              <a:rPr kumimoji="1" lang="en-US" altLang="zh-CN" b="1">
                <a:solidFill>
                  <a:srgbClr val="FF00FF"/>
                </a:solidFill>
                <a:latin typeface="Times New Roman" pitchFamily="18" charset="0"/>
                <a:ea typeface="华文中宋"/>
                <a:cs typeface="华文中宋"/>
              </a:rPr>
              <a:t>d</a:t>
            </a:r>
            <a:r>
              <a:rPr kumimoji="1" lang="en-US" altLang="zh-CN" b="1" i="1">
                <a:solidFill>
                  <a:srgbClr val="FF00FF"/>
                </a:solidFill>
                <a:latin typeface="Times New Roman" pitchFamily="18" charset="0"/>
                <a:ea typeface="华文中宋"/>
                <a:cs typeface="华文中宋"/>
              </a:rPr>
              <a:t>V= </a:t>
            </a:r>
            <a:r>
              <a:rPr kumimoji="1" lang="en-US" altLang="zh-CN" b="1">
                <a:solidFill>
                  <a:srgbClr val="FF00FF"/>
                </a:solidFill>
                <a:latin typeface="Times New Roman" pitchFamily="18" charset="0"/>
                <a:ea typeface="华文中宋"/>
                <a:cs typeface="华文中宋"/>
              </a:rPr>
              <a:t>0</a:t>
            </a:r>
          </a:p>
        </p:txBody>
      </p:sp>
      <p:sp>
        <p:nvSpPr>
          <p:cNvPr id="31" name="Rectangle 74"/>
          <p:cNvSpPr>
            <a:spLocks noChangeArrowheads="1"/>
          </p:cNvSpPr>
          <p:nvPr/>
        </p:nvSpPr>
        <p:spPr bwMode="auto">
          <a:xfrm>
            <a:off x="958850" y="2771775"/>
            <a:ext cx="2676525" cy="376238"/>
          </a:xfrm>
          <a:prstGeom prst="rect">
            <a:avLst/>
          </a:prstGeom>
          <a:noFill/>
          <a:ln w="9525">
            <a:noFill/>
            <a:miter lim="800000"/>
            <a:headEnd/>
            <a:tailEnd/>
          </a:ln>
        </p:spPr>
        <p:txBody>
          <a:bodyPr>
            <a:spAutoFit/>
          </a:bodyPr>
          <a:lstStyle/>
          <a:p>
            <a:pPr eaLnBrk="0" hangingPunct="0">
              <a:lnSpc>
                <a:spcPct val="110000"/>
              </a:lnSpc>
            </a:pPr>
            <a:r>
              <a:rPr lang="en-US" altLang="zh-CN" b="1">
                <a:solidFill>
                  <a:srgbClr val="0000FF"/>
                </a:solidFill>
                <a:latin typeface="华文中宋"/>
                <a:ea typeface="华文中宋"/>
                <a:cs typeface="华文中宋"/>
              </a:rPr>
              <a:t>2</a:t>
            </a:r>
            <a:r>
              <a:rPr lang="zh-CN" altLang="en-US" b="1">
                <a:solidFill>
                  <a:srgbClr val="0000FF"/>
                </a:solidFill>
                <a:latin typeface="华文中宋"/>
                <a:ea typeface="华文中宋"/>
                <a:cs typeface="华文中宋"/>
              </a:rPr>
              <a:t>、等压过程</a:t>
            </a:r>
          </a:p>
        </p:txBody>
      </p:sp>
      <p:grpSp>
        <p:nvGrpSpPr>
          <p:cNvPr id="4" name="Group 75"/>
          <p:cNvGrpSpPr>
            <a:grpSpLocks/>
          </p:cNvGrpSpPr>
          <p:nvPr/>
        </p:nvGrpSpPr>
        <p:grpSpPr bwMode="auto">
          <a:xfrm>
            <a:off x="6289675" y="3249613"/>
            <a:ext cx="2386013" cy="1193800"/>
            <a:chOff x="3648" y="2414"/>
            <a:chExt cx="1503" cy="1003"/>
          </a:xfrm>
        </p:grpSpPr>
        <p:sp>
          <p:nvSpPr>
            <p:cNvPr id="6237" name="Line 76"/>
            <p:cNvSpPr>
              <a:spLocks noChangeShapeType="1"/>
            </p:cNvSpPr>
            <p:nvPr/>
          </p:nvSpPr>
          <p:spPr bwMode="auto">
            <a:xfrm flipV="1">
              <a:off x="3872" y="3181"/>
              <a:ext cx="1177" cy="0"/>
            </a:xfrm>
            <a:prstGeom prst="line">
              <a:avLst/>
            </a:prstGeom>
            <a:noFill/>
            <a:ln w="9525">
              <a:solidFill>
                <a:srgbClr val="0070C0"/>
              </a:solidFill>
              <a:round/>
              <a:headEnd/>
              <a:tailEnd type="triangle" w="med" len="med"/>
            </a:ln>
          </p:spPr>
          <p:txBody>
            <a:bodyPr>
              <a:spAutoFit/>
            </a:bodyPr>
            <a:lstStyle/>
            <a:p>
              <a:endParaRPr lang="zh-CN" altLang="en-US"/>
            </a:p>
          </p:txBody>
        </p:sp>
        <p:sp>
          <p:nvSpPr>
            <p:cNvPr id="6238" name="Line 77"/>
            <p:cNvSpPr>
              <a:spLocks noChangeShapeType="1"/>
            </p:cNvSpPr>
            <p:nvPr/>
          </p:nvSpPr>
          <p:spPr bwMode="auto">
            <a:xfrm flipV="1">
              <a:off x="3872" y="2536"/>
              <a:ext cx="0" cy="645"/>
            </a:xfrm>
            <a:prstGeom prst="line">
              <a:avLst/>
            </a:prstGeom>
            <a:noFill/>
            <a:ln w="9525">
              <a:solidFill>
                <a:srgbClr val="0070C0"/>
              </a:solidFill>
              <a:round/>
              <a:headEnd/>
              <a:tailEnd type="triangle" w="med" len="med"/>
            </a:ln>
          </p:spPr>
          <p:txBody>
            <a:bodyPr>
              <a:spAutoFit/>
            </a:bodyPr>
            <a:lstStyle/>
            <a:p>
              <a:endParaRPr lang="zh-CN" altLang="en-US"/>
            </a:p>
          </p:txBody>
        </p:sp>
        <p:sp>
          <p:nvSpPr>
            <p:cNvPr id="6239" name="Text Box 78"/>
            <p:cNvSpPr txBox="1">
              <a:spLocks noChangeArrowheads="1"/>
            </p:cNvSpPr>
            <p:nvPr/>
          </p:nvSpPr>
          <p:spPr bwMode="auto">
            <a:xfrm>
              <a:off x="3648" y="2414"/>
              <a:ext cx="258" cy="275"/>
            </a:xfrm>
            <a:prstGeom prst="rect">
              <a:avLst/>
            </a:prstGeom>
            <a:noFill/>
            <a:ln w="9525">
              <a:noFill/>
              <a:miter lim="800000"/>
              <a:headEnd/>
              <a:tailEnd/>
            </a:ln>
          </p:spPr>
          <p:txBody>
            <a:bodyPr>
              <a:spAutoFit/>
            </a:bodyPr>
            <a:lstStyle/>
            <a:p>
              <a:pPr algn="ctr">
                <a:lnSpc>
                  <a:spcPct val="110000"/>
                </a:lnSpc>
              </a:pPr>
              <a:r>
                <a:rPr kumimoji="1" lang="en-US" altLang="zh-CN" sz="1500" b="1" i="1">
                  <a:solidFill>
                    <a:srgbClr val="000000"/>
                  </a:solidFill>
                  <a:latin typeface="Times New Roman" pitchFamily="18" charset="0"/>
                </a:rPr>
                <a:t>p</a:t>
              </a:r>
            </a:p>
          </p:txBody>
        </p:sp>
        <p:sp>
          <p:nvSpPr>
            <p:cNvPr id="6240" name="Text Box 79"/>
            <p:cNvSpPr txBox="1">
              <a:spLocks noChangeArrowheads="1"/>
            </p:cNvSpPr>
            <p:nvPr/>
          </p:nvSpPr>
          <p:spPr bwMode="auto">
            <a:xfrm>
              <a:off x="4954" y="3124"/>
              <a:ext cx="197" cy="275"/>
            </a:xfrm>
            <a:prstGeom prst="rect">
              <a:avLst/>
            </a:prstGeom>
            <a:noFill/>
            <a:ln w="9525">
              <a:noFill/>
              <a:miter lim="800000"/>
              <a:headEnd/>
              <a:tailEnd/>
            </a:ln>
          </p:spPr>
          <p:txBody>
            <a:bodyPr wrap="none">
              <a:spAutoFit/>
            </a:bodyPr>
            <a:lstStyle/>
            <a:p>
              <a:pPr algn="ctr">
                <a:lnSpc>
                  <a:spcPct val="110000"/>
                </a:lnSpc>
              </a:pPr>
              <a:r>
                <a:rPr kumimoji="1" lang="en-US" altLang="zh-CN" sz="1500" b="1" i="1">
                  <a:solidFill>
                    <a:srgbClr val="000000"/>
                  </a:solidFill>
                  <a:latin typeface="Times New Roman" pitchFamily="18" charset="0"/>
                </a:rPr>
                <a:t>V</a:t>
              </a:r>
            </a:p>
          </p:txBody>
        </p:sp>
        <p:sp>
          <p:nvSpPr>
            <p:cNvPr id="6241" name="Text Box 80"/>
            <p:cNvSpPr txBox="1">
              <a:spLocks noChangeArrowheads="1"/>
            </p:cNvSpPr>
            <p:nvPr/>
          </p:nvSpPr>
          <p:spPr bwMode="auto">
            <a:xfrm>
              <a:off x="4094" y="3122"/>
              <a:ext cx="237" cy="275"/>
            </a:xfrm>
            <a:prstGeom prst="rect">
              <a:avLst/>
            </a:prstGeom>
            <a:noFill/>
            <a:ln w="9525">
              <a:noFill/>
              <a:miter lim="800000"/>
              <a:headEnd/>
              <a:tailEnd/>
            </a:ln>
          </p:spPr>
          <p:txBody>
            <a:bodyPr wrap="none">
              <a:spAutoFit/>
            </a:bodyPr>
            <a:lstStyle/>
            <a:p>
              <a:pPr algn="ctr">
                <a:lnSpc>
                  <a:spcPct val="110000"/>
                </a:lnSpc>
              </a:pPr>
              <a:r>
                <a:rPr kumimoji="1" lang="en-US" altLang="zh-CN" sz="1500" b="1" i="1">
                  <a:solidFill>
                    <a:srgbClr val="000000"/>
                  </a:solidFill>
                  <a:latin typeface="Times New Roman" pitchFamily="18" charset="0"/>
                </a:rPr>
                <a:t>V</a:t>
              </a:r>
              <a:r>
                <a:rPr kumimoji="1" lang="en-US" altLang="zh-CN" sz="1500" b="1" baseline="-25000">
                  <a:solidFill>
                    <a:srgbClr val="000000"/>
                  </a:solidFill>
                  <a:latin typeface="Times New Roman" pitchFamily="18" charset="0"/>
                </a:rPr>
                <a:t>1</a:t>
              </a:r>
            </a:p>
          </p:txBody>
        </p:sp>
        <p:sp>
          <p:nvSpPr>
            <p:cNvPr id="6242" name="Text Box 81"/>
            <p:cNvSpPr txBox="1">
              <a:spLocks noChangeArrowheads="1"/>
            </p:cNvSpPr>
            <p:nvPr/>
          </p:nvSpPr>
          <p:spPr bwMode="auto">
            <a:xfrm>
              <a:off x="3751" y="3135"/>
              <a:ext cx="204" cy="275"/>
            </a:xfrm>
            <a:prstGeom prst="rect">
              <a:avLst/>
            </a:prstGeom>
            <a:noFill/>
            <a:ln w="9525">
              <a:noFill/>
              <a:miter lim="800000"/>
              <a:headEnd/>
              <a:tailEnd/>
            </a:ln>
          </p:spPr>
          <p:txBody>
            <a:bodyPr wrap="none">
              <a:spAutoFit/>
            </a:bodyPr>
            <a:lstStyle/>
            <a:p>
              <a:pPr algn="ctr">
                <a:lnSpc>
                  <a:spcPct val="110000"/>
                </a:lnSpc>
              </a:pPr>
              <a:r>
                <a:rPr kumimoji="1" lang="en-US" altLang="zh-CN" sz="1500" b="1" i="1">
                  <a:solidFill>
                    <a:srgbClr val="000000"/>
                  </a:solidFill>
                  <a:latin typeface="Times New Roman" pitchFamily="18" charset="0"/>
                </a:rPr>
                <a:t>O</a:t>
              </a:r>
            </a:p>
          </p:txBody>
        </p:sp>
        <p:sp>
          <p:nvSpPr>
            <p:cNvPr id="6243" name="Line 82"/>
            <p:cNvSpPr>
              <a:spLocks noChangeShapeType="1"/>
            </p:cNvSpPr>
            <p:nvPr/>
          </p:nvSpPr>
          <p:spPr bwMode="auto">
            <a:xfrm>
              <a:off x="4829" y="2773"/>
              <a:ext cx="1" cy="408"/>
            </a:xfrm>
            <a:prstGeom prst="line">
              <a:avLst/>
            </a:prstGeom>
            <a:noFill/>
            <a:ln w="9525">
              <a:solidFill>
                <a:schemeClr val="tx1"/>
              </a:solidFill>
              <a:prstDash val="dash"/>
              <a:round/>
              <a:headEnd/>
              <a:tailEnd/>
            </a:ln>
          </p:spPr>
          <p:txBody>
            <a:bodyPr>
              <a:spAutoFit/>
            </a:bodyPr>
            <a:lstStyle/>
            <a:p>
              <a:endParaRPr lang="zh-CN" altLang="en-US"/>
            </a:p>
          </p:txBody>
        </p:sp>
        <p:sp>
          <p:nvSpPr>
            <p:cNvPr id="6244" name="Line 83"/>
            <p:cNvSpPr>
              <a:spLocks noChangeShapeType="1"/>
            </p:cNvSpPr>
            <p:nvPr/>
          </p:nvSpPr>
          <p:spPr bwMode="auto">
            <a:xfrm>
              <a:off x="3872" y="2775"/>
              <a:ext cx="369" cy="0"/>
            </a:xfrm>
            <a:prstGeom prst="line">
              <a:avLst/>
            </a:prstGeom>
            <a:noFill/>
            <a:ln w="9525">
              <a:solidFill>
                <a:schemeClr val="tx1"/>
              </a:solidFill>
              <a:prstDash val="dash"/>
              <a:round/>
              <a:headEnd/>
              <a:tailEnd/>
            </a:ln>
          </p:spPr>
          <p:txBody>
            <a:bodyPr>
              <a:spAutoFit/>
            </a:bodyPr>
            <a:lstStyle/>
            <a:p>
              <a:endParaRPr lang="zh-CN" altLang="en-US"/>
            </a:p>
          </p:txBody>
        </p:sp>
        <p:sp>
          <p:nvSpPr>
            <p:cNvPr id="6245" name="Text Box 84"/>
            <p:cNvSpPr txBox="1">
              <a:spLocks noChangeArrowheads="1"/>
            </p:cNvSpPr>
            <p:nvPr/>
          </p:nvSpPr>
          <p:spPr bwMode="auto">
            <a:xfrm>
              <a:off x="3683" y="2640"/>
              <a:ext cx="217" cy="275"/>
            </a:xfrm>
            <a:prstGeom prst="rect">
              <a:avLst/>
            </a:prstGeom>
            <a:noFill/>
            <a:ln w="9525">
              <a:noFill/>
              <a:miter lim="800000"/>
              <a:headEnd/>
              <a:tailEnd/>
            </a:ln>
          </p:spPr>
          <p:txBody>
            <a:bodyPr wrap="none">
              <a:spAutoFit/>
            </a:bodyPr>
            <a:lstStyle/>
            <a:p>
              <a:pPr algn="ctr">
                <a:lnSpc>
                  <a:spcPct val="110000"/>
                </a:lnSpc>
              </a:pPr>
              <a:r>
                <a:rPr kumimoji="1" lang="en-US" altLang="zh-CN" sz="1500" b="1" i="1">
                  <a:solidFill>
                    <a:srgbClr val="000000"/>
                  </a:solidFill>
                  <a:latin typeface="Times New Roman" pitchFamily="18" charset="0"/>
                </a:rPr>
                <a:t>p</a:t>
              </a:r>
              <a:r>
                <a:rPr kumimoji="1" lang="en-US" altLang="zh-CN" sz="1500" b="1" baseline="-25000">
                  <a:solidFill>
                    <a:srgbClr val="000000"/>
                  </a:solidFill>
                  <a:latin typeface="Times New Roman" pitchFamily="18" charset="0"/>
                </a:rPr>
                <a:t>1</a:t>
              </a:r>
            </a:p>
          </p:txBody>
        </p:sp>
        <p:sp>
          <p:nvSpPr>
            <p:cNvPr id="6246" name="Text Box 85"/>
            <p:cNvSpPr txBox="1">
              <a:spLocks noChangeArrowheads="1"/>
            </p:cNvSpPr>
            <p:nvPr/>
          </p:nvSpPr>
          <p:spPr bwMode="auto">
            <a:xfrm>
              <a:off x="4661" y="3142"/>
              <a:ext cx="275" cy="275"/>
            </a:xfrm>
            <a:prstGeom prst="rect">
              <a:avLst/>
            </a:prstGeom>
            <a:noFill/>
            <a:ln w="9525">
              <a:noFill/>
              <a:miter lim="800000"/>
              <a:headEnd/>
              <a:tailEnd/>
            </a:ln>
          </p:spPr>
          <p:txBody>
            <a:bodyPr>
              <a:spAutoFit/>
            </a:bodyPr>
            <a:lstStyle/>
            <a:p>
              <a:pPr>
                <a:lnSpc>
                  <a:spcPct val="110000"/>
                </a:lnSpc>
              </a:pPr>
              <a:r>
                <a:rPr kumimoji="1" lang="en-US" altLang="zh-CN" sz="1500" b="1" i="1">
                  <a:solidFill>
                    <a:srgbClr val="000000"/>
                  </a:solidFill>
                  <a:latin typeface="Times New Roman" pitchFamily="18" charset="0"/>
                </a:rPr>
                <a:t>V</a:t>
              </a:r>
              <a:r>
                <a:rPr kumimoji="1" lang="en-US" altLang="zh-CN" sz="1500" b="1" baseline="-25000">
                  <a:solidFill>
                    <a:srgbClr val="000000"/>
                  </a:solidFill>
                  <a:latin typeface="Times New Roman" pitchFamily="18" charset="0"/>
                </a:rPr>
                <a:t>2</a:t>
              </a:r>
            </a:p>
          </p:txBody>
        </p:sp>
        <p:sp>
          <p:nvSpPr>
            <p:cNvPr id="6247" name="Text Box 86"/>
            <p:cNvSpPr txBox="1">
              <a:spLocks noChangeArrowheads="1"/>
            </p:cNvSpPr>
            <p:nvPr/>
          </p:nvSpPr>
          <p:spPr bwMode="auto">
            <a:xfrm>
              <a:off x="4084" y="2560"/>
              <a:ext cx="164" cy="275"/>
            </a:xfrm>
            <a:prstGeom prst="rect">
              <a:avLst/>
            </a:prstGeom>
            <a:noFill/>
            <a:ln w="9525">
              <a:noFill/>
              <a:miter lim="800000"/>
              <a:headEnd/>
              <a:tailEnd/>
            </a:ln>
          </p:spPr>
          <p:txBody>
            <a:bodyPr wrap="none">
              <a:spAutoFit/>
            </a:bodyPr>
            <a:lstStyle/>
            <a:p>
              <a:pPr algn="ctr">
                <a:lnSpc>
                  <a:spcPct val="110000"/>
                </a:lnSpc>
              </a:pPr>
              <a:r>
                <a:rPr kumimoji="1" lang="en-US" altLang="zh-CN" sz="1500" b="1" i="1">
                  <a:solidFill>
                    <a:srgbClr val="3333FF"/>
                  </a:solidFill>
                  <a:latin typeface="Times New Roman" pitchFamily="18" charset="0"/>
                </a:rPr>
                <a:t>I</a:t>
              </a:r>
            </a:p>
          </p:txBody>
        </p:sp>
        <p:sp>
          <p:nvSpPr>
            <p:cNvPr id="6248" name="Text Box 87"/>
            <p:cNvSpPr txBox="1">
              <a:spLocks noChangeArrowheads="1"/>
            </p:cNvSpPr>
            <p:nvPr/>
          </p:nvSpPr>
          <p:spPr bwMode="auto">
            <a:xfrm>
              <a:off x="4757" y="2551"/>
              <a:ext cx="211" cy="275"/>
            </a:xfrm>
            <a:prstGeom prst="rect">
              <a:avLst/>
            </a:prstGeom>
            <a:noFill/>
            <a:ln w="9525">
              <a:noFill/>
              <a:miter lim="800000"/>
              <a:headEnd/>
              <a:tailEnd/>
            </a:ln>
          </p:spPr>
          <p:txBody>
            <a:bodyPr wrap="none">
              <a:spAutoFit/>
            </a:bodyPr>
            <a:lstStyle/>
            <a:p>
              <a:pPr algn="ctr">
                <a:lnSpc>
                  <a:spcPct val="110000"/>
                </a:lnSpc>
              </a:pPr>
              <a:r>
                <a:rPr kumimoji="1" lang="en-US" altLang="zh-CN" sz="1500" b="1" i="1">
                  <a:solidFill>
                    <a:srgbClr val="3333FF"/>
                  </a:solidFill>
                  <a:latin typeface="Times New Roman" pitchFamily="18" charset="0"/>
                </a:rPr>
                <a:t>II</a:t>
              </a:r>
            </a:p>
          </p:txBody>
        </p:sp>
        <p:sp>
          <p:nvSpPr>
            <p:cNvPr id="6249" name="Line 88"/>
            <p:cNvSpPr>
              <a:spLocks noChangeShapeType="1"/>
            </p:cNvSpPr>
            <p:nvPr/>
          </p:nvSpPr>
          <p:spPr bwMode="auto">
            <a:xfrm>
              <a:off x="4173" y="2775"/>
              <a:ext cx="652" cy="0"/>
            </a:xfrm>
            <a:prstGeom prst="line">
              <a:avLst/>
            </a:prstGeom>
            <a:noFill/>
            <a:ln w="28575">
              <a:solidFill>
                <a:srgbClr val="FF0000"/>
              </a:solidFill>
              <a:round/>
              <a:headEnd/>
              <a:tailEnd/>
            </a:ln>
          </p:spPr>
          <p:txBody>
            <a:bodyPr wrap="none">
              <a:spAutoFit/>
            </a:bodyPr>
            <a:lstStyle/>
            <a:p>
              <a:endParaRPr lang="zh-CN" altLang="en-US"/>
            </a:p>
          </p:txBody>
        </p:sp>
        <p:sp>
          <p:nvSpPr>
            <p:cNvPr id="6250" name="Line 89"/>
            <p:cNvSpPr>
              <a:spLocks noChangeShapeType="1"/>
            </p:cNvSpPr>
            <p:nvPr/>
          </p:nvSpPr>
          <p:spPr bwMode="auto">
            <a:xfrm flipH="1">
              <a:off x="4178" y="2773"/>
              <a:ext cx="3" cy="408"/>
            </a:xfrm>
            <a:prstGeom prst="line">
              <a:avLst/>
            </a:prstGeom>
            <a:noFill/>
            <a:ln w="9525">
              <a:solidFill>
                <a:schemeClr val="tx1"/>
              </a:solidFill>
              <a:prstDash val="dash"/>
              <a:round/>
              <a:headEnd/>
              <a:tailEnd/>
            </a:ln>
          </p:spPr>
          <p:txBody>
            <a:bodyPr>
              <a:spAutoFit/>
            </a:bodyPr>
            <a:lstStyle/>
            <a:p>
              <a:endParaRPr lang="zh-CN" altLang="en-US"/>
            </a:p>
          </p:txBody>
        </p:sp>
      </p:grpSp>
      <p:sp>
        <p:nvSpPr>
          <p:cNvPr id="56" name="Text Box 70"/>
          <p:cNvSpPr txBox="1">
            <a:spLocks noChangeArrowheads="1"/>
          </p:cNvSpPr>
          <p:nvPr/>
        </p:nvSpPr>
        <p:spPr bwMode="auto">
          <a:xfrm>
            <a:off x="2339975" y="2754313"/>
            <a:ext cx="1112838" cy="368300"/>
          </a:xfrm>
          <a:prstGeom prst="rect">
            <a:avLst/>
          </a:prstGeom>
          <a:noFill/>
          <a:ln w="9525">
            <a:noFill/>
            <a:miter lim="800000"/>
            <a:headEnd/>
            <a:tailEnd/>
          </a:ln>
        </p:spPr>
        <p:txBody>
          <a:bodyPr>
            <a:spAutoFit/>
          </a:bodyPr>
          <a:lstStyle/>
          <a:p>
            <a:r>
              <a:rPr kumimoji="1" lang="en-US" altLang="zh-CN" b="1">
                <a:solidFill>
                  <a:srgbClr val="FF00FF"/>
                </a:solidFill>
                <a:latin typeface="Times New Roman" pitchFamily="18" charset="0"/>
                <a:ea typeface="华文中宋"/>
                <a:cs typeface="华文中宋"/>
              </a:rPr>
              <a:t>d</a:t>
            </a:r>
            <a:r>
              <a:rPr kumimoji="1" lang="en-US" altLang="zh-CN" b="1" i="1">
                <a:solidFill>
                  <a:srgbClr val="FF00FF"/>
                </a:solidFill>
                <a:latin typeface="Times New Roman" pitchFamily="18" charset="0"/>
                <a:ea typeface="华文中宋"/>
                <a:cs typeface="华文中宋"/>
              </a:rPr>
              <a:t>p= </a:t>
            </a:r>
            <a:r>
              <a:rPr kumimoji="1" lang="en-US" altLang="zh-CN" b="1">
                <a:solidFill>
                  <a:srgbClr val="FF00FF"/>
                </a:solidFill>
                <a:latin typeface="Times New Roman" pitchFamily="18" charset="0"/>
                <a:ea typeface="华文中宋"/>
                <a:cs typeface="华文中宋"/>
              </a:rPr>
              <a:t>0</a:t>
            </a:r>
          </a:p>
        </p:txBody>
      </p:sp>
      <p:graphicFrame>
        <p:nvGraphicFramePr>
          <p:cNvPr id="5" name="Object 79"/>
          <p:cNvGraphicFramePr>
            <a:graphicFrameLocks noChangeAspect="1"/>
          </p:cNvGraphicFramePr>
          <p:nvPr/>
        </p:nvGraphicFramePr>
        <p:xfrm>
          <a:off x="1773238" y="3170238"/>
          <a:ext cx="4564062" cy="554037"/>
        </p:xfrm>
        <a:graphic>
          <a:graphicData uri="http://schemas.openxmlformats.org/presentationml/2006/ole">
            <p:oleObj spid="_x0000_s6223" name="Equation" r:id="rId3" imgW="2667000" imgH="431800" progId="Equation.DSMT4">
              <p:embed/>
            </p:oleObj>
          </a:graphicData>
        </a:graphic>
      </p:graphicFrame>
      <p:graphicFrame>
        <p:nvGraphicFramePr>
          <p:cNvPr id="7" name="Object 80"/>
          <p:cNvGraphicFramePr>
            <a:graphicFrameLocks noChangeAspect="1"/>
          </p:cNvGraphicFramePr>
          <p:nvPr/>
        </p:nvGraphicFramePr>
        <p:xfrm>
          <a:off x="1722438" y="4271963"/>
          <a:ext cx="2108200" cy="531812"/>
        </p:xfrm>
        <a:graphic>
          <a:graphicData uri="http://schemas.openxmlformats.org/presentationml/2006/ole">
            <p:oleObj spid="_x0000_s6224" name="Equation" r:id="rId4" imgW="1459866" imgH="431613" progId="Equation.DSMT4">
              <p:embed/>
            </p:oleObj>
          </a:graphicData>
        </a:graphic>
      </p:graphicFrame>
      <p:graphicFrame>
        <p:nvGraphicFramePr>
          <p:cNvPr id="47" name="Object 81"/>
          <p:cNvGraphicFramePr>
            <a:graphicFrameLocks noChangeAspect="1"/>
          </p:cNvGraphicFramePr>
          <p:nvPr/>
        </p:nvGraphicFramePr>
        <p:xfrm>
          <a:off x="3786188" y="4264025"/>
          <a:ext cx="1577975" cy="539750"/>
        </p:xfrm>
        <a:graphic>
          <a:graphicData uri="http://schemas.openxmlformats.org/presentationml/2006/ole">
            <p:oleObj spid="_x0000_s6225" name="Equation" r:id="rId5" imgW="1079032" imgH="431613" progId="Equation.DSMT4">
              <p:embed/>
            </p:oleObj>
          </a:graphicData>
        </a:graphic>
      </p:graphicFrame>
      <p:graphicFrame>
        <p:nvGraphicFramePr>
          <p:cNvPr id="16431" name="Object 82"/>
          <p:cNvGraphicFramePr>
            <a:graphicFrameLocks noChangeAspect="1"/>
          </p:cNvGraphicFramePr>
          <p:nvPr/>
        </p:nvGraphicFramePr>
        <p:xfrm>
          <a:off x="1739900" y="1630363"/>
          <a:ext cx="2808288" cy="671512"/>
        </p:xfrm>
        <a:graphic>
          <a:graphicData uri="http://schemas.openxmlformats.org/presentationml/2006/ole">
            <p:oleObj spid="_x0000_s6226" name="Equation" r:id="rId6" imgW="1524000" imgH="431800" progId="Equation.DSMT4">
              <p:embed/>
            </p:oleObj>
          </a:graphicData>
        </a:graphic>
      </p:graphicFrame>
      <p:graphicFrame>
        <p:nvGraphicFramePr>
          <p:cNvPr id="16432" name="Object 83"/>
          <p:cNvGraphicFramePr>
            <a:graphicFrameLocks noChangeAspect="1"/>
          </p:cNvGraphicFramePr>
          <p:nvPr/>
        </p:nvGraphicFramePr>
        <p:xfrm>
          <a:off x="1955800" y="2278063"/>
          <a:ext cx="2917825" cy="581025"/>
        </p:xfrm>
        <a:graphic>
          <a:graphicData uri="http://schemas.openxmlformats.org/presentationml/2006/ole">
            <p:oleObj spid="_x0000_s6227" name="Equation" r:id="rId7" imgW="2006600" imgH="431800" progId="Equation.DSMT4">
              <p:embed/>
            </p:oleObj>
          </a:graphicData>
        </a:graphic>
      </p:graphicFrame>
      <p:graphicFrame>
        <p:nvGraphicFramePr>
          <p:cNvPr id="151600" name="Object 84"/>
          <p:cNvGraphicFramePr>
            <a:graphicFrameLocks noChangeAspect="1"/>
          </p:cNvGraphicFramePr>
          <p:nvPr/>
        </p:nvGraphicFramePr>
        <p:xfrm>
          <a:off x="1403350" y="1006475"/>
          <a:ext cx="1728788" cy="268288"/>
        </p:xfrm>
        <a:graphic>
          <a:graphicData uri="http://schemas.openxmlformats.org/presentationml/2006/ole">
            <p:oleObj spid="_x0000_s6228" name="Equation" r:id="rId8" imgW="977476" imgH="203112" progId="Equation.DSMT4">
              <p:embed/>
            </p:oleObj>
          </a:graphicData>
        </a:graphic>
      </p:graphicFrame>
      <p:graphicFrame>
        <p:nvGraphicFramePr>
          <p:cNvPr id="3" name="Object 85"/>
          <p:cNvGraphicFramePr>
            <a:graphicFrameLocks noChangeAspect="1"/>
          </p:cNvGraphicFramePr>
          <p:nvPr/>
        </p:nvGraphicFramePr>
        <p:xfrm>
          <a:off x="1692275" y="3724275"/>
          <a:ext cx="2279650" cy="538163"/>
        </p:xfrm>
        <a:graphic>
          <a:graphicData uri="http://schemas.openxmlformats.org/presentationml/2006/ole">
            <p:oleObj spid="_x0000_s6229" name="Equation" r:id="rId9" imgW="1485900" imgH="431800" progId="Equation.DSMT4">
              <p:embed/>
            </p:oleObj>
          </a:graphicData>
        </a:graphic>
      </p:graphicFrame>
      <p:sp>
        <p:nvSpPr>
          <p:cNvPr id="44" name="Text Box 2"/>
          <p:cNvSpPr>
            <a:spLocks noChangeArrowheads="1"/>
          </p:cNvSpPr>
          <p:nvPr/>
        </p:nvSpPr>
        <p:spPr bwMode="auto">
          <a:xfrm>
            <a:off x="839788" y="874713"/>
            <a:ext cx="3190875" cy="400050"/>
          </a:xfrm>
          <a:prstGeom prst="homePlate">
            <a:avLst>
              <a:gd name="adj" fmla="val 49925"/>
            </a:avLst>
          </a:prstGeom>
          <a:solidFill>
            <a:srgbClr val="539A84"/>
          </a:solidFill>
          <a:ln w="9525">
            <a:noFill/>
            <a:miter lim="800000"/>
            <a:headEnd/>
            <a:tailEnd/>
          </a:ln>
        </p:spPr>
        <p:txBody>
          <a:bodyPr>
            <a:spAutoFit/>
          </a:bodyPr>
          <a:lstStyle/>
          <a:p>
            <a:pPr>
              <a:buFont typeface="Arial" charset="0"/>
              <a:buNone/>
            </a:pPr>
            <a:r>
              <a:rPr kumimoji="1" lang="zh-CN" altLang="en-US" sz="2000" b="1">
                <a:solidFill>
                  <a:srgbClr val="FFFFFF"/>
                </a:solidFill>
                <a:latin typeface="微软雅黑" pitchFamily="34" charset="-122"/>
                <a:ea typeface="微软雅黑" pitchFamily="34" charset="-122"/>
              </a:rPr>
              <a:t>二、理想气体的等值过程</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wipe(left)">
                                      <p:cBhvr>
                                        <p:cTn id="7" dur="500"/>
                                        <p:tgtEl>
                                          <p:spTgt spid="4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wipe(left)">
                                      <p:cBhvr>
                                        <p:cTn id="12" dur="500"/>
                                        <p:tgtEl>
                                          <p:spTgt spid="2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3" presetClass="entr" presetSubtype="16"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p:cTn id="17" dur="500" fill="hold"/>
                                        <p:tgtEl>
                                          <p:spTgt spid="2"/>
                                        </p:tgtEl>
                                        <p:attrNameLst>
                                          <p:attrName>ppt_w</p:attrName>
                                        </p:attrNameLst>
                                      </p:cBhvr>
                                      <p:tavLst>
                                        <p:tav tm="0">
                                          <p:val>
                                            <p:fltVal val="0"/>
                                          </p:val>
                                        </p:tav>
                                        <p:tav tm="100000">
                                          <p:val>
                                            <p:strVal val="#ppt_w"/>
                                          </p:val>
                                        </p:tav>
                                      </p:tavLst>
                                    </p:anim>
                                    <p:anim calcmode="lin" valueType="num">
                                      <p:cBhvr>
                                        <p:cTn id="18" dur="500" fill="hold"/>
                                        <p:tgtEl>
                                          <p:spTgt spid="2"/>
                                        </p:tgtEl>
                                        <p:attrNameLst>
                                          <p:attrName>ppt_h</p:attrName>
                                        </p:attrNameLst>
                                      </p:cBhvr>
                                      <p:tavLst>
                                        <p:tav tm="0">
                                          <p:val>
                                            <p:fltVal val="0"/>
                                          </p:val>
                                        </p:tav>
                                        <p:tav tm="100000">
                                          <p:val>
                                            <p:strVal val="#ppt_h"/>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48"/>
                                        </p:tgtEl>
                                        <p:attrNameLst>
                                          <p:attrName>style.visibility</p:attrName>
                                        </p:attrNameLst>
                                      </p:cBhvr>
                                      <p:to>
                                        <p:strVal val="visible"/>
                                      </p:to>
                                    </p:set>
                                    <p:animEffect transition="in" filter="wipe(left)">
                                      <p:cBhvr>
                                        <p:cTn id="23" dur="500"/>
                                        <p:tgtEl>
                                          <p:spTgt spid="48"/>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3" presetClass="entr" presetSubtype="10" fill="hold" nodeType="clickEffect">
                                  <p:stCondLst>
                                    <p:cond delay="0"/>
                                  </p:stCondLst>
                                  <p:childTnLst>
                                    <p:set>
                                      <p:cBhvr>
                                        <p:cTn id="27" dur="1" fill="hold">
                                          <p:stCondLst>
                                            <p:cond delay="0"/>
                                          </p:stCondLst>
                                        </p:cTn>
                                        <p:tgtEl>
                                          <p:spTgt spid="151600"/>
                                        </p:tgtEl>
                                        <p:attrNameLst>
                                          <p:attrName>style.visibility</p:attrName>
                                        </p:attrNameLst>
                                      </p:cBhvr>
                                      <p:to>
                                        <p:strVal val="visible"/>
                                      </p:to>
                                    </p:set>
                                    <p:animEffect transition="in" filter="blinds(horizontal)">
                                      <p:cBhvr>
                                        <p:cTn id="28" dur="500"/>
                                        <p:tgtEl>
                                          <p:spTgt spid="151600"/>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nodeType="clickEffect">
                                  <p:stCondLst>
                                    <p:cond delay="0"/>
                                  </p:stCondLst>
                                  <p:childTnLst>
                                    <p:set>
                                      <p:cBhvr>
                                        <p:cTn id="32" dur="1" fill="hold">
                                          <p:stCondLst>
                                            <p:cond delay="0"/>
                                          </p:stCondLst>
                                        </p:cTn>
                                        <p:tgtEl>
                                          <p:spTgt spid="16431"/>
                                        </p:tgtEl>
                                        <p:attrNameLst>
                                          <p:attrName>style.visibility</p:attrName>
                                        </p:attrNameLst>
                                      </p:cBhvr>
                                      <p:to>
                                        <p:strVal val="visible"/>
                                      </p:to>
                                    </p:set>
                                    <p:animEffect transition="in" filter="wipe(left)">
                                      <p:cBhvr>
                                        <p:cTn id="33" dur="500"/>
                                        <p:tgtEl>
                                          <p:spTgt spid="16431"/>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nodeType="clickEffect">
                                  <p:stCondLst>
                                    <p:cond delay="0"/>
                                  </p:stCondLst>
                                  <p:childTnLst>
                                    <p:set>
                                      <p:cBhvr>
                                        <p:cTn id="37" dur="1" fill="hold">
                                          <p:stCondLst>
                                            <p:cond delay="0"/>
                                          </p:stCondLst>
                                        </p:cTn>
                                        <p:tgtEl>
                                          <p:spTgt spid="16432"/>
                                        </p:tgtEl>
                                        <p:attrNameLst>
                                          <p:attrName>style.visibility</p:attrName>
                                        </p:attrNameLst>
                                      </p:cBhvr>
                                      <p:to>
                                        <p:strVal val="visible"/>
                                      </p:to>
                                    </p:set>
                                    <p:animEffect transition="in" filter="wipe(left)">
                                      <p:cBhvr>
                                        <p:cTn id="38" dur="500"/>
                                        <p:tgtEl>
                                          <p:spTgt spid="16432"/>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31"/>
                                        </p:tgtEl>
                                        <p:attrNameLst>
                                          <p:attrName>style.visibility</p:attrName>
                                        </p:attrNameLst>
                                      </p:cBhvr>
                                      <p:to>
                                        <p:strVal val="visible"/>
                                      </p:to>
                                    </p:set>
                                    <p:animEffect transition="in" filter="wipe(left)">
                                      <p:cBhvr>
                                        <p:cTn id="43" dur="500"/>
                                        <p:tgtEl>
                                          <p:spTgt spid="31"/>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3" presetClass="entr" presetSubtype="16" fill="hold" nodeType="clickEffect">
                                  <p:stCondLst>
                                    <p:cond delay="0"/>
                                  </p:stCondLst>
                                  <p:childTnLst>
                                    <p:set>
                                      <p:cBhvr>
                                        <p:cTn id="47" dur="1" fill="hold">
                                          <p:stCondLst>
                                            <p:cond delay="0"/>
                                          </p:stCondLst>
                                        </p:cTn>
                                        <p:tgtEl>
                                          <p:spTgt spid="4"/>
                                        </p:tgtEl>
                                        <p:attrNameLst>
                                          <p:attrName>style.visibility</p:attrName>
                                        </p:attrNameLst>
                                      </p:cBhvr>
                                      <p:to>
                                        <p:strVal val="visible"/>
                                      </p:to>
                                    </p:set>
                                    <p:anim calcmode="lin" valueType="num">
                                      <p:cBhvr>
                                        <p:cTn id="48" dur="500" fill="hold"/>
                                        <p:tgtEl>
                                          <p:spTgt spid="4"/>
                                        </p:tgtEl>
                                        <p:attrNameLst>
                                          <p:attrName>ppt_w</p:attrName>
                                        </p:attrNameLst>
                                      </p:cBhvr>
                                      <p:tavLst>
                                        <p:tav tm="0">
                                          <p:val>
                                            <p:fltVal val="0"/>
                                          </p:val>
                                        </p:tav>
                                        <p:tav tm="100000">
                                          <p:val>
                                            <p:strVal val="#ppt_w"/>
                                          </p:val>
                                        </p:tav>
                                      </p:tavLst>
                                    </p:anim>
                                    <p:anim calcmode="lin" valueType="num">
                                      <p:cBhvr>
                                        <p:cTn id="49" dur="500" fill="hold"/>
                                        <p:tgtEl>
                                          <p:spTgt spid="4"/>
                                        </p:tgtEl>
                                        <p:attrNameLst>
                                          <p:attrName>ppt_h</p:attrName>
                                        </p:attrNameLst>
                                      </p:cBhvr>
                                      <p:tavLst>
                                        <p:tav tm="0">
                                          <p:val>
                                            <p:fltVal val="0"/>
                                          </p:val>
                                        </p:tav>
                                        <p:tav tm="100000">
                                          <p:val>
                                            <p:strVal val="#ppt_h"/>
                                          </p:val>
                                        </p:tav>
                                      </p:tavLst>
                                    </p:anim>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56"/>
                                        </p:tgtEl>
                                        <p:attrNameLst>
                                          <p:attrName>style.visibility</p:attrName>
                                        </p:attrNameLst>
                                      </p:cBhvr>
                                      <p:to>
                                        <p:strVal val="visible"/>
                                      </p:to>
                                    </p:set>
                                    <p:animEffect transition="in" filter="wipe(left)">
                                      <p:cBhvr>
                                        <p:cTn id="54" dur="500"/>
                                        <p:tgtEl>
                                          <p:spTgt spid="56"/>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8" fill="hold" nodeType="clickEffect">
                                  <p:stCondLst>
                                    <p:cond delay="0"/>
                                  </p:stCondLst>
                                  <p:childTnLst>
                                    <p:set>
                                      <p:cBhvr>
                                        <p:cTn id="58" dur="1" fill="hold">
                                          <p:stCondLst>
                                            <p:cond delay="0"/>
                                          </p:stCondLst>
                                        </p:cTn>
                                        <p:tgtEl>
                                          <p:spTgt spid="5"/>
                                        </p:tgtEl>
                                        <p:attrNameLst>
                                          <p:attrName>style.visibility</p:attrName>
                                        </p:attrNameLst>
                                      </p:cBhvr>
                                      <p:to>
                                        <p:strVal val="visible"/>
                                      </p:to>
                                    </p:set>
                                    <p:animEffect transition="in" filter="wipe(left)">
                                      <p:cBhvr>
                                        <p:cTn id="59" dur="500"/>
                                        <p:tgtEl>
                                          <p:spTgt spid="5"/>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22" presetClass="entr" presetSubtype="8" fill="hold" nodeType="clickEffect">
                                  <p:stCondLst>
                                    <p:cond delay="0"/>
                                  </p:stCondLst>
                                  <p:childTnLst>
                                    <p:set>
                                      <p:cBhvr>
                                        <p:cTn id="63" dur="1" fill="hold">
                                          <p:stCondLst>
                                            <p:cond delay="0"/>
                                          </p:stCondLst>
                                        </p:cTn>
                                        <p:tgtEl>
                                          <p:spTgt spid="3"/>
                                        </p:tgtEl>
                                        <p:attrNameLst>
                                          <p:attrName>style.visibility</p:attrName>
                                        </p:attrNameLst>
                                      </p:cBhvr>
                                      <p:to>
                                        <p:strVal val="visible"/>
                                      </p:to>
                                    </p:set>
                                    <p:animEffect transition="in" filter="wipe(left)">
                                      <p:cBhvr>
                                        <p:cTn id="64" dur="500"/>
                                        <p:tgtEl>
                                          <p:spTgt spid="3"/>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22" presetClass="entr" presetSubtype="8" fill="hold" nodeType="clickEffect">
                                  <p:stCondLst>
                                    <p:cond delay="0"/>
                                  </p:stCondLst>
                                  <p:childTnLst>
                                    <p:set>
                                      <p:cBhvr>
                                        <p:cTn id="68" dur="1" fill="hold">
                                          <p:stCondLst>
                                            <p:cond delay="0"/>
                                          </p:stCondLst>
                                        </p:cTn>
                                        <p:tgtEl>
                                          <p:spTgt spid="7"/>
                                        </p:tgtEl>
                                        <p:attrNameLst>
                                          <p:attrName>style.visibility</p:attrName>
                                        </p:attrNameLst>
                                      </p:cBhvr>
                                      <p:to>
                                        <p:strVal val="visible"/>
                                      </p:to>
                                    </p:set>
                                    <p:animEffect transition="in" filter="wipe(left)">
                                      <p:cBhvr>
                                        <p:cTn id="69" dur="500"/>
                                        <p:tgtEl>
                                          <p:spTgt spid="7"/>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22" presetClass="entr" presetSubtype="8" fill="hold" nodeType="clickEffect">
                                  <p:stCondLst>
                                    <p:cond delay="0"/>
                                  </p:stCondLst>
                                  <p:childTnLst>
                                    <p:set>
                                      <p:cBhvr>
                                        <p:cTn id="73" dur="1" fill="hold">
                                          <p:stCondLst>
                                            <p:cond delay="0"/>
                                          </p:stCondLst>
                                        </p:cTn>
                                        <p:tgtEl>
                                          <p:spTgt spid="47"/>
                                        </p:tgtEl>
                                        <p:attrNameLst>
                                          <p:attrName>style.visibility</p:attrName>
                                        </p:attrNameLst>
                                      </p:cBhvr>
                                      <p:to>
                                        <p:strVal val="visible"/>
                                      </p:to>
                                    </p:set>
                                    <p:animEffect transition="in" filter="wipe(left)">
                                      <p:cBhvr>
                                        <p:cTn id="74"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utoUpdateAnimBg="0"/>
      <p:bldP spid="48" grpId="0" autoUpdateAnimBg="0"/>
      <p:bldP spid="31" grpId="0"/>
      <p:bldP spid="56" grpId="0" autoUpdateAnimBg="0"/>
      <p:bldP spid="4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 Box 8"/>
          <p:cNvSpPr txBox="1">
            <a:spLocks noChangeArrowheads="1"/>
          </p:cNvSpPr>
          <p:nvPr/>
        </p:nvSpPr>
        <p:spPr bwMode="auto">
          <a:xfrm>
            <a:off x="512763" y="806450"/>
            <a:ext cx="2341562" cy="376238"/>
          </a:xfrm>
          <a:prstGeom prst="rect">
            <a:avLst/>
          </a:prstGeom>
          <a:noFill/>
          <a:ln w="9525">
            <a:noFill/>
            <a:miter lim="800000"/>
            <a:headEnd/>
            <a:tailEnd/>
          </a:ln>
        </p:spPr>
        <p:txBody>
          <a:bodyPr>
            <a:spAutoFit/>
          </a:bodyPr>
          <a:lstStyle/>
          <a:p>
            <a:pPr eaLnBrk="0" hangingPunct="0">
              <a:lnSpc>
                <a:spcPct val="110000"/>
              </a:lnSpc>
            </a:pPr>
            <a:r>
              <a:rPr lang="en-US" altLang="zh-CN" b="1">
                <a:solidFill>
                  <a:srgbClr val="0000FF"/>
                </a:solidFill>
                <a:latin typeface="华文中宋"/>
                <a:ea typeface="华文中宋"/>
                <a:cs typeface="华文中宋"/>
              </a:rPr>
              <a:t>3</a:t>
            </a:r>
            <a:r>
              <a:rPr lang="zh-CN" altLang="en-US" b="1">
                <a:solidFill>
                  <a:srgbClr val="0000FF"/>
                </a:solidFill>
                <a:latin typeface="华文中宋"/>
                <a:ea typeface="华文中宋"/>
                <a:cs typeface="华文中宋"/>
              </a:rPr>
              <a:t>、等温过程</a:t>
            </a:r>
          </a:p>
        </p:txBody>
      </p:sp>
      <p:graphicFrame>
        <p:nvGraphicFramePr>
          <p:cNvPr id="7" name="Object 145"/>
          <p:cNvGraphicFramePr>
            <a:graphicFrameLocks noChangeAspect="1"/>
          </p:cNvGraphicFramePr>
          <p:nvPr/>
        </p:nvGraphicFramePr>
        <p:xfrm>
          <a:off x="1498600" y="1311275"/>
          <a:ext cx="1536700" cy="482600"/>
        </p:xfrm>
        <a:graphic>
          <a:graphicData uri="http://schemas.openxmlformats.org/presentationml/2006/ole">
            <p:oleObj spid="_x0000_s7313" name="Equation" r:id="rId3" imgW="850531" imgH="355446" progId="Equation.DSMT4">
              <p:embed/>
            </p:oleObj>
          </a:graphicData>
        </a:graphic>
      </p:graphicFrame>
      <p:graphicFrame>
        <p:nvGraphicFramePr>
          <p:cNvPr id="8" name="Object 146"/>
          <p:cNvGraphicFramePr>
            <a:graphicFrameLocks noChangeAspect="1"/>
          </p:cNvGraphicFramePr>
          <p:nvPr/>
        </p:nvGraphicFramePr>
        <p:xfrm>
          <a:off x="1609725" y="1816100"/>
          <a:ext cx="2182813" cy="757238"/>
        </p:xfrm>
        <a:graphic>
          <a:graphicData uri="http://schemas.openxmlformats.org/presentationml/2006/ole">
            <p:oleObj spid="_x0000_s7314" name="Equation" r:id="rId4" imgW="850531" imgH="393529" progId="Equation.DSMT4">
              <p:embed/>
            </p:oleObj>
          </a:graphicData>
        </a:graphic>
      </p:graphicFrame>
      <p:grpSp>
        <p:nvGrpSpPr>
          <p:cNvPr id="3" name="组合 36"/>
          <p:cNvGrpSpPr>
            <a:grpSpLocks/>
          </p:cNvGrpSpPr>
          <p:nvPr/>
        </p:nvGrpSpPr>
        <p:grpSpPr bwMode="auto">
          <a:xfrm>
            <a:off x="5948363" y="771525"/>
            <a:ext cx="2224087" cy="1308100"/>
            <a:chOff x="5393848" y="1484251"/>
            <a:chExt cx="2380722" cy="1839697"/>
          </a:xfrm>
        </p:grpSpPr>
        <p:sp>
          <p:nvSpPr>
            <p:cNvPr id="7330" name="Text Box 10"/>
            <p:cNvSpPr txBox="1">
              <a:spLocks noChangeArrowheads="1"/>
            </p:cNvSpPr>
            <p:nvPr/>
          </p:nvSpPr>
          <p:spPr bwMode="auto">
            <a:xfrm>
              <a:off x="5393848" y="1484251"/>
              <a:ext cx="409606" cy="437149"/>
            </a:xfrm>
            <a:prstGeom prst="rect">
              <a:avLst/>
            </a:prstGeom>
            <a:noFill/>
            <a:ln w="9525">
              <a:noFill/>
              <a:miter lim="800000"/>
              <a:headEnd/>
              <a:tailEnd/>
            </a:ln>
          </p:spPr>
          <p:txBody>
            <a:bodyPr>
              <a:spAutoFit/>
            </a:bodyPr>
            <a:lstStyle/>
            <a:p>
              <a:pPr algn="ctr">
                <a:lnSpc>
                  <a:spcPct val="110000"/>
                </a:lnSpc>
              </a:pPr>
              <a:r>
                <a:rPr kumimoji="1" lang="en-US" altLang="zh-CN" sz="1500" b="1" i="1">
                  <a:solidFill>
                    <a:srgbClr val="000000"/>
                  </a:solidFill>
                  <a:latin typeface="Times New Roman" pitchFamily="18" charset="0"/>
                </a:rPr>
                <a:t>p</a:t>
              </a:r>
            </a:p>
          </p:txBody>
        </p:sp>
        <p:sp>
          <p:nvSpPr>
            <p:cNvPr id="7331" name="Text Box 14"/>
            <p:cNvSpPr txBox="1">
              <a:spLocks noChangeArrowheads="1"/>
            </p:cNvSpPr>
            <p:nvPr/>
          </p:nvSpPr>
          <p:spPr bwMode="auto">
            <a:xfrm>
              <a:off x="7461640" y="2862262"/>
              <a:ext cx="312930" cy="461686"/>
            </a:xfrm>
            <a:prstGeom prst="rect">
              <a:avLst/>
            </a:prstGeom>
            <a:noFill/>
            <a:ln w="9525">
              <a:noFill/>
              <a:miter lim="800000"/>
              <a:headEnd/>
              <a:tailEnd/>
            </a:ln>
          </p:spPr>
          <p:txBody>
            <a:bodyPr wrap="none">
              <a:spAutoFit/>
            </a:bodyPr>
            <a:lstStyle/>
            <a:p>
              <a:pPr algn="ctr">
                <a:lnSpc>
                  <a:spcPct val="110000"/>
                </a:lnSpc>
              </a:pPr>
              <a:r>
                <a:rPr kumimoji="1" lang="en-US" altLang="zh-CN" sz="1500" b="1" i="1">
                  <a:solidFill>
                    <a:srgbClr val="000000"/>
                  </a:solidFill>
                  <a:latin typeface="Times New Roman" pitchFamily="18" charset="0"/>
                </a:rPr>
                <a:t>V</a:t>
              </a:r>
            </a:p>
          </p:txBody>
        </p:sp>
        <p:sp>
          <p:nvSpPr>
            <p:cNvPr id="7332" name="Text Box 15"/>
            <p:cNvSpPr txBox="1">
              <a:spLocks noChangeArrowheads="1"/>
            </p:cNvSpPr>
            <p:nvPr/>
          </p:nvSpPr>
          <p:spPr bwMode="auto">
            <a:xfrm>
              <a:off x="6041997" y="2852740"/>
              <a:ext cx="377055" cy="437149"/>
            </a:xfrm>
            <a:prstGeom prst="rect">
              <a:avLst/>
            </a:prstGeom>
            <a:noFill/>
            <a:ln w="9525">
              <a:noFill/>
              <a:miter lim="800000"/>
              <a:headEnd/>
              <a:tailEnd/>
            </a:ln>
          </p:spPr>
          <p:txBody>
            <a:bodyPr wrap="none">
              <a:spAutoFit/>
            </a:bodyPr>
            <a:lstStyle/>
            <a:p>
              <a:pPr algn="ctr">
                <a:lnSpc>
                  <a:spcPct val="110000"/>
                </a:lnSpc>
              </a:pPr>
              <a:r>
                <a:rPr kumimoji="1" lang="en-US" altLang="zh-CN" sz="1500" b="1" i="1">
                  <a:solidFill>
                    <a:srgbClr val="000000"/>
                  </a:solidFill>
                  <a:latin typeface="Times New Roman" pitchFamily="18" charset="0"/>
                </a:rPr>
                <a:t>V</a:t>
              </a:r>
              <a:r>
                <a:rPr kumimoji="1" lang="en-US" altLang="zh-CN" sz="1500" b="1" baseline="-25000">
                  <a:solidFill>
                    <a:srgbClr val="000000"/>
                  </a:solidFill>
                  <a:latin typeface="Times New Roman" pitchFamily="18" charset="0"/>
                </a:rPr>
                <a:t>1</a:t>
              </a:r>
            </a:p>
          </p:txBody>
        </p:sp>
        <p:sp>
          <p:nvSpPr>
            <p:cNvPr id="7333" name="Text Box 16"/>
            <p:cNvSpPr txBox="1">
              <a:spLocks noChangeArrowheads="1"/>
            </p:cNvSpPr>
            <p:nvPr/>
          </p:nvSpPr>
          <p:spPr bwMode="auto">
            <a:xfrm>
              <a:off x="5522306" y="2825749"/>
              <a:ext cx="324152" cy="437149"/>
            </a:xfrm>
            <a:prstGeom prst="rect">
              <a:avLst/>
            </a:prstGeom>
            <a:noFill/>
            <a:ln w="9525">
              <a:noFill/>
              <a:miter lim="800000"/>
              <a:headEnd/>
              <a:tailEnd/>
            </a:ln>
          </p:spPr>
          <p:txBody>
            <a:bodyPr wrap="none">
              <a:spAutoFit/>
            </a:bodyPr>
            <a:lstStyle/>
            <a:p>
              <a:pPr algn="ctr">
                <a:lnSpc>
                  <a:spcPct val="110000"/>
                </a:lnSpc>
              </a:pPr>
              <a:r>
                <a:rPr kumimoji="1" lang="en-US" altLang="zh-CN" sz="1500" b="1" i="1">
                  <a:solidFill>
                    <a:srgbClr val="000000"/>
                  </a:solidFill>
                  <a:latin typeface="Times New Roman" pitchFamily="18" charset="0"/>
                </a:rPr>
                <a:t>O</a:t>
              </a:r>
            </a:p>
          </p:txBody>
        </p:sp>
        <p:sp>
          <p:nvSpPr>
            <p:cNvPr id="7334" name="Text Box 19"/>
            <p:cNvSpPr txBox="1">
              <a:spLocks noChangeArrowheads="1"/>
            </p:cNvSpPr>
            <p:nvPr/>
          </p:nvSpPr>
          <p:spPr bwMode="auto">
            <a:xfrm>
              <a:off x="5400753" y="1819229"/>
              <a:ext cx="344992" cy="437149"/>
            </a:xfrm>
            <a:prstGeom prst="rect">
              <a:avLst/>
            </a:prstGeom>
            <a:noFill/>
            <a:ln w="9525">
              <a:noFill/>
              <a:miter lim="800000"/>
              <a:headEnd/>
              <a:tailEnd/>
            </a:ln>
          </p:spPr>
          <p:txBody>
            <a:bodyPr wrap="none">
              <a:spAutoFit/>
            </a:bodyPr>
            <a:lstStyle/>
            <a:p>
              <a:pPr algn="ctr">
                <a:lnSpc>
                  <a:spcPct val="110000"/>
                </a:lnSpc>
              </a:pPr>
              <a:r>
                <a:rPr kumimoji="1" lang="en-US" altLang="zh-CN" sz="1500" b="1" i="1">
                  <a:solidFill>
                    <a:srgbClr val="000000"/>
                  </a:solidFill>
                  <a:latin typeface="Times New Roman" pitchFamily="18" charset="0"/>
                </a:rPr>
                <a:t>p</a:t>
              </a:r>
              <a:r>
                <a:rPr kumimoji="1" lang="en-US" altLang="zh-CN" sz="1500" b="1" baseline="-25000">
                  <a:solidFill>
                    <a:srgbClr val="000000"/>
                  </a:solidFill>
                  <a:latin typeface="Times New Roman" pitchFamily="18" charset="0"/>
                </a:rPr>
                <a:t>1</a:t>
              </a:r>
            </a:p>
          </p:txBody>
        </p:sp>
        <p:sp>
          <p:nvSpPr>
            <p:cNvPr id="7335" name="Text Box 20"/>
            <p:cNvSpPr txBox="1">
              <a:spLocks noChangeArrowheads="1"/>
            </p:cNvSpPr>
            <p:nvPr/>
          </p:nvSpPr>
          <p:spPr bwMode="auto">
            <a:xfrm>
              <a:off x="7067201" y="2879726"/>
              <a:ext cx="523915" cy="437149"/>
            </a:xfrm>
            <a:prstGeom prst="rect">
              <a:avLst/>
            </a:prstGeom>
            <a:noFill/>
            <a:ln w="9525">
              <a:noFill/>
              <a:miter lim="800000"/>
              <a:headEnd/>
              <a:tailEnd/>
            </a:ln>
          </p:spPr>
          <p:txBody>
            <a:bodyPr>
              <a:spAutoFit/>
            </a:bodyPr>
            <a:lstStyle/>
            <a:p>
              <a:pPr>
                <a:lnSpc>
                  <a:spcPct val="110000"/>
                </a:lnSpc>
              </a:pPr>
              <a:r>
                <a:rPr kumimoji="1" lang="en-US" altLang="zh-CN" sz="1500" b="1" i="1">
                  <a:solidFill>
                    <a:srgbClr val="000000"/>
                  </a:solidFill>
                  <a:latin typeface="Times New Roman" pitchFamily="18" charset="0"/>
                </a:rPr>
                <a:t>V</a:t>
              </a:r>
              <a:r>
                <a:rPr kumimoji="1" lang="en-US" altLang="zh-CN" sz="1500" b="1" baseline="-25000">
                  <a:solidFill>
                    <a:srgbClr val="000000"/>
                  </a:solidFill>
                  <a:latin typeface="Times New Roman" pitchFamily="18" charset="0"/>
                </a:rPr>
                <a:t>2</a:t>
              </a:r>
            </a:p>
          </p:txBody>
        </p:sp>
        <p:sp>
          <p:nvSpPr>
            <p:cNvPr id="7336" name="Text Box 21"/>
            <p:cNvSpPr txBox="1">
              <a:spLocks noChangeArrowheads="1"/>
            </p:cNvSpPr>
            <p:nvPr/>
          </p:nvSpPr>
          <p:spPr bwMode="auto">
            <a:xfrm>
              <a:off x="6189417" y="1738262"/>
              <a:ext cx="260027" cy="437149"/>
            </a:xfrm>
            <a:prstGeom prst="rect">
              <a:avLst/>
            </a:prstGeom>
            <a:noFill/>
            <a:ln w="9525">
              <a:noFill/>
              <a:miter lim="800000"/>
              <a:headEnd/>
              <a:tailEnd/>
            </a:ln>
          </p:spPr>
          <p:txBody>
            <a:bodyPr wrap="none">
              <a:spAutoFit/>
            </a:bodyPr>
            <a:lstStyle/>
            <a:p>
              <a:pPr algn="ctr">
                <a:lnSpc>
                  <a:spcPct val="110000"/>
                </a:lnSpc>
              </a:pPr>
              <a:r>
                <a:rPr kumimoji="1" lang="en-US" altLang="zh-CN" sz="1500" b="1" i="1">
                  <a:solidFill>
                    <a:srgbClr val="3333FF"/>
                  </a:solidFill>
                  <a:latin typeface="Times New Roman" pitchFamily="18" charset="0"/>
                </a:rPr>
                <a:t>I</a:t>
              </a:r>
            </a:p>
          </p:txBody>
        </p:sp>
        <p:sp>
          <p:nvSpPr>
            <p:cNvPr id="7337" name="Text Box 22"/>
            <p:cNvSpPr txBox="1">
              <a:spLocks noChangeArrowheads="1"/>
            </p:cNvSpPr>
            <p:nvPr/>
          </p:nvSpPr>
          <p:spPr bwMode="auto">
            <a:xfrm>
              <a:off x="7255142" y="2336778"/>
              <a:ext cx="335373" cy="437149"/>
            </a:xfrm>
            <a:prstGeom prst="rect">
              <a:avLst/>
            </a:prstGeom>
            <a:noFill/>
            <a:ln w="9525">
              <a:noFill/>
              <a:miter lim="800000"/>
              <a:headEnd/>
              <a:tailEnd/>
            </a:ln>
          </p:spPr>
          <p:txBody>
            <a:bodyPr wrap="none">
              <a:spAutoFit/>
            </a:bodyPr>
            <a:lstStyle/>
            <a:p>
              <a:pPr algn="ctr">
                <a:lnSpc>
                  <a:spcPct val="110000"/>
                </a:lnSpc>
              </a:pPr>
              <a:r>
                <a:rPr kumimoji="1" lang="en-US" altLang="zh-CN" sz="1500" b="1" i="1">
                  <a:solidFill>
                    <a:srgbClr val="3333FF"/>
                  </a:solidFill>
                  <a:latin typeface="Times New Roman" pitchFamily="18" charset="0"/>
                </a:rPr>
                <a:t>II</a:t>
              </a:r>
            </a:p>
          </p:txBody>
        </p:sp>
        <p:sp>
          <p:nvSpPr>
            <p:cNvPr id="7338" name="Text Box 26"/>
            <p:cNvSpPr txBox="1">
              <a:spLocks noChangeArrowheads="1"/>
            </p:cNvSpPr>
            <p:nvPr/>
          </p:nvSpPr>
          <p:spPr bwMode="auto">
            <a:xfrm>
              <a:off x="5426155" y="2374879"/>
              <a:ext cx="344992" cy="437149"/>
            </a:xfrm>
            <a:prstGeom prst="rect">
              <a:avLst/>
            </a:prstGeom>
            <a:noFill/>
            <a:ln w="9525">
              <a:noFill/>
              <a:miter lim="800000"/>
              <a:headEnd/>
              <a:tailEnd/>
            </a:ln>
          </p:spPr>
          <p:txBody>
            <a:bodyPr wrap="none">
              <a:spAutoFit/>
            </a:bodyPr>
            <a:lstStyle/>
            <a:p>
              <a:pPr algn="ctr">
                <a:lnSpc>
                  <a:spcPct val="110000"/>
                </a:lnSpc>
              </a:pPr>
              <a:r>
                <a:rPr kumimoji="1" lang="en-US" altLang="zh-CN" sz="1500" b="1" i="1">
                  <a:solidFill>
                    <a:srgbClr val="000000"/>
                  </a:solidFill>
                  <a:latin typeface="Times New Roman" pitchFamily="18" charset="0"/>
                </a:rPr>
                <a:t>p</a:t>
              </a:r>
              <a:r>
                <a:rPr kumimoji="1" lang="en-US" altLang="zh-CN" sz="1500" b="1" baseline="-25000">
                  <a:solidFill>
                    <a:srgbClr val="000000"/>
                  </a:solidFill>
                  <a:latin typeface="Times New Roman" pitchFamily="18" charset="0"/>
                </a:rPr>
                <a:t>2</a:t>
              </a:r>
            </a:p>
          </p:txBody>
        </p:sp>
        <p:cxnSp>
          <p:nvCxnSpPr>
            <p:cNvPr id="7339" name="直接箭头连接符 10"/>
            <p:cNvCxnSpPr>
              <a:cxnSpLocks noChangeShapeType="1"/>
            </p:cNvCxnSpPr>
            <p:nvPr/>
          </p:nvCxnSpPr>
          <p:spPr bwMode="auto">
            <a:xfrm flipV="1">
              <a:off x="5743852" y="1677880"/>
              <a:ext cx="0" cy="1233996"/>
            </a:xfrm>
            <a:prstGeom prst="straightConnector1">
              <a:avLst/>
            </a:prstGeom>
            <a:noFill/>
            <a:ln w="9525" algn="ctr">
              <a:solidFill>
                <a:srgbClr val="0070C0"/>
              </a:solidFill>
              <a:round/>
              <a:headEnd/>
              <a:tailEnd type="arrow" w="med" len="med"/>
            </a:ln>
          </p:spPr>
        </p:cxnSp>
        <p:cxnSp>
          <p:nvCxnSpPr>
            <p:cNvPr id="7340" name="直接箭头连接符 12"/>
            <p:cNvCxnSpPr>
              <a:cxnSpLocks noChangeShapeType="1"/>
            </p:cNvCxnSpPr>
            <p:nvPr/>
          </p:nvCxnSpPr>
          <p:spPr bwMode="auto">
            <a:xfrm>
              <a:off x="5734975" y="2902998"/>
              <a:ext cx="1979720" cy="0"/>
            </a:xfrm>
            <a:prstGeom prst="straightConnector1">
              <a:avLst/>
            </a:prstGeom>
            <a:noFill/>
            <a:ln w="9525" algn="ctr">
              <a:solidFill>
                <a:srgbClr val="0070C0"/>
              </a:solidFill>
              <a:round/>
              <a:headEnd/>
              <a:tailEnd type="arrow" w="med" len="med"/>
            </a:ln>
          </p:spPr>
        </p:cxnSp>
        <p:cxnSp>
          <p:nvCxnSpPr>
            <p:cNvPr id="7341" name="直接连接符 24"/>
            <p:cNvCxnSpPr>
              <a:cxnSpLocks noChangeShapeType="1"/>
            </p:cNvCxnSpPr>
            <p:nvPr/>
          </p:nvCxnSpPr>
          <p:spPr bwMode="auto">
            <a:xfrm>
              <a:off x="6196614" y="1988597"/>
              <a:ext cx="0" cy="905523"/>
            </a:xfrm>
            <a:prstGeom prst="line">
              <a:avLst/>
            </a:prstGeom>
            <a:noFill/>
            <a:ln w="9525" algn="ctr">
              <a:solidFill>
                <a:schemeClr val="tx1"/>
              </a:solidFill>
              <a:prstDash val="dash"/>
              <a:round/>
              <a:headEnd/>
              <a:tailEnd/>
            </a:ln>
          </p:spPr>
        </p:cxnSp>
        <p:cxnSp>
          <p:nvCxnSpPr>
            <p:cNvPr id="7342" name="直接连接符 28"/>
            <p:cNvCxnSpPr>
              <a:cxnSpLocks noChangeShapeType="1"/>
            </p:cNvCxnSpPr>
            <p:nvPr/>
          </p:nvCxnSpPr>
          <p:spPr bwMode="auto">
            <a:xfrm>
              <a:off x="5743852" y="1988598"/>
              <a:ext cx="443884" cy="0"/>
            </a:xfrm>
            <a:prstGeom prst="line">
              <a:avLst/>
            </a:prstGeom>
            <a:noFill/>
            <a:ln w="9525" algn="ctr">
              <a:solidFill>
                <a:schemeClr val="tx1"/>
              </a:solidFill>
              <a:prstDash val="dash"/>
              <a:round/>
              <a:headEnd/>
              <a:tailEnd/>
            </a:ln>
          </p:spPr>
        </p:cxnSp>
        <p:cxnSp>
          <p:nvCxnSpPr>
            <p:cNvPr id="7343" name="直接连接符 31"/>
            <p:cNvCxnSpPr>
              <a:cxnSpLocks noChangeShapeType="1"/>
            </p:cNvCxnSpPr>
            <p:nvPr/>
          </p:nvCxnSpPr>
          <p:spPr bwMode="auto">
            <a:xfrm>
              <a:off x="5752730" y="2636668"/>
              <a:ext cx="1562470" cy="0"/>
            </a:xfrm>
            <a:prstGeom prst="line">
              <a:avLst/>
            </a:prstGeom>
            <a:noFill/>
            <a:ln w="9525" algn="ctr">
              <a:solidFill>
                <a:schemeClr val="tx1"/>
              </a:solidFill>
              <a:prstDash val="dash"/>
              <a:round/>
              <a:headEnd/>
              <a:tailEnd/>
            </a:ln>
          </p:spPr>
        </p:cxnSp>
        <p:cxnSp>
          <p:nvCxnSpPr>
            <p:cNvPr id="7344" name="直接连接符 33"/>
            <p:cNvCxnSpPr>
              <a:cxnSpLocks noChangeShapeType="1"/>
            </p:cNvCxnSpPr>
            <p:nvPr/>
          </p:nvCxnSpPr>
          <p:spPr bwMode="auto">
            <a:xfrm>
              <a:off x="7306322" y="2627790"/>
              <a:ext cx="0" cy="284086"/>
            </a:xfrm>
            <a:prstGeom prst="line">
              <a:avLst/>
            </a:prstGeom>
            <a:noFill/>
            <a:ln w="9525" algn="ctr">
              <a:solidFill>
                <a:schemeClr val="tx1"/>
              </a:solidFill>
              <a:prstDash val="dash"/>
              <a:round/>
              <a:headEnd/>
              <a:tailEnd/>
            </a:ln>
          </p:spPr>
        </p:cxnSp>
        <p:sp>
          <p:nvSpPr>
            <p:cNvPr id="7345" name="任意多边形 35"/>
            <p:cNvSpPr>
              <a:spLocks/>
            </p:cNvSpPr>
            <p:nvPr/>
          </p:nvSpPr>
          <p:spPr bwMode="auto">
            <a:xfrm>
              <a:off x="6196614" y="1997476"/>
              <a:ext cx="1109708" cy="639192"/>
            </a:xfrm>
            <a:custGeom>
              <a:avLst/>
              <a:gdLst>
                <a:gd name="T0" fmla="*/ 0 w 1109708"/>
                <a:gd name="T1" fmla="*/ 0 h 639192"/>
                <a:gd name="T2" fmla="*/ 1109708 w 1109708"/>
                <a:gd name="T3" fmla="*/ 639192 h 639192"/>
                <a:gd name="T4" fmla="*/ 0 60000 65536"/>
                <a:gd name="T5" fmla="*/ 0 60000 65536"/>
                <a:gd name="T6" fmla="*/ 0 w 1109708"/>
                <a:gd name="T7" fmla="*/ 0 h 639192"/>
                <a:gd name="T8" fmla="*/ 1109708 w 1109708"/>
                <a:gd name="T9" fmla="*/ 639192 h 639192"/>
              </a:gdLst>
              <a:ahLst/>
              <a:cxnLst>
                <a:cxn ang="T4">
                  <a:pos x="T0" y="T1"/>
                </a:cxn>
                <a:cxn ang="T5">
                  <a:pos x="T2" y="T3"/>
                </a:cxn>
              </a:cxnLst>
              <a:rect l="T6" t="T7" r="T8" b="T9"/>
              <a:pathLst>
                <a:path w="1109708" h="639192">
                  <a:moveTo>
                    <a:pt x="0" y="0"/>
                  </a:moveTo>
                  <a:cubicBezTo>
                    <a:pt x="121329" y="381740"/>
                    <a:pt x="606641" y="630314"/>
                    <a:pt x="1109708" y="639192"/>
                  </a:cubicBezTo>
                </a:path>
              </a:pathLst>
            </a:custGeom>
            <a:noFill/>
            <a:ln w="19050" algn="ctr">
              <a:solidFill>
                <a:srgbClr val="C00000"/>
              </a:solidFill>
              <a:round/>
              <a:headEnd/>
              <a:tailEnd/>
            </a:ln>
          </p:spPr>
          <p:txBody>
            <a:bodyPr/>
            <a:lstStyle/>
            <a:p>
              <a:endParaRPr lang="zh-CN" altLang="en-US"/>
            </a:p>
          </p:txBody>
        </p:sp>
      </p:grpSp>
      <p:sp>
        <p:nvSpPr>
          <p:cNvPr id="75" name="Text Box 27"/>
          <p:cNvSpPr txBox="1">
            <a:spLocks noChangeArrowheads="1"/>
          </p:cNvSpPr>
          <p:nvPr/>
        </p:nvSpPr>
        <p:spPr bwMode="auto">
          <a:xfrm>
            <a:off x="1879600" y="806450"/>
            <a:ext cx="1108075" cy="396875"/>
          </a:xfrm>
          <a:prstGeom prst="rect">
            <a:avLst/>
          </a:prstGeom>
          <a:noFill/>
          <a:ln w="9525">
            <a:noFill/>
            <a:miter lim="800000"/>
            <a:headEnd/>
            <a:tailEnd/>
          </a:ln>
        </p:spPr>
        <p:txBody>
          <a:bodyPr>
            <a:spAutoFit/>
          </a:bodyPr>
          <a:lstStyle/>
          <a:p>
            <a:pPr eaLnBrk="0" hangingPunct="0">
              <a:lnSpc>
                <a:spcPct val="110000"/>
              </a:lnSpc>
            </a:pPr>
            <a:r>
              <a:rPr lang="en-US" altLang="zh-CN" b="1">
                <a:solidFill>
                  <a:srgbClr val="FF00FF"/>
                </a:solidFill>
                <a:latin typeface="Times New Roman" pitchFamily="18" charset="0"/>
              </a:rPr>
              <a:t>d</a:t>
            </a:r>
            <a:r>
              <a:rPr lang="en-US" altLang="zh-CN" b="1" i="1">
                <a:solidFill>
                  <a:srgbClr val="FF00FF"/>
                </a:solidFill>
                <a:latin typeface="Times New Roman" pitchFamily="18" charset="0"/>
              </a:rPr>
              <a:t>T</a:t>
            </a:r>
            <a:r>
              <a:rPr lang="en-US" altLang="zh-CN" b="1">
                <a:solidFill>
                  <a:srgbClr val="FF00FF"/>
                </a:solidFill>
                <a:latin typeface="Times New Roman" pitchFamily="18" charset="0"/>
              </a:rPr>
              <a:t>=0</a:t>
            </a:r>
          </a:p>
        </p:txBody>
      </p:sp>
      <p:graphicFrame>
        <p:nvGraphicFramePr>
          <p:cNvPr id="4" name="Object 147"/>
          <p:cNvGraphicFramePr>
            <a:graphicFrameLocks noChangeAspect="1"/>
          </p:cNvGraphicFramePr>
          <p:nvPr/>
        </p:nvGraphicFramePr>
        <p:xfrm>
          <a:off x="1895475" y="3940175"/>
          <a:ext cx="1884363" cy="647700"/>
        </p:xfrm>
        <a:graphic>
          <a:graphicData uri="http://schemas.openxmlformats.org/presentationml/2006/ole">
            <p:oleObj spid="_x0000_s7315" name="Equation" r:id="rId5" imgW="965200" imgH="431800" progId="Equation.DSMT4">
              <p:embed/>
            </p:oleObj>
          </a:graphicData>
        </a:graphic>
      </p:graphicFrame>
      <p:graphicFrame>
        <p:nvGraphicFramePr>
          <p:cNvPr id="152608" name="Object 148"/>
          <p:cNvGraphicFramePr>
            <a:graphicFrameLocks noChangeAspect="1"/>
          </p:cNvGraphicFramePr>
          <p:nvPr/>
        </p:nvGraphicFramePr>
        <p:xfrm>
          <a:off x="1619250" y="2608263"/>
          <a:ext cx="1584325" cy="674687"/>
        </p:xfrm>
        <a:graphic>
          <a:graphicData uri="http://schemas.openxmlformats.org/presentationml/2006/ole">
            <p:oleObj spid="_x0000_s7316" name="Equation" r:id="rId6" imgW="558558" imgH="317362" progId="Equation.DSMT4">
              <p:embed/>
            </p:oleObj>
          </a:graphicData>
        </a:graphic>
      </p:graphicFrame>
      <p:graphicFrame>
        <p:nvGraphicFramePr>
          <p:cNvPr id="152609" name="Object 149"/>
          <p:cNvGraphicFramePr>
            <a:graphicFrameLocks noChangeAspect="1"/>
          </p:cNvGraphicFramePr>
          <p:nvPr/>
        </p:nvGraphicFramePr>
        <p:xfrm>
          <a:off x="3203575" y="2608263"/>
          <a:ext cx="1655763" cy="674687"/>
        </p:xfrm>
        <a:graphic>
          <a:graphicData uri="http://schemas.openxmlformats.org/presentationml/2006/ole">
            <p:oleObj spid="_x0000_s7317" name="公式" r:id="rId7" imgW="583693" imgH="317225" progId="Equation.3">
              <p:embed/>
            </p:oleObj>
          </a:graphicData>
        </a:graphic>
      </p:graphicFrame>
      <p:graphicFrame>
        <p:nvGraphicFramePr>
          <p:cNvPr id="152610" name="Object 150"/>
          <p:cNvGraphicFramePr>
            <a:graphicFrameLocks noChangeAspect="1"/>
          </p:cNvGraphicFramePr>
          <p:nvPr/>
        </p:nvGraphicFramePr>
        <p:xfrm>
          <a:off x="4859338" y="2608263"/>
          <a:ext cx="1692275" cy="674687"/>
        </p:xfrm>
        <a:graphic>
          <a:graphicData uri="http://schemas.openxmlformats.org/presentationml/2006/ole">
            <p:oleObj spid="_x0000_s7318" name="公式" r:id="rId8" imgW="596641" imgH="317362" progId="Equation.3">
              <p:embed/>
            </p:oleObj>
          </a:graphicData>
        </a:graphic>
      </p:graphicFrame>
      <p:graphicFrame>
        <p:nvGraphicFramePr>
          <p:cNvPr id="152611" name="Object 151"/>
          <p:cNvGraphicFramePr>
            <a:graphicFrameLocks noChangeAspect="1"/>
          </p:cNvGraphicFramePr>
          <p:nvPr/>
        </p:nvGraphicFramePr>
        <p:xfrm>
          <a:off x="1619250" y="3336925"/>
          <a:ext cx="1584325" cy="674688"/>
        </p:xfrm>
        <a:graphic>
          <a:graphicData uri="http://schemas.openxmlformats.org/presentationml/2006/ole">
            <p:oleObj spid="_x0000_s7319" name="公式" r:id="rId9" imgW="558558" imgH="317362" progId="Equation.3">
              <p:embed/>
            </p:oleObj>
          </a:graphicData>
        </a:graphic>
      </p:graphicFrame>
      <p:graphicFrame>
        <p:nvGraphicFramePr>
          <p:cNvPr id="152612" name="Object 152"/>
          <p:cNvGraphicFramePr>
            <a:graphicFrameLocks noChangeAspect="1"/>
          </p:cNvGraphicFramePr>
          <p:nvPr/>
        </p:nvGraphicFramePr>
        <p:xfrm>
          <a:off x="3240088" y="3336925"/>
          <a:ext cx="1655762" cy="674688"/>
        </p:xfrm>
        <a:graphic>
          <a:graphicData uri="http://schemas.openxmlformats.org/presentationml/2006/ole">
            <p:oleObj spid="_x0000_s7320" name="公式" r:id="rId10" imgW="583693" imgH="317225" progId="Equation.3">
              <p:embed/>
            </p:oleObj>
          </a:graphicData>
        </a:graphic>
      </p:graphicFrame>
      <p:graphicFrame>
        <p:nvGraphicFramePr>
          <p:cNvPr id="152613" name="Object 153"/>
          <p:cNvGraphicFramePr>
            <a:graphicFrameLocks noChangeAspect="1"/>
          </p:cNvGraphicFramePr>
          <p:nvPr/>
        </p:nvGraphicFramePr>
        <p:xfrm>
          <a:off x="4930775" y="3309938"/>
          <a:ext cx="1692275" cy="674687"/>
        </p:xfrm>
        <a:graphic>
          <a:graphicData uri="http://schemas.openxmlformats.org/presentationml/2006/ole">
            <p:oleObj spid="_x0000_s7321" name="公式" r:id="rId11" imgW="596641" imgH="317362" progId="Equation.3">
              <p:embed/>
            </p:oleObj>
          </a:graphicData>
        </a:graphic>
      </p:graphicFrame>
      <p:graphicFrame>
        <p:nvGraphicFramePr>
          <p:cNvPr id="152614" name="Object 154"/>
          <p:cNvGraphicFramePr>
            <a:graphicFrameLocks noChangeAspect="1"/>
          </p:cNvGraphicFramePr>
          <p:nvPr/>
        </p:nvGraphicFramePr>
        <p:xfrm>
          <a:off x="4211638" y="2176463"/>
          <a:ext cx="1439862" cy="260350"/>
        </p:xfrm>
        <a:graphic>
          <a:graphicData uri="http://schemas.openxmlformats.org/presentationml/2006/ole">
            <p:oleObj spid="_x0000_s7322" name="Equation" r:id="rId12" imgW="736280" imgH="177723" progId="Equation.DSMT4">
              <p:embed/>
            </p:oleObj>
          </a:graphicData>
        </a:graphic>
      </p:graphicFrame>
      <p:graphicFrame>
        <p:nvGraphicFramePr>
          <p:cNvPr id="152615" name="Object 155"/>
          <p:cNvGraphicFramePr>
            <a:graphicFrameLocks noChangeAspect="1"/>
          </p:cNvGraphicFramePr>
          <p:nvPr/>
        </p:nvGraphicFramePr>
        <p:xfrm>
          <a:off x="5795963" y="2138363"/>
          <a:ext cx="2519362" cy="361950"/>
        </p:xfrm>
        <a:graphic>
          <a:graphicData uri="http://schemas.openxmlformats.org/presentationml/2006/ole">
            <p:oleObj spid="_x0000_s7323" name="Equation" r:id="rId13" imgW="1193800" imgH="228600" progId="Equation.DSMT4">
              <p:embed/>
            </p:oleObj>
          </a:graphicData>
        </a:graphic>
      </p:graphicFrame>
      <p:graphicFrame>
        <p:nvGraphicFramePr>
          <p:cNvPr id="152616" name="Object 156"/>
          <p:cNvGraphicFramePr>
            <a:graphicFrameLocks noChangeAspect="1"/>
          </p:cNvGraphicFramePr>
          <p:nvPr/>
        </p:nvGraphicFramePr>
        <p:xfrm>
          <a:off x="2759075" y="939800"/>
          <a:ext cx="792163" cy="225425"/>
        </p:xfrm>
        <a:graphic>
          <a:graphicData uri="http://schemas.openxmlformats.org/presentationml/2006/ole">
            <p:oleObj spid="_x0000_s7324" name="Equation" r:id="rId14" imgW="469696" imgH="177723" progId="Equation.DSMT4">
              <p:embed/>
            </p:oleObj>
          </a:graphicData>
        </a:graphic>
      </p:graphicFrame>
      <p:graphicFrame>
        <p:nvGraphicFramePr>
          <p:cNvPr id="152617" name="Object 157"/>
          <p:cNvGraphicFramePr>
            <a:graphicFrameLocks noChangeAspect="1"/>
          </p:cNvGraphicFramePr>
          <p:nvPr/>
        </p:nvGraphicFramePr>
        <p:xfrm>
          <a:off x="3971925" y="884238"/>
          <a:ext cx="1392238" cy="319087"/>
        </p:xfrm>
        <a:graphic>
          <a:graphicData uri="http://schemas.openxmlformats.org/presentationml/2006/ole">
            <p:oleObj spid="_x0000_s7325" name="Equation" r:id="rId15" imgW="749300" imgH="228600" progId="Equation.DSMT4">
              <p:embed/>
            </p:oleObj>
          </a:graphicData>
        </a:graphic>
      </p:graphicFrame>
      <p:sp>
        <p:nvSpPr>
          <p:cNvPr id="2" name="Text Box 8"/>
          <p:cNvSpPr txBox="1">
            <a:spLocks noChangeArrowheads="1"/>
          </p:cNvSpPr>
          <p:nvPr/>
        </p:nvSpPr>
        <p:spPr bwMode="auto">
          <a:xfrm>
            <a:off x="3851275" y="4068763"/>
            <a:ext cx="2341563" cy="374650"/>
          </a:xfrm>
          <a:prstGeom prst="rect">
            <a:avLst/>
          </a:prstGeom>
          <a:noFill/>
          <a:ln w="9525">
            <a:noFill/>
            <a:miter lim="800000"/>
            <a:headEnd/>
            <a:tailEnd/>
          </a:ln>
        </p:spPr>
        <p:txBody>
          <a:bodyPr>
            <a:spAutoFit/>
          </a:bodyPr>
          <a:lstStyle/>
          <a:p>
            <a:pPr eaLnBrk="0" hangingPunct="0">
              <a:lnSpc>
                <a:spcPct val="110000"/>
              </a:lnSpc>
            </a:pPr>
            <a:r>
              <a:rPr lang="zh-CN" altLang="en-US" b="1">
                <a:solidFill>
                  <a:srgbClr val="0000FF"/>
                </a:solidFill>
                <a:latin typeface="华文中宋"/>
                <a:ea typeface="华文中宋"/>
                <a:cs typeface="华文中宋"/>
              </a:rPr>
              <a:t>多种形式？？</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wipe(left)">
                                      <p:cBhvr>
                                        <p:cTn id="7" dur="500"/>
                                        <p:tgtEl>
                                          <p:spTgt spid="2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3" presetClass="entr" presetSubtype="16"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p:cTn id="12" dur="500" fill="hold"/>
                                        <p:tgtEl>
                                          <p:spTgt spid="3"/>
                                        </p:tgtEl>
                                        <p:attrNameLst>
                                          <p:attrName>ppt_w</p:attrName>
                                        </p:attrNameLst>
                                      </p:cBhvr>
                                      <p:tavLst>
                                        <p:tav tm="0">
                                          <p:val>
                                            <p:fltVal val="0"/>
                                          </p:val>
                                        </p:tav>
                                        <p:tav tm="100000">
                                          <p:val>
                                            <p:strVal val="#ppt_w"/>
                                          </p:val>
                                        </p:tav>
                                      </p:tavLst>
                                    </p:anim>
                                    <p:anim calcmode="lin" valueType="num">
                                      <p:cBhvr>
                                        <p:cTn id="13" dur="500" fill="hold"/>
                                        <p:tgtEl>
                                          <p:spTgt spid="3"/>
                                        </p:tgtEl>
                                        <p:attrNameLst>
                                          <p:attrName>ppt_h</p:attrName>
                                        </p:attrNameLst>
                                      </p:cBhvr>
                                      <p:tavLst>
                                        <p:tav tm="0">
                                          <p:val>
                                            <p:fltVal val="0"/>
                                          </p:val>
                                        </p:tav>
                                        <p:tav tm="100000">
                                          <p:val>
                                            <p:strVal val="#ppt_h"/>
                                          </p:val>
                                        </p:tav>
                                      </p:tavLst>
                                    </p:anim>
                                    <p:animEffect transition="in" filter="fade">
                                      <p:cBhvr>
                                        <p:cTn id="14" dur="500"/>
                                        <p:tgtEl>
                                          <p:spTgt spid="3"/>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75">
                                            <p:txEl>
                                              <p:pRg st="0" end="0"/>
                                            </p:txEl>
                                          </p:spTgt>
                                        </p:tgtEl>
                                        <p:attrNameLst>
                                          <p:attrName>style.visibility</p:attrName>
                                        </p:attrNameLst>
                                      </p:cBhvr>
                                      <p:to>
                                        <p:strVal val="visible"/>
                                      </p:to>
                                    </p:set>
                                    <p:animEffect transition="in" filter="wipe(left)">
                                      <p:cBhvr>
                                        <p:cTn id="19" dur="500"/>
                                        <p:tgtEl>
                                          <p:spTgt spid="75">
                                            <p:txEl>
                                              <p:pRg st="0" end="0"/>
                                            </p:txEl>
                                          </p:spTgt>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3" presetClass="entr" presetSubtype="10" fill="hold" nodeType="clickEffect">
                                  <p:stCondLst>
                                    <p:cond delay="0"/>
                                  </p:stCondLst>
                                  <p:childTnLst>
                                    <p:set>
                                      <p:cBhvr>
                                        <p:cTn id="23" dur="1" fill="hold">
                                          <p:stCondLst>
                                            <p:cond delay="0"/>
                                          </p:stCondLst>
                                        </p:cTn>
                                        <p:tgtEl>
                                          <p:spTgt spid="152616"/>
                                        </p:tgtEl>
                                        <p:attrNameLst>
                                          <p:attrName>style.visibility</p:attrName>
                                        </p:attrNameLst>
                                      </p:cBhvr>
                                      <p:to>
                                        <p:strVal val="visible"/>
                                      </p:to>
                                    </p:set>
                                    <p:animEffect transition="in" filter="blinds(horizontal)">
                                      <p:cBhvr>
                                        <p:cTn id="24" dur="500"/>
                                        <p:tgtEl>
                                          <p:spTgt spid="152616"/>
                                        </p:tgtEl>
                                      </p:cBhvr>
                                    </p:animEffect>
                                  </p:childTnLst>
                                </p:cTn>
                              </p:par>
                              <p:par>
                                <p:cTn id="25" presetID="3" presetClass="entr" presetSubtype="10" fill="hold" nodeType="withEffect">
                                  <p:stCondLst>
                                    <p:cond delay="0"/>
                                  </p:stCondLst>
                                  <p:childTnLst>
                                    <p:set>
                                      <p:cBhvr>
                                        <p:cTn id="26" dur="1" fill="hold">
                                          <p:stCondLst>
                                            <p:cond delay="0"/>
                                          </p:stCondLst>
                                        </p:cTn>
                                        <p:tgtEl>
                                          <p:spTgt spid="152617"/>
                                        </p:tgtEl>
                                        <p:attrNameLst>
                                          <p:attrName>style.visibility</p:attrName>
                                        </p:attrNameLst>
                                      </p:cBhvr>
                                      <p:to>
                                        <p:strVal val="visible"/>
                                      </p:to>
                                    </p:set>
                                    <p:animEffect transition="in" filter="blinds(horizontal)">
                                      <p:cBhvr>
                                        <p:cTn id="27" dur="500"/>
                                        <p:tgtEl>
                                          <p:spTgt spid="15261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wipe(left)">
                                      <p:cBhvr>
                                        <p:cTn id="32" dur="500"/>
                                        <p:tgtEl>
                                          <p:spTgt spid="7"/>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wipe(left)">
                                      <p:cBhvr>
                                        <p:cTn id="37" dur="500"/>
                                        <p:tgtEl>
                                          <p:spTgt spid="8"/>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152608"/>
                                        </p:tgtEl>
                                        <p:attrNameLst>
                                          <p:attrName>style.visibility</p:attrName>
                                        </p:attrNameLst>
                                      </p:cBhvr>
                                      <p:to>
                                        <p:strVal val="visible"/>
                                      </p:to>
                                    </p:set>
                                    <p:animEffect transition="in" filter="blinds(horizontal)">
                                      <p:cBhvr>
                                        <p:cTn id="42" dur="500"/>
                                        <p:tgtEl>
                                          <p:spTgt spid="152608"/>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nodeType="clickEffect">
                                  <p:stCondLst>
                                    <p:cond delay="0"/>
                                  </p:stCondLst>
                                  <p:childTnLst>
                                    <p:set>
                                      <p:cBhvr>
                                        <p:cTn id="46" dur="1" fill="hold">
                                          <p:stCondLst>
                                            <p:cond delay="0"/>
                                          </p:stCondLst>
                                        </p:cTn>
                                        <p:tgtEl>
                                          <p:spTgt spid="152614"/>
                                        </p:tgtEl>
                                        <p:attrNameLst>
                                          <p:attrName>style.visibility</p:attrName>
                                        </p:attrNameLst>
                                      </p:cBhvr>
                                      <p:to>
                                        <p:strVal val="visible"/>
                                      </p:to>
                                    </p:set>
                                    <p:animEffect transition="in" filter="blinds(horizontal)">
                                      <p:cBhvr>
                                        <p:cTn id="47" dur="500"/>
                                        <p:tgtEl>
                                          <p:spTgt spid="152614"/>
                                        </p:tgtEl>
                                      </p:cBhvr>
                                    </p:animEffect>
                                  </p:childTnLst>
                                </p:cTn>
                              </p:par>
                              <p:par>
                                <p:cTn id="48" presetID="3" presetClass="entr" presetSubtype="10" fill="hold" nodeType="withEffect">
                                  <p:stCondLst>
                                    <p:cond delay="0"/>
                                  </p:stCondLst>
                                  <p:childTnLst>
                                    <p:set>
                                      <p:cBhvr>
                                        <p:cTn id="49" dur="1" fill="hold">
                                          <p:stCondLst>
                                            <p:cond delay="0"/>
                                          </p:stCondLst>
                                        </p:cTn>
                                        <p:tgtEl>
                                          <p:spTgt spid="152615"/>
                                        </p:tgtEl>
                                        <p:attrNameLst>
                                          <p:attrName>style.visibility</p:attrName>
                                        </p:attrNameLst>
                                      </p:cBhvr>
                                      <p:to>
                                        <p:strVal val="visible"/>
                                      </p:to>
                                    </p:set>
                                    <p:animEffect transition="in" filter="blinds(horizontal)">
                                      <p:cBhvr>
                                        <p:cTn id="50" dur="500"/>
                                        <p:tgtEl>
                                          <p:spTgt spid="152615"/>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3" presetClass="entr" presetSubtype="10" fill="hold" nodeType="clickEffect">
                                  <p:stCondLst>
                                    <p:cond delay="0"/>
                                  </p:stCondLst>
                                  <p:childTnLst>
                                    <p:set>
                                      <p:cBhvr>
                                        <p:cTn id="54" dur="1" fill="hold">
                                          <p:stCondLst>
                                            <p:cond delay="0"/>
                                          </p:stCondLst>
                                        </p:cTn>
                                        <p:tgtEl>
                                          <p:spTgt spid="152609"/>
                                        </p:tgtEl>
                                        <p:attrNameLst>
                                          <p:attrName>style.visibility</p:attrName>
                                        </p:attrNameLst>
                                      </p:cBhvr>
                                      <p:to>
                                        <p:strVal val="visible"/>
                                      </p:to>
                                    </p:set>
                                    <p:animEffect transition="in" filter="blinds(horizontal)">
                                      <p:cBhvr>
                                        <p:cTn id="55" dur="500"/>
                                        <p:tgtEl>
                                          <p:spTgt spid="152609"/>
                                        </p:tgtEl>
                                      </p:cBhvr>
                                    </p:animEffect>
                                  </p:childTnLst>
                                </p:cTn>
                              </p:par>
                              <p:par>
                                <p:cTn id="56" presetID="3" presetClass="entr" presetSubtype="10" fill="hold" nodeType="withEffect">
                                  <p:stCondLst>
                                    <p:cond delay="0"/>
                                  </p:stCondLst>
                                  <p:childTnLst>
                                    <p:set>
                                      <p:cBhvr>
                                        <p:cTn id="57" dur="1" fill="hold">
                                          <p:stCondLst>
                                            <p:cond delay="0"/>
                                          </p:stCondLst>
                                        </p:cTn>
                                        <p:tgtEl>
                                          <p:spTgt spid="152610"/>
                                        </p:tgtEl>
                                        <p:attrNameLst>
                                          <p:attrName>style.visibility</p:attrName>
                                        </p:attrNameLst>
                                      </p:cBhvr>
                                      <p:to>
                                        <p:strVal val="visible"/>
                                      </p:to>
                                    </p:set>
                                    <p:animEffect transition="in" filter="blinds(horizontal)">
                                      <p:cBhvr>
                                        <p:cTn id="58" dur="500"/>
                                        <p:tgtEl>
                                          <p:spTgt spid="152610"/>
                                        </p:tgtEl>
                                      </p:cBhvr>
                                    </p:animEffect>
                                  </p:childTnLst>
                                </p:cTn>
                              </p:par>
                              <p:par>
                                <p:cTn id="59" presetID="3" presetClass="entr" presetSubtype="10" fill="hold" nodeType="withEffect">
                                  <p:stCondLst>
                                    <p:cond delay="0"/>
                                  </p:stCondLst>
                                  <p:childTnLst>
                                    <p:set>
                                      <p:cBhvr>
                                        <p:cTn id="60" dur="1" fill="hold">
                                          <p:stCondLst>
                                            <p:cond delay="0"/>
                                          </p:stCondLst>
                                        </p:cTn>
                                        <p:tgtEl>
                                          <p:spTgt spid="152611"/>
                                        </p:tgtEl>
                                        <p:attrNameLst>
                                          <p:attrName>style.visibility</p:attrName>
                                        </p:attrNameLst>
                                      </p:cBhvr>
                                      <p:to>
                                        <p:strVal val="visible"/>
                                      </p:to>
                                    </p:set>
                                    <p:animEffect transition="in" filter="blinds(horizontal)">
                                      <p:cBhvr>
                                        <p:cTn id="61" dur="500"/>
                                        <p:tgtEl>
                                          <p:spTgt spid="152611"/>
                                        </p:tgtEl>
                                      </p:cBhvr>
                                    </p:animEffect>
                                  </p:childTnLst>
                                </p:cTn>
                              </p:par>
                              <p:par>
                                <p:cTn id="62" presetID="3" presetClass="entr" presetSubtype="10" fill="hold" nodeType="withEffect">
                                  <p:stCondLst>
                                    <p:cond delay="0"/>
                                  </p:stCondLst>
                                  <p:childTnLst>
                                    <p:set>
                                      <p:cBhvr>
                                        <p:cTn id="63" dur="1" fill="hold">
                                          <p:stCondLst>
                                            <p:cond delay="0"/>
                                          </p:stCondLst>
                                        </p:cTn>
                                        <p:tgtEl>
                                          <p:spTgt spid="152612"/>
                                        </p:tgtEl>
                                        <p:attrNameLst>
                                          <p:attrName>style.visibility</p:attrName>
                                        </p:attrNameLst>
                                      </p:cBhvr>
                                      <p:to>
                                        <p:strVal val="visible"/>
                                      </p:to>
                                    </p:set>
                                    <p:animEffect transition="in" filter="blinds(horizontal)">
                                      <p:cBhvr>
                                        <p:cTn id="64" dur="500"/>
                                        <p:tgtEl>
                                          <p:spTgt spid="152612"/>
                                        </p:tgtEl>
                                      </p:cBhvr>
                                    </p:animEffect>
                                  </p:childTnLst>
                                </p:cTn>
                              </p:par>
                              <p:par>
                                <p:cTn id="65" presetID="3" presetClass="entr" presetSubtype="10" fill="hold" nodeType="withEffect">
                                  <p:stCondLst>
                                    <p:cond delay="0"/>
                                  </p:stCondLst>
                                  <p:childTnLst>
                                    <p:set>
                                      <p:cBhvr>
                                        <p:cTn id="66" dur="1" fill="hold">
                                          <p:stCondLst>
                                            <p:cond delay="0"/>
                                          </p:stCondLst>
                                        </p:cTn>
                                        <p:tgtEl>
                                          <p:spTgt spid="152613"/>
                                        </p:tgtEl>
                                        <p:attrNameLst>
                                          <p:attrName>style.visibility</p:attrName>
                                        </p:attrNameLst>
                                      </p:cBhvr>
                                      <p:to>
                                        <p:strVal val="visible"/>
                                      </p:to>
                                    </p:set>
                                    <p:animEffect transition="in" filter="blinds(horizontal)">
                                      <p:cBhvr>
                                        <p:cTn id="67" dur="500"/>
                                        <p:tgtEl>
                                          <p:spTgt spid="152613"/>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nodeType="clickEffect">
                                  <p:stCondLst>
                                    <p:cond delay="0"/>
                                  </p:stCondLst>
                                  <p:childTnLst>
                                    <p:set>
                                      <p:cBhvr>
                                        <p:cTn id="71" dur="1" fill="hold">
                                          <p:stCondLst>
                                            <p:cond delay="0"/>
                                          </p:stCondLst>
                                        </p:cTn>
                                        <p:tgtEl>
                                          <p:spTgt spid="4"/>
                                        </p:tgtEl>
                                        <p:attrNameLst>
                                          <p:attrName>style.visibility</p:attrName>
                                        </p:attrNameLst>
                                      </p:cBhvr>
                                      <p:to>
                                        <p:strVal val="visible"/>
                                      </p:to>
                                    </p:set>
                                    <p:animEffect transition="in" filter="wipe(left)">
                                      <p:cBhvr>
                                        <p:cTn id="72" dur="500"/>
                                        <p:tgtEl>
                                          <p:spTgt spid="4"/>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2"/>
                                        </p:tgtEl>
                                        <p:attrNameLst>
                                          <p:attrName>style.visibility</p:attrName>
                                        </p:attrNameLst>
                                      </p:cBhvr>
                                      <p:to>
                                        <p:strVal val="visible"/>
                                      </p:to>
                                    </p:set>
                                    <p:animEffect transition="in" filter="wipe(left)">
                                      <p:cBhvr>
                                        <p:cTn id="7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75" grpId="0" build="p"/>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7980" name="Group 44"/>
          <p:cNvGraphicFramePr>
            <a:graphicFrameLocks noGrp="1"/>
          </p:cNvGraphicFramePr>
          <p:nvPr/>
        </p:nvGraphicFramePr>
        <p:xfrm>
          <a:off x="395288" y="1323975"/>
          <a:ext cx="8497887" cy="3048000"/>
        </p:xfrm>
        <a:graphic>
          <a:graphicData uri="http://schemas.openxmlformats.org/drawingml/2006/table">
            <a:tbl>
              <a:tblPr/>
              <a:tblGrid>
                <a:gridCol w="1512887"/>
                <a:gridCol w="2303463"/>
                <a:gridCol w="2447925"/>
                <a:gridCol w="2233612"/>
              </a:tblGrid>
              <a:tr h="762000">
                <a:tc>
                  <a:txBody>
                    <a:bodyPr/>
                    <a:lstStyle/>
                    <a:p>
                      <a:pPr marL="0" marR="0" lvl="0" indent="0" algn="ctr" defTabSz="914400" rtl="0" eaLnBrk="1" fontAlgn="ctr" latinLnBrk="0" hangingPunct="1">
                        <a:lnSpc>
                          <a:spcPct val="100000"/>
                        </a:lnSpc>
                        <a:spcBef>
                          <a:spcPct val="20000"/>
                        </a:spcBef>
                        <a:spcAft>
                          <a:spcPct val="0"/>
                        </a:spcAft>
                        <a:buClrTx/>
                        <a:buSzTx/>
                        <a:buFontTx/>
                        <a:buNone/>
                        <a:tabLst/>
                      </a:pPr>
                      <a:endParaRPr kumimoji="1" lang="zh-CN" altLang="zh-CN" sz="2100" b="1" i="0" u="none" strike="noStrike" cap="none" normalizeH="0" baseline="0" dirty="0" smtClean="0">
                        <a:ln>
                          <a:noFill/>
                        </a:ln>
                        <a:solidFill>
                          <a:schemeClr val="tx1"/>
                        </a:solidFill>
                        <a:effectLst/>
                        <a:latin typeface="Times New Roman" pitchFamily="18" charset="0"/>
                        <a:ea typeface="华文中宋" pitchFamily="2" charset="-122"/>
                      </a:endParaRP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20000"/>
                        </a:spcBef>
                        <a:spcAft>
                          <a:spcPct val="0"/>
                        </a:spcAft>
                        <a:buClrTx/>
                        <a:buSzTx/>
                        <a:buFontTx/>
                        <a:buNone/>
                        <a:tabLst/>
                      </a:pPr>
                      <a:r>
                        <a:rPr kumimoji="1" lang="zh-CN" altLang="en-US" sz="1800" b="1" i="0" u="none" strike="noStrike" cap="none" normalizeH="0" baseline="0" dirty="0" smtClean="0">
                          <a:ln>
                            <a:noFill/>
                          </a:ln>
                          <a:solidFill>
                            <a:srgbClr val="3333FF"/>
                          </a:solidFill>
                          <a:effectLst/>
                          <a:latin typeface="Times New Roman" pitchFamily="18" charset="0"/>
                          <a:ea typeface="华文中宋" pitchFamily="2" charset="-122"/>
                        </a:rPr>
                        <a:t>等容</a:t>
                      </a:r>
                    </a:p>
                  </a:txBody>
                  <a:tcPr marL="90000" marR="90000" marT="202500" marB="351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20000"/>
                        </a:spcBef>
                        <a:spcAft>
                          <a:spcPct val="0"/>
                        </a:spcAft>
                        <a:buClrTx/>
                        <a:buSzTx/>
                        <a:buFontTx/>
                        <a:buNone/>
                        <a:tabLst/>
                      </a:pPr>
                      <a:r>
                        <a:rPr kumimoji="1" lang="zh-CN" altLang="en-US" sz="1800" b="1" i="0" u="none" strike="noStrike" cap="none" normalizeH="0" baseline="0" dirty="0" smtClean="0">
                          <a:ln>
                            <a:noFill/>
                          </a:ln>
                          <a:solidFill>
                            <a:srgbClr val="3333FF"/>
                          </a:solidFill>
                          <a:effectLst/>
                          <a:latin typeface="Times New Roman" pitchFamily="18" charset="0"/>
                          <a:ea typeface="华文中宋" pitchFamily="2" charset="-122"/>
                        </a:rPr>
                        <a:t>等压</a:t>
                      </a:r>
                    </a:p>
                  </a:txBody>
                  <a:tcPr marL="90000" marR="90000" marT="202500" marB="351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20000"/>
                        </a:spcBef>
                        <a:spcAft>
                          <a:spcPct val="0"/>
                        </a:spcAft>
                        <a:buClrTx/>
                        <a:buSzTx/>
                        <a:buFontTx/>
                        <a:buNone/>
                        <a:tabLst/>
                      </a:pPr>
                      <a:r>
                        <a:rPr kumimoji="1" lang="zh-CN" altLang="en-US" sz="1800" b="1" i="0" u="none" strike="noStrike" cap="none" normalizeH="0" baseline="0" dirty="0" smtClean="0">
                          <a:ln>
                            <a:noFill/>
                          </a:ln>
                          <a:solidFill>
                            <a:srgbClr val="3333FF"/>
                          </a:solidFill>
                          <a:effectLst/>
                          <a:latin typeface="Times New Roman" pitchFamily="18" charset="0"/>
                          <a:ea typeface="华文中宋" pitchFamily="2" charset="-122"/>
                        </a:rPr>
                        <a:t>等温</a:t>
                      </a:r>
                    </a:p>
                  </a:txBody>
                  <a:tcPr marL="90000" marR="90000" marT="202500" marB="351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62000">
                <a:tc>
                  <a:txBody>
                    <a:bodyPr/>
                    <a:lstStyle/>
                    <a:p>
                      <a:pPr marL="0" marR="0" lvl="0" indent="0" algn="ctr" defTabSz="914400" rtl="0" eaLnBrk="1" fontAlgn="ctr" latinLnBrk="0" hangingPunct="1">
                        <a:lnSpc>
                          <a:spcPct val="100000"/>
                        </a:lnSpc>
                        <a:spcBef>
                          <a:spcPct val="20000"/>
                        </a:spcBef>
                        <a:spcAft>
                          <a:spcPct val="0"/>
                        </a:spcAft>
                        <a:buClrTx/>
                        <a:buSzTx/>
                        <a:buFontTx/>
                        <a:buNone/>
                        <a:tabLst/>
                      </a:pPr>
                      <a:r>
                        <a:rPr kumimoji="1" lang="zh-CN" altLang="en-US" sz="1800" b="1" i="0" u="none" strike="noStrike" cap="none" normalizeH="0" baseline="0" dirty="0" smtClean="0">
                          <a:ln>
                            <a:noFill/>
                          </a:ln>
                          <a:solidFill>
                            <a:srgbClr val="3333FF"/>
                          </a:solidFill>
                          <a:effectLst/>
                          <a:latin typeface="Times New Roman" pitchFamily="18" charset="0"/>
                          <a:ea typeface="华文中宋" pitchFamily="2" charset="-122"/>
                        </a:rPr>
                        <a:t>内能</a:t>
                      </a:r>
                    </a:p>
                  </a:txBody>
                  <a:tcPr marL="90000" marR="90000" marT="202500" marB="351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20000"/>
                        </a:spcBef>
                        <a:spcAft>
                          <a:spcPct val="0"/>
                        </a:spcAft>
                        <a:buClrTx/>
                        <a:buSzTx/>
                        <a:buFontTx/>
                        <a:buNone/>
                        <a:tabLst/>
                      </a:pPr>
                      <a:endParaRPr kumimoji="1" lang="zh-CN" altLang="zh-CN" sz="2100" b="1" i="0" u="none" strike="noStrike" cap="none" normalizeH="0" baseline="0" smtClean="0">
                        <a:ln>
                          <a:noFill/>
                        </a:ln>
                        <a:solidFill>
                          <a:schemeClr val="tx1"/>
                        </a:solidFill>
                        <a:effectLst/>
                        <a:latin typeface="Times New Roman" pitchFamily="18" charset="0"/>
                        <a:ea typeface="华文中宋"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20000"/>
                        </a:spcBef>
                        <a:spcAft>
                          <a:spcPct val="0"/>
                        </a:spcAft>
                        <a:buClrTx/>
                        <a:buSzTx/>
                        <a:buFontTx/>
                        <a:buNone/>
                        <a:tabLst/>
                      </a:pPr>
                      <a:endParaRPr kumimoji="1" lang="zh-CN" altLang="zh-CN" sz="2100" b="1" i="0" u="none" strike="noStrike" cap="none" normalizeH="0" baseline="0" smtClean="0">
                        <a:ln>
                          <a:noFill/>
                        </a:ln>
                        <a:solidFill>
                          <a:schemeClr val="tx1"/>
                        </a:solidFill>
                        <a:effectLst/>
                        <a:latin typeface="Times New Roman" pitchFamily="18" charset="0"/>
                        <a:ea typeface="华文中宋"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20000"/>
                        </a:spcBef>
                        <a:spcAft>
                          <a:spcPct val="0"/>
                        </a:spcAft>
                        <a:buClrTx/>
                        <a:buSzTx/>
                        <a:buFontTx/>
                        <a:buNone/>
                        <a:tabLst/>
                      </a:pPr>
                      <a:endParaRPr kumimoji="1" lang="zh-CN" altLang="zh-CN" sz="2100" b="1" i="0" u="none" strike="noStrike" cap="none" normalizeH="0" baseline="0" smtClean="0">
                        <a:ln>
                          <a:noFill/>
                        </a:ln>
                        <a:solidFill>
                          <a:schemeClr val="tx1"/>
                        </a:solidFill>
                        <a:effectLst/>
                        <a:latin typeface="Times New Roman" pitchFamily="18" charset="0"/>
                        <a:ea typeface="华文中宋" pitchFamily="2" charset="-122"/>
                      </a:endParaRP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62000">
                <a:tc>
                  <a:txBody>
                    <a:bodyPr/>
                    <a:lstStyle/>
                    <a:p>
                      <a:pPr marL="0" marR="0" lvl="0" indent="0" algn="ctr" defTabSz="914400" rtl="0" eaLnBrk="1" fontAlgn="ctr" latinLnBrk="0" hangingPunct="1">
                        <a:lnSpc>
                          <a:spcPct val="100000"/>
                        </a:lnSpc>
                        <a:spcBef>
                          <a:spcPct val="20000"/>
                        </a:spcBef>
                        <a:spcAft>
                          <a:spcPct val="0"/>
                        </a:spcAft>
                        <a:buClrTx/>
                        <a:buSzTx/>
                        <a:buFontTx/>
                        <a:buNone/>
                        <a:tabLst/>
                      </a:pPr>
                      <a:r>
                        <a:rPr kumimoji="1" lang="zh-CN" altLang="en-US" sz="1800" b="1" i="0" u="none" strike="noStrike" cap="none" normalizeH="0" baseline="0" dirty="0" smtClean="0">
                          <a:ln>
                            <a:noFill/>
                          </a:ln>
                          <a:solidFill>
                            <a:srgbClr val="3333FF"/>
                          </a:solidFill>
                          <a:effectLst/>
                          <a:latin typeface="Times New Roman" pitchFamily="18" charset="0"/>
                          <a:ea typeface="华文中宋" pitchFamily="2" charset="-122"/>
                        </a:rPr>
                        <a:t>热量</a:t>
                      </a:r>
                    </a:p>
                  </a:txBody>
                  <a:tcPr marL="90000" marR="90000" marT="202500" marB="351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20000"/>
                        </a:spcBef>
                        <a:spcAft>
                          <a:spcPct val="0"/>
                        </a:spcAft>
                        <a:buClrTx/>
                        <a:buSzTx/>
                        <a:buFontTx/>
                        <a:buNone/>
                        <a:tabLst/>
                      </a:pPr>
                      <a:endParaRPr kumimoji="1" lang="zh-CN" altLang="zh-CN" sz="2100" b="1" i="0" u="none" strike="noStrike" cap="none" normalizeH="0" baseline="0" smtClean="0">
                        <a:ln>
                          <a:noFill/>
                        </a:ln>
                        <a:solidFill>
                          <a:schemeClr val="tx1"/>
                        </a:solidFill>
                        <a:effectLst/>
                        <a:latin typeface="Times New Roman" pitchFamily="18" charset="0"/>
                        <a:ea typeface="华文中宋"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20000"/>
                        </a:spcBef>
                        <a:spcAft>
                          <a:spcPct val="0"/>
                        </a:spcAft>
                        <a:buClrTx/>
                        <a:buSzTx/>
                        <a:buFontTx/>
                        <a:buNone/>
                        <a:tabLst/>
                      </a:pPr>
                      <a:endParaRPr kumimoji="1" lang="zh-CN" altLang="zh-CN" sz="2100" b="1" i="0" u="none" strike="noStrike" cap="none" normalizeH="0" baseline="0" smtClean="0">
                        <a:ln>
                          <a:noFill/>
                        </a:ln>
                        <a:solidFill>
                          <a:schemeClr val="tx1"/>
                        </a:solidFill>
                        <a:effectLst/>
                        <a:latin typeface="Times New Roman" pitchFamily="18" charset="0"/>
                        <a:ea typeface="华文中宋"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20000"/>
                        </a:spcBef>
                        <a:spcAft>
                          <a:spcPct val="0"/>
                        </a:spcAft>
                        <a:buClrTx/>
                        <a:buSzTx/>
                        <a:buFontTx/>
                        <a:buNone/>
                        <a:tabLst/>
                      </a:pPr>
                      <a:endParaRPr kumimoji="1" lang="zh-CN" altLang="zh-CN" sz="2100" b="1" i="0" u="none" strike="noStrike" cap="none" normalizeH="0" baseline="0" smtClean="0">
                        <a:ln>
                          <a:noFill/>
                        </a:ln>
                        <a:solidFill>
                          <a:schemeClr val="tx1"/>
                        </a:solidFill>
                        <a:effectLst/>
                        <a:latin typeface="Times New Roman" pitchFamily="18" charset="0"/>
                        <a:ea typeface="华文中宋" pitchFamily="2" charset="-122"/>
                      </a:endParaRP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62000">
                <a:tc>
                  <a:txBody>
                    <a:bodyPr/>
                    <a:lstStyle/>
                    <a:p>
                      <a:pPr marL="0" marR="0" lvl="0" indent="0" algn="ctr" defTabSz="914400" rtl="0" eaLnBrk="1" fontAlgn="ctr" latinLnBrk="0" hangingPunct="1">
                        <a:lnSpc>
                          <a:spcPct val="100000"/>
                        </a:lnSpc>
                        <a:spcBef>
                          <a:spcPct val="20000"/>
                        </a:spcBef>
                        <a:spcAft>
                          <a:spcPct val="0"/>
                        </a:spcAft>
                        <a:buClrTx/>
                        <a:buSzTx/>
                        <a:buFontTx/>
                        <a:buNone/>
                        <a:tabLst/>
                      </a:pPr>
                      <a:r>
                        <a:rPr kumimoji="1" lang="zh-CN" altLang="en-US" sz="1800" b="1" i="0" u="none" strike="noStrike" cap="none" normalizeH="0" baseline="0" dirty="0" smtClean="0">
                          <a:ln>
                            <a:noFill/>
                          </a:ln>
                          <a:solidFill>
                            <a:srgbClr val="3333FF"/>
                          </a:solidFill>
                          <a:effectLst/>
                          <a:latin typeface="Times New Roman" pitchFamily="18" charset="0"/>
                          <a:ea typeface="华文中宋" pitchFamily="2" charset="-122"/>
                        </a:rPr>
                        <a:t>做功</a:t>
                      </a:r>
                    </a:p>
                  </a:txBody>
                  <a:tcPr marL="90000" marR="90000" marT="202500" marB="351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20000"/>
                        </a:spcBef>
                        <a:spcAft>
                          <a:spcPct val="0"/>
                        </a:spcAft>
                        <a:buClrTx/>
                        <a:buSzTx/>
                        <a:buFontTx/>
                        <a:buNone/>
                        <a:tabLst/>
                      </a:pPr>
                      <a:endParaRPr kumimoji="1" lang="zh-CN" altLang="zh-CN" sz="2100" b="1" i="0" u="none" strike="noStrike" cap="none" normalizeH="0" baseline="0" dirty="0" smtClean="0">
                        <a:ln>
                          <a:noFill/>
                        </a:ln>
                        <a:solidFill>
                          <a:schemeClr val="tx1"/>
                        </a:solidFill>
                        <a:effectLst/>
                        <a:latin typeface="Times New Roman" pitchFamily="18" charset="0"/>
                        <a:ea typeface="华文中宋"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20000"/>
                        </a:spcBef>
                        <a:spcAft>
                          <a:spcPct val="0"/>
                        </a:spcAft>
                        <a:buClrTx/>
                        <a:buSzTx/>
                        <a:buFontTx/>
                        <a:buNone/>
                        <a:tabLst/>
                      </a:pPr>
                      <a:endParaRPr kumimoji="1" lang="zh-CN" altLang="zh-CN" sz="2100" b="1" i="0" u="none" strike="noStrike" cap="none" normalizeH="0" baseline="0" smtClean="0">
                        <a:ln>
                          <a:noFill/>
                        </a:ln>
                        <a:solidFill>
                          <a:schemeClr val="tx1"/>
                        </a:solidFill>
                        <a:effectLst/>
                        <a:latin typeface="Times New Roman" pitchFamily="18" charset="0"/>
                        <a:ea typeface="华文中宋"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20000"/>
                        </a:spcBef>
                        <a:spcAft>
                          <a:spcPct val="0"/>
                        </a:spcAft>
                        <a:buClrTx/>
                        <a:buSzTx/>
                        <a:buFontTx/>
                        <a:buNone/>
                        <a:tabLst/>
                      </a:pPr>
                      <a:endParaRPr kumimoji="1" lang="zh-CN" altLang="zh-CN" sz="2100" b="1" i="0" u="none" strike="noStrike" cap="none" normalizeH="0" baseline="0" dirty="0" smtClean="0">
                        <a:ln>
                          <a:noFill/>
                        </a:ln>
                        <a:solidFill>
                          <a:schemeClr val="tx1"/>
                        </a:solidFill>
                        <a:effectLst/>
                        <a:latin typeface="Times New Roman" pitchFamily="18" charset="0"/>
                        <a:ea typeface="华文中宋" pitchFamily="2" charset="-122"/>
                      </a:endParaRP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67968" name="Line 32"/>
          <p:cNvSpPr>
            <a:spLocks noChangeShapeType="1"/>
          </p:cNvSpPr>
          <p:nvPr/>
        </p:nvSpPr>
        <p:spPr bwMode="auto">
          <a:xfrm>
            <a:off x="395288" y="1347788"/>
            <a:ext cx="1511300" cy="755650"/>
          </a:xfrm>
          <a:prstGeom prst="line">
            <a:avLst/>
          </a:prstGeom>
          <a:noFill/>
          <a:ln w="9525">
            <a:solidFill>
              <a:schemeClr val="tx1"/>
            </a:solidFill>
            <a:round/>
            <a:headEnd/>
            <a:tailEnd/>
          </a:ln>
        </p:spPr>
        <p:txBody>
          <a:bodyPr/>
          <a:lstStyle/>
          <a:p>
            <a:endParaRPr lang="zh-CN" altLang="en-US"/>
          </a:p>
        </p:txBody>
      </p:sp>
      <p:grpSp>
        <p:nvGrpSpPr>
          <p:cNvPr id="5" name="Group 53"/>
          <p:cNvGrpSpPr>
            <a:grpSpLocks/>
          </p:cNvGrpSpPr>
          <p:nvPr/>
        </p:nvGrpSpPr>
        <p:grpSpPr bwMode="auto">
          <a:xfrm>
            <a:off x="2124075" y="2066925"/>
            <a:ext cx="5976938" cy="2170113"/>
            <a:chOff x="1338" y="1313"/>
            <a:chExt cx="3765" cy="1822"/>
          </a:xfrm>
        </p:grpSpPr>
        <p:graphicFrame>
          <p:nvGraphicFramePr>
            <p:cNvPr id="8293" name="Object 101"/>
            <p:cNvGraphicFramePr>
              <a:graphicFrameLocks noChangeAspect="1"/>
            </p:cNvGraphicFramePr>
            <p:nvPr/>
          </p:nvGraphicFramePr>
          <p:xfrm>
            <a:off x="1383" y="1374"/>
            <a:ext cx="1089" cy="483"/>
          </p:xfrm>
          <a:graphic>
            <a:graphicData uri="http://schemas.openxmlformats.org/presentationml/2006/ole">
              <p:oleObj spid="_x0000_s8293" name="Equation" r:id="rId3" imgW="1091726" imgH="431613" progId="Equation.DSMT4">
                <p:embed/>
              </p:oleObj>
            </a:graphicData>
          </a:graphic>
        </p:graphicFrame>
        <p:graphicFrame>
          <p:nvGraphicFramePr>
            <p:cNvPr id="8294" name="Object 102"/>
            <p:cNvGraphicFramePr>
              <a:graphicFrameLocks noChangeAspect="1"/>
            </p:cNvGraphicFramePr>
            <p:nvPr/>
          </p:nvGraphicFramePr>
          <p:xfrm>
            <a:off x="1338" y="1979"/>
            <a:ext cx="1108" cy="565"/>
          </p:xfrm>
          <a:graphic>
            <a:graphicData uri="http://schemas.openxmlformats.org/presentationml/2006/ole">
              <p:oleObj spid="_x0000_s8294" name="Equation" r:id="rId4" imgW="1091726" imgH="431613" progId="Equation.DSMT4">
                <p:embed/>
              </p:oleObj>
            </a:graphicData>
          </a:graphic>
        </p:graphicFrame>
        <p:graphicFrame>
          <p:nvGraphicFramePr>
            <p:cNvPr id="8295" name="Object 103"/>
            <p:cNvGraphicFramePr>
              <a:graphicFrameLocks noChangeAspect="1"/>
            </p:cNvGraphicFramePr>
            <p:nvPr/>
          </p:nvGraphicFramePr>
          <p:xfrm>
            <a:off x="2925" y="1313"/>
            <a:ext cx="1100" cy="545"/>
          </p:xfrm>
          <a:graphic>
            <a:graphicData uri="http://schemas.openxmlformats.org/presentationml/2006/ole">
              <p:oleObj spid="_x0000_s8295" name="Equation" r:id="rId5" imgW="1091726" imgH="431613" progId="Equation.DSMT4">
                <p:embed/>
              </p:oleObj>
            </a:graphicData>
          </a:graphic>
        </p:graphicFrame>
        <p:graphicFrame>
          <p:nvGraphicFramePr>
            <p:cNvPr id="8296" name="Object 104"/>
            <p:cNvGraphicFramePr>
              <a:graphicFrameLocks noChangeAspect="1"/>
            </p:cNvGraphicFramePr>
            <p:nvPr/>
          </p:nvGraphicFramePr>
          <p:xfrm>
            <a:off x="2835" y="1979"/>
            <a:ext cx="1146" cy="573"/>
          </p:xfrm>
          <a:graphic>
            <a:graphicData uri="http://schemas.openxmlformats.org/presentationml/2006/ole">
              <p:oleObj spid="_x0000_s8296" name="Equation" r:id="rId6" imgW="1269449" imgH="431613" progId="Equation.DSMT4">
                <p:embed/>
              </p:oleObj>
            </a:graphicData>
          </a:graphic>
        </p:graphicFrame>
        <p:graphicFrame>
          <p:nvGraphicFramePr>
            <p:cNvPr id="8297" name="Object 105"/>
            <p:cNvGraphicFramePr>
              <a:graphicFrameLocks noChangeAspect="1"/>
            </p:cNvGraphicFramePr>
            <p:nvPr/>
          </p:nvGraphicFramePr>
          <p:xfrm>
            <a:off x="2925" y="2583"/>
            <a:ext cx="951" cy="527"/>
          </p:xfrm>
          <a:graphic>
            <a:graphicData uri="http://schemas.openxmlformats.org/presentationml/2006/ole">
              <p:oleObj spid="_x0000_s8297" name="Equation" r:id="rId7" imgW="965200" imgH="431800" progId="Equation.DSMT4">
                <p:embed/>
              </p:oleObj>
            </a:graphicData>
          </a:graphic>
        </p:graphicFrame>
        <p:graphicFrame>
          <p:nvGraphicFramePr>
            <p:cNvPr id="8298" name="Object 106"/>
            <p:cNvGraphicFramePr>
              <a:graphicFrameLocks noChangeAspect="1"/>
            </p:cNvGraphicFramePr>
            <p:nvPr/>
          </p:nvGraphicFramePr>
          <p:xfrm>
            <a:off x="4445" y="1933"/>
            <a:ext cx="658" cy="567"/>
          </p:xfrm>
          <a:graphic>
            <a:graphicData uri="http://schemas.openxmlformats.org/presentationml/2006/ole">
              <p:oleObj spid="_x0000_s8298" name="Equation" r:id="rId8" imgW="482181" imgH="317225" progId="Equation.DSMT4">
                <p:embed/>
              </p:oleObj>
            </a:graphicData>
          </a:graphic>
        </p:graphicFrame>
        <p:graphicFrame>
          <p:nvGraphicFramePr>
            <p:cNvPr id="8299" name="Object 107"/>
            <p:cNvGraphicFramePr>
              <a:graphicFrameLocks noChangeAspect="1"/>
            </p:cNvGraphicFramePr>
            <p:nvPr/>
          </p:nvGraphicFramePr>
          <p:xfrm>
            <a:off x="1837" y="2772"/>
            <a:ext cx="181" cy="250"/>
          </p:xfrm>
          <a:graphic>
            <a:graphicData uri="http://schemas.openxmlformats.org/presentationml/2006/ole">
              <p:oleObj spid="_x0000_s8299" name="公式" r:id="rId9" imgW="101556" imgH="139639" progId="Equation.3">
                <p:embed/>
              </p:oleObj>
            </a:graphicData>
          </a:graphic>
        </p:graphicFrame>
        <p:graphicFrame>
          <p:nvGraphicFramePr>
            <p:cNvPr id="8300" name="Object 108"/>
            <p:cNvGraphicFramePr>
              <a:graphicFrameLocks noChangeAspect="1"/>
            </p:cNvGraphicFramePr>
            <p:nvPr/>
          </p:nvGraphicFramePr>
          <p:xfrm>
            <a:off x="4785" y="1434"/>
            <a:ext cx="181" cy="250"/>
          </p:xfrm>
          <a:graphic>
            <a:graphicData uri="http://schemas.openxmlformats.org/presentationml/2006/ole">
              <p:oleObj spid="_x0000_s8300" name="公式" r:id="rId10" imgW="101556" imgH="139639" progId="Equation.3">
                <p:embed/>
              </p:oleObj>
            </a:graphicData>
          </a:graphic>
        </p:graphicFrame>
        <p:graphicFrame>
          <p:nvGraphicFramePr>
            <p:cNvPr id="8301" name="Object 109"/>
            <p:cNvGraphicFramePr>
              <a:graphicFrameLocks noChangeAspect="1"/>
            </p:cNvGraphicFramePr>
            <p:nvPr/>
          </p:nvGraphicFramePr>
          <p:xfrm>
            <a:off x="4468" y="2568"/>
            <a:ext cx="635" cy="567"/>
          </p:xfrm>
          <a:graphic>
            <a:graphicData uri="http://schemas.openxmlformats.org/presentationml/2006/ole">
              <p:oleObj spid="_x0000_s8301" name="公式" r:id="rId11" imgW="482181" imgH="317225" progId="Equation.3">
                <p:embed/>
              </p:oleObj>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67980"/>
                                        </p:tgtEl>
                                        <p:attrNameLst>
                                          <p:attrName>style.visibility</p:attrName>
                                        </p:attrNameLst>
                                      </p:cBhvr>
                                      <p:to>
                                        <p:strVal val="visible"/>
                                      </p:to>
                                    </p:set>
                                    <p:animEffect transition="in" filter="blinds(horizontal)">
                                      <p:cBhvr>
                                        <p:cTn id="7" dur="500"/>
                                        <p:tgtEl>
                                          <p:spTgt spid="167980"/>
                                        </p:tgtEl>
                                      </p:cBhvr>
                                    </p:animEffect>
                                  </p:childTnLst>
                                </p:cTn>
                              </p:par>
                            </p:childTnLst>
                          </p:cTn>
                        </p:par>
                        <p:par>
                          <p:cTn id="8" fill="hold" nodeType="afterGroup">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167968"/>
                                        </p:tgtEl>
                                        <p:attrNameLst>
                                          <p:attrName>style.visibility</p:attrName>
                                        </p:attrNameLst>
                                      </p:cBhvr>
                                      <p:to>
                                        <p:strVal val="visible"/>
                                      </p:to>
                                    </p:set>
                                    <p:animEffect transition="in" filter="blinds(horizontal)">
                                      <p:cBhvr>
                                        <p:cTn id="11" dur="500"/>
                                        <p:tgtEl>
                                          <p:spTgt spid="167968"/>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3" presetClass="entr" presetSubtype="10" fill="hold" nodeType="click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blinds(horizontal)">
                                      <p:cBhvr>
                                        <p:cTn id="16"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7968"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4" name="Text Box 4"/>
          <p:cNvSpPr txBox="1">
            <a:spLocks noChangeArrowheads="1"/>
          </p:cNvSpPr>
          <p:nvPr/>
        </p:nvSpPr>
        <p:spPr bwMode="auto">
          <a:xfrm>
            <a:off x="395288" y="2463800"/>
            <a:ext cx="8280400" cy="1938338"/>
          </a:xfrm>
          <a:prstGeom prst="rect">
            <a:avLst/>
          </a:prstGeom>
          <a:noFill/>
          <a:ln w="9525">
            <a:noFill/>
            <a:miter lim="800000"/>
            <a:headEnd/>
            <a:tailEnd/>
          </a:ln>
        </p:spPr>
        <p:txBody>
          <a:bodyPr>
            <a:spAutoFit/>
          </a:bodyPr>
          <a:lstStyle/>
          <a:p>
            <a:r>
              <a:rPr kumimoji="1" lang="zh-CN" altLang="en-US" b="1">
                <a:solidFill>
                  <a:srgbClr val="3333FF"/>
                </a:solidFill>
                <a:latin typeface="Times New Roman" pitchFamily="18" charset="0"/>
                <a:ea typeface="华文中宋"/>
                <a:cs typeface="华文中宋"/>
              </a:rPr>
              <a:t>例   不规则的搅拌盛于良好的绝热容器中的液体，液体温度在升高，若将液体看作系统，则</a:t>
            </a:r>
            <a:endParaRPr kumimoji="1" lang="en-US" altLang="zh-CN" b="1">
              <a:solidFill>
                <a:srgbClr val="3333FF"/>
              </a:solidFill>
              <a:latin typeface="Times New Roman" pitchFamily="18" charset="0"/>
              <a:ea typeface="华文中宋"/>
              <a:cs typeface="华文中宋"/>
            </a:endParaRPr>
          </a:p>
          <a:p>
            <a:endParaRPr kumimoji="1" lang="zh-CN" altLang="en-US" b="1">
              <a:solidFill>
                <a:srgbClr val="3333FF"/>
              </a:solidFill>
              <a:latin typeface="Times New Roman" pitchFamily="18" charset="0"/>
              <a:ea typeface="华文中宋"/>
              <a:cs typeface="华文中宋"/>
            </a:endParaRPr>
          </a:p>
          <a:p>
            <a:r>
              <a:rPr kumimoji="1" lang="zh-CN" altLang="en-US" b="1">
                <a:solidFill>
                  <a:srgbClr val="3333FF"/>
                </a:solidFill>
                <a:latin typeface="Times New Roman" pitchFamily="18" charset="0"/>
                <a:ea typeface="华文中宋"/>
                <a:cs typeface="华文中宋"/>
              </a:rPr>
              <a:t>      </a:t>
            </a:r>
            <a:r>
              <a:rPr kumimoji="1" lang="en-US" altLang="zh-CN" b="1">
                <a:solidFill>
                  <a:srgbClr val="3333FF"/>
                </a:solidFill>
                <a:latin typeface="Times New Roman" pitchFamily="18" charset="0"/>
                <a:ea typeface="华文中宋"/>
                <a:cs typeface="华文中宋"/>
              </a:rPr>
              <a:t>(1)     </a:t>
            </a:r>
            <a:r>
              <a:rPr kumimoji="1" lang="zh-CN" altLang="en-US" b="1">
                <a:solidFill>
                  <a:srgbClr val="3333FF"/>
                </a:solidFill>
                <a:latin typeface="Times New Roman" pitchFamily="18" charset="0"/>
                <a:ea typeface="华文中宋"/>
                <a:cs typeface="华文中宋"/>
              </a:rPr>
              <a:t>外界传给系统的热量</a:t>
            </a:r>
            <a:r>
              <a:rPr kumimoji="1" lang="en-US" altLang="zh-CN" b="1">
                <a:solidFill>
                  <a:srgbClr val="3333FF"/>
                </a:solidFill>
                <a:latin typeface="Times New Roman" pitchFamily="18" charset="0"/>
                <a:ea typeface="华文中宋"/>
                <a:cs typeface="华文中宋"/>
              </a:rPr>
              <a:t>_______</a:t>
            </a:r>
            <a:r>
              <a:rPr kumimoji="1" lang="zh-CN" altLang="en-US" b="1">
                <a:solidFill>
                  <a:srgbClr val="3333FF"/>
                </a:solidFill>
                <a:latin typeface="Times New Roman" pitchFamily="18" charset="0"/>
                <a:ea typeface="华文中宋"/>
                <a:cs typeface="华文中宋"/>
              </a:rPr>
              <a:t>零</a:t>
            </a:r>
            <a:endParaRPr kumimoji="1" lang="en-US" altLang="zh-CN" sz="900" b="1">
              <a:solidFill>
                <a:srgbClr val="3333FF"/>
              </a:solidFill>
              <a:latin typeface="Times New Roman" pitchFamily="18" charset="0"/>
              <a:ea typeface="华文中宋"/>
              <a:cs typeface="华文中宋"/>
            </a:endParaRPr>
          </a:p>
          <a:p>
            <a:endParaRPr kumimoji="1" lang="zh-CN" altLang="en-US" sz="600" b="1">
              <a:solidFill>
                <a:srgbClr val="3333FF"/>
              </a:solidFill>
              <a:latin typeface="Times New Roman" pitchFamily="18" charset="0"/>
              <a:ea typeface="华文中宋"/>
              <a:cs typeface="华文中宋"/>
            </a:endParaRPr>
          </a:p>
          <a:p>
            <a:r>
              <a:rPr kumimoji="1" lang="zh-CN" altLang="en-US" b="1">
                <a:solidFill>
                  <a:srgbClr val="3333FF"/>
                </a:solidFill>
                <a:latin typeface="Times New Roman" pitchFamily="18" charset="0"/>
                <a:ea typeface="华文中宋"/>
                <a:cs typeface="华文中宋"/>
              </a:rPr>
              <a:t>      </a:t>
            </a:r>
            <a:r>
              <a:rPr kumimoji="1" lang="en-US" altLang="zh-CN" b="1">
                <a:solidFill>
                  <a:srgbClr val="3333FF"/>
                </a:solidFill>
                <a:latin typeface="Times New Roman" pitchFamily="18" charset="0"/>
                <a:ea typeface="华文中宋"/>
                <a:cs typeface="华文中宋"/>
              </a:rPr>
              <a:t>(2)     </a:t>
            </a:r>
            <a:r>
              <a:rPr kumimoji="1" lang="zh-CN" altLang="en-US" b="1">
                <a:solidFill>
                  <a:srgbClr val="3333FF"/>
                </a:solidFill>
                <a:latin typeface="Times New Roman" pitchFamily="18" charset="0"/>
                <a:ea typeface="华文中宋"/>
                <a:cs typeface="华文中宋"/>
              </a:rPr>
              <a:t>外界对系统做的功</a:t>
            </a:r>
            <a:r>
              <a:rPr kumimoji="1" lang="en-US" altLang="zh-CN" b="1" u="sng">
                <a:solidFill>
                  <a:srgbClr val="3333FF"/>
                </a:solidFill>
                <a:latin typeface="Times New Roman" pitchFamily="18" charset="0"/>
                <a:ea typeface="华文中宋"/>
                <a:cs typeface="华文中宋"/>
              </a:rPr>
              <a:t>________</a:t>
            </a:r>
            <a:r>
              <a:rPr kumimoji="1" lang="zh-CN" altLang="en-US" b="1">
                <a:solidFill>
                  <a:srgbClr val="3333FF"/>
                </a:solidFill>
                <a:latin typeface="Times New Roman" pitchFamily="18" charset="0"/>
                <a:ea typeface="华文中宋"/>
                <a:cs typeface="华文中宋"/>
              </a:rPr>
              <a:t>零</a:t>
            </a:r>
            <a:endParaRPr kumimoji="1" lang="en-US" altLang="zh-CN" b="1">
              <a:solidFill>
                <a:srgbClr val="3333FF"/>
              </a:solidFill>
              <a:latin typeface="Times New Roman" pitchFamily="18" charset="0"/>
              <a:ea typeface="华文中宋"/>
              <a:cs typeface="华文中宋"/>
            </a:endParaRPr>
          </a:p>
          <a:p>
            <a:endParaRPr kumimoji="1" lang="zh-CN" altLang="en-US" sz="600" b="1">
              <a:solidFill>
                <a:srgbClr val="3333FF"/>
              </a:solidFill>
              <a:latin typeface="Times New Roman" pitchFamily="18" charset="0"/>
              <a:ea typeface="华文中宋"/>
              <a:cs typeface="华文中宋"/>
            </a:endParaRPr>
          </a:p>
          <a:p>
            <a:r>
              <a:rPr kumimoji="1" lang="zh-CN" altLang="en-US" b="1">
                <a:solidFill>
                  <a:srgbClr val="3333FF"/>
                </a:solidFill>
                <a:latin typeface="Times New Roman" pitchFamily="18" charset="0"/>
                <a:ea typeface="华文中宋"/>
                <a:cs typeface="华文中宋"/>
              </a:rPr>
              <a:t>      </a:t>
            </a:r>
            <a:r>
              <a:rPr kumimoji="1" lang="en-US" altLang="zh-CN" b="1">
                <a:solidFill>
                  <a:srgbClr val="3333FF"/>
                </a:solidFill>
                <a:latin typeface="Times New Roman" pitchFamily="18" charset="0"/>
                <a:ea typeface="华文中宋"/>
                <a:cs typeface="华文中宋"/>
              </a:rPr>
              <a:t>(3)     </a:t>
            </a:r>
            <a:r>
              <a:rPr kumimoji="1" lang="zh-CN" altLang="en-US" b="1">
                <a:solidFill>
                  <a:srgbClr val="3333FF"/>
                </a:solidFill>
                <a:latin typeface="Times New Roman" pitchFamily="18" charset="0"/>
                <a:ea typeface="华文中宋"/>
                <a:cs typeface="华文中宋"/>
              </a:rPr>
              <a:t>系统的内能的增量</a:t>
            </a:r>
            <a:r>
              <a:rPr kumimoji="1" lang="en-US" altLang="zh-CN" b="1" u="sng">
                <a:solidFill>
                  <a:srgbClr val="3333FF"/>
                </a:solidFill>
                <a:latin typeface="Times New Roman" pitchFamily="18" charset="0"/>
                <a:ea typeface="华文中宋"/>
                <a:cs typeface="华文中宋"/>
              </a:rPr>
              <a:t>________</a:t>
            </a:r>
            <a:r>
              <a:rPr kumimoji="1" lang="zh-CN" altLang="en-US" b="1">
                <a:solidFill>
                  <a:srgbClr val="3333FF"/>
                </a:solidFill>
                <a:latin typeface="Times New Roman" pitchFamily="18" charset="0"/>
                <a:ea typeface="华文中宋"/>
                <a:cs typeface="华文中宋"/>
              </a:rPr>
              <a:t>零</a:t>
            </a:r>
          </a:p>
        </p:txBody>
      </p:sp>
      <p:sp>
        <p:nvSpPr>
          <p:cNvPr id="153616" name="Text Box 16"/>
          <p:cNvSpPr txBox="1">
            <a:spLocks noChangeArrowheads="1"/>
          </p:cNvSpPr>
          <p:nvPr/>
        </p:nvSpPr>
        <p:spPr bwMode="auto">
          <a:xfrm>
            <a:off x="323850" y="844550"/>
            <a:ext cx="8569325" cy="647700"/>
          </a:xfrm>
          <a:prstGeom prst="rect">
            <a:avLst/>
          </a:prstGeom>
          <a:noFill/>
          <a:ln w="9525">
            <a:noFill/>
            <a:miter lim="800000"/>
            <a:headEnd/>
            <a:tailEnd/>
          </a:ln>
        </p:spPr>
        <p:txBody>
          <a:bodyPr>
            <a:spAutoFit/>
          </a:bodyPr>
          <a:lstStyle/>
          <a:p>
            <a:r>
              <a:rPr kumimoji="1" lang="zh-CN" altLang="en-US" b="1">
                <a:solidFill>
                  <a:srgbClr val="3333FF"/>
                </a:solidFill>
                <a:latin typeface="华文中宋"/>
                <a:ea typeface="华文中宋"/>
                <a:cs typeface="华文中宋"/>
              </a:rPr>
              <a:t>例   改错题</a:t>
            </a:r>
          </a:p>
          <a:p>
            <a:r>
              <a:rPr kumimoji="1" lang="zh-CN" altLang="en-US" b="1">
                <a:solidFill>
                  <a:srgbClr val="3333FF"/>
                </a:solidFill>
                <a:latin typeface="华文中宋"/>
                <a:ea typeface="华文中宋"/>
                <a:cs typeface="华文中宋"/>
              </a:rPr>
              <a:t>     “功，热量和内能都是系统状态的单值函数”，这种说法对吗？如有错请改正。</a:t>
            </a:r>
          </a:p>
        </p:txBody>
      </p:sp>
      <p:sp>
        <p:nvSpPr>
          <p:cNvPr id="153617" name="Text Box 17"/>
          <p:cNvSpPr txBox="1">
            <a:spLocks noChangeArrowheads="1"/>
          </p:cNvSpPr>
          <p:nvPr/>
        </p:nvSpPr>
        <p:spPr bwMode="auto">
          <a:xfrm>
            <a:off x="395288" y="1554163"/>
            <a:ext cx="8280400" cy="369887"/>
          </a:xfrm>
          <a:prstGeom prst="rect">
            <a:avLst/>
          </a:prstGeom>
          <a:noFill/>
          <a:ln w="9525">
            <a:noFill/>
            <a:miter lim="800000"/>
            <a:headEnd/>
            <a:tailEnd/>
          </a:ln>
        </p:spPr>
        <p:txBody>
          <a:bodyPr>
            <a:spAutoFit/>
          </a:bodyPr>
          <a:lstStyle/>
          <a:p>
            <a:r>
              <a:rPr kumimoji="1" lang="zh-CN" altLang="en-US" b="1">
                <a:solidFill>
                  <a:srgbClr val="FF0000"/>
                </a:solidFill>
                <a:latin typeface="Times New Roman" pitchFamily="18" charset="0"/>
                <a:ea typeface="华文中宋"/>
                <a:cs typeface="华文中宋"/>
              </a:rPr>
              <a:t>答：</a:t>
            </a:r>
            <a:r>
              <a:rPr kumimoji="1" lang="zh-CN" altLang="en-US" b="1">
                <a:solidFill>
                  <a:srgbClr val="000000"/>
                </a:solidFill>
                <a:latin typeface="Times New Roman" pitchFamily="18" charset="0"/>
                <a:ea typeface="华文中宋"/>
                <a:cs typeface="华文中宋"/>
              </a:rPr>
              <a:t>功和热量均与系统状态变化过程有关，是过程量，不是系统状态的单值函数。</a:t>
            </a:r>
          </a:p>
        </p:txBody>
      </p:sp>
      <p:sp>
        <p:nvSpPr>
          <p:cNvPr id="153618" name="Text Box 18"/>
          <p:cNvSpPr txBox="1">
            <a:spLocks noChangeArrowheads="1"/>
          </p:cNvSpPr>
          <p:nvPr/>
        </p:nvSpPr>
        <p:spPr bwMode="auto">
          <a:xfrm>
            <a:off x="1042988" y="2058988"/>
            <a:ext cx="4146550" cy="368300"/>
          </a:xfrm>
          <a:prstGeom prst="rect">
            <a:avLst/>
          </a:prstGeom>
          <a:noFill/>
          <a:ln w="9525">
            <a:noFill/>
            <a:miter lim="800000"/>
            <a:headEnd/>
            <a:tailEnd/>
          </a:ln>
        </p:spPr>
        <p:txBody>
          <a:bodyPr>
            <a:spAutoFit/>
          </a:bodyPr>
          <a:lstStyle/>
          <a:p>
            <a:r>
              <a:rPr kumimoji="1" lang="zh-CN" altLang="en-US" b="1">
                <a:solidFill>
                  <a:srgbClr val="000000"/>
                </a:solidFill>
                <a:latin typeface="Times New Roman" pitchFamily="18" charset="0"/>
                <a:ea typeface="华文中宋"/>
                <a:cs typeface="华文中宋"/>
              </a:rPr>
              <a:t>内能是系统状态的单值函数。</a:t>
            </a:r>
          </a:p>
        </p:txBody>
      </p:sp>
      <p:sp>
        <p:nvSpPr>
          <p:cNvPr id="2" name="TextBox 1"/>
          <p:cNvSpPr txBox="1">
            <a:spLocks noChangeArrowheads="1"/>
          </p:cNvSpPr>
          <p:nvPr/>
        </p:nvSpPr>
        <p:spPr bwMode="auto">
          <a:xfrm>
            <a:off x="3506788" y="3282950"/>
            <a:ext cx="647700" cy="368300"/>
          </a:xfrm>
          <a:prstGeom prst="rect">
            <a:avLst/>
          </a:prstGeom>
          <a:noFill/>
          <a:ln w="9525">
            <a:noFill/>
            <a:miter lim="800000"/>
            <a:headEnd/>
            <a:tailEnd/>
          </a:ln>
        </p:spPr>
        <p:txBody>
          <a:bodyPr wrap="none">
            <a:spAutoFit/>
          </a:bodyPr>
          <a:lstStyle/>
          <a:p>
            <a:r>
              <a:rPr kumimoji="1" lang="zh-CN" altLang="en-US" b="1">
                <a:solidFill>
                  <a:srgbClr val="FF0000"/>
                </a:solidFill>
                <a:latin typeface="Times New Roman" pitchFamily="18" charset="0"/>
                <a:ea typeface="华文中宋"/>
                <a:cs typeface="华文中宋"/>
              </a:rPr>
              <a:t>等于</a:t>
            </a:r>
          </a:p>
        </p:txBody>
      </p:sp>
      <p:sp>
        <p:nvSpPr>
          <p:cNvPr id="8" name="TextBox 7"/>
          <p:cNvSpPr txBox="1">
            <a:spLocks noChangeArrowheads="1"/>
          </p:cNvSpPr>
          <p:nvPr/>
        </p:nvSpPr>
        <p:spPr bwMode="auto">
          <a:xfrm>
            <a:off x="3336925" y="3643313"/>
            <a:ext cx="646113" cy="368300"/>
          </a:xfrm>
          <a:prstGeom prst="rect">
            <a:avLst/>
          </a:prstGeom>
          <a:noFill/>
          <a:ln w="9525">
            <a:noFill/>
            <a:miter lim="800000"/>
            <a:headEnd/>
            <a:tailEnd/>
          </a:ln>
        </p:spPr>
        <p:txBody>
          <a:bodyPr wrap="none">
            <a:spAutoFit/>
          </a:bodyPr>
          <a:lstStyle/>
          <a:p>
            <a:r>
              <a:rPr kumimoji="1" lang="zh-CN" altLang="en-US" b="1">
                <a:solidFill>
                  <a:srgbClr val="FF0000"/>
                </a:solidFill>
                <a:latin typeface="Times New Roman" pitchFamily="18" charset="0"/>
                <a:ea typeface="华文中宋"/>
                <a:cs typeface="华文中宋"/>
              </a:rPr>
              <a:t>大于</a:t>
            </a:r>
          </a:p>
        </p:txBody>
      </p:sp>
      <p:sp>
        <p:nvSpPr>
          <p:cNvPr id="9" name="TextBox 8"/>
          <p:cNvSpPr txBox="1">
            <a:spLocks noChangeArrowheads="1"/>
          </p:cNvSpPr>
          <p:nvPr/>
        </p:nvSpPr>
        <p:spPr bwMode="auto">
          <a:xfrm>
            <a:off x="3336925" y="4002088"/>
            <a:ext cx="646113" cy="369887"/>
          </a:xfrm>
          <a:prstGeom prst="rect">
            <a:avLst/>
          </a:prstGeom>
          <a:noFill/>
          <a:ln w="9525">
            <a:noFill/>
            <a:miter lim="800000"/>
            <a:headEnd/>
            <a:tailEnd/>
          </a:ln>
        </p:spPr>
        <p:txBody>
          <a:bodyPr wrap="none">
            <a:spAutoFit/>
          </a:bodyPr>
          <a:lstStyle/>
          <a:p>
            <a:r>
              <a:rPr kumimoji="1" lang="zh-CN" altLang="en-US" b="1">
                <a:solidFill>
                  <a:srgbClr val="FF0000"/>
                </a:solidFill>
                <a:latin typeface="Times New Roman" pitchFamily="18" charset="0"/>
                <a:ea typeface="华文中宋"/>
                <a:cs typeface="华文中宋"/>
              </a:rPr>
              <a:t>小于</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8" fill="hold" grpId="0" nodeType="clickEffect">
                                  <p:stCondLst>
                                    <p:cond delay="0"/>
                                  </p:stCondLst>
                                  <p:childTnLst>
                                    <p:set>
                                      <p:cBhvr>
                                        <p:cTn id="6" dur="1" fill="hold">
                                          <p:stCondLst>
                                            <p:cond delay="0"/>
                                          </p:stCondLst>
                                        </p:cTn>
                                        <p:tgtEl>
                                          <p:spTgt spid="153616"/>
                                        </p:tgtEl>
                                        <p:attrNameLst>
                                          <p:attrName>style.visibility</p:attrName>
                                        </p:attrNameLst>
                                      </p:cBhvr>
                                      <p:to>
                                        <p:strVal val="visible"/>
                                      </p:to>
                                    </p:set>
                                    <p:anim calcmode="lin" valueType="num">
                                      <p:cBhvr>
                                        <p:cTn id="7" dur="500" fill="hold"/>
                                        <p:tgtEl>
                                          <p:spTgt spid="153616"/>
                                        </p:tgtEl>
                                        <p:attrNameLst>
                                          <p:attrName>ppt_x</p:attrName>
                                        </p:attrNameLst>
                                      </p:cBhvr>
                                      <p:tavLst>
                                        <p:tav tm="0">
                                          <p:val>
                                            <p:strVal val="#ppt_x-#ppt_w/2"/>
                                          </p:val>
                                        </p:tav>
                                        <p:tav tm="100000">
                                          <p:val>
                                            <p:strVal val="#ppt_x"/>
                                          </p:val>
                                        </p:tav>
                                      </p:tavLst>
                                    </p:anim>
                                    <p:anim calcmode="lin" valueType="num">
                                      <p:cBhvr>
                                        <p:cTn id="8" dur="500" fill="hold"/>
                                        <p:tgtEl>
                                          <p:spTgt spid="153616"/>
                                        </p:tgtEl>
                                        <p:attrNameLst>
                                          <p:attrName>ppt_y</p:attrName>
                                        </p:attrNameLst>
                                      </p:cBhvr>
                                      <p:tavLst>
                                        <p:tav tm="0">
                                          <p:val>
                                            <p:strVal val="#ppt_y"/>
                                          </p:val>
                                        </p:tav>
                                        <p:tav tm="100000">
                                          <p:val>
                                            <p:strVal val="#ppt_y"/>
                                          </p:val>
                                        </p:tav>
                                      </p:tavLst>
                                    </p:anim>
                                    <p:anim calcmode="lin" valueType="num">
                                      <p:cBhvr>
                                        <p:cTn id="9" dur="500" fill="hold"/>
                                        <p:tgtEl>
                                          <p:spTgt spid="153616"/>
                                        </p:tgtEl>
                                        <p:attrNameLst>
                                          <p:attrName>ppt_w</p:attrName>
                                        </p:attrNameLst>
                                      </p:cBhvr>
                                      <p:tavLst>
                                        <p:tav tm="0">
                                          <p:val>
                                            <p:fltVal val="0"/>
                                          </p:val>
                                        </p:tav>
                                        <p:tav tm="100000">
                                          <p:val>
                                            <p:strVal val="#ppt_w"/>
                                          </p:val>
                                        </p:tav>
                                      </p:tavLst>
                                    </p:anim>
                                    <p:anim calcmode="lin" valueType="num">
                                      <p:cBhvr>
                                        <p:cTn id="10" dur="500" fill="hold"/>
                                        <p:tgtEl>
                                          <p:spTgt spid="153616"/>
                                        </p:tgtEl>
                                        <p:attrNameLst>
                                          <p:attrName>ppt_h</p:attrName>
                                        </p:attrNameLst>
                                      </p:cBhvr>
                                      <p:tavLst>
                                        <p:tav tm="0">
                                          <p:val>
                                            <p:strVal val="#ppt_h"/>
                                          </p:val>
                                        </p:tav>
                                        <p:tav tm="100000">
                                          <p:val>
                                            <p:strVal val="#ppt_h"/>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17" presetClass="entr" presetSubtype="8" fill="hold" grpId="0" nodeType="clickEffect">
                                  <p:stCondLst>
                                    <p:cond delay="0"/>
                                  </p:stCondLst>
                                  <p:childTnLst>
                                    <p:set>
                                      <p:cBhvr>
                                        <p:cTn id="14" dur="1" fill="hold">
                                          <p:stCondLst>
                                            <p:cond delay="0"/>
                                          </p:stCondLst>
                                        </p:cTn>
                                        <p:tgtEl>
                                          <p:spTgt spid="153617"/>
                                        </p:tgtEl>
                                        <p:attrNameLst>
                                          <p:attrName>style.visibility</p:attrName>
                                        </p:attrNameLst>
                                      </p:cBhvr>
                                      <p:to>
                                        <p:strVal val="visible"/>
                                      </p:to>
                                    </p:set>
                                    <p:anim calcmode="lin" valueType="num">
                                      <p:cBhvr>
                                        <p:cTn id="15" dur="500" fill="hold"/>
                                        <p:tgtEl>
                                          <p:spTgt spid="153617"/>
                                        </p:tgtEl>
                                        <p:attrNameLst>
                                          <p:attrName>ppt_x</p:attrName>
                                        </p:attrNameLst>
                                      </p:cBhvr>
                                      <p:tavLst>
                                        <p:tav tm="0">
                                          <p:val>
                                            <p:strVal val="#ppt_x-#ppt_w/2"/>
                                          </p:val>
                                        </p:tav>
                                        <p:tav tm="100000">
                                          <p:val>
                                            <p:strVal val="#ppt_x"/>
                                          </p:val>
                                        </p:tav>
                                      </p:tavLst>
                                    </p:anim>
                                    <p:anim calcmode="lin" valueType="num">
                                      <p:cBhvr>
                                        <p:cTn id="16" dur="500" fill="hold"/>
                                        <p:tgtEl>
                                          <p:spTgt spid="153617"/>
                                        </p:tgtEl>
                                        <p:attrNameLst>
                                          <p:attrName>ppt_y</p:attrName>
                                        </p:attrNameLst>
                                      </p:cBhvr>
                                      <p:tavLst>
                                        <p:tav tm="0">
                                          <p:val>
                                            <p:strVal val="#ppt_y"/>
                                          </p:val>
                                        </p:tav>
                                        <p:tav tm="100000">
                                          <p:val>
                                            <p:strVal val="#ppt_y"/>
                                          </p:val>
                                        </p:tav>
                                      </p:tavLst>
                                    </p:anim>
                                    <p:anim calcmode="lin" valueType="num">
                                      <p:cBhvr>
                                        <p:cTn id="17" dur="500" fill="hold"/>
                                        <p:tgtEl>
                                          <p:spTgt spid="153617"/>
                                        </p:tgtEl>
                                        <p:attrNameLst>
                                          <p:attrName>ppt_w</p:attrName>
                                        </p:attrNameLst>
                                      </p:cBhvr>
                                      <p:tavLst>
                                        <p:tav tm="0">
                                          <p:val>
                                            <p:fltVal val="0"/>
                                          </p:val>
                                        </p:tav>
                                        <p:tav tm="100000">
                                          <p:val>
                                            <p:strVal val="#ppt_w"/>
                                          </p:val>
                                        </p:tav>
                                      </p:tavLst>
                                    </p:anim>
                                    <p:anim calcmode="lin" valueType="num">
                                      <p:cBhvr>
                                        <p:cTn id="18" dur="500" fill="hold"/>
                                        <p:tgtEl>
                                          <p:spTgt spid="153617"/>
                                        </p:tgtEl>
                                        <p:attrNameLst>
                                          <p:attrName>ppt_h</p:attrName>
                                        </p:attrNameLst>
                                      </p:cBhvr>
                                      <p:tavLst>
                                        <p:tav tm="0">
                                          <p:val>
                                            <p:strVal val="#ppt_h"/>
                                          </p:val>
                                        </p:tav>
                                        <p:tav tm="100000">
                                          <p:val>
                                            <p:strVal val="#ppt_h"/>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17" presetClass="entr" presetSubtype="8" fill="hold" grpId="0" nodeType="clickEffect">
                                  <p:stCondLst>
                                    <p:cond delay="0"/>
                                  </p:stCondLst>
                                  <p:childTnLst>
                                    <p:set>
                                      <p:cBhvr>
                                        <p:cTn id="22" dur="1" fill="hold">
                                          <p:stCondLst>
                                            <p:cond delay="0"/>
                                          </p:stCondLst>
                                        </p:cTn>
                                        <p:tgtEl>
                                          <p:spTgt spid="153618"/>
                                        </p:tgtEl>
                                        <p:attrNameLst>
                                          <p:attrName>style.visibility</p:attrName>
                                        </p:attrNameLst>
                                      </p:cBhvr>
                                      <p:to>
                                        <p:strVal val="visible"/>
                                      </p:to>
                                    </p:set>
                                    <p:anim calcmode="lin" valueType="num">
                                      <p:cBhvr>
                                        <p:cTn id="23" dur="500" fill="hold"/>
                                        <p:tgtEl>
                                          <p:spTgt spid="153618"/>
                                        </p:tgtEl>
                                        <p:attrNameLst>
                                          <p:attrName>ppt_x</p:attrName>
                                        </p:attrNameLst>
                                      </p:cBhvr>
                                      <p:tavLst>
                                        <p:tav tm="0">
                                          <p:val>
                                            <p:strVal val="#ppt_x-#ppt_w/2"/>
                                          </p:val>
                                        </p:tav>
                                        <p:tav tm="100000">
                                          <p:val>
                                            <p:strVal val="#ppt_x"/>
                                          </p:val>
                                        </p:tav>
                                      </p:tavLst>
                                    </p:anim>
                                    <p:anim calcmode="lin" valueType="num">
                                      <p:cBhvr>
                                        <p:cTn id="24" dur="500" fill="hold"/>
                                        <p:tgtEl>
                                          <p:spTgt spid="153618"/>
                                        </p:tgtEl>
                                        <p:attrNameLst>
                                          <p:attrName>ppt_y</p:attrName>
                                        </p:attrNameLst>
                                      </p:cBhvr>
                                      <p:tavLst>
                                        <p:tav tm="0">
                                          <p:val>
                                            <p:strVal val="#ppt_y"/>
                                          </p:val>
                                        </p:tav>
                                        <p:tav tm="100000">
                                          <p:val>
                                            <p:strVal val="#ppt_y"/>
                                          </p:val>
                                        </p:tav>
                                      </p:tavLst>
                                    </p:anim>
                                    <p:anim calcmode="lin" valueType="num">
                                      <p:cBhvr>
                                        <p:cTn id="25" dur="500" fill="hold"/>
                                        <p:tgtEl>
                                          <p:spTgt spid="153618"/>
                                        </p:tgtEl>
                                        <p:attrNameLst>
                                          <p:attrName>ppt_w</p:attrName>
                                        </p:attrNameLst>
                                      </p:cBhvr>
                                      <p:tavLst>
                                        <p:tav tm="0">
                                          <p:val>
                                            <p:fltVal val="0"/>
                                          </p:val>
                                        </p:tav>
                                        <p:tav tm="100000">
                                          <p:val>
                                            <p:strVal val="#ppt_w"/>
                                          </p:val>
                                        </p:tav>
                                      </p:tavLst>
                                    </p:anim>
                                    <p:anim calcmode="lin" valueType="num">
                                      <p:cBhvr>
                                        <p:cTn id="26" dur="500" fill="hold"/>
                                        <p:tgtEl>
                                          <p:spTgt spid="153618"/>
                                        </p:tgtEl>
                                        <p:attrNameLst>
                                          <p:attrName>ppt_h</p:attrName>
                                        </p:attrNameLst>
                                      </p:cBhvr>
                                      <p:tavLst>
                                        <p:tav tm="0">
                                          <p:val>
                                            <p:strVal val="#ppt_h"/>
                                          </p:val>
                                        </p:tav>
                                        <p:tav tm="100000">
                                          <p:val>
                                            <p:strVal val="#ppt_h"/>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17" presetClass="entr" presetSubtype="10" fill="hold" grpId="0" nodeType="clickEffect">
                                  <p:stCondLst>
                                    <p:cond delay="0"/>
                                  </p:stCondLst>
                                  <p:childTnLst>
                                    <p:set>
                                      <p:cBhvr>
                                        <p:cTn id="30" dur="1" fill="hold">
                                          <p:stCondLst>
                                            <p:cond delay="0"/>
                                          </p:stCondLst>
                                        </p:cTn>
                                        <p:tgtEl>
                                          <p:spTgt spid="153604"/>
                                        </p:tgtEl>
                                        <p:attrNameLst>
                                          <p:attrName>style.visibility</p:attrName>
                                        </p:attrNameLst>
                                      </p:cBhvr>
                                      <p:to>
                                        <p:strVal val="visible"/>
                                      </p:to>
                                    </p:set>
                                    <p:anim calcmode="lin" valueType="num">
                                      <p:cBhvr>
                                        <p:cTn id="31" dur="500" fill="hold"/>
                                        <p:tgtEl>
                                          <p:spTgt spid="153604"/>
                                        </p:tgtEl>
                                        <p:attrNameLst>
                                          <p:attrName>ppt_w</p:attrName>
                                        </p:attrNameLst>
                                      </p:cBhvr>
                                      <p:tavLst>
                                        <p:tav tm="0">
                                          <p:val>
                                            <p:fltVal val="0"/>
                                          </p:val>
                                        </p:tav>
                                        <p:tav tm="100000">
                                          <p:val>
                                            <p:strVal val="#ppt_w"/>
                                          </p:val>
                                        </p:tav>
                                      </p:tavLst>
                                    </p:anim>
                                    <p:anim calcmode="lin" valueType="num">
                                      <p:cBhvr>
                                        <p:cTn id="32" dur="500" fill="hold"/>
                                        <p:tgtEl>
                                          <p:spTgt spid="153604"/>
                                        </p:tgtEl>
                                        <p:attrNameLst>
                                          <p:attrName>ppt_h</p:attrName>
                                        </p:attrNameLst>
                                      </p:cBhvr>
                                      <p:tavLst>
                                        <p:tav tm="0">
                                          <p:val>
                                            <p:strVal val="#ppt_h"/>
                                          </p:val>
                                        </p:tav>
                                        <p:tav tm="100000">
                                          <p:val>
                                            <p:strVal val="#ppt_h"/>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
                                        </p:tgtEl>
                                        <p:attrNameLst>
                                          <p:attrName>style.visibility</p:attrName>
                                        </p:attrNameLst>
                                      </p:cBhvr>
                                      <p:to>
                                        <p:strVal val="visible"/>
                                      </p:to>
                                    </p:set>
                                    <p:animEffect transition="in" filter="wipe(left)">
                                      <p:cBhvr>
                                        <p:cTn id="37" dur="500"/>
                                        <p:tgtEl>
                                          <p:spTgt spid="2"/>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8"/>
                                        </p:tgtEl>
                                        <p:attrNameLst>
                                          <p:attrName>style.visibility</p:attrName>
                                        </p:attrNameLst>
                                      </p:cBhvr>
                                      <p:to>
                                        <p:strVal val="visible"/>
                                      </p:to>
                                    </p:set>
                                    <p:animEffect transition="in" filter="wipe(left)">
                                      <p:cBhvr>
                                        <p:cTn id="42" dur="500"/>
                                        <p:tgtEl>
                                          <p:spTgt spid="8"/>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9"/>
                                        </p:tgtEl>
                                        <p:attrNameLst>
                                          <p:attrName>style.visibility</p:attrName>
                                        </p:attrNameLst>
                                      </p:cBhvr>
                                      <p:to>
                                        <p:strVal val="visible"/>
                                      </p:to>
                                    </p:set>
                                    <p:animEffect transition="in" filter="wipe(left)">
                                      <p:cBhvr>
                                        <p:cTn id="4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04" grpId="0" autoUpdateAnimBg="0"/>
      <p:bldP spid="153616" grpId="0" autoUpdateAnimBg="0"/>
      <p:bldP spid="153617" grpId="0" autoUpdateAnimBg="0"/>
      <p:bldP spid="153618" grpId="0" autoUpdateAnimBg="0"/>
      <p:bldP spid="2" grpId="0"/>
      <p:bldP spid="8" grpId="0"/>
      <p:bldP spid="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470" name="Group 28"/>
          <p:cNvGrpSpPr>
            <a:grpSpLocks/>
          </p:cNvGrpSpPr>
          <p:nvPr/>
        </p:nvGrpSpPr>
        <p:grpSpPr bwMode="auto">
          <a:xfrm>
            <a:off x="5724525" y="1347788"/>
            <a:ext cx="3024188" cy="1439862"/>
            <a:chOff x="3198" y="1382"/>
            <a:chExt cx="2115" cy="1603"/>
          </a:xfrm>
        </p:grpSpPr>
        <p:sp>
          <p:nvSpPr>
            <p:cNvPr id="9476" name="Line 5"/>
            <p:cNvSpPr>
              <a:spLocks noChangeShapeType="1"/>
            </p:cNvSpPr>
            <p:nvPr/>
          </p:nvSpPr>
          <p:spPr bwMode="auto">
            <a:xfrm flipV="1">
              <a:off x="3470" y="1570"/>
              <a:ext cx="0" cy="1179"/>
            </a:xfrm>
            <a:prstGeom prst="line">
              <a:avLst/>
            </a:prstGeom>
            <a:noFill/>
            <a:ln w="25400">
              <a:solidFill>
                <a:schemeClr val="tx1"/>
              </a:solidFill>
              <a:round/>
              <a:headEnd/>
              <a:tailEnd type="stealth" w="lg" len="lg"/>
            </a:ln>
          </p:spPr>
          <p:txBody>
            <a:bodyPr/>
            <a:lstStyle/>
            <a:p>
              <a:endParaRPr lang="zh-CN" altLang="en-US"/>
            </a:p>
          </p:txBody>
        </p:sp>
        <p:sp>
          <p:nvSpPr>
            <p:cNvPr id="9477" name="Line 6"/>
            <p:cNvSpPr>
              <a:spLocks noChangeShapeType="1"/>
            </p:cNvSpPr>
            <p:nvPr/>
          </p:nvSpPr>
          <p:spPr bwMode="auto">
            <a:xfrm>
              <a:off x="3470" y="2750"/>
              <a:ext cx="1814" cy="0"/>
            </a:xfrm>
            <a:prstGeom prst="line">
              <a:avLst/>
            </a:prstGeom>
            <a:noFill/>
            <a:ln w="25400">
              <a:solidFill>
                <a:schemeClr val="tx1"/>
              </a:solidFill>
              <a:round/>
              <a:headEnd/>
              <a:tailEnd type="stealth" w="lg" len="lg"/>
            </a:ln>
          </p:spPr>
          <p:txBody>
            <a:bodyPr/>
            <a:lstStyle/>
            <a:p>
              <a:endParaRPr lang="zh-CN" altLang="en-US"/>
            </a:p>
          </p:txBody>
        </p:sp>
        <p:sp>
          <p:nvSpPr>
            <p:cNvPr id="9478" name="Line 7"/>
            <p:cNvSpPr>
              <a:spLocks noChangeShapeType="1"/>
            </p:cNvSpPr>
            <p:nvPr/>
          </p:nvSpPr>
          <p:spPr bwMode="auto">
            <a:xfrm>
              <a:off x="3742" y="1797"/>
              <a:ext cx="544" cy="0"/>
            </a:xfrm>
            <a:prstGeom prst="line">
              <a:avLst/>
            </a:prstGeom>
            <a:noFill/>
            <a:ln w="25400">
              <a:solidFill>
                <a:srgbClr val="0000FF"/>
              </a:solidFill>
              <a:round/>
              <a:headEnd/>
              <a:tailEnd/>
            </a:ln>
          </p:spPr>
          <p:txBody>
            <a:bodyPr/>
            <a:lstStyle/>
            <a:p>
              <a:endParaRPr lang="zh-CN" altLang="en-US"/>
            </a:p>
          </p:txBody>
        </p:sp>
        <p:sp>
          <p:nvSpPr>
            <p:cNvPr id="9479" name="Arc 8"/>
            <p:cNvSpPr>
              <a:spLocks/>
            </p:cNvSpPr>
            <p:nvPr/>
          </p:nvSpPr>
          <p:spPr bwMode="auto">
            <a:xfrm rot="10800000">
              <a:off x="4286" y="1797"/>
              <a:ext cx="544" cy="454"/>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5400">
              <a:solidFill>
                <a:schemeClr val="accent2"/>
              </a:solidFill>
              <a:round/>
              <a:headEnd/>
              <a:tailEnd/>
            </a:ln>
          </p:spPr>
          <p:txBody>
            <a:bodyPr wrap="none" anchor="ctr"/>
            <a:lstStyle/>
            <a:p>
              <a:endParaRPr lang="zh-CN" altLang="en-US"/>
            </a:p>
          </p:txBody>
        </p:sp>
        <p:sp>
          <p:nvSpPr>
            <p:cNvPr id="9480" name="Line 9"/>
            <p:cNvSpPr>
              <a:spLocks noChangeShapeType="1"/>
            </p:cNvSpPr>
            <p:nvPr/>
          </p:nvSpPr>
          <p:spPr bwMode="auto">
            <a:xfrm>
              <a:off x="4830" y="2251"/>
              <a:ext cx="0" cy="363"/>
            </a:xfrm>
            <a:prstGeom prst="line">
              <a:avLst/>
            </a:prstGeom>
            <a:noFill/>
            <a:ln w="25400">
              <a:solidFill>
                <a:schemeClr val="accent2"/>
              </a:solidFill>
              <a:round/>
              <a:headEnd/>
              <a:tailEnd/>
            </a:ln>
          </p:spPr>
          <p:txBody>
            <a:bodyPr/>
            <a:lstStyle/>
            <a:p>
              <a:endParaRPr lang="zh-CN" altLang="en-US"/>
            </a:p>
          </p:txBody>
        </p:sp>
        <p:graphicFrame>
          <p:nvGraphicFramePr>
            <p:cNvPr id="9449" name="Object 233"/>
            <p:cNvGraphicFramePr>
              <a:graphicFrameLocks noChangeAspect="1"/>
            </p:cNvGraphicFramePr>
            <p:nvPr/>
          </p:nvGraphicFramePr>
          <p:xfrm>
            <a:off x="3606" y="1616"/>
            <a:ext cx="164" cy="180"/>
          </p:xfrm>
          <a:graphic>
            <a:graphicData uri="http://schemas.openxmlformats.org/presentationml/2006/ole">
              <p:oleObj spid="_x0000_s9449" name="Equation" r:id="rId3" imgW="126835" imgH="139518" progId="Equation.DSMT4">
                <p:embed/>
              </p:oleObj>
            </a:graphicData>
          </a:graphic>
        </p:graphicFrame>
        <p:graphicFrame>
          <p:nvGraphicFramePr>
            <p:cNvPr id="9450" name="Object 234"/>
            <p:cNvGraphicFramePr>
              <a:graphicFrameLocks noChangeAspect="1"/>
            </p:cNvGraphicFramePr>
            <p:nvPr/>
          </p:nvGraphicFramePr>
          <p:xfrm>
            <a:off x="4241" y="1570"/>
            <a:ext cx="161" cy="226"/>
          </p:xfrm>
          <a:graphic>
            <a:graphicData uri="http://schemas.openxmlformats.org/presentationml/2006/ole">
              <p:oleObj spid="_x0000_s9450" name="Equation" r:id="rId4" imgW="126725" imgH="177415" progId="Equation.DSMT4">
                <p:embed/>
              </p:oleObj>
            </a:graphicData>
          </a:graphic>
        </p:graphicFrame>
        <p:graphicFrame>
          <p:nvGraphicFramePr>
            <p:cNvPr id="9451" name="Object 235"/>
            <p:cNvGraphicFramePr>
              <a:graphicFrameLocks noChangeAspect="1"/>
            </p:cNvGraphicFramePr>
            <p:nvPr/>
          </p:nvGraphicFramePr>
          <p:xfrm>
            <a:off x="4830" y="2160"/>
            <a:ext cx="147" cy="180"/>
          </p:xfrm>
          <a:graphic>
            <a:graphicData uri="http://schemas.openxmlformats.org/presentationml/2006/ole">
              <p:oleObj spid="_x0000_s9451" name="Equation" r:id="rId5" imgW="114201" imgH="139579" progId="Equation.DSMT4">
                <p:embed/>
              </p:oleObj>
            </a:graphicData>
          </a:graphic>
        </p:graphicFrame>
        <p:graphicFrame>
          <p:nvGraphicFramePr>
            <p:cNvPr id="9452" name="Object 236"/>
            <p:cNvGraphicFramePr>
              <a:graphicFrameLocks noChangeAspect="1"/>
            </p:cNvGraphicFramePr>
            <p:nvPr/>
          </p:nvGraphicFramePr>
          <p:xfrm>
            <a:off x="4830" y="2523"/>
            <a:ext cx="151" cy="192"/>
          </p:xfrm>
          <a:graphic>
            <a:graphicData uri="http://schemas.openxmlformats.org/presentationml/2006/ole">
              <p:oleObj spid="_x0000_s9452" name="Equation" r:id="rId6" imgW="139579" imgH="177646" progId="Equation.DSMT4">
                <p:embed/>
              </p:oleObj>
            </a:graphicData>
          </a:graphic>
        </p:graphicFrame>
        <p:sp>
          <p:nvSpPr>
            <p:cNvPr id="9481" name="Line 14"/>
            <p:cNvSpPr>
              <a:spLocks noChangeShapeType="1"/>
            </p:cNvSpPr>
            <p:nvPr/>
          </p:nvSpPr>
          <p:spPr bwMode="auto">
            <a:xfrm flipH="1">
              <a:off x="3470" y="1797"/>
              <a:ext cx="272" cy="0"/>
            </a:xfrm>
            <a:prstGeom prst="line">
              <a:avLst/>
            </a:prstGeom>
            <a:noFill/>
            <a:ln w="25400">
              <a:solidFill>
                <a:schemeClr val="tx1"/>
              </a:solidFill>
              <a:prstDash val="dash"/>
              <a:round/>
              <a:headEnd/>
              <a:tailEnd/>
            </a:ln>
          </p:spPr>
          <p:txBody>
            <a:bodyPr/>
            <a:lstStyle/>
            <a:p>
              <a:endParaRPr lang="zh-CN" altLang="en-US"/>
            </a:p>
          </p:txBody>
        </p:sp>
        <p:sp>
          <p:nvSpPr>
            <p:cNvPr id="9482" name="Line 15"/>
            <p:cNvSpPr>
              <a:spLocks noChangeShapeType="1"/>
            </p:cNvSpPr>
            <p:nvPr/>
          </p:nvSpPr>
          <p:spPr bwMode="auto">
            <a:xfrm flipH="1">
              <a:off x="3470" y="2251"/>
              <a:ext cx="1360" cy="0"/>
            </a:xfrm>
            <a:prstGeom prst="line">
              <a:avLst/>
            </a:prstGeom>
            <a:noFill/>
            <a:ln w="25400">
              <a:solidFill>
                <a:schemeClr val="tx1"/>
              </a:solidFill>
              <a:prstDash val="dash"/>
              <a:round/>
              <a:headEnd/>
              <a:tailEnd/>
            </a:ln>
          </p:spPr>
          <p:txBody>
            <a:bodyPr/>
            <a:lstStyle/>
            <a:p>
              <a:endParaRPr lang="zh-CN" altLang="en-US"/>
            </a:p>
          </p:txBody>
        </p:sp>
        <p:sp>
          <p:nvSpPr>
            <p:cNvPr id="9483" name="Line 16"/>
            <p:cNvSpPr>
              <a:spLocks noChangeShapeType="1"/>
            </p:cNvSpPr>
            <p:nvPr/>
          </p:nvSpPr>
          <p:spPr bwMode="auto">
            <a:xfrm flipH="1">
              <a:off x="3470" y="2614"/>
              <a:ext cx="1360" cy="0"/>
            </a:xfrm>
            <a:prstGeom prst="line">
              <a:avLst/>
            </a:prstGeom>
            <a:noFill/>
            <a:ln w="25400">
              <a:solidFill>
                <a:schemeClr val="tx1"/>
              </a:solidFill>
              <a:prstDash val="dash"/>
              <a:round/>
              <a:headEnd/>
              <a:tailEnd/>
            </a:ln>
          </p:spPr>
          <p:txBody>
            <a:bodyPr/>
            <a:lstStyle/>
            <a:p>
              <a:endParaRPr lang="zh-CN" altLang="en-US"/>
            </a:p>
          </p:txBody>
        </p:sp>
        <p:sp>
          <p:nvSpPr>
            <p:cNvPr id="9484" name="Line 17"/>
            <p:cNvSpPr>
              <a:spLocks noChangeShapeType="1"/>
            </p:cNvSpPr>
            <p:nvPr/>
          </p:nvSpPr>
          <p:spPr bwMode="auto">
            <a:xfrm>
              <a:off x="4286" y="1797"/>
              <a:ext cx="0" cy="953"/>
            </a:xfrm>
            <a:prstGeom prst="line">
              <a:avLst/>
            </a:prstGeom>
            <a:noFill/>
            <a:ln w="25400">
              <a:solidFill>
                <a:schemeClr val="tx1"/>
              </a:solidFill>
              <a:prstDash val="dash"/>
              <a:round/>
              <a:headEnd/>
              <a:tailEnd/>
            </a:ln>
          </p:spPr>
          <p:txBody>
            <a:bodyPr/>
            <a:lstStyle/>
            <a:p>
              <a:endParaRPr lang="zh-CN" altLang="en-US"/>
            </a:p>
          </p:txBody>
        </p:sp>
        <p:sp>
          <p:nvSpPr>
            <p:cNvPr id="9485" name="Line 18"/>
            <p:cNvSpPr>
              <a:spLocks noChangeShapeType="1"/>
            </p:cNvSpPr>
            <p:nvPr/>
          </p:nvSpPr>
          <p:spPr bwMode="auto">
            <a:xfrm>
              <a:off x="3696" y="1797"/>
              <a:ext cx="0" cy="953"/>
            </a:xfrm>
            <a:prstGeom prst="line">
              <a:avLst/>
            </a:prstGeom>
            <a:noFill/>
            <a:ln w="25400">
              <a:solidFill>
                <a:schemeClr val="tx1"/>
              </a:solidFill>
              <a:prstDash val="dash"/>
              <a:round/>
              <a:headEnd/>
              <a:tailEnd/>
            </a:ln>
          </p:spPr>
          <p:txBody>
            <a:bodyPr/>
            <a:lstStyle/>
            <a:p>
              <a:endParaRPr lang="zh-CN" altLang="en-US"/>
            </a:p>
          </p:txBody>
        </p:sp>
        <p:sp>
          <p:nvSpPr>
            <p:cNvPr id="9486" name="Line 19"/>
            <p:cNvSpPr>
              <a:spLocks noChangeShapeType="1"/>
            </p:cNvSpPr>
            <p:nvPr/>
          </p:nvSpPr>
          <p:spPr bwMode="auto">
            <a:xfrm>
              <a:off x="4830" y="2614"/>
              <a:ext cx="0" cy="136"/>
            </a:xfrm>
            <a:prstGeom prst="line">
              <a:avLst/>
            </a:prstGeom>
            <a:noFill/>
            <a:ln w="25400">
              <a:solidFill>
                <a:schemeClr val="tx1"/>
              </a:solidFill>
              <a:prstDash val="dash"/>
              <a:round/>
              <a:headEnd/>
              <a:tailEnd/>
            </a:ln>
          </p:spPr>
          <p:txBody>
            <a:bodyPr/>
            <a:lstStyle/>
            <a:p>
              <a:endParaRPr lang="zh-CN" altLang="en-US"/>
            </a:p>
          </p:txBody>
        </p:sp>
        <p:graphicFrame>
          <p:nvGraphicFramePr>
            <p:cNvPr id="9453" name="Object 237"/>
            <p:cNvGraphicFramePr>
              <a:graphicFrameLocks noChangeAspect="1"/>
            </p:cNvGraphicFramePr>
            <p:nvPr/>
          </p:nvGraphicFramePr>
          <p:xfrm>
            <a:off x="3379" y="1382"/>
            <a:ext cx="188" cy="188"/>
          </p:xfrm>
          <a:graphic>
            <a:graphicData uri="http://schemas.openxmlformats.org/presentationml/2006/ole">
              <p:oleObj spid="_x0000_s9453" name="Equation" r:id="rId7" imgW="164885" imgH="164885" progId="Equation.DSMT4">
                <p:embed/>
              </p:oleObj>
            </a:graphicData>
          </a:graphic>
        </p:graphicFrame>
        <p:graphicFrame>
          <p:nvGraphicFramePr>
            <p:cNvPr id="9454" name="Object 238"/>
            <p:cNvGraphicFramePr>
              <a:graphicFrameLocks noChangeAspect="1"/>
            </p:cNvGraphicFramePr>
            <p:nvPr/>
          </p:nvGraphicFramePr>
          <p:xfrm>
            <a:off x="5148" y="2523"/>
            <a:ext cx="165" cy="192"/>
          </p:xfrm>
          <a:graphic>
            <a:graphicData uri="http://schemas.openxmlformats.org/presentationml/2006/ole">
              <p:oleObj spid="_x0000_s9454" name="Equation" r:id="rId8" imgW="152202" imgH="177569" progId="Equation.DSMT4">
                <p:embed/>
              </p:oleObj>
            </a:graphicData>
          </a:graphic>
        </p:graphicFrame>
        <p:graphicFrame>
          <p:nvGraphicFramePr>
            <p:cNvPr id="9455" name="Object 239"/>
            <p:cNvGraphicFramePr>
              <a:graphicFrameLocks noChangeAspect="1"/>
            </p:cNvGraphicFramePr>
            <p:nvPr/>
          </p:nvGraphicFramePr>
          <p:xfrm>
            <a:off x="3610" y="2750"/>
            <a:ext cx="177" cy="227"/>
          </p:xfrm>
          <a:graphic>
            <a:graphicData uri="http://schemas.openxmlformats.org/presentationml/2006/ole">
              <p:oleObj spid="_x0000_s9455" name="Equation" r:id="rId9" imgW="177646" imgH="228402" progId="Equation.DSMT4">
                <p:embed/>
              </p:oleObj>
            </a:graphicData>
          </a:graphic>
        </p:graphicFrame>
        <p:graphicFrame>
          <p:nvGraphicFramePr>
            <p:cNvPr id="9456" name="Object 240"/>
            <p:cNvGraphicFramePr>
              <a:graphicFrameLocks noChangeAspect="1"/>
            </p:cNvGraphicFramePr>
            <p:nvPr/>
          </p:nvGraphicFramePr>
          <p:xfrm>
            <a:off x="4150" y="2750"/>
            <a:ext cx="261" cy="235"/>
          </p:xfrm>
          <a:graphic>
            <a:graphicData uri="http://schemas.openxmlformats.org/presentationml/2006/ole">
              <p:oleObj spid="_x0000_s9456" name="Equation" r:id="rId10" imgW="253890" imgH="228501" progId="Equation.DSMT4">
                <p:embed/>
              </p:oleObj>
            </a:graphicData>
          </a:graphic>
        </p:graphicFrame>
        <p:graphicFrame>
          <p:nvGraphicFramePr>
            <p:cNvPr id="9457" name="Object 241"/>
            <p:cNvGraphicFramePr>
              <a:graphicFrameLocks noChangeAspect="1"/>
            </p:cNvGraphicFramePr>
            <p:nvPr/>
          </p:nvGraphicFramePr>
          <p:xfrm>
            <a:off x="4694" y="2750"/>
            <a:ext cx="261" cy="235"/>
          </p:xfrm>
          <a:graphic>
            <a:graphicData uri="http://schemas.openxmlformats.org/presentationml/2006/ole">
              <p:oleObj spid="_x0000_s9457" name="Equation" r:id="rId11" imgW="253890" imgH="228501" progId="Equation.DSMT4">
                <p:embed/>
              </p:oleObj>
            </a:graphicData>
          </a:graphic>
        </p:graphicFrame>
        <p:graphicFrame>
          <p:nvGraphicFramePr>
            <p:cNvPr id="9458" name="Object 242"/>
            <p:cNvGraphicFramePr>
              <a:graphicFrameLocks noChangeAspect="1"/>
            </p:cNvGraphicFramePr>
            <p:nvPr/>
          </p:nvGraphicFramePr>
          <p:xfrm>
            <a:off x="3198" y="1706"/>
            <a:ext cx="261" cy="235"/>
          </p:xfrm>
          <a:graphic>
            <a:graphicData uri="http://schemas.openxmlformats.org/presentationml/2006/ole">
              <p:oleObj spid="_x0000_s9458" name="Equation" r:id="rId12" imgW="253890" imgH="228501" progId="Equation.DSMT4">
                <p:embed/>
              </p:oleObj>
            </a:graphicData>
          </a:graphic>
        </p:graphicFrame>
        <p:graphicFrame>
          <p:nvGraphicFramePr>
            <p:cNvPr id="9459" name="Object 243"/>
            <p:cNvGraphicFramePr>
              <a:graphicFrameLocks noChangeAspect="1"/>
            </p:cNvGraphicFramePr>
            <p:nvPr/>
          </p:nvGraphicFramePr>
          <p:xfrm>
            <a:off x="3198" y="2160"/>
            <a:ext cx="261" cy="234"/>
          </p:xfrm>
          <a:graphic>
            <a:graphicData uri="http://schemas.openxmlformats.org/presentationml/2006/ole">
              <p:oleObj spid="_x0000_s9459" name="Equation" r:id="rId13" imgW="253890" imgH="228501" progId="Equation.DSMT4">
                <p:embed/>
              </p:oleObj>
            </a:graphicData>
          </a:graphic>
        </p:graphicFrame>
        <p:graphicFrame>
          <p:nvGraphicFramePr>
            <p:cNvPr id="9460" name="Object 244"/>
            <p:cNvGraphicFramePr>
              <a:graphicFrameLocks noChangeAspect="1"/>
            </p:cNvGraphicFramePr>
            <p:nvPr/>
          </p:nvGraphicFramePr>
          <p:xfrm>
            <a:off x="3273" y="2523"/>
            <a:ext cx="197" cy="253"/>
          </p:xfrm>
          <a:graphic>
            <a:graphicData uri="http://schemas.openxmlformats.org/presentationml/2006/ole">
              <p:oleObj spid="_x0000_s9460" name="Equation" r:id="rId14" imgW="177646" imgH="228402" progId="Equation.DSMT4">
                <p:embed/>
              </p:oleObj>
            </a:graphicData>
          </a:graphic>
        </p:graphicFrame>
      </p:grpSp>
      <p:grpSp>
        <p:nvGrpSpPr>
          <p:cNvPr id="9471" name="Group 38"/>
          <p:cNvGrpSpPr>
            <a:grpSpLocks/>
          </p:cNvGrpSpPr>
          <p:nvPr/>
        </p:nvGrpSpPr>
        <p:grpSpPr bwMode="auto">
          <a:xfrm>
            <a:off x="250825" y="806450"/>
            <a:ext cx="8569325" cy="1477963"/>
            <a:chOff x="158" y="218"/>
            <a:chExt cx="5398" cy="1241"/>
          </a:xfrm>
        </p:grpSpPr>
        <p:sp>
          <p:nvSpPr>
            <p:cNvPr id="9475" name="Rectangle 2"/>
            <p:cNvSpPr>
              <a:spLocks noChangeArrowheads="1"/>
            </p:cNvSpPr>
            <p:nvPr/>
          </p:nvSpPr>
          <p:spPr bwMode="auto">
            <a:xfrm>
              <a:off x="158" y="218"/>
              <a:ext cx="5398" cy="1241"/>
            </a:xfrm>
            <a:prstGeom prst="rect">
              <a:avLst/>
            </a:prstGeom>
            <a:noFill/>
            <a:ln w="9525">
              <a:noFill/>
              <a:miter lim="800000"/>
              <a:headEnd/>
              <a:tailEnd/>
            </a:ln>
          </p:spPr>
          <p:txBody>
            <a:bodyPr anchor="ctr">
              <a:spAutoFit/>
            </a:bodyPr>
            <a:lstStyle/>
            <a:p>
              <a:pPr>
                <a:tabLst>
                  <a:tab pos="523875" algn="l"/>
                </a:tabLst>
              </a:pPr>
              <a:r>
                <a:rPr lang="zh-CN" altLang="en-US" b="1">
                  <a:solidFill>
                    <a:srgbClr val="0000FF"/>
                  </a:solidFill>
                  <a:latin typeface="Times New Roman" pitchFamily="18" charset="0"/>
                  <a:ea typeface="华文中宋"/>
                  <a:cs typeface="Times New Roman" pitchFamily="18" charset="0"/>
                </a:rPr>
                <a:t>例   气缸内贮有</a:t>
              </a:r>
              <a:r>
                <a:rPr lang="en-US" altLang="zh-CN" b="1">
                  <a:solidFill>
                    <a:srgbClr val="0000FF"/>
                  </a:solidFill>
                  <a:latin typeface="Times New Roman" pitchFamily="18" charset="0"/>
                  <a:ea typeface="华文中宋"/>
                  <a:cs typeface="Times New Roman" pitchFamily="18" charset="0"/>
                </a:rPr>
                <a:t>36 </a:t>
              </a:r>
              <a:r>
                <a:rPr lang="en-US" altLang="zh-CN" b="1" i="1">
                  <a:solidFill>
                    <a:srgbClr val="0000FF"/>
                  </a:solidFill>
                  <a:latin typeface="Times New Roman" pitchFamily="18" charset="0"/>
                  <a:ea typeface="华文中宋"/>
                  <a:cs typeface="Times New Roman" pitchFamily="18" charset="0"/>
                </a:rPr>
                <a:t>g</a:t>
              </a:r>
              <a:r>
                <a:rPr lang="zh-CN" altLang="en-US" b="1">
                  <a:solidFill>
                    <a:srgbClr val="0000FF"/>
                  </a:solidFill>
                  <a:latin typeface="Times New Roman" pitchFamily="18" charset="0"/>
                  <a:ea typeface="华文中宋"/>
                  <a:cs typeface="Times New Roman" pitchFamily="18" charset="0"/>
                </a:rPr>
                <a:t>水蒸汽</a:t>
              </a:r>
              <a:r>
                <a:rPr lang="en-US" altLang="zh-CN" b="1">
                  <a:solidFill>
                    <a:srgbClr val="0000FF"/>
                  </a:solidFill>
                  <a:latin typeface="Times New Roman" pitchFamily="18" charset="0"/>
                  <a:ea typeface="华文中宋"/>
                  <a:cs typeface="Times New Roman" pitchFamily="18" charset="0"/>
                </a:rPr>
                <a:t>(</a:t>
              </a:r>
              <a:r>
                <a:rPr lang="zh-CN" altLang="en-US" b="1">
                  <a:solidFill>
                    <a:srgbClr val="0000FF"/>
                  </a:solidFill>
                  <a:latin typeface="Times New Roman" pitchFamily="18" charset="0"/>
                  <a:ea typeface="华文中宋"/>
                  <a:cs typeface="Times New Roman" pitchFamily="18" charset="0"/>
                </a:rPr>
                <a:t>视为刚性分子理想气体</a:t>
              </a:r>
              <a:r>
                <a:rPr lang="en-US" altLang="zh-CN" b="1">
                  <a:solidFill>
                    <a:srgbClr val="0000FF"/>
                  </a:solidFill>
                  <a:latin typeface="Times New Roman" pitchFamily="18" charset="0"/>
                  <a:ea typeface="华文中宋"/>
                  <a:cs typeface="Times New Roman" pitchFamily="18" charset="0"/>
                </a:rPr>
                <a:t>)</a:t>
              </a:r>
              <a:r>
                <a:rPr lang="zh-CN" altLang="en-US" b="1">
                  <a:solidFill>
                    <a:srgbClr val="0000FF"/>
                  </a:solidFill>
                  <a:latin typeface="Times New Roman" pitchFamily="18" charset="0"/>
                  <a:ea typeface="华文中宋"/>
                  <a:cs typeface="Times New Roman" pitchFamily="18" charset="0"/>
                </a:rPr>
                <a:t>，经</a:t>
              </a:r>
              <a:r>
                <a:rPr lang="en-US" altLang="zh-CN" b="1" i="1">
                  <a:solidFill>
                    <a:srgbClr val="0000FF"/>
                  </a:solidFill>
                  <a:latin typeface="Times New Roman" pitchFamily="18" charset="0"/>
                  <a:ea typeface="华文中宋"/>
                  <a:cs typeface="Times New Roman" pitchFamily="18" charset="0"/>
                </a:rPr>
                <a:t>abcd</a:t>
              </a:r>
              <a:r>
                <a:rPr lang="zh-CN" altLang="en-US" b="1">
                  <a:solidFill>
                    <a:srgbClr val="0000FF"/>
                  </a:solidFill>
                  <a:latin typeface="Times New Roman" pitchFamily="18" charset="0"/>
                  <a:ea typeface="华文中宋"/>
                  <a:cs typeface="Times New Roman" pitchFamily="18" charset="0"/>
                </a:rPr>
                <a:t>过程如图所示，其中</a:t>
              </a:r>
              <a:r>
                <a:rPr lang="en-US" altLang="zh-CN" b="1" i="1">
                  <a:solidFill>
                    <a:srgbClr val="0000FF"/>
                  </a:solidFill>
                  <a:latin typeface="Times New Roman" pitchFamily="18" charset="0"/>
                  <a:ea typeface="华文中宋"/>
                  <a:cs typeface="Times New Roman" pitchFamily="18" charset="0"/>
                </a:rPr>
                <a:t>a</a:t>
              </a:r>
              <a:r>
                <a:rPr lang="zh-CN" altLang="en-US" b="1">
                  <a:solidFill>
                    <a:srgbClr val="0000FF"/>
                  </a:solidFill>
                  <a:latin typeface="Times New Roman" pitchFamily="18" charset="0"/>
                  <a:ea typeface="华文中宋"/>
                  <a:cs typeface="Times New Roman" pitchFamily="18" charset="0"/>
                </a:rPr>
                <a:t>－</a:t>
              </a:r>
              <a:r>
                <a:rPr lang="en-US" altLang="zh-CN" b="1" i="1">
                  <a:solidFill>
                    <a:srgbClr val="0000FF"/>
                  </a:solidFill>
                  <a:latin typeface="Times New Roman" pitchFamily="18" charset="0"/>
                  <a:ea typeface="华文中宋"/>
                  <a:cs typeface="Times New Roman" pitchFamily="18" charset="0"/>
                </a:rPr>
                <a:t>b</a:t>
              </a:r>
              <a:r>
                <a:rPr lang="zh-CN" altLang="en-US" b="1">
                  <a:solidFill>
                    <a:srgbClr val="0000FF"/>
                  </a:solidFill>
                  <a:latin typeface="Times New Roman" pitchFamily="18" charset="0"/>
                  <a:ea typeface="华文中宋"/>
                  <a:cs typeface="Times New Roman" pitchFamily="18" charset="0"/>
                </a:rPr>
                <a:t>为等压过程，</a:t>
              </a:r>
              <a:r>
                <a:rPr lang="en-US" altLang="zh-CN" b="1" i="1">
                  <a:solidFill>
                    <a:srgbClr val="0000FF"/>
                  </a:solidFill>
                  <a:latin typeface="Times New Roman" pitchFamily="18" charset="0"/>
                  <a:ea typeface="华文中宋"/>
                  <a:cs typeface="Times New Roman" pitchFamily="18" charset="0"/>
                </a:rPr>
                <a:t>b</a:t>
              </a:r>
              <a:r>
                <a:rPr lang="zh-CN" altLang="en-US" b="1">
                  <a:solidFill>
                    <a:srgbClr val="0000FF"/>
                  </a:solidFill>
                  <a:latin typeface="Times New Roman" pitchFamily="18" charset="0"/>
                  <a:ea typeface="华文中宋"/>
                  <a:cs typeface="Times New Roman" pitchFamily="18" charset="0"/>
                </a:rPr>
                <a:t>－</a:t>
              </a:r>
              <a:r>
                <a:rPr lang="en-US" altLang="zh-CN" b="1" i="1">
                  <a:solidFill>
                    <a:srgbClr val="0000FF"/>
                  </a:solidFill>
                  <a:latin typeface="Times New Roman" pitchFamily="18" charset="0"/>
                  <a:ea typeface="华文中宋"/>
                  <a:cs typeface="Times New Roman" pitchFamily="18" charset="0"/>
                </a:rPr>
                <a:t>c</a:t>
              </a:r>
              <a:r>
                <a:rPr lang="zh-CN" altLang="en-US" b="1">
                  <a:solidFill>
                    <a:srgbClr val="0000FF"/>
                  </a:solidFill>
                  <a:latin typeface="Times New Roman" pitchFamily="18" charset="0"/>
                  <a:ea typeface="华文中宋"/>
                  <a:cs typeface="Times New Roman" pitchFamily="18" charset="0"/>
                </a:rPr>
                <a:t>为等温过程，</a:t>
              </a:r>
              <a:r>
                <a:rPr lang="en-US" altLang="zh-CN" b="1" i="1">
                  <a:solidFill>
                    <a:srgbClr val="0000FF"/>
                  </a:solidFill>
                  <a:latin typeface="Times New Roman" pitchFamily="18" charset="0"/>
                  <a:ea typeface="华文中宋"/>
                  <a:cs typeface="Times New Roman" pitchFamily="18" charset="0"/>
                </a:rPr>
                <a:t>c</a:t>
              </a:r>
              <a:r>
                <a:rPr lang="zh-CN" altLang="en-US" b="1">
                  <a:solidFill>
                    <a:srgbClr val="0000FF"/>
                  </a:solidFill>
                  <a:latin typeface="Times New Roman" pitchFamily="18" charset="0"/>
                  <a:ea typeface="华文中宋"/>
                  <a:cs typeface="Times New Roman" pitchFamily="18" charset="0"/>
                </a:rPr>
                <a:t>－</a:t>
              </a:r>
              <a:r>
                <a:rPr lang="en-US" altLang="zh-CN" b="1" i="1">
                  <a:solidFill>
                    <a:srgbClr val="0000FF"/>
                  </a:solidFill>
                  <a:latin typeface="Times New Roman" pitchFamily="18" charset="0"/>
                  <a:ea typeface="华文中宋"/>
                  <a:cs typeface="Times New Roman" pitchFamily="18" charset="0"/>
                </a:rPr>
                <a:t>d</a:t>
              </a:r>
              <a:r>
                <a:rPr lang="zh-CN" altLang="en-US" b="1">
                  <a:solidFill>
                    <a:srgbClr val="0000FF"/>
                  </a:solidFill>
                  <a:latin typeface="Times New Roman" pitchFamily="18" charset="0"/>
                  <a:ea typeface="华文中宋"/>
                  <a:cs typeface="Times New Roman" pitchFamily="18" charset="0"/>
                </a:rPr>
                <a:t>为等体过程。试求</a:t>
              </a:r>
              <a:r>
                <a:rPr lang="en-US" altLang="zh-CN" b="1" i="1">
                  <a:solidFill>
                    <a:srgbClr val="0000FF"/>
                  </a:solidFill>
                  <a:latin typeface="Times New Roman" pitchFamily="18" charset="0"/>
                  <a:ea typeface="华文中宋"/>
                  <a:cs typeface="Times New Roman" pitchFamily="18" charset="0"/>
                </a:rPr>
                <a:t>a</a:t>
              </a:r>
              <a:r>
                <a:rPr lang="zh-CN" altLang="en-US" b="1">
                  <a:solidFill>
                    <a:srgbClr val="0000FF"/>
                  </a:solidFill>
                  <a:latin typeface="Times New Roman" pitchFamily="18" charset="0"/>
                  <a:ea typeface="华文中宋"/>
                  <a:cs typeface="Times New Roman" pitchFamily="18" charset="0"/>
                </a:rPr>
                <a:t>－</a:t>
              </a:r>
              <a:r>
                <a:rPr lang="en-US" altLang="zh-CN" b="1" i="1">
                  <a:solidFill>
                    <a:srgbClr val="0000FF"/>
                  </a:solidFill>
                  <a:latin typeface="Times New Roman" pitchFamily="18" charset="0"/>
                  <a:ea typeface="华文中宋"/>
                  <a:cs typeface="Times New Roman" pitchFamily="18" charset="0"/>
                </a:rPr>
                <a:t>d</a:t>
              </a:r>
              <a:r>
                <a:rPr lang="en-US" altLang="zh-CN" b="1">
                  <a:solidFill>
                    <a:srgbClr val="0000FF"/>
                  </a:solidFill>
                  <a:latin typeface="Times New Roman" pitchFamily="18" charset="0"/>
                  <a:ea typeface="华文中宋"/>
                  <a:cs typeface="Times New Roman" pitchFamily="18" charset="0"/>
                </a:rPr>
                <a:t> </a:t>
              </a:r>
              <a:r>
                <a:rPr lang="zh-CN" altLang="en-US" b="1">
                  <a:solidFill>
                    <a:srgbClr val="0000FF"/>
                  </a:solidFill>
                  <a:latin typeface="Times New Roman" pitchFamily="18" charset="0"/>
                  <a:ea typeface="华文中宋"/>
                  <a:cs typeface="Times New Roman" pitchFamily="18" charset="0"/>
                </a:rPr>
                <a:t>过程中：                                          </a:t>
              </a:r>
            </a:p>
            <a:p>
              <a:pPr eaLnBrk="0" hangingPunct="0">
                <a:tabLst>
                  <a:tab pos="523875" algn="l"/>
                </a:tabLst>
              </a:pPr>
              <a:r>
                <a:rPr lang="zh-CN" altLang="en-US" b="1">
                  <a:solidFill>
                    <a:srgbClr val="0000FF"/>
                  </a:solidFill>
                  <a:latin typeface="Times New Roman" pitchFamily="18" charset="0"/>
                  <a:ea typeface="华文中宋"/>
                  <a:cs typeface="Times New Roman" pitchFamily="18" charset="0"/>
                </a:rPr>
                <a:t>    </a:t>
              </a:r>
              <a:r>
                <a:rPr lang="en-US" altLang="zh-CN" b="1">
                  <a:solidFill>
                    <a:srgbClr val="0000FF"/>
                  </a:solidFill>
                  <a:latin typeface="Times New Roman" pitchFamily="18" charset="0"/>
                  <a:ea typeface="华文中宋"/>
                  <a:cs typeface="Times New Roman" pitchFamily="18" charset="0"/>
                </a:rPr>
                <a:t>(1) </a:t>
              </a:r>
              <a:r>
                <a:rPr lang="zh-CN" altLang="en-US" b="1">
                  <a:solidFill>
                    <a:srgbClr val="0000FF"/>
                  </a:solidFill>
                  <a:latin typeface="Times New Roman" pitchFamily="18" charset="0"/>
                  <a:ea typeface="华文中宋"/>
                  <a:cs typeface="Times New Roman" pitchFamily="18" charset="0"/>
                </a:rPr>
                <a:t>水蒸气作的功</a:t>
              </a:r>
              <a:r>
                <a:rPr lang="zh-CN" altLang="en-US" b="1" i="1">
                  <a:solidFill>
                    <a:srgbClr val="0000FF"/>
                  </a:solidFill>
                  <a:latin typeface="Times New Roman" pitchFamily="18" charset="0"/>
                  <a:ea typeface="华文中宋"/>
                  <a:cs typeface="Times New Roman" pitchFamily="18" charset="0"/>
                </a:rPr>
                <a:t>    </a:t>
              </a:r>
              <a:r>
                <a:rPr lang="zh-CN" altLang="en-US" b="1">
                  <a:solidFill>
                    <a:srgbClr val="0000FF"/>
                  </a:solidFill>
                  <a:latin typeface="Times New Roman" pitchFamily="18" charset="0"/>
                  <a:ea typeface="华文中宋"/>
                  <a:cs typeface="Times New Roman" pitchFamily="18" charset="0"/>
                </a:rPr>
                <a:t>。</a:t>
              </a:r>
            </a:p>
            <a:p>
              <a:pPr eaLnBrk="0" hangingPunct="0">
                <a:tabLst>
                  <a:tab pos="523875" algn="l"/>
                </a:tabLst>
              </a:pPr>
              <a:r>
                <a:rPr lang="zh-CN" altLang="en-US" b="1">
                  <a:solidFill>
                    <a:srgbClr val="0000FF"/>
                  </a:solidFill>
                  <a:latin typeface="Times New Roman" pitchFamily="18" charset="0"/>
                  <a:ea typeface="华文中宋"/>
                  <a:cs typeface="Times New Roman" pitchFamily="18" charset="0"/>
                </a:rPr>
                <a:t>    </a:t>
              </a:r>
              <a:r>
                <a:rPr lang="en-US" altLang="zh-CN" b="1">
                  <a:solidFill>
                    <a:srgbClr val="0000FF"/>
                  </a:solidFill>
                  <a:latin typeface="Times New Roman" pitchFamily="18" charset="0"/>
                  <a:ea typeface="华文中宋"/>
                  <a:cs typeface="Times New Roman" pitchFamily="18" charset="0"/>
                </a:rPr>
                <a:t>(2) </a:t>
              </a:r>
              <a:r>
                <a:rPr lang="zh-CN" altLang="en-US" b="1">
                  <a:solidFill>
                    <a:srgbClr val="0000FF"/>
                  </a:solidFill>
                  <a:latin typeface="Times New Roman" pitchFamily="18" charset="0"/>
                  <a:ea typeface="华文中宋"/>
                  <a:cs typeface="Times New Roman" pitchFamily="18" charset="0"/>
                </a:rPr>
                <a:t>水蒸气内能的增量     。</a:t>
              </a:r>
            </a:p>
            <a:p>
              <a:pPr eaLnBrk="0" hangingPunct="0">
                <a:tabLst>
                  <a:tab pos="523875" algn="l"/>
                </a:tabLst>
              </a:pPr>
              <a:r>
                <a:rPr lang="zh-CN" altLang="en-US" b="1">
                  <a:solidFill>
                    <a:srgbClr val="0000FF"/>
                  </a:solidFill>
                  <a:latin typeface="Times New Roman" pitchFamily="18" charset="0"/>
                  <a:ea typeface="华文中宋"/>
                  <a:cs typeface="Times New Roman" pitchFamily="18" charset="0"/>
                </a:rPr>
                <a:t>    </a:t>
              </a:r>
              <a:r>
                <a:rPr lang="en-US" altLang="zh-CN" b="1">
                  <a:solidFill>
                    <a:srgbClr val="0000FF"/>
                  </a:solidFill>
                  <a:latin typeface="Times New Roman" pitchFamily="18" charset="0"/>
                  <a:ea typeface="华文中宋"/>
                  <a:cs typeface="Times New Roman" pitchFamily="18" charset="0"/>
                </a:rPr>
                <a:t>(3) </a:t>
              </a:r>
              <a:r>
                <a:rPr lang="zh-CN" altLang="en-US" b="1">
                  <a:solidFill>
                    <a:srgbClr val="0000FF"/>
                  </a:solidFill>
                  <a:latin typeface="Times New Roman" pitchFamily="18" charset="0"/>
                  <a:ea typeface="华文中宋"/>
                  <a:cs typeface="Times New Roman" pitchFamily="18" charset="0"/>
                </a:rPr>
                <a:t>水蒸气吸收的热量    。</a:t>
              </a:r>
            </a:p>
          </p:txBody>
        </p:sp>
        <p:graphicFrame>
          <p:nvGraphicFramePr>
            <p:cNvPr id="9461" name="Object 245"/>
            <p:cNvGraphicFramePr>
              <a:graphicFrameLocks noChangeAspect="1"/>
            </p:cNvGraphicFramePr>
            <p:nvPr/>
          </p:nvGraphicFramePr>
          <p:xfrm>
            <a:off x="1727" y="1192"/>
            <a:ext cx="200" cy="245"/>
          </p:xfrm>
          <a:graphic>
            <a:graphicData uri="http://schemas.openxmlformats.org/presentationml/2006/ole">
              <p:oleObj spid="_x0000_s9461" name="Equation" r:id="rId15" imgW="164957" imgH="203024" progId="Equation.DSMT4">
                <p:embed/>
              </p:oleObj>
            </a:graphicData>
          </a:graphic>
        </p:graphicFrame>
        <p:graphicFrame>
          <p:nvGraphicFramePr>
            <p:cNvPr id="9462" name="Object 246"/>
            <p:cNvGraphicFramePr>
              <a:graphicFrameLocks noChangeAspect="1"/>
            </p:cNvGraphicFramePr>
            <p:nvPr/>
          </p:nvGraphicFramePr>
          <p:xfrm>
            <a:off x="1428" y="736"/>
            <a:ext cx="245" cy="214"/>
          </p:xfrm>
          <a:graphic>
            <a:graphicData uri="http://schemas.openxmlformats.org/presentationml/2006/ole">
              <p:oleObj spid="_x0000_s9462" name="Equation" r:id="rId16" imgW="202936" imgH="177569" progId="Equation.DSMT4">
                <p:embed/>
              </p:oleObj>
            </a:graphicData>
          </a:graphic>
        </p:graphicFrame>
        <p:graphicFrame>
          <p:nvGraphicFramePr>
            <p:cNvPr id="9463" name="Object 247"/>
            <p:cNvGraphicFramePr>
              <a:graphicFrameLocks noChangeAspect="1"/>
            </p:cNvGraphicFramePr>
            <p:nvPr/>
          </p:nvGraphicFramePr>
          <p:xfrm>
            <a:off x="1701" y="992"/>
            <a:ext cx="307" cy="200"/>
          </p:xfrm>
          <a:graphic>
            <a:graphicData uri="http://schemas.openxmlformats.org/presentationml/2006/ole">
              <p:oleObj spid="_x0000_s9463" name="Equation" r:id="rId17" imgW="253780" imgH="164957" progId="Equation.DSMT4">
                <p:embed/>
              </p:oleObj>
            </a:graphicData>
          </a:graphic>
        </p:graphicFrame>
      </p:grpSp>
      <p:sp>
        <p:nvSpPr>
          <p:cNvPr id="30" name="Rectangle 5"/>
          <p:cNvSpPr>
            <a:spLocks noChangeArrowheads="1"/>
          </p:cNvSpPr>
          <p:nvPr/>
        </p:nvSpPr>
        <p:spPr bwMode="auto">
          <a:xfrm>
            <a:off x="236538" y="2162175"/>
            <a:ext cx="4175125" cy="368300"/>
          </a:xfrm>
          <a:prstGeom prst="rect">
            <a:avLst/>
          </a:prstGeom>
          <a:noFill/>
          <a:ln w="9525">
            <a:noFill/>
            <a:miter lim="800000"/>
            <a:headEnd/>
            <a:tailEnd/>
          </a:ln>
        </p:spPr>
        <p:txBody>
          <a:bodyPr anchor="ctr">
            <a:spAutoFit/>
          </a:bodyPr>
          <a:lstStyle/>
          <a:p>
            <a:r>
              <a:rPr lang="zh-CN" altLang="en-US" b="1">
                <a:solidFill>
                  <a:srgbClr val="FF0000"/>
                </a:solidFill>
                <a:latin typeface="华文中宋"/>
                <a:ea typeface="华文中宋"/>
                <a:cs typeface="Times New Roman" pitchFamily="18" charset="0"/>
              </a:rPr>
              <a:t>解：</a:t>
            </a:r>
            <a:r>
              <a:rPr lang="zh-CN" altLang="en-US" b="1">
                <a:solidFill>
                  <a:srgbClr val="000000"/>
                </a:solidFill>
                <a:latin typeface="华文中宋"/>
                <a:ea typeface="华文中宋"/>
                <a:cs typeface="Times New Roman" pitchFamily="18" charset="0"/>
              </a:rPr>
              <a:t>（</a:t>
            </a:r>
            <a:r>
              <a:rPr lang="en-US" altLang="zh-CN" b="1">
                <a:solidFill>
                  <a:srgbClr val="000000"/>
                </a:solidFill>
                <a:latin typeface="华文中宋"/>
                <a:ea typeface="华文中宋"/>
                <a:cs typeface="Times New Roman" pitchFamily="18" charset="0"/>
              </a:rPr>
              <a:t>1</a:t>
            </a:r>
            <a:r>
              <a:rPr lang="zh-CN" altLang="en-US" b="1">
                <a:solidFill>
                  <a:srgbClr val="000000"/>
                </a:solidFill>
                <a:latin typeface="华文中宋"/>
                <a:ea typeface="华文中宋"/>
                <a:cs typeface="Times New Roman" pitchFamily="18" charset="0"/>
              </a:rPr>
              <a:t>）分三个等值过程来计算：</a:t>
            </a:r>
          </a:p>
        </p:txBody>
      </p:sp>
      <p:graphicFrame>
        <p:nvGraphicFramePr>
          <p:cNvPr id="163874" name="Object 248"/>
          <p:cNvGraphicFramePr>
            <a:graphicFrameLocks noChangeAspect="1"/>
          </p:cNvGraphicFramePr>
          <p:nvPr/>
        </p:nvGraphicFramePr>
        <p:xfrm>
          <a:off x="892175" y="2716213"/>
          <a:ext cx="5840413" cy="592137"/>
        </p:xfrm>
        <a:graphic>
          <a:graphicData uri="http://schemas.openxmlformats.org/presentationml/2006/ole">
            <p:oleObj spid="_x0000_s9464" name="Equation" r:id="rId18" imgW="3276600" imgH="406400" progId="Equation.DSMT4">
              <p:embed/>
            </p:oleObj>
          </a:graphicData>
        </a:graphic>
      </p:graphicFrame>
      <p:graphicFrame>
        <p:nvGraphicFramePr>
          <p:cNvPr id="163875" name="Object 249"/>
          <p:cNvGraphicFramePr>
            <a:graphicFrameLocks noChangeAspect="1"/>
          </p:cNvGraphicFramePr>
          <p:nvPr/>
        </p:nvGraphicFramePr>
        <p:xfrm>
          <a:off x="3203575" y="3306763"/>
          <a:ext cx="2576513" cy="547687"/>
        </p:xfrm>
        <a:graphic>
          <a:graphicData uri="http://schemas.openxmlformats.org/presentationml/2006/ole">
            <p:oleObj spid="_x0000_s9465" name="Equation" r:id="rId19" imgW="1434477" imgH="406224" progId="Equation.DSMT4">
              <p:embed/>
            </p:oleObj>
          </a:graphicData>
        </a:graphic>
      </p:graphicFrame>
      <p:sp>
        <p:nvSpPr>
          <p:cNvPr id="2" name="Rectangle 5"/>
          <p:cNvSpPr>
            <a:spLocks noChangeArrowheads="1"/>
          </p:cNvSpPr>
          <p:nvPr/>
        </p:nvSpPr>
        <p:spPr bwMode="auto">
          <a:xfrm>
            <a:off x="611188" y="3786188"/>
            <a:ext cx="7848600" cy="369887"/>
          </a:xfrm>
          <a:prstGeom prst="rect">
            <a:avLst/>
          </a:prstGeom>
          <a:noFill/>
          <a:ln w="9525">
            <a:noFill/>
            <a:miter lim="800000"/>
            <a:headEnd/>
            <a:tailEnd/>
          </a:ln>
        </p:spPr>
        <p:txBody>
          <a:bodyPr anchor="ctr">
            <a:spAutoFit/>
          </a:bodyPr>
          <a:lstStyle/>
          <a:p>
            <a:r>
              <a:rPr lang="zh-CN" altLang="en-US" b="1">
                <a:solidFill>
                  <a:srgbClr val="000000"/>
                </a:solidFill>
                <a:latin typeface="华文中宋"/>
                <a:ea typeface="华文中宋"/>
                <a:cs typeface="Times New Roman" pitchFamily="18" charset="0"/>
              </a:rPr>
              <a:t>（</a:t>
            </a:r>
            <a:r>
              <a:rPr lang="en-US" altLang="zh-CN" b="1">
                <a:solidFill>
                  <a:srgbClr val="000000"/>
                </a:solidFill>
                <a:latin typeface="华文中宋"/>
                <a:ea typeface="华文中宋"/>
                <a:cs typeface="Times New Roman" pitchFamily="18" charset="0"/>
              </a:rPr>
              <a:t>2</a:t>
            </a:r>
            <a:r>
              <a:rPr lang="zh-CN" altLang="en-US" b="1">
                <a:solidFill>
                  <a:srgbClr val="000000"/>
                </a:solidFill>
                <a:latin typeface="华文中宋"/>
                <a:ea typeface="华文中宋"/>
                <a:cs typeface="Times New Roman" pitchFamily="18" charset="0"/>
              </a:rPr>
              <a:t>）内能的增量：内能与过程无关，只与始末状态有关</a:t>
            </a:r>
          </a:p>
        </p:txBody>
      </p:sp>
      <p:graphicFrame>
        <p:nvGraphicFramePr>
          <p:cNvPr id="163879" name="Object 250"/>
          <p:cNvGraphicFramePr>
            <a:graphicFrameLocks noChangeAspect="1"/>
          </p:cNvGraphicFramePr>
          <p:nvPr/>
        </p:nvGraphicFramePr>
        <p:xfrm>
          <a:off x="900113" y="4487863"/>
          <a:ext cx="2160587" cy="315912"/>
        </p:xfrm>
        <a:graphic>
          <a:graphicData uri="http://schemas.openxmlformats.org/presentationml/2006/ole">
            <p:oleObj spid="_x0000_s9466" name="Equation" r:id="rId20" imgW="1168400" imgH="228600" progId="Equation.DSMT4">
              <p:embed/>
            </p:oleObj>
          </a:graphicData>
        </a:graphic>
      </p:graphicFrame>
      <p:graphicFrame>
        <p:nvGraphicFramePr>
          <p:cNvPr id="163880" name="Object 251"/>
          <p:cNvGraphicFramePr>
            <a:graphicFrameLocks noChangeAspect="1"/>
          </p:cNvGraphicFramePr>
          <p:nvPr/>
        </p:nvGraphicFramePr>
        <p:xfrm>
          <a:off x="1331913" y="4097338"/>
          <a:ext cx="1511300" cy="274637"/>
        </p:xfrm>
        <a:graphic>
          <a:graphicData uri="http://schemas.openxmlformats.org/presentationml/2006/ole">
            <p:oleObj spid="_x0000_s9467" name="Equation" r:id="rId21" imgW="736280" imgH="177723" progId="Equation.DSMT4">
              <p:embed/>
            </p:oleObj>
          </a:graphicData>
        </a:graphic>
      </p:graphicFrame>
      <p:sp>
        <p:nvSpPr>
          <p:cNvPr id="163881" name="AutoShape 41"/>
          <p:cNvSpPr>
            <a:spLocks/>
          </p:cNvSpPr>
          <p:nvPr/>
        </p:nvSpPr>
        <p:spPr bwMode="auto">
          <a:xfrm>
            <a:off x="3203575" y="4141788"/>
            <a:ext cx="73025" cy="595312"/>
          </a:xfrm>
          <a:prstGeom prst="rightBrace">
            <a:avLst>
              <a:gd name="adj1" fmla="val 90580"/>
              <a:gd name="adj2" fmla="val 50000"/>
            </a:avLst>
          </a:prstGeom>
          <a:noFill/>
          <a:ln w="25400">
            <a:solidFill>
              <a:schemeClr val="tx1"/>
            </a:solidFill>
            <a:round/>
            <a:headEnd/>
            <a:tailEnd/>
          </a:ln>
        </p:spPr>
        <p:txBody>
          <a:bodyPr wrap="none" anchor="ctr"/>
          <a:lstStyle/>
          <a:p>
            <a:endParaRPr kumimoji="1" lang="zh-CN" altLang="en-US" sz="2400" b="1">
              <a:solidFill>
                <a:srgbClr val="000000"/>
              </a:solidFill>
              <a:latin typeface="Times New Roman" pitchFamily="18" charset="0"/>
              <a:ea typeface="华文中宋"/>
              <a:cs typeface="华文中宋"/>
            </a:endParaRPr>
          </a:p>
        </p:txBody>
      </p:sp>
      <p:graphicFrame>
        <p:nvGraphicFramePr>
          <p:cNvPr id="163882" name="Object 252"/>
          <p:cNvGraphicFramePr>
            <a:graphicFrameLocks noChangeAspect="1"/>
          </p:cNvGraphicFramePr>
          <p:nvPr/>
        </p:nvGraphicFramePr>
        <p:xfrm>
          <a:off x="3419475" y="4303713"/>
          <a:ext cx="865188" cy="315912"/>
        </p:xfrm>
        <a:graphic>
          <a:graphicData uri="http://schemas.openxmlformats.org/presentationml/2006/ole">
            <p:oleObj spid="_x0000_s9468" name="Equation" r:id="rId22" imgW="469900" imgH="228600" progId="Equation.DSMT4">
              <p:embed/>
            </p:oleObj>
          </a:graphicData>
        </a:graphic>
      </p:graphicFrame>
      <p:graphicFrame>
        <p:nvGraphicFramePr>
          <p:cNvPr id="163884" name="Object 253"/>
          <p:cNvGraphicFramePr>
            <a:graphicFrameLocks noChangeAspect="1"/>
          </p:cNvGraphicFramePr>
          <p:nvPr/>
        </p:nvGraphicFramePr>
        <p:xfrm>
          <a:off x="4500563" y="4303713"/>
          <a:ext cx="3024187" cy="317500"/>
        </p:xfrm>
        <a:graphic>
          <a:graphicData uri="http://schemas.openxmlformats.org/presentationml/2006/ole">
            <p:oleObj spid="_x0000_s9469" name="Equation" r:id="rId23" imgW="1638300" imgH="228600" progId="Equation.DSMT4">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wipe(left)">
                                      <p:cBhvr>
                                        <p:cTn id="7" dur="500"/>
                                        <p:tgtEl>
                                          <p:spTgt spid="3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163874"/>
                                        </p:tgtEl>
                                        <p:attrNameLst>
                                          <p:attrName>style.visibility</p:attrName>
                                        </p:attrNameLst>
                                      </p:cBhvr>
                                      <p:to>
                                        <p:strVal val="visible"/>
                                      </p:to>
                                    </p:set>
                                    <p:animEffect transition="in" filter="blinds(horizontal)">
                                      <p:cBhvr>
                                        <p:cTn id="12" dur="500"/>
                                        <p:tgtEl>
                                          <p:spTgt spid="16387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163875"/>
                                        </p:tgtEl>
                                        <p:attrNameLst>
                                          <p:attrName>style.visibility</p:attrName>
                                        </p:attrNameLst>
                                      </p:cBhvr>
                                      <p:to>
                                        <p:strVal val="visible"/>
                                      </p:to>
                                    </p:set>
                                    <p:animEffect transition="in" filter="blinds(horizontal)">
                                      <p:cBhvr>
                                        <p:cTn id="17" dur="500"/>
                                        <p:tgtEl>
                                          <p:spTgt spid="16387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wipe(left)">
                                      <p:cBhvr>
                                        <p:cTn id="22" dur="500"/>
                                        <p:tgtEl>
                                          <p:spTgt spid="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163880"/>
                                        </p:tgtEl>
                                        <p:attrNameLst>
                                          <p:attrName>style.visibility</p:attrName>
                                        </p:attrNameLst>
                                      </p:cBhvr>
                                      <p:to>
                                        <p:strVal val="visible"/>
                                      </p:to>
                                    </p:set>
                                    <p:animEffect transition="in" filter="blinds(horizontal)">
                                      <p:cBhvr>
                                        <p:cTn id="27" dur="500"/>
                                        <p:tgtEl>
                                          <p:spTgt spid="163880"/>
                                        </p:tgtEl>
                                      </p:cBhvr>
                                    </p:animEffect>
                                  </p:childTnLst>
                                </p:cTn>
                              </p:par>
                              <p:par>
                                <p:cTn id="28" presetID="3" presetClass="entr" presetSubtype="10" fill="hold" nodeType="withEffect">
                                  <p:stCondLst>
                                    <p:cond delay="0"/>
                                  </p:stCondLst>
                                  <p:childTnLst>
                                    <p:set>
                                      <p:cBhvr>
                                        <p:cTn id="29" dur="1" fill="hold">
                                          <p:stCondLst>
                                            <p:cond delay="0"/>
                                          </p:stCondLst>
                                        </p:cTn>
                                        <p:tgtEl>
                                          <p:spTgt spid="163879"/>
                                        </p:tgtEl>
                                        <p:attrNameLst>
                                          <p:attrName>style.visibility</p:attrName>
                                        </p:attrNameLst>
                                      </p:cBhvr>
                                      <p:to>
                                        <p:strVal val="visible"/>
                                      </p:to>
                                    </p:set>
                                    <p:animEffect transition="in" filter="blinds(horizontal)">
                                      <p:cBhvr>
                                        <p:cTn id="30" dur="500"/>
                                        <p:tgtEl>
                                          <p:spTgt spid="163879"/>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163881"/>
                                        </p:tgtEl>
                                        <p:attrNameLst>
                                          <p:attrName>style.visibility</p:attrName>
                                        </p:attrNameLst>
                                      </p:cBhvr>
                                      <p:to>
                                        <p:strVal val="visible"/>
                                      </p:to>
                                    </p:set>
                                    <p:animEffect transition="in" filter="blinds(horizontal)">
                                      <p:cBhvr>
                                        <p:cTn id="35" dur="500"/>
                                        <p:tgtEl>
                                          <p:spTgt spid="163881"/>
                                        </p:tgtEl>
                                      </p:cBhvr>
                                    </p:animEffect>
                                  </p:childTnLst>
                                </p:cTn>
                              </p:par>
                              <p:par>
                                <p:cTn id="36" presetID="3" presetClass="entr" presetSubtype="10" fill="hold" nodeType="withEffect">
                                  <p:stCondLst>
                                    <p:cond delay="0"/>
                                  </p:stCondLst>
                                  <p:childTnLst>
                                    <p:set>
                                      <p:cBhvr>
                                        <p:cTn id="37" dur="1" fill="hold">
                                          <p:stCondLst>
                                            <p:cond delay="0"/>
                                          </p:stCondLst>
                                        </p:cTn>
                                        <p:tgtEl>
                                          <p:spTgt spid="163882"/>
                                        </p:tgtEl>
                                        <p:attrNameLst>
                                          <p:attrName>style.visibility</p:attrName>
                                        </p:attrNameLst>
                                      </p:cBhvr>
                                      <p:to>
                                        <p:strVal val="visible"/>
                                      </p:to>
                                    </p:set>
                                    <p:animEffect transition="in" filter="blinds(horizontal)">
                                      <p:cBhvr>
                                        <p:cTn id="38" dur="500"/>
                                        <p:tgtEl>
                                          <p:spTgt spid="163882"/>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3" presetClass="entr" presetSubtype="10" fill="hold" nodeType="clickEffect">
                                  <p:stCondLst>
                                    <p:cond delay="0"/>
                                  </p:stCondLst>
                                  <p:childTnLst>
                                    <p:set>
                                      <p:cBhvr>
                                        <p:cTn id="42" dur="1" fill="hold">
                                          <p:stCondLst>
                                            <p:cond delay="0"/>
                                          </p:stCondLst>
                                        </p:cTn>
                                        <p:tgtEl>
                                          <p:spTgt spid="163884"/>
                                        </p:tgtEl>
                                        <p:attrNameLst>
                                          <p:attrName>style.visibility</p:attrName>
                                        </p:attrNameLst>
                                      </p:cBhvr>
                                      <p:to>
                                        <p:strVal val="visible"/>
                                      </p:to>
                                    </p:set>
                                    <p:animEffect transition="in" filter="blinds(horizontal)">
                                      <p:cBhvr>
                                        <p:cTn id="43" dur="500"/>
                                        <p:tgtEl>
                                          <p:spTgt spid="1638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2" grpId="0"/>
      <p:bldP spid="163881"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Rectangle 5"/>
          <p:cNvSpPr>
            <a:spLocks noChangeArrowheads="1"/>
          </p:cNvSpPr>
          <p:nvPr/>
        </p:nvSpPr>
        <p:spPr bwMode="auto">
          <a:xfrm>
            <a:off x="827088" y="771525"/>
            <a:ext cx="7345362" cy="369888"/>
          </a:xfrm>
          <a:prstGeom prst="rect">
            <a:avLst/>
          </a:prstGeom>
          <a:noFill/>
          <a:ln w="9525">
            <a:noFill/>
            <a:miter lim="800000"/>
            <a:headEnd/>
            <a:tailEnd/>
          </a:ln>
        </p:spPr>
        <p:txBody>
          <a:bodyPr anchor="ctr">
            <a:spAutoFit/>
          </a:bodyPr>
          <a:lstStyle/>
          <a:p>
            <a:r>
              <a:rPr lang="zh-CN" altLang="en-US" b="1">
                <a:solidFill>
                  <a:srgbClr val="000000"/>
                </a:solidFill>
                <a:latin typeface="华文中宋"/>
                <a:ea typeface="华文中宋"/>
                <a:cs typeface="Times New Roman" pitchFamily="18" charset="0"/>
              </a:rPr>
              <a:t>（</a:t>
            </a:r>
            <a:r>
              <a:rPr lang="en-US" altLang="zh-CN" b="1">
                <a:solidFill>
                  <a:srgbClr val="000000"/>
                </a:solidFill>
                <a:latin typeface="华文中宋"/>
                <a:ea typeface="华文中宋"/>
                <a:cs typeface="Times New Roman" pitchFamily="18" charset="0"/>
              </a:rPr>
              <a:t>3</a:t>
            </a:r>
            <a:r>
              <a:rPr lang="zh-CN" altLang="en-US" b="1">
                <a:solidFill>
                  <a:srgbClr val="000000"/>
                </a:solidFill>
                <a:latin typeface="华文中宋"/>
                <a:ea typeface="华文中宋"/>
                <a:cs typeface="Times New Roman" pitchFamily="18" charset="0"/>
              </a:rPr>
              <a:t>）吸收的热量：依据热力学第一定律</a:t>
            </a:r>
          </a:p>
        </p:txBody>
      </p:sp>
      <p:graphicFrame>
        <p:nvGraphicFramePr>
          <p:cNvPr id="165893" name="Object 79"/>
          <p:cNvGraphicFramePr>
            <a:graphicFrameLocks noChangeAspect="1"/>
          </p:cNvGraphicFramePr>
          <p:nvPr/>
        </p:nvGraphicFramePr>
        <p:xfrm>
          <a:off x="1763713" y="1217613"/>
          <a:ext cx="4752975" cy="566737"/>
        </p:xfrm>
        <a:graphic>
          <a:graphicData uri="http://schemas.openxmlformats.org/presentationml/2006/ole">
            <p:oleObj spid="_x0000_s10319" name="Equation" r:id="rId3" imgW="2552700" imgH="406400" progId="Equation.DSMT4">
              <p:embed/>
            </p:oleObj>
          </a:graphicData>
        </a:graphic>
      </p:graphicFrame>
      <p:sp>
        <p:nvSpPr>
          <p:cNvPr id="165894" name="Text Box 6"/>
          <p:cNvSpPr txBox="1">
            <a:spLocks noChangeArrowheads="1"/>
          </p:cNvSpPr>
          <p:nvPr/>
        </p:nvSpPr>
        <p:spPr bwMode="auto">
          <a:xfrm>
            <a:off x="395288" y="1781175"/>
            <a:ext cx="8229600" cy="646113"/>
          </a:xfrm>
          <a:prstGeom prst="rect">
            <a:avLst/>
          </a:prstGeom>
          <a:noFill/>
          <a:ln w="9525">
            <a:noFill/>
            <a:miter lim="800000"/>
            <a:headEnd/>
            <a:tailEnd/>
          </a:ln>
        </p:spPr>
        <p:txBody>
          <a:bodyPr>
            <a:spAutoFit/>
          </a:bodyPr>
          <a:lstStyle/>
          <a:p>
            <a:r>
              <a:rPr kumimoji="1" lang="zh-CN" altLang="en-US" b="1">
                <a:solidFill>
                  <a:srgbClr val="3333FF"/>
                </a:solidFill>
                <a:latin typeface="Times New Roman" pitchFamily="18" charset="0"/>
                <a:ea typeface="华文中宋"/>
                <a:cs typeface="华文中宋"/>
              </a:rPr>
              <a:t>例   有</a:t>
            </a:r>
            <a:r>
              <a:rPr kumimoji="1" lang="en-US" altLang="zh-CN" b="1">
                <a:solidFill>
                  <a:srgbClr val="3333FF"/>
                </a:solidFill>
                <a:latin typeface="Times New Roman" pitchFamily="18" charset="0"/>
                <a:ea typeface="华文中宋"/>
                <a:cs typeface="华文中宋"/>
              </a:rPr>
              <a:t>1mol</a:t>
            </a:r>
            <a:r>
              <a:rPr kumimoji="1" lang="zh-CN" altLang="en-US" b="1">
                <a:solidFill>
                  <a:srgbClr val="3333FF"/>
                </a:solidFill>
                <a:latin typeface="Times New Roman" pitchFamily="18" charset="0"/>
                <a:ea typeface="华文中宋"/>
                <a:cs typeface="华文中宋"/>
              </a:rPr>
              <a:t>刚性双原子分子理想气体，在等压膨胀过程中对外作功</a:t>
            </a:r>
            <a:r>
              <a:rPr kumimoji="1" lang="en-US" altLang="zh-CN" b="1" i="1">
                <a:solidFill>
                  <a:srgbClr val="3333FF"/>
                </a:solidFill>
                <a:latin typeface="Times New Roman" pitchFamily="18" charset="0"/>
                <a:ea typeface="华文中宋"/>
                <a:cs typeface="华文中宋"/>
              </a:rPr>
              <a:t>W</a:t>
            </a:r>
            <a:r>
              <a:rPr kumimoji="1" lang="zh-CN" altLang="en-US" b="1">
                <a:solidFill>
                  <a:srgbClr val="3333FF"/>
                </a:solidFill>
                <a:latin typeface="Times New Roman" pitchFamily="18" charset="0"/>
                <a:ea typeface="华文中宋"/>
                <a:cs typeface="华文中宋"/>
              </a:rPr>
              <a:t>，则其温度变化</a:t>
            </a:r>
            <a:r>
              <a:rPr kumimoji="1" lang="zh-CN" altLang="en-US" b="1" i="1">
                <a:solidFill>
                  <a:srgbClr val="3333FF"/>
                </a:solidFill>
                <a:latin typeface="Times New Roman" pitchFamily="18" charset="0"/>
                <a:ea typeface="华文中宋"/>
                <a:cs typeface="华文中宋"/>
              </a:rPr>
              <a:t>△</a:t>
            </a:r>
            <a:r>
              <a:rPr kumimoji="1" lang="en-US" altLang="zh-CN" b="1" i="1">
                <a:solidFill>
                  <a:srgbClr val="3333FF"/>
                </a:solidFill>
                <a:latin typeface="Times New Roman" pitchFamily="18" charset="0"/>
                <a:ea typeface="华文中宋"/>
                <a:cs typeface="华文中宋"/>
              </a:rPr>
              <a:t>T</a:t>
            </a:r>
            <a:r>
              <a:rPr kumimoji="1" lang="zh-CN" altLang="en-US" b="1">
                <a:solidFill>
                  <a:srgbClr val="3333FF"/>
                </a:solidFill>
                <a:latin typeface="Times New Roman" pitchFamily="18" charset="0"/>
                <a:ea typeface="华文中宋"/>
                <a:cs typeface="华文中宋"/>
              </a:rPr>
              <a:t>＝</a:t>
            </a:r>
            <a:r>
              <a:rPr kumimoji="1" lang="en-US" altLang="zh-CN" b="1">
                <a:solidFill>
                  <a:srgbClr val="3333FF"/>
                </a:solidFill>
                <a:latin typeface="Times New Roman" pitchFamily="18" charset="0"/>
                <a:ea typeface="华文中宋"/>
                <a:cs typeface="华文中宋"/>
              </a:rPr>
              <a:t>________</a:t>
            </a:r>
            <a:r>
              <a:rPr kumimoji="1" lang="zh-CN" altLang="en-US" b="1">
                <a:solidFill>
                  <a:srgbClr val="3333FF"/>
                </a:solidFill>
                <a:latin typeface="Times New Roman" pitchFamily="18" charset="0"/>
                <a:ea typeface="华文中宋"/>
                <a:cs typeface="华文中宋"/>
              </a:rPr>
              <a:t>；从外界吸取的热量</a:t>
            </a:r>
            <a:r>
              <a:rPr kumimoji="1" lang="en-US" altLang="zh-CN" b="1" i="1">
                <a:solidFill>
                  <a:srgbClr val="3333FF"/>
                </a:solidFill>
                <a:latin typeface="Times New Roman" pitchFamily="18" charset="0"/>
                <a:ea typeface="华文中宋"/>
                <a:cs typeface="华文中宋"/>
              </a:rPr>
              <a:t>Q</a:t>
            </a:r>
            <a:r>
              <a:rPr kumimoji="1" lang="en-US" altLang="zh-CN" b="1" baseline="-30000">
                <a:solidFill>
                  <a:srgbClr val="3333FF"/>
                </a:solidFill>
                <a:latin typeface="Times New Roman" pitchFamily="18" charset="0"/>
                <a:ea typeface="华文中宋"/>
                <a:cs typeface="华文中宋"/>
              </a:rPr>
              <a:t>p</a:t>
            </a:r>
            <a:r>
              <a:rPr kumimoji="1" lang="en-US" altLang="zh-CN" b="1">
                <a:solidFill>
                  <a:srgbClr val="3333FF"/>
                </a:solidFill>
                <a:latin typeface="Times New Roman" pitchFamily="18" charset="0"/>
                <a:ea typeface="华文中宋"/>
                <a:cs typeface="华文中宋"/>
              </a:rPr>
              <a:t>=__________</a:t>
            </a:r>
            <a:r>
              <a:rPr kumimoji="1" lang="zh-CN" altLang="en-US" b="1">
                <a:solidFill>
                  <a:srgbClr val="3333FF"/>
                </a:solidFill>
                <a:latin typeface="Times New Roman" pitchFamily="18" charset="0"/>
                <a:ea typeface="华文中宋"/>
                <a:cs typeface="华文中宋"/>
              </a:rPr>
              <a:t>。</a:t>
            </a:r>
          </a:p>
        </p:txBody>
      </p:sp>
      <p:graphicFrame>
        <p:nvGraphicFramePr>
          <p:cNvPr id="165895" name="Object 80"/>
          <p:cNvGraphicFramePr>
            <a:graphicFrameLocks noChangeAspect="1"/>
          </p:cNvGraphicFramePr>
          <p:nvPr/>
        </p:nvGraphicFramePr>
        <p:xfrm>
          <a:off x="1690688" y="3003550"/>
          <a:ext cx="2073275" cy="298450"/>
        </p:xfrm>
        <a:graphic>
          <a:graphicData uri="http://schemas.openxmlformats.org/presentationml/2006/ole">
            <p:oleObj spid="_x0000_s10320" name="Equation" r:id="rId4" imgW="736600" imgH="139700" progId="Equation.DSMT4">
              <p:embed/>
            </p:oleObj>
          </a:graphicData>
        </a:graphic>
      </p:graphicFrame>
      <p:sp>
        <p:nvSpPr>
          <p:cNvPr id="165896" name="Text Box 8"/>
          <p:cNvSpPr txBox="1">
            <a:spLocks noChangeArrowheads="1"/>
          </p:cNvSpPr>
          <p:nvPr/>
        </p:nvSpPr>
        <p:spPr bwMode="auto">
          <a:xfrm>
            <a:off x="539750" y="2503488"/>
            <a:ext cx="892175" cy="368300"/>
          </a:xfrm>
          <a:prstGeom prst="rect">
            <a:avLst/>
          </a:prstGeom>
          <a:noFill/>
          <a:ln w="9525">
            <a:noFill/>
            <a:miter lim="800000"/>
            <a:headEnd/>
            <a:tailEnd/>
          </a:ln>
        </p:spPr>
        <p:txBody>
          <a:bodyPr>
            <a:spAutoFit/>
          </a:bodyPr>
          <a:lstStyle/>
          <a:p>
            <a:r>
              <a:rPr kumimoji="1" lang="zh-CN" altLang="en-US" b="1">
                <a:solidFill>
                  <a:srgbClr val="FF0000"/>
                </a:solidFill>
                <a:latin typeface="华文中宋"/>
                <a:ea typeface="华文中宋"/>
                <a:cs typeface="华文中宋"/>
              </a:rPr>
              <a:t>解： </a:t>
            </a:r>
          </a:p>
        </p:txBody>
      </p:sp>
      <p:graphicFrame>
        <p:nvGraphicFramePr>
          <p:cNvPr id="165897" name="Object 81"/>
          <p:cNvGraphicFramePr>
            <a:graphicFrameLocks noChangeAspect="1"/>
          </p:cNvGraphicFramePr>
          <p:nvPr/>
        </p:nvGraphicFramePr>
        <p:xfrm>
          <a:off x="1273175" y="3446463"/>
          <a:ext cx="2867025" cy="420687"/>
        </p:xfrm>
        <a:graphic>
          <a:graphicData uri="http://schemas.openxmlformats.org/presentationml/2006/ole">
            <p:oleObj spid="_x0000_s10321" name="Equation" r:id="rId5" imgW="1625600" imgH="279400" progId="Equation.DSMT4">
              <p:embed/>
            </p:oleObj>
          </a:graphicData>
        </a:graphic>
      </p:graphicFrame>
      <p:graphicFrame>
        <p:nvGraphicFramePr>
          <p:cNvPr id="165898" name="Object 82"/>
          <p:cNvGraphicFramePr>
            <a:graphicFrameLocks noChangeAspect="1"/>
          </p:cNvGraphicFramePr>
          <p:nvPr/>
        </p:nvGraphicFramePr>
        <p:xfrm>
          <a:off x="2051050" y="3878263"/>
          <a:ext cx="1101725" cy="571500"/>
        </p:xfrm>
        <a:graphic>
          <a:graphicData uri="http://schemas.openxmlformats.org/presentationml/2006/ole">
            <p:oleObj spid="_x0000_s10322" name="公式" r:id="rId6" imgW="418918" imgH="291973" progId="Equation.3">
              <p:embed/>
            </p:oleObj>
          </a:graphicData>
        </a:graphic>
      </p:graphicFrame>
      <p:graphicFrame>
        <p:nvGraphicFramePr>
          <p:cNvPr id="165899" name="Object 83"/>
          <p:cNvGraphicFramePr>
            <a:graphicFrameLocks noChangeAspect="1"/>
          </p:cNvGraphicFramePr>
          <p:nvPr/>
        </p:nvGraphicFramePr>
        <p:xfrm>
          <a:off x="5002213" y="3048000"/>
          <a:ext cx="1657350" cy="327025"/>
        </p:xfrm>
        <a:graphic>
          <a:graphicData uri="http://schemas.openxmlformats.org/presentationml/2006/ole">
            <p:oleObj spid="_x0000_s10323" name="公式" r:id="rId7" imgW="571252" imgH="152334" progId="Equation.3">
              <p:embed/>
            </p:oleObj>
          </a:graphicData>
        </a:graphic>
      </p:graphicFrame>
      <p:graphicFrame>
        <p:nvGraphicFramePr>
          <p:cNvPr id="165900" name="Object 84"/>
          <p:cNvGraphicFramePr>
            <a:graphicFrameLocks noChangeAspect="1"/>
          </p:cNvGraphicFramePr>
          <p:nvPr/>
        </p:nvGraphicFramePr>
        <p:xfrm>
          <a:off x="5292725" y="3354388"/>
          <a:ext cx="2016125" cy="596900"/>
        </p:xfrm>
        <a:graphic>
          <a:graphicData uri="http://schemas.openxmlformats.org/presentationml/2006/ole">
            <p:oleObj spid="_x0000_s10324" name="公式" r:id="rId8" imgW="736600" imgH="292100" progId="Equation.3">
              <p:embed/>
            </p:oleObj>
          </a:graphicData>
        </a:graphic>
      </p:graphicFrame>
      <p:graphicFrame>
        <p:nvGraphicFramePr>
          <p:cNvPr id="165901" name="Object 85"/>
          <p:cNvGraphicFramePr>
            <a:graphicFrameLocks noChangeAspect="1"/>
          </p:cNvGraphicFramePr>
          <p:nvPr/>
        </p:nvGraphicFramePr>
        <p:xfrm>
          <a:off x="5292725" y="3940175"/>
          <a:ext cx="1941513" cy="582613"/>
        </p:xfrm>
        <a:graphic>
          <a:graphicData uri="http://schemas.openxmlformats.org/presentationml/2006/ole">
            <p:oleObj spid="_x0000_s10325" name="公式" r:id="rId9" imgW="723586" imgH="291973" progId="Equation.3">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wipe(left)">
                                      <p:cBhvr>
                                        <p:cTn id="7" dur="500"/>
                                        <p:tgtEl>
                                          <p:spTgt spid="3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165893"/>
                                        </p:tgtEl>
                                        <p:attrNameLst>
                                          <p:attrName>style.visibility</p:attrName>
                                        </p:attrNameLst>
                                      </p:cBhvr>
                                      <p:to>
                                        <p:strVal val="visible"/>
                                      </p:to>
                                    </p:set>
                                    <p:animEffect transition="in" filter="blinds(horizontal)">
                                      <p:cBhvr>
                                        <p:cTn id="12" dur="500"/>
                                        <p:tgtEl>
                                          <p:spTgt spid="16589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165894"/>
                                        </p:tgtEl>
                                        <p:attrNameLst>
                                          <p:attrName>style.visibility</p:attrName>
                                        </p:attrNameLst>
                                      </p:cBhvr>
                                      <p:to>
                                        <p:strVal val="visible"/>
                                      </p:to>
                                    </p:set>
                                    <p:animEffect transition="in" filter="checkerboard(across)">
                                      <p:cBhvr>
                                        <p:cTn id="17" dur="500"/>
                                        <p:tgtEl>
                                          <p:spTgt spid="16589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165896"/>
                                        </p:tgtEl>
                                        <p:attrNameLst>
                                          <p:attrName>style.visibility</p:attrName>
                                        </p:attrNameLst>
                                      </p:cBhvr>
                                      <p:to>
                                        <p:strVal val="visible"/>
                                      </p:to>
                                    </p:set>
                                    <p:animEffect transition="in" filter="checkerboard(across)">
                                      <p:cBhvr>
                                        <p:cTn id="22" dur="500"/>
                                        <p:tgtEl>
                                          <p:spTgt spid="16589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5" presetClass="entr" presetSubtype="10" fill="hold" nodeType="clickEffect">
                                  <p:stCondLst>
                                    <p:cond delay="0"/>
                                  </p:stCondLst>
                                  <p:childTnLst>
                                    <p:set>
                                      <p:cBhvr>
                                        <p:cTn id="26" dur="1" fill="hold">
                                          <p:stCondLst>
                                            <p:cond delay="0"/>
                                          </p:stCondLst>
                                        </p:cTn>
                                        <p:tgtEl>
                                          <p:spTgt spid="165895"/>
                                        </p:tgtEl>
                                        <p:attrNameLst>
                                          <p:attrName>style.visibility</p:attrName>
                                        </p:attrNameLst>
                                      </p:cBhvr>
                                      <p:to>
                                        <p:strVal val="visible"/>
                                      </p:to>
                                    </p:set>
                                    <p:animEffect transition="in" filter="checkerboard(across)">
                                      <p:cBhvr>
                                        <p:cTn id="27" dur="500"/>
                                        <p:tgtEl>
                                          <p:spTgt spid="16589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5" presetClass="entr" presetSubtype="10" fill="hold" nodeType="clickEffect">
                                  <p:stCondLst>
                                    <p:cond delay="0"/>
                                  </p:stCondLst>
                                  <p:childTnLst>
                                    <p:set>
                                      <p:cBhvr>
                                        <p:cTn id="31" dur="1" fill="hold">
                                          <p:stCondLst>
                                            <p:cond delay="0"/>
                                          </p:stCondLst>
                                        </p:cTn>
                                        <p:tgtEl>
                                          <p:spTgt spid="165897"/>
                                        </p:tgtEl>
                                        <p:attrNameLst>
                                          <p:attrName>style.visibility</p:attrName>
                                        </p:attrNameLst>
                                      </p:cBhvr>
                                      <p:to>
                                        <p:strVal val="visible"/>
                                      </p:to>
                                    </p:set>
                                    <p:animEffect transition="in" filter="checkerboard(across)">
                                      <p:cBhvr>
                                        <p:cTn id="32" dur="500"/>
                                        <p:tgtEl>
                                          <p:spTgt spid="165897"/>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5" presetClass="entr" presetSubtype="10" fill="hold" nodeType="clickEffect">
                                  <p:stCondLst>
                                    <p:cond delay="0"/>
                                  </p:stCondLst>
                                  <p:childTnLst>
                                    <p:set>
                                      <p:cBhvr>
                                        <p:cTn id="36" dur="1" fill="hold">
                                          <p:stCondLst>
                                            <p:cond delay="0"/>
                                          </p:stCondLst>
                                        </p:cTn>
                                        <p:tgtEl>
                                          <p:spTgt spid="165898"/>
                                        </p:tgtEl>
                                        <p:attrNameLst>
                                          <p:attrName>style.visibility</p:attrName>
                                        </p:attrNameLst>
                                      </p:cBhvr>
                                      <p:to>
                                        <p:strVal val="visible"/>
                                      </p:to>
                                    </p:set>
                                    <p:animEffect transition="in" filter="checkerboard(across)">
                                      <p:cBhvr>
                                        <p:cTn id="37" dur="500"/>
                                        <p:tgtEl>
                                          <p:spTgt spid="165898"/>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5" presetClass="entr" presetSubtype="10" fill="hold" nodeType="clickEffect">
                                  <p:stCondLst>
                                    <p:cond delay="0"/>
                                  </p:stCondLst>
                                  <p:childTnLst>
                                    <p:set>
                                      <p:cBhvr>
                                        <p:cTn id="41" dur="1" fill="hold">
                                          <p:stCondLst>
                                            <p:cond delay="0"/>
                                          </p:stCondLst>
                                        </p:cTn>
                                        <p:tgtEl>
                                          <p:spTgt spid="165899"/>
                                        </p:tgtEl>
                                        <p:attrNameLst>
                                          <p:attrName>style.visibility</p:attrName>
                                        </p:attrNameLst>
                                      </p:cBhvr>
                                      <p:to>
                                        <p:strVal val="visible"/>
                                      </p:to>
                                    </p:set>
                                    <p:animEffect transition="in" filter="checkerboard(across)">
                                      <p:cBhvr>
                                        <p:cTn id="42" dur="500"/>
                                        <p:tgtEl>
                                          <p:spTgt spid="165899"/>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5" presetClass="entr" presetSubtype="10" fill="hold" nodeType="clickEffect">
                                  <p:stCondLst>
                                    <p:cond delay="0"/>
                                  </p:stCondLst>
                                  <p:childTnLst>
                                    <p:set>
                                      <p:cBhvr>
                                        <p:cTn id="46" dur="1" fill="hold">
                                          <p:stCondLst>
                                            <p:cond delay="0"/>
                                          </p:stCondLst>
                                        </p:cTn>
                                        <p:tgtEl>
                                          <p:spTgt spid="165900"/>
                                        </p:tgtEl>
                                        <p:attrNameLst>
                                          <p:attrName>style.visibility</p:attrName>
                                        </p:attrNameLst>
                                      </p:cBhvr>
                                      <p:to>
                                        <p:strVal val="visible"/>
                                      </p:to>
                                    </p:set>
                                    <p:animEffect transition="in" filter="checkerboard(across)">
                                      <p:cBhvr>
                                        <p:cTn id="47" dur="500"/>
                                        <p:tgtEl>
                                          <p:spTgt spid="165900"/>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5" presetClass="entr" presetSubtype="10" fill="hold" nodeType="clickEffect">
                                  <p:stCondLst>
                                    <p:cond delay="0"/>
                                  </p:stCondLst>
                                  <p:childTnLst>
                                    <p:set>
                                      <p:cBhvr>
                                        <p:cTn id="51" dur="1" fill="hold">
                                          <p:stCondLst>
                                            <p:cond delay="0"/>
                                          </p:stCondLst>
                                        </p:cTn>
                                        <p:tgtEl>
                                          <p:spTgt spid="165901"/>
                                        </p:tgtEl>
                                        <p:attrNameLst>
                                          <p:attrName>style.visibility</p:attrName>
                                        </p:attrNameLst>
                                      </p:cBhvr>
                                      <p:to>
                                        <p:strVal val="visible"/>
                                      </p:to>
                                    </p:set>
                                    <p:animEffect transition="in" filter="checkerboard(across)">
                                      <p:cBhvr>
                                        <p:cTn id="52" dur="500"/>
                                        <p:tgtEl>
                                          <p:spTgt spid="1659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165894" grpId="0" autoUpdateAnimBg="0"/>
      <p:bldP spid="165896" grpId="0"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50" name="Text Box 6"/>
          <p:cNvSpPr txBox="1">
            <a:spLocks noChangeArrowheads="1"/>
          </p:cNvSpPr>
          <p:nvPr/>
        </p:nvSpPr>
        <p:spPr bwMode="auto">
          <a:xfrm>
            <a:off x="568325" y="1316038"/>
            <a:ext cx="8194675" cy="679450"/>
          </a:xfrm>
          <a:prstGeom prst="rect">
            <a:avLst/>
          </a:prstGeom>
          <a:noFill/>
          <a:ln w="9525">
            <a:noFill/>
            <a:miter lim="800000"/>
            <a:headEnd/>
            <a:tailEnd/>
          </a:ln>
        </p:spPr>
        <p:txBody>
          <a:bodyPr>
            <a:spAutoFit/>
          </a:bodyPr>
          <a:lstStyle/>
          <a:p>
            <a:pPr eaLnBrk="0" hangingPunct="0">
              <a:lnSpc>
                <a:spcPct val="110000"/>
              </a:lnSpc>
            </a:pPr>
            <a:r>
              <a:rPr lang="zh-CN" altLang="en-US" b="1">
                <a:solidFill>
                  <a:srgbClr val="0000FF"/>
                </a:solidFill>
                <a:latin typeface="Times New Roman" pitchFamily="18" charset="0"/>
                <a:ea typeface="华文中宋"/>
                <a:cs typeface="华文中宋"/>
              </a:rPr>
              <a:t>热容量</a:t>
            </a:r>
            <a:r>
              <a:rPr lang="en-US" altLang="zh-CN" b="1">
                <a:solidFill>
                  <a:srgbClr val="0000FF"/>
                </a:solidFill>
                <a:latin typeface="Times New Roman" pitchFamily="18" charset="0"/>
                <a:ea typeface="华文中宋"/>
                <a:cs typeface="华文中宋"/>
              </a:rPr>
              <a:t>(</a:t>
            </a:r>
            <a:r>
              <a:rPr lang="en-US" altLang="zh-CN" b="1" i="1">
                <a:solidFill>
                  <a:srgbClr val="0000FF"/>
                </a:solidFill>
                <a:latin typeface="Times New Roman" pitchFamily="18" charset="0"/>
                <a:ea typeface="华文中宋"/>
                <a:cs typeface="华文中宋"/>
              </a:rPr>
              <a:t>C</a:t>
            </a:r>
            <a:r>
              <a:rPr lang="en-US" altLang="zh-CN" b="1">
                <a:solidFill>
                  <a:srgbClr val="0000FF"/>
                </a:solidFill>
                <a:latin typeface="Times New Roman" pitchFamily="18" charset="0"/>
                <a:ea typeface="华文中宋"/>
                <a:cs typeface="华文中宋"/>
              </a:rPr>
              <a:t>)</a:t>
            </a:r>
            <a:r>
              <a:rPr lang="en-US" altLang="zh-CN" b="1">
                <a:solidFill>
                  <a:srgbClr val="000000"/>
                </a:solidFill>
                <a:latin typeface="Times New Roman" pitchFamily="18" charset="0"/>
                <a:ea typeface="华文中宋"/>
                <a:cs typeface="华文中宋"/>
              </a:rPr>
              <a:t> </a:t>
            </a:r>
            <a:r>
              <a:rPr lang="zh-CN" altLang="en-US" b="1">
                <a:solidFill>
                  <a:srgbClr val="000000"/>
                </a:solidFill>
                <a:latin typeface="Times New Roman" pitchFamily="18" charset="0"/>
                <a:ea typeface="华文中宋"/>
                <a:cs typeface="华文中宋"/>
              </a:rPr>
              <a:t>：系统在某一无限小过程中吸收热量</a:t>
            </a:r>
            <a:r>
              <a:rPr lang="en-US" altLang="zh-CN" b="1" i="1">
                <a:solidFill>
                  <a:srgbClr val="000000"/>
                </a:solidFill>
                <a:latin typeface="Times New Roman" pitchFamily="18" charset="0"/>
                <a:ea typeface="华文中宋"/>
                <a:cs typeface="华文中宋"/>
              </a:rPr>
              <a:t>dQ</a:t>
            </a:r>
            <a:r>
              <a:rPr lang="zh-CN" altLang="en-US" b="1">
                <a:solidFill>
                  <a:srgbClr val="000000"/>
                </a:solidFill>
                <a:latin typeface="Times New Roman" pitchFamily="18" charset="0"/>
                <a:ea typeface="华文中宋"/>
                <a:cs typeface="华文中宋"/>
              </a:rPr>
              <a:t>与温度变化</a:t>
            </a:r>
            <a:r>
              <a:rPr lang="en-US" altLang="zh-CN" b="1" i="1">
                <a:solidFill>
                  <a:srgbClr val="000000"/>
                </a:solidFill>
                <a:latin typeface="Times New Roman" pitchFamily="18" charset="0"/>
                <a:ea typeface="华文中宋"/>
                <a:cs typeface="华文中宋"/>
              </a:rPr>
              <a:t>dT</a:t>
            </a:r>
            <a:r>
              <a:rPr lang="zh-CN" altLang="en-US" b="1">
                <a:solidFill>
                  <a:srgbClr val="000000"/>
                </a:solidFill>
                <a:latin typeface="Times New Roman" pitchFamily="18" charset="0"/>
                <a:ea typeface="华文中宋"/>
                <a:cs typeface="华文中宋"/>
              </a:rPr>
              <a:t>的比值称为系统在该过程的热容量。 </a:t>
            </a:r>
          </a:p>
        </p:txBody>
      </p:sp>
      <p:graphicFrame>
        <p:nvGraphicFramePr>
          <p:cNvPr id="82951" name="Object 42"/>
          <p:cNvGraphicFramePr>
            <a:graphicFrameLocks noChangeAspect="1"/>
          </p:cNvGraphicFramePr>
          <p:nvPr/>
        </p:nvGraphicFramePr>
        <p:xfrm>
          <a:off x="3330575" y="1924050"/>
          <a:ext cx="1727200" cy="531813"/>
        </p:xfrm>
        <a:graphic>
          <a:graphicData uri="http://schemas.openxmlformats.org/presentationml/2006/ole">
            <p:oleObj spid="_x0000_s11306" name="Equation" r:id="rId3" imgW="952087" imgH="393529" progId="Equation.DSMT4">
              <p:embed/>
            </p:oleObj>
          </a:graphicData>
        </a:graphic>
      </p:graphicFrame>
      <p:sp>
        <p:nvSpPr>
          <p:cNvPr id="82952" name="Rectangle 8"/>
          <p:cNvSpPr>
            <a:spLocks noChangeArrowheads="1"/>
          </p:cNvSpPr>
          <p:nvPr/>
        </p:nvSpPr>
        <p:spPr bwMode="auto">
          <a:xfrm>
            <a:off x="804863" y="4227513"/>
            <a:ext cx="1630362" cy="396875"/>
          </a:xfrm>
          <a:prstGeom prst="rect">
            <a:avLst/>
          </a:prstGeom>
          <a:noFill/>
          <a:ln w="9525">
            <a:noFill/>
            <a:miter lim="800000"/>
            <a:headEnd/>
            <a:tailEnd/>
          </a:ln>
        </p:spPr>
        <p:txBody>
          <a:bodyPr>
            <a:spAutoFit/>
          </a:bodyPr>
          <a:lstStyle/>
          <a:p>
            <a:pPr eaLnBrk="0" hangingPunct="0">
              <a:lnSpc>
                <a:spcPct val="110000"/>
              </a:lnSpc>
            </a:pPr>
            <a:r>
              <a:rPr lang="zh-CN" altLang="en-US" b="1">
                <a:solidFill>
                  <a:srgbClr val="000000"/>
                </a:solidFill>
                <a:latin typeface="Times New Roman" pitchFamily="18" charset="0"/>
                <a:ea typeface="华文中宋"/>
                <a:cs typeface="华文中宋"/>
              </a:rPr>
              <a:t>三者的关系：</a:t>
            </a:r>
            <a:endParaRPr lang="zh-CN" altLang="en-US" b="1" baseline="-25000">
              <a:solidFill>
                <a:srgbClr val="000000"/>
              </a:solidFill>
              <a:latin typeface="Times New Roman" pitchFamily="18" charset="0"/>
              <a:ea typeface="华文中宋"/>
              <a:cs typeface="华文中宋"/>
            </a:endParaRPr>
          </a:p>
        </p:txBody>
      </p:sp>
      <p:sp>
        <p:nvSpPr>
          <p:cNvPr id="82953" name="Text Box 9"/>
          <p:cNvSpPr txBox="1">
            <a:spLocks noChangeArrowheads="1"/>
          </p:cNvSpPr>
          <p:nvPr/>
        </p:nvSpPr>
        <p:spPr bwMode="auto">
          <a:xfrm>
            <a:off x="611188" y="3227388"/>
            <a:ext cx="7994650" cy="376237"/>
          </a:xfrm>
          <a:prstGeom prst="rect">
            <a:avLst/>
          </a:prstGeom>
          <a:noFill/>
          <a:ln w="9525">
            <a:noFill/>
            <a:miter lim="800000"/>
            <a:headEnd/>
            <a:tailEnd/>
          </a:ln>
        </p:spPr>
        <p:txBody>
          <a:bodyPr>
            <a:spAutoFit/>
          </a:bodyPr>
          <a:lstStyle/>
          <a:p>
            <a:pPr eaLnBrk="0" hangingPunct="0">
              <a:lnSpc>
                <a:spcPct val="110000"/>
              </a:lnSpc>
            </a:pPr>
            <a:r>
              <a:rPr lang="zh-CN" altLang="en-US" b="1">
                <a:solidFill>
                  <a:srgbClr val="0000FF"/>
                </a:solidFill>
                <a:latin typeface="Times New Roman" pitchFamily="18" charset="0"/>
                <a:ea typeface="华文中宋"/>
                <a:cs typeface="华文中宋"/>
              </a:rPr>
              <a:t>摩尔热容量</a:t>
            </a:r>
            <a:r>
              <a:rPr lang="en-US" altLang="zh-CN" b="1">
                <a:solidFill>
                  <a:srgbClr val="0000FF"/>
                </a:solidFill>
                <a:latin typeface="Times New Roman" pitchFamily="18" charset="0"/>
                <a:ea typeface="华文中宋"/>
                <a:cs typeface="华文中宋"/>
              </a:rPr>
              <a:t>(</a:t>
            </a:r>
            <a:r>
              <a:rPr lang="en-US" altLang="zh-CN" b="1" i="1">
                <a:solidFill>
                  <a:srgbClr val="0000FF"/>
                </a:solidFill>
                <a:latin typeface="Times New Roman" pitchFamily="18" charset="0"/>
                <a:ea typeface="华文中宋"/>
                <a:cs typeface="华文中宋"/>
              </a:rPr>
              <a:t>C</a:t>
            </a:r>
            <a:r>
              <a:rPr lang="en-US" altLang="zh-CN" b="1" baseline="-25000">
                <a:solidFill>
                  <a:srgbClr val="0000FF"/>
                </a:solidFill>
                <a:latin typeface="Times New Roman" pitchFamily="18" charset="0"/>
                <a:ea typeface="华文中宋"/>
                <a:cs typeface="华文中宋"/>
              </a:rPr>
              <a:t>m</a:t>
            </a:r>
            <a:r>
              <a:rPr lang="en-US" altLang="zh-CN" b="1">
                <a:solidFill>
                  <a:srgbClr val="0000FF"/>
                </a:solidFill>
                <a:latin typeface="Times New Roman" pitchFamily="18" charset="0"/>
                <a:ea typeface="华文中宋"/>
                <a:cs typeface="华文中宋"/>
              </a:rPr>
              <a:t>)</a:t>
            </a:r>
            <a:r>
              <a:rPr lang="en-US" altLang="zh-CN" b="1">
                <a:solidFill>
                  <a:srgbClr val="000000"/>
                </a:solidFill>
                <a:latin typeface="Times New Roman" pitchFamily="18" charset="0"/>
                <a:ea typeface="华文中宋"/>
                <a:cs typeface="华文中宋"/>
              </a:rPr>
              <a:t> </a:t>
            </a:r>
            <a:r>
              <a:rPr lang="zh-CN" altLang="en-US" b="1">
                <a:solidFill>
                  <a:srgbClr val="000000"/>
                </a:solidFill>
                <a:latin typeface="Times New Roman" pitchFamily="18" charset="0"/>
                <a:ea typeface="华文中宋"/>
                <a:cs typeface="华文中宋"/>
              </a:rPr>
              <a:t>：一摩尔物质的热容量叫摩尔热容量。 </a:t>
            </a:r>
          </a:p>
        </p:txBody>
      </p:sp>
      <p:graphicFrame>
        <p:nvGraphicFramePr>
          <p:cNvPr id="82956" name="Object 43"/>
          <p:cNvGraphicFramePr>
            <a:graphicFrameLocks noChangeAspect="1"/>
          </p:cNvGraphicFramePr>
          <p:nvPr/>
        </p:nvGraphicFramePr>
        <p:xfrm>
          <a:off x="3387725" y="3651250"/>
          <a:ext cx="1689100" cy="504825"/>
        </p:xfrm>
        <a:graphic>
          <a:graphicData uri="http://schemas.openxmlformats.org/presentationml/2006/ole">
            <p:oleObj spid="_x0000_s11307" name="Equation" r:id="rId4" imgW="837836" imgH="393529" progId="Equation.DSMT4">
              <p:embed/>
            </p:oleObj>
          </a:graphicData>
        </a:graphic>
      </p:graphicFrame>
      <p:graphicFrame>
        <p:nvGraphicFramePr>
          <p:cNvPr id="19467" name="Object 44"/>
          <p:cNvGraphicFramePr>
            <a:graphicFrameLocks noChangeAspect="1"/>
          </p:cNvGraphicFramePr>
          <p:nvPr/>
        </p:nvGraphicFramePr>
        <p:xfrm>
          <a:off x="3348038" y="4094163"/>
          <a:ext cx="1871662" cy="638175"/>
        </p:xfrm>
        <a:graphic>
          <a:graphicData uri="http://schemas.openxmlformats.org/presentationml/2006/ole">
            <p:oleObj spid="_x0000_s11308" name="Equation" r:id="rId5" imgW="1167893" imgH="431613" progId="Equation.DSMT4">
              <p:embed/>
            </p:oleObj>
          </a:graphicData>
        </a:graphic>
      </p:graphicFrame>
      <p:sp>
        <p:nvSpPr>
          <p:cNvPr id="154635" name="Rectangle 11"/>
          <p:cNvSpPr>
            <a:spLocks noChangeArrowheads="1"/>
          </p:cNvSpPr>
          <p:nvPr/>
        </p:nvSpPr>
        <p:spPr bwMode="auto">
          <a:xfrm>
            <a:off x="611188" y="2355850"/>
            <a:ext cx="4608512" cy="369888"/>
          </a:xfrm>
          <a:prstGeom prst="rect">
            <a:avLst/>
          </a:prstGeom>
          <a:noFill/>
          <a:ln w="9525">
            <a:noFill/>
            <a:miter lim="800000"/>
            <a:headEnd/>
            <a:tailEnd/>
          </a:ln>
        </p:spPr>
        <p:txBody>
          <a:bodyPr>
            <a:spAutoFit/>
          </a:bodyPr>
          <a:lstStyle/>
          <a:p>
            <a:r>
              <a:rPr lang="zh-CN" altLang="en-US" b="1">
                <a:solidFill>
                  <a:srgbClr val="3333FF"/>
                </a:solidFill>
                <a:latin typeface="Times New Roman" pitchFamily="18" charset="0"/>
                <a:ea typeface="华文中宋"/>
                <a:cs typeface="华文中宋"/>
              </a:rPr>
              <a:t>比热</a:t>
            </a:r>
            <a:r>
              <a:rPr lang="en-US" altLang="zh-CN" b="1">
                <a:solidFill>
                  <a:srgbClr val="3333FF"/>
                </a:solidFill>
                <a:latin typeface="Times New Roman" pitchFamily="18" charset="0"/>
                <a:ea typeface="华文中宋"/>
                <a:cs typeface="华文中宋"/>
              </a:rPr>
              <a:t>(</a:t>
            </a:r>
            <a:r>
              <a:rPr lang="en-US" altLang="zh-CN" b="1" i="1">
                <a:solidFill>
                  <a:srgbClr val="3333FF"/>
                </a:solidFill>
                <a:latin typeface="Times New Roman" pitchFamily="18" charset="0"/>
                <a:ea typeface="华文中宋"/>
                <a:cs typeface="华文中宋"/>
              </a:rPr>
              <a:t>c</a:t>
            </a:r>
            <a:r>
              <a:rPr lang="en-US" altLang="zh-CN" b="1">
                <a:solidFill>
                  <a:srgbClr val="3333FF"/>
                </a:solidFill>
                <a:latin typeface="Times New Roman" pitchFamily="18" charset="0"/>
                <a:ea typeface="华文中宋"/>
                <a:cs typeface="华文中宋"/>
              </a:rPr>
              <a:t>)</a:t>
            </a:r>
            <a:r>
              <a:rPr lang="zh-CN" altLang="en-US" b="1">
                <a:solidFill>
                  <a:srgbClr val="3333FF"/>
                </a:solidFill>
                <a:latin typeface="Times New Roman" pitchFamily="18" charset="0"/>
                <a:ea typeface="华文中宋"/>
                <a:cs typeface="华文中宋"/>
              </a:rPr>
              <a:t>：</a:t>
            </a:r>
            <a:r>
              <a:rPr lang="zh-CN" altLang="en-US" b="1">
                <a:solidFill>
                  <a:srgbClr val="000000"/>
                </a:solidFill>
                <a:latin typeface="Times New Roman" pitchFamily="18" charset="0"/>
                <a:ea typeface="华文中宋"/>
                <a:cs typeface="华文中宋"/>
              </a:rPr>
              <a:t>单位质量的热容量。</a:t>
            </a:r>
          </a:p>
        </p:txBody>
      </p:sp>
      <p:graphicFrame>
        <p:nvGraphicFramePr>
          <p:cNvPr id="2" name="Object 45"/>
          <p:cNvGraphicFramePr>
            <a:graphicFrameLocks noChangeAspect="1"/>
          </p:cNvGraphicFramePr>
          <p:nvPr/>
        </p:nvGraphicFramePr>
        <p:xfrm>
          <a:off x="3419475" y="2643188"/>
          <a:ext cx="1439863" cy="649287"/>
        </p:xfrm>
        <a:graphic>
          <a:graphicData uri="http://schemas.openxmlformats.org/presentationml/2006/ole">
            <p:oleObj spid="_x0000_s11309" name="Equation" r:id="rId6" imgW="685800" imgH="393700" progId="Equation.DSMT4">
              <p:embed/>
            </p:oleObj>
          </a:graphicData>
        </a:graphic>
      </p:graphicFrame>
      <p:sp>
        <p:nvSpPr>
          <p:cNvPr id="12" name="Text Box 2"/>
          <p:cNvSpPr>
            <a:spLocks noChangeArrowheads="1"/>
          </p:cNvSpPr>
          <p:nvPr/>
        </p:nvSpPr>
        <p:spPr bwMode="auto">
          <a:xfrm>
            <a:off x="839788" y="874713"/>
            <a:ext cx="3190875" cy="400050"/>
          </a:xfrm>
          <a:prstGeom prst="homePlate">
            <a:avLst>
              <a:gd name="adj" fmla="val 49925"/>
            </a:avLst>
          </a:prstGeom>
          <a:solidFill>
            <a:srgbClr val="539A84"/>
          </a:solidFill>
          <a:ln w="9525">
            <a:noFill/>
            <a:miter lim="800000"/>
            <a:headEnd/>
            <a:tailEnd/>
          </a:ln>
        </p:spPr>
        <p:txBody>
          <a:bodyPr>
            <a:spAutoFit/>
          </a:bodyPr>
          <a:lstStyle/>
          <a:p>
            <a:pPr>
              <a:buFont typeface="Arial" charset="0"/>
              <a:buNone/>
            </a:pPr>
            <a:r>
              <a:rPr kumimoji="1" lang="zh-CN" altLang="en-US" sz="2000" b="1">
                <a:solidFill>
                  <a:srgbClr val="FFFFFF"/>
                </a:solidFill>
                <a:latin typeface="微软雅黑" pitchFamily="34" charset="-122"/>
                <a:ea typeface="微软雅黑" pitchFamily="34" charset="-122"/>
              </a:rPr>
              <a:t>一、热容量与摩尔热容量</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2950"/>
                                        </p:tgtEl>
                                        <p:attrNameLst>
                                          <p:attrName>style.visibility</p:attrName>
                                        </p:attrNameLst>
                                      </p:cBhvr>
                                      <p:to>
                                        <p:strVal val="visible"/>
                                      </p:to>
                                    </p:set>
                                    <p:animEffect transition="in" filter="wipe(left)">
                                      <p:cBhvr>
                                        <p:cTn id="12" dur="500"/>
                                        <p:tgtEl>
                                          <p:spTgt spid="8295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82951"/>
                                        </p:tgtEl>
                                        <p:attrNameLst>
                                          <p:attrName>style.visibility</p:attrName>
                                        </p:attrNameLst>
                                      </p:cBhvr>
                                      <p:to>
                                        <p:strVal val="visible"/>
                                      </p:to>
                                    </p:set>
                                    <p:animEffect transition="in" filter="wipe(left)">
                                      <p:cBhvr>
                                        <p:cTn id="17" dur="500"/>
                                        <p:tgtEl>
                                          <p:spTgt spid="8295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54635"/>
                                        </p:tgtEl>
                                        <p:attrNameLst>
                                          <p:attrName>style.visibility</p:attrName>
                                        </p:attrNameLst>
                                      </p:cBhvr>
                                      <p:to>
                                        <p:strVal val="visible"/>
                                      </p:to>
                                    </p:set>
                                    <p:animEffect transition="in" filter="blinds(horizontal)">
                                      <p:cBhvr>
                                        <p:cTn id="22" dur="500"/>
                                        <p:tgtEl>
                                          <p:spTgt spid="15463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wipe(left)">
                                      <p:cBhvr>
                                        <p:cTn id="27" dur="500"/>
                                        <p:tgtEl>
                                          <p:spTgt spid="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82953"/>
                                        </p:tgtEl>
                                        <p:attrNameLst>
                                          <p:attrName>style.visibility</p:attrName>
                                        </p:attrNameLst>
                                      </p:cBhvr>
                                      <p:to>
                                        <p:strVal val="visible"/>
                                      </p:to>
                                    </p:set>
                                    <p:animEffect transition="in" filter="wipe(left)">
                                      <p:cBhvr>
                                        <p:cTn id="32" dur="500"/>
                                        <p:tgtEl>
                                          <p:spTgt spid="82953"/>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82956"/>
                                        </p:tgtEl>
                                        <p:attrNameLst>
                                          <p:attrName>style.visibility</p:attrName>
                                        </p:attrNameLst>
                                      </p:cBhvr>
                                      <p:to>
                                        <p:strVal val="visible"/>
                                      </p:to>
                                    </p:set>
                                    <p:animEffect transition="in" filter="wipe(left)">
                                      <p:cBhvr>
                                        <p:cTn id="37" dur="500"/>
                                        <p:tgtEl>
                                          <p:spTgt spid="82956"/>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82952"/>
                                        </p:tgtEl>
                                        <p:attrNameLst>
                                          <p:attrName>style.visibility</p:attrName>
                                        </p:attrNameLst>
                                      </p:cBhvr>
                                      <p:to>
                                        <p:strVal val="visible"/>
                                      </p:to>
                                    </p:set>
                                    <p:animEffect transition="in" filter="wipe(left)">
                                      <p:cBhvr>
                                        <p:cTn id="42" dur="500"/>
                                        <p:tgtEl>
                                          <p:spTgt spid="82952"/>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19467"/>
                                        </p:tgtEl>
                                        <p:attrNameLst>
                                          <p:attrName>style.visibility</p:attrName>
                                        </p:attrNameLst>
                                      </p:cBhvr>
                                      <p:to>
                                        <p:strVal val="visible"/>
                                      </p:to>
                                    </p:set>
                                    <p:animEffect transition="in" filter="wipe(left)">
                                      <p:cBhvr>
                                        <p:cTn id="47" dur="500"/>
                                        <p:tgtEl>
                                          <p:spTgt spid="194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950" grpId="0"/>
      <p:bldP spid="82952" grpId="0"/>
      <p:bldP spid="82953" grpId="0"/>
      <p:bldP spid="154635" grpId="0"/>
      <p:bldP spid="12"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53" name="Text Box 9"/>
          <p:cNvSpPr txBox="1">
            <a:spLocks noChangeArrowheads="1"/>
          </p:cNvSpPr>
          <p:nvPr/>
        </p:nvSpPr>
        <p:spPr bwMode="auto">
          <a:xfrm>
            <a:off x="684213" y="755650"/>
            <a:ext cx="7994650" cy="376238"/>
          </a:xfrm>
          <a:prstGeom prst="rect">
            <a:avLst/>
          </a:prstGeom>
          <a:noFill/>
          <a:ln w="9525">
            <a:noFill/>
            <a:miter lim="800000"/>
            <a:headEnd/>
            <a:tailEnd/>
          </a:ln>
        </p:spPr>
        <p:txBody>
          <a:bodyPr>
            <a:spAutoFit/>
          </a:bodyPr>
          <a:lstStyle/>
          <a:p>
            <a:pPr eaLnBrk="0" hangingPunct="0">
              <a:lnSpc>
                <a:spcPct val="110000"/>
              </a:lnSpc>
            </a:pPr>
            <a:r>
              <a:rPr lang="zh-CN" altLang="en-US" b="1">
                <a:solidFill>
                  <a:srgbClr val="0000FF"/>
                </a:solidFill>
                <a:latin typeface="Times New Roman" pitchFamily="18" charset="0"/>
                <a:ea typeface="华文中宋"/>
                <a:cs typeface="华文中宋"/>
              </a:rPr>
              <a:t>热力学过程热量的计算（基于热容量的方法）：</a:t>
            </a:r>
            <a:endParaRPr lang="zh-CN" altLang="en-US" b="1">
              <a:solidFill>
                <a:srgbClr val="000000"/>
              </a:solidFill>
              <a:latin typeface="Times New Roman" pitchFamily="18" charset="0"/>
              <a:ea typeface="华文中宋"/>
              <a:cs typeface="华文中宋"/>
            </a:endParaRPr>
          </a:p>
        </p:txBody>
      </p:sp>
      <p:graphicFrame>
        <p:nvGraphicFramePr>
          <p:cNvPr id="166917" name="Object 52"/>
          <p:cNvGraphicFramePr>
            <a:graphicFrameLocks noChangeAspect="1"/>
          </p:cNvGraphicFramePr>
          <p:nvPr/>
        </p:nvGraphicFramePr>
        <p:xfrm>
          <a:off x="1962150" y="1098550"/>
          <a:ext cx="5778500" cy="609600"/>
        </p:xfrm>
        <a:graphic>
          <a:graphicData uri="http://schemas.openxmlformats.org/presentationml/2006/ole">
            <p:oleObj spid="_x0000_s12340" name="Equation" r:id="rId3" imgW="3162300" imgH="444500" progId="Equation.DSMT4">
              <p:embed/>
            </p:oleObj>
          </a:graphicData>
        </a:graphic>
      </p:graphicFrame>
      <p:sp>
        <p:nvSpPr>
          <p:cNvPr id="82952" name="Rectangle 8"/>
          <p:cNvSpPr>
            <a:spLocks noChangeArrowheads="1"/>
          </p:cNvSpPr>
          <p:nvPr/>
        </p:nvSpPr>
        <p:spPr bwMode="auto">
          <a:xfrm>
            <a:off x="684213" y="1563688"/>
            <a:ext cx="8064500" cy="1006475"/>
          </a:xfrm>
          <a:prstGeom prst="rect">
            <a:avLst/>
          </a:prstGeom>
          <a:noFill/>
          <a:ln w="9525">
            <a:noFill/>
            <a:miter lim="800000"/>
            <a:headEnd/>
            <a:tailEnd/>
          </a:ln>
        </p:spPr>
        <p:txBody>
          <a:bodyPr>
            <a:spAutoFit/>
          </a:bodyPr>
          <a:lstStyle/>
          <a:p>
            <a:pPr eaLnBrk="0" hangingPunct="0">
              <a:lnSpc>
                <a:spcPct val="110000"/>
              </a:lnSpc>
            </a:pPr>
            <a:r>
              <a:rPr lang="zh-CN" altLang="en-US" b="1">
                <a:solidFill>
                  <a:srgbClr val="FF0000"/>
                </a:solidFill>
                <a:latin typeface="Times New Roman" pitchFamily="18" charset="0"/>
                <a:ea typeface="华文中宋"/>
                <a:cs typeface="华文中宋"/>
              </a:rPr>
              <a:t>对于理想气体：</a:t>
            </a:r>
          </a:p>
          <a:p>
            <a:pPr eaLnBrk="0" hangingPunct="0">
              <a:lnSpc>
                <a:spcPct val="110000"/>
              </a:lnSpc>
            </a:pPr>
            <a:r>
              <a:rPr lang="zh-CN" altLang="en-US" b="1">
                <a:solidFill>
                  <a:srgbClr val="000000"/>
                </a:solidFill>
                <a:latin typeface="Times New Roman" pitchFamily="18" charset="0"/>
                <a:ea typeface="华文中宋"/>
                <a:cs typeface="华文中宋"/>
              </a:rPr>
              <a:t>　　由于不同的过程，热容量不同，因此与过程有关。</a:t>
            </a:r>
          </a:p>
          <a:p>
            <a:pPr eaLnBrk="0" hangingPunct="0">
              <a:lnSpc>
                <a:spcPct val="110000"/>
              </a:lnSpc>
            </a:pPr>
            <a:r>
              <a:rPr lang="zh-CN" altLang="en-US" b="1">
                <a:solidFill>
                  <a:srgbClr val="000000"/>
                </a:solidFill>
                <a:latin typeface="Times New Roman" pitchFamily="18" charset="0"/>
                <a:ea typeface="华文中宋"/>
                <a:cs typeface="华文中宋"/>
              </a:rPr>
              <a:t>　　例如等容过程的热容与等压过程的热容。</a:t>
            </a:r>
            <a:endParaRPr lang="zh-CN" altLang="en-US" b="1" baseline="-25000">
              <a:solidFill>
                <a:srgbClr val="000000"/>
              </a:solidFill>
              <a:latin typeface="Times New Roman" pitchFamily="18" charset="0"/>
              <a:ea typeface="华文中宋"/>
              <a:cs typeface="华文中宋"/>
            </a:endParaRPr>
          </a:p>
        </p:txBody>
      </p:sp>
      <p:sp>
        <p:nvSpPr>
          <p:cNvPr id="2" name="Rectangle 8"/>
          <p:cNvSpPr>
            <a:spLocks noChangeArrowheads="1"/>
          </p:cNvSpPr>
          <p:nvPr/>
        </p:nvSpPr>
        <p:spPr bwMode="auto">
          <a:xfrm>
            <a:off x="684213" y="2571750"/>
            <a:ext cx="8064500" cy="985838"/>
          </a:xfrm>
          <a:prstGeom prst="rect">
            <a:avLst/>
          </a:prstGeom>
          <a:noFill/>
          <a:ln w="9525">
            <a:noFill/>
            <a:miter lim="800000"/>
            <a:headEnd/>
            <a:tailEnd/>
          </a:ln>
        </p:spPr>
        <p:txBody>
          <a:bodyPr>
            <a:spAutoFit/>
          </a:bodyPr>
          <a:lstStyle/>
          <a:p>
            <a:pPr eaLnBrk="0" hangingPunct="0">
              <a:lnSpc>
                <a:spcPct val="110000"/>
              </a:lnSpc>
            </a:pPr>
            <a:r>
              <a:rPr lang="zh-CN" altLang="en-US" b="1">
                <a:solidFill>
                  <a:srgbClr val="FF0000"/>
                </a:solidFill>
                <a:latin typeface="Times New Roman" pitchFamily="18" charset="0"/>
                <a:ea typeface="华文中宋"/>
                <a:cs typeface="华文中宋"/>
              </a:rPr>
              <a:t>对于固体与液体：</a:t>
            </a:r>
          </a:p>
          <a:p>
            <a:pPr eaLnBrk="0" hangingPunct="0">
              <a:lnSpc>
                <a:spcPct val="110000"/>
              </a:lnSpc>
            </a:pPr>
            <a:r>
              <a:rPr lang="zh-CN" altLang="en-US" b="1">
                <a:solidFill>
                  <a:srgbClr val="000000"/>
                </a:solidFill>
                <a:latin typeface="Times New Roman" pitchFamily="18" charset="0"/>
                <a:ea typeface="华文中宋"/>
                <a:cs typeface="华文中宋"/>
              </a:rPr>
              <a:t>　　由于膨胀系数比气体小得多，因膨胀对外作功可以忽略，而依据热力学第一定律：</a:t>
            </a:r>
            <a:endParaRPr lang="zh-CN" altLang="en-US" b="1" baseline="-25000">
              <a:solidFill>
                <a:srgbClr val="000000"/>
              </a:solidFill>
              <a:latin typeface="Times New Roman" pitchFamily="18" charset="0"/>
              <a:ea typeface="华文中宋"/>
              <a:cs typeface="华文中宋"/>
            </a:endParaRPr>
          </a:p>
        </p:txBody>
      </p:sp>
      <p:graphicFrame>
        <p:nvGraphicFramePr>
          <p:cNvPr id="166920" name="Object 53"/>
          <p:cNvGraphicFramePr>
            <a:graphicFrameLocks noChangeAspect="1"/>
          </p:cNvGraphicFramePr>
          <p:nvPr/>
        </p:nvGraphicFramePr>
        <p:xfrm>
          <a:off x="2028825" y="3363913"/>
          <a:ext cx="2554288" cy="293687"/>
        </p:xfrm>
        <a:graphic>
          <a:graphicData uri="http://schemas.openxmlformats.org/presentationml/2006/ole">
            <p:oleObj spid="_x0000_s12341" name="Equation" r:id="rId4" imgW="1333500" imgH="203200" progId="Equation.DSMT4">
              <p:embed/>
            </p:oleObj>
          </a:graphicData>
        </a:graphic>
      </p:graphicFrame>
      <p:graphicFrame>
        <p:nvGraphicFramePr>
          <p:cNvPr id="166921" name="Object 54"/>
          <p:cNvGraphicFramePr>
            <a:graphicFrameLocks noChangeAspect="1"/>
          </p:cNvGraphicFramePr>
          <p:nvPr/>
        </p:nvGraphicFramePr>
        <p:xfrm>
          <a:off x="1620838" y="3633788"/>
          <a:ext cx="3455987" cy="549275"/>
        </p:xfrm>
        <a:graphic>
          <a:graphicData uri="http://schemas.openxmlformats.org/presentationml/2006/ole">
            <p:oleObj spid="_x0000_s12342" name="Equation" r:id="rId5" imgW="1916868" imgH="406224" progId="Equation.DSMT4">
              <p:embed/>
            </p:oleObj>
          </a:graphicData>
        </a:graphic>
      </p:graphicFrame>
      <p:sp>
        <p:nvSpPr>
          <p:cNvPr id="166922" name="AutoShape 10"/>
          <p:cNvSpPr>
            <a:spLocks/>
          </p:cNvSpPr>
          <p:nvPr/>
        </p:nvSpPr>
        <p:spPr bwMode="auto">
          <a:xfrm>
            <a:off x="5076825" y="3441700"/>
            <a:ext cx="144463" cy="493713"/>
          </a:xfrm>
          <a:prstGeom prst="rightBrace">
            <a:avLst>
              <a:gd name="adj1" fmla="val 41549"/>
              <a:gd name="adj2" fmla="val 50000"/>
            </a:avLst>
          </a:prstGeom>
          <a:noFill/>
          <a:ln w="25400">
            <a:solidFill>
              <a:schemeClr val="tx1"/>
            </a:solidFill>
            <a:round/>
            <a:headEnd/>
            <a:tailEnd/>
          </a:ln>
        </p:spPr>
        <p:txBody>
          <a:bodyPr anchor="ctr">
            <a:spAutoFit/>
          </a:bodyPr>
          <a:lstStyle/>
          <a:p>
            <a:endParaRPr kumimoji="1" lang="zh-CN" altLang="en-US" sz="2400" b="1">
              <a:solidFill>
                <a:srgbClr val="000000"/>
              </a:solidFill>
              <a:latin typeface="Times New Roman" pitchFamily="18" charset="0"/>
              <a:ea typeface="华文中宋"/>
              <a:cs typeface="华文中宋"/>
            </a:endParaRPr>
          </a:p>
        </p:txBody>
      </p:sp>
      <p:graphicFrame>
        <p:nvGraphicFramePr>
          <p:cNvPr id="166923" name="Object 55"/>
          <p:cNvGraphicFramePr>
            <a:graphicFrameLocks noChangeAspect="1"/>
          </p:cNvGraphicFramePr>
          <p:nvPr/>
        </p:nvGraphicFramePr>
        <p:xfrm>
          <a:off x="2646363" y="4084638"/>
          <a:ext cx="4211637" cy="546100"/>
        </p:xfrm>
        <a:graphic>
          <a:graphicData uri="http://schemas.openxmlformats.org/presentationml/2006/ole">
            <p:oleObj spid="_x0000_s12343" name="Equation" r:id="rId6" imgW="2349500" imgH="406400" progId="Equation.DSMT4">
              <p:embed/>
            </p:oleObj>
          </a:graphicData>
        </a:graphic>
      </p:graphicFrame>
      <p:graphicFrame>
        <p:nvGraphicFramePr>
          <p:cNvPr id="166924" name="Object 56"/>
          <p:cNvGraphicFramePr>
            <a:graphicFrameLocks noChangeAspect="1"/>
          </p:cNvGraphicFramePr>
          <p:nvPr/>
        </p:nvGraphicFramePr>
        <p:xfrm>
          <a:off x="5510213" y="3408363"/>
          <a:ext cx="2374900" cy="531812"/>
        </p:xfrm>
        <a:graphic>
          <a:graphicData uri="http://schemas.openxmlformats.org/presentationml/2006/ole">
            <p:oleObj spid="_x0000_s12344" name="Equation" r:id="rId7" imgW="1358310" imgH="406224" progId="Equation.DSMT4">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2953"/>
                                        </p:tgtEl>
                                        <p:attrNameLst>
                                          <p:attrName>style.visibility</p:attrName>
                                        </p:attrNameLst>
                                      </p:cBhvr>
                                      <p:to>
                                        <p:strVal val="visible"/>
                                      </p:to>
                                    </p:set>
                                    <p:animEffect transition="in" filter="wipe(left)">
                                      <p:cBhvr>
                                        <p:cTn id="7" dur="500"/>
                                        <p:tgtEl>
                                          <p:spTgt spid="8295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166917"/>
                                        </p:tgtEl>
                                        <p:attrNameLst>
                                          <p:attrName>style.visibility</p:attrName>
                                        </p:attrNameLst>
                                      </p:cBhvr>
                                      <p:to>
                                        <p:strVal val="visible"/>
                                      </p:to>
                                    </p:set>
                                    <p:animEffect transition="in" filter="blinds(horizontal)">
                                      <p:cBhvr>
                                        <p:cTn id="12" dur="500"/>
                                        <p:tgtEl>
                                          <p:spTgt spid="16691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2952"/>
                                        </p:tgtEl>
                                        <p:attrNameLst>
                                          <p:attrName>style.visibility</p:attrName>
                                        </p:attrNameLst>
                                      </p:cBhvr>
                                      <p:to>
                                        <p:strVal val="visible"/>
                                      </p:to>
                                    </p:set>
                                    <p:animEffect transition="in" filter="wipe(left)">
                                      <p:cBhvr>
                                        <p:cTn id="17" dur="500"/>
                                        <p:tgtEl>
                                          <p:spTgt spid="8295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wipe(left)">
                                      <p:cBhvr>
                                        <p:cTn id="22" dur="500"/>
                                        <p:tgtEl>
                                          <p:spTgt spid="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166920"/>
                                        </p:tgtEl>
                                        <p:attrNameLst>
                                          <p:attrName>style.visibility</p:attrName>
                                        </p:attrNameLst>
                                      </p:cBhvr>
                                      <p:to>
                                        <p:strVal val="visible"/>
                                      </p:to>
                                    </p:set>
                                    <p:animEffect transition="in" filter="blinds(horizontal)">
                                      <p:cBhvr>
                                        <p:cTn id="27" dur="500"/>
                                        <p:tgtEl>
                                          <p:spTgt spid="166920"/>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166921"/>
                                        </p:tgtEl>
                                        <p:attrNameLst>
                                          <p:attrName>style.visibility</p:attrName>
                                        </p:attrNameLst>
                                      </p:cBhvr>
                                      <p:to>
                                        <p:strVal val="visible"/>
                                      </p:to>
                                    </p:set>
                                    <p:animEffect transition="in" filter="blinds(horizontal)">
                                      <p:cBhvr>
                                        <p:cTn id="32" dur="500"/>
                                        <p:tgtEl>
                                          <p:spTgt spid="166921"/>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66922"/>
                                        </p:tgtEl>
                                        <p:attrNameLst>
                                          <p:attrName>style.visibility</p:attrName>
                                        </p:attrNameLst>
                                      </p:cBhvr>
                                      <p:to>
                                        <p:strVal val="visible"/>
                                      </p:to>
                                    </p:set>
                                    <p:animEffect transition="in" filter="blinds(horizontal)">
                                      <p:cBhvr>
                                        <p:cTn id="37" dur="500"/>
                                        <p:tgtEl>
                                          <p:spTgt spid="166922"/>
                                        </p:tgtEl>
                                      </p:cBhvr>
                                    </p:animEffect>
                                  </p:childTnLst>
                                </p:cTn>
                              </p:par>
                              <p:par>
                                <p:cTn id="38" presetID="3" presetClass="entr" presetSubtype="10" fill="hold" nodeType="withEffect">
                                  <p:stCondLst>
                                    <p:cond delay="0"/>
                                  </p:stCondLst>
                                  <p:childTnLst>
                                    <p:set>
                                      <p:cBhvr>
                                        <p:cTn id="39" dur="1" fill="hold">
                                          <p:stCondLst>
                                            <p:cond delay="0"/>
                                          </p:stCondLst>
                                        </p:cTn>
                                        <p:tgtEl>
                                          <p:spTgt spid="166924"/>
                                        </p:tgtEl>
                                        <p:attrNameLst>
                                          <p:attrName>style.visibility</p:attrName>
                                        </p:attrNameLst>
                                      </p:cBhvr>
                                      <p:to>
                                        <p:strVal val="visible"/>
                                      </p:to>
                                    </p:set>
                                    <p:animEffect transition="in" filter="blinds(horizontal)">
                                      <p:cBhvr>
                                        <p:cTn id="40" dur="500"/>
                                        <p:tgtEl>
                                          <p:spTgt spid="166924"/>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3" presetClass="entr" presetSubtype="10" fill="hold" nodeType="clickEffect">
                                  <p:stCondLst>
                                    <p:cond delay="0"/>
                                  </p:stCondLst>
                                  <p:childTnLst>
                                    <p:set>
                                      <p:cBhvr>
                                        <p:cTn id="44" dur="1" fill="hold">
                                          <p:stCondLst>
                                            <p:cond delay="0"/>
                                          </p:stCondLst>
                                        </p:cTn>
                                        <p:tgtEl>
                                          <p:spTgt spid="166923"/>
                                        </p:tgtEl>
                                        <p:attrNameLst>
                                          <p:attrName>style.visibility</p:attrName>
                                        </p:attrNameLst>
                                      </p:cBhvr>
                                      <p:to>
                                        <p:strVal val="visible"/>
                                      </p:to>
                                    </p:set>
                                    <p:animEffect transition="in" filter="blinds(horizontal)">
                                      <p:cBhvr>
                                        <p:cTn id="45" dur="500"/>
                                        <p:tgtEl>
                                          <p:spTgt spid="1669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953" grpId="0"/>
      <p:bldP spid="82952" grpId="0"/>
      <p:bldP spid="2" grpId="0"/>
      <p:bldP spid="166922"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3" name="Text Box 5"/>
          <p:cNvSpPr txBox="1">
            <a:spLocks noChangeArrowheads="1"/>
          </p:cNvSpPr>
          <p:nvPr/>
        </p:nvSpPr>
        <p:spPr bwMode="auto">
          <a:xfrm>
            <a:off x="620713" y="1447800"/>
            <a:ext cx="2366962" cy="396875"/>
          </a:xfrm>
          <a:prstGeom prst="rect">
            <a:avLst/>
          </a:prstGeom>
          <a:noFill/>
          <a:ln w="9525">
            <a:noFill/>
            <a:miter lim="800000"/>
            <a:headEnd/>
            <a:tailEnd/>
          </a:ln>
        </p:spPr>
        <p:txBody>
          <a:bodyPr>
            <a:spAutoFit/>
          </a:bodyPr>
          <a:lstStyle/>
          <a:p>
            <a:pPr>
              <a:lnSpc>
                <a:spcPct val="110000"/>
              </a:lnSpc>
            </a:pPr>
            <a:r>
              <a:rPr kumimoji="1" lang="en-US" altLang="zh-CN" b="1">
                <a:solidFill>
                  <a:srgbClr val="0000FF"/>
                </a:solidFill>
                <a:latin typeface="华文中宋"/>
                <a:ea typeface="华文中宋"/>
                <a:cs typeface="Times New Roman" pitchFamily="18" charset="0"/>
              </a:rPr>
              <a:t>1</a:t>
            </a:r>
            <a:r>
              <a:rPr kumimoji="1" lang="zh-CN" altLang="en-US" b="1">
                <a:solidFill>
                  <a:srgbClr val="0000FF"/>
                </a:solidFill>
                <a:latin typeface="华文中宋"/>
                <a:ea typeface="华文中宋"/>
                <a:cs typeface="Times New Roman" pitchFamily="18" charset="0"/>
              </a:rPr>
              <a:t>、定容摩尔热容量</a:t>
            </a:r>
          </a:p>
        </p:txBody>
      </p:sp>
      <p:graphicFrame>
        <p:nvGraphicFramePr>
          <p:cNvPr id="3" name="Object 122"/>
          <p:cNvGraphicFramePr>
            <a:graphicFrameLocks noChangeAspect="1"/>
          </p:cNvGraphicFramePr>
          <p:nvPr/>
        </p:nvGraphicFramePr>
        <p:xfrm>
          <a:off x="2916238" y="1374775"/>
          <a:ext cx="1863725" cy="476250"/>
        </p:xfrm>
        <a:graphic>
          <a:graphicData uri="http://schemas.openxmlformats.org/presentationml/2006/ole">
            <p:oleObj spid="_x0000_s13434" name="Equation" r:id="rId3" imgW="863225" imgH="393529" progId="Equation.DSMT4">
              <p:embed/>
            </p:oleObj>
          </a:graphicData>
        </a:graphic>
      </p:graphicFrame>
      <p:graphicFrame>
        <p:nvGraphicFramePr>
          <p:cNvPr id="19" name="Object 123"/>
          <p:cNvGraphicFramePr>
            <a:graphicFrameLocks noChangeAspect="1"/>
          </p:cNvGraphicFramePr>
          <p:nvPr/>
        </p:nvGraphicFramePr>
        <p:xfrm>
          <a:off x="1692275" y="3322638"/>
          <a:ext cx="2505075" cy="669925"/>
        </p:xfrm>
        <a:graphic>
          <a:graphicData uri="http://schemas.openxmlformats.org/presentationml/2006/ole">
            <p:oleObj spid="_x0000_s13435" name="Equation" r:id="rId4" imgW="1231366" imgH="393529" progId="Equation.DSMT4">
              <p:embed/>
            </p:oleObj>
          </a:graphicData>
        </a:graphic>
      </p:graphicFrame>
      <p:sp>
        <p:nvSpPr>
          <p:cNvPr id="25" name="Text Box 7"/>
          <p:cNvSpPr txBox="1">
            <a:spLocks noChangeArrowheads="1"/>
          </p:cNvSpPr>
          <p:nvPr/>
        </p:nvSpPr>
        <p:spPr bwMode="auto">
          <a:xfrm>
            <a:off x="1116013" y="4216400"/>
            <a:ext cx="2520950" cy="396875"/>
          </a:xfrm>
          <a:prstGeom prst="rect">
            <a:avLst/>
          </a:prstGeom>
          <a:noFill/>
          <a:ln w="9525">
            <a:noFill/>
            <a:miter lim="800000"/>
            <a:headEnd/>
            <a:tailEnd/>
          </a:ln>
        </p:spPr>
        <p:txBody>
          <a:bodyPr>
            <a:spAutoFit/>
          </a:bodyPr>
          <a:lstStyle/>
          <a:p>
            <a:pPr>
              <a:lnSpc>
                <a:spcPct val="110000"/>
              </a:lnSpc>
            </a:pPr>
            <a:r>
              <a:rPr kumimoji="1" lang="zh-CN" altLang="en-US" b="1">
                <a:solidFill>
                  <a:srgbClr val="C00000"/>
                </a:solidFill>
                <a:latin typeface="华文中宋"/>
                <a:ea typeface="华文中宋"/>
                <a:cs typeface="华文中宋"/>
              </a:rPr>
              <a:t>理想气体的热量计算：</a:t>
            </a:r>
          </a:p>
        </p:txBody>
      </p:sp>
      <p:graphicFrame>
        <p:nvGraphicFramePr>
          <p:cNvPr id="8" name="Object 124"/>
          <p:cNvGraphicFramePr>
            <a:graphicFrameLocks noChangeAspect="1"/>
          </p:cNvGraphicFramePr>
          <p:nvPr/>
        </p:nvGraphicFramePr>
        <p:xfrm>
          <a:off x="3541713" y="4127500"/>
          <a:ext cx="4897437" cy="531813"/>
        </p:xfrm>
        <a:graphic>
          <a:graphicData uri="http://schemas.openxmlformats.org/presentationml/2006/ole">
            <p:oleObj spid="_x0000_s13436" name="Equation" r:id="rId5" imgW="2755900" imgH="355600" progId="Equation.DSMT4">
              <p:embed/>
            </p:oleObj>
          </a:graphicData>
        </a:graphic>
      </p:graphicFrame>
      <p:grpSp>
        <p:nvGrpSpPr>
          <p:cNvPr id="5" name="Group 31"/>
          <p:cNvGrpSpPr>
            <a:grpSpLocks/>
          </p:cNvGrpSpPr>
          <p:nvPr/>
        </p:nvGrpSpPr>
        <p:grpSpPr bwMode="auto">
          <a:xfrm>
            <a:off x="1116013" y="1835150"/>
            <a:ext cx="4608512" cy="376238"/>
            <a:chOff x="644" y="1296"/>
            <a:chExt cx="2903" cy="316"/>
          </a:xfrm>
        </p:grpSpPr>
        <p:sp>
          <p:nvSpPr>
            <p:cNvPr id="13455" name="Text Box 8"/>
            <p:cNvSpPr txBox="1">
              <a:spLocks noChangeArrowheads="1"/>
            </p:cNvSpPr>
            <p:nvPr/>
          </p:nvSpPr>
          <p:spPr bwMode="auto">
            <a:xfrm>
              <a:off x="644" y="1296"/>
              <a:ext cx="1162" cy="316"/>
            </a:xfrm>
            <a:prstGeom prst="rect">
              <a:avLst/>
            </a:prstGeom>
            <a:noFill/>
            <a:ln w="9525">
              <a:noFill/>
              <a:miter lim="800000"/>
              <a:headEnd/>
              <a:tailEnd/>
            </a:ln>
          </p:spPr>
          <p:txBody>
            <a:bodyPr anchor="ctr">
              <a:spAutoFit/>
            </a:bodyPr>
            <a:lstStyle/>
            <a:p>
              <a:pPr>
                <a:lnSpc>
                  <a:spcPct val="110000"/>
                </a:lnSpc>
              </a:pPr>
              <a:r>
                <a:rPr kumimoji="1" lang="zh-CN" altLang="en-US" b="1">
                  <a:solidFill>
                    <a:srgbClr val="C00000"/>
                  </a:solidFill>
                  <a:latin typeface="华文中宋"/>
                  <a:ea typeface="华文中宋"/>
                  <a:cs typeface="华文中宋"/>
                </a:rPr>
                <a:t>定容过程：</a:t>
              </a:r>
            </a:p>
          </p:txBody>
        </p:sp>
        <p:grpSp>
          <p:nvGrpSpPr>
            <p:cNvPr id="13456" name="Group 30"/>
            <p:cNvGrpSpPr>
              <a:grpSpLocks/>
            </p:cNvGrpSpPr>
            <p:nvPr/>
          </p:nvGrpSpPr>
          <p:grpSpPr bwMode="auto">
            <a:xfrm>
              <a:off x="1429" y="1335"/>
              <a:ext cx="2118" cy="264"/>
              <a:chOff x="1429" y="1335"/>
              <a:chExt cx="2118" cy="264"/>
            </a:xfrm>
          </p:grpSpPr>
          <p:graphicFrame>
            <p:nvGraphicFramePr>
              <p:cNvPr id="13437" name="Object 125"/>
              <p:cNvGraphicFramePr>
                <a:graphicFrameLocks noChangeAspect="1"/>
              </p:cNvGraphicFramePr>
              <p:nvPr/>
            </p:nvGraphicFramePr>
            <p:xfrm>
              <a:off x="2022" y="1335"/>
              <a:ext cx="1525" cy="264"/>
            </p:xfrm>
            <a:graphic>
              <a:graphicData uri="http://schemas.openxmlformats.org/presentationml/2006/ole">
                <p:oleObj spid="_x0000_s13437" name="Equation" r:id="rId6" imgW="1320800" imgH="228600" progId="Equation.DSMT4">
                  <p:embed/>
                </p:oleObj>
              </a:graphicData>
            </a:graphic>
          </p:graphicFrame>
          <p:graphicFrame>
            <p:nvGraphicFramePr>
              <p:cNvPr id="13438" name="Object 126"/>
              <p:cNvGraphicFramePr>
                <a:graphicFrameLocks noChangeAspect="1"/>
              </p:cNvGraphicFramePr>
              <p:nvPr/>
            </p:nvGraphicFramePr>
            <p:xfrm>
              <a:off x="1429" y="1347"/>
              <a:ext cx="531" cy="252"/>
            </p:xfrm>
            <a:graphic>
              <a:graphicData uri="http://schemas.openxmlformats.org/presentationml/2006/ole">
                <p:oleObj spid="_x0000_s13438" name="Equation" r:id="rId7" imgW="482391" imgH="228501" progId="Equation.DSMT4">
                  <p:embed/>
                </p:oleObj>
              </a:graphicData>
            </a:graphic>
          </p:graphicFrame>
        </p:grpSp>
      </p:grpSp>
      <p:graphicFrame>
        <p:nvGraphicFramePr>
          <p:cNvPr id="2" name="Object 127"/>
          <p:cNvGraphicFramePr>
            <a:graphicFrameLocks noChangeAspect="1"/>
          </p:cNvGraphicFramePr>
          <p:nvPr/>
        </p:nvGraphicFramePr>
        <p:xfrm>
          <a:off x="1644650" y="2193925"/>
          <a:ext cx="2855913" cy="593725"/>
        </p:xfrm>
        <a:graphic>
          <a:graphicData uri="http://schemas.openxmlformats.org/presentationml/2006/ole">
            <p:oleObj spid="_x0000_s13439" name="Equation" r:id="rId8" imgW="1739900" imgH="393700" progId="Equation.DSMT4">
              <p:embed/>
            </p:oleObj>
          </a:graphicData>
        </a:graphic>
      </p:graphicFrame>
      <p:grpSp>
        <p:nvGrpSpPr>
          <p:cNvPr id="7" name="Group 29"/>
          <p:cNvGrpSpPr>
            <a:grpSpLocks/>
          </p:cNvGrpSpPr>
          <p:nvPr/>
        </p:nvGrpSpPr>
        <p:grpSpPr bwMode="auto">
          <a:xfrm>
            <a:off x="4572000" y="2230438"/>
            <a:ext cx="2384425" cy="485775"/>
            <a:chOff x="3198" y="1752"/>
            <a:chExt cx="1502" cy="408"/>
          </a:xfrm>
        </p:grpSpPr>
        <p:graphicFrame>
          <p:nvGraphicFramePr>
            <p:cNvPr id="13440" name="Object 128"/>
            <p:cNvGraphicFramePr>
              <a:graphicFrameLocks noChangeAspect="1"/>
            </p:cNvGraphicFramePr>
            <p:nvPr/>
          </p:nvGraphicFramePr>
          <p:xfrm>
            <a:off x="3334" y="1752"/>
            <a:ext cx="339" cy="170"/>
          </p:xfrm>
          <a:graphic>
            <a:graphicData uri="http://schemas.openxmlformats.org/presentationml/2006/ole">
              <p:oleObj spid="_x0000_s13440" name="Equation" r:id="rId9" imgW="355138" imgH="177569" progId="Equation.DSMT4">
                <p:embed/>
              </p:oleObj>
            </a:graphicData>
          </a:graphic>
        </p:graphicFrame>
        <p:sp>
          <p:nvSpPr>
            <p:cNvPr id="13454" name="Line 22"/>
            <p:cNvSpPr>
              <a:spLocks noChangeShapeType="1"/>
            </p:cNvSpPr>
            <p:nvPr/>
          </p:nvSpPr>
          <p:spPr bwMode="auto">
            <a:xfrm>
              <a:off x="3198" y="1979"/>
              <a:ext cx="635" cy="0"/>
            </a:xfrm>
            <a:prstGeom prst="line">
              <a:avLst/>
            </a:prstGeom>
            <a:noFill/>
            <a:ln w="25400">
              <a:solidFill>
                <a:schemeClr val="tx1"/>
              </a:solidFill>
              <a:round/>
              <a:headEnd/>
              <a:tailEnd type="triangle" w="med" len="med"/>
            </a:ln>
          </p:spPr>
          <p:txBody>
            <a:bodyPr>
              <a:spAutoFit/>
            </a:bodyPr>
            <a:lstStyle/>
            <a:p>
              <a:endParaRPr lang="zh-CN" altLang="en-US"/>
            </a:p>
          </p:txBody>
        </p:sp>
        <p:graphicFrame>
          <p:nvGraphicFramePr>
            <p:cNvPr id="13441" name="Object 129"/>
            <p:cNvGraphicFramePr>
              <a:graphicFrameLocks noChangeAspect="1"/>
            </p:cNvGraphicFramePr>
            <p:nvPr/>
          </p:nvGraphicFramePr>
          <p:xfrm>
            <a:off x="3872" y="1752"/>
            <a:ext cx="828" cy="408"/>
          </p:xfrm>
          <a:graphic>
            <a:graphicData uri="http://schemas.openxmlformats.org/presentationml/2006/ole">
              <p:oleObj spid="_x0000_s13441" name="Equation" r:id="rId10" imgW="825142" imgH="406224" progId="Equation.DSMT4">
                <p:embed/>
              </p:oleObj>
            </a:graphicData>
          </a:graphic>
        </p:graphicFrame>
      </p:grpSp>
      <p:graphicFrame>
        <p:nvGraphicFramePr>
          <p:cNvPr id="155672" name="Object 130"/>
          <p:cNvGraphicFramePr>
            <a:graphicFrameLocks noChangeAspect="1"/>
          </p:cNvGraphicFramePr>
          <p:nvPr/>
        </p:nvGraphicFramePr>
        <p:xfrm>
          <a:off x="1943100" y="2733675"/>
          <a:ext cx="1765300" cy="485775"/>
        </p:xfrm>
        <a:graphic>
          <a:graphicData uri="http://schemas.openxmlformats.org/presentationml/2006/ole">
            <p:oleObj spid="_x0000_s13442" name="Equation" r:id="rId11" imgW="1256755" imgH="406224" progId="Equation.DSMT4">
              <p:embed/>
            </p:oleObj>
          </a:graphicData>
        </a:graphic>
      </p:graphicFrame>
      <p:grpSp>
        <p:nvGrpSpPr>
          <p:cNvPr id="9" name="Group 32"/>
          <p:cNvGrpSpPr>
            <a:grpSpLocks/>
          </p:cNvGrpSpPr>
          <p:nvPr/>
        </p:nvGrpSpPr>
        <p:grpSpPr bwMode="auto">
          <a:xfrm>
            <a:off x="4259263" y="2963863"/>
            <a:ext cx="3481387" cy="1263650"/>
            <a:chOff x="2653" y="2437"/>
            <a:chExt cx="2193" cy="1061"/>
          </a:xfrm>
        </p:grpSpPr>
        <p:graphicFrame>
          <p:nvGraphicFramePr>
            <p:cNvPr id="13443" name="Object 131"/>
            <p:cNvGraphicFramePr>
              <a:graphicFrameLocks noChangeAspect="1"/>
            </p:cNvGraphicFramePr>
            <p:nvPr/>
          </p:nvGraphicFramePr>
          <p:xfrm>
            <a:off x="4059" y="2437"/>
            <a:ext cx="786" cy="412"/>
          </p:xfrm>
          <a:graphic>
            <a:graphicData uri="http://schemas.openxmlformats.org/presentationml/2006/ole">
              <p:oleObj spid="_x0000_s13443" name="公式" r:id="rId12" imgW="558558" imgH="291973" progId="Equation.3">
                <p:embed/>
              </p:oleObj>
            </a:graphicData>
          </a:graphic>
        </p:graphicFrame>
        <p:graphicFrame>
          <p:nvGraphicFramePr>
            <p:cNvPr id="13444" name="Object 132"/>
            <p:cNvGraphicFramePr>
              <a:graphicFrameLocks noChangeAspect="1"/>
            </p:cNvGraphicFramePr>
            <p:nvPr/>
          </p:nvGraphicFramePr>
          <p:xfrm>
            <a:off x="4059" y="2760"/>
            <a:ext cx="786" cy="413"/>
          </p:xfrm>
          <a:graphic>
            <a:graphicData uri="http://schemas.openxmlformats.org/presentationml/2006/ole">
              <p:oleObj spid="_x0000_s13444" name="公式" r:id="rId13" imgW="558558" imgH="291973" progId="Equation.3">
                <p:embed/>
              </p:oleObj>
            </a:graphicData>
          </a:graphic>
        </p:graphicFrame>
        <p:graphicFrame>
          <p:nvGraphicFramePr>
            <p:cNvPr id="13445" name="Object 133"/>
            <p:cNvGraphicFramePr>
              <a:graphicFrameLocks noChangeAspect="1"/>
            </p:cNvGraphicFramePr>
            <p:nvPr/>
          </p:nvGraphicFramePr>
          <p:xfrm>
            <a:off x="4059" y="3099"/>
            <a:ext cx="787" cy="392"/>
          </p:xfrm>
          <a:graphic>
            <a:graphicData uri="http://schemas.openxmlformats.org/presentationml/2006/ole">
              <p:oleObj spid="_x0000_s13445" name="公式" r:id="rId14" imgW="558558" imgH="291973" progId="Equation.3">
                <p:embed/>
              </p:oleObj>
            </a:graphicData>
          </a:graphic>
        </p:graphicFrame>
        <p:sp>
          <p:nvSpPr>
            <p:cNvPr id="13452" name="AutoShape 25"/>
            <p:cNvSpPr>
              <a:spLocks/>
            </p:cNvSpPr>
            <p:nvPr/>
          </p:nvSpPr>
          <p:spPr bwMode="auto">
            <a:xfrm>
              <a:off x="2653" y="2806"/>
              <a:ext cx="181" cy="433"/>
            </a:xfrm>
            <a:prstGeom prst="leftBrace">
              <a:avLst>
                <a:gd name="adj1" fmla="val 33425"/>
                <a:gd name="adj2" fmla="val 50000"/>
              </a:avLst>
            </a:prstGeom>
            <a:noFill/>
            <a:ln w="25400">
              <a:solidFill>
                <a:schemeClr val="tx1"/>
              </a:solidFill>
              <a:round/>
              <a:headEnd/>
              <a:tailEnd/>
            </a:ln>
          </p:spPr>
          <p:txBody>
            <a:bodyPr anchor="ctr">
              <a:spAutoFit/>
            </a:bodyPr>
            <a:lstStyle/>
            <a:p>
              <a:endParaRPr kumimoji="1" lang="zh-CN" altLang="en-US" sz="2400" b="1">
                <a:solidFill>
                  <a:srgbClr val="000000"/>
                </a:solidFill>
                <a:latin typeface="Times New Roman" pitchFamily="18" charset="0"/>
                <a:ea typeface="华文中宋"/>
                <a:cs typeface="华文中宋"/>
              </a:endParaRPr>
            </a:p>
          </p:txBody>
        </p:sp>
        <p:sp>
          <p:nvSpPr>
            <p:cNvPr id="13453" name="Text Box 7"/>
            <p:cNvSpPr txBox="1">
              <a:spLocks noChangeArrowheads="1"/>
            </p:cNvSpPr>
            <p:nvPr/>
          </p:nvSpPr>
          <p:spPr bwMode="auto">
            <a:xfrm>
              <a:off x="2789" y="2478"/>
              <a:ext cx="1723" cy="1020"/>
            </a:xfrm>
            <a:prstGeom prst="rect">
              <a:avLst/>
            </a:prstGeom>
            <a:noFill/>
            <a:ln w="9525">
              <a:noFill/>
              <a:miter lim="800000"/>
              <a:headEnd/>
              <a:tailEnd/>
            </a:ln>
          </p:spPr>
          <p:txBody>
            <a:bodyPr>
              <a:spAutoFit/>
            </a:bodyPr>
            <a:lstStyle/>
            <a:p>
              <a:pPr>
                <a:lnSpc>
                  <a:spcPct val="135000"/>
                </a:lnSpc>
              </a:pPr>
              <a:r>
                <a:rPr kumimoji="1" lang="zh-CN" altLang="en-US" b="1">
                  <a:solidFill>
                    <a:srgbClr val="C00000"/>
                  </a:solidFill>
                  <a:latin typeface="华文中宋"/>
                  <a:ea typeface="华文中宋"/>
                  <a:cs typeface="华文中宋"/>
                </a:rPr>
                <a:t>单原子分子气体：</a:t>
              </a:r>
            </a:p>
            <a:p>
              <a:pPr>
                <a:lnSpc>
                  <a:spcPct val="135000"/>
                </a:lnSpc>
              </a:pPr>
              <a:r>
                <a:rPr kumimoji="1" lang="zh-CN" altLang="en-US" b="1">
                  <a:solidFill>
                    <a:srgbClr val="C00000"/>
                  </a:solidFill>
                  <a:latin typeface="Times New Roman" pitchFamily="18" charset="0"/>
                  <a:ea typeface="华文中宋"/>
                  <a:cs typeface="华文中宋"/>
                </a:rPr>
                <a:t>双原子分子气体：</a:t>
              </a:r>
            </a:p>
            <a:p>
              <a:pPr>
                <a:lnSpc>
                  <a:spcPct val="135000"/>
                </a:lnSpc>
              </a:pPr>
              <a:r>
                <a:rPr kumimoji="1" lang="zh-CN" altLang="en-US" b="1">
                  <a:solidFill>
                    <a:srgbClr val="C00000"/>
                  </a:solidFill>
                  <a:latin typeface="Times New Roman" pitchFamily="18" charset="0"/>
                  <a:ea typeface="华文中宋"/>
                  <a:cs typeface="华文中宋"/>
                </a:rPr>
                <a:t>多原子分子气体：</a:t>
              </a:r>
            </a:p>
          </p:txBody>
        </p:sp>
      </p:grpSp>
      <p:sp>
        <p:nvSpPr>
          <p:cNvPr id="26" name="Text Box 2"/>
          <p:cNvSpPr>
            <a:spLocks noChangeArrowheads="1"/>
          </p:cNvSpPr>
          <p:nvPr/>
        </p:nvSpPr>
        <p:spPr bwMode="auto">
          <a:xfrm>
            <a:off x="839788" y="874713"/>
            <a:ext cx="3444875" cy="401637"/>
          </a:xfrm>
          <a:prstGeom prst="homePlate">
            <a:avLst>
              <a:gd name="adj" fmla="val 49755"/>
            </a:avLst>
          </a:prstGeom>
          <a:solidFill>
            <a:srgbClr val="539A84"/>
          </a:solidFill>
          <a:ln w="9525">
            <a:noFill/>
            <a:miter lim="800000"/>
            <a:headEnd/>
            <a:tailEnd/>
          </a:ln>
        </p:spPr>
        <p:txBody>
          <a:bodyPr>
            <a:spAutoFit/>
          </a:bodyPr>
          <a:lstStyle/>
          <a:p>
            <a:pPr>
              <a:buFont typeface="Arial" charset="0"/>
              <a:buNone/>
            </a:pPr>
            <a:r>
              <a:rPr kumimoji="1" lang="zh-CN" altLang="en-US" sz="2000" b="1">
                <a:solidFill>
                  <a:srgbClr val="FFFFFF"/>
                </a:solidFill>
                <a:latin typeface="微软雅黑" pitchFamily="34" charset="-122"/>
                <a:ea typeface="微软雅黑" pitchFamily="34" charset="-122"/>
              </a:rPr>
              <a:t>二、理想气体的摩尔热容量</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wipe(left)">
                                      <p:cBhvr>
                                        <p:cTn id="7" dur="500"/>
                                        <p:tgtEl>
                                          <p:spTgt spid="2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3973"/>
                                        </p:tgtEl>
                                        <p:attrNameLst>
                                          <p:attrName>style.visibility</p:attrName>
                                        </p:attrNameLst>
                                      </p:cBhvr>
                                      <p:to>
                                        <p:strVal val="visible"/>
                                      </p:to>
                                    </p:set>
                                    <p:animEffect transition="in" filter="wipe(left)">
                                      <p:cBhvr>
                                        <p:cTn id="12" dur="500"/>
                                        <p:tgtEl>
                                          <p:spTgt spid="8397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500"/>
                                        <p:tgtEl>
                                          <p:spTgt spid="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blinds(horizontal)">
                                      <p:cBhvr>
                                        <p:cTn id="22" dur="500"/>
                                        <p:tgtEl>
                                          <p:spTgt spid="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wipe(left)">
                                      <p:cBhvr>
                                        <p:cTn id="27" dur="500"/>
                                        <p:tgtEl>
                                          <p:spTgt spid="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blinds(horizontal)">
                                      <p:cBhvr>
                                        <p:cTn id="32" dur="500"/>
                                        <p:tgtEl>
                                          <p:spTgt spid="7"/>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155672"/>
                                        </p:tgtEl>
                                        <p:attrNameLst>
                                          <p:attrName>style.visibility</p:attrName>
                                        </p:attrNameLst>
                                      </p:cBhvr>
                                      <p:to>
                                        <p:strVal val="visible"/>
                                      </p:to>
                                    </p:set>
                                    <p:animEffect transition="in" filter="blinds(horizontal)">
                                      <p:cBhvr>
                                        <p:cTn id="37" dur="500"/>
                                        <p:tgtEl>
                                          <p:spTgt spid="155672"/>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wipe(left)">
                                      <p:cBhvr>
                                        <p:cTn id="42" dur="500"/>
                                        <p:tgtEl>
                                          <p:spTgt spid="19"/>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nodeType="clickEffect">
                                  <p:stCondLst>
                                    <p:cond delay="0"/>
                                  </p:stCondLst>
                                  <p:childTnLst>
                                    <p:set>
                                      <p:cBhvr>
                                        <p:cTn id="46" dur="1" fill="hold">
                                          <p:stCondLst>
                                            <p:cond delay="0"/>
                                          </p:stCondLst>
                                        </p:cTn>
                                        <p:tgtEl>
                                          <p:spTgt spid="9"/>
                                        </p:tgtEl>
                                        <p:attrNameLst>
                                          <p:attrName>style.visibility</p:attrName>
                                        </p:attrNameLst>
                                      </p:cBhvr>
                                      <p:to>
                                        <p:strVal val="visible"/>
                                      </p:to>
                                    </p:set>
                                    <p:animEffect transition="in" filter="blinds(horizontal)">
                                      <p:cBhvr>
                                        <p:cTn id="47" dur="500"/>
                                        <p:tgtEl>
                                          <p:spTgt spid="9"/>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25"/>
                                        </p:tgtEl>
                                        <p:attrNameLst>
                                          <p:attrName>style.visibility</p:attrName>
                                        </p:attrNameLst>
                                      </p:cBhvr>
                                      <p:to>
                                        <p:strVal val="visible"/>
                                      </p:to>
                                    </p:set>
                                    <p:animEffect transition="in" filter="wipe(left)">
                                      <p:cBhvr>
                                        <p:cTn id="52" dur="500"/>
                                        <p:tgtEl>
                                          <p:spTgt spid="25"/>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nodeType="clickEffect">
                                  <p:stCondLst>
                                    <p:cond delay="0"/>
                                  </p:stCondLst>
                                  <p:childTnLst>
                                    <p:set>
                                      <p:cBhvr>
                                        <p:cTn id="56" dur="1" fill="hold">
                                          <p:stCondLst>
                                            <p:cond delay="0"/>
                                          </p:stCondLst>
                                        </p:cTn>
                                        <p:tgtEl>
                                          <p:spTgt spid="8"/>
                                        </p:tgtEl>
                                        <p:attrNameLst>
                                          <p:attrName>style.visibility</p:attrName>
                                        </p:attrNameLst>
                                      </p:cBhvr>
                                      <p:to>
                                        <p:strVal val="visible"/>
                                      </p:to>
                                    </p:set>
                                    <p:animEffect transition="in" filter="wipe(left)">
                                      <p:cBhvr>
                                        <p:cTn id="5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973" grpId="0" autoUpdateAnimBg="0"/>
      <p:bldP spid="25" grpId="0" autoUpdateAnimBg="0"/>
      <p:bldP spid="26"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4"/>
          <p:cNvSpPr txBox="1">
            <a:spLocks noChangeArrowheads="1"/>
          </p:cNvSpPr>
          <p:nvPr/>
        </p:nvSpPr>
        <p:spPr bwMode="auto">
          <a:xfrm>
            <a:off x="1042988" y="915988"/>
            <a:ext cx="2376487" cy="368300"/>
          </a:xfrm>
          <a:prstGeom prst="rect">
            <a:avLst/>
          </a:prstGeom>
          <a:noFill/>
          <a:ln w="9525">
            <a:noFill/>
            <a:miter lim="800000"/>
            <a:headEnd/>
            <a:tailEnd/>
          </a:ln>
        </p:spPr>
        <p:txBody>
          <a:bodyPr>
            <a:spAutoFit/>
          </a:bodyPr>
          <a:lstStyle/>
          <a:p>
            <a:r>
              <a:rPr lang="en-US" altLang="zh-CN" b="1">
                <a:solidFill>
                  <a:srgbClr val="0000FF"/>
                </a:solidFill>
                <a:latin typeface="华文中宋"/>
                <a:ea typeface="华文中宋"/>
                <a:cs typeface="华文中宋"/>
              </a:rPr>
              <a:t>2</a:t>
            </a:r>
            <a:r>
              <a:rPr lang="zh-CN" altLang="en-US" b="1">
                <a:solidFill>
                  <a:srgbClr val="0000FF"/>
                </a:solidFill>
                <a:latin typeface="华文中宋"/>
                <a:ea typeface="华文中宋"/>
                <a:cs typeface="华文中宋"/>
              </a:rPr>
              <a:t>、定压摩尔热容量 </a:t>
            </a:r>
          </a:p>
        </p:txBody>
      </p:sp>
      <p:graphicFrame>
        <p:nvGraphicFramePr>
          <p:cNvPr id="4" name="Object 102"/>
          <p:cNvGraphicFramePr>
            <a:graphicFrameLocks noChangeAspect="1"/>
          </p:cNvGraphicFramePr>
          <p:nvPr/>
        </p:nvGraphicFramePr>
        <p:xfrm>
          <a:off x="3348038" y="823913"/>
          <a:ext cx="1689100" cy="595312"/>
        </p:xfrm>
        <a:graphic>
          <a:graphicData uri="http://schemas.openxmlformats.org/presentationml/2006/ole">
            <p:oleObj spid="_x0000_s14438" name="Equation" r:id="rId3" imgW="837836" imgH="393529" progId="Equation.DSMT4">
              <p:embed/>
            </p:oleObj>
          </a:graphicData>
        </a:graphic>
      </p:graphicFrame>
      <p:sp>
        <p:nvSpPr>
          <p:cNvPr id="5" name="Text Box 24"/>
          <p:cNvSpPr txBox="1">
            <a:spLocks noChangeArrowheads="1"/>
          </p:cNvSpPr>
          <p:nvPr/>
        </p:nvSpPr>
        <p:spPr bwMode="auto">
          <a:xfrm>
            <a:off x="1365250" y="1382713"/>
            <a:ext cx="1262063" cy="396875"/>
          </a:xfrm>
          <a:prstGeom prst="rect">
            <a:avLst/>
          </a:prstGeom>
          <a:noFill/>
          <a:ln w="9525">
            <a:noFill/>
            <a:miter lim="800000"/>
            <a:headEnd/>
            <a:tailEnd/>
          </a:ln>
        </p:spPr>
        <p:txBody>
          <a:bodyPr anchor="ctr">
            <a:spAutoFit/>
          </a:bodyPr>
          <a:lstStyle/>
          <a:p>
            <a:pPr>
              <a:lnSpc>
                <a:spcPct val="110000"/>
              </a:lnSpc>
            </a:pPr>
            <a:r>
              <a:rPr kumimoji="1" lang="zh-CN" altLang="en-US" b="1">
                <a:solidFill>
                  <a:srgbClr val="A50021"/>
                </a:solidFill>
                <a:latin typeface="华文中宋"/>
                <a:ea typeface="华文中宋"/>
                <a:cs typeface="华文中宋"/>
              </a:rPr>
              <a:t>定</a:t>
            </a:r>
            <a:r>
              <a:rPr lang="zh-CN" altLang="en-US" b="1">
                <a:solidFill>
                  <a:srgbClr val="A50021"/>
                </a:solidFill>
                <a:latin typeface="华文中宋"/>
                <a:ea typeface="华文中宋"/>
                <a:cs typeface="华文中宋"/>
              </a:rPr>
              <a:t>压</a:t>
            </a:r>
            <a:r>
              <a:rPr kumimoji="1" lang="zh-CN" altLang="en-US" b="1">
                <a:solidFill>
                  <a:srgbClr val="A50021"/>
                </a:solidFill>
                <a:latin typeface="华文中宋"/>
                <a:ea typeface="华文中宋"/>
                <a:cs typeface="华文中宋"/>
              </a:rPr>
              <a:t>过程</a:t>
            </a:r>
          </a:p>
        </p:txBody>
      </p:sp>
      <p:sp>
        <p:nvSpPr>
          <p:cNvPr id="9" name="Text Box 29"/>
          <p:cNvSpPr txBox="1">
            <a:spLocks noChangeArrowheads="1"/>
          </p:cNvSpPr>
          <p:nvPr/>
        </p:nvSpPr>
        <p:spPr bwMode="auto">
          <a:xfrm>
            <a:off x="1258888" y="2741613"/>
            <a:ext cx="2070100" cy="376237"/>
          </a:xfrm>
          <a:prstGeom prst="rect">
            <a:avLst/>
          </a:prstGeom>
          <a:noFill/>
          <a:ln w="9525">
            <a:noFill/>
            <a:miter lim="800000"/>
            <a:headEnd/>
            <a:tailEnd/>
          </a:ln>
        </p:spPr>
        <p:txBody>
          <a:bodyPr>
            <a:spAutoFit/>
          </a:bodyPr>
          <a:lstStyle/>
          <a:p>
            <a:pPr>
              <a:lnSpc>
                <a:spcPct val="110000"/>
              </a:lnSpc>
            </a:pPr>
            <a:r>
              <a:rPr kumimoji="1" lang="zh-CN" altLang="en-US" b="1">
                <a:solidFill>
                  <a:srgbClr val="000000"/>
                </a:solidFill>
                <a:latin typeface="Times New Roman" pitchFamily="18" charset="0"/>
                <a:ea typeface="华文中宋"/>
                <a:cs typeface="华文中宋"/>
              </a:rPr>
              <a:t>两边微分：</a:t>
            </a:r>
          </a:p>
        </p:txBody>
      </p:sp>
      <p:sp>
        <p:nvSpPr>
          <p:cNvPr id="16" name="Text Box 33"/>
          <p:cNvSpPr txBox="1">
            <a:spLocks noChangeArrowheads="1"/>
          </p:cNvSpPr>
          <p:nvPr/>
        </p:nvSpPr>
        <p:spPr bwMode="auto">
          <a:xfrm>
            <a:off x="5940425" y="3760788"/>
            <a:ext cx="1439863" cy="376237"/>
          </a:xfrm>
          <a:prstGeom prst="rect">
            <a:avLst/>
          </a:prstGeom>
          <a:noFill/>
          <a:ln w="9525">
            <a:noFill/>
            <a:miter lim="800000"/>
            <a:headEnd/>
            <a:tailEnd/>
          </a:ln>
        </p:spPr>
        <p:txBody>
          <a:bodyPr>
            <a:spAutoFit/>
          </a:bodyPr>
          <a:lstStyle/>
          <a:p>
            <a:pPr algn="ctr">
              <a:lnSpc>
                <a:spcPct val="110000"/>
              </a:lnSpc>
            </a:pPr>
            <a:r>
              <a:rPr kumimoji="1" lang="zh-CN" altLang="en-US" b="1">
                <a:solidFill>
                  <a:srgbClr val="0000FF"/>
                </a:solidFill>
                <a:latin typeface="华文中宋"/>
                <a:ea typeface="华文中宋"/>
                <a:cs typeface="华文中宋"/>
              </a:rPr>
              <a:t>（迈耶公式）</a:t>
            </a:r>
          </a:p>
        </p:txBody>
      </p:sp>
      <p:sp>
        <p:nvSpPr>
          <p:cNvPr id="17" name="Text Box 42"/>
          <p:cNvSpPr txBox="1">
            <a:spLocks noChangeArrowheads="1"/>
          </p:cNvSpPr>
          <p:nvPr/>
        </p:nvSpPr>
        <p:spPr bwMode="auto">
          <a:xfrm>
            <a:off x="1111250" y="4283075"/>
            <a:ext cx="2700338" cy="368300"/>
          </a:xfrm>
          <a:prstGeom prst="rect">
            <a:avLst/>
          </a:prstGeom>
          <a:noFill/>
          <a:ln w="9525">
            <a:noFill/>
            <a:miter lim="800000"/>
            <a:headEnd/>
            <a:tailEnd/>
          </a:ln>
        </p:spPr>
        <p:txBody>
          <a:bodyPr>
            <a:spAutoFit/>
          </a:bodyPr>
          <a:lstStyle/>
          <a:p>
            <a:r>
              <a:rPr lang="zh-CN" altLang="en-US" b="1">
                <a:solidFill>
                  <a:srgbClr val="FF00FF"/>
                </a:solidFill>
                <a:latin typeface="华文中宋"/>
                <a:ea typeface="华文中宋"/>
                <a:cs typeface="华文中宋"/>
              </a:rPr>
              <a:t>计算热量公式</a:t>
            </a:r>
          </a:p>
        </p:txBody>
      </p:sp>
      <p:graphicFrame>
        <p:nvGraphicFramePr>
          <p:cNvPr id="18" name="Object 103"/>
          <p:cNvGraphicFramePr>
            <a:graphicFrameLocks noChangeAspect="1"/>
          </p:cNvGraphicFramePr>
          <p:nvPr/>
        </p:nvGraphicFramePr>
        <p:xfrm>
          <a:off x="2754313" y="4205288"/>
          <a:ext cx="4338637" cy="527050"/>
        </p:xfrm>
        <a:graphic>
          <a:graphicData uri="http://schemas.openxmlformats.org/presentationml/2006/ole">
            <p:oleObj spid="_x0000_s14439" name="Equation" r:id="rId4" imgW="2043813" imgH="355446" progId="Equation.DSMT4">
              <p:embed/>
            </p:oleObj>
          </a:graphicData>
        </a:graphic>
      </p:graphicFrame>
      <p:graphicFrame>
        <p:nvGraphicFramePr>
          <p:cNvPr id="157711" name="Object 104"/>
          <p:cNvGraphicFramePr>
            <a:graphicFrameLocks noChangeAspect="1"/>
          </p:cNvGraphicFramePr>
          <p:nvPr/>
        </p:nvGraphicFramePr>
        <p:xfrm>
          <a:off x="2593975" y="1401763"/>
          <a:ext cx="4127500" cy="360362"/>
        </p:xfrm>
        <a:graphic>
          <a:graphicData uri="http://schemas.openxmlformats.org/presentationml/2006/ole">
            <p:oleObj spid="_x0000_s14440" name="Equation" r:id="rId5" imgW="2273300" imgH="241300" progId="Equation.DSMT4">
              <p:embed/>
            </p:oleObj>
          </a:graphicData>
        </a:graphic>
      </p:graphicFrame>
      <p:graphicFrame>
        <p:nvGraphicFramePr>
          <p:cNvPr id="157712" name="Object 105"/>
          <p:cNvGraphicFramePr>
            <a:graphicFrameLocks noChangeAspect="1"/>
          </p:cNvGraphicFramePr>
          <p:nvPr/>
        </p:nvGraphicFramePr>
        <p:xfrm>
          <a:off x="6980238" y="1717675"/>
          <a:ext cx="831850" cy="277813"/>
        </p:xfrm>
        <a:graphic>
          <a:graphicData uri="http://schemas.openxmlformats.org/presentationml/2006/ole">
            <p:oleObj spid="_x0000_s14441" name="Equation" r:id="rId6" imgW="457002" imgH="203112" progId="Equation.DSMT4">
              <p:embed/>
            </p:oleObj>
          </a:graphicData>
        </a:graphic>
      </p:graphicFrame>
      <p:graphicFrame>
        <p:nvGraphicFramePr>
          <p:cNvPr id="157713" name="Object 106"/>
          <p:cNvGraphicFramePr>
            <a:graphicFrameLocks noChangeAspect="1"/>
          </p:cNvGraphicFramePr>
          <p:nvPr/>
        </p:nvGraphicFramePr>
        <p:xfrm>
          <a:off x="4572000" y="1704975"/>
          <a:ext cx="2301875" cy="352425"/>
        </p:xfrm>
        <a:graphic>
          <a:graphicData uri="http://schemas.openxmlformats.org/presentationml/2006/ole">
            <p:oleObj spid="_x0000_s14442" name="Equation" r:id="rId7" imgW="1180588" imgH="241195" progId="Equation.DSMT4">
              <p:embed/>
            </p:oleObj>
          </a:graphicData>
        </a:graphic>
      </p:graphicFrame>
      <p:grpSp>
        <p:nvGrpSpPr>
          <p:cNvPr id="6" name="Group 23"/>
          <p:cNvGrpSpPr>
            <a:grpSpLocks/>
          </p:cNvGrpSpPr>
          <p:nvPr/>
        </p:nvGrpSpPr>
        <p:grpSpPr bwMode="auto">
          <a:xfrm>
            <a:off x="1258888" y="2301875"/>
            <a:ext cx="4679950" cy="395288"/>
            <a:chOff x="793" y="1933"/>
            <a:chExt cx="2948" cy="333"/>
          </a:xfrm>
        </p:grpSpPr>
        <p:sp>
          <p:nvSpPr>
            <p:cNvPr id="14454" name="Text Box 28"/>
            <p:cNvSpPr txBox="1">
              <a:spLocks noChangeArrowheads="1"/>
            </p:cNvSpPr>
            <p:nvPr/>
          </p:nvSpPr>
          <p:spPr bwMode="auto">
            <a:xfrm>
              <a:off x="793" y="1933"/>
              <a:ext cx="2309" cy="333"/>
            </a:xfrm>
            <a:prstGeom prst="rect">
              <a:avLst/>
            </a:prstGeom>
            <a:noFill/>
            <a:ln w="9525">
              <a:noFill/>
              <a:miter lim="800000"/>
              <a:headEnd/>
              <a:tailEnd/>
            </a:ln>
          </p:spPr>
          <p:txBody>
            <a:bodyPr>
              <a:spAutoFit/>
            </a:bodyPr>
            <a:lstStyle/>
            <a:p>
              <a:pPr>
                <a:lnSpc>
                  <a:spcPct val="120000"/>
                </a:lnSpc>
              </a:pPr>
              <a:r>
                <a:rPr kumimoji="1" lang="zh-CN" altLang="en-US" b="1">
                  <a:solidFill>
                    <a:srgbClr val="000000"/>
                  </a:solidFill>
                  <a:latin typeface="华文中宋"/>
                  <a:ea typeface="华文中宋"/>
                  <a:cs typeface="华文中宋"/>
                </a:rPr>
                <a:t>由理想气体状态方程：</a:t>
              </a:r>
            </a:p>
          </p:txBody>
        </p:sp>
        <p:graphicFrame>
          <p:nvGraphicFramePr>
            <p:cNvPr id="14443" name="Object 107"/>
            <p:cNvGraphicFramePr>
              <a:graphicFrameLocks noChangeAspect="1"/>
            </p:cNvGraphicFramePr>
            <p:nvPr/>
          </p:nvGraphicFramePr>
          <p:xfrm>
            <a:off x="2290" y="1990"/>
            <a:ext cx="1451" cy="231"/>
          </p:xfrm>
          <a:graphic>
            <a:graphicData uri="http://schemas.openxmlformats.org/presentationml/2006/ole">
              <p:oleObj spid="_x0000_s14443" name="Equation" r:id="rId8" imgW="1117115" imgH="177723" progId="Equation.DSMT4">
                <p:embed/>
              </p:oleObj>
            </a:graphicData>
          </a:graphic>
        </p:graphicFrame>
      </p:grpSp>
      <p:graphicFrame>
        <p:nvGraphicFramePr>
          <p:cNvPr id="157715" name="Object 108"/>
          <p:cNvGraphicFramePr>
            <a:graphicFrameLocks noChangeAspect="1"/>
          </p:cNvGraphicFramePr>
          <p:nvPr/>
        </p:nvGraphicFramePr>
        <p:xfrm>
          <a:off x="2576513" y="2847975"/>
          <a:ext cx="4429125" cy="265113"/>
        </p:xfrm>
        <a:graphic>
          <a:graphicData uri="http://schemas.openxmlformats.org/presentationml/2006/ole">
            <p:oleObj spid="_x0000_s14444" name="Equation" r:id="rId9" imgW="2234230" imgH="177723" progId="Equation.DSMT4">
              <p:embed/>
            </p:oleObj>
          </a:graphicData>
        </a:graphic>
      </p:graphicFrame>
      <p:graphicFrame>
        <p:nvGraphicFramePr>
          <p:cNvPr id="157716" name="Object 109"/>
          <p:cNvGraphicFramePr>
            <a:graphicFrameLocks noChangeAspect="1"/>
          </p:cNvGraphicFramePr>
          <p:nvPr/>
        </p:nvGraphicFramePr>
        <p:xfrm>
          <a:off x="3006725" y="3265488"/>
          <a:ext cx="2771775" cy="358775"/>
        </p:xfrm>
        <a:graphic>
          <a:graphicData uri="http://schemas.openxmlformats.org/presentationml/2006/ole">
            <p:oleObj spid="_x0000_s14445" name="Equation" r:id="rId10" imgW="1397000" imgH="241300" progId="Equation.DSMT4">
              <p:embed/>
            </p:oleObj>
          </a:graphicData>
        </a:graphic>
      </p:graphicFrame>
      <p:graphicFrame>
        <p:nvGraphicFramePr>
          <p:cNvPr id="2" name="Object 110"/>
          <p:cNvGraphicFramePr>
            <a:graphicFrameLocks noChangeAspect="1"/>
          </p:cNvGraphicFramePr>
          <p:nvPr/>
        </p:nvGraphicFramePr>
        <p:xfrm>
          <a:off x="2963863" y="3651250"/>
          <a:ext cx="3048000" cy="608013"/>
        </p:xfrm>
        <a:graphic>
          <a:graphicData uri="http://schemas.openxmlformats.org/presentationml/2006/ole">
            <p:oleObj spid="_x0000_s14446" name="Equation" r:id="rId11" imgW="1511300" imgH="393700" progId="Equation.DSMT4">
              <p:embed/>
            </p:oleObj>
          </a:graphicData>
        </a:graphic>
      </p:graphicFrame>
      <p:graphicFrame>
        <p:nvGraphicFramePr>
          <p:cNvPr id="157718" name="Object 111"/>
          <p:cNvGraphicFramePr>
            <a:graphicFrameLocks noChangeAspect="1"/>
          </p:cNvGraphicFramePr>
          <p:nvPr/>
        </p:nvGraphicFramePr>
        <p:xfrm>
          <a:off x="4572000" y="2082800"/>
          <a:ext cx="2111375" cy="344488"/>
        </p:xfrm>
        <a:graphic>
          <a:graphicData uri="http://schemas.openxmlformats.org/presentationml/2006/ole">
            <p:oleObj spid="_x0000_s14447" name="Equation" r:id="rId12" imgW="1104900" imgH="241300" progId="Equation.DSMT4">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left)">
                                      <p:cBhvr>
                                        <p:cTn id="17" dur="500"/>
                                        <p:tgtEl>
                                          <p:spTgt spid="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157711"/>
                                        </p:tgtEl>
                                        <p:attrNameLst>
                                          <p:attrName>style.visibility</p:attrName>
                                        </p:attrNameLst>
                                      </p:cBhvr>
                                      <p:to>
                                        <p:strVal val="visible"/>
                                      </p:to>
                                    </p:set>
                                    <p:animEffect transition="in" filter="blinds(horizontal)">
                                      <p:cBhvr>
                                        <p:cTn id="22" dur="500"/>
                                        <p:tgtEl>
                                          <p:spTgt spid="15771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157713"/>
                                        </p:tgtEl>
                                        <p:attrNameLst>
                                          <p:attrName>style.visibility</p:attrName>
                                        </p:attrNameLst>
                                      </p:cBhvr>
                                      <p:to>
                                        <p:strVal val="visible"/>
                                      </p:to>
                                    </p:set>
                                    <p:animEffect transition="in" filter="blinds(horizontal)">
                                      <p:cBhvr>
                                        <p:cTn id="27" dur="500"/>
                                        <p:tgtEl>
                                          <p:spTgt spid="157713"/>
                                        </p:tgtEl>
                                      </p:cBhvr>
                                    </p:animEffect>
                                  </p:childTnLst>
                                </p:cTn>
                              </p:par>
                              <p:par>
                                <p:cTn id="28" presetID="3" presetClass="entr" presetSubtype="10" fill="hold" nodeType="withEffect">
                                  <p:stCondLst>
                                    <p:cond delay="0"/>
                                  </p:stCondLst>
                                  <p:childTnLst>
                                    <p:set>
                                      <p:cBhvr>
                                        <p:cTn id="29" dur="1" fill="hold">
                                          <p:stCondLst>
                                            <p:cond delay="0"/>
                                          </p:stCondLst>
                                        </p:cTn>
                                        <p:tgtEl>
                                          <p:spTgt spid="157712"/>
                                        </p:tgtEl>
                                        <p:attrNameLst>
                                          <p:attrName>style.visibility</p:attrName>
                                        </p:attrNameLst>
                                      </p:cBhvr>
                                      <p:to>
                                        <p:strVal val="visible"/>
                                      </p:to>
                                    </p:set>
                                    <p:animEffect transition="in" filter="blinds(horizontal)">
                                      <p:cBhvr>
                                        <p:cTn id="30" dur="500"/>
                                        <p:tgtEl>
                                          <p:spTgt spid="157712"/>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3" presetClass="entr" presetSubtype="10" fill="hold" nodeType="clickEffect">
                                  <p:stCondLst>
                                    <p:cond delay="0"/>
                                  </p:stCondLst>
                                  <p:childTnLst>
                                    <p:set>
                                      <p:cBhvr>
                                        <p:cTn id="34" dur="1" fill="hold">
                                          <p:stCondLst>
                                            <p:cond delay="0"/>
                                          </p:stCondLst>
                                        </p:cTn>
                                        <p:tgtEl>
                                          <p:spTgt spid="157718"/>
                                        </p:tgtEl>
                                        <p:attrNameLst>
                                          <p:attrName>style.visibility</p:attrName>
                                        </p:attrNameLst>
                                      </p:cBhvr>
                                      <p:to>
                                        <p:strVal val="visible"/>
                                      </p:to>
                                    </p:set>
                                    <p:animEffect transition="in" filter="blinds(horizontal)">
                                      <p:cBhvr>
                                        <p:cTn id="35" dur="500"/>
                                        <p:tgtEl>
                                          <p:spTgt spid="157718"/>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3" presetClass="entr" presetSubtype="10" fill="hold" nodeType="clickEffect">
                                  <p:stCondLst>
                                    <p:cond delay="0"/>
                                  </p:stCondLst>
                                  <p:childTnLst>
                                    <p:set>
                                      <p:cBhvr>
                                        <p:cTn id="39" dur="1" fill="hold">
                                          <p:stCondLst>
                                            <p:cond delay="0"/>
                                          </p:stCondLst>
                                        </p:cTn>
                                        <p:tgtEl>
                                          <p:spTgt spid="6"/>
                                        </p:tgtEl>
                                        <p:attrNameLst>
                                          <p:attrName>style.visibility</p:attrName>
                                        </p:attrNameLst>
                                      </p:cBhvr>
                                      <p:to>
                                        <p:strVal val="visible"/>
                                      </p:to>
                                    </p:set>
                                    <p:animEffect transition="in" filter="blinds(horizontal)">
                                      <p:cBhvr>
                                        <p:cTn id="40" dur="500"/>
                                        <p:tgtEl>
                                          <p:spTgt spid="6"/>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9"/>
                                        </p:tgtEl>
                                        <p:attrNameLst>
                                          <p:attrName>style.visibility</p:attrName>
                                        </p:attrNameLst>
                                      </p:cBhvr>
                                      <p:to>
                                        <p:strVal val="visible"/>
                                      </p:to>
                                    </p:set>
                                    <p:animEffect transition="in" filter="wipe(left)">
                                      <p:cBhvr>
                                        <p:cTn id="45" dur="500"/>
                                        <p:tgtEl>
                                          <p:spTgt spid="9"/>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3" presetClass="entr" presetSubtype="10" fill="hold" nodeType="clickEffect">
                                  <p:stCondLst>
                                    <p:cond delay="0"/>
                                  </p:stCondLst>
                                  <p:childTnLst>
                                    <p:set>
                                      <p:cBhvr>
                                        <p:cTn id="49" dur="1" fill="hold">
                                          <p:stCondLst>
                                            <p:cond delay="0"/>
                                          </p:stCondLst>
                                        </p:cTn>
                                        <p:tgtEl>
                                          <p:spTgt spid="157715"/>
                                        </p:tgtEl>
                                        <p:attrNameLst>
                                          <p:attrName>style.visibility</p:attrName>
                                        </p:attrNameLst>
                                      </p:cBhvr>
                                      <p:to>
                                        <p:strVal val="visible"/>
                                      </p:to>
                                    </p:set>
                                    <p:animEffect transition="in" filter="blinds(horizontal)">
                                      <p:cBhvr>
                                        <p:cTn id="50" dur="500"/>
                                        <p:tgtEl>
                                          <p:spTgt spid="157715"/>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3" presetClass="entr" presetSubtype="10" fill="hold" nodeType="clickEffect">
                                  <p:stCondLst>
                                    <p:cond delay="0"/>
                                  </p:stCondLst>
                                  <p:childTnLst>
                                    <p:set>
                                      <p:cBhvr>
                                        <p:cTn id="54" dur="1" fill="hold">
                                          <p:stCondLst>
                                            <p:cond delay="0"/>
                                          </p:stCondLst>
                                        </p:cTn>
                                        <p:tgtEl>
                                          <p:spTgt spid="157716"/>
                                        </p:tgtEl>
                                        <p:attrNameLst>
                                          <p:attrName>style.visibility</p:attrName>
                                        </p:attrNameLst>
                                      </p:cBhvr>
                                      <p:to>
                                        <p:strVal val="visible"/>
                                      </p:to>
                                    </p:set>
                                    <p:animEffect transition="in" filter="blinds(horizontal)">
                                      <p:cBhvr>
                                        <p:cTn id="55" dur="500"/>
                                        <p:tgtEl>
                                          <p:spTgt spid="157716"/>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8" fill="hold" nodeType="clickEffect">
                                  <p:stCondLst>
                                    <p:cond delay="0"/>
                                  </p:stCondLst>
                                  <p:childTnLst>
                                    <p:set>
                                      <p:cBhvr>
                                        <p:cTn id="59" dur="1" fill="hold">
                                          <p:stCondLst>
                                            <p:cond delay="0"/>
                                          </p:stCondLst>
                                        </p:cTn>
                                        <p:tgtEl>
                                          <p:spTgt spid="2"/>
                                        </p:tgtEl>
                                        <p:attrNameLst>
                                          <p:attrName>style.visibility</p:attrName>
                                        </p:attrNameLst>
                                      </p:cBhvr>
                                      <p:to>
                                        <p:strVal val="visible"/>
                                      </p:to>
                                    </p:set>
                                    <p:animEffect transition="in" filter="wipe(left)">
                                      <p:cBhvr>
                                        <p:cTn id="60" dur="500"/>
                                        <p:tgtEl>
                                          <p:spTgt spid="2"/>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22" presetClass="entr" presetSubtype="8" fill="hold" grpId="0" nodeType="clickEffect">
                                  <p:stCondLst>
                                    <p:cond delay="0"/>
                                  </p:stCondLst>
                                  <p:childTnLst>
                                    <p:set>
                                      <p:cBhvr>
                                        <p:cTn id="64" dur="1" fill="hold">
                                          <p:stCondLst>
                                            <p:cond delay="0"/>
                                          </p:stCondLst>
                                        </p:cTn>
                                        <p:tgtEl>
                                          <p:spTgt spid="16"/>
                                        </p:tgtEl>
                                        <p:attrNameLst>
                                          <p:attrName>style.visibility</p:attrName>
                                        </p:attrNameLst>
                                      </p:cBhvr>
                                      <p:to>
                                        <p:strVal val="visible"/>
                                      </p:to>
                                    </p:set>
                                    <p:animEffect transition="in" filter="wipe(left)">
                                      <p:cBhvr>
                                        <p:cTn id="65" dur="500"/>
                                        <p:tgtEl>
                                          <p:spTgt spid="16"/>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22" presetClass="entr" presetSubtype="8" fill="hold" grpId="0" nodeType="clickEffect">
                                  <p:stCondLst>
                                    <p:cond delay="0"/>
                                  </p:stCondLst>
                                  <p:childTnLst>
                                    <p:set>
                                      <p:cBhvr>
                                        <p:cTn id="69" dur="1" fill="hold">
                                          <p:stCondLst>
                                            <p:cond delay="0"/>
                                          </p:stCondLst>
                                        </p:cTn>
                                        <p:tgtEl>
                                          <p:spTgt spid="17"/>
                                        </p:tgtEl>
                                        <p:attrNameLst>
                                          <p:attrName>style.visibility</p:attrName>
                                        </p:attrNameLst>
                                      </p:cBhvr>
                                      <p:to>
                                        <p:strVal val="visible"/>
                                      </p:to>
                                    </p:set>
                                    <p:animEffect transition="in" filter="wipe(left)">
                                      <p:cBhvr>
                                        <p:cTn id="70" dur="500"/>
                                        <p:tgtEl>
                                          <p:spTgt spid="17"/>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22" presetClass="entr" presetSubtype="8" fill="hold" nodeType="clickEffect">
                                  <p:stCondLst>
                                    <p:cond delay="0"/>
                                  </p:stCondLst>
                                  <p:childTnLst>
                                    <p:set>
                                      <p:cBhvr>
                                        <p:cTn id="74" dur="1" fill="hold">
                                          <p:stCondLst>
                                            <p:cond delay="0"/>
                                          </p:stCondLst>
                                        </p:cTn>
                                        <p:tgtEl>
                                          <p:spTgt spid="18"/>
                                        </p:tgtEl>
                                        <p:attrNameLst>
                                          <p:attrName>style.visibility</p:attrName>
                                        </p:attrNameLst>
                                      </p:cBhvr>
                                      <p:to>
                                        <p:strVal val="visible"/>
                                      </p:to>
                                    </p:set>
                                    <p:animEffect transition="in" filter="wipe(left)">
                                      <p:cBhvr>
                                        <p:cTn id="75"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autoUpdateAnimBg="0"/>
      <p:bldP spid="9" grpId="0" autoUpdateAnimBg="0"/>
      <p:bldP spid="16" grpId="0"/>
      <p:bldP spid="1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8" name="Text Box 4"/>
          <p:cNvSpPr txBox="1">
            <a:spLocks noChangeArrowheads="1"/>
          </p:cNvSpPr>
          <p:nvPr/>
        </p:nvSpPr>
        <p:spPr bwMode="auto">
          <a:xfrm>
            <a:off x="3913188" y="1289050"/>
            <a:ext cx="2530475" cy="368300"/>
          </a:xfrm>
          <a:prstGeom prst="rect">
            <a:avLst/>
          </a:prstGeom>
          <a:noFill/>
          <a:ln w="9525">
            <a:noFill/>
            <a:miter lim="800000"/>
            <a:headEnd/>
            <a:tailEnd/>
          </a:ln>
        </p:spPr>
        <p:txBody>
          <a:bodyPr>
            <a:spAutoFit/>
          </a:bodyPr>
          <a:lstStyle/>
          <a:p>
            <a:r>
              <a:rPr kumimoji="1" lang="en-US" altLang="zh-CN" b="1">
                <a:solidFill>
                  <a:srgbClr val="000000"/>
                </a:solidFill>
                <a:latin typeface="华文中宋"/>
                <a:ea typeface="华文中宋"/>
                <a:cs typeface="华文中宋"/>
              </a:rPr>
              <a:t> </a:t>
            </a:r>
            <a:r>
              <a:rPr kumimoji="1" lang="zh-CN" altLang="en-US" b="1">
                <a:solidFill>
                  <a:srgbClr val="000000"/>
                </a:solidFill>
                <a:latin typeface="华文中宋"/>
                <a:ea typeface="华文中宋"/>
                <a:cs typeface="华文中宋"/>
              </a:rPr>
              <a:t>或绝热系数  </a:t>
            </a:r>
            <a:r>
              <a:rPr kumimoji="1" lang="en-US" altLang="zh-CN" b="1">
                <a:solidFill>
                  <a:srgbClr val="0000FF"/>
                </a:solidFill>
                <a:latin typeface="华文中宋"/>
                <a:ea typeface="华文中宋"/>
                <a:cs typeface="华文中宋"/>
                <a:sym typeface="Symbol" pitchFamily="18" charset="2"/>
              </a:rPr>
              <a:t>(</a:t>
            </a:r>
            <a:r>
              <a:rPr kumimoji="1" lang="zh-CN" altLang="en-US" b="1" u="sng">
                <a:solidFill>
                  <a:srgbClr val="0000FF"/>
                </a:solidFill>
                <a:latin typeface="华文中宋"/>
                <a:ea typeface="华文中宋"/>
                <a:cs typeface="华文中宋"/>
              </a:rPr>
              <a:t>泊松比</a:t>
            </a:r>
            <a:r>
              <a:rPr kumimoji="1" lang="en-US" altLang="zh-CN" b="1" u="sng">
                <a:solidFill>
                  <a:srgbClr val="0000FF"/>
                </a:solidFill>
                <a:latin typeface="华文中宋"/>
                <a:ea typeface="华文中宋"/>
                <a:cs typeface="华文中宋"/>
              </a:rPr>
              <a:t>)</a:t>
            </a:r>
          </a:p>
        </p:txBody>
      </p:sp>
      <p:graphicFrame>
        <p:nvGraphicFramePr>
          <p:cNvPr id="88069" name="Object 42"/>
          <p:cNvGraphicFramePr>
            <a:graphicFrameLocks noChangeAspect="1"/>
          </p:cNvGraphicFramePr>
          <p:nvPr/>
        </p:nvGraphicFramePr>
        <p:xfrm>
          <a:off x="2738438" y="1163638"/>
          <a:ext cx="1185862" cy="633412"/>
        </p:xfrm>
        <a:graphic>
          <a:graphicData uri="http://schemas.openxmlformats.org/presentationml/2006/ole">
            <p:oleObj spid="_x0000_s15402" name="Equation" r:id="rId3" imgW="482391" imgH="342751" progId="Equation.DSMT4">
              <p:embed/>
            </p:oleObj>
          </a:graphicData>
        </a:graphic>
      </p:graphicFrame>
      <p:sp>
        <p:nvSpPr>
          <p:cNvPr id="88071" name="Text Box 7"/>
          <p:cNvSpPr txBox="1">
            <a:spLocks noChangeArrowheads="1"/>
          </p:cNvSpPr>
          <p:nvPr/>
        </p:nvSpPr>
        <p:spPr bwMode="auto">
          <a:xfrm>
            <a:off x="730250" y="806450"/>
            <a:ext cx="1825625" cy="396875"/>
          </a:xfrm>
          <a:prstGeom prst="rect">
            <a:avLst/>
          </a:prstGeom>
          <a:noFill/>
          <a:ln w="9525">
            <a:noFill/>
            <a:miter lim="800000"/>
            <a:headEnd/>
            <a:tailEnd/>
          </a:ln>
        </p:spPr>
        <p:txBody>
          <a:bodyPr>
            <a:spAutoFit/>
          </a:bodyPr>
          <a:lstStyle/>
          <a:p>
            <a:pPr>
              <a:lnSpc>
                <a:spcPct val="110000"/>
              </a:lnSpc>
            </a:pPr>
            <a:r>
              <a:rPr kumimoji="1" lang="en-US" altLang="zh-CN" b="1">
                <a:solidFill>
                  <a:srgbClr val="0000FF"/>
                </a:solidFill>
                <a:latin typeface="华文中宋"/>
                <a:ea typeface="华文中宋"/>
                <a:cs typeface="华文中宋"/>
              </a:rPr>
              <a:t>3</a:t>
            </a:r>
            <a:r>
              <a:rPr kumimoji="1" lang="zh-CN" altLang="en-US" b="1">
                <a:solidFill>
                  <a:srgbClr val="0000FF"/>
                </a:solidFill>
                <a:latin typeface="华文中宋"/>
                <a:ea typeface="华文中宋"/>
                <a:cs typeface="华文中宋"/>
              </a:rPr>
              <a:t>、比热容比</a:t>
            </a:r>
          </a:p>
        </p:txBody>
      </p:sp>
      <p:sp>
        <p:nvSpPr>
          <p:cNvPr id="88073" name="Text Box 9"/>
          <p:cNvSpPr txBox="1">
            <a:spLocks noChangeArrowheads="1"/>
          </p:cNvSpPr>
          <p:nvPr/>
        </p:nvSpPr>
        <p:spPr bwMode="auto">
          <a:xfrm>
            <a:off x="1433513" y="2132013"/>
            <a:ext cx="4867275" cy="369887"/>
          </a:xfrm>
          <a:prstGeom prst="rect">
            <a:avLst/>
          </a:prstGeom>
          <a:noFill/>
          <a:ln w="9525">
            <a:noFill/>
            <a:miter lim="800000"/>
            <a:headEnd/>
            <a:tailEnd/>
          </a:ln>
        </p:spPr>
        <p:txBody>
          <a:bodyPr>
            <a:spAutoFit/>
          </a:bodyPr>
          <a:lstStyle/>
          <a:p>
            <a:r>
              <a:rPr kumimoji="1" lang="zh-CN" altLang="en-US" b="1">
                <a:solidFill>
                  <a:srgbClr val="000000"/>
                </a:solidFill>
                <a:latin typeface="华文中宋"/>
                <a:ea typeface="华文中宋"/>
                <a:cs typeface="华文中宋"/>
              </a:rPr>
              <a:t>理想气体：</a:t>
            </a:r>
          </a:p>
        </p:txBody>
      </p:sp>
      <p:graphicFrame>
        <p:nvGraphicFramePr>
          <p:cNvPr id="87071" name="Object 43"/>
          <p:cNvGraphicFramePr>
            <a:graphicFrameLocks noChangeAspect="1"/>
          </p:cNvGraphicFramePr>
          <p:nvPr/>
        </p:nvGraphicFramePr>
        <p:xfrm>
          <a:off x="2755900" y="2046288"/>
          <a:ext cx="1671638" cy="571500"/>
        </p:xfrm>
        <a:graphic>
          <a:graphicData uri="http://schemas.openxmlformats.org/presentationml/2006/ole">
            <p:oleObj spid="_x0000_s15403" name="Equation" r:id="rId4" imgW="736600" imgH="292100" progId="Equation.DSMT4">
              <p:embed/>
            </p:oleObj>
          </a:graphicData>
        </a:graphic>
      </p:graphicFrame>
      <p:graphicFrame>
        <p:nvGraphicFramePr>
          <p:cNvPr id="10" name="Object 44"/>
          <p:cNvGraphicFramePr>
            <a:graphicFrameLocks noChangeAspect="1"/>
          </p:cNvGraphicFramePr>
          <p:nvPr/>
        </p:nvGraphicFramePr>
        <p:xfrm>
          <a:off x="2916238" y="2727325"/>
          <a:ext cx="3132137" cy="996950"/>
        </p:xfrm>
        <a:graphic>
          <a:graphicData uri="http://schemas.openxmlformats.org/presentationml/2006/ole">
            <p:oleObj spid="_x0000_s15404" name="公式" r:id="rId5" imgW="1256755" imgH="533169" progId="Equation.3">
              <p:embed/>
            </p:oleObj>
          </a:graphicData>
        </a:graphic>
      </p:graphicFrame>
      <p:sp>
        <p:nvSpPr>
          <p:cNvPr id="11" name="Text Box 13"/>
          <p:cNvSpPr txBox="1">
            <a:spLocks noChangeArrowheads="1"/>
          </p:cNvSpPr>
          <p:nvPr/>
        </p:nvSpPr>
        <p:spPr bwMode="auto">
          <a:xfrm>
            <a:off x="2555875" y="4046538"/>
            <a:ext cx="1511300" cy="396875"/>
          </a:xfrm>
          <a:prstGeom prst="rect">
            <a:avLst/>
          </a:prstGeom>
          <a:noFill/>
          <a:ln w="9525">
            <a:noFill/>
            <a:miter lim="800000"/>
            <a:headEnd/>
            <a:tailEnd/>
          </a:ln>
        </p:spPr>
        <p:txBody>
          <a:bodyPr>
            <a:spAutoFit/>
          </a:bodyPr>
          <a:lstStyle/>
          <a:p>
            <a:pPr>
              <a:lnSpc>
                <a:spcPct val="110000"/>
              </a:lnSpc>
            </a:pPr>
            <a:r>
              <a:rPr kumimoji="1" lang="en-US" altLang="zh-CN" b="1">
                <a:solidFill>
                  <a:srgbClr val="000000"/>
                </a:solidFill>
                <a:latin typeface="华文中宋"/>
                <a:ea typeface="华文中宋"/>
                <a:cs typeface="华文中宋"/>
              </a:rPr>
              <a:t> </a:t>
            </a:r>
            <a:r>
              <a:rPr kumimoji="1" lang="en-US" altLang="zh-CN" b="1" i="1">
                <a:solidFill>
                  <a:srgbClr val="000000"/>
                </a:solidFill>
                <a:latin typeface="华文中宋"/>
                <a:ea typeface="华文中宋"/>
                <a:cs typeface="华文中宋"/>
                <a:sym typeface="Symbol" pitchFamily="18" charset="2"/>
              </a:rPr>
              <a:t></a:t>
            </a:r>
            <a:r>
              <a:rPr kumimoji="1" lang="en-US" altLang="zh-CN" b="1">
                <a:solidFill>
                  <a:srgbClr val="000000"/>
                </a:solidFill>
                <a:latin typeface="华文中宋"/>
                <a:ea typeface="华文中宋"/>
                <a:cs typeface="华文中宋"/>
                <a:sym typeface="Symbol" pitchFamily="18" charset="2"/>
              </a:rPr>
              <a:t> </a:t>
            </a:r>
            <a:r>
              <a:rPr kumimoji="1" lang="zh-CN" altLang="en-US" b="1">
                <a:solidFill>
                  <a:srgbClr val="000000"/>
                </a:solidFill>
                <a:latin typeface="华文中宋"/>
                <a:ea typeface="华文中宋"/>
                <a:cs typeface="华文中宋"/>
              </a:rPr>
              <a:t>的理论值：</a:t>
            </a:r>
          </a:p>
        </p:txBody>
      </p:sp>
      <p:graphicFrame>
        <p:nvGraphicFramePr>
          <p:cNvPr id="2" name="Object 45"/>
          <p:cNvGraphicFramePr>
            <a:graphicFrameLocks noChangeAspect="1"/>
          </p:cNvGraphicFramePr>
          <p:nvPr/>
        </p:nvGraphicFramePr>
        <p:xfrm>
          <a:off x="4572000" y="2066925"/>
          <a:ext cx="1223963" cy="566738"/>
        </p:xfrm>
        <a:graphic>
          <a:graphicData uri="http://schemas.openxmlformats.org/presentationml/2006/ole">
            <p:oleObj spid="_x0000_s15405" name="公式" r:id="rId6" imgW="558558" imgH="291973" progId="Equation.3">
              <p:embed/>
            </p:oleObj>
          </a:graphicData>
        </a:graphic>
      </p:graphicFrame>
      <p:grpSp>
        <p:nvGrpSpPr>
          <p:cNvPr id="3" name="Group 17"/>
          <p:cNvGrpSpPr>
            <a:grpSpLocks/>
          </p:cNvGrpSpPr>
          <p:nvPr/>
        </p:nvGrpSpPr>
        <p:grpSpPr bwMode="auto">
          <a:xfrm>
            <a:off x="4079875" y="3652838"/>
            <a:ext cx="2363788" cy="1006475"/>
            <a:chOff x="2933" y="2931"/>
            <a:chExt cx="1489" cy="845"/>
          </a:xfrm>
        </p:grpSpPr>
        <p:sp>
          <p:nvSpPr>
            <p:cNvPr id="15411" name="矩形 13"/>
            <p:cNvSpPr>
              <a:spLocks noChangeArrowheads="1"/>
            </p:cNvSpPr>
            <p:nvPr/>
          </p:nvSpPr>
          <p:spPr bwMode="auto">
            <a:xfrm>
              <a:off x="2933" y="3196"/>
              <a:ext cx="400" cy="388"/>
            </a:xfrm>
            <a:prstGeom prst="rect">
              <a:avLst/>
            </a:prstGeom>
            <a:noFill/>
            <a:ln w="9525">
              <a:noFill/>
              <a:miter lim="800000"/>
              <a:headEnd/>
              <a:tailEnd/>
            </a:ln>
          </p:spPr>
          <p:txBody>
            <a:bodyPr>
              <a:spAutoFit/>
            </a:bodyPr>
            <a:lstStyle/>
            <a:p>
              <a:r>
                <a:rPr kumimoji="1" lang="en-US" altLang="zh-CN" sz="2400" b="1" i="1">
                  <a:solidFill>
                    <a:srgbClr val="000000"/>
                  </a:solidFill>
                  <a:latin typeface="Times New Roman" pitchFamily="18" charset="0"/>
                  <a:sym typeface="Symbol" pitchFamily="18" charset="2"/>
                </a:rPr>
                <a:t> =</a:t>
              </a:r>
              <a:r>
                <a:rPr kumimoji="1" lang="en-US" altLang="zh-CN" sz="2400" b="1">
                  <a:solidFill>
                    <a:srgbClr val="000000"/>
                  </a:solidFill>
                  <a:latin typeface="Times New Roman" pitchFamily="18" charset="0"/>
                  <a:sym typeface="Symbol" pitchFamily="18" charset="2"/>
                </a:rPr>
                <a:t> </a:t>
              </a:r>
              <a:endParaRPr lang="en-US" altLang="zh-CN" sz="2400" b="1">
                <a:solidFill>
                  <a:srgbClr val="000000"/>
                </a:solidFill>
                <a:latin typeface="Times New Roman" pitchFamily="18" charset="0"/>
              </a:endParaRPr>
            </a:p>
          </p:txBody>
        </p:sp>
        <p:sp>
          <p:nvSpPr>
            <p:cNvPr id="15412" name="Text Box 13"/>
            <p:cNvSpPr txBox="1">
              <a:spLocks noChangeArrowheads="1"/>
            </p:cNvSpPr>
            <p:nvPr/>
          </p:nvSpPr>
          <p:spPr bwMode="auto">
            <a:xfrm>
              <a:off x="3444" y="2931"/>
              <a:ext cx="978" cy="845"/>
            </a:xfrm>
            <a:prstGeom prst="rect">
              <a:avLst/>
            </a:prstGeom>
            <a:noFill/>
            <a:ln w="9525">
              <a:noFill/>
              <a:miter lim="800000"/>
              <a:headEnd/>
              <a:tailEnd/>
            </a:ln>
          </p:spPr>
          <p:txBody>
            <a:bodyPr>
              <a:spAutoFit/>
            </a:bodyPr>
            <a:lstStyle/>
            <a:p>
              <a:pPr>
                <a:lnSpc>
                  <a:spcPct val="110000"/>
                </a:lnSpc>
              </a:pPr>
              <a:r>
                <a:rPr kumimoji="1" lang="en-US" altLang="zh-CN" b="1">
                  <a:solidFill>
                    <a:srgbClr val="000000"/>
                  </a:solidFill>
                  <a:latin typeface="Times New Roman" pitchFamily="18" charset="0"/>
                </a:rPr>
                <a:t>1.67, </a:t>
              </a:r>
              <a:r>
                <a:rPr kumimoji="1" lang="en-US" altLang="zh-CN" b="1" i="1">
                  <a:solidFill>
                    <a:srgbClr val="000000"/>
                  </a:solidFill>
                  <a:latin typeface="Times New Roman" pitchFamily="18" charset="0"/>
                </a:rPr>
                <a:t>i</a:t>
              </a:r>
              <a:r>
                <a:rPr kumimoji="1" lang="en-US" altLang="zh-CN" b="1">
                  <a:solidFill>
                    <a:srgbClr val="000000"/>
                  </a:solidFill>
                  <a:latin typeface="Times New Roman" pitchFamily="18" charset="0"/>
                </a:rPr>
                <a:t>=3</a:t>
              </a:r>
            </a:p>
            <a:p>
              <a:pPr>
                <a:lnSpc>
                  <a:spcPct val="110000"/>
                </a:lnSpc>
              </a:pPr>
              <a:r>
                <a:rPr kumimoji="1" lang="en-US" altLang="zh-CN" b="1">
                  <a:solidFill>
                    <a:srgbClr val="000000"/>
                  </a:solidFill>
                  <a:latin typeface="Times New Roman" pitchFamily="18" charset="0"/>
                </a:rPr>
                <a:t>1.40, </a:t>
              </a:r>
              <a:r>
                <a:rPr kumimoji="1" lang="en-US" altLang="zh-CN" b="1" i="1">
                  <a:solidFill>
                    <a:srgbClr val="000000"/>
                  </a:solidFill>
                  <a:latin typeface="Times New Roman" pitchFamily="18" charset="0"/>
                </a:rPr>
                <a:t>i</a:t>
              </a:r>
              <a:r>
                <a:rPr kumimoji="1" lang="en-US" altLang="zh-CN" b="1">
                  <a:solidFill>
                    <a:srgbClr val="000000"/>
                  </a:solidFill>
                  <a:latin typeface="Times New Roman" pitchFamily="18" charset="0"/>
                </a:rPr>
                <a:t>=5</a:t>
              </a:r>
            </a:p>
            <a:p>
              <a:pPr>
                <a:lnSpc>
                  <a:spcPct val="110000"/>
                </a:lnSpc>
              </a:pPr>
              <a:r>
                <a:rPr kumimoji="1" lang="en-US" altLang="zh-CN" b="1">
                  <a:solidFill>
                    <a:srgbClr val="000000"/>
                  </a:solidFill>
                  <a:latin typeface="Times New Roman" pitchFamily="18" charset="0"/>
                </a:rPr>
                <a:t>1.33, </a:t>
              </a:r>
              <a:r>
                <a:rPr kumimoji="1" lang="en-US" altLang="zh-CN" b="1" i="1">
                  <a:solidFill>
                    <a:srgbClr val="000000"/>
                  </a:solidFill>
                  <a:latin typeface="Times New Roman" pitchFamily="18" charset="0"/>
                </a:rPr>
                <a:t>i</a:t>
              </a:r>
              <a:r>
                <a:rPr kumimoji="1" lang="en-US" altLang="zh-CN" b="1">
                  <a:solidFill>
                    <a:srgbClr val="000000"/>
                  </a:solidFill>
                  <a:latin typeface="Times New Roman" pitchFamily="18" charset="0"/>
                </a:rPr>
                <a:t>=6</a:t>
              </a:r>
            </a:p>
          </p:txBody>
        </p:sp>
        <p:sp>
          <p:nvSpPr>
            <p:cNvPr id="15413" name="AutoShape 16"/>
            <p:cNvSpPr>
              <a:spLocks/>
            </p:cNvSpPr>
            <p:nvPr/>
          </p:nvSpPr>
          <p:spPr bwMode="auto">
            <a:xfrm>
              <a:off x="3379" y="3113"/>
              <a:ext cx="45" cy="499"/>
            </a:xfrm>
            <a:prstGeom prst="leftBrace">
              <a:avLst>
                <a:gd name="adj1" fmla="val 92407"/>
                <a:gd name="adj2" fmla="val 50000"/>
              </a:avLst>
            </a:prstGeom>
            <a:noFill/>
            <a:ln w="25400">
              <a:solidFill>
                <a:schemeClr val="tx1"/>
              </a:solidFill>
              <a:round/>
              <a:headEnd/>
              <a:tailEnd/>
            </a:ln>
          </p:spPr>
          <p:txBody>
            <a:bodyPr wrap="none" anchor="ctr"/>
            <a:lstStyle/>
            <a:p>
              <a:endParaRPr kumimoji="1" lang="zh-CN" altLang="en-US" sz="2400" b="1">
                <a:solidFill>
                  <a:srgbClr val="000000"/>
                </a:solidFill>
                <a:latin typeface="Times New Roman" pitchFamily="18" charset="0"/>
                <a:ea typeface="华文中宋"/>
                <a:cs typeface="华文中宋"/>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8071"/>
                                        </p:tgtEl>
                                        <p:attrNameLst>
                                          <p:attrName>style.visibility</p:attrName>
                                        </p:attrNameLst>
                                      </p:cBhvr>
                                      <p:to>
                                        <p:strVal val="visible"/>
                                      </p:to>
                                    </p:set>
                                    <p:animEffect transition="in" filter="wipe(left)">
                                      <p:cBhvr>
                                        <p:cTn id="7" dur="500"/>
                                        <p:tgtEl>
                                          <p:spTgt spid="8807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88069"/>
                                        </p:tgtEl>
                                        <p:attrNameLst>
                                          <p:attrName>style.visibility</p:attrName>
                                        </p:attrNameLst>
                                      </p:cBhvr>
                                      <p:to>
                                        <p:strVal val="visible"/>
                                      </p:to>
                                    </p:set>
                                    <p:animEffect transition="in" filter="wipe(left)">
                                      <p:cBhvr>
                                        <p:cTn id="12" dur="500"/>
                                        <p:tgtEl>
                                          <p:spTgt spid="8806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8068"/>
                                        </p:tgtEl>
                                        <p:attrNameLst>
                                          <p:attrName>style.visibility</p:attrName>
                                        </p:attrNameLst>
                                      </p:cBhvr>
                                      <p:to>
                                        <p:strVal val="visible"/>
                                      </p:to>
                                    </p:set>
                                    <p:animEffect transition="in" filter="wipe(left)">
                                      <p:cBhvr>
                                        <p:cTn id="17" dur="500"/>
                                        <p:tgtEl>
                                          <p:spTgt spid="8806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88073"/>
                                        </p:tgtEl>
                                        <p:attrNameLst>
                                          <p:attrName>style.visibility</p:attrName>
                                        </p:attrNameLst>
                                      </p:cBhvr>
                                      <p:to>
                                        <p:strVal val="visible"/>
                                      </p:to>
                                    </p:set>
                                    <p:animEffect transition="in" filter="wipe(left)">
                                      <p:cBhvr>
                                        <p:cTn id="22" dur="500"/>
                                        <p:tgtEl>
                                          <p:spTgt spid="8807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87071"/>
                                        </p:tgtEl>
                                        <p:attrNameLst>
                                          <p:attrName>style.visibility</p:attrName>
                                        </p:attrNameLst>
                                      </p:cBhvr>
                                      <p:to>
                                        <p:strVal val="visible"/>
                                      </p:to>
                                    </p:set>
                                    <p:animEffect transition="in" filter="wipe(left)">
                                      <p:cBhvr>
                                        <p:cTn id="27" dur="500"/>
                                        <p:tgtEl>
                                          <p:spTgt spid="8707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wipe(left)">
                                      <p:cBhvr>
                                        <p:cTn id="32" dur="500"/>
                                        <p:tgtEl>
                                          <p:spTgt spid="2"/>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wipe(left)">
                                      <p:cBhvr>
                                        <p:cTn id="37" dur="500"/>
                                        <p:tgtEl>
                                          <p:spTgt spid="10"/>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1">
                                            <p:txEl>
                                              <p:pRg st="0" end="0"/>
                                            </p:txEl>
                                          </p:spTgt>
                                        </p:tgtEl>
                                        <p:attrNameLst>
                                          <p:attrName>style.visibility</p:attrName>
                                        </p:attrNameLst>
                                      </p:cBhvr>
                                      <p:to>
                                        <p:strVal val="visible"/>
                                      </p:to>
                                    </p:set>
                                    <p:animEffect transition="in" filter="wipe(left)">
                                      <p:cBhvr>
                                        <p:cTn id="42" dur="500"/>
                                        <p:tgtEl>
                                          <p:spTgt spid="11">
                                            <p:txEl>
                                              <p:pRg st="0" end="0"/>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nodeType="clickEffect">
                                  <p:stCondLst>
                                    <p:cond delay="0"/>
                                  </p:stCondLst>
                                  <p:childTnLst>
                                    <p:set>
                                      <p:cBhvr>
                                        <p:cTn id="46" dur="1" fill="hold">
                                          <p:stCondLst>
                                            <p:cond delay="0"/>
                                          </p:stCondLst>
                                        </p:cTn>
                                        <p:tgtEl>
                                          <p:spTgt spid="3"/>
                                        </p:tgtEl>
                                        <p:attrNameLst>
                                          <p:attrName>style.visibility</p:attrName>
                                        </p:attrNameLst>
                                      </p:cBhvr>
                                      <p:to>
                                        <p:strVal val="visible"/>
                                      </p:to>
                                    </p:set>
                                    <p:animEffect transition="in" filter="blinds(horizontal)">
                                      <p:cBhvr>
                                        <p:cTn id="4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068" grpId="0" autoUpdateAnimBg="0"/>
      <p:bldP spid="88071" grpId="0" autoUpdateAnimBg="0"/>
      <p:bldP spid="88073" grpId="0" autoUpdateAnimBg="0"/>
      <p:bldP spid="11"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8" name="Text Box 4"/>
          <p:cNvSpPr txBox="1">
            <a:spLocks noChangeArrowheads="1"/>
          </p:cNvSpPr>
          <p:nvPr/>
        </p:nvSpPr>
        <p:spPr bwMode="auto">
          <a:xfrm>
            <a:off x="2484438" y="762000"/>
            <a:ext cx="4146550" cy="369888"/>
          </a:xfrm>
          <a:prstGeom prst="rect">
            <a:avLst/>
          </a:prstGeom>
          <a:noFill/>
          <a:ln w="9525">
            <a:noFill/>
            <a:miter lim="800000"/>
            <a:headEnd/>
            <a:tailEnd/>
          </a:ln>
        </p:spPr>
        <p:txBody>
          <a:bodyPr>
            <a:spAutoFit/>
          </a:bodyPr>
          <a:lstStyle/>
          <a:p>
            <a:pPr algn="ctr"/>
            <a:r>
              <a:rPr kumimoji="1" lang="zh-CN" altLang="en-US" b="1">
                <a:solidFill>
                  <a:srgbClr val="FF0000"/>
                </a:solidFill>
                <a:latin typeface="华文中宋"/>
                <a:ea typeface="华文中宋"/>
                <a:cs typeface="华文中宋"/>
                <a:sym typeface="Symbol" pitchFamily="18" charset="2"/>
              </a:rPr>
              <a:t>室温下</a:t>
            </a:r>
            <a:r>
              <a:rPr kumimoji="1" lang="zh-CN" altLang="en-US" b="1">
                <a:solidFill>
                  <a:srgbClr val="FF0000"/>
                </a:solidFill>
                <a:latin typeface="华文中宋"/>
                <a:ea typeface="华文中宋"/>
                <a:cs typeface="华文中宋"/>
              </a:rPr>
              <a:t>理论值与实验值的比较</a:t>
            </a:r>
          </a:p>
        </p:txBody>
      </p:sp>
      <p:graphicFrame>
        <p:nvGraphicFramePr>
          <p:cNvPr id="159821" name="Group 77"/>
          <p:cNvGraphicFramePr>
            <a:graphicFrameLocks noGrp="1"/>
          </p:cNvGraphicFramePr>
          <p:nvPr/>
        </p:nvGraphicFramePr>
        <p:xfrm>
          <a:off x="1517650" y="1147763"/>
          <a:ext cx="6126163" cy="2287587"/>
        </p:xfrm>
        <a:graphic>
          <a:graphicData uri="http://schemas.openxmlformats.org/drawingml/2006/table">
            <a:tbl>
              <a:tblPr/>
              <a:tblGrid>
                <a:gridCol w="869950"/>
                <a:gridCol w="906463"/>
                <a:gridCol w="946150"/>
                <a:gridCol w="754062"/>
                <a:gridCol w="947738"/>
                <a:gridCol w="871537"/>
                <a:gridCol w="830263"/>
              </a:tblGrid>
              <a:tr h="281907">
                <a:tc row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en-US" altLang="zh-CN" sz="1400" b="1" i="0" u="none" strike="noStrike" cap="none" normalizeH="0" baseline="0" dirty="0" smtClean="0">
                        <a:ln>
                          <a:noFill/>
                        </a:ln>
                        <a:solidFill>
                          <a:srgbClr val="0000FF"/>
                        </a:solidFill>
                        <a:effectLst/>
                        <a:latin typeface="Times New Roman" pitchFamily="18" charset="0"/>
                        <a:ea typeface="华文中宋" pitchFamily="2" charset="-122"/>
                        <a:cs typeface="Times New Roman" pitchFamily="18" charset="0"/>
                      </a:endParaRPr>
                    </a:p>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400" b="1" i="0" u="none" strike="noStrike" cap="none" normalizeH="0" baseline="0" dirty="0" smtClean="0">
                          <a:ln>
                            <a:noFill/>
                          </a:ln>
                          <a:solidFill>
                            <a:srgbClr val="0000FF"/>
                          </a:solidFill>
                          <a:effectLst/>
                          <a:latin typeface="Times New Roman" pitchFamily="18" charset="0"/>
                          <a:ea typeface="华文中宋" pitchFamily="2" charset="-122"/>
                          <a:cs typeface="Times New Roman" pitchFamily="18" charset="0"/>
                        </a:rPr>
                        <a:t>气  体</a:t>
                      </a:r>
                    </a:p>
                  </a:txBody>
                  <a:tcPr marL="91437" marR="91437" marT="34275" marB="34275" horzOverflow="overflow">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noFill/>
                  </a:tcPr>
                </a:tc>
                <a:tc gridSpan="3">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400" b="1" i="0" u="none" strike="noStrike" cap="none" normalizeH="0" baseline="0" smtClean="0">
                          <a:ln>
                            <a:noFill/>
                          </a:ln>
                          <a:solidFill>
                            <a:srgbClr val="0000FF"/>
                          </a:solidFill>
                          <a:effectLst/>
                          <a:latin typeface="Times New Roman" pitchFamily="18" charset="0"/>
                          <a:ea typeface="华文中宋" pitchFamily="2" charset="-122"/>
                          <a:cs typeface="Times New Roman" pitchFamily="18" charset="0"/>
                        </a:rPr>
                        <a:t>         </a:t>
                      </a:r>
                      <a:r>
                        <a:rPr kumimoji="1" lang="zh-CN" altLang="en-US" sz="1400" b="1" i="0" u="none" strike="noStrike" cap="none" normalizeH="0" baseline="0" smtClean="0">
                          <a:ln>
                            <a:noFill/>
                          </a:ln>
                          <a:solidFill>
                            <a:srgbClr val="0000FF"/>
                          </a:solidFill>
                          <a:effectLst/>
                          <a:latin typeface="Times New Roman" pitchFamily="18" charset="0"/>
                          <a:ea typeface="华文中宋" pitchFamily="2" charset="-122"/>
                          <a:cs typeface="Times New Roman" pitchFamily="18" charset="0"/>
                        </a:rPr>
                        <a:t>理论值</a:t>
                      </a:r>
                    </a:p>
                  </a:txBody>
                  <a:tcPr marL="91437" marR="91437" marT="34275" marB="34275" horzOverflow="overflow">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gridSpan="3">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400" b="1" i="0" u="none" strike="noStrike" cap="none" normalizeH="0" baseline="0" smtClean="0">
                          <a:ln>
                            <a:noFill/>
                          </a:ln>
                          <a:solidFill>
                            <a:srgbClr val="0000FF"/>
                          </a:solidFill>
                          <a:effectLst/>
                          <a:latin typeface="Times New Roman" pitchFamily="18" charset="0"/>
                          <a:ea typeface="华文中宋" pitchFamily="2" charset="-122"/>
                          <a:cs typeface="Times New Roman" pitchFamily="18" charset="0"/>
                        </a:rPr>
                        <a:t>           </a:t>
                      </a:r>
                      <a:r>
                        <a:rPr kumimoji="1" lang="zh-CN" altLang="en-US" sz="1400" b="1" i="0" u="none" strike="noStrike" cap="none" normalizeH="0" baseline="0" smtClean="0">
                          <a:ln>
                            <a:noFill/>
                          </a:ln>
                          <a:solidFill>
                            <a:srgbClr val="0000FF"/>
                          </a:solidFill>
                          <a:effectLst/>
                          <a:latin typeface="Times New Roman" pitchFamily="18" charset="0"/>
                          <a:ea typeface="华文中宋" pitchFamily="2" charset="-122"/>
                          <a:cs typeface="Times New Roman" pitchFamily="18" charset="0"/>
                        </a:rPr>
                        <a:t>实验值</a:t>
                      </a:r>
                    </a:p>
                  </a:txBody>
                  <a:tcPr marL="91437" marR="91437" marT="34275" marB="34275" horzOverflow="overflow">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r>
              <a:tr h="281907">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400" b="1" i="0" u="none" strike="noStrike" cap="none" normalizeH="0" baseline="0" dirty="0" smtClean="0">
                          <a:ln>
                            <a:noFill/>
                          </a:ln>
                          <a:solidFill>
                            <a:schemeClr val="tx1"/>
                          </a:solidFill>
                          <a:effectLst/>
                          <a:latin typeface="Times New Roman" pitchFamily="18" charset="0"/>
                          <a:ea typeface="华文中宋" pitchFamily="2" charset="-122"/>
                          <a:cs typeface="Times New Roman" pitchFamily="18" charset="0"/>
                        </a:rPr>
                        <a:t>C</a:t>
                      </a:r>
                      <a:r>
                        <a:rPr kumimoji="1" lang="en-US" altLang="zh-CN" sz="1400" b="1" i="0" u="none" strike="noStrike" cap="none" normalizeH="0" baseline="-25000" dirty="0" smtClean="0">
                          <a:ln>
                            <a:noFill/>
                          </a:ln>
                          <a:solidFill>
                            <a:schemeClr val="tx1"/>
                          </a:solidFill>
                          <a:effectLst/>
                          <a:latin typeface="Times New Roman" pitchFamily="18" charset="0"/>
                          <a:ea typeface="华文中宋" pitchFamily="2" charset="-122"/>
                          <a:cs typeface="Times New Roman" pitchFamily="18" charset="0"/>
                        </a:rPr>
                        <a:t>V </a:t>
                      </a:r>
                      <a:r>
                        <a:rPr kumimoji="1" lang="en-US" altLang="zh-CN" sz="1400" b="1" i="0" u="none" strike="noStrike" cap="none" normalizeH="0" baseline="0" dirty="0" smtClean="0">
                          <a:ln>
                            <a:noFill/>
                          </a:ln>
                          <a:solidFill>
                            <a:schemeClr val="tx1"/>
                          </a:solidFill>
                          <a:effectLst/>
                          <a:latin typeface="Times New Roman" pitchFamily="18" charset="0"/>
                          <a:ea typeface="华文中宋" pitchFamily="2" charset="-122"/>
                          <a:cs typeface="Times New Roman" pitchFamily="18" charset="0"/>
                        </a:rPr>
                        <a:t>/ R</a:t>
                      </a:r>
                      <a:endParaRPr kumimoji="1" lang="en-US" altLang="zh-CN" sz="1400" b="1" i="1" u="none" strike="noStrike" cap="none" normalizeH="0" baseline="0" dirty="0" smtClean="0">
                        <a:ln>
                          <a:noFill/>
                        </a:ln>
                        <a:solidFill>
                          <a:schemeClr val="tx1"/>
                        </a:solidFill>
                        <a:effectLst/>
                        <a:latin typeface="Times New Roman" pitchFamily="18" charset="0"/>
                        <a:ea typeface="华文中宋" pitchFamily="2" charset="-122"/>
                        <a:cs typeface="Times New Roman" pitchFamily="18" charset="0"/>
                      </a:endParaRPr>
                    </a:p>
                  </a:txBody>
                  <a:tcPr marL="91437" marR="91437" marT="34275" marB="34275" horzOverflow="overflow">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400" b="1" i="0" u="none" strike="noStrike" cap="none" normalizeH="0" baseline="0" dirty="0" err="1" smtClean="0">
                          <a:ln>
                            <a:noFill/>
                          </a:ln>
                          <a:solidFill>
                            <a:schemeClr val="tx1"/>
                          </a:solidFill>
                          <a:effectLst/>
                          <a:latin typeface="Times New Roman" pitchFamily="18" charset="0"/>
                          <a:ea typeface="华文中宋" pitchFamily="2" charset="-122"/>
                          <a:cs typeface="Times New Roman" pitchFamily="18" charset="0"/>
                        </a:rPr>
                        <a:t>C</a:t>
                      </a:r>
                      <a:r>
                        <a:rPr kumimoji="1" lang="en-US" altLang="zh-CN" sz="1400" b="1" i="0" u="none" strike="noStrike" cap="none" normalizeH="0" baseline="-25000" dirty="0" err="1" smtClean="0">
                          <a:ln>
                            <a:noFill/>
                          </a:ln>
                          <a:solidFill>
                            <a:schemeClr val="tx1"/>
                          </a:solidFill>
                          <a:effectLst/>
                          <a:latin typeface="Times New Roman" pitchFamily="18" charset="0"/>
                          <a:ea typeface="华文中宋" pitchFamily="2" charset="-122"/>
                          <a:cs typeface="Times New Roman" pitchFamily="18" charset="0"/>
                        </a:rPr>
                        <a:t>p</a:t>
                      </a:r>
                      <a:r>
                        <a:rPr kumimoji="1" lang="en-US" altLang="zh-CN" sz="1400" b="1" i="0" u="none" strike="noStrike" cap="none" normalizeH="0" baseline="-25000" dirty="0" smtClean="0">
                          <a:ln>
                            <a:noFill/>
                          </a:ln>
                          <a:solidFill>
                            <a:schemeClr val="tx1"/>
                          </a:solidFill>
                          <a:effectLst/>
                          <a:latin typeface="Times New Roman" pitchFamily="18" charset="0"/>
                          <a:ea typeface="华文中宋" pitchFamily="2" charset="-122"/>
                          <a:cs typeface="Times New Roman" pitchFamily="18" charset="0"/>
                        </a:rPr>
                        <a:t> </a:t>
                      </a:r>
                      <a:r>
                        <a:rPr kumimoji="1" lang="en-US" altLang="zh-CN" sz="1400" b="1" i="0" u="none" strike="noStrike" cap="none" normalizeH="0" baseline="0" dirty="0" smtClean="0">
                          <a:ln>
                            <a:noFill/>
                          </a:ln>
                          <a:solidFill>
                            <a:schemeClr val="tx1"/>
                          </a:solidFill>
                          <a:effectLst/>
                          <a:latin typeface="Times New Roman" pitchFamily="18" charset="0"/>
                          <a:ea typeface="华文中宋" pitchFamily="2" charset="-122"/>
                          <a:cs typeface="Times New Roman" pitchFamily="18" charset="0"/>
                        </a:rPr>
                        <a:t>/ R</a:t>
                      </a:r>
                      <a:endParaRPr kumimoji="1" lang="en-US" altLang="zh-CN" sz="1400" b="1" i="1" u="none" strike="noStrike" cap="none" normalizeH="0" baseline="0" dirty="0" smtClean="0">
                        <a:ln>
                          <a:noFill/>
                        </a:ln>
                        <a:solidFill>
                          <a:schemeClr val="tx1"/>
                        </a:solidFill>
                        <a:effectLst/>
                        <a:latin typeface="Times New Roman" pitchFamily="18" charset="0"/>
                        <a:ea typeface="华文中宋" pitchFamily="2" charset="-122"/>
                        <a:cs typeface="Times New Roman" pitchFamily="18" charset="0"/>
                      </a:endParaRPr>
                    </a:p>
                  </a:txBody>
                  <a:tcPr marL="91437" marR="91437" marT="34275" marB="34275" horzOverflow="overflow">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400" b="1" i="0" u="none" strike="noStrike" cap="none" normalizeH="0" baseline="0" dirty="0" smtClean="0">
                          <a:ln>
                            <a:noFill/>
                          </a:ln>
                          <a:solidFill>
                            <a:schemeClr val="tx1"/>
                          </a:solidFill>
                          <a:effectLst/>
                          <a:latin typeface="Times New Roman" pitchFamily="18" charset="0"/>
                          <a:ea typeface="华文中宋" pitchFamily="2" charset="-122"/>
                          <a:cs typeface="Times New Roman" pitchFamily="18" charset="0"/>
                          <a:sym typeface="Symbol" pitchFamily="18" charset="2"/>
                        </a:rPr>
                        <a:t>  </a:t>
                      </a:r>
                      <a:endParaRPr kumimoji="1" lang="en-US" altLang="zh-CN" sz="1400" b="1" i="1" u="none" strike="noStrike" cap="none" normalizeH="0" baseline="0" dirty="0" smtClean="0">
                        <a:ln>
                          <a:noFill/>
                        </a:ln>
                        <a:solidFill>
                          <a:schemeClr val="tx1"/>
                        </a:solidFill>
                        <a:effectLst/>
                        <a:latin typeface="Times New Roman" pitchFamily="18" charset="0"/>
                        <a:ea typeface="华文中宋" pitchFamily="2" charset="-122"/>
                        <a:cs typeface="Times New Roman" pitchFamily="18" charset="0"/>
                        <a:sym typeface="Symbol" pitchFamily="18" charset="2"/>
                      </a:endParaRPr>
                    </a:p>
                  </a:txBody>
                  <a:tcPr marL="91437" marR="91437" marT="34275" marB="34275" horzOverflow="overflow">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400" b="1" i="0" u="none" strike="noStrike" cap="none" normalizeH="0" baseline="0" smtClean="0">
                          <a:ln>
                            <a:noFill/>
                          </a:ln>
                          <a:solidFill>
                            <a:schemeClr val="tx1"/>
                          </a:solidFill>
                          <a:effectLst/>
                          <a:latin typeface="Times New Roman" pitchFamily="18" charset="0"/>
                          <a:ea typeface="华文中宋" pitchFamily="2" charset="-122"/>
                          <a:cs typeface="Times New Roman" pitchFamily="18" charset="0"/>
                        </a:rPr>
                        <a:t>C</a:t>
                      </a:r>
                      <a:r>
                        <a:rPr kumimoji="1" lang="en-US" altLang="zh-CN" sz="1400" b="1" i="0" u="none" strike="noStrike" cap="none" normalizeH="0" baseline="-25000" smtClean="0">
                          <a:ln>
                            <a:noFill/>
                          </a:ln>
                          <a:solidFill>
                            <a:schemeClr val="tx1"/>
                          </a:solidFill>
                          <a:effectLst/>
                          <a:latin typeface="Times New Roman" pitchFamily="18" charset="0"/>
                          <a:ea typeface="华文中宋" pitchFamily="2" charset="-122"/>
                          <a:cs typeface="Times New Roman" pitchFamily="18" charset="0"/>
                        </a:rPr>
                        <a:t>V </a:t>
                      </a:r>
                      <a:r>
                        <a:rPr kumimoji="1" lang="en-US" altLang="zh-CN" sz="1400" b="1" i="0" u="none" strike="noStrike" cap="none" normalizeH="0" baseline="0" smtClean="0">
                          <a:ln>
                            <a:noFill/>
                          </a:ln>
                          <a:solidFill>
                            <a:schemeClr val="tx1"/>
                          </a:solidFill>
                          <a:effectLst/>
                          <a:latin typeface="Times New Roman" pitchFamily="18" charset="0"/>
                          <a:ea typeface="华文中宋" pitchFamily="2" charset="-122"/>
                          <a:cs typeface="Times New Roman" pitchFamily="18" charset="0"/>
                        </a:rPr>
                        <a:t>/ R</a:t>
                      </a:r>
                      <a:endParaRPr kumimoji="1" lang="en-US" altLang="zh-CN" sz="1400" b="1" i="1" u="none" strike="noStrike" cap="none" normalizeH="0" baseline="0" smtClean="0">
                        <a:ln>
                          <a:noFill/>
                        </a:ln>
                        <a:solidFill>
                          <a:schemeClr val="tx1"/>
                        </a:solidFill>
                        <a:effectLst/>
                        <a:latin typeface="Times New Roman" pitchFamily="18" charset="0"/>
                        <a:ea typeface="华文中宋" pitchFamily="2" charset="-122"/>
                        <a:cs typeface="Times New Roman" pitchFamily="18" charset="0"/>
                      </a:endParaRPr>
                    </a:p>
                  </a:txBody>
                  <a:tcPr marL="91437" marR="91437" marT="34275" marB="34275" horzOverflow="overflow">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400" b="1" i="0" u="none" strike="noStrike" cap="none" normalizeH="0" baseline="0" smtClean="0">
                          <a:ln>
                            <a:noFill/>
                          </a:ln>
                          <a:solidFill>
                            <a:schemeClr val="tx1"/>
                          </a:solidFill>
                          <a:effectLst/>
                          <a:latin typeface="Times New Roman" pitchFamily="18" charset="0"/>
                          <a:ea typeface="华文中宋" pitchFamily="2" charset="-122"/>
                          <a:cs typeface="Times New Roman" pitchFamily="18" charset="0"/>
                        </a:rPr>
                        <a:t>C</a:t>
                      </a:r>
                      <a:r>
                        <a:rPr kumimoji="1" lang="en-US" altLang="zh-CN" sz="1400" b="1" i="0" u="none" strike="noStrike" cap="none" normalizeH="0" baseline="-25000" smtClean="0">
                          <a:ln>
                            <a:noFill/>
                          </a:ln>
                          <a:solidFill>
                            <a:schemeClr val="tx1"/>
                          </a:solidFill>
                          <a:effectLst/>
                          <a:latin typeface="Times New Roman" pitchFamily="18" charset="0"/>
                          <a:ea typeface="华文中宋" pitchFamily="2" charset="-122"/>
                          <a:cs typeface="Times New Roman" pitchFamily="18" charset="0"/>
                        </a:rPr>
                        <a:t>p </a:t>
                      </a:r>
                      <a:r>
                        <a:rPr kumimoji="1" lang="en-US" altLang="zh-CN" sz="1400" b="1" i="0" u="none" strike="noStrike" cap="none" normalizeH="0" baseline="0" smtClean="0">
                          <a:ln>
                            <a:noFill/>
                          </a:ln>
                          <a:solidFill>
                            <a:schemeClr val="tx1"/>
                          </a:solidFill>
                          <a:effectLst/>
                          <a:latin typeface="Times New Roman" pitchFamily="18" charset="0"/>
                          <a:ea typeface="华文中宋" pitchFamily="2" charset="-122"/>
                          <a:cs typeface="Times New Roman" pitchFamily="18" charset="0"/>
                        </a:rPr>
                        <a:t>/ R</a:t>
                      </a:r>
                      <a:endParaRPr kumimoji="1" lang="en-US" altLang="zh-CN" sz="1400" b="1" i="1" u="none" strike="noStrike" cap="none" normalizeH="0" baseline="0" smtClean="0">
                        <a:ln>
                          <a:noFill/>
                        </a:ln>
                        <a:solidFill>
                          <a:schemeClr val="tx1"/>
                        </a:solidFill>
                        <a:effectLst/>
                        <a:latin typeface="Times New Roman" pitchFamily="18" charset="0"/>
                        <a:ea typeface="华文中宋" pitchFamily="2" charset="-122"/>
                        <a:cs typeface="Times New Roman" pitchFamily="18" charset="0"/>
                      </a:endParaRPr>
                    </a:p>
                  </a:txBody>
                  <a:tcPr marL="91437" marR="91437" marT="34275" marB="34275" horzOverflow="overflow">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400" b="1" i="0" u="none" strike="noStrike" cap="none" normalizeH="0" baseline="0" dirty="0" smtClean="0">
                          <a:ln>
                            <a:noFill/>
                          </a:ln>
                          <a:solidFill>
                            <a:schemeClr val="tx1"/>
                          </a:solidFill>
                          <a:effectLst/>
                          <a:latin typeface="Times New Roman" pitchFamily="18" charset="0"/>
                          <a:ea typeface="华文中宋" pitchFamily="2" charset="-122"/>
                          <a:cs typeface="Times New Roman" pitchFamily="18" charset="0"/>
                          <a:sym typeface="Symbol" pitchFamily="18" charset="2"/>
                        </a:rPr>
                        <a:t>   </a:t>
                      </a:r>
                      <a:endParaRPr kumimoji="1" lang="en-US" altLang="zh-CN" sz="1400" b="1" i="0" u="none" strike="noStrike" cap="none" normalizeH="0" baseline="0" dirty="0" smtClean="0">
                        <a:ln>
                          <a:noFill/>
                        </a:ln>
                        <a:solidFill>
                          <a:schemeClr val="tx1"/>
                        </a:solidFill>
                        <a:effectLst/>
                        <a:latin typeface="Times New Roman" pitchFamily="18" charset="0"/>
                        <a:ea typeface="华文中宋" pitchFamily="2" charset="-122"/>
                        <a:cs typeface="Times New Roman" pitchFamily="18" charset="0"/>
                      </a:endParaRPr>
                    </a:p>
                  </a:txBody>
                  <a:tcPr marL="91437" marR="91437" marT="34275" marB="34275" horzOverflow="overflow">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noFill/>
                  </a:tcPr>
                </a:tc>
              </a:tr>
              <a:tr h="281907">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400" b="1" i="0" u="none" strike="noStrike" cap="none" normalizeH="0" baseline="0" dirty="0" smtClean="0">
                          <a:ln>
                            <a:noFill/>
                          </a:ln>
                          <a:solidFill>
                            <a:srgbClr val="C00000"/>
                          </a:solidFill>
                          <a:effectLst/>
                          <a:latin typeface="Times New Roman" pitchFamily="18" charset="0"/>
                          <a:ea typeface="华文中宋" pitchFamily="2" charset="-122"/>
                          <a:cs typeface="Times New Roman" pitchFamily="18" charset="0"/>
                        </a:rPr>
                        <a:t>   He</a:t>
                      </a:r>
                    </a:p>
                  </a:txBody>
                  <a:tcPr marL="91437" marR="91437" marT="34275" marB="34275" horzOverflow="overflow">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400" b="1" i="0" u="none" strike="noStrike" cap="none" normalizeH="0" baseline="0" dirty="0" smtClean="0">
                          <a:ln>
                            <a:noFill/>
                          </a:ln>
                          <a:solidFill>
                            <a:schemeClr val="tx1"/>
                          </a:solidFill>
                          <a:effectLst/>
                          <a:latin typeface="Times New Roman" pitchFamily="18" charset="0"/>
                          <a:ea typeface="华文中宋" pitchFamily="2" charset="-122"/>
                          <a:cs typeface="Times New Roman" pitchFamily="18" charset="0"/>
                        </a:rPr>
                        <a:t>    1.5</a:t>
                      </a:r>
                    </a:p>
                  </a:txBody>
                  <a:tcPr marL="91437" marR="91437" marT="34275" marB="34275" horzOverflow="overflow">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400" b="1" i="0" u="none" strike="noStrike" cap="none" normalizeH="0" baseline="0" dirty="0" smtClean="0">
                          <a:ln>
                            <a:noFill/>
                          </a:ln>
                          <a:solidFill>
                            <a:schemeClr val="tx1"/>
                          </a:solidFill>
                          <a:effectLst/>
                          <a:latin typeface="Times New Roman" pitchFamily="18" charset="0"/>
                          <a:ea typeface="华文中宋" pitchFamily="2" charset="-122"/>
                          <a:cs typeface="Times New Roman" pitchFamily="18" charset="0"/>
                        </a:rPr>
                        <a:t>   2.5</a:t>
                      </a:r>
                    </a:p>
                  </a:txBody>
                  <a:tcPr marL="91437" marR="91437" marT="34275" marB="34275" horzOverflow="overflow">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400" b="1" i="0" u="none" strike="noStrike" cap="none" normalizeH="0" baseline="0" smtClean="0">
                          <a:ln>
                            <a:noFill/>
                          </a:ln>
                          <a:solidFill>
                            <a:schemeClr val="tx1"/>
                          </a:solidFill>
                          <a:effectLst/>
                          <a:latin typeface="Times New Roman" pitchFamily="18" charset="0"/>
                          <a:ea typeface="华文中宋" pitchFamily="2" charset="-122"/>
                          <a:cs typeface="Times New Roman" pitchFamily="18" charset="0"/>
                        </a:rPr>
                        <a:t>1.67</a:t>
                      </a:r>
                    </a:p>
                  </a:txBody>
                  <a:tcPr marL="91437" marR="91437" marT="34275" marB="34275" horzOverflow="overflow">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400" b="1" i="0" u="none" strike="noStrike" cap="none" normalizeH="0" baseline="0" dirty="0" smtClean="0">
                          <a:ln>
                            <a:noFill/>
                          </a:ln>
                          <a:solidFill>
                            <a:schemeClr val="tx1"/>
                          </a:solidFill>
                          <a:effectLst/>
                          <a:latin typeface="Times New Roman" pitchFamily="18" charset="0"/>
                          <a:ea typeface="华文中宋" pitchFamily="2" charset="-122"/>
                          <a:cs typeface="Times New Roman" pitchFamily="18" charset="0"/>
                        </a:rPr>
                        <a:t>  1.52</a:t>
                      </a:r>
                    </a:p>
                  </a:txBody>
                  <a:tcPr marL="91437" marR="91437" marT="34275" marB="34275" horzOverflow="overflow">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400" b="1" i="0" u="none" strike="noStrike" cap="none" normalizeH="0" baseline="0" dirty="0" smtClean="0">
                          <a:ln>
                            <a:noFill/>
                          </a:ln>
                          <a:solidFill>
                            <a:schemeClr val="tx1"/>
                          </a:solidFill>
                          <a:effectLst/>
                          <a:latin typeface="Times New Roman" pitchFamily="18" charset="0"/>
                          <a:ea typeface="华文中宋" pitchFamily="2" charset="-122"/>
                          <a:cs typeface="Times New Roman" pitchFamily="18" charset="0"/>
                        </a:rPr>
                        <a:t>  2.52</a:t>
                      </a:r>
                    </a:p>
                  </a:txBody>
                  <a:tcPr marL="91437" marR="91437" marT="34275" marB="34275" horzOverflow="overflow">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400" b="1" i="0" u="none" strike="noStrike" cap="none" normalizeH="0" baseline="0" dirty="0" smtClean="0">
                          <a:ln>
                            <a:noFill/>
                          </a:ln>
                          <a:solidFill>
                            <a:schemeClr val="tx1"/>
                          </a:solidFill>
                          <a:effectLst/>
                          <a:latin typeface="Times New Roman" pitchFamily="18" charset="0"/>
                          <a:ea typeface="华文中宋" pitchFamily="2" charset="-122"/>
                          <a:cs typeface="Times New Roman" pitchFamily="18" charset="0"/>
                        </a:rPr>
                        <a:t>1.67</a:t>
                      </a:r>
                    </a:p>
                  </a:txBody>
                  <a:tcPr marL="91437" marR="91437" marT="34275" marB="34275" horzOverflow="overflow">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noFill/>
                  </a:tcPr>
                </a:tc>
              </a:tr>
              <a:tr h="281907">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400" b="1" i="0" u="none" strike="noStrike" cap="none" normalizeH="0" baseline="0" smtClean="0">
                          <a:ln>
                            <a:noFill/>
                          </a:ln>
                          <a:solidFill>
                            <a:srgbClr val="C00000"/>
                          </a:solidFill>
                          <a:effectLst/>
                          <a:latin typeface="Times New Roman" pitchFamily="18" charset="0"/>
                          <a:ea typeface="华文中宋" pitchFamily="2" charset="-122"/>
                          <a:cs typeface="Times New Roman" pitchFamily="18" charset="0"/>
                        </a:rPr>
                        <a:t>   Ar</a:t>
                      </a:r>
                    </a:p>
                  </a:txBody>
                  <a:tcPr marL="91437" marR="91437" marT="34275" marB="34275" horzOverflow="overflow">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400" b="1" i="0" u="none" strike="noStrike" cap="none" normalizeH="0" baseline="0" dirty="0" smtClean="0">
                          <a:ln>
                            <a:noFill/>
                          </a:ln>
                          <a:solidFill>
                            <a:schemeClr val="tx1"/>
                          </a:solidFill>
                          <a:effectLst/>
                          <a:latin typeface="Times New Roman" pitchFamily="18" charset="0"/>
                          <a:ea typeface="华文中宋" pitchFamily="2" charset="-122"/>
                          <a:cs typeface="Times New Roman" pitchFamily="18" charset="0"/>
                        </a:rPr>
                        <a:t>    1.5</a:t>
                      </a:r>
                    </a:p>
                  </a:txBody>
                  <a:tcPr marL="91437" marR="91437" marT="34275" marB="34275" horzOverflow="overflow">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400" b="1" i="0" u="none" strike="noStrike" cap="none" normalizeH="0" baseline="0" dirty="0" smtClean="0">
                          <a:ln>
                            <a:noFill/>
                          </a:ln>
                          <a:solidFill>
                            <a:schemeClr val="tx1"/>
                          </a:solidFill>
                          <a:effectLst/>
                          <a:latin typeface="Times New Roman" pitchFamily="18" charset="0"/>
                          <a:ea typeface="华文中宋" pitchFamily="2" charset="-122"/>
                          <a:cs typeface="Times New Roman" pitchFamily="18" charset="0"/>
                        </a:rPr>
                        <a:t>   2.5</a:t>
                      </a:r>
                    </a:p>
                  </a:txBody>
                  <a:tcPr marL="91437" marR="91437" marT="34275" marB="34275" horzOverflow="overflow">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400" b="1" i="0" u="none" strike="noStrike" cap="none" normalizeH="0" baseline="0" dirty="0" smtClean="0">
                          <a:ln>
                            <a:noFill/>
                          </a:ln>
                          <a:solidFill>
                            <a:schemeClr val="tx1"/>
                          </a:solidFill>
                          <a:effectLst/>
                          <a:latin typeface="Times New Roman" pitchFamily="18" charset="0"/>
                          <a:ea typeface="华文中宋" pitchFamily="2" charset="-122"/>
                          <a:cs typeface="Times New Roman" pitchFamily="18" charset="0"/>
                        </a:rPr>
                        <a:t>1.67</a:t>
                      </a:r>
                    </a:p>
                  </a:txBody>
                  <a:tcPr marL="91437" marR="91437" marT="34275" marB="34275" horzOverflow="overflow">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400" b="1" i="0" u="none" strike="noStrike" cap="none" normalizeH="0" baseline="0" smtClean="0">
                          <a:ln>
                            <a:noFill/>
                          </a:ln>
                          <a:solidFill>
                            <a:schemeClr val="tx1"/>
                          </a:solidFill>
                          <a:effectLst/>
                          <a:latin typeface="Times New Roman" pitchFamily="18" charset="0"/>
                          <a:ea typeface="华文中宋" pitchFamily="2" charset="-122"/>
                          <a:cs typeface="Times New Roman" pitchFamily="18" charset="0"/>
                        </a:rPr>
                        <a:t>  1.51</a:t>
                      </a:r>
                    </a:p>
                  </a:txBody>
                  <a:tcPr marL="91437" marR="91437" marT="34275" marB="34275" horzOverflow="overflow">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400" b="1" i="0" u="none" strike="noStrike" cap="none" normalizeH="0" baseline="0" smtClean="0">
                          <a:ln>
                            <a:noFill/>
                          </a:ln>
                          <a:solidFill>
                            <a:schemeClr val="tx1"/>
                          </a:solidFill>
                          <a:effectLst/>
                          <a:latin typeface="Times New Roman" pitchFamily="18" charset="0"/>
                          <a:ea typeface="华文中宋" pitchFamily="2" charset="-122"/>
                          <a:cs typeface="Times New Roman" pitchFamily="18" charset="0"/>
                        </a:rPr>
                        <a:t>  2.51</a:t>
                      </a:r>
                    </a:p>
                  </a:txBody>
                  <a:tcPr marL="91437" marR="91437" marT="34275" marB="34275" horzOverflow="overflow">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400" b="1" i="0" u="none" strike="noStrike" cap="none" normalizeH="0" baseline="0" smtClean="0">
                          <a:ln>
                            <a:noFill/>
                          </a:ln>
                          <a:solidFill>
                            <a:schemeClr val="tx1"/>
                          </a:solidFill>
                          <a:effectLst/>
                          <a:latin typeface="Times New Roman" pitchFamily="18" charset="0"/>
                          <a:ea typeface="华文中宋" pitchFamily="2" charset="-122"/>
                          <a:cs typeface="Times New Roman" pitchFamily="18" charset="0"/>
                        </a:rPr>
                        <a:t>1.67</a:t>
                      </a:r>
                    </a:p>
                  </a:txBody>
                  <a:tcPr marL="91437" marR="91437" marT="34275" marB="34275" horzOverflow="overflow">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noFill/>
                  </a:tcPr>
                </a:tc>
              </a:tr>
              <a:tr h="281907">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400" b="1" i="0" u="none" strike="noStrike" cap="none" normalizeH="0" baseline="0" smtClean="0">
                          <a:ln>
                            <a:noFill/>
                          </a:ln>
                          <a:solidFill>
                            <a:srgbClr val="C00000"/>
                          </a:solidFill>
                          <a:effectLst/>
                          <a:latin typeface="Times New Roman" pitchFamily="18" charset="0"/>
                          <a:ea typeface="华文中宋" pitchFamily="2" charset="-122"/>
                          <a:cs typeface="Times New Roman" pitchFamily="18" charset="0"/>
                        </a:rPr>
                        <a:t>   H</a:t>
                      </a:r>
                      <a:r>
                        <a:rPr kumimoji="1" lang="en-US" altLang="zh-CN" sz="1400" b="1" i="0" u="none" strike="noStrike" cap="none" normalizeH="0" baseline="-25000" smtClean="0">
                          <a:ln>
                            <a:noFill/>
                          </a:ln>
                          <a:solidFill>
                            <a:srgbClr val="C00000"/>
                          </a:solidFill>
                          <a:effectLst/>
                          <a:latin typeface="Times New Roman" pitchFamily="18" charset="0"/>
                          <a:ea typeface="华文中宋" pitchFamily="2" charset="-122"/>
                          <a:cs typeface="Times New Roman" pitchFamily="18" charset="0"/>
                        </a:rPr>
                        <a:t>2</a:t>
                      </a:r>
                      <a:endParaRPr kumimoji="1" lang="en-US" altLang="zh-CN" sz="1400" b="1" i="0" u="none" strike="noStrike" cap="none" normalizeH="0" baseline="0" smtClean="0">
                        <a:ln>
                          <a:noFill/>
                        </a:ln>
                        <a:solidFill>
                          <a:srgbClr val="C00000"/>
                        </a:solidFill>
                        <a:effectLst/>
                        <a:latin typeface="Times New Roman" pitchFamily="18" charset="0"/>
                        <a:ea typeface="华文中宋" pitchFamily="2" charset="-122"/>
                        <a:cs typeface="Times New Roman" pitchFamily="18" charset="0"/>
                      </a:endParaRPr>
                    </a:p>
                  </a:txBody>
                  <a:tcPr marL="91437" marR="91437" marT="34275" marB="34275" horzOverflow="overflow">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400" b="1" i="0" u="none" strike="noStrike" cap="none" normalizeH="0" baseline="0" smtClean="0">
                          <a:ln>
                            <a:noFill/>
                          </a:ln>
                          <a:solidFill>
                            <a:schemeClr val="tx1"/>
                          </a:solidFill>
                          <a:effectLst/>
                          <a:latin typeface="Times New Roman" pitchFamily="18" charset="0"/>
                          <a:ea typeface="华文中宋" pitchFamily="2" charset="-122"/>
                          <a:cs typeface="Times New Roman" pitchFamily="18" charset="0"/>
                        </a:rPr>
                        <a:t>    2.5</a:t>
                      </a:r>
                    </a:p>
                  </a:txBody>
                  <a:tcPr marL="91437" marR="91437" marT="34275" marB="34275" horzOverflow="overflow">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400" b="1" i="0" u="none" strike="noStrike" cap="none" normalizeH="0" baseline="0" dirty="0" smtClean="0">
                          <a:ln>
                            <a:noFill/>
                          </a:ln>
                          <a:solidFill>
                            <a:schemeClr val="tx1"/>
                          </a:solidFill>
                          <a:effectLst/>
                          <a:latin typeface="Times New Roman" pitchFamily="18" charset="0"/>
                          <a:ea typeface="华文中宋" pitchFamily="2" charset="-122"/>
                          <a:cs typeface="Times New Roman" pitchFamily="18" charset="0"/>
                        </a:rPr>
                        <a:t>   3.5</a:t>
                      </a:r>
                    </a:p>
                  </a:txBody>
                  <a:tcPr marL="91437" marR="91437" marT="34275" marB="34275" horzOverflow="overflow">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400" b="1" i="0" u="none" strike="noStrike" cap="none" normalizeH="0" baseline="0" dirty="0" smtClean="0">
                          <a:ln>
                            <a:noFill/>
                          </a:ln>
                          <a:solidFill>
                            <a:schemeClr val="tx1"/>
                          </a:solidFill>
                          <a:effectLst/>
                          <a:latin typeface="Times New Roman" pitchFamily="18" charset="0"/>
                          <a:ea typeface="华文中宋" pitchFamily="2" charset="-122"/>
                          <a:cs typeface="Times New Roman" pitchFamily="18" charset="0"/>
                        </a:rPr>
                        <a:t>1.40</a:t>
                      </a:r>
                    </a:p>
                  </a:txBody>
                  <a:tcPr marL="91437" marR="91437" marT="34275" marB="34275" horzOverflow="overflow">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400" b="1" i="0" u="none" strike="noStrike" cap="none" normalizeH="0" baseline="0" dirty="0" smtClean="0">
                          <a:ln>
                            <a:noFill/>
                          </a:ln>
                          <a:solidFill>
                            <a:schemeClr val="tx1"/>
                          </a:solidFill>
                          <a:effectLst/>
                          <a:latin typeface="Times New Roman" pitchFamily="18" charset="0"/>
                          <a:ea typeface="华文中宋" pitchFamily="2" charset="-122"/>
                          <a:cs typeface="Times New Roman" pitchFamily="18" charset="0"/>
                        </a:rPr>
                        <a:t>  2.46</a:t>
                      </a:r>
                    </a:p>
                  </a:txBody>
                  <a:tcPr marL="91437" marR="91437" marT="34275" marB="34275" horzOverflow="overflow">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400" b="1" i="0" u="none" strike="noStrike" cap="none" normalizeH="0" baseline="0" smtClean="0">
                          <a:ln>
                            <a:noFill/>
                          </a:ln>
                          <a:solidFill>
                            <a:schemeClr val="tx1"/>
                          </a:solidFill>
                          <a:effectLst/>
                          <a:latin typeface="Times New Roman" pitchFamily="18" charset="0"/>
                          <a:ea typeface="华文中宋" pitchFamily="2" charset="-122"/>
                          <a:cs typeface="Times New Roman" pitchFamily="18" charset="0"/>
                        </a:rPr>
                        <a:t>  3.47</a:t>
                      </a:r>
                    </a:p>
                  </a:txBody>
                  <a:tcPr marL="91437" marR="91437" marT="34275" marB="34275" horzOverflow="overflow">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400" b="1" i="0" u="none" strike="noStrike" cap="none" normalizeH="0" baseline="0" smtClean="0">
                          <a:ln>
                            <a:noFill/>
                          </a:ln>
                          <a:solidFill>
                            <a:schemeClr val="tx1"/>
                          </a:solidFill>
                          <a:effectLst/>
                          <a:latin typeface="Times New Roman" pitchFamily="18" charset="0"/>
                          <a:ea typeface="华文中宋" pitchFamily="2" charset="-122"/>
                          <a:cs typeface="Times New Roman" pitchFamily="18" charset="0"/>
                        </a:rPr>
                        <a:t>1.41</a:t>
                      </a:r>
                    </a:p>
                  </a:txBody>
                  <a:tcPr marL="91437" marR="91437" marT="34275" marB="34275" horzOverflow="overflow">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noFill/>
                  </a:tcPr>
                </a:tc>
              </a:tr>
              <a:tr h="281907">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400" b="1" i="0" u="none" strike="noStrike" cap="none" normalizeH="0" baseline="0" smtClean="0">
                          <a:ln>
                            <a:noFill/>
                          </a:ln>
                          <a:solidFill>
                            <a:srgbClr val="C00000"/>
                          </a:solidFill>
                          <a:effectLst/>
                          <a:latin typeface="Times New Roman" pitchFamily="18" charset="0"/>
                          <a:ea typeface="华文中宋" pitchFamily="2" charset="-122"/>
                          <a:cs typeface="Times New Roman" pitchFamily="18" charset="0"/>
                        </a:rPr>
                        <a:t>   O</a:t>
                      </a:r>
                      <a:r>
                        <a:rPr kumimoji="1" lang="en-US" altLang="zh-CN" sz="1400" b="1" i="0" u="none" strike="noStrike" cap="none" normalizeH="0" baseline="-25000" smtClean="0">
                          <a:ln>
                            <a:noFill/>
                          </a:ln>
                          <a:solidFill>
                            <a:srgbClr val="C00000"/>
                          </a:solidFill>
                          <a:effectLst/>
                          <a:latin typeface="Times New Roman" pitchFamily="18" charset="0"/>
                          <a:ea typeface="华文中宋" pitchFamily="2" charset="-122"/>
                          <a:cs typeface="Times New Roman" pitchFamily="18" charset="0"/>
                        </a:rPr>
                        <a:t>2</a:t>
                      </a:r>
                      <a:endParaRPr kumimoji="1" lang="en-US" altLang="zh-CN" sz="1400" b="1" i="0" u="none" strike="noStrike" cap="none" normalizeH="0" baseline="0" smtClean="0">
                        <a:ln>
                          <a:noFill/>
                        </a:ln>
                        <a:solidFill>
                          <a:srgbClr val="C00000"/>
                        </a:solidFill>
                        <a:effectLst/>
                        <a:latin typeface="Times New Roman" pitchFamily="18" charset="0"/>
                        <a:ea typeface="华文中宋" pitchFamily="2" charset="-122"/>
                        <a:cs typeface="Times New Roman" pitchFamily="18" charset="0"/>
                      </a:endParaRPr>
                    </a:p>
                  </a:txBody>
                  <a:tcPr marL="91437" marR="91437" marT="34275" marB="34275" horzOverflow="overflow">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400" b="1" i="0" u="none" strike="noStrike" cap="none" normalizeH="0" baseline="0" smtClean="0">
                          <a:ln>
                            <a:noFill/>
                          </a:ln>
                          <a:solidFill>
                            <a:schemeClr val="tx1"/>
                          </a:solidFill>
                          <a:effectLst/>
                          <a:latin typeface="Times New Roman" pitchFamily="18" charset="0"/>
                          <a:ea typeface="华文中宋" pitchFamily="2" charset="-122"/>
                          <a:cs typeface="Times New Roman" pitchFamily="18" charset="0"/>
                        </a:rPr>
                        <a:t>    2.5</a:t>
                      </a:r>
                    </a:p>
                  </a:txBody>
                  <a:tcPr marL="91437" marR="91437" marT="34275" marB="34275" horzOverflow="overflow">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400" b="1" i="0" u="none" strike="noStrike" cap="none" normalizeH="0" baseline="0" smtClean="0">
                          <a:ln>
                            <a:noFill/>
                          </a:ln>
                          <a:solidFill>
                            <a:schemeClr val="tx1"/>
                          </a:solidFill>
                          <a:effectLst/>
                          <a:latin typeface="Times New Roman" pitchFamily="18" charset="0"/>
                          <a:ea typeface="华文中宋" pitchFamily="2" charset="-122"/>
                          <a:cs typeface="Times New Roman" pitchFamily="18" charset="0"/>
                        </a:rPr>
                        <a:t>   3.5</a:t>
                      </a:r>
                    </a:p>
                  </a:txBody>
                  <a:tcPr marL="91437" marR="91437" marT="34275" marB="34275" horzOverflow="overflow">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400" b="1" i="0" u="none" strike="noStrike" cap="none" normalizeH="0" baseline="0" dirty="0" smtClean="0">
                          <a:ln>
                            <a:noFill/>
                          </a:ln>
                          <a:solidFill>
                            <a:schemeClr val="tx1"/>
                          </a:solidFill>
                          <a:effectLst/>
                          <a:latin typeface="Times New Roman" pitchFamily="18" charset="0"/>
                          <a:ea typeface="华文中宋" pitchFamily="2" charset="-122"/>
                          <a:cs typeface="Times New Roman" pitchFamily="18" charset="0"/>
                        </a:rPr>
                        <a:t>1.40</a:t>
                      </a:r>
                    </a:p>
                  </a:txBody>
                  <a:tcPr marL="91437" marR="91437" marT="34275" marB="34275" horzOverflow="overflow">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400" b="1" i="0" u="none" strike="noStrike" cap="none" normalizeH="0" baseline="0" dirty="0" smtClean="0">
                          <a:ln>
                            <a:noFill/>
                          </a:ln>
                          <a:solidFill>
                            <a:schemeClr val="tx1"/>
                          </a:solidFill>
                          <a:effectLst/>
                          <a:latin typeface="Times New Roman" pitchFamily="18" charset="0"/>
                          <a:ea typeface="华文中宋" pitchFamily="2" charset="-122"/>
                          <a:cs typeface="Times New Roman" pitchFamily="18" charset="0"/>
                        </a:rPr>
                        <a:t>  2.55</a:t>
                      </a:r>
                    </a:p>
                  </a:txBody>
                  <a:tcPr marL="91437" marR="91437" marT="34275" marB="34275" horzOverflow="overflow">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400" b="1" i="0" u="none" strike="noStrike" cap="none" normalizeH="0" baseline="0" dirty="0" smtClean="0">
                          <a:ln>
                            <a:noFill/>
                          </a:ln>
                          <a:solidFill>
                            <a:schemeClr val="tx1"/>
                          </a:solidFill>
                          <a:effectLst/>
                          <a:latin typeface="Times New Roman" pitchFamily="18" charset="0"/>
                          <a:ea typeface="华文中宋" pitchFamily="2" charset="-122"/>
                          <a:cs typeface="Times New Roman" pitchFamily="18" charset="0"/>
                        </a:rPr>
                        <a:t>  3.56</a:t>
                      </a:r>
                    </a:p>
                  </a:txBody>
                  <a:tcPr marL="91437" marR="91437" marT="34275" marB="34275" horzOverflow="overflow">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400" b="1" i="0" u="none" strike="noStrike" cap="none" normalizeH="0" baseline="0" smtClean="0">
                          <a:ln>
                            <a:noFill/>
                          </a:ln>
                          <a:solidFill>
                            <a:schemeClr val="tx1"/>
                          </a:solidFill>
                          <a:effectLst/>
                          <a:latin typeface="Times New Roman" pitchFamily="18" charset="0"/>
                          <a:ea typeface="华文中宋" pitchFamily="2" charset="-122"/>
                          <a:cs typeface="Times New Roman" pitchFamily="18" charset="0"/>
                        </a:rPr>
                        <a:t>1.40</a:t>
                      </a:r>
                    </a:p>
                  </a:txBody>
                  <a:tcPr marL="91437" marR="91437" marT="34275" marB="34275" horzOverflow="overflow">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noFill/>
                  </a:tcPr>
                </a:tc>
              </a:tr>
              <a:tr h="281907">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400" b="1" i="0" u="none" strike="noStrike" cap="none" normalizeH="0" baseline="0" smtClean="0">
                          <a:ln>
                            <a:noFill/>
                          </a:ln>
                          <a:solidFill>
                            <a:srgbClr val="C00000"/>
                          </a:solidFill>
                          <a:effectLst/>
                          <a:latin typeface="Times New Roman" pitchFamily="18" charset="0"/>
                          <a:ea typeface="华文中宋" pitchFamily="2" charset="-122"/>
                          <a:cs typeface="Times New Roman" pitchFamily="18" charset="0"/>
                        </a:rPr>
                        <a:t>  H</a:t>
                      </a:r>
                      <a:r>
                        <a:rPr kumimoji="1" lang="en-US" altLang="zh-CN" sz="1400" b="1" i="0" u="none" strike="noStrike" cap="none" normalizeH="0" baseline="-25000" smtClean="0">
                          <a:ln>
                            <a:noFill/>
                          </a:ln>
                          <a:solidFill>
                            <a:srgbClr val="C00000"/>
                          </a:solidFill>
                          <a:effectLst/>
                          <a:latin typeface="Times New Roman" pitchFamily="18" charset="0"/>
                          <a:ea typeface="华文中宋" pitchFamily="2" charset="-122"/>
                          <a:cs typeface="Times New Roman" pitchFamily="18" charset="0"/>
                        </a:rPr>
                        <a:t>2</a:t>
                      </a:r>
                      <a:r>
                        <a:rPr kumimoji="1" lang="en-US" altLang="zh-CN" sz="1400" b="1" i="0" u="none" strike="noStrike" cap="none" normalizeH="0" baseline="0" smtClean="0">
                          <a:ln>
                            <a:noFill/>
                          </a:ln>
                          <a:solidFill>
                            <a:srgbClr val="C00000"/>
                          </a:solidFill>
                          <a:effectLst/>
                          <a:latin typeface="Times New Roman" pitchFamily="18" charset="0"/>
                          <a:ea typeface="华文中宋" pitchFamily="2" charset="-122"/>
                          <a:cs typeface="Times New Roman" pitchFamily="18" charset="0"/>
                        </a:rPr>
                        <a:t>O</a:t>
                      </a:r>
                    </a:p>
                  </a:txBody>
                  <a:tcPr marL="91437" marR="91437" marT="34275" marB="34275" horzOverflow="overflow">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400" b="1" i="0" u="none" strike="noStrike" cap="none" normalizeH="0" baseline="0" smtClean="0">
                          <a:ln>
                            <a:noFill/>
                          </a:ln>
                          <a:solidFill>
                            <a:schemeClr val="tx1"/>
                          </a:solidFill>
                          <a:effectLst/>
                          <a:latin typeface="Times New Roman" pitchFamily="18" charset="0"/>
                          <a:ea typeface="华文中宋" pitchFamily="2" charset="-122"/>
                          <a:cs typeface="Times New Roman" pitchFamily="18" charset="0"/>
                        </a:rPr>
                        <a:t>    3</a:t>
                      </a:r>
                    </a:p>
                  </a:txBody>
                  <a:tcPr marL="91437" marR="91437" marT="34275" marB="34275" horzOverflow="overflow">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400" b="1" i="0" u="none" strike="noStrike" cap="none" normalizeH="0" baseline="0" smtClean="0">
                          <a:ln>
                            <a:noFill/>
                          </a:ln>
                          <a:solidFill>
                            <a:schemeClr val="tx1"/>
                          </a:solidFill>
                          <a:effectLst/>
                          <a:latin typeface="Times New Roman" pitchFamily="18" charset="0"/>
                          <a:ea typeface="华文中宋" pitchFamily="2" charset="-122"/>
                          <a:cs typeface="Times New Roman" pitchFamily="18" charset="0"/>
                        </a:rPr>
                        <a:t>   4</a:t>
                      </a:r>
                    </a:p>
                  </a:txBody>
                  <a:tcPr marL="91437" marR="91437" marT="34275" marB="34275" horzOverflow="overflow">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400" b="1" i="0" u="none" strike="noStrike" cap="none" normalizeH="0" baseline="0" smtClean="0">
                          <a:ln>
                            <a:noFill/>
                          </a:ln>
                          <a:solidFill>
                            <a:schemeClr val="tx1"/>
                          </a:solidFill>
                          <a:effectLst/>
                          <a:latin typeface="Times New Roman" pitchFamily="18" charset="0"/>
                          <a:ea typeface="华文中宋" pitchFamily="2" charset="-122"/>
                          <a:cs typeface="Times New Roman" pitchFamily="18" charset="0"/>
                        </a:rPr>
                        <a:t>1.33</a:t>
                      </a:r>
                    </a:p>
                  </a:txBody>
                  <a:tcPr marL="91437" marR="91437" marT="34275" marB="34275" horzOverflow="overflow">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400" b="1" i="0" u="none" strike="noStrike" cap="none" normalizeH="0" baseline="0" dirty="0" smtClean="0">
                          <a:ln>
                            <a:noFill/>
                          </a:ln>
                          <a:solidFill>
                            <a:schemeClr val="tx1"/>
                          </a:solidFill>
                          <a:effectLst/>
                          <a:latin typeface="Times New Roman" pitchFamily="18" charset="0"/>
                          <a:ea typeface="华文中宋" pitchFamily="2" charset="-122"/>
                          <a:cs typeface="Times New Roman" pitchFamily="18" charset="0"/>
                        </a:rPr>
                        <a:t>  3.00</a:t>
                      </a:r>
                    </a:p>
                  </a:txBody>
                  <a:tcPr marL="91437" marR="91437" marT="34275" marB="34275" horzOverflow="overflow">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400" b="1" i="0" u="none" strike="noStrike" cap="none" normalizeH="0" baseline="0" dirty="0" smtClean="0">
                          <a:ln>
                            <a:noFill/>
                          </a:ln>
                          <a:solidFill>
                            <a:srgbClr val="0000FF"/>
                          </a:solidFill>
                          <a:effectLst/>
                          <a:latin typeface="Times New Roman" pitchFamily="18" charset="0"/>
                          <a:ea typeface="华文中宋" pitchFamily="2" charset="-122"/>
                          <a:cs typeface="Times New Roman" pitchFamily="18" charset="0"/>
                        </a:rPr>
                        <a:t>  </a:t>
                      </a:r>
                      <a:r>
                        <a:rPr kumimoji="1" lang="en-US" altLang="zh-CN" sz="1400" b="1" i="0" u="sng" strike="noStrike" cap="none" normalizeH="0" baseline="0" dirty="0" smtClean="0">
                          <a:ln>
                            <a:noFill/>
                          </a:ln>
                          <a:solidFill>
                            <a:srgbClr val="0000FF"/>
                          </a:solidFill>
                          <a:effectLst/>
                          <a:latin typeface="Times New Roman" pitchFamily="18" charset="0"/>
                          <a:ea typeface="华文中宋" pitchFamily="2" charset="-122"/>
                          <a:cs typeface="Times New Roman" pitchFamily="18" charset="0"/>
                        </a:rPr>
                        <a:t>4.36</a:t>
                      </a:r>
                    </a:p>
                  </a:txBody>
                  <a:tcPr marL="91437" marR="91437" marT="34275" marB="34275" horzOverflow="overflow">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400" b="1" i="0" u="none" strike="noStrike" cap="none" normalizeH="0" baseline="0" dirty="0" smtClean="0">
                          <a:ln>
                            <a:noFill/>
                          </a:ln>
                          <a:solidFill>
                            <a:schemeClr val="tx1"/>
                          </a:solidFill>
                          <a:effectLst/>
                          <a:latin typeface="Times New Roman" pitchFamily="18" charset="0"/>
                          <a:ea typeface="华文中宋" pitchFamily="2" charset="-122"/>
                          <a:cs typeface="Times New Roman" pitchFamily="18" charset="0"/>
                        </a:rPr>
                        <a:t>1.45</a:t>
                      </a:r>
                    </a:p>
                  </a:txBody>
                  <a:tcPr marL="91437" marR="91437" marT="34275" marB="34275" horzOverflow="overflow">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noFill/>
                  </a:tcPr>
                </a:tc>
              </a:tr>
              <a:tr h="314237">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400" b="1" i="0" u="none" strike="noStrike" cap="none" normalizeH="0" baseline="0" smtClean="0">
                          <a:ln>
                            <a:noFill/>
                          </a:ln>
                          <a:solidFill>
                            <a:srgbClr val="C00000"/>
                          </a:solidFill>
                          <a:effectLst/>
                          <a:latin typeface="Times New Roman" pitchFamily="18" charset="0"/>
                          <a:ea typeface="华文中宋" pitchFamily="2" charset="-122"/>
                          <a:cs typeface="Times New Roman" pitchFamily="18" charset="0"/>
                        </a:rPr>
                        <a:t>  CH</a:t>
                      </a:r>
                      <a:r>
                        <a:rPr kumimoji="1" lang="en-US" altLang="zh-CN" sz="1400" b="1" i="0" u="none" strike="noStrike" cap="none" normalizeH="0" baseline="-25000" smtClean="0">
                          <a:ln>
                            <a:noFill/>
                          </a:ln>
                          <a:solidFill>
                            <a:srgbClr val="C00000"/>
                          </a:solidFill>
                          <a:effectLst/>
                          <a:latin typeface="Times New Roman" pitchFamily="18" charset="0"/>
                          <a:ea typeface="华文中宋" pitchFamily="2" charset="-122"/>
                          <a:cs typeface="Times New Roman" pitchFamily="18" charset="0"/>
                        </a:rPr>
                        <a:t>4</a:t>
                      </a:r>
                      <a:endParaRPr kumimoji="1" lang="en-US" altLang="zh-CN" sz="1400" b="1" i="0" u="none" strike="noStrike" cap="none" normalizeH="0" baseline="0" smtClean="0">
                        <a:ln>
                          <a:noFill/>
                        </a:ln>
                        <a:solidFill>
                          <a:srgbClr val="C00000"/>
                        </a:solidFill>
                        <a:effectLst/>
                        <a:latin typeface="Times New Roman" pitchFamily="18" charset="0"/>
                        <a:ea typeface="华文中宋" pitchFamily="2" charset="-122"/>
                        <a:cs typeface="Times New Roman" pitchFamily="18" charset="0"/>
                      </a:endParaRPr>
                    </a:p>
                  </a:txBody>
                  <a:tcPr marL="91437" marR="91437" marT="34275" marB="34275" horzOverflow="overflow">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400" b="1" i="0" u="none" strike="noStrike" cap="none" normalizeH="0" baseline="0" smtClean="0">
                          <a:ln>
                            <a:noFill/>
                          </a:ln>
                          <a:solidFill>
                            <a:schemeClr val="tx1"/>
                          </a:solidFill>
                          <a:effectLst/>
                          <a:latin typeface="Times New Roman" pitchFamily="18" charset="0"/>
                          <a:ea typeface="华文中宋" pitchFamily="2" charset="-122"/>
                          <a:cs typeface="Times New Roman" pitchFamily="18" charset="0"/>
                        </a:rPr>
                        <a:t>    3</a:t>
                      </a:r>
                    </a:p>
                  </a:txBody>
                  <a:tcPr marL="91437" marR="91437" marT="34275" marB="34275" horzOverflow="overflow">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400" b="1" i="0" u="none" strike="noStrike" cap="none" normalizeH="0" baseline="0" smtClean="0">
                          <a:ln>
                            <a:noFill/>
                          </a:ln>
                          <a:solidFill>
                            <a:schemeClr val="tx1"/>
                          </a:solidFill>
                          <a:effectLst/>
                          <a:latin typeface="Times New Roman" pitchFamily="18" charset="0"/>
                          <a:ea typeface="华文中宋" pitchFamily="2" charset="-122"/>
                          <a:cs typeface="Times New Roman" pitchFamily="18" charset="0"/>
                        </a:rPr>
                        <a:t>   4</a:t>
                      </a:r>
                    </a:p>
                  </a:txBody>
                  <a:tcPr marL="91437" marR="91437" marT="34275" marB="34275" horzOverflow="overflow">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400" b="1" i="0" u="none" strike="noStrike" cap="none" normalizeH="0" baseline="0" dirty="0" smtClean="0">
                          <a:ln>
                            <a:noFill/>
                          </a:ln>
                          <a:solidFill>
                            <a:schemeClr val="tx1"/>
                          </a:solidFill>
                          <a:effectLst/>
                          <a:latin typeface="Times New Roman" pitchFamily="18" charset="0"/>
                          <a:ea typeface="华文中宋" pitchFamily="2" charset="-122"/>
                          <a:cs typeface="Times New Roman" pitchFamily="18" charset="0"/>
                        </a:rPr>
                        <a:t>1.33</a:t>
                      </a:r>
                    </a:p>
                  </a:txBody>
                  <a:tcPr marL="91437" marR="91437" marT="34275" marB="34275" horzOverflow="overflow">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400" b="1" i="0" u="none" strike="noStrike" cap="none" normalizeH="0" baseline="0" smtClean="0">
                          <a:ln>
                            <a:noFill/>
                          </a:ln>
                          <a:solidFill>
                            <a:schemeClr val="tx1"/>
                          </a:solidFill>
                          <a:effectLst/>
                          <a:latin typeface="Times New Roman" pitchFamily="18" charset="0"/>
                          <a:ea typeface="华文中宋" pitchFamily="2" charset="-122"/>
                          <a:cs typeface="Times New Roman" pitchFamily="18" charset="0"/>
                        </a:rPr>
                        <a:t>  3.16</a:t>
                      </a:r>
                    </a:p>
                  </a:txBody>
                  <a:tcPr marL="91437" marR="91437" marT="34275" marB="34275" horzOverflow="overflow">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400" b="1" i="0" u="none" strike="noStrike" cap="none" normalizeH="0" baseline="0" dirty="0" smtClean="0">
                          <a:ln>
                            <a:noFill/>
                          </a:ln>
                          <a:solidFill>
                            <a:schemeClr val="tx1"/>
                          </a:solidFill>
                          <a:effectLst/>
                          <a:latin typeface="Times New Roman" pitchFamily="18" charset="0"/>
                          <a:ea typeface="华文中宋" pitchFamily="2" charset="-122"/>
                          <a:cs typeface="Times New Roman" pitchFamily="18" charset="0"/>
                        </a:rPr>
                        <a:t>  </a:t>
                      </a:r>
                      <a:r>
                        <a:rPr kumimoji="1" lang="en-US" altLang="zh-CN" sz="1400" b="1" i="0" u="sng" strike="noStrike" cap="none" normalizeH="0" baseline="0" dirty="0" smtClean="0">
                          <a:ln>
                            <a:noFill/>
                          </a:ln>
                          <a:solidFill>
                            <a:srgbClr val="0000FF"/>
                          </a:solidFill>
                          <a:effectLst/>
                          <a:latin typeface="Times New Roman" pitchFamily="18" charset="0"/>
                          <a:ea typeface="华文中宋" pitchFamily="2" charset="-122"/>
                          <a:cs typeface="Times New Roman" pitchFamily="18" charset="0"/>
                        </a:rPr>
                        <a:t>4.28</a:t>
                      </a:r>
                    </a:p>
                  </a:txBody>
                  <a:tcPr marL="91437" marR="91437" marT="34275" marB="34275" horzOverflow="overflow">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400" b="1" i="0" u="none" strike="noStrike" cap="none" normalizeH="0" baseline="0" dirty="0" smtClean="0">
                          <a:ln>
                            <a:noFill/>
                          </a:ln>
                          <a:solidFill>
                            <a:schemeClr val="tx1"/>
                          </a:solidFill>
                          <a:effectLst/>
                          <a:latin typeface="Times New Roman" pitchFamily="18" charset="0"/>
                          <a:ea typeface="华文中宋" pitchFamily="2" charset="-122"/>
                          <a:cs typeface="Times New Roman" pitchFamily="18" charset="0"/>
                        </a:rPr>
                        <a:t>1.35</a:t>
                      </a:r>
                    </a:p>
                  </a:txBody>
                  <a:tcPr marL="91437" marR="91437" marT="34275" marB="34275" horzOverflow="overflow">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a:noFill/>
                    </a:lnTlToBr>
                    <a:lnBlToTr>
                      <a:noFill/>
                    </a:lnBlToTr>
                    <a:noFill/>
                  </a:tcPr>
                </a:tc>
              </a:tr>
            </a:tbl>
          </a:graphicData>
        </a:graphic>
      </p:graphicFrame>
      <p:sp>
        <p:nvSpPr>
          <p:cNvPr id="170074" name="Text Box 90"/>
          <p:cNvSpPr txBox="1">
            <a:spLocks noChangeArrowheads="1"/>
          </p:cNvSpPr>
          <p:nvPr/>
        </p:nvSpPr>
        <p:spPr bwMode="auto">
          <a:xfrm>
            <a:off x="517525" y="3403600"/>
            <a:ext cx="8189913" cy="681038"/>
          </a:xfrm>
          <a:prstGeom prst="rect">
            <a:avLst/>
          </a:prstGeom>
          <a:noFill/>
          <a:ln w="9525">
            <a:noFill/>
            <a:miter lim="800000"/>
            <a:headEnd/>
            <a:tailEnd/>
          </a:ln>
        </p:spPr>
        <p:txBody>
          <a:bodyPr>
            <a:spAutoFit/>
          </a:bodyPr>
          <a:lstStyle/>
          <a:p>
            <a:pPr>
              <a:lnSpc>
                <a:spcPct val="110000"/>
              </a:lnSpc>
            </a:pPr>
            <a:r>
              <a:rPr kumimoji="1" lang="en-US" altLang="zh-CN" b="1">
                <a:solidFill>
                  <a:srgbClr val="FF0000"/>
                </a:solidFill>
                <a:latin typeface="华文中宋"/>
                <a:ea typeface="华文中宋"/>
                <a:cs typeface="华文中宋"/>
                <a:sym typeface="Symbol" pitchFamily="18" charset="2"/>
              </a:rPr>
              <a:t></a:t>
            </a:r>
            <a:r>
              <a:rPr kumimoji="1" lang="zh-CN" altLang="en-US" b="1">
                <a:solidFill>
                  <a:srgbClr val="000000"/>
                </a:solidFill>
                <a:latin typeface="华文中宋"/>
                <a:ea typeface="华文中宋"/>
                <a:cs typeface="华文中宋"/>
                <a:sym typeface="Symbol" pitchFamily="18" charset="2"/>
              </a:rPr>
              <a:t>在</a:t>
            </a:r>
            <a:r>
              <a:rPr kumimoji="1" lang="zh-CN" altLang="en-US" b="1">
                <a:solidFill>
                  <a:srgbClr val="000000"/>
                </a:solidFill>
                <a:latin typeface="华文中宋"/>
                <a:ea typeface="华文中宋"/>
                <a:cs typeface="华文中宋"/>
              </a:rPr>
              <a:t>常温下，单、双原子分子气体理论值与实验值符合得相当好；对多原子分子气体符合得略差；</a:t>
            </a:r>
          </a:p>
        </p:txBody>
      </p:sp>
      <p:sp>
        <p:nvSpPr>
          <p:cNvPr id="170076" name="Text Box 92"/>
          <p:cNvSpPr txBox="1">
            <a:spLocks noChangeArrowheads="1"/>
          </p:cNvSpPr>
          <p:nvPr/>
        </p:nvSpPr>
        <p:spPr bwMode="auto">
          <a:xfrm>
            <a:off x="534988" y="4084638"/>
            <a:ext cx="8358187" cy="374650"/>
          </a:xfrm>
          <a:prstGeom prst="rect">
            <a:avLst/>
          </a:prstGeom>
          <a:noFill/>
          <a:ln w="9525">
            <a:noFill/>
            <a:miter lim="800000"/>
            <a:headEnd/>
            <a:tailEnd/>
          </a:ln>
        </p:spPr>
        <p:txBody>
          <a:bodyPr>
            <a:spAutoFit/>
          </a:bodyPr>
          <a:lstStyle/>
          <a:p>
            <a:pPr>
              <a:lnSpc>
                <a:spcPct val="110000"/>
              </a:lnSpc>
            </a:pPr>
            <a:r>
              <a:rPr kumimoji="1" lang="en-US" altLang="zh-CN" b="1">
                <a:solidFill>
                  <a:srgbClr val="FF0000"/>
                </a:solidFill>
                <a:latin typeface="华文中宋"/>
                <a:ea typeface="华文中宋"/>
                <a:cs typeface="华文中宋"/>
                <a:sym typeface="Symbol" pitchFamily="18" charset="2"/>
              </a:rPr>
              <a:t></a:t>
            </a:r>
            <a:r>
              <a:rPr kumimoji="1" lang="zh-CN" altLang="en-US" b="1">
                <a:solidFill>
                  <a:srgbClr val="000000"/>
                </a:solidFill>
                <a:latin typeface="华文中宋"/>
                <a:ea typeface="华文中宋"/>
                <a:cs typeface="华文中宋"/>
              </a:rPr>
              <a:t>在较大的温度范围</a:t>
            </a:r>
            <a:r>
              <a:rPr kumimoji="1" lang="en-US" altLang="zh-CN" b="1">
                <a:solidFill>
                  <a:srgbClr val="000000"/>
                </a:solidFill>
                <a:latin typeface="华文中宋"/>
                <a:ea typeface="华文中宋"/>
                <a:cs typeface="华文中宋"/>
              </a:rPr>
              <a:t>,  </a:t>
            </a:r>
            <a:r>
              <a:rPr kumimoji="1" lang="zh-CN" altLang="en-US" b="1">
                <a:solidFill>
                  <a:srgbClr val="000000"/>
                </a:solidFill>
                <a:latin typeface="华文中宋"/>
                <a:ea typeface="华文中宋"/>
                <a:cs typeface="华文中宋"/>
              </a:rPr>
              <a:t>热容与温度有关。经典理论的局限性，只是近似理论。</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9988"/>
                                        </p:tgtEl>
                                        <p:attrNameLst>
                                          <p:attrName>style.visibility</p:attrName>
                                        </p:attrNameLst>
                                      </p:cBhvr>
                                      <p:to>
                                        <p:strVal val="visible"/>
                                      </p:to>
                                    </p:set>
                                    <p:animEffect transition="in" filter="wipe(left)">
                                      <p:cBhvr>
                                        <p:cTn id="7" dur="500"/>
                                        <p:tgtEl>
                                          <p:spTgt spid="169988"/>
                                        </p:tgtEl>
                                      </p:cBhvr>
                                    </p:animEffect>
                                  </p:childTnLst>
                                </p:cTn>
                              </p:par>
                            </p:childTnLst>
                          </p:cTn>
                        </p:par>
                        <p:par>
                          <p:cTn id="8" fill="hold" nodeType="afterGroup">
                            <p:stCondLst>
                              <p:cond delay="500"/>
                            </p:stCondLst>
                            <p:childTnLst>
                              <p:par>
                                <p:cTn id="9" presetID="22" presetClass="entr" presetSubtype="1" fill="hold" nodeType="afterEffect">
                                  <p:stCondLst>
                                    <p:cond delay="0"/>
                                  </p:stCondLst>
                                  <p:childTnLst>
                                    <p:set>
                                      <p:cBhvr>
                                        <p:cTn id="10" dur="1" fill="hold">
                                          <p:stCondLst>
                                            <p:cond delay="0"/>
                                          </p:stCondLst>
                                        </p:cTn>
                                        <p:tgtEl>
                                          <p:spTgt spid="159821"/>
                                        </p:tgtEl>
                                        <p:attrNameLst>
                                          <p:attrName>style.visibility</p:attrName>
                                        </p:attrNameLst>
                                      </p:cBhvr>
                                      <p:to>
                                        <p:strVal val="visible"/>
                                      </p:to>
                                    </p:set>
                                    <p:animEffect transition="in" filter="wipe(up)">
                                      <p:cBhvr>
                                        <p:cTn id="11" dur="500"/>
                                        <p:tgtEl>
                                          <p:spTgt spid="159821"/>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70074"/>
                                        </p:tgtEl>
                                        <p:attrNameLst>
                                          <p:attrName>style.visibility</p:attrName>
                                        </p:attrNameLst>
                                      </p:cBhvr>
                                      <p:to>
                                        <p:strVal val="visible"/>
                                      </p:to>
                                    </p:set>
                                    <p:animEffect transition="in" filter="wipe(left)">
                                      <p:cBhvr>
                                        <p:cTn id="16" dur="500"/>
                                        <p:tgtEl>
                                          <p:spTgt spid="170074"/>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70076"/>
                                        </p:tgtEl>
                                        <p:attrNameLst>
                                          <p:attrName>style.visibility</p:attrName>
                                        </p:attrNameLst>
                                      </p:cBhvr>
                                      <p:to>
                                        <p:strVal val="visible"/>
                                      </p:to>
                                    </p:set>
                                    <p:animEffect transition="in" filter="wipe(left)">
                                      <p:cBhvr>
                                        <p:cTn id="21" dur="500"/>
                                        <p:tgtEl>
                                          <p:spTgt spid="1700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9988" grpId="0" autoUpdateAnimBg="0"/>
      <p:bldP spid="170074" grpId="0" autoUpdateAnimBg="0"/>
      <p:bldP spid="170076" grpId="0"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a:spLocks noChangeArrowheads="1"/>
          </p:cNvSpPr>
          <p:nvPr/>
        </p:nvSpPr>
        <p:spPr bwMode="auto">
          <a:xfrm>
            <a:off x="395288" y="1736725"/>
            <a:ext cx="1368425" cy="396875"/>
          </a:xfrm>
          <a:prstGeom prst="rect">
            <a:avLst/>
          </a:prstGeom>
          <a:noFill/>
          <a:ln w="9525">
            <a:noFill/>
            <a:miter lim="800000"/>
            <a:headEnd/>
            <a:tailEnd/>
          </a:ln>
        </p:spPr>
        <p:txBody>
          <a:bodyPr>
            <a:spAutoFit/>
          </a:bodyPr>
          <a:lstStyle/>
          <a:p>
            <a:pPr>
              <a:lnSpc>
                <a:spcPct val="110000"/>
              </a:lnSpc>
            </a:pPr>
            <a:r>
              <a:rPr kumimoji="1" lang="zh-CN" altLang="en-US" b="1">
                <a:solidFill>
                  <a:srgbClr val="FF0000"/>
                </a:solidFill>
                <a:latin typeface="Times New Roman" pitchFamily="18" charset="0"/>
                <a:ea typeface="华文中宋"/>
                <a:cs typeface="华文中宋"/>
              </a:rPr>
              <a:t>解</a:t>
            </a:r>
            <a:r>
              <a:rPr kumimoji="1" lang="zh-CN" altLang="en-US" b="1">
                <a:solidFill>
                  <a:srgbClr val="FF0000"/>
                </a:solidFill>
                <a:latin typeface="Times New Roman" pitchFamily="18" charset="0"/>
                <a:ea typeface="华文中宋"/>
                <a:cs typeface="华文中宋"/>
                <a:sym typeface="Wingdings" pitchFamily="2" charset="2"/>
              </a:rPr>
              <a:t>：</a:t>
            </a:r>
            <a:r>
              <a:rPr kumimoji="1" lang="zh-CN" altLang="en-US" b="1">
                <a:solidFill>
                  <a:srgbClr val="C00000"/>
                </a:solidFill>
                <a:latin typeface="Times New Roman" pitchFamily="18" charset="0"/>
                <a:ea typeface="华文中宋"/>
                <a:cs typeface="华文中宋"/>
                <a:sym typeface="Wingdings" pitchFamily="2" charset="2"/>
              </a:rPr>
              <a:t>（１）</a:t>
            </a:r>
            <a:endParaRPr kumimoji="1" lang="zh-CN" altLang="en-US" b="1">
              <a:solidFill>
                <a:srgbClr val="C00000"/>
              </a:solidFill>
              <a:latin typeface="Times New Roman" pitchFamily="18" charset="0"/>
              <a:ea typeface="华文中宋"/>
              <a:cs typeface="华文中宋"/>
            </a:endParaRPr>
          </a:p>
        </p:txBody>
      </p:sp>
      <p:graphicFrame>
        <p:nvGraphicFramePr>
          <p:cNvPr id="5" name="Object 92"/>
          <p:cNvGraphicFramePr>
            <a:graphicFrameLocks noChangeAspect="1"/>
          </p:cNvGraphicFramePr>
          <p:nvPr/>
        </p:nvGraphicFramePr>
        <p:xfrm>
          <a:off x="1836738" y="1635125"/>
          <a:ext cx="1865312" cy="571500"/>
        </p:xfrm>
        <a:graphic>
          <a:graphicData uri="http://schemas.openxmlformats.org/presentationml/2006/ole">
            <p:oleObj spid="_x0000_s16476" name="Equation" r:id="rId3" imgW="875920" imgH="355446" progId="Equation.DSMT4">
              <p:embed/>
            </p:oleObj>
          </a:graphicData>
        </a:graphic>
      </p:graphicFrame>
      <p:graphicFrame>
        <p:nvGraphicFramePr>
          <p:cNvPr id="6" name="Object 93"/>
          <p:cNvGraphicFramePr>
            <a:graphicFrameLocks noChangeAspect="1"/>
          </p:cNvGraphicFramePr>
          <p:nvPr/>
        </p:nvGraphicFramePr>
        <p:xfrm>
          <a:off x="3563938" y="1736725"/>
          <a:ext cx="1079500" cy="325438"/>
        </p:xfrm>
        <a:graphic>
          <a:graphicData uri="http://schemas.openxmlformats.org/presentationml/2006/ole">
            <p:oleObj spid="_x0000_s16477" name="Equation" r:id="rId4" imgW="342751" imgH="139639" progId="Equation.DSMT4">
              <p:embed/>
            </p:oleObj>
          </a:graphicData>
        </a:graphic>
      </p:graphicFrame>
      <p:graphicFrame>
        <p:nvGraphicFramePr>
          <p:cNvPr id="7" name="Object 94"/>
          <p:cNvGraphicFramePr>
            <a:graphicFrameLocks noChangeAspect="1"/>
          </p:cNvGraphicFramePr>
          <p:nvPr/>
        </p:nvGraphicFramePr>
        <p:xfrm>
          <a:off x="1692275" y="2284413"/>
          <a:ext cx="1257300" cy="306387"/>
        </p:xfrm>
        <a:graphic>
          <a:graphicData uri="http://schemas.openxmlformats.org/presentationml/2006/ole">
            <p:oleObj spid="_x0000_s16478" name="Equation" r:id="rId5" imgW="621760" imgH="177646" progId="Equation.DSMT4">
              <p:embed/>
            </p:oleObj>
          </a:graphicData>
        </a:graphic>
      </p:graphicFrame>
      <p:graphicFrame>
        <p:nvGraphicFramePr>
          <p:cNvPr id="8" name="Object 95"/>
          <p:cNvGraphicFramePr>
            <a:graphicFrameLocks noChangeAspect="1"/>
          </p:cNvGraphicFramePr>
          <p:nvPr/>
        </p:nvGraphicFramePr>
        <p:xfrm>
          <a:off x="1835150" y="2638425"/>
          <a:ext cx="2211388" cy="360363"/>
        </p:xfrm>
        <a:graphic>
          <a:graphicData uri="http://schemas.openxmlformats.org/presentationml/2006/ole">
            <p:oleObj spid="_x0000_s16479" name="Equation" r:id="rId6" imgW="1079032" imgH="177723" progId="Equation.DSMT4">
              <p:embed/>
            </p:oleObj>
          </a:graphicData>
        </a:graphic>
      </p:graphicFrame>
      <p:grpSp>
        <p:nvGrpSpPr>
          <p:cNvPr id="16486" name="Group 22"/>
          <p:cNvGrpSpPr>
            <a:grpSpLocks/>
          </p:cNvGrpSpPr>
          <p:nvPr/>
        </p:nvGrpSpPr>
        <p:grpSpPr bwMode="auto">
          <a:xfrm>
            <a:off x="488950" y="857250"/>
            <a:ext cx="8475663" cy="922338"/>
            <a:chOff x="308" y="348"/>
            <a:chExt cx="5200" cy="775"/>
          </a:xfrm>
        </p:grpSpPr>
        <p:sp>
          <p:nvSpPr>
            <p:cNvPr id="16489" name="Text Box 2"/>
            <p:cNvSpPr txBox="1">
              <a:spLocks noChangeArrowheads="1"/>
            </p:cNvSpPr>
            <p:nvPr/>
          </p:nvSpPr>
          <p:spPr bwMode="auto">
            <a:xfrm>
              <a:off x="308" y="348"/>
              <a:ext cx="5200" cy="775"/>
            </a:xfrm>
            <a:prstGeom prst="rect">
              <a:avLst/>
            </a:prstGeom>
            <a:noFill/>
            <a:ln w="9525">
              <a:noFill/>
              <a:miter lim="800000"/>
              <a:headEnd/>
              <a:tailEnd/>
            </a:ln>
          </p:spPr>
          <p:txBody>
            <a:bodyPr>
              <a:spAutoFit/>
            </a:bodyPr>
            <a:lstStyle/>
            <a:p>
              <a:pPr eaLnBrk="0" hangingPunct="0"/>
              <a:r>
                <a:rPr kumimoji="1" lang="zh-CN" altLang="en-US" b="1">
                  <a:solidFill>
                    <a:srgbClr val="0000FF"/>
                  </a:solidFill>
                  <a:latin typeface="Times New Roman" pitchFamily="18" charset="0"/>
                  <a:ea typeface="华文中宋"/>
                  <a:cs typeface="华文中宋"/>
                </a:rPr>
                <a:t>例　</a:t>
              </a:r>
              <a:r>
                <a:rPr lang="zh-CN" altLang="en-US" b="1">
                  <a:solidFill>
                    <a:srgbClr val="0000FF"/>
                  </a:solidFill>
                  <a:latin typeface="Times New Roman" pitchFamily="18" charset="0"/>
                  <a:ea typeface="华文中宋"/>
                  <a:cs typeface="华文中宋"/>
                </a:rPr>
                <a:t>将</a:t>
              </a:r>
              <a:r>
                <a:rPr lang="en-US" altLang="zh-CN" b="1">
                  <a:solidFill>
                    <a:srgbClr val="0000FF"/>
                  </a:solidFill>
                  <a:latin typeface="Times New Roman" pitchFamily="18" charset="0"/>
                  <a:ea typeface="华文中宋"/>
                  <a:cs typeface="华文中宋"/>
                </a:rPr>
                <a:t>1 mol</a:t>
              </a:r>
              <a:r>
                <a:rPr lang="zh-CN" altLang="en-US" b="1">
                  <a:solidFill>
                    <a:srgbClr val="0000FF"/>
                  </a:solidFill>
                  <a:latin typeface="Times New Roman" pitchFamily="18" charset="0"/>
                  <a:ea typeface="华文中宋"/>
                  <a:cs typeface="华文中宋"/>
                </a:rPr>
                <a:t>理想气体等压加热，使其温度升高</a:t>
              </a:r>
              <a:r>
                <a:rPr lang="en-US" altLang="zh-CN" b="1">
                  <a:solidFill>
                    <a:srgbClr val="0000FF"/>
                  </a:solidFill>
                  <a:latin typeface="Times New Roman" pitchFamily="18" charset="0"/>
                  <a:ea typeface="华文中宋"/>
                  <a:cs typeface="华文中宋"/>
                </a:rPr>
                <a:t>72 K, </a:t>
              </a:r>
              <a:r>
                <a:rPr lang="zh-CN" altLang="en-US" b="1">
                  <a:solidFill>
                    <a:srgbClr val="0000FF"/>
                  </a:solidFill>
                  <a:latin typeface="Times New Roman" pitchFamily="18" charset="0"/>
                  <a:ea typeface="华文中宋"/>
                  <a:cs typeface="华文中宋"/>
                </a:rPr>
                <a:t>传给气体的热量等</a:t>
              </a:r>
              <a:r>
                <a:rPr lang="en-US" altLang="zh-CN" b="1">
                  <a:solidFill>
                    <a:srgbClr val="0000FF"/>
                  </a:solidFill>
                  <a:latin typeface="Times New Roman" pitchFamily="18" charset="0"/>
                  <a:ea typeface="华文中宋"/>
                  <a:cs typeface="华文中宋"/>
                </a:rPr>
                <a:t>1.60×10</a:t>
              </a:r>
              <a:r>
                <a:rPr lang="en-US" altLang="zh-CN" b="1" baseline="30000">
                  <a:solidFill>
                    <a:srgbClr val="0000FF"/>
                  </a:solidFill>
                  <a:latin typeface="Times New Roman" pitchFamily="18" charset="0"/>
                  <a:ea typeface="华文中宋"/>
                  <a:cs typeface="华文中宋"/>
                </a:rPr>
                <a:t>3</a:t>
              </a:r>
              <a:r>
                <a:rPr lang="en-US" altLang="zh-CN" b="1">
                  <a:solidFill>
                    <a:srgbClr val="0000FF"/>
                  </a:solidFill>
                  <a:latin typeface="Times New Roman" pitchFamily="18" charset="0"/>
                  <a:ea typeface="华文中宋"/>
                  <a:cs typeface="华文中宋"/>
                </a:rPr>
                <a:t> J</a:t>
              </a:r>
              <a:r>
                <a:rPr lang="zh-CN" altLang="en-US" b="1">
                  <a:solidFill>
                    <a:srgbClr val="0000FF"/>
                  </a:solidFill>
                  <a:latin typeface="Times New Roman" pitchFamily="18" charset="0"/>
                  <a:ea typeface="华文中宋"/>
                  <a:cs typeface="华文中宋"/>
                </a:rPr>
                <a:t>，求： </a:t>
              </a:r>
              <a:r>
                <a:rPr lang="en-US" altLang="zh-CN" b="1">
                  <a:solidFill>
                    <a:srgbClr val="0000FF"/>
                  </a:solidFill>
                  <a:latin typeface="Times New Roman" pitchFamily="18" charset="0"/>
                  <a:ea typeface="华文中宋"/>
                  <a:cs typeface="华文中宋"/>
                </a:rPr>
                <a:t>(1) </a:t>
              </a:r>
              <a:r>
                <a:rPr lang="zh-CN" altLang="en-US" b="1">
                  <a:solidFill>
                    <a:srgbClr val="0000FF"/>
                  </a:solidFill>
                  <a:latin typeface="Times New Roman" pitchFamily="18" charset="0"/>
                  <a:ea typeface="华文中宋"/>
                  <a:cs typeface="华文中宋"/>
                </a:rPr>
                <a:t>气体所作的功</a:t>
              </a:r>
              <a:r>
                <a:rPr lang="en-US" altLang="zh-CN" b="1" i="1">
                  <a:solidFill>
                    <a:srgbClr val="0000FF"/>
                  </a:solidFill>
                  <a:latin typeface="Times New Roman" pitchFamily="18" charset="0"/>
                  <a:ea typeface="华文中宋"/>
                  <a:cs typeface="华文中宋"/>
                </a:rPr>
                <a:t>W</a:t>
              </a:r>
              <a:r>
                <a:rPr lang="zh-CN" altLang="en-US" b="1">
                  <a:solidFill>
                    <a:srgbClr val="0000FF"/>
                  </a:solidFill>
                  <a:latin typeface="Times New Roman" pitchFamily="18" charset="0"/>
                  <a:ea typeface="华文中宋"/>
                  <a:cs typeface="华文中宋"/>
                </a:rPr>
                <a:t>； </a:t>
              </a:r>
            </a:p>
            <a:p>
              <a:pPr eaLnBrk="0" hangingPunct="0"/>
              <a:r>
                <a:rPr lang="zh-CN" altLang="en-US">
                  <a:solidFill>
                    <a:srgbClr val="000000"/>
                  </a:solidFill>
                  <a:latin typeface="Times New Roman" pitchFamily="18" charset="0"/>
                  <a:ea typeface="华文中宋"/>
                  <a:cs typeface="华文中宋"/>
                </a:rPr>
                <a:t>             </a:t>
              </a:r>
              <a:r>
                <a:rPr lang="en-US" altLang="zh-CN" b="1">
                  <a:solidFill>
                    <a:srgbClr val="0000FF"/>
                  </a:solidFill>
                  <a:latin typeface="Times New Roman" pitchFamily="18" charset="0"/>
                  <a:ea typeface="华文中宋"/>
                  <a:cs typeface="华文中宋"/>
                </a:rPr>
                <a:t>(3) </a:t>
              </a:r>
              <a:r>
                <a:rPr lang="zh-CN" altLang="en-US" b="1">
                  <a:solidFill>
                    <a:srgbClr val="0000FF"/>
                  </a:solidFill>
                  <a:latin typeface="Times New Roman" pitchFamily="18" charset="0"/>
                  <a:ea typeface="华文中宋"/>
                  <a:cs typeface="华文中宋"/>
                </a:rPr>
                <a:t>比热比</a:t>
              </a:r>
              <a:r>
                <a:rPr lang="el-GR" altLang="zh-CN" b="1" i="1">
                  <a:solidFill>
                    <a:srgbClr val="0000FF"/>
                  </a:solidFill>
                  <a:latin typeface="Times New Roman" pitchFamily="18" charset="0"/>
                  <a:ea typeface="华文中宋"/>
                  <a:cs typeface="华文中宋"/>
                </a:rPr>
                <a:t>γ</a:t>
              </a:r>
              <a:r>
                <a:rPr lang="en-US" altLang="zh-CN" b="1">
                  <a:solidFill>
                    <a:srgbClr val="0000FF"/>
                  </a:solidFill>
                  <a:latin typeface="Times New Roman" pitchFamily="18" charset="0"/>
                  <a:ea typeface="华文中宋"/>
                  <a:cs typeface="华文中宋"/>
                </a:rPr>
                <a:t> </a:t>
              </a:r>
              <a:r>
                <a:rPr lang="zh-CN" altLang="en-US" b="1">
                  <a:solidFill>
                    <a:srgbClr val="0000FF"/>
                  </a:solidFill>
                  <a:latin typeface="Times New Roman" pitchFamily="18" charset="0"/>
                  <a:ea typeface="华文中宋"/>
                  <a:cs typeface="华文中宋"/>
                </a:rPr>
                <a:t>。                                       </a:t>
              </a:r>
            </a:p>
          </p:txBody>
        </p:sp>
        <p:sp>
          <p:nvSpPr>
            <p:cNvPr id="16490" name="Text Box 2"/>
            <p:cNvSpPr txBox="1">
              <a:spLocks noChangeArrowheads="1"/>
            </p:cNvSpPr>
            <p:nvPr/>
          </p:nvSpPr>
          <p:spPr bwMode="auto">
            <a:xfrm>
              <a:off x="2239" y="571"/>
              <a:ext cx="1950" cy="310"/>
            </a:xfrm>
            <a:prstGeom prst="rect">
              <a:avLst/>
            </a:prstGeom>
            <a:noFill/>
            <a:ln w="9525">
              <a:noFill/>
              <a:miter lim="800000"/>
              <a:headEnd/>
              <a:tailEnd/>
            </a:ln>
          </p:spPr>
          <p:txBody>
            <a:bodyPr>
              <a:spAutoFit/>
            </a:bodyPr>
            <a:lstStyle/>
            <a:p>
              <a:pPr eaLnBrk="0" hangingPunct="0"/>
              <a:r>
                <a:rPr lang="en-US" altLang="zh-CN" b="1">
                  <a:solidFill>
                    <a:srgbClr val="0000FF"/>
                  </a:solidFill>
                  <a:latin typeface="Times New Roman" pitchFamily="18" charset="0"/>
                  <a:ea typeface="华文中宋"/>
                  <a:cs typeface="华文中宋"/>
                </a:rPr>
                <a:t> (2) </a:t>
              </a:r>
              <a:r>
                <a:rPr lang="zh-CN" altLang="en-US" b="1">
                  <a:solidFill>
                    <a:srgbClr val="0000FF"/>
                  </a:solidFill>
                  <a:latin typeface="Times New Roman" pitchFamily="18" charset="0"/>
                  <a:ea typeface="华文中宋"/>
                  <a:cs typeface="华文中宋"/>
                </a:rPr>
                <a:t>气体内能的增量</a:t>
              </a:r>
              <a:r>
                <a:rPr lang="el-GR" altLang="zh-CN" b="1" i="1">
                  <a:solidFill>
                    <a:srgbClr val="0000FF"/>
                  </a:solidFill>
                  <a:latin typeface="Times New Roman" pitchFamily="18" charset="0"/>
                  <a:ea typeface="华文中宋"/>
                  <a:cs typeface="Times New Roman" pitchFamily="18" charset="0"/>
                </a:rPr>
                <a:t>Δ</a:t>
              </a:r>
              <a:r>
                <a:rPr lang="en-US" altLang="zh-CN" b="1" i="1">
                  <a:solidFill>
                    <a:srgbClr val="0000FF"/>
                  </a:solidFill>
                  <a:latin typeface="Times New Roman" pitchFamily="18" charset="0"/>
                  <a:ea typeface="华文中宋"/>
                  <a:cs typeface="Times New Roman" pitchFamily="18" charset="0"/>
                </a:rPr>
                <a:t>E</a:t>
              </a:r>
              <a:r>
                <a:rPr lang="zh-CN" altLang="en-US" b="1">
                  <a:solidFill>
                    <a:srgbClr val="0000FF"/>
                  </a:solidFill>
                  <a:latin typeface="Times New Roman" pitchFamily="18" charset="0"/>
                  <a:ea typeface="华文中宋"/>
                  <a:cs typeface="华文中宋"/>
                </a:rPr>
                <a:t>；                                    </a:t>
              </a:r>
            </a:p>
          </p:txBody>
        </p:sp>
      </p:grpSp>
      <p:sp>
        <p:nvSpPr>
          <p:cNvPr id="23" name="Rectangle 9"/>
          <p:cNvSpPr>
            <a:spLocks noChangeArrowheads="1"/>
          </p:cNvSpPr>
          <p:nvPr/>
        </p:nvSpPr>
        <p:spPr bwMode="auto">
          <a:xfrm>
            <a:off x="4841875" y="1719263"/>
            <a:ext cx="882650" cy="396875"/>
          </a:xfrm>
          <a:prstGeom prst="rect">
            <a:avLst/>
          </a:prstGeom>
          <a:noFill/>
          <a:ln w="9525">
            <a:noFill/>
            <a:miter lim="800000"/>
            <a:headEnd/>
            <a:tailEnd/>
          </a:ln>
        </p:spPr>
        <p:txBody>
          <a:bodyPr>
            <a:spAutoFit/>
          </a:bodyPr>
          <a:lstStyle/>
          <a:p>
            <a:pPr eaLnBrk="0" hangingPunct="0">
              <a:lnSpc>
                <a:spcPct val="110000"/>
              </a:lnSpc>
            </a:pPr>
            <a:r>
              <a:rPr kumimoji="1" lang="zh-CN" altLang="en-US" b="1">
                <a:solidFill>
                  <a:srgbClr val="C00000"/>
                </a:solidFill>
                <a:latin typeface="Times New Roman" pitchFamily="18" charset="0"/>
                <a:ea typeface="华文中宋"/>
                <a:cs typeface="华文中宋"/>
              </a:rPr>
              <a:t>（２）</a:t>
            </a:r>
            <a:endParaRPr lang="zh-CN" altLang="en-US" b="1">
              <a:solidFill>
                <a:srgbClr val="C00000"/>
              </a:solidFill>
              <a:latin typeface="Times New Roman" pitchFamily="18" charset="0"/>
              <a:ea typeface="华文中宋"/>
              <a:cs typeface="华文中宋"/>
            </a:endParaRPr>
          </a:p>
        </p:txBody>
      </p:sp>
      <p:graphicFrame>
        <p:nvGraphicFramePr>
          <p:cNvPr id="24" name="Object 96"/>
          <p:cNvGraphicFramePr>
            <a:graphicFrameLocks noChangeAspect="1"/>
          </p:cNvGraphicFramePr>
          <p:nvPr/>
        </p:nvGraphicFramePr>
        <p:xfrm>
          <a:off x="5618163" y="1755775"/>
          <a:ext cx="1550987" cy="303213"/>
        </p:xfrm>
        <a:graphic>
          <a:graphicData uri="http://schemas.openxmlformats.org/presentationml/2006/ole">
            <p:oleObj spid="_x0000_s16480" name="Equation" r:id="rId7" imgW="774364" imgH="203112" progId="Equation.DSMT4">
              <p:embed/>
            </p:oleObj>
          </a:graphicData>
        </a:graphic>
      </p:graphicFrame>
      <p:graphicFrame>
        <p:nvGraphicFramePr>
          <p:cNvPr id="25" name="Object 97"/>
          <p:cNvGraphicFramePr>
            <a:graphicFrameLocks noChangeAspect="1"/>
          </p:cNvGraphicFramePr>
          <p:nvPr/>
        </p:nvGraphicFramePr>
        <p:xfrm>
          <a:off x="5610225" y="2178050"/>
          <a:ext cx="3209925" cy="387350"/>
        </p:xfrm>
        <a:graphic>
          <a:graphicData uri="http://schemas.openxmlformats.org/presentationml/2006/ole">
            <p:oleObj spid="_x0000_s16481" name="Equation" r:id="rId8" imgW="1536700" imgH="228600" progId="Equation.DSMT4">
              <p:embed/>
            </p:oleObj>
          </a:graphicData>
        </a:graphic>
      </p:graphicFrame>
      <p:graphicFrame>
        <p:nvGraphicFramePr>
          <p:cNvPr id="305166" name="Object 98"/>
          <p:cNvGraphicFramePr>
            <a:graphicFrameLocks noChangeAspect="1"/>
          </p:cNvGraphicFramePr>
          <p:nvPr/>
        </p:nvGraphicFramePr>
        <p:xfrm>
          <a:off x="2154238" y="3076575"/>
          <a:ext cx="3209925" cy="533400"/>
        </p:xfrm>
        <a:graphic>
          <a:graphicData uri="http://schemas.openxmlformats.org/presentationml/2006/ole">
            <p:oleObj spid="_x0000_s16482" name="Equation" r:id="rId9" imgW="1765300" imgH="393700" progId="Equation.DSMT4">
              <p:embed/>
            </p:oleObj>
          </a:graphicData>
        </a:graphic>
      </p:graphicFrame>
      <p:graphicFrame>
        <p:nvGraphicFramePr>
          <p:cNvPr id="14" name="Object 99"/>
          <p:cNvGraphicFramePr>
            <a:graphicFrameLocks noChangeAspect="1"/>
          </p:cNvGraphicFramePr>
          <p:nvPr/>
        </p:nvGraphicFramePr>
        <p:xfrm>
          <a:off x="2149475" y="3724275"/>
          <a:ext cx="4078288" cy="384175"/>
        </p:xfrm>
        <a:graphic>
          <a:graphicData uri="http://schemas.openxmlformats.org/presentationml/2006/ole">
            <p:oleObj spid="_x0000_s16483" name="Equation" r:id="rId10" imgW="2057400" imgH="254000" progId="Equation.DSMT4">
              <p:embed/>
            </p:oleObj>
          </a:graphicData>
        </a:graphic>
      </p:graphicFrame>
      <p:graphicFrame>
        <p:nvGraphicFramePr>
          <p:cNvPr id="16" name="Object 100"/>
          <p:cNvGraphicFramePr>
            <a:graphicFrameLocks noChangeAspect="1"/>
          </p:cNvGraphicFramePr>
          <p:nvPr/>
        </p:nvGraphicFramePr>
        <p:xfrm>
          <a:off x="2566988" y="4084638"/>
          <a:ext cx="1878012" cy="574675"/>
        </p:xfrm>
        <a:graphic>
          <a:graphicData uri="http://schemas.openxmlformats.org/presentationml/2006/ole">
            <p:oleObj spid="_x0000_s16484" name="Equation" r:id="rId11" imgW="914400" imgH="457200" progId="Equation.DSMT4">
              <p:embed/>
            </p:oleObj>
          </a:graphicData>
        </a:graphic>
      </p:graphicFrame>
      <p:sp>
        <p:nvSpPr>
          <p:cNvPr id="2" name="Rectangle 9"/>
          <p:cNvSpPr>
            <a:spLocks noChangeArrowheads="1"/>
          </p:cNvSpPr>
          <p:nvPr/>
        </p:nvSpPr>
        <p:spPr bwMode="auto">
          <a:xfrm>
            <a:off x="900113" y="3111500"/>
            <a:ext cx="935037" cy="396875"/>
          </a:xfrm>
          <a:prstGeom prst="rect">
            <a:avLst/>
          </a:prstGeom>
          <a:noFill/>
          <a:ln w="9525">
            <a:noFill/>
            <a:miter lim="800000"/>
            <a:headEnd/>
            <a:tailEnd/>
          </a:ln>
        </p:spPr>
        <p:txBody>
          <a:bodyPr>
            <a:spAutoFit/>
          </a:bodyPr>
          <a:lstStyle/>
          <a:p>
            <a:pPr eaLnBrk="0" hangingPunct="0">
              <a:lnSpc>
                <a:spcPct val="110000"/>
              </a:lnSpc>
            </a:pPr>
            <a:r>
              <a:rPr kumimoji="1" lang="zh-CN" altLang="en-US" b="1">
                <a:solidFill>
                  <a:srgbClr val="C00000"/>
                </a:solidFill>
                <a:latin typeface="Times New Roman" pitchFamily="18" charset="0"/>
                <a:ea typeface="华文中宋"/>
                <a:cs typeface="华文中宋"/>
              </a:rPr>
              <a:t>（３）</a:t>
            </a:r>
            <a:endParaRPr lang="zh-CN" altLang="en-US" b="1">
              <a:solidFill>
                <a:srgbClr val="C00000"/>
              </a:solidFill>
              <a:latin typeface="Times New Roman" pitchFamily="18" charset="0"/>
              <a:ea typeface="华文中宋"/>
              <a:cs typeface="华文中宋"/>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500"/>
                                        <p:tgtEl>
                                          <p:spTgt spid="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left)">
                                      <p:cBhvr>
                                        <p:cTn id="22" dur="500"/>
                                        <p:tgtEl>
                                          <p:spTgt spid="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left)">
                                      <p:cBhvr>
                                        <p:cTn id="27" dur="500"/>
                                        <p:tgtEl>
                                          <p:spTgt spid="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3"/>
                                        </p:tgtEl>
                                        <p:attrNameLst>
                                          <p:attrName>style.visibility</p:attrName>
                                        </p:attrNameLst>
                                      </p:cBhvr>
                                      <p:to>
                                        <p:strVal val="visible"/>
                                      </p:to>
                                    </p:set>
                                    <p:animEffect transition="in" filter="wipe(left)">
                                      <p:cBhvr>
                                        <p:cTn id="32" dur="500"/>
                                        <p:tgtEl>
                                          <p:spTgt spid="23"/>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24"/>
                                        </p:tgtEl>
                                        <p:attrNameLst>
                                          <p:attrName>style.visibility</p:attrName>
                                        </p:attrNameLst>
                                      </p:cBhvr>
                                      <p:to>
                                        <p:strVal val="visible"/>
                                      </p:to>
                                    </p:set>
                                    <p:animEffect transition="in" filter="wipe(left)">
                                      <p:cBhvr>
                                        <p:cTn id="37" dur="500"/>
                                        <p:tgtEl>
                                          <p:spTgt spid="24"/>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25"/>
                                        </p:tgtEl>
                                        <p:attrNameLst>
                                          <p:attrName>style.visibility</p:attrName>
                                        </p:attrNameLst>
                                      </p:cBhvr>
                                      <p:to>
                                        <p:strVal val="visible"/>
                                      </p:to>
                                    </p:set>
                                    <p:animEffect transition="in" filter="wipe(left)">
                                      <p:cBhvr>
                                        <p:cTn id="42" dur="500"/>
                                        <p:tgtEl>
                                          <p:spTgt spid="25"/>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
                                        </p:tgtEl>
                                        <p:attrNameLst>
                                          <p:attrName>style.visibility</p:attrName>
                                        </p:attrNameLst>
                                      </p:cBhvr>
                                      <p:to>
                                        <p:strVal val="visible"/>
                                      </p:to>
                                    </p:set>
                                    <p:animEffect transition="in" filter="wipe(left)">
                                      <p:cBhvr>
                                        <p:cTn id="47" dur="500"/>
                                        <p:tgtEl>
                                          <p:spTgt spid="2"/>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305166"/>
                                        </p:tgtEl>
                                        <p:attrNameLst>
                                          <p:attrName>style.visibility</p:attrName>
                                        </p:attrNameLst>
                                      </p:cBhvr>
                                      <p:to>
                                        <p:strVal val="visible"/>
                                      </p:to>
                                    </p:set>
                                    <p:animEffect transition="in" filter="wipe(left)">
                                      <p:cBhvr>
                                        <p:cTn id="52" dur="500"/>
                                        <p:tgtEl>
                                          <p:spTgt spid="305166"/>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nodeType="clickEffect">
                                  <p:stCondLst>
                                    <p:cond delay="0"/>
                                  </p:stCondLst>
                                  <p:childTnLst>
                                    <p:set>
                                      <p:cBhvr>
                                        <p:cTn id="56" dur="1" fill="hold">
                                          <p:stCondLst>
                                            <p:cond delay="0"/>
                                          </p:stCondLst>
                                        </p:cTn>
                                        <p:tgtEl>
                                          <p:spTgt spid="14"/>
                                        </p:tgtEl>
                                        <p:attrNameLst>
                                          <p:attrName>style.visibility</p:attrName>
                                        </p:attrNameLst>
                                      </p:cBhvr>
                                      <p:to>
                                        <p:strVal val="visible"/>
                                      </p:to>
                                    </p:set>
                                    <p:animEffect transition="in" filter="wipe(left)">
                                      <p:cBhvr>
                                        <p:cTn id="57" dur="500"/>
                                        <p:tgtEl>
                                          <p:spTgt spid="14"/>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nodeType="clickEffect">
                                  <p:stCondLst>
                                    <p:cond delay="0"/>
                                  </p:stCondLst>
                                  <p:childTnLst>
                                    <p:set>
                                      <p:cBhvr>
                                        <p:cTn id="61" dur="1" fill="hold">
                                          <p:stCondLst>
                                            <p:cond delay="0"/>
                                          </p:stCondLst>
                                        </p:cTn>
                                        <p:tgtEl>
                                          <p:spTgt spid="16"/>
                                        </p:tgtEl>
                                        <p:attrNameLst>
                                          <p:attrName>style.visibility</p:attrName>
                                        </p:attrNameLst>
                                      </p:cBhvr>
                                      <p:to>
                                        <p:strVal val="visible"/>
                                      </p:to>
                                    </p:set>
                                    <p:animEffect transition="in" filter="wipe(left)">
                                      <p:cBhvr>
                                        <p:cTn id="62"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3" grpId="0"/>
      <p:bldP spid="2"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3" name="Text Box 5"/>
          <p:cNvSpPr txBox="1">
            <a:spLocks noChangeArrowheads="1"/>
          </p:cNvSpPr>
          <p:nvPr/>
        </p:nvSpPr>
        <p:spPr bwMode="auto">
          <a:xfrm>
            <a:off x="539750" y="1762125"/>
            <a:ext cx="1708150" cy="369888"/>
          </a:xfrm>
          <a:prstGeom prst="rect">
            <a:avLst/>
          </a:prstGeom>
          <a:noFill/>
          <a:ln w="9525">
            <a:noFill/>
            <a:miter lim="800000"/>
            <a:headEnd/>
            <a:tailEnd/>
          </a:ln>
        </p:spPr>
        <p:txBody>
          <a:bodyPr>
            <a:spAutoFit/>
          </a:bodyPr>
          <a:lstStyle/>
          <a:p>
            <a:pPr eaLnBrk="0" hangingPunct="0"/>
            <a:r>
              <a:rPr lang="zh-CN" altLang="en-US" b="1">
                <a:solidFill>
                  <a:srgbClr val="800000"/>
                </a:solidFill>
                <a:latin typeface="华文中宋"/>
                <a:ea typeface="华文中宋"/>
                <a:cs typeface="华文中宋"/>
              </a:rPr>
              <a:t>１、特征：</a:t>
            </a:r>
          </a:p>
        </p:txBody>
      </p:sp>
      <p:graphicFrame>
        <p:nvGraphicFramePr>
          <p:cNvPr id="27654" name="Object 42"/>
          <p:cNvGraphicFramePr>
            <a:graphicFrameLocks noChangeAspect="1"/>
          </p:cNvGraphicFramePr>
          <p:nvPr/>
        </p:nvGraphicFramePr>
        <p:xfrm>
          <a:off x="1909763" y="1779588"/>
          <a:ext cx="1149350" cy="346075"/>
        </p:xfrm>
        <a:graphic>
          <a:graphicData uri="http://schemas.openxmlformats.org/presentationml/2006/ole">
            <p:oleObj spid="_x0000_s17450" name="Equation" r:id="rId3" imgW="457002" imgH="203112" progId="Equation.DSMT4">
              <p:embed/>
            </p:oleObj>
          </a:graphicData>
        </a:graphic>
      </p:graphicFrame>
      <p:graphicFrame>
        <p:nvGraphicFramePr>
          <p:cNvPr id="27655" name="Object 43"/>
          <p:cNvGraphicFramePr>
            <a:graphicFrameLocks noChangeAspect="1"/>
          </p:cNvGraphicFramePr>
          <p:nvPr/>
        </p:nvGraphicFramePr>
        <p:xfrm>
          <a:off x="3149600" y="1762125"/>
          <a:ext cx="1709738" cy="368300"/>
        </p:xfrm>
        <a:graphic>
          <a:graphicData uri="http://schemas.openxmlformats.org/presentationml/2006/ole">
            <p:oleObj spid="_x0000_s17451" name="Equation" r:id="rId4" imgW="812447" imgH="177723" progId="Equation.DSMT4">
              <p:embed/>
            </p:oleObj>
          </a:graphicData>
        </a:graphic>
      </p:graphicFrame>
      <p:sp>
        <p:nvSpPr>
          <p:cNvPr id="27656" name="Text Box 8"/>
          <p:cNvSpPr txBox="1">
            <a:spLocks noChangeArrowheads="1"/>
          </p:cNvSpPr>
          <p:nvPr/>
        </p:nvSpPr>
        <p:spPr bwMode="auto">
          <a:xfrm>
            <a:off x="673100" y="2166938"/>
            <a:ext cx="8147050" cy="923925"/>
          </a:xfrm>
          <a:prstGeom prst="rect">
            <a:avLst/>
          </a:prstGeom>
          <a:noFill/>
          <a:ln w="9525">
            <a:noFill/>
            <a:miter lim="800000"/>
            <a:headEnd/>
            <a:tailEnd/>
          </a:ln>
        </p:spPr>
        <p:txBody>
          <a:bodyPr>
            <a:spAutoFit/>
          </a:bodyPr>
          <a:lstStyle/>
          <a:p>
            <a:pPr eaLnBrk="0" hangingPunct="0"/>
            <a:r>
              <a:rPr lang="zh-CN" altLang="en-US" b="1">
                <a:solidFill>
                  <a:srgbClr val="0000FF"/>
                </a:solidFill>
                <a:latin typeface="Times New Roman" pitchFamily="18" charset="0"/>
                <a:ea typeface="华文中宋"/>
                <a:cs typeface="华文中宋"/>
              </a:rPr>
              <a:t>在绝热过程中</a:t>
            </a:r>
          </a:p>
          <a:p>
            <a:pPr eaLnBrk="0" hangingPunct="0"/>
            <a:r>
              <a:rPr lang="en-US" altLang="zh-CN" b="1">
                <a:solidFill>
                  <a:srgbClr val="FF0000"/>
                </a:solidFill>
                <a:latin typeface="Times New Roman" pitchFamily="18" charset="0"/>
                <a:ea typeface="华文中宋"/>
                <a:cs typeface="华文中宋"/>
              </a:rPr>
              <a:t>d</a:t>
            </a:r>
            <a:r>
              <a:rPr lang="en-US" altLang="zh-CN" b="1" i="1">
                <a:solidFill>
                  <a:srgbClr val="FF0000"/>
                </a:solidFill>
                <a:latin typeface="Times New Roman" pitchFamily="18" charset="0"/>
                <a:ea typeface="华文中宋"/>
                <a:cs typeface="华文中宋"/>
              </a:rPr>
              <a:t>E</a:t>
            </a:r>
            <a:r>
              <a:rPr lang="zh-CN" altLang="en-US" b="1">
                <a:solidFill>
                  <a:srgbClr val="FF0000"/>
                </a:solidFill>
                <a:latin typeface="Times New Roman" pitchFamily="18" charset="0"/>
                <a:ea typeface="华文中宋"/>
                <a:cs typeface="华文中宋"/>
              </a:rPr>
              <a:t>＝</a:t>
            </a:r>
            <a:r>
              <a:rPr lang="en-US" altLang="zh-CN" b="1" i="1">
                <a:solidFill>
                  <a:srgbClr val="FF0000"/>
                </a:solidFill>
                <a:latin typeface="Times New Roman" pitchFamily="18" charset="0"/>
                <a:ea typeface="华文中宋"/>
                <a:cs typeface="华文中宋"/>
              </a:rPr>
              <a:t>-</a:t>
            </a:r>
            <a:r>
              <a:rPr lang="en-US" altLang="zh-CN" b="1">
                <a:solidFill>
                  <a:srgbClr val="FF0000"/>
                </a:solidFill>
                <a:latin typeface="Times New Roman" pitchFamily="18" charset="0"/>
                <a:ea typeface="华文中宋"/>
                <a:cs typeface="华文中宋"/>
              </a:rPr>
              <a:t>d</a:t>
            </a:r>
            <a:r>
              <a:rPr lang="en-US" altLang="zh-CN" b="1" i="1">
                <a:solidFill>
                  <a:srgbClr val="FF0000"/>
                </a:solidFill>
                <a:latin typeface="Times New Roman" pitchFamily="18" charset="0"/>
                <a:ea typeface="华文中宋"/>
                <a:cs typeface="华文中宋"/>
              </a:rPr>
              <a:t>W</a:t>
            </a:r>
            <a:r>
              <a:rPr lang="zh-CN" altLang="en-US" b="1">
                <a:solidFill>
                  <a:srgbClr val="FF0000"/>
                </a:solidFill>
                <a:latin typeface="Times New Roman" pitchFamily="18" charset="0"/>
                <a:ea typeface="华文中宋"/>
                <a:cs typeface="华文中宋"/>
              </a:rPr>
              <a:t>：</a:t>
            </a:r>
            <a:r>
              <a:rPr lang="zh-CN" altLang="en-US" b="1">
                <a:solidFill>
                  <a:srgbClr val="0000FF"/>
                </a:solidFill>
                <a:latin typeface="Times New Roman" pitchFamily="18" charset="0"/>
                <a:ea typeface="华文中宋"/>
                <a:cs typeface="华文中宋"/>
              </a:rPr>
              <a:t>外界对系统做功，全部用来增加系统的内能</a:t>
            </a:r>
          </a:p>
          <a:p>
            <a:pPr eaLnBrk="0" hangingPunct="0"/>
            <a:r>
              <a:rPr lang="en-US" altLang="zh-CN" b="1" i="1">
                <a:solidFill>
                  <a:srgbClr val="FF0000"/>
                </a:solidFill>
                <a:latin typeface="Times New Roman" pitchFamily="18" charset="0"/>
                <a:ea typeface="华文中宋"/>
                <a:cs typeface="华文中宋"/>
              </a:rPr>
              <a:t>-</a:t>
            </a:r>
            <a:r>
              <a:rPr lang="en-US" altLang="zh-CN" b="1">
                <a:solidFill>
                  <a:srgbClr val="FF0000"/>
                </a:solidFill>
                <a:latin typeface="Times New Roman" pitchFamily="18" charset="0"/>
                <a:ea typeface="华文中宋"/>
                <a:cs typeface="华文中宋"/>
              </a:rPr>
              <a:t>d</a:t>
            </a:r>
            <a:r>
              <a:rPr lang="en-US" altLang="zh-CN" b="1" i="1">
                <a:solidFill>
                  <a:srgbClr val="FF0000"/>
                </a:solidFill>
                <a:latin typeface="Times New Roman" pitchFamily="18" charset="0"/>
                <a:ea typeface="华文中宋"/>
                <a:cs typeface="华文中宋"/>
              </a:rPr>
              <a:t>E</a:t>
            </a:r>
            <a:r>
              <a:rPr lang="zh-CN" altLang="en-US" b="1">
                <a:solidFill>
                  <a:srgbClr val="FF0000"/>
                </a:solidFill>
                <a:latin typeface="Times New Roman" pitchFamily="18" charset="0"/>
                <a:ea typeface="华文中宋"/>
                <a:cs typeface="华文中宋"/>
              </a:rPr>
              <a:t>＝</a:t>
            </a:r>
            <a:r>
              <a:rPr lang="en-US" altLang="zh-CN" b="1">
                <a:solidFill>
                  <a:srgbClr val="FF0000"/>
                </a:solidFill>
                <a:latin typeface="Times New Roman" pitchFamily="18" charset="0"/>
                <a:ea typeface="华文中宋"/>
                <a:cs typeface="华文中宋"/>
              </a:rPr>
              <a:t>d</a:t>
            </a:r>
            <a:r>
              <a:rPr lang="en-US" altLang="zh-CN" b="1" i="1">
                <a:solidFill>
                  <a:srgbClr val="FF0000"/>
                </a:solidFill>
                <a:latin typeface="Times New Roman" pitchFamily="18" charset="0"/>
                <a:ea typeface="华文中宋"/>
                <a:cs typeface="华文中宋"/>
              </a:rPr>
              <a:t>W</a:t>
            </a:r>
            <a:r>
              <a:rPr lang="zh-CN" altLang="en-US" b="1">
                <a:solidFill>
                  <a:srgbClr val="FF0000"/>
                </a:solidFill>
                <a:latin typeface="Times New Roman" pitchFamily="18" charset="0"/>
                <a:ea typeface="华文中宋"/>
                <a:cs typeface="华文中宋"/>
              </a:rPr>
              <a:t>：</a:t>
            </a:r>
            <a:r>
              <a:rPr lang="zh-CN" altLang="en-US" b="1">
                <a:solidFill>
                  <a:srgbClr val="0000FF"/>
                </a:solidFill>
                <a:latin typeface="Times New Roman" pitchFamily="18" charset="0"/>
                <a:ea typeface="华文中宋"/>
                <a:cs typeface="华文中宋"/>
              </a:rPr>
              <a:t>系统对外界做功，全部以消耗系统内能为代价</a:t>
            </a:r>
          </a:p>
        </p:txBody>
      </p:sp>
      <p:sp>
        <p:nvSpPr>
          <p:cNvPr id="27660" name="Text Box 12"/>
          <p:cNvSpPr txBox="1">
            <a:spLocks noChangeArrowheads="1"/>
          </p:cNvSpPr>
          <p:nvPr/>
        </p:nvSpPr>
        <p:spPr bwMode="auto">
          <a:xfrm>
            <a:off x="468313" y="1338263"/>
            <a:ext cx="7366000" cy="369887"/>
          </a:xfrm>
          <a:prstGeom prst="rect">
            <a:avLst/>
          </a:prstGeom>
          <a:noFill/>
          <a:ln w="9525">
            <a:noFill/>
            <a:miter lim="800000"/>
            <a:headEnd/>
            <a:tailEnd/>
          </a:ln>
        </p:spPr>
        <p:txBody>
          <a:bodyPr>
            <a:spAutoFit/>
          </a:bodyPr>
          <a:lstStyle/>
          <a:p>
            <a:pPr eaLnBrk="0" hangingPunct="0"/>
            <a:r>
              <a:rPr lang="zh-CN" altLang="en-US" b="1">
                <a:solidFill>
                  <a:srgbClr val="000000"/>
                </a:solidFill>
                <a:latin typeface="华文中宋"/>
                <a:ea typeface="华文中宋"/>
                <a:cs typeface="华文中宋"/>
              </a:rPr>
              <a:t>系统在状态变化过程中，与外界没有热交换，这样的过程为绝热过程。</a:t>
            </a:r>
          </a:p>
        </p:txBody>
      </p:sp>
      <p:sp>
        <p:nvSpPr>
          <p:cNvPr id="27670" name="Rectangle 22"/>
          <p:cNvSpPr>
            <a:spLocks noChangeArrowheads="1"/>
          </p:cNvSpPr>
          <p:nvPr/>
        </p:nvSpPr>
        <p:spPr bwMode="auto">
          <a:xfrm>
            <a:off x="536575" y="3200400"/>
            <a:ext cx="3841750" cy="369888"/>
          </a:xfrm>
          <a:prstGeom prst="rect">
            <a:avLst/>
          </a:prstGeom>
          <a:noFill/>
          <a:ln w="9525">
            <a:noFill/>
            <a:miter lim="800000"/>
            <a:headEnd/>
            <a:tailEnd/>
          </a:ln>
        </p:spPr>
        <p:txBody>
          <a:bodyPr>
            <a:spAutoFit/>
          </a:bodyPr>
          <a:lstStyle/>
          <a:p>
            <a:pPr eaLnBrk="0" hangingPunct="0"/>
            <a:r>
              <a:rPr lang="zh-CN" altLang="en-US" b="1">
                <a:solidFill>
                  <a:srgbClr val="800000"/>
                </a:solidFill>
                <a:latin typeface="华文中宋"/>
                <a:ea typeface="华文中宋"/>
                <a:cs typeface="华文中宋"/>
              </a:rPr>
              <a:t>２、绝热过程中的过程方程</a:t>
            </a:r>
          </a:p>
        </p:txBody>
      </p:sp>
      <p:graphicFrame>
        <p:nvGraphicFramePr>
          <p:cNvPr id="27671" name="Object 44"/>
          <p:cNvGraphicFramePr>
            <a:graphicFrameLocks noChangeAspect="1"/>
          </p:cNvGraphicFramePr>
          <p:nvPr/>
        </p:nvGraphicFramePr>
        <p:xfrm>
          <a:off x="3779838" y="3579813"/>
          <a:ext cx="1873250" cy="596900"/>
        </p:xfrm>
        <a:graphic>
          <a:graphicData uri="http://schemas.openxmlformats.org/presentationml/2006/ole">
            <p:oleObj spid="_x0000_s17452" name="公式" r:id="rId5" imgW="748975" imgH="317362" progId="Equation.3">
              <p:embed/>
            </p:oleObj>
          </a:graphicData>
        </a:graphic>
      </p:graphicFrame>
      <p:graphicFrame>
        <p:nvGraphicFramePr>
          <p:cNvPr id="27672" name="Object 45"/>
          <p:cNvGraphicFramePr>
            <a:graphicFrameLocks noChangeAspect="1"/>
          </p:cNvGraphicFramePr>
          <p:nvPr/>
        </p:nvGraphicFramePr>
        <p:xfrm>
          <a:off x="3767138" y="4170363"/>
          <a:ext cx="2389187" cy="593725"/>
        </p:xfrm>
        <a:graphic>
          <a:graphicData uri="http://schemas.openxmlformats.org/presentationml/2006/ole">
            <p:oleObj spid="_x0000_s17453" name="Equation" r:id="rId6" imgW="1497950" imgH="431613" progId="Equation.DSMT4">
              <p:embed/>
            </p:oleObj>
          </a:graphicData>
        </a:graphic>
      </p:graphicFrame>
      <p:sp>
        <p:nvSpPr>
          <p:cNvPr id="27673" name="Text Box 25"/>
          <p:cNvSpPr txBox="1">
            <a:spLocks noChangeArrowheads="1"/>
          </p:cNvSpPr>
          <p:nvPr/>
        </p:nvSpPr>
        <p:spPr bwMode="auto">
          <a:xfrm>
            <a:off x="1335088" y="4227513"/>
            <a:ext cx="2012950" cy="369887"/>
          </a:xfrm>
          <a:prstGeom prst="rect">
            <a:avLst/>
          </a:prstGeom>
          <a:noFill/>
          <a:ln w="9525">
            <a:noFill/>
            <a:miter lim="800000"/>
            <a:headEnd/>
            <a:tailEnd/>
          </a:ln>
        </p:spPr>
        <p:txBody>
          <a:bodyPr>
            <a:spAutoFit/>
          </a:bodyPr>
          <a:lstStyle/>
          <a:p>
            <a:r>
              <a:rPr kumimoji="1" lang="zh-CN" altLang="en-US" b="1">
                <a:solidFill>
                  <a:srgbClr val="000000"/>
                </a:solidFill>
                <a:latin typeface="华文中宋"/>
                <a:ea typeface="华文中宋"/>
                <a:cs typeface="华文中宋"/>
              </a:rPr>
              <a:t>两边求微分：</a:t>
            </a:r>
          </a:p>
        </p:txBody>
      </p:sp>
      <p:sp>
        <p:nvSpPr>
          <p:cNvPr id="27674" name="Text Box 26"/>
          <p:cNvSpPr txBox="1">
            <a:spLocks noChangeArrowheads="1"/>
          </p:cNvSpPr>
          <p:nvPr/>
        </p:nvSpPr>
        <p:spPr bwMode="auto">
          <a:xfrm>
            <a:off x="1187450" y="3651250"/>
            <a:ext cx="3536950" cy="369888"/>
          </a:xfrm>
          <a:prstGeom prst="rect">
            <a:avLst/>
          </a:prstGeom>
          <a:noFill/>
          <a:ln w="9525">
            <a:noFill/>
            <a:miter lim="800000"/>
            <a:headEnd/>
            <a:tailEnd/>
          </a:ln>
        </p:spPr>
        <p:txBody>
          <a:bodyPr>
            <a:spAutoFit/>
          </a:bodyPr>
          <a:lstStyle/>
          <a:p>
            <a:r>
              <a:rPr kumimoji="1" lang="zh-CN" altLang="en-US" b="1">
                <a:solidFill>
                  <a:srgbClr val="000000"/>
                </a:solidFill>
                <a:latin typeface="华文中宋"/>
                <a:ea typeface="华文中宋"/>
                <a:cs typeface="华文中宋"/>
              </a:rPr>
              <a:t>由理想气体的状态方程：</a:t>
            </a:r>
          </a:p>
        </p:txBody>
      </p:sp>
      <p:sp>
        <p:nvSpPr>
          <p:cNvPr id="14" name="Text Box 2"/>
          <p:cNvSpPr>
            <a:spLocks noChangeArrowheads="1"/>
          </p:cNvSpPr>
          <p:nvPr/>
        </p:nvSpPr>
        <p:spPr bwMode="auto">
          <a:xfrm>
            <a:off x="839788" y="874713"/>
            <a:ext cx="1860550" cy="401637"/>
          </a:xfrm>
          <a:prstGeom prst="homePlate">
            <a:avLst>
              <a:gd name="adj" fmla="val 49756"/>
            </a:avLst>
          </a:prstGeom>
          <a:solidFill>
            <a:srgbClr val="539A84"/>
          </a:solidFill>
          <a:ln w="9525">
            <a:noFill/>
            <a:miter lim="800000"/>
            <a:headEnd/>
            <a:tailEnd/>
          </a:ln>
        </p:spPr>
        <p:txBody>
          <a:bodyPr>
            <a:spAutoFit/>
          </a:bodyPr>
          <a:lstStyle/>
          <a:p>
            <a:pPr>
              <a:buFont typeface="Arial" charset="0"/>
              <a:buNone/>
            </a:pPr>
            <a:r>
              <a:rPr kumimoji="1" lang="zh-CN" altLang="en-US" sz="2000" b="1">
                <a:solidFill>
                  <a:srgbClr val="FFFFFF"/>
                </a:solidFill>
                <a:latin typeface="微软雅黑" pitchFamily="34" charset="-122"/>
                <a:ea typeface="微软雅黑" pitchFamily="34" charset="-122"/>
              </a:rPr>
              <a:t>一、绝热过程</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500"/>
                                        <p:tgtEl>
                                          <p:spTgt spid="1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7" presetClass="entr" presetSubtype="8" fill="hold" grpId="0" nodeType="clickEffect">
                                  <p:stCondLst>
                                    <p:cond delay="0"/>
                                  </p:stCondLst>
                                  <p:childTnLst>
                                    <p:set>
                                      <p:cBhvr>
                                        <p:cTn id="11" dur="1" fill="hold">
                                          <p:stCondLst>
                                            <p:cond delay="0"/>
                                          </p:stCondLst>
                                        </p:cTn>
                                        <p:tgtEl>
                                          <p:spTgt spid="27660"/>
                                        </p:tgtEl>
                                        <p:attrNameLst>
                                          <p:attrName>style.visibility</p:attrName>
                                        </p:attrNameLst>
                                      </p:cBhvr>
                                      <p:to>
                                        <p:strVal val="visible"/>
                                      </p:to>
                                    </p:set>
                                    <p:anim calcmode="lin" valueType="num">
                                      <p:cBhvr>
                                        <p:cTn id="12" dur="500" fill="hold"/>
                                        <p:tgtEl>
                                          <p:spTgt spid="27660"/>
                                        </p:tgtEl>
                                        <p:attrNameLst>
                                          <p:attrName>ppt_x</p:attrName>
                                        </p:attrNameLst>
                                      </p:cBhvr>
                                      <p:tavLst>
                                        <p:tav tm="0">
                                          <p:val>
                                            <p:strVal val="#ppt_x-#ppt_w/2"/>
                                          </p:val>
                                        </p:tav>
                                        <p:tav tm="100000">
                                          <p:val>
                                            <p:strVal val="#ppt_x"/>
                                          </p:val>
                                        </p:tav>
                                      </p:tavLst>
                                    </p:anim>
                                    <p:anim calcmode="lin" valueType="num">
                                      <p:cBhvr>
                                        <p:cTn id="13" dur="500" fill="hold"/>
                                        <p:tgtEl>
                                          <p:spTgt spid="27660"/>
                                        </p:tgtEl>
                                        <p:attrNameLst>
                                          <p:attrName>ppt_y</p:attrName>
                                        </p:attrNameLst>
                                      </p:cBhvr>
                                      <p:tavLst>
                                        <p:tav tm="0">
                                          <p:val>
                                            <p:strVal val="#ppt_y"/>
                                          </p:val>
                                        </p:tav>
                                        <p:tav tm="100000">
                                          <p:val>
                                            <p:strVal val="#ppt_y"/>
                                          </p:val>
                                        </p:tav>
                                      </p:tavLst>
                                    </p:anim>
                                    <p:anim calcmode="lin" valueType="num">
                                      <p:cBhvr>
                                        <p:cTn id="14" dur="500" fill="hold"/>
                                        <p:tgtEl>
                                          <p:spTgt spid="27660"/>
                                        </p:tgtEl>
                                        <p:attrNameLst>
                                          <p:attrName>ppt_w</p:attrName>
                                        </p:attrNameLst>
                                      </p:cBhvr>
                                      <p:tavLst>
                                        <p:tav tm="0">
                                          <p:val>
                                            <p:fltVal val="0"/>
                                          </p:val>
                                        </p:tav>
                                        <p:tav tm="100000">
                                          <p:val>
                                            <p:strVal val="#ppt_w"/>
                                          </p:val>
                                        </p:tav>
                                      </p:tavLst>
                                    </p:anim>
                                    <p:anim calcmode="lin" valueType="num">
                                      <p:cBhvr>
                                        <p:cTn id="15" dur="500" fill="hold"/>
                                        <p:tgtEl>
                                          <p:spTgt spid="27660"/>
                                        </p:tgtEl>
                                        <p:attrNameLst>
                                          <p:attrName>ppt_h</p:attrName>
                                        </p:attrNameLst>
                                      </p:cBhvr>
                                      <p:tavLst>
                                        <p:tav tm="0">
                                          <p:val>
                                            <p:strVal val="#ppt_h"/>
                                          </p:val>
                                        </p:tav>
                                        <p:tav tm="100000">
                                          <p:val>
                                            <p:strVal val="#ppt_h"/>
                                          </p:val>
                                        </p:tav>
                                      </p:tavLst>
                                    </p:anim>
                                  </p:childTnLst>
                                </p:cTn>
                              </p:par>
                            </p:childTnLst>
                          </p:cTn>
                        </p:par>
                      </p:childTnLst>
                    </p:cTn>
                  </p:par>
                  <p:par>
                    <p:cTn id="16" fill="hold" nodeType="clickPar">
                      <p:stCondLst>
                        <p:cond delay="indefinite"/>
                      </p:stCondLst>
                      <p:childTnLst>
                        <p:par>
                          <p:cTn id="17" fill="hold" nodeType="withGroup">
                            <p:stCondLst>
                              <p:cond delay="0"/>
                            </p:stCondLst>
                            <p:childTnLst>
                              <p:par>
                                <p:cTn id="18" presetID="17" presetClass="entr" presetSubtype="8" fill="hold" grpId="0" nodeType="clickEffect">
                                  <p:stCondLst>
                                    <p:cond delay="0"/>
                                  </p:stCondLst>
                                  <p:childTnLst>
                                    <p:set>
                                      <p:cBhvr>
                                        <p:cTn id="19" dur="1" fill="hold">
                                          <p:stCondLst>
                                            <p:cond delay="0"/>
                                          </p:stCondLst>
                                        </p:cTn>
                                        <p:tgtEl>
                                          <p:spTgt spid="27653"/>
                                        </p:tgtEl>
                                        <p:attrNameLst>
                                          <p:attrName>style.visibility</p:attrName>
                                        </p:attrNameLst>
                                      </p:cBhvr>
                                      <p:to>
                                        <p:strVal val="visible"/>
                                      </p:to>
                                    </p:set>
                                    <p:anim calcmode="lin" valueType="num">
                                      <p:cBhvr>
                                        <p:cTn id="20" dur="500" fill="hold"/>
                                        <p:tgtEl>
                                          <p:spTgt spid="27653"/>
                                        </p:tgtEl>
                                        <p:attrNameLst>
                                          <p:attrName>ppt_x</p:attrName>
                                        </p:attrNameLst>
                                      </p:cBhvr>
                                      <p:tavLst>
                                        <p:tav tm="0">
                                          <p:val>
                                            <p:strVal val="#ppt_x-#ppt_w/2"/>
                                          </p:val>
                                        </p:tav>
                                        <p:tav tm="100000">
                                          <p:val>
                                            <p:strVal val="#ppt_x"/>
                                          </p:val>
                                        </p:tav>
                                      </p:tavLst>
                                    </p:anim>
                                    <p:anim calcmode="lin" valueType="num">
                                      <p:cBhvr>
                                        <p:cTn id="21" dur="500" fill="hold"/>
                                        <p:tgtEl>
                                          <p:spTgt spid="27653"/>
                                        </p:tgtEl>
                                        <p:attrNameLst>
                                          <p:attrName>ppt_y</p:attrName>
                                        </p:attrNameLst>
                                      </p:cBhvr>
                                      <p:tavLst>
                                        <p:tav tm="0">
                                          <p:val>
                                            <p:strVal val="#ppt_y"/>
                                          </p:val>
                                        </p:tav>
                                        <p:tav tm="100000">
                                          <p:val>
                                            <p:strVal val="#ppt_y"/>
                                          </p:val>
                                        </p:tav>
                                      </p:tavLst>
                                    </p:anim>
                                    <p:anim calcmode="lin" valueType="num">
                                      <p:cBhvr>
                                        <p:cTn id="22" dur="500" fill="hold"/>
                                        <p:tgtEl>
                                          <p:spTgt spid="27653"/>
                                        </p:tgtEl>
                                        <p:attrNameLst>
                                          <p:attrName>ppt_w</p:attrName>
                                        </p:attrNameLst>
                                      </p:cBhvr>
                                      <p:tavLst>
                                        <p:tav tm="0">
                                          <p:val>
                                            <p:fltVal val="0"/>
                                          </p:val>
                                        </p:tav>
                                        <p:tav tm="100000">
                                          <p:val>
                                            <p:strVal val="#ppt_w"/>
                                          </p:val>
                                        </p:tav>
                                      </p:tavLst>
                                    </p:anim>
                                    <p:anim calcmode="lin" valueType="num">
                                      <p:cBhvr>
                                        <p:cTn id="23" dur="500" fill="hold"/>
                                        <p:tgtEl>
                                          <p:spTgt spid="27653"/>
                                        </p:tgtEl>
                                        <p:attrNameLst>
                                          <p:attrName>ppt_h</p:attrName>
                                        </p:attrNameLst>
                                      </p:cBhvr>
                                      <p:tavLst>
                                        <p:tav tm="0">
                                          <p:val>
                                            <p:strVal val="#ppt_h"/>
                                          </p:val>
                                        </p:tav>
                                        <p:tav tm="100000">
                                          <p:val>
                                            <p:strVal val="#ppt_h"/>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17" presetClass="entr" presetSubtype="8" fill="hold" nodeType="clickEffect">
                                  <p:stCondLst>
                                    <p:cond delay="0"/>
                                  </p:stCondLst>
                                  <p:childTnLst>
                                    <p:set>
                                      <p:cBhvr>
                                        <p:cTn id="27" dur="1" fill="hold">
                                          <p:stCondLst>
                                            <p:cond delay="0"/>
                                          </p:stCondLst>
                                        </p:cTn>
                                        <p:tgtEl>
                                          <p:spTgt spid="27654"/>
                                        </p:tgtEl>
                                        <p:attrNameLst>
                                          <p:attrName>style.visibility</p:attrName>
                                        </p:attrNameLst>
                                      </p:cBhvr>
                                      <p:to>
                                        <p:strVal val="visible"/>
                                      </p:to>
                                    </p:set>
                                    <p:anim calcmode="lin" valueType="num">
                                      <p:cBhvr>
                                        <p:cTn id="28" dur="500" fill="hold"/>
                                        <p:tgtEl>
                                          <p:spTgt spid="27654"/>
                                        </p:tgtEl>
                                        <p:attrNameLst>
                                          <p:attrName>ppt_x</p:attrName>
                                        </p:attrNameLst>
                                      </p:cBhvr>
                                      <p:tavLst>
                                        <p:tav tm="0">
                                          <p:val>
                                            <p:strVal val="#ppt_x-#ppt_w/2"/>
                                          </p:val>
                                        </p:tav>
                                        <p:tav tm="100000">
                                          <p:val>
                                            <p:strVal val="#ppt_x"/>
                                          </p:val>
                                        </p:tav>
                                      </p:tavLst>
                                    </p:anim>
                                    <p:anim calcmode="lin" valueType="num">
                                      <p:cBhvr>
                                        <p:cTn id="29" dur="500" fill="hold"/>
                                        <p:tgtEl>
                                          <p:spTgt spid="27654"/>
                                        </p:tgtEl>
                                        <p:attrNameLst>
                                          <p:attrName>ppt_y</p:attrName>
                                        </p:attrNameLst>
                                      </p:cBhvr>
                                      <p:tavLst>
                                        <p:tav tm="0">
                                          <p:val>
                                            <p:strVal val="#ppt_y"/>
                                          </p:val>
                                        </p:tav>
                                        <p:tav tm="100000">
                                          <p:val>
                                            <p:strVal val="#ppt_y"/>
                                          </p:val>
                                        </p:tav>
                                      </p:tavLst>
                                    </p:anim>
                                    <p:anim calcmode="lin" valueType="num">
                                      <p:cBhvr>
                                        <p:cTn id="30" dur="500" fill="hold"/>
                                        <p:tgtEl>
                                          <p:spTgt spid="27654"/>
                                        </p:tgtEl>
                                        <p:attrNameLst>
                                          <p:attrName>ppt_w</p:attrName>
                                        </p:attrNameLst>
                                      </p:cBhvr>
                                      <p:tavLst>
                                        <p:tav tm="0">
                                          <p:val>
                                            <p:fltVal val="0"/>
                                          </p:val>
                                        </p:tav>
                                        <p:tav tm="100000">
                                          <p:val>
                                            <p:strVal val="#ppt_w"/>
                                          </p:val>
                                        </p:tav>
                                      </p:tavLst>
                                    </p:anim>
                                    <p:anim calcmode="lin" valueType="num">
                                      <p:cBhvr>
                                        <p:cTn id="31" dur="500" fill="hold"/>
                                        <p:tgtEl>
                                          <p:spTgt spid="27654"/>
                                        </p:tgtEl>
                                        <p:attrNameLst>
                                          <p:attrName>ppt_h</p:attrName>
                                        </p:attrNameLst>
                                      </p:cBhvr>
                                      <p:tavLst>
                                        <p:tav tm="0">
                                          <p:val>
                                            <p:strVal val="#ppt_h"/>
                                          </p:val>
                                        </p:tav>
                                        <p:tav tm="100000">
                                          <p:val>
                                            <p:strVal val="#ppt_h"/>
                                          </p:val>
                                        </p:tav>
                                      </p:tavLst>
                                    </p:anim>
                                  </p:childTnLst>
                                </p:cTn>
                              </p:par>
                            </p:childTnLst>
                          </p:cTn>
                        </p:par>
                      </p:childTnLst>
                    </p:cTn>
                  </p:par>
                  <p:par>
                    <p:cTn id="32" fill="hold" nodeType="clickPar">
                      <p:stCondLst>
                        <p:cond delay="indefinite"/>
                      </p:stCondLst>
                      <p:childTnLst>
                        <p:par>
                          <p:cTn id="33" fill="hold" nodeType="withGroup">
                            <p:stCondLst>
                              <p:cond delay="0"/>
                            </p:stCondLst>
                            <p:childTnLst>
                              <p:par>
                                <p:cTn id="34" presetID="17" presetClass="entr" presetSubtype="8" fill="hold" nodeType="clickEffect">
                                  <p:stCondLst>
                                    <p:cond delay="0"/>
                                  </p:stCondLst>
                                  <p:childTnLst>
                                    <p:set>
                                      <p:cBhvr>
                                        <p:cTn id="35" dur="1" fill="hold">
                                          <p:stCondLst>
                                            <p:cond delay="0"/>
                                          </p:stCondLst>
                                        </p:cTn>
                                        <p:tgtEl>
                                          <p:spTgt spid="27655"/>
                                        </p:tgtEl>
                                        <p:attrNameLst>
                                          <p:attrName>style.visibility</p:attrName>
                                        </p:attrNameLst>
                                      </p:cBhvr>
                                      <p:to>
                                        <p:strVal val="visible"/>
                                      </p:to>
                                    </p:set>
                                    <p:anim calcmode="lin" valueType="num">
                                      <p:cBhvr>
                                        <p:cTn id="36" dur="500" fill="hold"/>
                                        <p:tgtEl>
                                          <p:spTgt spid="27655"/>
                                        </p:tgtEl>
                                        <p:attrNameLst>
                                          <p:attrName>ppt_x</p:attrName>
                                        </p:attrNameLst>
                                      </p:cBhvr>
                                      <p:tavLst>
                                        <p:tav tm="0">
                                          <p:val>
                                            <p:strVal val="#ppt_x-#ppt_w/2"/>
                                          </p:val>
                                        </p:tav>
                                        <p:tav tm="100000">
                                          <p:val>
                                            <p:strVal val="#ppt_x"/>
                                          </p:val>
                                        </p:tav>
                                      </p:tavLst>
                                    </p:anim>
                                    <p:anim calcmode="lin" valueType="num">
                                      <p:cBhvr>
                                        <p:cTn id="37" dur="500" fill="hold"/>
                                        <p:tgtEl>
                                          <p:spTgt spid="27655"/>
                                        </p:tgtEl>
                                        <p:attrNameLst>
                                          <p:attrName>ppt_y</p:attrName>
                                        </p:attrNameLst>
                                      </p:cBhvr>
                                      <p:tavLst>
                                        <p:tav tm="0">
                                          <p:val>
                                            <p:strVal val="#ppt_y"/>
                                          </p:val>
                                        </p:tav>
                                        <p:tav tm="100000">
                                          <p:val>
                                            <p:strVal val="#ppt_y"/>
                                          </p:val>
                                        </p:tav>
                                      </p:tavLst>
                                    </p:anim>
                                    <p:anim calcmode="lin" valueType="num">
                                      <p:cBhvr>
                                        <p:cTn id="38" dur="500" fill="hold"/>
                                        <p:tgtEl>
                                          <p:spTgt spid="27655"/>
                                        </p:tgtEl>
                                        <p:attrNameLst>
                                          <p:attrName>ppt_w</p:attrName>
                                        </p:attrNameLst>
                                      </p:cBhvr>
                                      <p:tavLst>
                                        <p:tav tm="0">
                                          <p:val>
                                            <p:fltVal val="0"/>
                                          </p:val>
                                        </p:tav>
                                        <p:tav tm="100000">
                                          <p:val>
                                            <p:strVal val="#ppt_w"/>
                                          </p:val>
                                        </p:tav>
                                      </p:tavLst>
                                    </p:anim>
                                    <p:anim calcmode="lin" valueType="num">
                                      <p:cBhvr>
                                        <p:cTn id="39" dur="500" fill="hold"/>
                                        <p:tgtEl>
                                          <p:spTgt spid="27655"/>
                                        </p:tgtEl>
                                        <p:attrNameLst>
                                          <p:attrName>ppt_h</p:attrName>
                                        </p:attrNameLst>
                                      </p:cBhvr>
                                      <p:tavLst>
                                        <p:tav tm="0">
                                          <p:val>
                                            <p:strVal val="#ppt_h"/>
                                          </p:val>
                                        </p:tav>
                                        <p:tav tm="100000">
                                          <p:val>
                                            <p:strVal val="#ppt_h"/>
                                          </p:val>
                                        </p:tav>
                                      </p:tavLst>
                                    </p:anim>
                                  </p:childTnLst>
                                </p:cTn>
                              </p:par>
                            </p:childTnLst>
                          </p:cTn>
                        </p:par>
                      </p:childTnLst>
                    </p:cTn>
                  </p:par>
                  <p:par>
                    <p:cTn id="40" fill="hold" nodeType="clickPar">
                      <p:stCondLst>
                        <p:cond delay="indefinite"/>
                      </p:stCondLst>
                      <p:childTnLst>
                        <p:par>
                          <p:cTn id="41" fill="hold" nodeType="withGroup">
                            <p:stCondLst>
                              <p:cond delay="0"/>
                            </p:stCondLst>
                            <p:childTnLst>
                              <p:par>
                                <p:cTn id="42" presetID="17" presetClass="entr" presetSubtype="8" fill="hold" grpId="0" nodeType="clickEffect">
                                  <p:stCondLst>
                                    <p:cond delay="0"/>
                                  </p:stCondLst>
                                  <p:childTnLst>
                                    <p:set>
                                      <p:cBhvr>
                                        <p:cTn id="43" dur="1" fill="hold">
                                          <p:stCondLst>
                                            <p:cond delay="0"/>
                                          </p:stCondLst>
                                        </p:cTn>
                                        <p:tgtEl>
                                          <p:spTgt spid="27656"/>
                                        </p:tgtEl>
                                        <p:attrNameLst>
                                          <p:attrName>style.visibility</p:attrName>
                                        </p:attrNameLst>
                                      </p:cBhvr>
                                      <p:to>
                                        <p:strVal val="visible"/>
                                      </p:to>
                                    </p:set>
                                    <p:anim calcmode="lin" valueType="num">
                                      <p:cBhvr>
                                        <p:cTn id="44" dur="500" fill="hold"/>
                                        <p:tgtEl>
                                          <p:spTgt spid="27656"/>
                                        </p:tgtEl>
                                        <p:attrNameLst>
                                          <p:attrName>ppt_x</p:attrName>
                                        </p:attrNameLst>
                                      </p:cBhvr>
                                      <p:tavLst>
                                        <p:tav tm="0">
                                          <p:val>
                                            <p:strVal val="#ppt_x-#ppt_w/2"/>
                                          </p:val>
                                        </p:tav>
                                        <p:tav tm="100000">
                                          <p:val>
                                            <p:strVal val="#ppt_x"/>
                                          </p:val>
                                        </p:tav>
                                      </p:tavLst>
                                    </p:anim>
                                    <p:anim calcmode="lin" valueType="num">
                                      <p:cBhvr>
                                        <p:cTn id="45" dur="500" fill="hold"/>
                                        <p:tgtEl>
                                          <p:spTgt spid="27656"/>
                                        </p:tgtEl>
                                        <p:attrNameLst>
                                          <p:attrName>ppt_y</p:attrName>
                                        </p:attrNameLst>
                                      </p:cBhvr>
                                      <p:tavLst>
                                        <p:tav tm="0">
                                          <p:val>
                                            <p:strVal val="#ppt_y"/>
                                          </p:val>
                                        </p:tav>
                                        <p:tav tm="100000">
                                          <p:val>
                                            <p:strVal val="#ppt_y"/>
                                          </p:val>
                                        </p:tav>
                                      </p:tavLst>
                                    </p:anim>
                                    <p:anim calcmode="lin" valueType="num">
                                      <p:cBhvr>
                                        <p:cTn id="46" dur="500" fill="hold"/>
                                        <p:tgtEl>
                                          <p:spTgt spid="27656"/>
                                        </p:tgtEl>
                                        <p:attrNameLst>
                                          <p:attrName>ppt_w</p:attrName>
                                        </p:attrNameLst>
                                      </p:cBhvr>
                                      <p:tavLst>
                                        <p:tav tm="0">
                                          <p:val>
                                            <p:fltVal val="0"/>
                                          </p:val>
                                        </p:tav>
                                        <p:tav tm="100000">
                                          <p:val>
                                            <p:strVal val="#ppt_w"/>
                                          </p:val>
                                        </p:tav>
                                      </p:tavLst>
                                    </p:anim>
                                    <p:anim calcmode="lin" valueType="num">
                                      <p:cBhvr>
                                        <p:cTn id="47" dur="500" fill="hold"/>
                                        <p:tgtEl>
                                          <p:spTgt spid="27656"/>
                                        </p:tgtEl>
                                        <p:attrNameLst>
                                          <p:attrName>ppt_h</p:attrName>
                                        </p:attrNameLst>
                                      </p:cBhvr>
                                      <p:tavLst>
                                        <p:tav tm="0">
                                          <p:val>
                                            <p:strVal val="#ppt_h"/>
                                          </p:val>
                                        </p:tav>
                                        <p:tav tm="100000">
                                          <p:val>
                                            <p:strVal val="#ppt_h"/>
                                          </p:val>
                                        </p:tav>
                                      </p:tavLst>
                                    </p:anim>
                                  </p:childTnLst>
                                </p:cTn>
                              </p:par>
                            </p:childTnLst>
                          </p:cTn>
                        </p:par>
                      </p:childTnLst>
                    </p:cTn>
                  </p:par>
                  <p:par>
                    <p:cTn id="48" fill="hold" nodeType="clickPar">
                      <p:stCondLst>
                        <p:cond delay="indefinite"/>
                      </p:stCondLst>
                      <p:childTnLst>
                        <p:par>
                          <p:cTn id="49" fill="hold" nodeType="withGroup">
                            <p:stCondLst>
                              <p:cond delay="0"/>
                            </p:stCondLst>
                            <p:childTnLst>
                              <p:par>
                                <p:cTn id="50" presetID="17" presetClass="entr" presetSubtype="8" fill="hold" grpId="0" nodeType="clickEffect">
                                  <p:stCondLst>
                                    <p:cond delay="0"/>
                                  </p:stCondLst>
                                  <p:childTnLst>
                                    <p:set>
                                      <p:cBhvr>
                                        <p:cTn id="51" dur="1" fill="hold">
                                          <p:stCondLst>
                                            <p:cond delay="0"/>
                                          </p:stCondLst>
                                        </p:cTn>
                                        <p:tgtEl>
                                          <p:spTgt spid="27670"/>
                                        </p:tgtEl>
                                        <p:attrNameLst>
                                          <p:attrName>style.visibility</p:attrName>
                                        </p:attrNameLst>
                                      </p:cBhvr>
                                      <p:to>
                                        <p:strVal val="visible"/>
                                      </p:to>
                                    </p:set>
                                    <p:anim calcmode="lin" valueType="num">
                                      <p:cBhvr>
                                        <p:cTn id="52" dur="500" fill="hold"/>
                                        <p:tgtEl>
                                          <p:spTgt spid="27670"/>
                                        </p:tgtEl>
                                        <p:attrNameLst>
                                          <p:attrName>ppt_x</p:attrName>
                                        </p:attrNameLst>
                                      </p:cBhvr>
                                      <p:tavLst>
                                        <p:tav tm="0">
                                          <p:val>
                                            <p:strVal val="#ppt_x-#ppt_w/2"/>
                                          </p:val>
                                        </p:tav>
                                        <p:tav tm="100000">
                                          <p:val>
                                            <p:strVal val="#ppt_x"/>
                                          </p:val>
                                        </p:tav>
                                      </p:tavLst>
                                    </p:anim>
                                    <p:anim calcmode="lin" valueType="num">
                                      <p:cBhvr>
                                        <p:cTn id="53" dur="500" fill="hold"/>
                                        <p:tgtEl>
                                          <p:spTgt spid="27670"/>
                                        </p:tgtEl>
                                        <p:attrNameLst>
                                          <p:attrName>ppt_y</p:attrName>
                                        </p:attrNameLst>
                                      </p:cBhvr>
                                      <p:tavLst>
                                        <p:tav tm="0">
                                          <p:val>
                                            <p:strVal val="#ppt_y"/>
                                          </p:val>
                                        </p:tav>
                                        <p:tav tm="100000">
                                          <p:val>
                                            <p:strVal val="#ppt_y"/>
                                          </p:val>
                                        </p:tav>
                                      </p:tavLst>
                                    </p:anim>
                                    <p:anim calcmode="lin" valueType="num">
                                      <p:cBhvr>
                                        <p:cTn id="54" dur="500" fill="hold"/>
                                        <p:tgtEl>
                                          <p:spTgt spid="27670"/>
                                        </p:tgtEl>
                                        <p:attrNameLst>
                                          <p:attrName>ppt_w</p:attrName>
                                        </p:attrNameLst>
                                      </p:cBhvr>
                                      <p:tavLst>
                                        <p:tav tm="0">
                                          <p:val>
                                            <p:fltVal val="0"/>
                                          </p:val>
                                        </p:tav>
                                        <p:tav tm="100000">
                                          <p:val>
                                            <p:strVal val="#ppt_w"/>
                                          </p:val>
                                        </p:tav>
                                      </p:tavLst>
                                    </p:anim>
                                    <p:anim calcmode="lin" valueType="num">
                                      <p:cBhvr>
                                        <p:cTn id="55" dur="500" fill="hold"/>
                                        <p:tgtEl>
                                          <p:spTgt spid="27670"/>
                                        </p:tgtEl>
                                        <p:attrNameLst>
                                          <p:attrName>ppt_h</p:attrName>
                                        </p:attrNameLst>
                                      </p:cBhvr>
                                      <p:tavLst>
                                        <p:tav tm="0">
                                          <p:val>
                                            <p:strVal val="#ppt_h"/>
                                          </p:val>
                                        </p:tav>
                                        <p:tav tm="100000">
                                          <p:val>
                                            <p:strVal val="#ppt_h"/>
                                          </p:val>
                                        </p:tav>
                                      </p:tavLst>
                                    </p:anim>
                                  </p:childTnLst>
                                </p:cTn>
                              </p:par>
                            </p:childTnLst>
                          </p:cTn>
                        </p:par>
                      </p:childTnLst>
                    </p:cTn>
                  </p:par>
                  <p:par>
                    <p:cTn id="56" fill="hold" nodeType="clickPar">
                      <p:stCondLst>
                        <p:cond delay="indefinite"/>
                      </p:stCondLst>
                      <p:childTnLst>
                        <p:par>
                          <p:cTn id="57" fill="hold" nodeType="withGroup">
                            <p:stCondLst>
                              <p:cond delay="0"/>
                            </p:stCondLst>
                            <p:childTnLst>
                              <p:par>
                                <p:cTn id="58" presetID="17" presetClass="entr" presetSubtype="8" fill="hold" grpId="0" nodeType="clickEffect">
                                  <p:stCondLst>
                                    <p:cond delay="0"/>
                                  </p:stCondLst>
                                  <p:childTnLst>
                                    <p:set>
                                      <p:cBhvr>
                                        <p:cTn id="59" dur="1" fill="hold">
                                          <p:stCondLst>
                                            <p:cond delay="0"/>
                                          </p:stCondLst>
                                        </p:cTn>
                                        <p:tgtEl>
                                          <p:spTgt spid="27674"/>
                                        </p:tgtEl>
                                        <p:attrNameLst>
                                          <p:attrName>style.visibility</p:attrName>
                                        </p:attrNameLst>
                                      </p:cBhvr>
                                      <p:to>
                                        <p:strVal val="visible"/>
                                      </p:to>
                                    </p:set>
                                    <p:anim calcmode="lin" valueType="num">
                                      <p:cBhvr>
                                        <p:cTn id="60" dur="500" fill="hold"/>
                                        <p:tgtEl>
                                          <p:spTgt spid="27674"/>
                                        </p:tgtEl>
                                        <p:attrNameLst>
                                          <p:attrName>ppt_x</p:attrName>
                                        </p:attrNameLst>
                                      </p:cBhvr>
                                      <p:tavLst>
                                        <p:tav tm="0">
                                          <p:val>
                                            <p:strVal val="#ppt_x-#ppt_w/2"/>
                                          </p:val>
                                        </p:tav>
                                        <p:tav tm="100000">
                                          <p:val>
                                            <p:strVal val="#ppt_x"/>
                                          </p:val>
                                        </p:tav>
                                      </p:tavLst>
                                    </p:anim>
                                    <p:anim calcmode="lin" valueType="num">
                                      <p:cBhvr>
                                        <p:cTn id="61" dur="500" fill="hold"/>
                                        <p:tgtEl>
                                          <p:spTgt spid="27674"/>
                                        </p:tgtEl>
                                        <p:attrNameLst>
                                          <p:attrName>ppt_y</p:attrName>
                                        </p:attrNameLst>
                                      </p:cBhvr>
                                      <p:tavLst>
                                        <p:tav tm="0">
                                          <p:val>
                                            <p:strVal val="#ppt_y"/>
                                          </p:val>
                                        </p:tav>
                                        <p:tav tm="100000">
                                          <p:val>
                                            <p:strVal val="#ppt_y"/>
                                          </p:val>
                                        </p:tav>
                                      </p:tavLst>
                                    </p:anim>
                                    <p:anim calcmode="lin" valueType="num">
                                      <p:cBhvr>
                                        <p:cTn id="62" dur="500" fill="hold"/>
                                        <p:tgtEl>
                                          <p:spTgt spid="27674"/>
                                        </p:tgtEl>
                                        <p:attrNameLst>
                                          <p:attrName>ppt_w</p:attrName>
                                        </p:attrNameLst>
                                      </p:cBhvr>
                                      <p:tavLst>
                                        <p:tav tm="0">
                                          <p:val>
                                            <p:fltVal val="0"/>
                                          </p:val>
                                        </p:tav>
                                        <p:tav tm="100000">
                                          <p:val>
                                            <p:strVal val="#ppt_w"/>
                                          </p:val>
                                        </p:tav>
                                      </p:tavLst>
                                    </p:anim>
                                    <p:anim calcmode="lin" valueType="num">
                                      <p:cBhvr>
                                        <p:cTn id="63" dur="500" fill="hold"/>
                                        <p:tgtEl>
                                          <p:spTgt spid="27674"/>
                                        </p:tgtEl>
                                        <p:attrNameLst>
                                          <p:attrName>ppt_h</p:attrName>
                                        </p:attrNameLst>
                                      </p:cBhvr>
                                      <p:tavLst>
                                        <p:tav tm="0">
                                          <p:val>
                                            <p:strVal val="#ppt_h"/>
                                          </p:val>
                                        </p:tav>
                                        <p:tav tm="100000">
                                          <p:val>
                                            <p:strVal val="#ppt_h"/>
                                          </p:val>
                                        </p:tav>
                                      </p:tavLst>
                                    </p:anim>
                                  </p:childTnLst>
                                </p:cTn>
                              </p:par>
                            </p:childTnLst>
                          </p:cTn>
                        </p:par>
                      </p:childTnLst>
                    </p:cTn>
                  </p:par>
                  <p:par>
                    <p:cTn id="64" fill="hold" nodeType="clickPar">
                      <p:stCondLst>
                        <p:cond delay="indefinite"/>
                      </p:stCondLst>
                      <p:childTnLst>
                        <p:par>
                          <p:cTn id="65" fill="hold" nodeType="withGroup">
                            <p:stCondLst>
                              <p:cond delay="0"/>
                            </p:stCondLst>
                            <p:childTnLst>
                              <p:par>
                                <p:cTn id="66" presetID="17" presetClass="entr" presetSubtype="8" fill="hold" nodeType="clickEffect">
                                  <p:stCondLst>
                                    <p:cond delay="0"/>
                                  </p:stCondLst>
                                  <p:childTnLst>
                                    <p:set>
                                      <p:cBhvr>
                                        <p:cTn id="67" dur="1" fill="hold">
                                          <p:stCondLst>
                                            <p:cond delay="0"/>
                                          </p:stCondLst>
                                        </p:cTn>
                                        <p:tgtEl>
                                          <p:spTgt spid="27671"/>
                                        </p:tgtEl>
                                        <p:attrNameLst>
                                          <p:attrName>style.visibility</p:attrName>
                                        </p:attrNameLst>
                                      </p:cBhvr>
                                      <p:to>
                                        <p:strVal val="visible"/>
                                      </p:to>
                                    </p:set>
                                    <p:anim calcmode="lin" valueType="num">
                                      <p:cBhvr>
                                        <p:cTn id="68" dur="500" fill="hold"/>
                                        <p:tgtEl>
                                          <p:spTgt spid="27671"/>
                                        </p:tgtEl>
                                        <p:attrNameLst>
                                          <p:attrName>ppt_x</p:attrName>
                                        </p:attrNameLst>
                                      </p:cBhvr>
                                      <p:tavLst>
                                        <p:tav tm="0">
                                          <p:val>
                                            <p:strVal val="#ppt_x-#ppt_w/2"/>
                                          </p:val>
                                        </p:tav>
                                        <p:tav tm="100000">
                                          <p:val>
                                            <p:strVal val="#ppt_x"/>
                                          </p:val>
                                        </p:tav>
                                      </p:tavLst>
                                    </p:anim>
                                    <p:anim calcmode="lin" valueType="num">
                                      <p:cBhvr>
                                        <p:cTn id="69" dur="500" fill="hold"/>
                                        <p:tgtEl>
                                          <p:spTgt spid="27671"/>
                                        </p:tgtEl>
                                        <p:attrNameLst>
                                          <p:attrName>ppt_y</p:attrName>
                                        </p:attrNameLst>
                                      </p:cBhvr>
                                      <p:tavLst>
                                        <p:tav tm="0">
                                          <p:val>
                                            <p:strVal val="#ppt_y"/>
                                          </p:val>
                                        </p:tav>
                                        <p:tav tm="100000">
                                          <p:val>
                                            <p:strVal val="#ppt_y"/>
                                          </p:val>
                                        </p:tav>
                                      </p:tavLst>
                                    </p:anim>
                                    <p:anim calcmode="lin" valueType="num">
                                      <p:cBhvr>
                                        <p:cTn id="70" dur="500" fill="hold"/>
                                        <p:tgtEl>
                                          <p:spTgt spid="27671"/>
                                        </p:tgtEl>
                                        <p:attrNameLst>
                                          <p:attrName>ppt_w</p:attrName>
                                        </p:attrNameLst>
                                      </p:cBhvr>
                                      <p:tavLst>
                                        <p:tav tm="0">
                                          <p:val>
                                            <p:fltVal val="0"/>
                                          </p:val>
                                        </p:tav>
                                        <p:tav tm="100000">
                                          <p:val>
                                            <p:strVal val="#ppt_w"/>
                                          </p:val>
                                        </p:tav>
                                      </p:tavLst>
                                    </p:anim>
                                    <p:anim calcmode="lin" valueType="num">
                                      <p:cBhvr>
                                        <p:cTn id="71" dur="500" fill="hold"/>
                                        <p:tgtEl>
                                          <p:spTgt spid="27671"/>
                                        </p:tgtEl>
                                        <p:attrNameLst>
                                          <p:attrName>ppt_h</p:attrName>
                                        </p:attrNameLst>
                                      </p:cBhvr>
                                      <p:tavLst>
                                        <p:tav tm="0">
                                          <p:val>
                                            <p:strVal val="#ppt_h"/>
                                          </p:val>
                                        </p:tav>
                                        <p:tav tm="100000">
                                          <p:val>
                                            <p:strVal val="#ppt_h"/>
                                          </p:val>
                                        </p:tav>
                                      </p:tavLst>
                                    </p:anim>
                                  </p:childTnLst>
                                </p:cTn>
                              </p:par>
                            </p:childTnLst>
                          </p:cTn>
                        </p:par>
                      </p:childTnLst>
                    </p:cTn>
                  </p:par>
                  <p:par>
                    <p:cTn id="72" fill="hold" nodeType="clickPar">
                      <p:stCondLst>
                        <p:cond delay="indefinite"/>
                      </p:stCondLst>
                      <p:childTnLst>
                        <p:par>
                          <p:cTn id="73" fill="hold" nodeType="withGroup">
                            <p:stCondLst>
                              <p:cond delay="0"/>
                            </p:stCondLst>
                            <p:childTnLst>
                              <p:par>
                                <p:cTn id="74" presetID="17" presetClass="entr" presetSubtype="8" fill="hold" grpId="0" nodeType="clickEffect">
                                  <p:stCondLst>
                                    <p:cond delay="0"/>
                                  </p:stCondLst>
                                  <p:childTnLst>
                                    <p:set>
                                      <p:cBhvr>
                                        <p:cTn id="75" dur="1" fill="hold">
                                          <p:stCondLst>
                                            <p:cond delay="0"/>
                                          </p:stCondLst>
                                        </p:cTn>
                                        <p:tgtEl>
                                          <p:spTgt spid="27673"/>
                                        </p:tgtEl>
                                        <p:attrNameLst>
                                          <p:attrName>style.visibility</p:attrName>
                                        </p:attrNameLst>
                                      </p:cBhvr>
                                      <p:to>
                                        <p:strVal val="visible"/>
                                      </p:to>
                                    </p:set>
                                    <p:anim calcmode="lin" valueType="num">
                                      <p:cBhvr>
                                        <p:cTn id="76" dur="500" fill="hold"/>
                                        <p:tgtEl>
                                          <p:spTgt spid="27673"/>
                                        </p:tgtEl>
                                        <p:attrNameLst>
                                          <p:attrName>ppt_x</p:attrName>
                                        </p:attrNameLst>
                                      </p:cBhvr>
                                      <p:tavLst>
                                        <p:tav tm="0">
                                          <p:val>
                                            <p:strVal val="#ppt_x-#ppt_w/2"/>
                                          </p:val>
                                        </p:tav>
                                        <p:tav tm="100000">
                                          <p:val>
                                            <p:strVal val="#ppt_x"/>
                                          </p:val>
                                        </p:tav>
                                      </p:tavLst>
                                    </p:anim>
                                    <p:anim calcmode="lin" valueType="num">
                                      <p:cBhvr>
                                        <p:cTn id="77" dur="500" fill="hold"/>
                                        <p:tgtEl>
                                          <p:spTgt spid="27673"/>
                                        </p:tgtEl>
                                        <p:attrNameLst>
                                          <p:attrName>ppt_y</p:attrName>
                                        </p:attrNameLst>
                                      </p:cBhvr>
                                      <p:tavLst>
                                        <p:tav tm="0">
                                          <p:val>
                                            <p:strVal val="#ppt_y"/>
                                          </p:val>
                                        </p:tav>
                                        <p:tav tm="100000">
                                          <p:val>
                                            <p:strVal val="#ppt_y"/>
                                          </p:val>
                                        </p:tav>
                                      </p:tavLst>
                                    </p:anim>
                                    <p:anim calcmode="lin" valueType="num">
                                      <p:cBhvr>
                                        <p:cTn id="78" dur="500" fill="hold"/>
                                        <p:tgtEl>
                                          <p:spTgt spid="27673"/>
                                        </p:tgtEl>
                                        <p:attrNameLst>
                                          <p:attrName>ppt_w</p:attrName>
                                        </p:attrNameLst>
                                      </p:cBhvr>
                                      <p:tavLst>
                                        <p:tav tm="0">
                                          <p:val>
                                            <p:fltVal val="0"/>
                                          </p:val>
                                        </p:tav>
                                        <p:tav tm="100000">
                                          <p:val>
                                            <p:strVal val="#ppt_w"/>
                                          </p:val>
                                        </p:tav>
                                      </p:tavLst>
                                    </p:anim>
                                    <p:anim calcmode="lin" valueType="num">
                                      <p:cBhvr>
                                        <p:cTn id="79" dur="500" fill="hold"/>
                                        <p:tgtEl>
                                          <p:spTgt spid="27673"/>
                                        </p:tgtEl>
                                        <p:attrNameLst>
                                          <p:attrName>ppt_h</p:attrName>
                                        </p:attrNameLst>
                                      </p:cBhvr>
                                      <p:tavLst>
                                        <p:tav tm="0">
                                          <p:val>
                                            <p:strVal val="#ppt_h"/>
                                          </p:val>
                                        </p:tav>
                                        <p:tav tm="100000">
                                          <p:val>
                                            <p:strVal val="#ppt_h"/>
                                          </p:val>
                                        </p:tav>
                                      </p:tavLst>
                                    </p:anim>
                                  </p:childTnLst>
                                </p:cTn>
                              </p:par>
                            </p:childTnLst>
                          </p:cTn>
                        </p:par>
                      </p:childTnLst>
                    </p:cTn>
                  </p:par>
                  <p:par>
                    <p:cTn id="80" fill="hold" nodeType="clickPar">
                      <p:stCondLst>
                        <p:cond delay="indefinite"/>
                      </p:stCondLst>
                      <p:childTnLst>
                        <p:par>
                          <p:cTn id="81" fill="hold" nodeType="withGroup">
                            <p:stCondLst>
                              <p:cond delay="0"/>
                            </p:stCondLst>
                            <p:childTnLst>
                              <p:par>
                                <p:cTn id="82" presetID="17" presetClass="entr" presetSubtype="8" fill="hold" nodeType="clickEffect">
                                  <p:stCondLst>
                                    <p:cond delay="0"/>
                                  </p:stCondLst>
                                  <p:childTnLst>
                                    <p:set>
                                      <p:cBhvr>
                                        <p:cTn id="83" dur="1" fill="hold">
                                          <p:stCondLst>
                                            <p:cond delay="0"/>
                                          </p:stCondLst>
                                        </p:cTn>
                                        <p:tgtEl>
                                          <p:spTgt spid="27672"/>
                                        </p:tgtEl>
                                        <p:attrNameLst>
                                          <p:attrName>style.visibility</p:attrName>
                                        </p:attrNameLst>
                                      </p:cBhvr>
                                      <p:to>
                                        <p:strVal val="visible"/>
                                      </p:to>
                                    </p:set>
                                    <p:anim calcmode="lin" valueType="num">
                                      <p:cBhvr>
                                        <p:cTn id="84" dur="500" fill="hold"/>
                                        <p:tgtEl>
                                          <p:spTgt spid="27672"/>
                                        </p:tgtEl>
                                        <p:attrNameLst>
                                          <p:attrName>ppt_x</p:attrName>
                                        </p:attrNameLst>
                                      </p:cBhvr>
                                      <p:tavLst>
                                        <p:tav tm="0">
                                          <p:val>
                                            <p:strVal val="#ppt_x-#ppt_w/2"/>
                                          </p:val>
                                        </p:tav>
                                        <p:tav tm="100000">
                                          <p:val>
                                            <p:strVal val="#ppt_x"/>
                                          </p:val>
                                        </p:tav>
                                      </p:tavLst>
                                    </p:anim>
                                    <p:anim calcmode="lin" valueType="num">
                                      <p:cBhvr>
                                        <p:cTn id="85" dur="500" fill="hold"/>
                                        <p:tgtEl>
                                          <p:spTgt spid="27672"/>
                                        </p:tgtEl>
                                        <p:attrNameLst>
                                          <p:attrName>ppt_y</p:attrName>
                                        </p:attrNameLst>
                                      </p:cBhvr>
                                      <p:tavLst>
                                        <p:tav tm="0">
                                          <p:val>
                                            <p:strVal val="#ppt_y"/>
                                          </p:val>
                                        </p:tav>
                                        <p:tav tm="100000">
                                          <p:val>
                                            <p:strVal val="#ppt_y"/>
                                          </p:val>
                                        </p:tav>
                                      </p:tavLst>
                                    </p:anim>
                                    <p:anim calcmode="lin" valueType="num">
                                      <p:cBhvr>
                                        <p:cTn id="86" dur="500" fill="hold"/>
                                        <p:tgtEl>
                                          <p:spTgt spid="27672"/>
                                        </p:tgtEl>
                                        <p:attrNameLst>
                                          <p:attrName>ppt_w</p:attrName>
                                        </p:attrNameLst>
                                      </p:cBhvr>
                                      <p:tavLst>
                                        <p:tav tm="0">
                                          <p:val>
                                            <p:fltVal val="0"/>
                                          </p:val>
                                        </p:tav>
                                        <p:tav tm="100000">
                                          <p:val>
                                            <p:strVal val="#ppt_w"/>
                                          </p:val>
                                        </p:tav>
                                      </p:tavLst>
                                    </p:anim>
                                    <p:anim calcmode="lin" valueType="num">
                                      <p:cBhvr>
                                        <p:cTn id="87" dur="500" fill="hold"/>
                                        <p:tgtEl>
                                          <p:spTgt spid="27672"/>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3" grpId="0" autoUpdateAnimBg="0"/>
      <p:bldP spid="27656" grpId="0" autoUpdateAnimBg="0"/>
      <p:bldP spid="27660" grpId="0" autoUpdateAnimBg="0"/>
      <p:bldP spid="27670" grpId="0" autoUpdateAnimBg="0"/>
      <p:bldP spid="27673" grpId="0" autoUpdateAnimBg="0"/>
      <p:bldP spid="27674" grpId="0" autoUpdateAnimBg="0"/>
      <p:bldP spid="14"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21185" name="Object 102"/>
          <p:cNvGraphicFramePr>
            <a:graphicFrameLocks noChangeAspect="1"/>
          </p:cNvGraphicFramePr>
          <p:nvPr/>
        </p:nvGraphicFramePr>
        <p:xfrm>
          <a:off x="2543175" y="785813"/>
          <a:ext cx="2676525" cy="561975"/>
        </p:xfrm>
        <a:graphic>
          <a:graphicData uri="http://schemas.openxmlformats.org/presentationml/2006/ole">
            <p:oleObj spid="_x0000_s18534" name="Equation" r:id="rId3" imgW="1497950" imgH="431613" progId="Equation.DSMT4">
              <p:embed/>
            </p:oleObj>
          </a:graphicData>
        </a:graphic>
      </p:graphicFrame>
      <p:graphicFrame>
        <p:nvGraphicFramePr>
          <p:cNvPr id="221186" name="Object 103"/>
          <p:cNvGraphicFramePr>
            <a:graphicFrameLocks noChangeAspect="1"/>
          </p:cNvGraphicFramePr>
          <p:nvPr/>
        </p:nvGraphicFramePr>
        <p:xfrm>
          <a:off x="2411413" y="1477963"/>
          <a:ext cx="4248150" cy="517525"/>
        </p:xfrm>
        <a:graphic>
          <a:graphicData uri="http://schemas.openxmlformats.org/presentationml/2006/ole">
            <p:oleObj spid="_x0000_s18535" name="Equation" r:id="rId4" imgW="3175000" imgH="444500" progId="Equation.DSMT4">
              <p:embed/>
            </p:oleObj>
          </a:graphicData>
        </a:graphic>
      </p:graphicFrame>
      <p:sp>
        <p:nvSpPr>
          <p:cNvPr id="28681" name="Text Box 9"/>
          <p:cNvSpPr txBox="1">
            <a:spLocks noChangeArrowheads="1"/>
          </p:cNvSpPr>
          <p:nvPr/>
        </p:nvSpPr>
        <p:spPr bwMode="auto">
          <a:xfrm>
            <a:off x="323850" y="1924050"/>
            <a:ext cx="4524375" cy="369888"/>
          </a:xfrm>
          <a:prstGeom prst="rect">
            <a:avLst/>
          </a:prstGeom>
          <a:noFill/>
          <a:ln w="9525">
            <a:noFill/>
            <a:miter lim="800000"/>
            <a:headEnd/>
            <a:tailEnd/>
          </a:ln>
        </p:spPr>
        <p:txBody>
          <a:bodyPr>
            <a:spAutoFit/>
          </a:bodyPr>
          <a:lstStyle/>
          <a:p>
            <a:pPr eaLnBrk="0" hangingPunct="0"/>
            <a:r>
              <a:rPr lang="zh-CN" altLang="en-US" b="1">
                <a:solidFill>
                  <a:srgbClr val="000000"/>
                </a:solidFill>
                <a:latin typeface="华文中宋"/>
                <a:ea typeface="华文中宋"/>
                <a:cs typeface="华文中宋"/>
              </a:rPr>
              <a:t>将（</a:t>
            </a:r>
            <a:r>
              <a:rPr lang="en-US" altLang="zh-CN" b="1">
                <a:solidFill>
                  <a:srgbClr val="000000"/>
                </a:solidFill>
                <a:latin typeface="华文中宋"/>
                <a:ea typeface="华文中宋"/>
                <a:cs typeface="华文中宋"/>
              </a:rPr>
              <a:t>2</a:t>
            </a:r>
            <a:r>
              <a:rPr lang="zh-CN" altLang="en-US" b="1">
                <a:solidFill>
                  <a:srgbClr val="000000"/>
                </a:solidFill>
                <a:latin typeface="华文中宋"/>
                <a:ea typeface="华文中宋"/>
                <a:cs typeface="华文中宋"/>
              </a:rPr>
              <a:t>）式代入（</a:t>
            </a:r>
            <a:r>
              <a:rPr lang="en-US" altLang="zh-CN" b="1">
                <a:solidFill>
                  <a:srgbClr val="000000"/>
                </a:solidFill>
                <a:latin typeface="华文中宋"/>
                <a:ea typeface="华文中宋"/>
                <a:cs typeface="华文中宋"/>
              </a:rPr>
              <a:t>1</a:t>
            </a:r>
            <a:r>
              <a:rPr lang="zh-CN" altLang="en-US" b="1">
                <a:solidFill>
                  <a:srgbClr val="000000"/>
                </a:solidFill>
                <a:latin typeface="华文中宋"/>
                <a:ea typeface="华文中宋"/>
                <a:cs typeface="华文中宋"/>
              </a:rPr>
              <a:t>）式，可得：</a:t>
            </a:r>
          </a:p>
        </p:txBody>
      </p:sp>
      <p:graphicFrame>
        <p:nvGraphicFramePr>
          <p:cNvPr id="221187" name="Object 104"/>
          <p:cNvGraphicFramePr>
            <a:graphicFrameLocks noChangeAspect="1"/>
          </p:cNvGraphicFramePr>
          <p:nvPr/>
        </p:nvGraphicFramePr>
        <p:xfrm>
          <a:off x="3633788" y="3011488"/>
          <a:ext cx="2667000" cy="322262"/>
        </p:xfrm>
        <a:graphic>
          <a:graphicData uri="http://schemas.openxmlformats.org/presentationml/2006/ole">
            <p:oleObj spid="_x0000_s18536" name="Equation" r:id="rId5" imgW="1536700" imgH="241300" progId="Equation.DSMT4">
              <p:embed/>
            </p:oleObj>
          </a:graphicData>
        </a:graphic>
      </p:graphicFrame>
      <p:graphicFrame>
        <p:nvGraphicFramePr>
          <p:cNvPr id="221188" name="Object 105"/>
          <p:cNvGraphicFramePr>
            <a:graphicFrameLocks noChangeAspect="1"/>
          </p:cNvGraphicFramePr>
          <p:nvPr/>
        </p:nvGraphicFramePr>
        <p:xfrm>
          <a:off x="1920875" y="3459163"/>
          <a:ext cx="1498600" cy="552450"/>
        </p:xfrm>
        <a:graphic>
          <a:graphicData uri="http://schemas.openxmlformats.org/presentationml/2006/ole">
            <p:oleObj spid="_x0000_s18537" name="Equation" r:id="rId6" imgW="799753" imgH="393529" progId="Equation.DSMT4">
              <p:embed/>
            </p:oleObj>
          </a:graphicData>
        </a:graphic>
      </p:graphicFrame>
      <p:sp>
        <p:nvSpPr>
          <p:cNvPr id="28691" name="Text Box 19"/>
          <p:cNvSpPr txBox="1">
            <a:spLocks noChangeArrowheads="1"/>
          </p:cNvSpPr>
          <p:nvPr/>
        </p:nvSpPr>
        <p:spPr bwMode="auto">
          <a:xfrm>
            <a:off x="325438" y="1158875"/>
            <a:ext cx="4572000" cy="369888"/>
          </a:xfrm>
          <a:prstGeom prst="rect">
            <a:avLst/>
          </a:prstGeom>
          <a:noFill/>
          <a:ln w="9525">
            <a:noFill/>
            <a:miter lim="800000"/>
            <a:headEnd/>
            <a:tailEnd/>
          </a:ln>
        </p:spPr>
        <p:txBody>
          <a:bodyPr>
            <a:spAutoFit/>
          </a:bodyPr>
          <a:lstStyle/>
          <a:p>
            <a:r>
              <a:rPr kumimoji="1" lang="zh-CN" altLang="en-US" b="1">
                <a:solidFill>
                  <a:srgbClr val="000000"/>
                </a:solidFill>
                <a:latin typeface="Times New Roman" pitchFamily="18" charset="0"/>
                <a:ea typeface="华文中宋"/>
                <a:cs typeface="华文中宋"/>
              </a:rPr>
              <a:t>由热一律，有 </a:t>
            </a:r>
            <a:r>
              <a:rPr kumimoji="1" lang="en-US" altLang="zh-CN" b="1">
                <a:solidFill>
                  <a:srgbClr val="000000"/>
                </a:solidFill>
                <a:latin typeface="Times New Roman" pitchFamily="18" charset="0"/>
                <a:ea typeface="华文中宋"/>
                <a:cs typeface="华文中宋"/>
              </a:rPr>
              <a:t>d</a:t>
            </a:r>
            <a:r>
              <a:rPr kumimoji="1" lang="en-US" altLang="zh-CN" b="1" i="1">
                <a:solidFill>
                  <a:srgbClr val="000000"/>
                </a:solidFill>
                <a:latin typeface="Times New Roman" pitchFamily="18" charset="0"/>
                <a:ea typeface="华文中宋"/>
                <a:cs typeface="华文中宋"/>
              </a:rPr>
              <a:t>Q=</a:t>
            </a:r>
            <a:r>
              <a:rPr kumimoji="1" lang="en-US" altLang="zh-CN" b="1">
                <a:solidFill>
                  <a:srgbClr val="000000"/>
                </a:solidFill>
                <a:latin typeface="Times New Roman" pitchFamily="18" charset="0"/>
                <a:ea typeface="华文中宋"/>
                <a:cs typeface="华文中宋"/>
              </a:rPr>
              <a:t>d</a:t>
            </a:r>
            <a:r>
              <a:rPr kumimoji="1" lang="en-US" altLang="zh-CN" b="1" i="1">
                <a:solidFill>
                  <a:srgbClr val="000000"/>
                </a:solidFill>
                <a:latin typeface="Times New Roman" pitchFamily="18" charset="0"/>
                <a:ea typeface="华文中宋"/>
                <a:cs typeface="华文中宋"/>
              </a:rPr>
              <a:t>W+</a:t>
            </a:r>
            <a:r>
              <a:rPr kumimoji="1" lang="en-US" altLang="zh-CN" b="1">
                <a:solidFill>
                  <a:srgbClr val="000000"/>
                </a:solidFill>
                <a:latin typeface="Times New Roman" pitchFamily="18" charset="0"/>
                <a:ea typeface="华文中宋"/>
                <a:cs typeface="华文中宋"/>
              </a:rPr>
              <a:t>d</a:t>
            </a:r>
            <a:r>
              <a:rPr kumimoji="1" lang="en-US" altLang="zh-CN" b="1" i="1">
                <a:solidFill>
                  <a:srgbClr val="000000"/>
                </a:solidFill>
                <a:latin typeface="Times New Roman" pitchFamily="18" charset="0"/>
                <a:ea typeface="华文中宋"/>
                <a:cs typeface="华文中宋"/>
              </a:rPr>
              <a:t>E=</a:t>
            </a:r>
            <a:r>
              <a:rPr kumimoji="1" lang="en-US" altLang="zh-CN" b="1">
                <a:solidFill>
                  <a:srgbClr val="000000"/>
                </a:solidFill>
                <a:latin typeface="Times New Roman" pitchFamily="18" charset="0"/>
                <a:ea typeface="华文中宋"/>
                <a:cs typeface="华文中宋"/>
              </a:rPr>
              <a:t>0, </a:t>
            </a:r>
            <a:r>
              <a:rPr kumimoji="1" lang="zh-CN" altLang="en-US" b="1">
                <a:solidFill>
                  <a:srgbClr val="000000"/>
                </a:solidFill>
                <a:latin typeface="Times New Roman" pitchFamily="18" charset="0"/>
                <a:ea typeface="华文中宋"/>
                <a:cs typeface="华文中宋"/>
              </a:rPr>
              <a:t>即</a:t>
            </a:r>
          </a:p>
        </p:txBody>
      </p:sp>
      <p:sp>
        <p:nvSpPr>
          <p:cNvPr id="28692" name="Text Box 20"/>
          <p:cNvSpPr txBox="1">
            <a:spLocks noChangeArrowheads="1"/>
          </p:cNvSpPr>
          <p:nvPr/>
        </p:nvSpPr>
        <p:spPr bwMode="auto">
          <a:xfrm>
            <a:off x="3563938" y="3525838"/>
            <a:ext cx="1403350" cy="369887"/>
          </a:xfrm>
          <a:prstGeom prst="rect">
            <a:avLst/>
          </a:prstGeom>
          <a:noFill/>
          <a:ln w="9525">
            <a:noFill/>
            <a:miter lim="800000"/>
            <a:headEnd/>
            <a:tailEnd/>
          </a:ln>
        </p:spPr>
        <p:txBody>
          <a:bodyPr>
            <a:spAutoFit/>
          </a:bodyPr>
          <a:lstStyle/>
          <a:p>
            <a:r>
              <a:rPr kumimoji="1" lang="zh-CN" altLang="en-US" b="1">
                <a:solidFill>
                  <a:srgbClr val="000000"/>
                </a:solidFill>
                <a:latin typeface="华文中宋"/>
                <a:ea typeface="华文中宋"/>
                <a:cs typeface="华文中宋"/>
              </a:rPr>
              <a:t>积分，得</a:t>
            </a:r>
          </a:p>
        </p:txBody>
      </p:sp>
      <p:graphicFrame>
        <p:nvGraphicFramePr>
          <p:cNvPr id="221189" name="Object 106"/>
          <p:cNvGraphicFramePr>
            <a:graphicFrameLocks noChangeAspect="1"/>
          </p:cNvGraphicFramePr>
          <p:nvPr/>
        </p:nvGraphicFramePr>
        <p:xfrm>
          <a:off x="4716463" y="3579813"/>
          <a:ext cx="2352675" cy="342900"/>
        </p:xfrm>
        <a:graphic>
          <a:graphicData uri="http://schemas.openxmlformats.org/presentationml/2006/ole">
            <p:oleObj spid="_x0000_s18538" name="Equation" r:id="rId7" imgW="1282700" imgH="203200" progId="Equation.DSMT4">
              <p:embed/>
            </p:oleObj>
          </a:graphicData>
        </a:graphic>
      </p:graphicFrame>
      <p:sp>
        <p:nvSpPr>
          <p:cNvPr id="28694" name="Text Box 22"/>
          <p:cNvSpPr txBox="1">
            <a:spLocks noChangeArrowheads="1"/>
          </p:cNvSpPr>
          <p:nvPr/>
        </p:nvSpPr>
        <p:spPr bwMode="auto">
          <a:xfrm>
            <a:off x="7389813" y="754063"/>
            <a:ext cx="1214437" cy="369887"/>
          </a:xfrm>
          <a:prstGeom prst="rect">
            <a:avLst/>
          </a:prstGeom>
          <a:noFill/>
          <a:ln w="9525">
            <a:noFill/>
            <a:miter lim="800000"/>
            <a:headEnd/>
            <a:tailEnd/>
          </a:ln>
        </p:spPr>
        <p:txBody>
          <a:bodyPr>
            <a:spAutoFit/>
          </a:bodyPr>
          <a:lstStyle/>
          <a:p>
            <a:r>
              <a:rPr kumimoji="1" lang="en-US" altLang="zh-CN" b="1">
                <a:solidFill>
                  <a:srgbClr val="000000"/>
                </a:solidFill>
                <a:latin typeface="黑体" pitchFamily="49" charset="-122"/>
                <a:ea typeface="黑体" pitchFamily="49" charset="-122"/>
              </a:rPr>
              <a:t>---</a:t>
            </a:r>
            <a:r>
              <a:rPr kumimoji="1" lang="zh-CN" altLang="en-US" b="1">
                <a:solidFill>
                  <a:srgbClr val="000000"/>
                </a:solidFill>
                <a:latin typeface="华文中宋"/>
                <a:ea typeface="华文中宋"/>
                <a:cs typeface="华文中宋"/>
              </a:rPr>
              <a:t>（</a:t>
            </a:r>
            <a:r>
              <a:rPr kumimoji="1" lang="en-US" altLang="zh-CN" b="1">
                <a:solidFill>
                  <a:srgbClr val="000000"/>
                </a:solidFill>
                <a:latin typeface="华文中宋"/>
                <a:ea typeface="华文中宋"/>
                <a:cs typeface="华文中宋"/>
              </a:rPr>
              <a:t>1</a:t>
            </a:r>
            <a:r>
              <a:rPr kumimoji="1" lang="zh-CN" altLang="en-US" b="1">
                <a:solidFill>
                  <a:srgbClr val="000000"/>
                </a:solidFill>
                <a:latin typeface="华文中宋"/>
                <a:ea typeface="华文中宋"/>
                <a:cs typeface="华文中宋"/>
              </a:rPr>
              <a:t>）</a:t>
            </a:r>
          </a:p>
        </p:txBody>
      </p:sp>
      <p:sp>
        <p:nvSpPr>
          <p:cNvPr id="28695" name="Text Box 23"/>
          <p:cNvSpPr txBox="1">
            <a:spLocks noChangeArrowheads="1"/>
          </p:cNvSpPr>
          <p:nvPr/>
        </p:nvSpPr>
        <p:spPr bwMode="auto">
          <a:xfrm>
            <a:off x="7407275" y="1528763"/>
            <a:ext cx="1444625" cy="368300"/>
          </a:xfrm>
          <a:prstGeom prst="rect">
            <a:avLst/>
          </a:prstGeom>
          <a:noFill/>
          <a:ln w="9525">
            <a:noFill/>
            <a:miter lim="800000"/>
            <a:headEnd/>
            <a:tailEnd/>
          </a:ln>
        </p:spPr>
        <p:txBody>
          <a:bodyPr>
            <a:spAutoFit/>
          </a:bodyPr>
          <a:lstStyle/>
          <a:p>
            <a:r>
              <a:rPr kumimoji="1" lang="en-US" altLang="zh-CN" b="1">
                <a:solidFill>
                  <a:srgbClr val="000000"/>
                </a:solidFill>
                <a:latin typeface="黑体" pitchFamily="49" charset="-122"/>
                <a:ea typeface="黑体" pitchFamily="49" charset="-122"/>
              </a:rPr>
              <a:t>---</a:t>
            </a:r>
            <a:r>
              <a:rPr kumimoji="1" lang="zh-CN" altLang="en-US" b="1">
                <a:solidFill>
                  <a:srgbClr val="000000"/>
                </a:solidFill>
                <a:latin typeface="华文中宋"/>
                <a:ea typeface="华文中宋"/>
                <a:cs typeface="华文中宋"/>
              </a:rPr>
              <a:t>（</a:t>
            </a:r>
            <a:r>
              <a:rPr kumimoji="1" lang="en-US" altLang="zh-CN" b="1">
                <a:solidFill>
                  <a:srgbClr val="000000"/>
                </a:solidFill>
                <a:latin typeface="华文中宋"/>
                <a:ea typeface="华文中宋"/>
                <a:cs typeface="华文中宋"/>
              </a:rPr>
              <a:t>2</a:t>
            </a:r>
            <a:r>
              <a:rPr kumimoji="1" lang="zh-CN" altLang="en-US" b="1">
                <a:solidFill>
                  <a:srgbClr val="000000"/>
                </a:solidFill>
                <a:latin typeface="华文中宋"/>
                <a:ea typeface="华文中宋"/>
                <a:cs typeface="华文中宋"/>
              </a:rPr>
              <a:t>）</a:t>
            </a:r>
          </a:p>
        </p:txBody>
      </p:sp>
      <p:graphicFrame>
        <p:nvGraphicFramePr>
          <p:cNvPr id="221190" name="Object 107"/>
          <p:cNvGraphicFramePr>
            <a:graphicFrameLocks noChangeAspect="1"/>
          </p:cNvGraphicFramePr>
          <p:nvPr/>
        </p:nvGraphicFramePr>
        <p:xfrm>
          <a:off x="1619250" y="2355850"/>
          <a:ext cx="5256213" cy="539750"/>
        </p:xfrm>
        <a:graphic>
          <a:graphicData uri="http://schemas.openxmlformats.org/presentationml/2006/ole">
            <p:oleObj spid="_x0000_s18539" name="Equation" r:id="rId8" imgW="3695700" imgH="444500" progId="Equation.DSMT4">
              <p:embed/>
            </p:oleObj>
          </a:graphicData>
        </a:graphic>
      </p:graphicFrame>
      <p:grpSp>
        <p:nvGrpSpPr>
          <p:cNvPr id="2" name="Group 27"/>
          <p:cNvGrpSpPr>
            <a:grpSpLocks/>
          </p:cNvGrpSpPr>
          <p:nvPr/>
        </p:nvGrpSpPr>
        <p:grpSpPr bwMode="auto">
          <a:xfrm>
            <a:off x="327025" y="2963863"/>
            <a:ext cx="4098925" cy="369887"/>
            <a:chOff x="703" y="2445"/>
            <a:chExt cx="2582" cy="309"/>
          </a:xfrm>
        </p:grpSpPr>
        <p:sp>
          <p:nvSpPr>
            <p:cNvPr id="18553" name="Text Box 25"/>
            <p:cNvSpPr txBox="1">
              <a:spLocks noChangeArrowheads="1"/>
            </p:cNvSpPr>
            <p:nvPr/>
          </p:nvSpPr>
          <p:spPr bwMode="auto">
            <a:xfrm>
              <a:off x="703" y="2445"/>
              <a:ext cx="2582" cy="309"/>
            </a:xfrm>
            <a:prstGeom prst="rect">
              <a:avLst/>
            </a:prstGeom>
            <a:noFill/>
            <a:ln w="9525">
              <a:noFill/>
              <a:miter lim="800000"/>
              <a:headEnd/>
              <a:tailEnd/>
            </a:ln>
          </p:spPr>
          <p:txBody>
            <a:bodyPr>
              <a:spAutoFit/>
            </a:bodyPr>
            <a:lstStyle/>
            <a:p>
              <a:r>
                <a:rPr kumimoji="1" lang="zh-CN" altLang="en-US" b="1">
                  <a:solidFill>
                    <a:srgbClr val="000000"/>
                  </a:solidFill>
                  <a:latin typeface="华文中宋"/>
                  <a:ea typeface="华文中宋"/>
                  <a:cs typeface="华文中宋"/>
                </a:rPr>
                <a:t>由麦耶公式                  可得：</a:t>
              </a:r>
            </a:p>
          </p:txBody>
        </p:sp>
        <p:graphicFrame>
          <p:nvGraphicFramePr>
            <p:cNvPr id="18540" name="Object 108"/>
            <p:cNvGraphicFramePr>
              <a:graphicFrameLocks noChangeAspect="1"/>
            </p:cNvGraphicFramePr>
            <p:nvPr/>
          </p:nvGraphicFramePr>
          <p:xfrm>
            <a:off x="1506" y="2478"/>
            <a:ext cx="784" cy="237"/>
          </p:xfrm>
          <a:graphic>
            <a:graphicData uri="http://schemas.openxmlformats.org/presentationml/2006/ole">
              <p:oleObj spid="_x0000_s18540" name="Equation" r:id="rId9" imgW="1028254" imgH="241195" progId="Equation.DSMT4">
                <p:embed/>
              </p:oleObj>
            </a:graphicData>
          </a:graphic>
        </p:graphicFrame>
      </p:grpSp>
      <p:grpSp>
        <p:nvGrpSpPr>
          <p:cNvPr id="3" name="Group 0"/>
          <p:cNvGrpSpPr>
            <a:grpSpLocks/>
          </p:cNvGrpSpPr>
          <p:nvPr/>
        </p:nvGrpSpPr>
        <p:grpSpPr bwMode="auto">
          <a:xfrm>
            <a:off x="755650" y="4078288"/>
            <a:ext cx="7632700" cy="590550"/>
            <a:chOff x="476" y="3551"/>
            <a:chExt cx="4808" cy="391"/>
          </a:xfrm>
        </p:grpSpPr>
        <p:sp>
          <p:nvSpPr>
            <p:cNvPr id="18551" name="Text Box 7"/>
            <p:cNvSpPr txBox="1">
              <a:spLocks noChangeArrowheads="1"/>
            </p:cNvSpPr>
            <p:nvPr/>
          </p:nvSpPr>
          <p:spPr bwMode="auto">
            <a:xfrm>
              <a:off x="521" y="3551"/>
              <a:ext cx="1268" cy="386"/>
            </a:xfrm>
            <a:prstGeom prst="rect">
              <a:avLst/>
            </a:prstGeom>
            <a:noFill/>
            <a:ln w="9525">
              <a:noFill/>
              <a:miter lim="800000"/>
              <a:headEnd/>
              <a:tailEnd/>
            </a:ln>
          </p:spPr>
          <p:txBody>
            <a:bodyPr>
              <a:spAutoFit/>
            </a:bodyPr>
            <a:lstStyle/>
            <a:p>
              <a:pPr algn="ctr">
                <a:lnSpc>
                  <a:spcPct val="110000"/>
                </a:lnSpc>
              </a:pPr>
              <a:r>
                <a:rPr kumimoji="1" lang="zh-CN" altLang="en-US" sz="1500" b="1">
                  <a:solidFill>
                    <a:srgbClr val="0000FF"/>
                  </a:solidFill>
                  <a:latin typeface="Times New Roman" pitchFamily="18" charset="0"/>
                  <a:ea typeface="华文中宋"/>
                  <a:cs typeface="华文中宋"/>
                </a:rPr>
                <a:t>绝热方程</a:t>
              </a:r>
            </a:p>
            <a:p>
              <a:pPr algn="ctr">
                <a:lnSpc>
                  <a:spcPct val="110000"/>
                </a:lnSpc>
              </a:pPr>
              <a:r>
                <a:rPr kumimoji="1" lang="zh-CN" altLang="en-US" sz="1500" b="1">
                  <a:solidFill>
                    <a:srgbClr val="0000FF"/>
                  </a:solidFill>
                  <a:latin typeface="Times New Roman" pitchFamily="18" charset="0"/>
                  <a:ea typeface="华文中宋"/>
                  <a:cs typeface="华文中宋"/>
                </a:rPr>
                <a:t>（泊松方程）</a:t>
              </a:r>
            </a:p>
          </p:txBody>
        </p:sp>
        <p:graphicFrame>
          <p:nvGraphicFramePr>
            <p:cNvPr id="18541" name="Object 109"/>
            <p:cNvGraphicFramePr>
              <a:graphicFrameLocks noChangeAspect="1"/>
            </p:cNvGraphicFramePr>
            <p:nvPr/>
          </p:nvGraphicFramePr>
          <p:xfrm>
            <a:off x="1837" y="3603"/>
            <a:ext cx="589" cy="288"/>
          </p:xfrm>
          <a:graphic>
            <a:graphicData uri="http://schemas.openxmlformats.org/presentationml/2006/ole">
              <p:oleObj spid="_x0000_s18541" name="Equation" r:id="rId10" imgW="482391" imgH="203112" progId="Equation.DSMT4">
                <p:embed/>
              </p:oleObj>
            </a:graphicData>
          </a:graphic>
        </p:graphicFrame>
        <p:graphicFrame>
          <p:nvGraphicFramePr>
            <p:cNvPr id="18542" name="Object 110"/>
            <p:cNvGraphicFramePr>
              <a:graphicFrameLocks noChangeAspect="1"/>
            </p:cNvGraphicFramePr>
            <p:nvPr/>
          </p:nvGraphicFramePr>
          <p:xfrm>
            <a:off x="2789" y="3603"/>
            <a:ext cx="862" cy="280"/>
          </p:xfrm>
          <a:graphic>
            <a:graphicData uri="http://schemas.openxmlformats.org/presentationml/2006/ole">
              <p:oleObj spid="_x0000_s18542" name="公式" r:id="rId11" imgW="736600" imgH="228600" progId="Equation.3">
                <p:embed/>
              </p:oleObj>
            </a:graphicData>
          </a:graphic>
        </p:graphicFrame>
        <p:graphicFrame>
          <p:nvGraphicFramePr>
            <p:cNvPr id="18543" name="Object 111"/>
            <p:cNvGraphicFramePr>
              <a:graphicFrameLocks noChangeAspect="1"/>
            </p:cNvGraphicFramePr>
            <p:nvPr/>
          </p:nvGraphicFramePr>
          <p:xfrm>
            <a:off x="4014" y="3603"/>
            <a:ext cx="1134" cy="291"/>
          </p:xfrm>
          <a:graphic>
            <a:graphicData uri="http://schemas.openxmlformats.org/presentationml/2006/ole">
              <p:oleObj spid="_x0000_s18543" name="公式" r:id="rId12" imgW="685502" imgH="215806" progId="Equation.3">
                <p:embed/>
              </p:oleObj>
            </a:graphicData>
          </a:graphic>
        </p:graphicFrame>
        <p:sp>
          <p:nvSpPr>
            <p:cNvPr id="18552" name="Rectangle 35"/>
            <p:cNvSpPr>
              <a:spLocks noChangeArrowheads="1"/>
            </p:cNvSpPr>
            <p:nvPr/>
          </p:nvSpPr>
          <p:spPr bwMode="auto">
            <a:xfrm>
              <a:off x="476" y="3554"/>
              <a:ext cx="4808" cy="388"/>
            </a:xfrm>
            <a:prstGeom prst="rect">
              <a:avLst/>
            </a:prstGeom>
            <a:noFill/>
            <a:ln w="28575">
              <a:solidFill>
                <a:srgbClr val="FF00FF"/>
              </a:solidFill>
              <a:miter lim="800000"/>
              <a:headEnd/>
              <a:tailEnd/>
            </a:ln>
          </p:spPr>
          <p:txBody>
            <a:bodyPr anchor="ctr">
              <a:spAutoFit/>
            </a:bodyPr>
            <a:lstStyle/>
            <a:p>
              <a:endParaRPr kumimoji="1" lang="zh-CN" altLang="en-US" sz="2400" b="1">
                <a:solidFill>
                  <a:srgbClr val="000000"/>
                </a:solidFill>
                <a:latin typeface="Times New Roman" pitchFamily="18" charset="0"/>
                <a:ea typeface="华文中宋"/>
                <a:cs typeface="华文中宋"/>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8" fill="hold" nodeType="clickEffect">
                                  <p:stCondLst>
                                    <p:cond delay="0"/>
                                  </p:stCondLst>
                                  <p:childTnLst>
                                    <p:set>
                                      <p:cBhvr>
                                        <p:cTn id="6" dur="1" fill="hold">
                                          <p:stCondLst>
                                            <p:cond delay="0"/>
                                          </p:stCondLst>
                                        </p:cTn>
                                        <p:tgtEl>
                                          <p:spTgt spid="221185"/>
                                        </p:tgtEl>
                                        <p:attrNameLst>
                                          <p:attrName>style.visibility</p:attrName>
                                        </p:attrNameLst>
                                      </p:cBhvr>
                                      <p:to>
                                        <p:strVal val="visible"/>
                                      </p:to>
                                    </p:set>
                                    <p:anim calcmode="lin" valueType="num">
                                      <p:cBhvr>
                                        <p:cTn id="7" dur="500" fill="hold"/>
                                        <p:tgtEl>
                                          <p:spTgt spid="221185"/>
                                        </p:tgtEl>
                                        <p:attrNameLst>
                                          <p:attrName>ppt_x</p:attrName>
                                        </p:attrNameLst>
                                      </p:cBhvr>
                                      <p:tavLst>
                                        <p:tav tm="0">
                                          <p:val>
                                            <p:strVal val="#ppt_x-#ppt_w/2"/>
                                          </p:val>
                                        </p:tav>
                                        <p:tav tm="100000">
                                          <p:val>
                                            <p:strVal val="#ppt_x"/>
                                          </p:val>
                                        </p:tav>
                                      </p:tavLst>
                                    </p:anim>
                                    <p:anim calcmode="lin" valueType="num">
                                      <p:cBhvr>
                                        <p:cTn id="8" dur="500" fill="hold"/>
                                        <p:tgtEl>
                                          <p:spTgt spid="221185"/>
                                        </p:tgtEl>
                                        <p:attrNameLst>
                                          <p:attrName>ppt_y</p:attrName>
                                        </p:attrNameLst>
                                      </p:cBhvr>
                                      <p:tavLst>
                                        <p:tav tm="0">
                                          <p:val>
                                            <p:strVal val="#ppt_y"/>
                                          </p:val>
                                        </p:tav>
                                        <p:tav tm="100000">
                                          <p:val>
                                            <p:strVal val="#ppt_y"/>
                                          </p:val>
                                        </p:tav>
                                      </p:tavLst>
                                    </p:anim>
                                    <p:anim calcmode="lin" valueType="num">
                                      <p:cBhvr>
                                        <p:cTn id="9" dur="500" fill="hold"/>
                                        <p:tgtEl>
                                          <p:spTgt spid="221185"/>
                                        </p:tgtEl>
                                        <p:attrNameLst>
                                          <p:attrName>ppt_w</p:attrName>
                                        </p:attrNameLst>
                                      </p:cBhvr>
                                      <p:tavLst>
                                        <p:tav tm="0">
                                          <p:val>
                                            <p:fltVal val="0"/>
                                          </p:val>
                                        </p:tav>
                                        <p:tav tm="100000">
                                          <p:val>
                                            <p:strVal val="#ppt_w"/>
                                          </p:val>
                                        </p:tav>
                                      </p:tavLst>
                                    </p:anim>
                                    <p:anim calcmode="lin" valueType="num">
                                      <p:cBhvr>
                                        <p:cTn id="10" dur="500" fill="hold"/>
                                        <p:tgtEl>
                                          <p:spTgt spid="221185"/>
                                        </p:tgtEl>
                                        <p:attrNameLst>
                                          <p:attrName>ppt_h</p:attrName>
                                        </p:attrNameLst>
                                      </p:cBhvr>
                                      <p:tavLst>
                                        <p:tav tm="0">
                                          <p:val>
                                            <p:strVal val="#ppt_h"/>
                                          </p:val>
                                        </p:tav>
                                        <p:tav tm="100000">
                                          <p:val>
                                            <p:strVal val="#ppt_h"/>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17" presetClass="entr" presetSubtype="8" fill="hold" grpId="0" nodeType="clickEffect">
                                  <p:stCondLst>
                                    <p:cond delay="0"/>
                                  </p:stCondLst>
                                  <p:childTnLst>
                                    <p:set>
                                      <p:cBhvr>
                                        <p:cTn id="14" dur="1" fill="hold">
                                          <p:stCondLst>
                                            <p:cond delay="0"/>
                                          </p:stCondLst>
                                        </p:cTn>
                                        <p:tgtEl>
                                          <p:spTgt spid="28694"/>
                                        </p:tgtEl>
                                        <p:attrNameLst>
                                          <p:attrName>style.visibility</p:attrName>
                                        </p:attrNameLst>
                                      </p:cBhvr>
                                      <p:to>
                                        <p:strVal val="visible"/>
                                      </p:to>
                                    </p:set>
                                    <p:anim calcmode="lin" valueType="num">
                                      <p:cBhvr>
                                        <p:cTn id="15" dur="500" fill="hold"/>
                                        <p:tgtEl>
                                          <p:spTgt spid="28694"/>
                                        </p:tgtEl>
                                        <p:attrNameLst>
                                          <p:attrName>ppt_x</p:attrName>
                                        </p:attrNameLst>
                                      </p:cBhvr>
                                      <p:tavLst>
                                        <p:tav tm="0">
                                          <p:val>
                                            <p:strVal val="#ppt_x-#ppt_w/2"/>
                                          </p:val>
                                        </p:tav>
                                        <p:tav tm="100000">
                                          <p:val>
                                            <p:strVal val="#ppt_x"/>
                                          </p:val>
                                        </p:tav>
                                      </p:tavLst>
                                    </p:anim>
                                    <p:anim calcmode="lin" valueType="num">
                                      <p:cBhvr>
                                        <p:cTn id="16" dur="500" fill="hold"/>
                                        <p:tgtEl>
                                          <p:spTgt spid="28694"/>
                                        </p:tgtEl>
                                        <p:attrNameLst>
                                          <p:attrName>ppt_y</p:attrName>
                                        </p:attrNameLst>
                                      </p:cBhvr>
                                      <p:tavLst>
                                        <p:tav tm="0">
                                          <p:val>
                                            <p:strVal val="#ppt_y"/>
                                          </p:val>
                                        </p:tav>
                                        <p:tav tm="100000">
                                          <p:val>
                                            <p:strVal val="#ppt_y"/>
                                          </p:val>
                                        </p:tav>
                                      </p:tavLst>
                                    </p:anim>
                                    <p:anim calcmode="lin" valueType="num">
                                      <p:cBhvr>
                                        <p:cTn id="17" dur="500" fill="hold"/>
                                        <p:tgtEl>
                                          <p:spTgt spid="28694"/>
                                        </p:tgtEl>
                                        <p:attrNameLst>
                                          <p:attrName>ppt_w</p:attrName>
                                        </p:attrNameLst>
                                      </p:cBhvr>
                                      <p:tavLst>
                                        <p:tav tm="0">
                                          <p:val>
                                            <p:fltVal val="0"/>
                                          </p:val>
                                        </p:tav>
                                        <p:tav tm="100000">
                                          <p:val>
                                            <p:strVal val="#ppt_w"/>
                                          </p:val>
                                        </p:tav>
                                      </p:tavLst>
                                    </p:anim>
                                    <p:anim calcmode="lin" valueType="num">
                                      <p:cBhvr>
                                        <p:cTn id="18" dur="500" fill="hold"/>
                                        <p:tgtEl>
                                          <p:spTgt spid="28694"/>
                                        </p:tgtEl>
                                        <p:attrNameLst>
                                          <p:attrName>ppt_h</p:attrName>
                                        </p:attrNameLst>
                                      </p:cBhvr>
                                      <p:tavLst>
                                        <p:tav tm="0">
                                          <p:val>
                                            <p:strVal val="#ppt_h"/>
                                          </p:val>
                                        </p:tav>
                                        <p:tav tm="100000">
                                          <p:val>
                                            <p:strVal val="#ppt_h"/>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17" presetClass="entr" presetSubtype="8" fill="hold" grpId="0" nodeType="clickEffect">
                                  <p:stCondLst>
                                    <p:cond delay="0"/>
                                  </p:stCondLst>
                                  <p:childTnLst>
                                    <p:set>
                                      <p:cBhvr>
                                        <p:cTn id="22" dur="1" fill="hold">
                                          <p:stCondLst>
                                            <p:cond delay="0"/>
                                          </p:stCondLst>
                                        </p:cTn>
                                        <p:tgtEl>
                                          <p:spTgt spid="28691"/>
                                        </p:tgtEl>
                                        <p:attrNameLst>
                                          <p:attrName>style.visibility</p:attrName>
                                        </p:attrNameLst>
                                      </p:cBhvr>
                                      <p:to>
                                        <p:strVal val="visible"/>
                                      </p:to>
                                    </p:set>
                                    <p:anim calcmode="lin" valueType="num">
                                      <p:cBhvr>
                                        <p:cTn id="23" dur="500" fill="hold"/>
                                        <p:tgtEl>
                                          <p:spTgt spid="28691"/>
                                        </p:tgtEl>
                                        <p:attrNameLst>
                                          <p:attrName>ppt_x</p:attrName>
                                        </p:attrNameLst>
                                      </p:cBhvr>
                                      <p:tavLst>
                                        <p:tav tm="0">
                                          <p:val>
                                            <p:strVal val="#ppt_x-#ppt_w/2"/>
                                          </p:val>
                                        </p:tav>
                                        <p:tav tm="100000">
                                          <p:val>
                                            <p:strVal val="#ppt_x"/>
                                          </p:val>
                                        </p:tav>
                                      </p:tavLst>
                                    </p:anim>
                                    <p:anim calcmode="lin" valueType="num">
                                      <p:cBhvr>
                                        <p:cTn id="24" dur="500" fill="hold"/>
                                        <p:tgtEl>
                                          <p:spTgt spid="28691"/>
                                        </p:tgtEl>
                                        <p:attrNameLst>
                                          <p:attrName>ppt_y</p:attrName>
                                        </p:attrNameLst>
                                      </p:cBhvr>
                                      <p:tavLst>
                                        <p:tav tm="0">
                                          <p:val>
                                            <p:strVal val="#ppt_y"/>
                                          </p:val>
                                        </p:tav>
                                        <p:tav tm="100000">
                                          <p:val>
                                            <p:strVal val="#ppt_y"/>
                                          </p:val>
                                        </p:tav>
                                      </p:tavLst>
                                    </p:anim>
                                    <p:anim calcmode="lin" valueType="num">
                                      <p:cBhvr>
                                        <p:cTn id="25" dur="500" fill="hold"/>
                                        <p:tgtEl>
                                          <p:spTgt spid="28691"/>
                                        </p:tgtEl>
                                        <p:attrNameLst>
                                          <p:attrName>ppt_w</p:attrName>
                                        </p:attrNameLst>
                                      </p:cBhvr>
                                      <p:tavLst>
                                        <p:tav tm="0">
                                          <p:val>
                                            <p:fltVal val="0"/>
                                          </p:val>
                                        </p:tav>
                                        <p:tav tm="100000">
                                          <p:val>
                                            <p:strVal val="#ppt_w"/>
                                          </p:val>
                                        </p:tav>
                                      </p:tavLst>
                                    </p:anim>
                                    <p:anim calcmode="lin" valueType="num">
                                      <p:cBhvr>
                                        <p:cTn id="26" dur="500" fill="hold"/>
                                        <p:tgtEl>
                                          <p:spTgt spid="28691"/>
                                        </p:tgtEl>
                                        <p:attrNameLst>
                                          <p:attrName>ppt_h</p:attrName>
                                        </p:attrNameLst>
                                      </p:cBhvr>
                                      <p:tavLst>
                                        <p:tav tm="0">
                                          <p:val>
                                            <p:strVal val="#ppt_h"/>
                                          </p:val>
                                        </p:tav>
                                        <p:tav tm="100000">
                                          <p:val>
                                            <p:strVal val="#ppt_h"/>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17" presetClass="entr" presetSubtype="8" fill="hold" nodeType="clickEffect">
                                  <p:stCondLst>
                                    <p:cond delay="0"/>
                                  </p:stCondLst>
                                  <p:childTnLst>
                                    <p:set>
                                      <p:cBhvr>
                                        <p:cTn id="30" dur="1" fill="hold">
                                          <p:stCondLst>
                                            <p:cond delay="0"/>
                                          </p:stCondLst>
                                        </p:cTn>
                                        <p:tgtEl>
                                          <p:spTgt spid="221186"/>
                                        </p:tgtEl>
                                        <p:attrNameLst>
                                          <p:attrName>style.visibility</p:attrName>
                                        </p:attrNameLst>
                                      </p:cBhvr>
                                      <p:to>
                                        <p:strVal val="visible"/>
                                      </p:to>
                                    </p:set>
                                    <p:anim calcmode="lin" valueType="num">
                                      <p:cBhvr>
                                        <p:cTn id="31" dur="500" fill="hold"/>
                                        <p:tgtEl>
                                          <p:spTgt spid="221186"/>
                                        </p:tgtEl>
                                        <p:attrNameLst>
                                          <p:attrName>ppt_x</p:attrName>
                                        </p:attrNameLst>
                                      </p:cBhvr>
                                      <p:tavLst>
                                        <p:tav tm="0">
                                          <p:val>
                                            <p:strVal val="#ppt_x-#ppt_w/2"/>
                                          </p:val>
                                        </p:tav>
                                        <p:tav tm="100000">
                                          <p:val>
                                            <p:strVal val="#ppt_x"/>
                                          </p:val>
                                        </p:tav>
                                      </p:tavLst>
                                    </p:anim>
                                    <p:anim calcmode="lin" valueType="num">
                                      <p:cBhvr>
                                        <p:cTn id="32" dur="500" fill="hold"/>
                                        <p:tgtEl>
                                          <p:spTgt spid="221186"/>
                                        </p:tgtEl>
                                        <p:attrNameLst>
                                          <p:attrName>ppt_y</p:attrName>
                                        </p:attrNameLst>
                                      </p:cBhvr>
                                      <p:tavLst>
                                        <p:tav tm="0">
                                          <p:val>
                                            <p:strVal val="#ppt_y"/>
                                          </p:val>
                                        </p:tav>
                                        <p:tav tm="100000">
                                          <p:val>
                                            <p:strVal val="#ppt_y"/>
                                          </p:val>
                                        </p:tav>
                                      </p:tavLst>
                                    </p:anim>
                                    <p:anim calcmode="lin" valueType="num">
                                      <p:cBhvr>
                                        <p:cTn id="33" dur="500" fill="hold"/>
                                        <p:tgtEl>
                                          <p:spTgt spid="221186"/>
                                        </p:tgtEl>
                                        <p:attrNameLst>
                                          <p:attrName>ppt_w</p:attrName>
                                        </p:attrNameLst>
                                      </p:cBhvr>
                                      <p:tavLst>
                                        <p:tav tm="0">
                                          <p:val>
                                            <p:fltVal val="0"/>
                                          </p:val>
                                        </p:tav>
                                        <p:tav tm="100000">
                                          <p:val>
                                            <p:strVal val="#ppt_w"/>
                                          </p:val>
                                        </p:tav>
                                      </p:tavLst>
                                    </p:anim>
                                    <p:anim calcmode="lin" valueType="num">
                                      <p:cBhvr>
                                        <p:cTn id="34" dur="500" fill="hold"/>
                                        <p:tgtEl>
                                          <p:spTgt spid="221186"/>
                                        </p:tgtEl>
                                        <p:attrNameLst>
                                          <p:attrName>ppt_h</p:attrName>
                                        </p:attrNameLst>
                                      </p:cBhvr>
                                      <p:tavLst>
                                        <p:tav tm="0">
                                          <p:val>
                                            <p:strVal val="#ppt_h"/>
                                          </p:val>
                                        </p:tav>
                                        <p:tav tm="100000">
                                          <p:val>
                                            <p:strVal val="#ppt_h"/>
                                          </p:val>
                                        </p:tav>
                                      </p:tavLst>
                                    </p:anim>
                                  </p:childTnLst>
                                </p:cTn>
                              </p:par>
                            </p:childTnLst>
                          </p:cTn>
                        </p:par>
                      </p:childTnLst>
                    </p:cTn>
                  </p:par>
                  <p:par>
                    <p:cTn id="35" fill="hold" nodeType="clickPar">
                      <p:stCondLst>
                        <p:cond delay="indefinite"/>
                      </p:stCondLst>
                      <p:childTnLst>
                        <p:par>
                          <p:cTn id="36" fill="hold" nodeType="withGroup">
                            <p:stCondLst>
                              <p:cond delay="0"/>
                            </p:stCondLst>
                            <p:childTnLst>
                              <p:par>
                                <p:cTn id="37" presetID="17" presetClass="entr" presetSubtype="8" fill="hold" grpId="0" nodeType="clickEffect">
                                  <p:stCondLst>
                                    <p:cond delay="0"/>
                                  </p:stCondLst>
                                  <p:childTnLst>
                                    <p:set>
                                      <p:cBhvr>
                                        <p:cTn id="38" dur="1" fill="hold">
                                          <p:stCondLst>
                                            <p:cond delay="0"/>
                                          </p:stCondLst>
                                        </p:cTn>
                                        <p:tgtEl>
                                          <p:spTgt spid="28695"/>
                                        </p:tgtEl>
                                        <p:attrNameLst>
                                          <p:attrName>style.visibility</p:attrName>
                                        </p:attrNameLst>
                                      </p:cBhvr>
                                      <p:to>
                                        <p:strVal val="visible"/>
                                      </p:to>
                                    </p:set>
                                    <p:anim calcmode="lin" valueType="num">
                                      <p:cBhvr>
                                        <p:cTn id="39" dur="500" fill="hold"/>
                                        <p:tgtEl>
                                          <p:spTgt spid="28695"/>
                                        </p:tgtEl>
                                        <p:attrNameLst>
                                          <p:attrName>ppt_x</p:attrName>
                                        </p:attrNameLst>
                                      </p:cBhvr>
                                      <p:tavLst>
                                        <p:tav tm="0">
                                          <p:val>
                                            <p:strVal val="#ppt_x-#ppt_w/2"/>
                                          </p:val>
                                        </p:tav>
                                        <p:tav tm="100000">
                                          <p:val>
                                            <p:strVal val="#ppt_x"/>
                                          </p:val>
                                        </p:tav>
                                      </p:tavLst>
                                    </p:anim>
                                    <p:anim calcmode="lin" valueType="num">
                                      <p:cBhvr>
                                        <p:cTn id="40" dur="500" fill="hold"/>
                                        <p:tgtEl>
                                          <p:spTgt spid="28695"/>
                                        </p:tgtEl>
                                        <p:attrNameLst>
                                          <p:attrName>ppt_y</p:attrName>
                                        </p:attrNameLst>
                                      </p:cBhvr>
                                      <p:tavLst>
                                        <p:tav tm="0">
                                          <p:val>
                                            <p:strVal val="#ppt_y"/>
                                          </p:val>
                                        </p:tav>
                                        <p:tav tm="100000">
                                          <p:val>
                                            <p:strVal val="#ppt_y"/>
                                          </p:val>
                                        </p:tav>
                                      </p:tavLst>
                                    </p:anim>
                                    <p:anim calcmode="lin" valueType="num">
                                      <p:cBhvr>
                                        <p:cTn id="41" dur="500" fill="hold"/>
                                        <p:tgtEl>
                                          <p:spTgt spid="28695"/>
                                        </p:tgtEl>
                                        <p:attrNameLst>
                                          <p:attrName>ppt_w</p:attrName>
                                        </p:attrNameLst>
                                      </p:cBhvr>
                                      <p:tavLst>
                                        <p:tav tm="0">
                                          <p:val>
                                            <p:fltVal val="0"/>
                                          </p:val>
                                        </p:tav>
                                        <p:tav tm="100000">
                                          <p:val>
                                            <p:strVal val="#ppt_w"/>
                                          </p:val>
                                        </p:tav>
                                      </p:tavLst>
                                    </p:anim>
                                    <p:anim calcmode="lin" valueType="num">
                                      <p:cBhvr>
                                        <p:cTn id="42" dur="500" fill="hold"/>
                                        <p:tgtEl>
                                          <p:spTgt spid="28695"/>
                                        </p:tgtEl>
                                        <p:attrNameLst>
                                          <p:attrName>ppt_h</p:attrName>
                                        </p:attrNameLst>
                                      </p:cBhvr>
                                      <p:tavLst>
                                        <p:tav tm="0">
                                          <p:val>
                                            <p:strVal val="#ppt_h"/>
                                          </p:val>
                                        </p:tav>
                                        <p:tav tm="100000">
                                          <p:val>
                                            <p:strVal val="#ppt_h"/>
                                          </p:val>
                                        </p:tav>
                                      </p:tavLst>
                                    </p:anim>
                                  </p:childTnLst>
                                </p:cTn>
                              </p:par>
                            </p:childTnLst>
                          </p:cTn>
                        </p:par>
                      </p:childTnLst>
                    </p:cTn>
                  </p:par>
                  <p:par>
                    <p:cTn id="43" fill="hold" nodeType="clickPar">
                      <p:stCondLst>
                        <p:cond delay="indefinite"/>
                      </p:stCondLst>
                      <p:childTnLst>
                        <p:par>
                          <p:cTn id="44" fill="hold" nodeType="withGroup">
                            <p:stCondLst>
                              <p:cond delay="0"/>
                            </p:stCondLst>
                            <p:childTnLst>
                              <p:par>
                                <p:cTn id="45" presetID="17" presetClass="entr" presetSubtype="8" fill="hold" grpId="0" nodeType="clickEffect">
                                  <p:stCondLst>
                                    <p:cond delay="0"/>
                                  </p:stCondLst>
                                  <p:childTnLst>
                                    <p:set>
                                      <p:cBhvr>
                                        <p:cTn id="46" dur="1" fill="hold">
                                          <p:stCondLst>
                                            <p:cond delay="0"/>
                                          </p:stCondLst>
                                        </p:cTn>
                                        <p:tgtEl>
                                          <p:spTgt spid="28681"/>
                                        </p:tgtEl>
                                        <p:attrNameLst>
                                          <p:attrName>style.visibility</p:attrName>
                                        </p:attrNameLst>
                                      </p:cBhvr>
                                      <p:to>
                                        <p:strVal val="visible"/>
                                      </p:to>
                                    </p:set>
                                    <p:anim calcmode="lin" valueType="num">
                                      <p:cBhvr>
                                        <p:cTn id="47" dur="500" fill="hold"/>
                                        <p:tgtEl>
                                          <p:spTgt spid="28681"/>
                                        </p:tgtEl>
                                        <p:attrNameLst>
                                          <p:attrName>ppt_x</p:attrName>
                                        </p:attrNameLst>
                                      </p:cBhvr>
                                      <p:tavLst>
                                        <p:tav tm="0">
                                          <p:val>
                                            <p:strVal val="#ppt_x-#ppt_w/2"/>
                                          </p:val>
                                        </p:tav>
                                        <p:tav tm="100000">
                                          <p:val>
                                            <p:strVal val="#ppt_x"/>
                                          </p:val>
                                        </p:tav>
                                      </p:tavLst>
                                    </p:anim>
                                    <p:anim calcmode="lin" valueType="num">
                                      <p:cBhvr>
                                        <p:cTn id="48" dur="500" fill="hold"/>
                                        <p:tgtEl>
                                          <p:spTgt spid="28681"/>
                                        </p:tgtEl>
                                        <p:attrNameLst>
                                          <p:attrName>ppt_y</p:attrName>
                                        </p:attrNameLst>
                                      </p:cBhvr>
                                      <p:tavLst>
                                        <p:tav tm="0">
                                          <p:val>
                                            <p:strVal val="#ppt_y"/>
                                          </p:val>
                                        </p:tav>
                                        <p:tav tm="100000">
                                          <p:val>
                                            <p:strVal val="#ppt_y"/>
                                          </p:val>
                                        </p:tav>
                                      </p:tavLst>
                                    </p:anim>
                                    <p:anim calcmode="lin" valueType="num">
                                      <p:cBhvr>
                                        <p:cTn id="49" dur="500" fill="hold"/>
                                        <p:tgtEl>
                                          <p:spTgt spid="28681"/>
                                        </p:tgtEl>
                                        <p:attrNameLst>
                                          <p:attrName>ppt_w</p:attrName>
                                        </p:attrNameLst>
                                      </p:cBhvr>
                                      <p:tavLst>
                                        <p:tav tm="0">
                                          <p:val>
                                            <p:fltVal val="0"/>
                                          </p:val>
                                        </p:tav>
                                        <p:tav tm="100000">
                                          <p:val>
                                            <p:strVal val="#ppt_w"/>
                                          </p:val>
                                        </p:tav>
                                      </p:tavLst>
                                    </p:anim>
                                    <p:anim calcmode="lin" valueType="num">
                                      <p:cBhvr>
                                        <p:cTn id="50" dur="500" fill="hold"/>
                                        <p:tgtEl>
                                          <p:spTgt spid="28681"/>
                                        </p:tgtEl>
                                        <p:attrNameLst>
                                          <p:attrName>ppt_h</p:attrName>
                                        </p:attrNameLst>
                                      </p:cBhvr>
                                      <p:tavLst>
                                        <p:tav tm="0">
                                          <p:val>
                                            <p:strVal val="#ppt_h"/>
                                          </p:val>
                                        </p:tav>
                                        <p:tav tm="100000">
                                          <p:val>
                                            <p:strVal val="#ppt_h"/>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17" presetClass="entr" presetSubtype="8" fill="hold" nodeType="clickEffect">
                                  <p:stCondLst>
                                    <p:cond delay="0"/>
                                  </p:stCondLst>
                                  <p:childTnLst>
                                    <p:set>
                                      <p:cBhvr>
                                        <p:cTn id="54" dur="1" fill="hold">
                                          <p:stCondLst>
                                            <p:cond delay="0"/>
                                          </p:stCondLst>
                                        </p:cTn>
                                        <p:tgtEl>
                                          <p:spTgt spid="221190"/>
                                        </p:tgtEl>
                                        <p:attrNameLst>
                                          <p:attrName>style.visibility</p:attrName>
                                        </p:attrNameLst>
                                      </p:cBhvr>
                                      <p:to>
                                        <p:strVal val="visible"/>
                                      </p:to>
                                    </p:set>
                                    <p:anim calcmode="lin" valueType="num">
                                      <p:cBhvr>
                                        <p:cTn id="55" dur="500" fill="hold"/>
                                        <p:tgtEl>
                                          <p:spTgt spid="221190"/>
                                        </p:tgtEl>
                                        <p:attrNameLst>
                                          <p:attrName>ppt_x</p:attrName>
                                        </p:attrNameLst>
                                      </p:cBhvr>
                                      <p:tavLst>
                                        <p:tav tm="0">
                                          <p:val>
                                            <p:strVal val="#ppt_x-#ppt_w/2"/>
                                          </p:val>
                                        </p:tav>
                                        <p:tav tm="100000">
                                          <p:val>
                                            <p:strVal val="#ppt_x"/>
                                          </p:val>
                                        </p:tav>
                                      </p:tavLst>
                                    </p:anim>
                                    <p:anim calcmode="lin" valueType="num">
                                      <p:cBhvr>
                                        <p:cTn id="56" dur="500" fill="hold"/>
                                        <p:tgtEl>
                                          <p:spTgt spid="221190"/>
                                        </p:tgtEl>
                                        <p:attrNameLst>
                                          <p:attrName>ppt_y</p:attrName>
                                        </p:attrNameLst>
                                      </p:cBhvr>
                                      <p:tavLst>
                                        <p:tav tm="0">
                                          <p:val>
                                            <p:strVal val="#ppt_y"/>
                                          </p:val>
                                        </p:tav>
                                        <p:tav tm="100000">
                                          <p:val>
                                            <p:strVal val="#ppt_y"/>
                                          </p:val>
                                        </p:tav>
                                      </p:tavLst>
                                    </p:anim>
                                    <p:anim calcmode="lin" valueType="num">
                                      <p:cBhvr>
                                        <p:cTn id="57" dur="500" fill="hold"/>
                                        <p:tgtEl>
                                          <p:spTgt spid="221190"/>
                                        </p:tgtEl>
                                        <p:attrNameLst>
                                          <p:attrName>ppt_w</p:attrName>
                                        </p:attrNameLst>
                                      </p:cBhvr>
                                      <p:tavLst>
                                        <p:tav tm="0">
                                          <p:val>
                                            <p:fltVal val="0"/>
                                          </p:val>
                                        </p:tav>
                                        <p:tav tm="100000">
                                          <p:val>
                                            <p:strVal val="#ppt_w"/>
                                          </p:val>
                                        </p:tav>
                                      </p:tavLst>
                                    </p:anim>
                                    <p:anim calcmode="lin" valueType="num">
                                      <p:cBhvr>
                                        <p:cTn id="58" dur="500" fill="hold"/>
                                        <p:tgtEl>
                                          <p:spTgt spid="221190"/>
                                        </p:tgtEl>
                                        <p:attrNameLst>
                                          <p:attrName>ppt_h</p:attrName>
                                        </p:attrNameLst>
                                      </p:cBhvr>
                                      <p:tavLst>
                                        <p:tav tm="0">
                                          <p:val>
                                            <p:strVal val="#ppt_h"/>
                                          </p:val>
                                        </p:tav>
                                        <p:tav tm="100000">
                                          <p:val>
                                            <p:strVal val="#ppt_h"/>
                                          </p:val>
                                        </p:tav>
                                      </p:tavLst>
                                    </p:anim>
                                  </p:childTnLst>
                                </p:cTn>
                              </p:par>
                            </p:childTnLst>
                          </p:cTn>
                        </p:par>
                      </p:childTnLst>
                    </p:cTn>
                  </p:par>
                  <p:par>
                    <p:cTn id="59" fill="hold" nodeType="clickPar">
                      <p:stCondLst>
                        <p:cond delay="indefinite"/>
                      </p:stCondLst>
                      <p:childTnLst>
                        <p:par>
                          <p:cTn id="60" fill="hold" nodeType="withGroup">
                            <p:stCondLst>
                              <p:cond delay="0"/>
                            </p:stCondLst>
                            <p:childTnLst>
                              <p:par>
                                <p:cTn id="61" presetID="3" presetClass="entr" presetSubtype="10" fill="hold" nodeType="clickEffect">
                                  <p:stCondLst>
                                    <p:cond delay="0"/>
                                  </p:stCondLst>
                                  <p:childTnLst>
                                    <p:set>
                                      <p:cBhvr>
                                        <p:cTn id="62" dur="1" fill="hold">
                                          <p:stCondLst>
                                            <p:cond delay="0"/>
                                          </p:stCondLst>
                                        </p:cTn>
                                        <p:tgtEl>
                                          <p:spTgt spid="2"/>
                                        </p:tgtEl>
                                        <p:attrNameLst>
                                          <p:attrName>style.visibility</p:attrName>
                                        </p:attrNameLst>
                                      </p:cBhvr>
                                      <p:to>
                                        <p:strVal val="visible"/>
                                      </p:to>
                                    </p:set>
                                    <p:animEffect transition="in" filter="blinds(horizontal)">
                                      <p:cBhvr>
                                        <p:cTn id="63" dur="500"/>
                                        <p:tgtEl>
                                          <p:spTgt spid="2"/>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17" presetClass="entr" presetSubtype="8" fill="hold" nodeType="clickEffect">
                                  <p:stCondLst>
                                    <p:cond delay="0"/>
                                  </p:stCondLst>
                                  <p:childTnLst>
                                    <p:set>
                                      <p:cBhvr>
                                        <p:cTn id="67" dur="1" fill="hold">
                                          <p:stCondLst>
                                            <p:cond delay="0"/>
                                          </p:stCondLst>
                                        </p:cTn>
                                        <p:tgtEl>
                                          <p:spTgt spid="221187"/>
                                        </p:tgtEl>
                                        <p:attrNameLst>
                                          <p:attrName>style.visibility</p:attrName>
                                        </p:attrNameLst>
                                      </p:cBhvr>
                                      <p:to>
                                        <p:strVal val="visible"/>
                                      </p:to>
                                    </p:set>
                                    <p:anim calcmode="lin" valueType="num">
                                      <p:cBhvr>
                                        <p:cTn id="68" dur="500" fill="hold"/>
                                        <p:tgtEl>
                                          <p:spTgt spid="221187"/>
                                        </p:tgtEl>
                                        <p:attrNameLst>
                                          <p:attrName>ppt_x</p:attrName>
                                        </p:attrNameLst>
                                      </p:cBhvr>
                                      <p:tavLst>
                                        <p:tav tm="0">
                                          <p:val>
                                            <p:strVal val="#ppt_x-#ppt_w/2"/>
                                          </p:val>
                                        </p:tav>
                                        <p:tav tm="100000">
                                          <p:val>
                                            <p:strVal val="#ppt_x"/>
                                          </p:val>
                                        </p:tav>
                                      </p:tavLst>
                                    </p:anim>
                                    <p:anim calcmode="lin" valueType="num">
                                      <p:cBhvr>
                                        <p:cTn id="69" dur="500" fill="hold"/>
                                        <p:tgtEl>
                                          <p:spTgt spid="221187"/>
                                        </p:tgtEl>
                                        <p:attrNameLst>
                                          <p:attrName>ppt_y</p:attrName>
                                        </p:attrNameLst>
                                      </p:cBhvr>
                                      <p:tavLst>
                                        <p:tav tm="0">
                                          <p:val>
                                            <p:strVal val="#ppt_y"/>
                                          </p:val>
                                        </p:tav>
                                        <p:tav tm="100000">
                                          <p:val>
                                            <p:strVal val="#ppt_y"/>
                                          </p:val>
                                        </p:tav>
                                      </p:tavLst>
                                    </p:anim>
                                    <p:anim calcmode="lin" valueType="num">
                                      <p:cBhvr>
                                        <p:cTn id="70" dur="500" fill="hold"/>
                                        <p:tgtEl>
                                          <p:spTgt spid="221187"/>
                                        </p:tgtEl>
                                        <p:attrNameLst>
                                          <p:attrName>ppt_w</p:attrName>
                                        </p:attrNameLst>
                                      </p:cBhvr>
                                      <p:tavLst>
                                        <p:tav tm="0">
                                          <p:val>
                                            <p:fltVal val="0"/>
                                          </p:val>
                                        </p:tav>
                                        <p:tav tm="100000">
                                          <p:val>
                                            <p:strVal val="#ppt_w"/>
                                          </p:val>
                                        </p:tav>
                                      </p:tavLst>
                                    </p:anim>
                                    <p:anim calcmode="lin" valueType="num">
                                      <p:cBhvr>
                                        <p:cTn id="71" dur="500" fill="hold"/>
                                        <p:tgtEl>
                                          <p:spTgt spid="221187"/>
                                        </p:tgtEl>
                                        <p:attrNameLst>
                                          <p:attrName>ppt_h</p:attrName>
                                        </p:attrNameLst>
                                      </p:cBhvr>
                                      <p:tavLst>
                                        <p:tav tm="0">
                                          <p:val>
                                            <p:strVal val="#ppt_h"/>
                                          </p:val>
                                        </p:tav>
                                        <p:tav tm="100000">
                                          <p:val>
                                            <p:strVal val="#ppt_h"/>
                                          </p:val>
                                        </p:tav>
                                      </p:tavLst>
                                    </p:anim>
                                  </p:childTnLst>
                                </p:cTn>
                              </p:par>
                            </p:childTnLst>
                          </p:cTn>
                        </p:par>
                      </p:childTnLst>
                    </p:cTn>
                  </p:par>
                  <p:par>
                    <p:cTn id="72" fill="hold" nodeType="clickPar">
                      <p:stCondLst>
                        <p:cond delay="indefinite"/>
                      </p:stCondLst>
                      <p:childTnLst>
                        <p:par>
                          <p:cTn id="73" fill="hold" nodeType="withGroup">
                            <p:stCondLst>
                              <p:cond delay="0"/>
                            </p:stCondLst>
                            <p:childTnLst>
                              <p:par>
                                <p:cTn id="74" presetID="17" presetClass="entr" presetSubtype="8" fill="hold" nodeType="clickEffect">
                                  <p:stCondLst>
                                    <p:cond delay="0"/>
                                  </p:stCondLst>
                                  <p:childTnLst>
                                    <p:set>
                                      <p:cBhvr>
                                        <p:cTn id="75" dur="1" fill="hold">
                                          <p:stCondLst>
                                            <p:cond delay="0"/>
                                          </p:stCondLst>
                                        </p:cTn>
                                        <p:tgtEl>
                                          <p:spTgt spid="221188"/>
                                        </p:tgtEl>
                                        <p:attrNameLst>
                                          <p:attrName>style.visibility</p:attrName>
                                        </p:attrNameLst>
                                      </p:cBhvr>
                                      <p:to>
                                        <p:strVal val="visible"/>
                                      </p:to>
                                    </p:set>
                                    <p:anim calcmode="lin" valueType="num">
                                      <p:cBhvr>
                                        <p:cTn id="76" dur="500" fill="hold"/>
                                        <p:tgtEl>
                                          <p:spTgt spid="221188"/>
                                        </p:tgtEl>
                                        <p:attrNameLst>
                                          <p:attrName>ppt_x</p:attrName>
                                        </p:attrNameLst>
                                      </p:cBhvr>
                                      <p:tavLst>
                                        <p:tav tm="0">
                                          <p:val>
                                            <p:strVal val="#ppt_x-#ppt_w/2"/>
                                          </p:val>
                                        </p:tav>
                                        <p:tav tm="100000">
                                          <p:val>
                                            <p:strVal val="#ppt_x"/>
                                          </p:val>
                                        </p:tav>
                                      </p:tavLst>
                                    </p:anim>
                                    <p:anim calcmode="lin" valueType="num">
                                      <p:cBhvr>
                                        <p:cTn id="77" dur="500" fill="hold"/>
                                        <p:tgtEl>
                                          <p:spTgt spid="221188"/>
                                        </p:tgtEl>
                                        <p:attrNameLst>
                                          <p:attrName>ppt_y</p:attrName>
                                        </p:attrNameLst>
                                      </p:cBhvr>
                                      <p:tavLst>
                                        <p:tav tm="0">
                                          <p:val>
                                            <p:strVal val="#ppt_y"/>
                                          </p:val>
                                        </p:tav>
                                        <p:tav tm="100000">
                                          <p:val>
                                            <p:strVal val="#ppt_y"/>
                                          </p:val>
                                        </p:tav>
                                      </p:tavLst>
                                    </p:anim>
                                    <p:anim calcmode="lin" valueType="num">
                                      <p:cBhvr>
                                        <p:cTn id="78" dur="500" fill="hold"/>
                                        <p:tgtEl>
                                          <p:spTgt spid="221188"/>
                                        </p:tgtEl>
                                        <p:attrNameLst>
                                          <p:attrName>ppt_w</p:attrName>
                                        </p:attrNameLst>
                                      </p:cBhvr>
                                      <p:tavLst>
                                        <p:tav tm="0">
                                          <p:val>
                                            <p:fltVal val="0"/>
                                          </p:val>
                                        </p:tav>
                                        <p:tav tm="100000">
                                          <p:val>
                                            <p:strVal val="#ppt_w"/>
                                          </p:val>
                                        </p:tav>
                                      </p:tavLst>
                                    </p:anim>
                                    <p:anim calcmode="lin" valueType="num">
                                      <p:cBhvr>
                                        <p:cTn id="79" dur="500" fill="hold"/>
                                        <p:tgtEl>
                                          <p:spTgt spid="221188"/>
                                        </p:tgtEl>
                                        <p:attrNameLst>
                                          <p:attrName>ppt_h</p:attrName>
                                        </p:attrNameLst>
                                      </p:cBhvr>
                                      <p:tavLst>
                                        <p:tav tm="0">
                                          <p:val>
                                            <p:strVal val="#ppt_h"/>
                                          </p:val>
                                        </p:tav>
                                        <p:tav tm="100000">
                                          <p:val>
                                            <p:strVal val="#ppt_h"/>
                                          </p:val>
                                        </p:tav>
                                      </p:tavLst>
                                    </p:anim>
                                  </p:childTnLst>
                                </p:cTn>
                              </p:par>
                            </p:childTnLst>
                          </p:cTn>
                        </p:par>
                      </p:childTnLst>
                    </p:cTn>
                  </p:par>
                  <p:par>
                    <p:cTn id="80" fill="hold" nodeType="clickPar">
                      <p:stCondLst>
                        <p:cond delay="indefinite"/>
                      </p:stCondLst>
                      <p:childTnLst>
                        <p:par>
                          <p:cTn id="81" fill="hold" nodeType="withGroup">
                            <p:stCondLst>
                              <p:cond delay="0"/>
                            </p:stCondLst>
                            <p:childTnLst>
                              <p:par>
                                <p:cTn id="82" presetID="17" presetClass="entr" presetSubtype="8" fill="hold" grpId="0" nodeType="clickEffect">
                                  <p:stCondLst>
                                    <p:cond delay="0"/>
                                  </p:stCondLst>
                                  <p:childTnLst>
                                    <p:set>
                                      <p:cBhvr>
                                        <p:cTn id="83" dur="1" fill="hold">
                                          <p:stCondLst>
                                            <p:cond delay="0"/>
                                          </p:stCondLst>
                                        </p:cTn>
                                        <p:tgtEl>
                                          <p:spTgt spid="28692"/>
                                        </p:tgtEl>
                                        <p:attrNameLst>
                                          <p:attrName>style.visibility</p:attrName>
                                        </p:attrNameLst>
                                      </p:cBhvr>
                                      <p:to>
                                        <p:strVal val="visible"/>
                                      </p:to>
                                    </p:set>
                                    <p:anim calcmode="lin" valueType="num">
                                      <p:cBhvr>
                                        <p:cTn id="84" dur="500" fill="hold"/>
                                        <p:tgtEl>
                                          <p:spTgt spid="28692"/>
                                        </p:tgtEl>
                                        <p:attrNameLst>
                                          <p:attrName>ppt_x</p:attrName>
                                        </p:attrNameLst>
                                      </p:cBhvr>
                                      <p:tavLst>
                                        <p:tav tm="0">
                                          <p:val>
                                            <p:strVal val="#ppt_x-#ppt_w/2"/>
                                          </p:val>
                                        </p:tav>
                                        <p:tav tm="100000">
                                          <p:val>
                                            <p:strVal val="#ppt_x"/>
                                          </p:val>
                                        </p:tav>
                                      </p:tavLst>
                                    </p:anim>
                                    <p:anim calcmode="lin" valueType="num">
                                      <p:cBhvr>
                                        <p:cTn id="85" dur="500" fill="hold"/>
                                        <p:tgtEl>
                                          <p:spTgt spid="28692"/>
                                        </p:tgtEl>
                                        <p:attrNameLst>
                                          <p:attrName>ppt_y</p:attrName>
                                        </p:attrNameLst>
                                      </p:cBhvr>
                                      <p:tavLst>
                                        <p:tav tm="0">
                                          <p:val>
                                            <p:strVal val="#ppt_y"/>
                                          </p:val>
                                        </p:tav>
                                        <p:tav tm="100000">
                                          <p:val>
                                            <p:strVal val="#ppt_y"/>
                                          </p:val>
                                        </p:tav>
                                      </p:tavLst>
                                    </p:anim>
                                    <p:anim calcmode="lin" valueType="num">
                                      <p:cBhvr>
                                        <p:cTn id="86" dur="500" fill="hold"/>
                                        <p:tgtEl>
                                          <p:spTgt spid="28692"/>
                                        </p:tgtEl>
                                        <p:attrNameLst>
                                          <p:attrName>ppt_w</p:attrName>
                                        </p:attrNameLst>
                                      </p:cBhvr>
                                      <p:tavLst>
                                        <p:tav tm="0">
                                          <p:val>
                                            <p:fltVal val="0"/>
                                          </p:val>
                                        </p:tav>
                                        <p:tav tm="100000">
                                          <p:val>
                                            <p:strVal val="#ppt_w"/>
                                          </p:val>
                                        </p:tav>
                                      </p:tavLst>
                                    </p:anim>
                                    <p:anim calcmode="lin" valueType="num">
                                      <p:cBhvr>
                                        <p:cTn id="87" dur="500" fill="hold"/>
                                        <p:tgtEl>
                                          <p:spTgt spid="28692"/>
                                        </p:tgtEl>
                                        <p:attrNameLst>
                                          <p:attrName>ppt_h</p:attrName>
                                        </p:attrNameLst>
                                      </p:cBhvr>
                                      <p:tavLst>
                                        <p:tav tm="0">
                                          <p:val>
                                            <p:strVal val="#ppt_h"/>
                                          </p:val>
                                        </p:tav>
                                        <p:tav tm="100000">
                                          <p:val>
                                            <p:strVal val="#ppt_h"/>
                                          </p:val>
                                        </p:tav>
                                      </p:tavLst>
                                    </p:anim>
                                  </p:childTnLst>
                                </p:cTn>
                              </p:par>
                            </p:childTnLst>
                          </p:cTn>
                        </p:par>
                      </p:childTnLst>
                    </p:cTn>
                  </p:par>
                  <p:par>
                    <p:cTn id="88" fill="hold" nodeType="clickPar">
                      <p:stCondLst>
                        <p:cond delay="indefinite"/>
                      </p:stCondLst>
                      <p:childTnLst>
                        <p:par>
                          <p:cTn id="89" fill="hold" nodeType="withGroup">
                            <p:stCondLst>
                              <p:cond delay="0"/>
                            </p:stCondLst>
                            <p:childTnLst>
                              <p:par>
                                <p:cTn id="90" presetID="17" presetClass="entr" presetSubtype="8" fill="hold" nodeType="clickEffect">
                                  <p:stCondLst>
                                    <p:cond delay="0"/>
                                  </p:stCondLst>
                                  <p:childTnLst>
                                    <p:set>
                                      <p:cBhvr>
                                        <p:cTn id="91" dur="1" fill="hold">
                                          <p:stCondLst>
                                            <p:cond delay="0"/>
                                          </p:stCondLst>
                                        </p:cTn>
                                        <p:tgtEl>
                                          <p:spTgt spid="221189"/>
                                        </p:tgtEl>
                                        <p:attrNameLst>
                                          <p:attrName>style.visibility</p:attrName>
                                        </p:attrNameLst>
                                      </p:cBhvr>
                                      <p:to>
                                        <p:strVal val="visible"/>
                                      </p:to>
                                    </p:set>
                                    <p:anim calcmode="lin" valueType="num">
                                      <p:cBhvr>
                                        <p:cTn id="92" dur="500" fill="hold"/>
                                        <p:tgtEl>
                                          <p:spTgt spid="221189"/>
                                        </p:tgtEl>
                                        <p:attrNameLst>
                                          <p:attrName>ppt_x</p:attrName>
                                        </p:attrNameLst>
                                      </p:cBhvr>
                                      <p:tavLst>
                                        <p:tav tm="0">
                                          <p:val>
                                            <p:strVal val="#ppt_x-#ppt_w/2"/>
                                          </p:val>
                                        </p:tav>
                                        <p:tav tm="100000">
                                          <p:val>
                                            <p:strVal val="#ppt_x"/>
                                          </p:val>
                                        </p:tav>
                                      </p:tavLst>
                                    </p:anim>
                                    <p:anim calcmode="lin" valueType="num">
                                      <p:cBhvr>
                                        <p:cTn id="93" dur="500" fill="hold"/>
                                        <p:tgtEl>
                                          <p:spTgt spid="221189"/>
                                        </p:tgtEl>
                                        <p:attrNameLst>
                                          <p:attrName>ppt_y</p:attrName>
                                        </p:attrNameLst>
                                      </p:cBhvr>
                                      <p:tavLst>
                                        <p:tav tm="0">
                                          <p:val>
                                            <p:strVal val="#ppt_y"/>
                                          </p:val>
                                        </p:tav>
                                        <p:tav tm="100000">
                                          <p:val>
                                            <p:strVal val="#ppt_y"/>
                                          </p:val>
                                        </p:tav>
                                      </p:tavLst>
                                    </p:anim>
                                    <p:anim calcmode="lin" valueType="num">
                                      <p:cBhvr>
                                        <p:cTn id="94" dur="500" fill="hold"/>
                                        <p:tgtEl>
                                          <p:spTgt spid="221189"/>
                                        </p:tgtEl>
                                        <p:attrNameLst>
                                          <p:attrName>ppt_w</p:attrName>
                                        </p:attrNameLst>
                                      </p:cBhvr>
                                      <p:tavLst>
                                        <p:tav tm="0">
                                          <p:val>
                                            <p:fltVal val="0"/>
                                          </p:val>
                                        </p:tav>
                                        <p:tav tm="100000">
                                          <p:val>
                                            <p:strVal val="#ppt_w"/>
                                          </p:val>
                                        </p:tav>
                                      </p:tavLst>
                                    </p:anim>
                                    <p:anim calcmode="lin" valueType="num">
                                      <p:cBhvr>
                                        <p:cTn id="95" dur="500" fill="hold"/>
                                        <p:tgtEl>
                                          <p:spTgt spid="221189"/>
                                        </p:tgtEl>
                                        <p:attrNameLst>
                                          <p:attrName>ppt_h</p:attrName>
                                        </p:attrNameLst>
                                      </p:cBhvr>
                                      <p:tavLst>
                                        <p:tav tm="0">
                                          <p:val>
                                            <p:strVal val="#ppt_h"/>
                                          </p:val>
                                        </p:tav>
                                        <p:tav tm="100000">
                                          <p:val>
                                            <p:strVal val="#ppt_h"/>
                                          </p:val>
                                        </p:tav>
                                      </p:tavLst>
                                    </p:anim>
                                  </p:childTnLst>
                                </p:cTn>
                              </p:par>
                            </p:childTnLst>
                          </p:cTn>
                        </p:par>
                      </p:childTnLst>
                    </p:cTn>
                  </p:par>
                  <p:par>
                    <p:cTn id="96" fill="hold" nodeType="clickPar">
                      <p:stCondLst>
                        <p:cond delay="indefinite"/>
                      </p:stCondLst>
                      <p:childTnLst>
                        <p:par>
                          <p:cTn id="97" fill="hold" nodeType="withGroup">
                            <p:stCondLst>
                              <p:cond delay="0"/>
                            </p:stCondLst>
                            <p:childTnLst>
                              <p:par>
                                <p:cTn id="98" presetID="3" presetClass="entr" presetSubtype="10" fill="hold" nodeType="clickEffect">
                                  <p:stCondLst>
                                    <p:cond delay="0"/>
                                  </p:stCondLst>
                                  <p:childTnLst>
                                    <p:set>
                                      <p:cBhvr>
                                        <p:cTn id="99" dur="1" fill="hold">
                                          <p:stCondLst>
                                            <p:cond delay="0"/>
                                          </p:stCondLst>
                                        </p:cTn>
                                        <p:tgtEl>
                                          <p:spTgt spid="3"/>
                                        </p:tgtEl>
                                        <p:attrNameLst>
                                          <p:attrName>style.visibility</p:attrName>
                                        </p:attrNameLst>
                                      </p:cBhvr>
                                      <p:to>
                                        <p:strVal val="visible"/>
                                      </p:to>
                                    </p:set>
                                    <p:animEffect transition="in" filter="blinds(horizontal)">
                                      <p:cBhvr>
                                        <p:cTn id="10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81" grpId="0" autoUpdateAnimBg="0"/>
      <p:bldP spid="28691" grpId="0" autoUpdateAnimBg="0"/>
      <p:bldP spid="28692" grpId="0" autoUpdateAnimBg="0"/>
      <p:bldP spid="28694" grpId="0" autoUpdateAnimBg="0"/>
      <p:bldP spid="28695" grpId="0"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4" name="Text Box 4"/>
          <p:cNvSpPr txBox="1">
            <a:spLocks noChangeArrowheads="1"/>
          </p:cNvSpPr>
          <p:nvPr/>
        </p:nvSpPr>
        <p:spPr bwMode="auto">
          <a:xfrm>
            <a:off x="304800" y="835025"/>
            <a:ext cx="3906838" cy="368300"/>
          </a:xfrm>
          <a:prstGeom prst="rect">
            <a:avLst/>
          </a:prstGeom>
          <a:noFill/>
          <a:ln w="9525">
            <a:noFill/>
            <a:miter lim="800000"/>
            <a:headEnd/>
            <a:tailEnd/>
          </a:ln>
        </p:spPr>
        <p:txBody>
          <a:bodyPr>
            <a:spAutoFit/>
          </a:bodyPr>
          <a:lstStyle/>
          <a:p>
            <a:pPr eaLnBrk="0" hangingPunct="0"/>
            <a:r>
              <a:rPr lang="zh-CN" altLang="en-US" b="1">
                <a:solidFill>
                  <a:srgbClr val="800000"/>
                </a:solidFill>
                <a:latin typeface="Times New Roman" pitchFamily="18" charset="0"/>
                <a:ea typeface="华文中宋"/>
                <a:cs typeface="华文中宋"/>
              </a:rPr>
              <a:t>３、</a:t>
            </a:r>
            <a:r>
              <a:rPr lang="zh-CN" altLang="en-US" b="1">
                <a:solidFill>
                  <a:srgbClr val="800000"/>
                </a:solidFill>
                <a:latin typeface="宋体" charset="-122"/>
                <a:ea typeface="华文中宋"/>
                <a:cs typeface="华文中宋"/>
              </a:rPr>
              <a:t>绝热过程中的内能增量与做功</a:t>
            </a:r>
          </a:p>
        </p:txBody>
      </p:sp>
      <p:sp>
        <p:nvSpPr>
          <p:cNvPr id="168967" name="Text Box 7"/>
          <p:cNvSpPr txBox="1">
            <a:spLocks noChangeArrowheads="1"/>
          </p:cNvSpPr>
          <p:nvPr/>
        </p:nvSpPr>
        <p:spPr bwMode="auto">
          <a:xfrm>
            <a:off x="611188" y="1193800"/>
            <a:ext cx="4248150" cy="369888"/>
          </a:xfrm>
          <a:prstGeom prst="rect">
            <a:avLst/>
          </a:prstGeom>
          <a:noFill/>
          <a:ln w="9525">
            <a:noFill/>
            <a:miter lim="800000"/>
            <a:headEnd/>
            <a:tailEnd/>
          </a:ln>
        </p:spPr>
        <p:txBody>
          <a:bodyPr>
            <a:spAutoFit/>
          </a:bodyPr>
          <a:lstStyle/>
          <a:p>
            <a:r>
              <a:rPr lang="zh-CN" altLang="en-US" b="1">
                <a:solidFill>
                  <a:srgbClr val="3333FF"/>
                </a:solidFill>
                <a:latin typeface="华文中宋"/>
                <a:ea typeface="华文中宋"/>
                <a:cs typeface="华文中宋"/>
              </a:rPr>
              <a:t>（１）方法一：基于内能的增量来计算</a:t>
            </a:r>
            <a:endParaRPr kumimoji="1" lang="zh-CN" altLang="en-US" b="1">
              <a:solidFill>
                <a:srgbClr val="3333FF"/>
              </a:solidFill>
              <a:latin typeface="华文中宋"/>
              <a:ea typeface="华文中宋"/>
              <a:cs typeface="华文中宋"/>
            </a:endParaRPr>
          </a:p>
        </p:txBody>
      </p:sp>
      <p:grpSp>
        <p:nvGrpSpPr>
          <p:cNvPr id="2" name="Group 15"/>
          <p:cNvGrpSpPr>
            <a:grpSpLocks/>
          </p:cNvGrpSpPr>
          <p:nvPr/>
        </p:nvGrpSpPr>
        <p:grpSpPr bwMode="auto">
          <a:xfrm>
            <a:off x="900113" y="1419225"/>
            <a:ext cx="4464050" cy="728663"/>
            <a:chOff x="340" y="830"/>
            <a:chExt cx="3039" cy="732"/>
          </a:xfrm>
        </p:grpSpPr>
        <p:graphicFrame>
          <p:nvGraphicFramePr>
            <p:cNvPr id="19558" name="Object 102"/>
            <p:cNvGraphicFramePr>
              <a:graphicFrameLocks noChangeAspect="1"/>
            </p:cNvGraphicFramePr>
            <p:nvPr/>
          </p:nvGraphicFramePr>
          <p:xfrm>
            <a:off x="1831" y="1324"/>
            <a:ext cx="1412" cy="238"/>
          </p:xfrm>
          <a:graphic>
            <a:graphicData uri="http://schemas.openxmlformats.org/presentationml/2006/ole">
              <p:oleObj spid="_x0000_s19558" name="Equation" r:id="rId3" imgW="1155700" imgH="203200" progId="Equation.DSMT4">
                <p:embed/>
              </p:oleObj>
            </a:graphicData>
          </a:graphic>
        </p:graphicFrame>
        <p:sp>
          <p:nvSpPr>
            <p:cNvPr id="19575" name="Text Box 8"/>
            <p:cNvSpPr txBox="1">
              <a:spLocks noChangeArrowheads="1"/>
            </p:cNvSpPr>
            <p:nvPr/>
          </p:nvSpPr>
          <p:spPr bwMode="auto">
            <a:xfrm>
              <a:off x="340" y="886"/>
              <a:ext cx="1652" cy="271"/>
            </a:xfrm>
            <a:prstGeom prst="rect">
              <a:avLst/>
            </a:prstGeom>
            <a:noFill/>
            <a:ln w="9525">
              <a:noFill/>
              <a:miter lim="800000"/>
              <a:headEnd/>
              <a:tailEnd/>
            </a:ln>
          </p:spPr>
          <p:txBody>
            <a:bodyPr>
              <a:spAutoFit/>
            </a:bodyPr>
            <a:lstStyle/>
            <a:p>
              <a:r>
                <a:rPr lang="zh-CN" altLang="en-US" sz="1500" b="1">
                  <a:solidFill>
                    <a:srgbClr val="000000"/>
                  </a:solidFill>
                  <a:latin typeface="华文中宋"/>
                  <a:ea typeface="华文中宋"/>
                  <a:cs typeface="华文中宋"/>
                </a:rPr>
                <a:t>理想气体的内能：</a:t>
              </a:r>
              <a:endParaRPr kumimoji="1" lang="zh-CN" altLang="en-US" sz="1500" b="1">
                <a:solidFill>
                  <a:srgbClr val="000000"/>
                </a:solidFill>
                <a:latin typeface="华文中宋"/>
                <a:ea typeface="华文中宋"/>
                <a:cs typeface="华文中宋"/>
              </a:endParaRPr>
            </a:p>
          </p:txBody>
        </p:sp>
        <p:sp>
          <p:nvSpPr>
            <p:cNvPr id="19576" name="Text Box 9"/>
            <p:cNvSpPr txBox="1">
              <a:spLocks noChangeArrowheads="1"/>
            </p:cNvSpPr>
            <p:nvPr/>
          </p:nvSpPr>
          <p:spPr bwMode="auto">
            <a:xfrm>
              <a:off x="340" y="1282"/>
              <a:ext cx="1652" cy="271"/>
            </a:xfrm>
            <a:prstGeom prst="rect">
              <a:avLst/>
            </a:prstGeom>
            <a:noFill/>
            <a:ln w="9525">
              <a:noFill/>
              <a:miter lim="800000"/>
              <a:headEnd/>
              <a:tailEnd/>
            </a:ln>
          </p:spPr>
          <p:txBody>
            <a:bodyPr>
              <a:spAutoFit/>
            </a:bodyPr>
            <a:lstStyle/>
            <a:p>
              <a:r>
                <a:rPr lang="zh-CN" altLang="en-US" sz="1500" b="1">
                  <a:solidFill>
                    <a:srgbClr val="000000"/>
                  </a:solidFill>
                  <a:latin typeface="华文中宋"/>
                  <a:ea typeface="华文中宋"/>
                  <a:cs typeface="华文中宋"/>
                </a:rPr>
                <a:t>热力学第一定律：</a:t>
              </a:r>
              <a:endParaRPr kumimoji="1" lang="zh-CN" altLang="en-US" sz="1500" b="1">
                <a:solidFill>
                  <a:srgbClr val="000000"/>
                </a:solidFill>
                <a:latin typeface="华文中宋"/>
                <a:ea typeface="华文中宋"/>
                <a:cs typeface="华文中宋"/>
              </a:endParaRPr>
            </a:p>
          </p:txBody>
        </p:sp>
        <p:graphicFrame>
          <p:nvGraphicFramePr>
            <p:cNvPr id="19559" name="Object 103"/>
            <p:cNvGraphicFramePr>
              <a:graphicFrameLocks noChangeAspect="1"/>
            </p:cNvGraphicFramePr>
            <p:nvPr/>
          </p:nvGraphicFramePr>
          <p:xfrm>
            <a:off x="1959" y="830"/>
            <a:ext cx="876" cy="513"/>
          </p:xfrm>
          <a:graphic>
            <a:graphicData uri="http://schemas.openxmlformats.org/presentationml/2006/ole">
              <p:oleObj spid="_x0000_s19559" name="Equation" r:id="rId4" imgW="965200" imgH="431800" progId="Equation.DSMT4">
                <p:embed/>
              </p:oleObj>
            </a:graphicData>
          </a:graphic>
        </p:graphicFrame>
        <p:sp>
          <p:nvSpPr>
            <p:cNvPr id="19577" name="AutoShape 11"/>
            <p:cNvSpPr>
              <a:spLocks/>
            </p:cNvSpPr>
            <p:nvPr/>
          </p:nvSpPr>
          <p:spPr bwMode="auto">
            <a:xfrm>
              <a:off x="3288" y="1022"/>
              <a:ext cx="91" cy="418"/>
            </a:xfrm>
            <a:prstGeom prst="rightBrace">
              <a:avLst>
                <a:gd name="adj1" fmla="val 45700"/>
                <a:gd name="adj2" fmla="val 50000"/>
              </a:avLst>
            </a:prstGeom>
            <a:noFill/>
            <a:ln w="25400">
              <a:solidFill>
                <a:schemeClr val="tx1"/>
              </a:solidFill>
              <a:round/>
              <a:headEnd/>
              <a:tailEnd/>
            </a:ln>
          </p:spPr>
          <p:txBody>
            <a:bodyPr anchor="ctr">
              <a:spAutoFit/>
            </a:bodyPr>
            <a:lstStyle/>
            <a:p>
              <a:endParaRPr kumimoji="1" lang="zh-CN" altLang="en-US" sz="2400" b="1">
                <a:solidFill>
                  <a:srgbClr val="000000"/>
                </a:solidFill>
                <a:latin typeface="Times New Roman" pitchFamily="18" charset="0"/>
                <a:ea typeface="华文中宋"/>
                <a:cs typeface="华文中宋"/>
              </a:endParaRPr>
            </a:p>
          </p:txBody>
        </p:sp>
      </p:grpSp>
      <p:grpSp>
        <p:nvGrpSpPr>
          <p:cNvPr id="4" name="组合 3"/>
          <p:cNvGrpSpPr>
            <a:grpSpLocks/>
          </p:cNvGrpSpPr>
          <p:nvPr/>
        </p:nvGrpSpPr>
        <p:grpSpPr bwMode="auto">
          <a:xfrm>
            <a:off x="5580063" y="1277938"/>
            <a:ext cx="2305050" cy="1149350"/>
            <a:chOff x="5580112" y="990415"/>
            <a:chExt cx="2304256" cy="1149287"/>
          </a:xfrm>
        </p:grpSpPr>
        <p:graphicFrame>
          <p:nvGraphicFramePr>
            <p:cNvPr id="19560" name="Object 104"/>
            <p:cNvGraphicFramePr>
              <a:graphicFrameLocks noChangeAspect="1"/>
            </p:cNvGraphicFramePr>
            <p:nvPr/>
          </p:nvGraphicFramePr>
          <p:xfrm>
            <a:off x="5795964" y="1635646"/>
            <a:ext cx="1954213" cy="463772"/>
          </p:xfrm>
          <a:graphic>
            <a:graphicData uri="http://schemas.openxmlformats.org/presentationml/2006/ole">
              <p:oleObj spid="_x0000_s19560" name="Equation" r:id="rId5" imgW="1524000" imgH="431800" progId="Equation.DSMT4">
                <p:embed/>
              </p:oleObj>
            </a:graphicData>
          </a:graphic>
        </p:graphicFrame>
        <p:graphicFrame>
          <p:nvGraphicFramePr>
            <p:cNvPr id="19561" name="Object 105"/>
            <p:cNvGraphicFramePr>
              <a:graphicFrameLocks noChangeAspect="1"/>
            </p:cNvGraphicFramePr>
            <p:nvPr/>
          </p:nvGraphicFramePr>
          <p:xfrm>
            <a:off x="5729289" y="1059581"/>
            <a:ext cx="2083071" cy="432485"/>
          </p:xfrm>
          <a:graphic>
            <a:graphicData uri="http://schemas.openxmlformats.org/presentationml/2006/ole">
              <p:oleObj spid="_x0000_s19561" name="Equation" r:id="rId6" imgW="1485900" imgH="431800" progId="Equation.DSMT4">
                <p:embed/>
              </p:oleObj>
            </a:graphicData>
          </a:graphic>
        </p:graphicFrame>
        <p:sp>
          <p:nvSpPr>
            <p:cNvPr id="19574" name="Rectangle 13"/>
            <p:cNvSpPr>
              <a:spLocks noChangeArrowheads="1"/>
            </p:cNvSpPr>
            <p:nvPr/>
          </p:nvSpPr>
          <p:spPr bwMode="auto">
            <a:xfrm>
              <a:off x="5580112" y="990415"/>
              <a:ext cx="2304256" cy="1149287"/>
            </a:xfrm>
            <a:prstGeom prst="rect">
              <a:avLst/>
            </a:prstGeom>
            <a:noFill/>
            <a:ln w="28575">
              <a:solidFill>
                <a:srgbClr val="FF00FF"/>
              </a:solidFill>
              <a:miter lim="800000"/>
              <a:headEnd/>
              <a:tailEnd/>
            </a:ln>
          </p:spPr>
          <p:txBody>
            <a:bodyPr anchor="ctr">
              <a:spAutoFit/>
            </a:bodyPr>
            <a:lstStyle/>
            <a:p>
              <a:endParaRPr kumimoji="1" lang="zh-CN" altLang="en-US" sz="2400" b="1">
                <a:solidFill>
                  <a:srgbClr val="000000"/>
                </a:solidFill>
                <a:latin typeface="Times New Roman" pitchFamily="18" charset="0"/>
                <a:ea typeface="华文中宋"/>
                <a:cs typeface="华文中宋"/>
              </a:endParaRPr>
            </a:p>
          </p:txBody>
        </p:sp>
      </p:grpSp>
      <p:sp>
        <p:nvSpPr>
          <p:cNvPr id="168976" name="Text Box 16"/>
          <p:cNvSpPr txBox="1">
            <a:spLocks noChangeArrowheads="1"/>
          </p:cNvSpPr>
          <p:nvPr/>
        </p:nvSpPr>
        <p:spPr bwMode="auto">
          <a:xfrm>
            <a:off x="684213" y="2211388"/>
            <a:ext cx="3887787" cy="369887"/>
          </a:xfrm>
          <a:prstGeom prst="rect">
            <a:avLst/>
          </a:prstGeom>
          <a:noFill/>
          <a:ln w="9525">
            <a:noFill/>
            <a:miter lim="800000"/>
            <a:headEnd/>
            <a:tailEnd/>
          </a:ln>
        </p:spPr>
        <p:txBody>
          <a:bodyPr>
            <a:spAutoFit/>
          </a:bodyPr>
          <a:lstStyle/>
          <a:p>
            <a:r>
              <a:rPr lang="zh-CN" altLang="en-US" b="1">
                <a:solidFill>
                  <a:srgbClr val="3333FF"/>
                </a:solidFill>
                <a:latin typeface="华文中宋"/>
                <a:ea typeface="华文中宋"/>
                <a:cs typeface="华文中宋"/>
              </a:rPr>
              <a:t>（２）方法二：基于做功来计算</a:t>
            </a:r>
            <a:endParaRPr kumimoji="1" lang="zh-CN" altLang="en-US" b="1">
              <a:solidFill>
                <a:srgbClr val="3333FF"/>
              </a:solidFill>
              <a:latin typeface="华文中宋"/>
              <a:ea typeface="华文中宋"/>
              <a:cs typeface="华文中宋"/>
            </a:endParaRPr>
          </a:p>
        </p:txBody>
      </p:sp>
      <p:graphicFrame>
        <p:nvGraphicFramePr>
          <p:cNvPr id="168978" name="Object 106"/>
          <p:cNvGraphicFramePr>
            <a:graphicFrameLocks noChangeAspect="1"/>
          </p:cNvGraphicFramePr>
          <p:nvPr/>
        </p:nvGraphicFramePr>
        <p:xfrm>
          <a:off x="5148263" y="2430463"/>
          <a:ext cx="1825625" cy="619125"/>
        </p:xfrm>
        <a:graphic>
          <a:graphicData uri="http://schemas.openxmlformats.org/presentationml/2006/ole">
            <p:oleObj spid="_x0000_s19562" name="公式" r:id="rId7" imgW="698197" imgH="317362" progId="Equation.3">
              <p:embed/>
            </p:oleObj>
          </a:graphicData>
        </a:graphic>
      </p:graphicFrame>
      <p:graphicFrame>
        <p:nvGraphicFramePr>
          <p:cNvPr id="168981" name="Object 107"/>
          <p:cNvGraphicFramePr>
            <a:graphicFrameLocks noChangeAspect="1"/>
          </p:cNvGraphicFramePr>
          <p:nvPr/>
        </p:nvGraphicFramePr>
        <p:xfrm>
          <a:off x="1547813" y="4298950"/>
          <a:ext cx="1938337" cy="658813"/>
        </p:xfrm>
        <a:graphic>
          <a:graphicData uri="http://schemas.openxmlformats.org/presentationml/2006/ole">
            <p:oleObj spid="_x0000_s19563" name="公式" r:id="rId8" imgW="672808" imgH="304668" progId="Equation.3">
              <p:embed/>
            </p:oleObj>
          </a:graphicData>
        </a:graphic>
      </p:graphicFrame>
      <p:graphicFrame>
        <p:nvGraphicFramePr>
          <p:cNvPr id="168986" name="Object 108"/>
          <p:cNvGraphicFramePr>
            <a:graphicFrameLocks noChangeAspect="1"/>
          </p:cNvGraphicFramePr>
          <p:nvPr/>
        </p:nvGraphicFramePr>
        <p:xfrm>
          <a:off x="1547813" y="2563813"/>
          <a:ext cx="2952750" cy="346075"/>
        </p:xfrm>
        <a:graphic>
          <a:graphicData uri="http://schemas.openxmlformats.org/presentationml/2006/ole">
            <p:oleObj spid="_x0000_s19564" name="Equation" r:id="rId9" imgW="1548728" imgH="241195" progId="Equation.DSMT4">
              <p:embed/>
            </p:oleObj>
          </a:graphicData>
        </a:graphic>
      </p:graphicFrame>
      <p:sp>
        <p:nvSpPr>
          <p:cNvPr id="168987" name="Line 27"/>
          <p:cNvSpPr>
            <a:spLocks noChangeShapeType="1"/>
          </p:cNvSpPr>
          <p:nvPr/>
        </p:nvSpPr>
        <p:spPr bwMode="auto">
          <a:xfrm>
            <a:off x="4572000" y="2725738"/>
            <a:ext cx="576263" cy="0"/>
          </a:xfrm>
          <a:prstGeom prst="line">
            <a:avLst/>
          </a:prstGeom>
          <a:noFill/>
          <a:ln w="38100">
            <a:solidFill>
              <a:schemeClr val="tx1"/>
            </a:solidFill>
            <a:round/>
            <a:headEnd/>
            <a:tailEnd type="stealth" w="lg" len="lg"/>
          </a:ln>
        </p:spPr>
        <p:txBody>
          <a:bodyPr>
            <a:spAutoFit/>
          </a:bodyPr>
          <a:lstStyle/>
          <a:p>
            <a:endParaRPr lang="zh-CN" altLang="en-US"/>
          </a:p>
        </p:txBody>
      </p:sp>
      <p:graphicFrame>
        <p:nvGraphicFramePr>
          <p:cNvPr id="168988" name="Object 109"/>
          <p:cNvGraphicFramePr>
            <a:graphicFrameLocks noChangeAspect="1"/>
          </p:cNvGraphicFramePr>
          <p:nvPr/>
        </p:nvGraphicFramePr>
        <p:xfrm>
          <a:off x="1174750" y="2841625"/>
          <a:ext cx="6505575" cy="679450"/>
        </p:xfrm>
        <a:graphic>
          <a:graphicData uri="http://schemas.openxmlformats.org/presentationml/2006/ole">
            <p:oleObj spid="_x0000_s19565" name="Equation" r:id="rId10" imgW="3289300" imgH="457200" progId="Equation.DSMT4">
              <p:embed/>
            </p:oleObj>
          </a:graphicData>
        </a:graphic>
      </p:graphicFrame>
      <p:graphicFrame>
        <p:nvGraphicFramePr>
          <p:cNvPr id="168989" name="Object 110"/>
          <p:cNvGraphicFramePr>
            <a:graphicFrameLocks noChangeAspect="1"/>
          </p:cNvGraphicFramePr>
          <p:nvPr/>
        </p:nvGraphicFramePr>
        <p:xfrm>
          <a:off x="1547813" y="3543300"/>
          <a:ext cx="6048375" cy="647700"/>
        </p:xfrm>
        <a:graphic>
          <a:graphicData uri="http://schemas.openxmlformats.org/presentationml/2006/ole">
            <p:oleObj spid="_x0000_s19566" name="Equation" r:id="rId11" imgW="3200400" imgH="457200" progId="Equation.DSMT4">
              <p:embed/>
            </p:oleObj>
          </a:graphicData>
        </a:graphic>
      </p:graphicFrame>
      <p:graphicFrame>
        <p:nvGraphicFramePr>
          <p:cNvPr id="168990" name="Object 111"/>
          <p:cNvGraphicFramePr>
            <a:graphicFrameLocks noChangeAspect="1"/>
          </p:cNvGraphicFramePr>
          <p:nvPr/>
        </p:nvGraphicFramePr>
        <p:xfrm>
          <a:off x="3635375" y="4289425"/>
          <a:ext cx="2232025" cy="514350"/>
        </p:xfrm>
        <a:graphic>
          <a:graphicData uri="http://schemas.openxmlformats.org/presentationml/2006/ole">
            <p:oleObj spid="_x0000_s19567" name="公式" r:id="rId12" imgW="1091726" imgH="304668" progId="Equation.3">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8" fill="hold" grpId="0" nodeType="clickEffect">
                                  <p:stCondLst>
                                    <p:cond delay="0"/>
                                  </p:stCondLst>
                                  <p:childTnLst>
                                    <p:set>
                                      <p:cBhvr>
                                        <p:cTn id="6" dur="1" fill="hold">
                                          <p:stCondLst>
                                            <p:cond delay="0"/>
                                          </p:stCondLst>
                                        </p:cTn>
                                        <p:tgtEl>
                                          <p:spTgt spid="168964"/>
                                        </p:tgtEl>
                                        <p:attrNameLst>
                                          <p:attrName>style.visibility</p:attrName>
                                        </p:attrNameLst>
                                      </p:cBhvr>
                                      <p:to>
                                        <p:strVal val="visible"/>
                                      </p:to>
                                    </p:set>
                                    <p:anim calcmode="lin" valueType="num">
                                      <p:cBhvr>
                                        <p:cTn id="7" dur="500" fill="hold"/>
                                        <p:tgtEl>
                                          <p:spTgt spid="168964"/>
                                        </p:tgtEl>
                                        <p:attrNameLst>
                                          <p:attrName>ppt_x</p:attrName>
                                        </p:attrNameLst>
                                      </p:cBhvr>
                                      <p:tavLst>
                                        <p:tav tm="0">
                                          <p:val>
                                            <p:strVal val="#ppt_x-#ppt_w/2"/>
                                          </p:val>
                                        </p:tav>
                                        <p:tav tm="100000">
                                          <p:val>
                                            <p:strVal val="#ppt_x"/>
                                          </p:val>
                                        </p:tav>
                                      </p:tavLst>
                                    </p:anim>
                                    <p:anim calcmode="lin" valueType="num">
                                      <p:cBhvr>
                                        <p:cTn id="8" dur="500" fill="hold"/>
                                        <p:tgtEl>
                                          <p:spTgt spid="168964"/>
                                        </p:tgtEl>
                                        <p:attrNameLst>
                                          <p:attrName>ppt_y</p:attrName>
                                        </p:attrNameLst>
                                      </p:cBhvr>
                                      <p:tavLst>
                                        <p:tav tm="0">
                                          <p:val>
                                            <p:strVal val="#ppt_y"/>
                                          </p:val>
                                        </p:tav>
                                        <p:tav tm="100000">
                                          <p:val>
                                            <p:strVal val="#ppt_y"/>
                                          </p:val>
                                        </p:tav>
                                      </p:tavLst>
                                    </p:anim>
                                    <p:anim calcmode="lin" valueType="num">
                                      <p:cBhvr>
                                        <p:cTn id="9" dur="500" fill="hold"/>
                                        <p:tgtEl>
                                          <p:spTgt spid="168964"/>
                                        </p:tgtEl>
                                        <p:attrNameLst>
                                          <p:attrName>ppt_w</p:attrName>
                                        </p:attrNameLst>
                                      </p:cBhvr>
                                      <p:tavLst>
                                        <p:tav tm="0">
                                          <p:val>
                                            <p:fltVal val="0"/>
                                          </p:val>
                                        </p:tav>
                                        <p:tav tm="100000">
                                          <p:val>
                                            <p:strVal val="#ppt_w"/>
                                          </p:val>
                                        </p:tav>
                                      </p:tavLst>
                                    </p:anim>
                                    <p:anim calcmode="lin" valueType="num">
                                      <p:cBhvr>
                                        <p:cTn id="10" dur="500" fill="hold"/>
                                        <p:tgtEl>
                                          <p:spTgt spid="168964"/>
                                        </p:tgtEl>
                                        <p:attrNameLst>
                                          <p:attrName>ppt_h</p:attrName>
                                        </p:attrNameLst>
                                      </p:cBhvr>
                                      <p:tavLst>
                                        <p:tav tm="0">
                                          <p:val>
                                            <p:strVal val="#ppt_h"/>
                                          </p:val>
                                        </p:tav>
                                        <p:tav tm="100000">
                                          <p:val>
                                            <p:strVal val="#ppt_h"/>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17" presetClass="entr" presetSubtype="8" fill="hold" grpId="0" nodeType="clickEffect">
                                  <p:stCondLst>
                                    <p:cond delay="0"/>
                                  </p:stCondLst>
                                  <p:childTnLst>
                                    <p:set>
                                      <p:cBhvr>
                                        <p:cTn id="14" dur="1" fill="hold">
                                          <p:stCondLst>
                                            <p:cond delay="0"/>
                                          </p:stCondLst>
                                        </p:cTn>
                                        <p:tgtEl>
                                          <p:spTgt spid="168967"/>
                                        </p:tgtEl>
                                        <p:attrNameLst>
                                          <p:attrName>style.visibility</p:attrName>
                                        </p:attrNameLst>
                                      </p:cBhvr>
                                      <p:to>
                                        <p:strVal val="visible"/>
                                      </p:to>
                                    </p:set>
                                    <p:anim calcmode="lin" valueType="num">
                                      <p:cBhvr>
                                        <p:cTn id="15" dur="500" fill="hold"/>
                                        <p:tgtEl>
                                          <p:spTgt spid="168967"/>
                                        </p:tgtEl>
                                        <p:attrNameLst>
                                          <p:attrName>ppt_x</p:attrName>
                                        </p:attrNameLst>
                                      </p:cBhvr>
                                      <p:tavLst>
                                        <p:tav tm="0">
                                          <p:val>
                                            <p:strVal val="#ppt_x-#ppt_w/2"/>
                                          </p:val>
                                        </p:tav>
                                        <p:tav tm="100000">
                                          <p:val>
                                            <p:strVal val="#ppt_x"/>
                                          </p:val>
                                        </p:tav>
                                      </p:tavLst>
                                    </p:anim>
                                    <p:anim calcmode="lin" valueType="num">
                                      <p:cBhvr>
                                        <p:cTn id="16" dur="500" fill="hold"/>
                                        <p:tgtEl>
                                          <p:spTgt spid="168967"/>
                                        </p:tgtEl>
                                        <p:attrNameLst>
                                          <p:attrName>ppt_y</p:attrName>
                                        </p:attrNameLst>
                                      </p:cBhvr>
                                      <p:tavLst>
                                        <p:tav tm="0">
                                          <p:val>
                                            <p:strVal val="#ppt_y"/>
                                          </p:val>
                                        </p:tav>
                                        <p:tav tm="100000">
                                          <p:val>
                                            <p:strVal val="#ppt_y"/>
                                          </p:val>
                                        </p:tav>
                                      </p:tavLst>
                                    </p:anim>
                                    <p:anim calcmode="lin" valueType="num">
                                      <p:cBhvr>
                                        <p:cTn id="17" dur="500" fill="hold"/>
                                        <p:tgtEl>
                                          <p:spTgt spid="168967"/>
                                        </p:tgtEl>
                                        <p:attrNameLst>
                                          <p:attrName>ppt_w</p:attrName>
                                        </p:attrNameLst>
                                      </p:cBhvr>
                                      <p:tavLst>
                                        <p:tav tm="0">
                                          <p:val>
                                            <p:fltVal val="0"/>
                                          </p:val>
                                        </p:tav>
                                        <p:tav tm="100000">
                                          <p:val>
                                            <p:strVal val="#ppt_w"/>
                                          </p:val>
                                        </p:tav>
                                      </p:tavLst>
                                    </p:anim>
                                    <p:anim calcmode="lin" valueType="num">
                                      <p:cBhvr>
                                        <p:cTn id="18" dur="500" fill="hold"/>
                                        <p:tgtEl>
                                          <p:spTgt spid="168967"/>
                                        </p:tgtEl>
                                        <p:attrNameLst>
                                          <p:attrName>ppt_h</p:attrName>
                                        </p:attrNameLst>
                                      </p:cBhvr>
                                      <p:tavLst>
                                        <p:tav tm="0">
                                          <p:val>
                                            <p:strVal val="#ppt_h"/>
                                          </p:val>
                                        </p:tav>
                                        <p:tav tm="100000">
                                          <p:val>
                                            <p:strVal val="#ppt_h"/>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10"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blinds(horizontal)">
                                      <p:cBhvr>
                                        <p:cTn id="23" dur="500"/>
                                        <p:tgtEl>
                                          <p:spTgt spid="2"/>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nodeType="click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wipe(left)">
                                      <p:cBhvr>
                                        <p:cTn id="28" dur="500"/>
                                        <p:tgtEl>
                                          <p:spTgt spid="4"/>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17" presetClass="entr" presetSubtype="8" fill="hold" grpId="0" nodeType="clickEffect">
                                  <p:stCondLst>
                                    <p:cond delay="0"/>
                                  </p:stCondLst>
                                  <p:childTnLst>
                                    <p:set>
                                      <p:cBhvr>
                                        <p:cTn id="32" dur="1" fill="hold">
                                          <p:stCondLst>
                                            <p:cond delay="0"/>
                                          </p:stCondLst>
                                        </p:cTn>
                                        <p:tgtEl>
                                          <p:spTgt spid="168976"/>
                                        </p:tgtEl>
                                        <p:attrNameLst>
                                          <p:attrName>style.visibility</p:attrName>
                                        </p:attrNameLst>
                                      </p:cBhvr>
                                      <p:to>
                                        <p:strVal val="visible"/>
                                      </p:to>
                                    </p:set>
                                    <p:anim calcmode="lin" valueType="num">
                                      <p:cBhvr>
                                        <p:cTn id="33" dur="500" fill="hold"/>
                                        <p:tgtEl>
                                          <p:spTgt spid="168976"/>
                                        </p:tgtEl>
                                        <p:attrNameLst>
                                          <p:attrName>ppt_x</p:attrName>
                                        </p:attrNameLst>
                                      </p:cBhvr>
                                      <p:tavLst>
                                        <p:tav tm="0">
                                          <p:val>
                                            <p:strVal val="#ppt_x-#ppt_w/2"/>
                                          </p:val>
                                        </p:tav>
                                        <p:tav tm="100000">
                                          <p:val>
                                            <p:strVal val="#ppt_x"/>
                                          </p:val>
                                        </p:tav>
                                      </p:tavLst>
                                    </p:anim>
                                    <p:anim calcmode="lin" valueType="num">
                                      <p:cBhvr>
                                        <p:cTn id="34" dur="500" fill="hold"/>
                                        <p:tgtEl>
                                          <p:spTgt spid="168976"/>
                                        </p:tgtEl>
                                        <p:attrNameLst>
                                          <p:attrName>ppt_y</p:attrName>
                                        </p:attrNameLst>
                                      </p:cBhvr>
                                      <p:tavLst>
                                        <p:tav tm="0">
                                          <p:val>
                                            <p:strVal val="#ppt_y"/>
                                          </p:val>
                                        </p:tav>
                                        <p:tav tm="100000">
                                          <p:val>
                                            <p:strVal val="#ppt_y"/>
                                          </p:val>
                                        </p:tav>
                                      </p:tavLst>
                                    </p:anim>
                                    <p:anim calcmode="lin" valueType="num">
                                      <p:cBhvr>
                                        <p:cTn id="35" dur="500" fill="hold"/>
                                        <p:tgtEl>
                                          <p:spTgt spid="168976"/>
                                        </p:tgtEl>
                                        <p:attrNameLst>
                                          <p:attrName>ppt_w</p:attrName>
                                        </p:attrNameLst>
                                      </p:cBhvr>
                                      <p:tavLst>
                                        <p:tav tm="0">
                                          <p:val>
                                            <p:fltVal val="0"/>
                                          </p:val>
                                        </p:tav>
                                        <p:tav tm="100000">
                                          <p:val>
                                            <p:strVal val="#ppt_w"/>
                                          </p:val>
                                        </p:tav>
                                      </p:tavLst>
                                    </p:anim>
                                    <p:anim calcmode="lin" valueType="num">
                                      <p:cBhvr>
                                        <p:cTn id="36" dur="500" fill="hold"/>
                                        <p:tgtEl>
                                          <p:spTgt spid="168976"/>
                                        </p:tgtEl>
                                        <p:attrNameLst>
                                          <p:attrName>ppt_h</p:attrName>
                                        </p:attrNameLst>
                                      </p:cBhvr>
                                      <p:tavLst>
                                        <p:tav tm="0">
                                          <p:val>
                                            <p:strVal val="#ppt_h"/>
                                          </p:val>
                                        </p:tav>
                                        <p:tav tm="100000">
                                          <p:val>
                                            <p:strVal val="#ppt_h"/>
                                          </p:val>
                                        </p:tav>
                                      </p:tavLst>
                                    </p:anim>
                                  </p:childTnLst>
                                </p:cTn>
                              </p:par>
                            </p:childTnLst>
                          </p:cTn>
                        </p:par>
                      </p:childTnLst>
                    </p:cTn>
                  </p:par>
                  <p:par>
                    <p:cTn id="37" fill="hold" nodeType="clickPar">
                      <p:stCondLst>
                        <p:cond delay="indefinite"/>
                      </p:stCondLst>
                      <p:childTnLst>
                        <p:par>
                          <p:cTn id="38" fill="hold" nodeType="withGroup">
                            <p:stCondLst>
                              <p:cond delay="0"/>
                            </p:stCondLst>
                            <p:childTnLst>
                              <p:par>
                                <p:cTn id="39" presetID="3" presetClass="entr" presetSubtype="10" fill="hold" nodeType="clickEffect">
                                  <p:stCondLst>
                                    <p:cond delay="0"/>
                                  </p:stCondLst>
                                  <p:childTnLst>
                                    <p:set>
                                      <p:cBhvr>
                                        <p:cTn id="40" dur="1" fill="hold">
                                          <p:stCondLst>
                                            <p:cond delay="0"/>
                                          </p:stCondLst>
                                        </p:cTn>
                                        <p:tgtEl>
                                          <p:spTgt spid="168986"/>
                                        </p:tgtEl>
                                        <p:attrNameLst>
                                          <p:attrName>style.visibility</p:attrName>
                                        </p:attrNameLst>
                                      </p:cBhvr>
                                      <p:to>
                                        <p:strVal val="visible"/>
                                      </p:to>
                                    </p:set>
                                    <p:animEffect transition="in" filter="blinds(horizontal)">
                                      <p:cBhvr>
                                        <p:cTn id="41" dur="500"/>
                                        <p:tgtEl>
                                          <p:spTgt spid="168986"/>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3" presetClass="entr" presetSubtype="10" fill="hold" grpId="0" nodeType="clickEffect">
                                  <p:stCondLst>
                                    <p:cond delay="0"/>
                                  </p:stCondLst>
                                  <p:childTnLst>
                                    <p:set>
                                      <p:cBhvr>
                                        <p:cTn id="45" dur="1" fill="hold">
                                          <p:stCondLst>
                                            <p:cond delay="0"/>
                                          </p:stCondLst>
                                        </p:cTn>
                                        <p:tgtEl>
                                          <p:spTgt spid="168987"/>
                                        </p:tgtEl>
                                        <p:attrNameLst>
                                          <p:attrName>style.visibility</p:attrName>
                                        </p:attrNameLst>
                                      </p:cBhvr>
                                      <p:to>
                                        <p:strVal val="visible"/>
                                      </p:to>
                                    </p:set>
                                    <p:animEffect transition="in" filter="blinds(horizontal)">
                                      <p:cBhvr>
                                        <p:cTn id="46" dur="500"/>
                                        <p:tgtEl>
                                          <p:spTgt spid="168987"/>
                                        </p:tgtEl>
                                      </p:cBhvr>
                                    </p:animEffect>
                                  </p:childTnLst>
                                </p:cTn>
                              </p:par>
                              <p:par>
                                <p:cTn id="47" presetID="3" presetClass="entr" presetSubtype="10" fill="hold" nodeType="withEffect">
                                  <p:stCondLst>
                                    <p:cond delay="0"/>
                                  </p:stCondLst>
                                  <p:childTnLst>
                                    <p:set>
                                      <p:cBhvr>
                                        <p:cTn id="48" dur="1" fill="hold">
                                          <p:stCondLst>
                                            <p:cond delay="0"/>
                                          </p:stCondLst>
                                        </p:cTn>
                                        <p:tgtEl>
                                          <p:spTgt spid="168978"/>
                                        </p:tgtEl>
                                        <p:attrNameLst>
                                          <p:attrName>style.visibility</p:attrName>
                                        </p:attrNameLst>
                                      </p:cBhvr>
                                      <p:to>
                                        <p:strVal val="visible"/>
                                      </p:to>
                                    </p:set>
                                    <p:animEffect transition="in" filter="blinds(horizontal)">
                                      <p:cBhvr>
                                        <p:cTn id="49" dur="500"/>
                                        <p:tgtEl>
                                          <p:spTgt spid="168978"/>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3" presetClass="entr" presetSubtype="10" fill="hold" nodeType="clickEffect">
                                  <p:stCondLst>
                                    <p:cond delay="0"/>
                                  </p:stCondLst>
                                  <p:childTnLst>
                                    <p:set>
                                      <p:cBhvr>
                                        <p:cTn id="53" dur="1" fill="hold">
                                          <p:stCondLst>
                                            <p:cond delay="0"/>
                                          </p:stCondLst>
                                        </p:cTn>
                                        <p:tgtEl>
                                          <p:spTgt spid="168988"/>
                                        </p:tgtEl>
                                        <p:attrNameLst>
                                          <p:attrName>style.visibility</p:attrName>
                                        </p:attrNameLst>
                                      </p:cBhvr>
                                      <p:to>
                                        <p:strVal val="visible"/>
                                      </p:to>
                                    </p:set>
                                    <p:animEffect transition="in" filter="blinds(horizontal)">
                                      <p:cBhvr>
                                        <p:cTn id="54" dur="500"/>
                                        <p:tgtEl>
                                          <p:spTgt spid="168988"/>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3" presetClass="entr" presetSubtype="10" fill="hold" nodeType="clickEffect">
                                  <p:stCondLst>
                                    <p:cond delay="0"/>
                                  </p:stCondLst>
                                  <p:childTnLst>
                                    <p:set>
                                      <p:cBhvr>
                                        <p:cTn id="58" dur="1" fill="hold">
                                          <p:stCondLst>
                                            <p:cond delay="0"/>
                                          </p:stCondLst>
                                        </p:cTn>
                                        <p:tgtEl>
                                          <p:spTgt spid="168989"/>
                                        </p:tgtEl>
                                        <p:attrNameLst>
                                          <p:attrName>style.visibility</p:attrName>
                                        </p:attrNameLst>
                                      </p:cBhvr>
                                      <p:to>
                                        <p:strVal val="visible"/>
                                      </p:to>
                                    </p:set>
                                    <p:animEffect transition="in" filter="blinds(horizontal)">
                                      <p:cBhvr>
                                        <p:cTn id="59" dur="500"/>
                                        <p:tgtEl>
                                          <p:spTgt spid="168989"/>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17" presetClass="entr" presetSubtype="8" fill="hold" nodeType="clickEffect">
                                  <p:stCondLst>
                                    <p:cond delay="0"/>
                                  </p:stCondLst>
                                  <p:childTnLst>
                                    <p:set>
                                      <p:cBhvr>
                                        <p:cTn id="63" dur="1" fill="hold">
                                          <p:stCondLst>
                                            <p:cond delay="0"/>
                                          </p:stCondLst>
                                        </p:cTn>
                                        <p:tgtEl>
                                          <p:spTgt spid="168981"/>
                                        </p:tgtEl>
                                        <p:attrNameLst>
                                          <p:attrName>style.visibility</p:attrName>
                                        </p:attrNameLst>
                                      </p:cBhvr>
                                      <p:to>
                                        <p:strVal val="visible"/>
                                      </p:to>
                                    </p:set>
                                    <p:anim calcmode="lin" valueType="num">
                                      <p:cBhvr>
                                        <p:cTn id="64" dur="500" fill="hold"/>
                                        <p:tgtEl>
                                          <p:spTgt spid="168981"/>
                                        </p:tgtEl>
                                        <p:attrNameLst>
                                          <p:attrName>ppt_x</p:attrName>
                                        </p:attrNameLst>
                                      </p:cBhvr>
                                      <p:tavLst>
                                        <p:tav tm="0">
                                          <p:val>
                                            <p:strVal val="#ppt_x-#ppt_w/2"/>
                                          </p:val>
                                        </p:tav>
                                        <p:tav tm="100000">
                                          <p:val>
                                            <p:strVal val="#ppt_x"/>
                                          </p:val>
                                        </p:tav>
                                      </p:tavLst>
                                    </p:anim>
                                    <p:anim calcmode="lin" valueType="num">
                                      <p:cBhvr>
                                        <p:cTn id="65" dur="500" fill="hold"/>
                                        <p:tgtEl>
                                          <p:spTgt spid="168981"/>
                                        </p:tgtEl>
                                        <p:attrNameLst>
                                          <p:attrName>ppt_y</p:attrName>
                                        </p:attrNameLst>
                                      </p:cBhvr>
                                      <p:tavLst>
                                        <p:tav tm="0">
                                          <p:val>
                                            <p:strVal val="#ppt_y"/>
                                          </p:val>
                                        </p:tav>
                                        <p:tav tm="100000">
                                          <p:val>
                                            <p:strVal val="#ppt_y"/>
                                          </p:val>
                                        </p:tav>
                                      </p:tavLst>
                                    </p:anim>
                                    <p:anim calcmode="lin" valueType="num">
                                      <p:cBhvr>
                                        <p:cTn id="66" dur="500" fill="hold"/>
                                        <p:tgtEl>
                                          <p:spTgt spid="168981"/>
                                        </p:tgtEl>
                                        <p:attrNameLst>
                                          <p:attrName>ppt_w</p:attrName>
                                        </p:attrNameLst>
                                      </p:cBhvr>
                                      <p:tavLst>
                                        <p:tav tm="0">
                                          <p:val>
                                            <p:fltVal val="0"/>
                                          </p:val>
                                        </p:tav>
                                        <p:tav tm="100000">
                                          <p:val>
                                            <p:strVal val="#ppt_w"/>
                                          </p:val>
                                        </p:tav>
                                      </p:tavLst>
                                    </p:anim>
                                    <p:anim calcmode="lin" valueType="num">
                                      <p:cBhvr>
                                        <p:cTn id="67" dur="500" fill="hold"/>
                                        <p:tgtEl>
                                          <p:spTgt spid="168981"/>
                                        </p:tgtEl>
                                        <p:attrNameLst>
                                          <p:attrName>ppt_h</p:attrName>
                                        </p:attrNameLst>
                                      </p:cBhvr>
                                      <p:tavLst>
                                        <p:tav tm="0">
                                          <p:val>
                                            <p:strVal val="#ppt_h"/>
                                          </p:val>
                                        </p:tav>
                                        <p:tav tm="100000">
                                          <p:val>
                                            <p:strVal val="#ppt_h"/>
                                          </p:val>
                                        </p:tav>
                                      </p:tavLst>
                                    </p:anim>
                                  </p:childTnLst>
                                </p:cTn>
                              </p:par>
                            </p:childTnLst>
                          </p:cTn>
                        </p:par>
                      </p:childTnLst>
                    </p:cTn>
                  </p:par>
                  <p:par>
                    <p:cTn id="68" fill="hold" nodeType="clickPar">
                      <p:stCondLst>
                        <p:cond delay="indefinite"/>
                      </p:stCondLst>
                      <p:childTnLst>
                        <p:par>
                          <p:cTn id="69" fill="hold" nodeType="withGroup">
                            <p:stCondLst>
                              <p:cond delay="0"/>
                            </p:stCondLst>
                            <p:childTnLst>
                              <p:par>
                                <p:cTn id="70" presetID="17" presetClass="entr" presetSubtype="8" fill="hold" nodeType="clickEffect">
                                  <p:stCondLst>
                                    <p:cond delay="0"/>
                                  </p:stCondLst>
                                  <p:childTnLst>
                                    <p:set>
                                      <p:cBhvr>
                                        <p:cTn id="71" dur="1" fill="hold">
                                          <p:stCondLst>
                                            <p:cond delay="0"/>
                                          </p:stCondLst>
                                        </p:cTn>
                                        <p:tgtEl>
                                          <p:spTgt spid="168990"/>
                                        </p:tgtEl>
                                        <p:attrNameLst>
                                          <p:attrName>style.visibility</p:attrName>
                                        </p:attrNameLst>
                                      </p:cBhvr>
                                      <p:to>
                                        <p:strVal val="visible"/>
                                      </p:to>
                                    </p:set>
                                    <p:anim calcmode="lin" valueType="num">
                                      <p:cBhvr>
                                        <p:cTn id="72" dur="500" fill="hold"/>
                                        <p:tgtEl>
                                          <p:spTgt spid="168990"/>
                                        </p:tgtEl>
                                        <p:attrNameLst>
                                          <p:attrName>ppt_x</p:attrName>
                                        </p:attrNameLst>
                                      </p:cBhvr>
                                      <p:tavLst>
                                        <p:tav tm="0">
                                          <p:val>
                                            <p:strVal val="#ppt_x-#ppt_w/2"/>
                                          </p:val>
                                        </p:tav>
                                        <p:tav tm="100000">
                                          <p:val>
                                            <p:strVal val="#ppt_x"/>
                                          </p:val>
                                        </p:tav>
                                      </p:tavLst>
                                    </p:anim>
                                    <p:anim calcmode="lin" valueType="num">
                                      <p:cBhvr>
                                        <p:cTn id="73" dur="500" fill="hold"/>
                                        <p:tgtEl>
                                          <p:spTgt spid="168990"/>
                                        </p:tgtEl>
                                        <p:attrNameLst>
                                          <p:attrName>ppt_y</p:attrName>
                                        </p:attrNameLst>
                                      </p:cBhvr>
                                      <p:tavLst>
                                        <p:tav tm="0">
                                          <p:val>
                                            <p:strVal val="#ppt_y"/>
                                          </p:val>
                                        </p:tav>
                                        <p:tav tm="100000">
                                          <p:val>
                                            <p:strVal val="#ppt_y"/>
                                          </p:val>
                                        </p:tav>
                                      </p:tavLst>
                                    </p:anim>
                                    <p:anim calcmode="lin" valueType="num">
                                      <p:cBhvr>
                                        <p:cTn id="74" dur="500" fill="hold"/>
                                        <p:tgtEl>
                                          <p:spTgt spid="168990"/>
                                        </p:tgtEl>
                                        <p:attrNameLst>
                                          <p:attrName>ppt_w</p:attrName>
                                        </p:attrNameLst>
                                      </p:cBhvr>
                                      <p:tavLst>
                                        <p:tav tm="0">
                                          <p:val>
                                            <p:fltVal val="0"/>
                                          </p:val>
                                        </p:tav>
                                        <p:tav tm="100000">
                                          <p:val>
                                            <p:strVal val="#ppt_w"/>
                                          </p:val>
                                        </p:tav>
                                      </p:tavLst>
                                    </p:anim>
                                    <p:anim calcmode="lin" valueType="num">
                                      <p:cBhvr>
                                        <p:cTn id="75" dur="500" fill="hold"/>
                                        <p:tgtEl>
                                          <p:spTgt spid="168990"/>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8964" grpId="0" autoUpdateAnimBg="0"/>
      <p:bldP spid="168967" grpId="0" autoUpdateAnimBg="0"/>
      <p:bldP spid="168976" grpId="0" autoUpdateAnimBg="0"/>
      <p:bldP spid="168987"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65" name="Rectangle 9"/>
          <p:cNvSpPr>
            <a:spLocks noChangeArrowheads="1"/>
          </p:cNvSpPr>
          <p:nvPr/>
        </p:nvSpPr>
        <p:spPr bwMode="auto">
          <a:xfrm>
            <a:off x="395288" y="828675"/>
            <a:ext cx="3240087" cy="374650"/>
          </a:xfrm>
          <a:prstGeom prst="rect">
            <a:avLst/>
          </a:prstGeom>
          <a:noFill/>
          <a:ln w="9525">
            <a:noFill/>
            <a:miter lim="800000"/>
            <a:headEnd/>
            <a:tailEnd/>
          </a:ln>
        </p:spPr>
        <p:txBody>
          <a:bodyPr>
            <a:spAutoFit/>
          </a:bodyPr>
          <a:lstStyle/>
          <a:p>
            <a:pPr eaLnBrk="0" hangingPunct="0">
              <a:lnSpc>
                <a:spcPct val="110000"/>
              </a:lnSpc>
            </a:pPr>
            <a:r>
              <a:rPr lang="en-US" altLang="zh-CN" b="1">
                <a:solidFill>
                  <a:srgbClr val="800000"/>
                </a:solidFill>
                <a:latin typeface="华文中宋"/>
                <a:ea typeface="华文中宋"/>
                <a:cs typeface="华文中宋"/>
              </a:rPr>
              <a:t>4</a:t>
            </a:r>
            <a:r>
              <a:rPr lang="zh-CN" altLang="en-US" b="1">
                <a:solidFill>
                  <a:srgbClr val="800000"/>
                </a:solidFill>
                <a:latin typeface="华文中宋"/>
                <a:ea typeface="华文中宋"/>
                <a:cs typeface="华文中宋"/>
              </a:rPr>
              <a:t>、绝热线与等温线</a:t>
            </a:r>
          </a:p>
        </p:txBody>
      </p:sp>
      <p:sp>
        <p:nvSpPr>
          <p:cNvPr id="96266" name="Text Box 10"/>
          <p:cNvSpPr txBox="1">
            <a:spLocks noChangeArrowheads="1"/>
          </p:cNvSpPr>
          <p:nvPr/>
        </p:nvSpPr>
        <p:spPr bwMode="auto">
          <a:xfrm>
            <a:off x="1979613" y="1203325"/>
            <a:ext cx="3529012" cy="396875"/>
          </a:xfrm>
          <a:prstGeom prst="rect">
            <a:avLst/>
          </a:prstGeom>
          <a:noFill/>
          <a:ln w="9525">
            <a:noFill/>
            <a:miter lim="800000"/>
            <a:headEnd/>
            <a:tailEnd/>
          </a:ln>
        </p:spPr>
        <p:txBody>
          <a:bodyPr>
            <a:spAutoFit/>
          </a:bodyPr>
          <a:lstStyle/>
          <a:p>
            <a:pPr eaLnBrk="0" hangingPunct="0">
              <a:lnSpc>
                <a:spcPct val="110000"/>
              </a:lnSpc>
            </a:pPr>
            <a:r>
              <a:rPr lang="en-US" altLang="zh-CN" b="1" i="1">
                <a:solidFill>
                  <a:srgbClr val="000000"/>
                </a:solidFill>
                <a:latin typeface="Times New Roman" pitchFamily="18" charset="0"/>
              </a:rPr>
              <a:t>pV</a:t>
            </a:r>
            <a:r>
              <a:rPr lang="zh-CN" altLang="en-US" b="1">
                <a:solidFill>
                  <a:srgbClr val="000000"/>
                </a:solidFill>
                <a:latin typeface="Times New Roman" pitchFamily="18" charset="0"/>
              </a:rPr>
              <a:t>＝</a:t>
            </a:r>
            <a:r>
              <a:rPr lang="en-US" altLang="zh-CN" b="1" i="1">
                <a:solidFill>
                  <a:srgbClr val="000000"/>
                </a:solidFill>
                <a:latin typeface="Times New Roman" pitchFamily="18" charset="0"/>
              </a:rPr>
              <a:t>C</a:t>
            </a:r>
            <a:r>
              <a:rPr lang="en-US" altLang="zh-CN" b="1" baseline="-25000">
                <a:solidFill>
                  <a:srgbClr val="000000"/>
                </a:solidFill>
                <a:latin typeface="Times New Roman" pitchFamily="18" charset="0"/>
              </a:rPr>
              <a:t>1                    </a:t>
            </a:r>
            <a:r>
              <a:rPr lang="en-US" altLang="zh-CN" b="1" i="1">
                <a:solidFill>
                  <a:srgbClr val="000000"/>
                </a:solidFill>
                <a:latin typeface="Times New Roman" pitchFamily="18" charset="0"/>
              </a:rPr>
              <a:t>pV </a:t>
            </a:r>
            <a:r>
              <a:rPr lang="en-US" altLang="zh-CN" b="1" i="1" baseline="30000">
                <a:solidFill>
                  <a:srgbClr val="000000"/>
                </a:solidFill>
                <a:latin typeface="Times New Roman" pitchFamily="18" charset="0"/>
              </a:rPr>
              <a:t>r</a:t>
            </a:r>
            <a:r>
              <a:rPr lang="zh-CN" altLang="en-US" b="1">
                <a:solidFill>
                  <a:srgbClr val="000000"/>
                </a:solidFill>
                <a:latin typeface="Times New Roman" pitchFamily="18" charset="0"/>
              </a:rPr>
              <a:t>＝</a:t>
            </a:r>
            <a:r>
              <a:rPr lang="en-US" altLang="zh-CN" b="1" i="1">
                <a:solidFill>
                  <a:srgbClr val="000000"/>
                </a:solidFill>
                <a:latin typeface="Times New Roman" pitchFamily="18" charset="0"/>
              </a:rPr>
              <a:t>C</a:t>
            </a:r>
            <a:r>
              <a:rPr lang="en-US" altLang="zh-CN" b="1" baseline="-25000">
                <a:solidFill>
                  <a:srgbClr val="000000"/>
                </a:solidFill>
                <a:latin typeface="Times New Roman" pitchFamily="18" charset="0"/>
              </a:rPr>
              <a:t>2</a:t>
            </a:r>
            <a:endParaRPr lang="en-US" altLang="zh-CN" b="1">
              <a:solidFill>
                <a:srgbClr val="000000"/>
              </a:solidFill>
              <a:latin typeface="Times New Roman" pitchFamily="18" charset="0"/>
            </a:endParaRPr>
          </a:p>
        </p:txBody>
      </p:sp>
      <p:grpSp>
        <p:nvGrpSpPr>
          <p:cNvPr id="2" name="Group 11"/>
          <p:cNvGrpSpPr>
            <a:grpSpLocks/>
          </p:cNvGrpSpPr>
          <p:nvPr/>
        </p:nvGrpSpPr>
        <p:grpSpPr bwMode="auto">
          <a:xfrm>
            <a:off x="5867400" y="1054100"/>
            <a:ext cx="3127375" cy="1733550"/>
            <a:chOff x="3375" y="1246"/>
            <a:chExt cx="1970" cy="1455"/>
          </a:xfrm>
        </p:grpSpPr>
        <p:sp>
          <p:nvSpPr>
            <p:cNvPr id="20576" name="Line 12"/>
            <p:cNvSpPr>
              <a:spLocks noChangeShapeType="1"/>
            </p:cNvSpPr>
            <p:nvPr/>
          </p:nvSpPr>
          <p:spPr bwMode="auto">
            <a:xfrm>
              <a:off x="3601" y="2446"/>
              <a:ext cx="1454" cy="0"/>
            </a:xfrm>
            <a:prstGeom prst="line">
              <a:avLst/>
            </a:prstGeom>
            <a:noFill/>
            <a:ln w="9525">
              <a:solidFill>
                <a:srgbClr val="0070C0"/>
              </a:solidFill>
              <a:round/>
              <a:headEnd/>
              <a:tailEnd type="arrow" w="sm" len="med"/>
            </a:ln>
          </p:spPr>
          <p:txBody>
            <a:bodyPr/>
            <a:lstStyle/>
            <a:p>
              <a:endParaRPr lang="zh-CN" altLang="en-US"/>
            </a:p>
          </p:txBody>
        </p:sp>
        <p:sp>
          <p:nvSpPr>
            <p:cNvPr id="20577" name="Line 13"/>
            <p:cNvSpPr>
              <a:spLocks noChangeShapeType="1"/>
            </p:cNvSpPr>
            <p:nvPr/>
          </p:nvSpPr>
          <p:spPr bwMode="auto">
            <a:xfrm flipV="1">
              <a:off x="3606" y="1374"/>
              <a:ext cx="0" cy="1076"/>
            </a:xfrm>
            <a:prstGeom prst="line">
              <a:avLst/>
            </a:prstGeom>
            <a:noFill/>
            <a:ln w="9525">
              <a:solidFill>
                <a:srgbClr val="0070C0"/>
              </a:solidFill>
              <a:round/>
              <a:headEnd/>
              <a:tailEnd type="arrow" w="sm" len="med"/>
            </a:ln>
          </p:spPr>
          <p:txBody>
            <a:bodyPr/>
            <a:lstStyle/>
            <a:p>
              <a:endParaRPr lang="zh-CN" altLang="en-US"/>
            </a:p>
          </p:txBody>
        </p:sp>
        <p:sp>
          <p:nvSpPr>
            <p:cNvPr id="20578" name="Text Box 14"/>
            <p:cNvSpPr txBox="1">
              <a:spLocks noChangeArrowheads="1"/>
            </p:cNvSpPr>
            <p:nvPr/>
          </p:nvSpPr>
          <p:spPr bwMode="auto">
            <a:xfrm>
              <a:off x="3401" y="1339"/>
              <a:ext cx="197" cy="271"/>
            </a:xfrm>
            <a:prstGeom prst="rect">
              <a:avLst/>
            </a:prstGeom>
            <a:noFill/>
            <a:ln w="9525">
              <a:noFill/>
              <a:miter lim="800000"/>
              <a:headEnd/>
              <a:tailEnd/>
            </a:ln>
          </p:spPr>
          <p:txBody>
            <a:bodyPr>
              <a:spAutoFit/>
            </a:bodyPr>
            <a:lstStyle/>
            <a:p>
              <a:pPr eaLnBrk="0" hangingPunct="0"/>
              <a:r>
                <a:rPr lang="en-US" altLang="zh-CN" sz="1500" i="1">
                  <a:solidFill>
                    <a:srgbClr val="1F497D"/>
                  </a:solidFill>
                  <a:latin typeface="Times New Roman" pitchFamily="18" charset="0"/>
                </a:rPr>
                <a:t>p</a:t>
              </a:r>
            </a:p>
          </p:txBody>
        </p:sp>
        <p:sp>
          <p:nvSpPr>
            <p:cNvPr id="20579" name="Text Box 15"/>
            <p:cNvSpPr txBox="1">
              <a:spLocks noChangeArrowheads="1"/>
            </p:cNvSpPr>
            <p:nvPr/>
          </p:nvSpPr>
          <p:spPr bwMode="auto">
            <a:xfrm>
              <a:off x="4901" y="2430"/>
              <a:ext cx="190" cy="271"/>
            </a:xfrm>
            <a:prstGeom prst="rect">
              <a:avLst/>
            </a:prstGeom>
            <a:noFill/>
            <a:ln w="9525">
              <a:noFill/>
              <a:miter lim="800000"/>
              <a:headEnd/>
              <a:tailEnd/>
            </a:ln>
          </p:spPr>
          <p:txBody>
            <a:bodyPr wrap="none">
              <a:spAutoFit/>
            </a:bodyPr>
            <a:lstStyle/>
            <a:p>
              <a:pPr eaLnBrk="0" hangingPunct="0"/>
              <a:r>
                <a:rPr lang="en-US" altLang="zh-CN" sz="1500" i="1">
                  <a:solidFill>
                    <a:srgbClr val="1F497D"/>
                  </a:solidFill>
                  <a:latin typeface="Times New Roman" pitchFamily="18" charset="0"/>
                </a:rPr>
                <a:t>V</a:t>
              </a:r>
            </a:p>
          </p:txBody>
        </p:sp>
        <p:sp>
          <p:nvSpPr>
            <p:cNvPr id="20580" name="Freeform 16"/>
            <p:cNvSpPr>
              <a:spLocks/>
            </p:cNvSpPr>
            <p:nvPr/>
          </p:nvSpPr>
          <p:spPr bwMode="auto">
            <a:xfrm>
              <a:off x="3817" y="1368"/>
              <a:ext cx="1016" cy="616"/>
            </a:xfrm>
            <a:custGeom>
              <a:avLst/>
              <a:gdLst>
                <a:gd name="T0" fmla="*/ 0 w 10342"/>
                <a:gd name="T1" fmla="*/ 0 h 10476"/>
                <a:gd name="T2" fmla="*/ 0 w 10342"/>
                <a:gd name="T3" fmla="*/ 0 h 10476"/>
                <a:gd name="T4" fmla="*/ 0 60000 65536"/>
                <a:gd name="T5" fmla="*/ 0 60000 65536"/>
                <a:gd name="T6" fmla="*/ 0 w 10342"/>
                <a:gd name="T7" fmla="*/ 0 h 10476"/>
                <a:gd name="T8" fmla="*/ 10342 w 10342"/>
                <a:gd name="T9" fmla="*/ 10476 h 10476"/>
              </a:gdLst>
              <a:ahLst/>
              <a:cxnLst>
                <a:cxn ang="T4">
                  <a:pos x="T0" y="T1"/>
                </a:cxn>
                <a:cxn ang="T5">
                  <a:pos x="T2" y="T3"/>
                </a:cxn>
              </a:cxnLst>
              <a:rect l="T6" t="T7" r="T8" b="T9"/>
              <a:pathLst>
                <a:path w="10342" h="10476">
                  <a:moveTo>
                    <a:pt x="0" y="0"/>
                  </a:moveTo>
                  <a:cubicBezTo>
                    <a:pt x="2858" y="6440"/>
                    <a:pt x="5431" y="8888"/>
                    <a:pt x="10342" y="10476"/>
                  </a:cubicBezTo>
                </a:path>
              </a:pathLst>
            </a:custGeom>
            <a:noFill/>
            <a:ln w="19050">
              <a:solidFill>
                <a:srgbClr val="C00000"/>
              </a:solidFill>
              <a:round/>
              <a:headEnd/>
              <a:tailEnd/>
            </a:ln>
          </p:spPr>
          <p:txBody>
            <a:bodyPr/>
            <a:lstStyle/>
            <a:p>
              <a:endParaRPr lang="zh-CN" altLang="en-US"/>
            </a:p>
          </p:txBody>
        </p:sp>
        <p:sp>
          <p:nvSpPr>
            <p:cNvPr id="20581" name="Freeform 17"/>
            <p:cNvSpPr>
              <a:spLocks/>
            </p:cNvSpPr>
            <p:nvPr/>
          </p:nvSpPr>
          <p:spPr bwMode="auto">
            <a:xfrm>
              <a:off x="4049" y="1306"/>
              <a:ext cx="722" cy="894"/>
            </a:xfrm>
            <a:custGeom>
              <a:avLst/>
              <a:gdLst>
                <a:gd name="T0" fmla="*/ 0 w 10000"/>
                <a:gd name="T1" fmla="*/ 0 h 10000"/>
                <a:gd name="T2" fmla="*/ 0 w 10000"/>
                <a:gd name="T3" fmla="*/ 0 h 10000"/>
                <a:gd name="T4" fmla="*/ 0 60000 65536"/>
                <a:gd name="T5" fmla="*/ 0 60000 65536"/>
                <a:gd name="T6" fmla="*/ 0 w 10000"/>
                <a:gd name="T7" fmla="*/ 0 h 10000"/>
                <a:gd name="T8" fmla="*/ 10000 w 10000"/>
                <a:gd name="T9" fmla="*/ 10000 h 10000"/>
              </a:gdLst>
              <a:ahLst/>
              <a:cxnLst>
                <a:cxn ang="T4">
                  <a:pos x="T0" y="T1"/>
                </a:cxn>
                <a:cxn ang="T5">
                  <a:pos x="T2" y="T3"/>
                </a:cxn>
              </a:cxnLst>
              <a:rect l="T6" t="T7" r="T8" b="T9"/>
              <a:pathLst>
                <a:path w="10000" h="10000">
                  <a:moveTo>
                    <a:pt x="0" y="0"/>
                  </a:moveTo>
                  <a:cubicBezTo>
                    <a:pt x="1475" y="5168"/>
                    <a:pt x="5117" y="8273"/>
                    <a:pt x="10000" y="10000"/>
                  </a:cubicBezTo>
                </a:path>
              </a:pathLst>
            </a:custGeom>
            <a:noFill/>
            <a:ln w="19050">
              <a:solidFill>
                <a:srgbClr val="00B0F0"/>
              </a:solidFill>
              <a:round/>
              <a:headEnd/>
              <a:tailEnd/>
            </a:ln>
          </p:spPr>
          <p:txBody>
            <a:bodyPr/>
            <a:lstStyle/>
            <a:p>
              <a:endParaRPr lang="zh-CN" altLang="en-US"/>
            </a:p>
          </p:txBody>
        </p:sp>
        <p:sp>
          <p:nvSpPr>
            <p:cNvPr id="20582" name="Line 18"/>
            <p:cNvSpPr>
              <a:spLocks noChangeShapeType="1"/>
            </p:cNvSpPr>
            <p:nvPr/>
          </p:nvSpPr>
          <p:spPr bwMode="auto">
            <a:xfrm>
              <a:off x="4755" y="1959"/>
              <a:ext cx="0" cy="475"/>
            </a:xfrm>
            <a:prstGeom prst="line">
              <a:avLst/>
            </a:prstGeom>
            <a:noFill/>
            <a:ln w="9525">
              <a:solidFill>
                <a:schemeClr val="tx1"/>
              </a:solidFill>
              <a:prstDash val="dash"/>
              <a:round/>
              <a:headEnd/>
              <a:tailEnd/>
            </a:ln>
          </p:spPr>
          <p:txBody>
            <a:bodyPr/>
            <a:lstStyle/>
            <a:p>
              <a:endParaRPr lang="zh-CN" altLang="en-US"/>
            </a:p>
          </p:txBody>
        </p:sp>
        <p:sp>
          <p:nvSpPr>
            <p:cNvPr id="20583" name="Line 19"/>
            <p:cNvSpPr>
              <a:spLocks noChangeShapeType="1"/>
            </p:cNvSpPr>
            <p:nvPr/>
          </p:nvSpPr>
          <p:spPr bwMode="auto">
            <a:xfrm>
              <a:off x="3601" y="1761"/>
              <a:ext cx="696" cy="0"/>
            </a:xfrm>
            <a:prstGeom prst="line">
              <a:avLst/>
            </a:prstGeom>
            <a:noFill/>
            <a:ln w="9525">
              <a:solidFill>
                <a:schemeClr val="tx1"/>
              </a:solidFill>
              <a:prstDash val="lgDash"/>
              <a:round/>
              <a:headEnd/>
              <a:tailEnd/>
            </a:ln>
          </p:spPr>
          <p:txBody>
            <a:bodyPr/>
            <a:lstStyle/>
            <a:p>
              <a:endParaRPr lang="zh-CN" altLang="en-US"/>
            </a:p>
          </p:txBody>
        </p:sp>
        <p:sp>
          <p:nvSpPr>
            <p:cNvPr id="20584" name="Line 20"/>
            <p:cNvSpPr>
              <a:spLocks noChangeShapeType="1"/>
            </p:cNvSpPr>
            <p:nvPr/>
          </p:nvSpPr>
          <p:spPr bwMode="auto">
            <a:xfrm>
              <a:off x="4253" y="1791"/>
              <a:ext cx="0" cy="655"/>
            </a:xfrm>
            <a:prstGeom prst="line">
              <a:avLst/>
            </a:prstGeom>
            <a:noFill/>
            <a:ln w="9525">
              <a:solidFill>
                <a:schemeClr val="tx1"/>
              </a:solidFill>
              <a:prstDash val="lgDash"/>
              <a:round/>
              <a:headEnd/>
              <a:tailEnd/>
            </a:ln>
          </p:spPr>
          <p:txBody>
            <a:bodyPr/>
            <a:lstStyle/>
            <a:p>
              <a:endParaRPr lang="zh-CN" altLang="en-US"/>
            </a:p>
          </p:txBody>
        </p:sp>
        <p:sp>
          <p:nvSpPr>
            <p:cNvPr id="20585" name="Oval 21"/>
            <p:cNvSpPr>
              <a:spLocks noChangeArrowheads="1"/>
            </p:cNvSpPr>
            <p:nvPr/>
          </p:nvSpPr>
          <p:spPr bwMode="auto">
            <a:xfrm>
              <a:off x="4217" y="1744"/>
              <a:ext cx="61" cy="61"/>
            </a:xfrm>
            <a:prstGeom prst="ellipse">
              <a:avLst/>
            </a:prstGeom>
            <a:solidFill>
              <a:srgbClr val="00B0F0"/>
            </a:solidFill>
            <a:ln w="9525">
              <a:solidFill>
                <a:schemeClr val="tx1"/>
              </a:solidFill>
              <a:round/>
              <a:headEnd/>
              <a:tailEnd/>
            </a:ln>
          </p:spPr>
          <p:txBody>
            <a:bodyPr wrap="none" anchor="ctr"/>
            <a:lstStyle/>
            <a:p>
              <a:endParaRPr lang="zh-CN" altLang="zh-CN">
                <a:solidFill>
                  <a:srgbClr val="000000"/>
                </a:solidFill>
                <a:latin typeface="Times New Roman" pitchFamily="18" charset="0"/>
              </a:endParaRPr>
            </a:p>
          </p:txBody>
        </p:sp>
        <p:sp>
          <p:nvSpPr>
            <p:cNvPr id="20586" name="Oval 22"/>
            <p:cNvSpPr>
              <a:spLocks noChangeArrowheads="1"/>
            </p:cNvSpPr>
            <p:nvPr/>
          </p:nvSpPr>
          <p:spPr bwMode="auto">
            <a:xfrm>
              <a:off x="4735" y="1932"/>
              <a:ext cx="53" cy="53"/>
            </a:xfrm>
            <a:prstGeom prst="ellipse">
              <a:avLst/>
            </a:prstGeom>
            <a:solidFill>
              <a:schemeClr val="accent1"/>
            </a:solidFill>
            <a:ln w="9525">
              <a:solidFill>
                <a:schemeClr val="tx1"/>
              </a:solidFill>
              <a:round/>
              <a:headEnd/>
              <a:tailEnd/>
            </a:ln>
          </p:spPr>
          <p:txBody>
            <a:bodyPr wrap="none" anchor="ctr"/>
            <a:lstStyle/>
            <a:p>
              <a:endParaRPr lang="zh-CN" altLang="zh-CN">
                <a:solidFill>
                  <a:srgbClr val="000000"/>
                </a:solidFill>
                <a:latin typeface="Times New Roman" pitchFamily="18" charset="0"/>
              </a:endParaRPr>
            </a:p>
          </p:txBody>
        </p:sp>
        <p:sp>
          <p:nvSpPr>
            <p:cNvPr id="20587" name="Oval 23"/>
            <p:cNvSpPr>
              <a:spLocks noChangeArrowheads="1"/>
            </p:cNvSpPr>
            <p:nvPr/>
          </p:nvSpPr>
          <p:spPr bwMode="auto">
            <a:xfrm>
              <a:off x="4734" y="2171"/>
              <a:ext cx="58" cy="58"/>
            </a:xfrm>
            <a:prstGeom prst="ellipse">
              <a:avLst/>
            </a:prstGeom>
            <a:solidFill>
              <a:schemeClr val="accent1"/>
            </a:solidFill>
            <a:ln w="9525">
              <a:solidFill>
                <a:schemeClr val="tx1"/>
              </a:solidFill>
              <a:round/>
              <a:headEnd/>
              <a:tailEnd/>
            </a:ln>
          </p:spPr>
          <p:txBody>
            <a:bodyPr wrap="none" anchor="ctr"/>
            <a:lstStyle/>
            <a:p>
              <a:endParaRPr lang="zh-CN" altLang="zh-CN">
                <a:solidFill>
                  <a:srgbClr val="000000"/>
                </a:solidFill>
                <a:latin typeface="Times New Roman" pitchFamily="18" charset="0"/>
              </a:endParaRPr>
            </a:p>
          </p:txBody>
        </p:sp>
        <p:sp>
          <p:nvSpPr>
            <p:cNvPr id="20588" name="Text Box 24"/>
            <p:cNvSpPr txBox="1">
              <a:spLocks noChangeArrowheads="1"/>
            </p:cNvSpPr>
            <p:nvPr/>
          </p:nvSpPr>
          <p:spPr bwMode="auto">
            <a:xfrm>
              <a:off x="4244" y="1557"/>
              <a:ext cx="640" cy="271"/>
            </a:xfrm>
            <a:prstGeom prst="rect">
              <a:avLst/>
            </a:prstGeom>
            <a:noFill/>
            <a:ln w="9525">
              <a:noFill/>
              <a:miter lim="800000"/>
              <a:headEnd/>
              <a:tailEnd/>
            </a:ln>
          </p:spPr>
          <p:txBody>
            <a:bodyPr wrap="none">
              <a:spAutoFit/>
            </a:bodyPr>
            <a:lstStyle/>
            <a:p>
              <a:pPr eaLnBrk="0" hangingPunct="0"/>
              <a:r>
                <a:rPr lang="en-US" altLang="zh-CN" sz="1500" b="1" i="1">
                  <a:solidFill>
                    <a:srgbClr val="0000FF"/>
                  </a:solidFill>
                  <a:latin typeface="Times New Roman" pitchFamily="18" charset="0"/>
                </a:rPr>
                <a:t>A</a:t>
              </a:r>
              <a:r>
                <a:rPr lang="en-US" altLang="zh-CN" sz="1500" b="1">
                  <a:solidFill>
                    <a:srgbClr val="0000FF"/>
                  </a:solidFill>
                  <a:latin typeface="Times New Roman" pitchFamily="18" charset="0"/>
                </a:rPr>
                <a:t>(</a:t>
              </a:r>
              <a:r>
                <a:rPr lang="en-US" altLang="zh-CN" sz="1500" b="1" i="1">
                  <a:solidFill>
                    <a:srgbClr val="0000FF"/>
                  </a:solidFill>
                  <a:latin typeface="Times New Roman" pitchFamily="18" charset="0"/>
                </a:rPr>
                <a:t>p</a:t>
              </a:r>
              <a:r>
                <a:rPr lang="en-US" altLang="zh-CN" sz="1500" b="1" baseline="-25000">
                  <a:solidFill>
                    <a:srgbClr val="0000FF"/>
                  </a:solidFill>
                  <a:latin typeface="Times New Roman" pitchFamily="18" charset="0"/>
                </a:rPr>
                <a:t>A</a:t>
              </a:r>
              <a:r>
                <a:rPr lang="en-US" altLang="zh-CN" sz="1500" b="1" i="1">
                  <a:solidFill>
                    <a:srgbClr val="0000FF"/>
                  </a:solidFill>
                  <a:latin typeface="Times New Roman" pitchFamily="18" charset="0"/>
                </a:rPr>
                <a:t>V</a:t>
              </a:r>
              <a:r>
                <a:rPr lang="en-US" altLang="zh-CN" sz="1500" b="1" baseline="-25000">
                  <a:solidFill>
                    <a:srgbClr val="0000FF"/>
                  </a:solidFill>
                  <a:latin typeface="Times New Roman" pitchFamily="18" charset="0"/>
                </a:rPr>
                <a:t>A</a:t>
              </a:r>
              <a:r>
                <a:rPr lang="en-US" altLang="zh-CN" sz="1500" b="1" i="1">
                  <a:solidFill>
                    <a:srgbClr val="0000FF"/>
                  </a:solidFill>
                  <a:latin typeface="Times New Roman" pitchFamily="18" charset="0"/>
                </a:rPr>
                <a:t> T</a:t>
              </a:r>
              <a:r>
                <a:rPr lang="en-US" altLang="zh-CN" sz="1500" b="1">
                  <a:solidFill>
                    <a:srgbClr val="0000FF"/>
                  </a:solidFill>
                  <a:latin typeface="Times New Roman" pitchFamily="18" charset="0"/>
                </a:rPr>
                <a:t>)</a:t>
              </a:r>
            </a:p>
          </p:txBody>
        </p:sp>
        <p:sp>
          <p:nvSpPr>
            <p:cNvPr id="20589" name="Rectangle 25"/>
            <p:cNvSpPr>
              <a:spLocks noChangeArrowheads="1"/>
            </p:cNvSpPr>
            <p:nvPr/>
          </p:nvSpPr>
          <p:spPr bwMode="auto">
            <a:xfrm>
              <a:off x="4061" y="1246"/>
              <a:ext cx="480" cy="271"/>
            </a:xfrm>
            <a:prstGeom prst="rect">
              <a:avLst/>
            </a:prstGeom>
            <a:noFill/>
            <a:ln w="9525">
              <a:noFill/>
              <a:miter lim="800000"/>
              <a:headEnd/>
              <a:tailEnd/>
            </a:ln>
          </p:spPr>
          <p:txBody>
            <a:bodyPr wrap="none">
              <a:spAutoFit/>
            </a:bodyPr>
            <a:lstStyle/>
            <a:p>
              <a:pPr eaLnBrk="0" hangingPunct="0"/>
              <a:r>
                <a:rPr kumimoji="1" lang="zh-CN" altLang="en-US" sz="1500">
                  <a:solidFill>
                    <a:srgbClr val="3399FF"/>
                  </a:solidFill>
                  <a:latin typeface="Times New Roman" pitchFamily="18" charset="0"/>
                </a:rPr>
                <a:t>绝热线</a:t>
              </a:r>
            </a:p>
          </p:txBody>
        </p:sp>
        <p:sp>
          <p:nvSpPr>
            <p:cNvPr id="20590" name="Rectangle 26"/>
            <p:cNvSpPr>
              <a:spLocks noChangeArrowheads="1"/>
            </p:cNvSpPr>
            <p:nvPr/>
          </p:nvSpPr>
          <p:spPr bwMode="auto">
            <a:xfrm>
              <a:off x="3555" y="1568"/>
              <a:ext cx="480" cy="271"/>
            </a:xfrm>
            <a:prstGeom prst="rect">
              <a:avLst/>
            </a:prstGeom>
            <a:noFill/>
            <a:ln w="9525">
              <a:noFill/>
              <a:miter lim="800000"/>
              <a:headEnd/>
              <a:tailEnd/>
            </a:ln>
          </p:spPr>
          <p:txBody>
            <a:bodyPr wrap="none">
              <a:spAutoFit/>
            </a:bodyPr>
            <a:lstStyle/>
            <a:p>
              <a:r>
                <a:rPr kumimoji="1" lang="zh-CN" altLang="en-US" sz="1500">
                  <a:solidFill>
                    <a:srgbClr val="C00000"/>
                  </a:solidFill>
                  <a:latin typeface="Times New Roman" pitchFamily="18" charset="0"/>
                </a:rPr>
                <a:t>等温线</a:t>
              </a:r>
            </a:p>
          </p:txBody>
        </p:sp>
        <p:sp>
          <p:nvSpPr>
            <p:cNvPr id="20591" name="Text Box 27"/>
            <p:cNvSpPr txBox="1">
              <a:spLocks noChangeArrowheads="1"/>
            </p:cNvSpPr>
            <p:nvPr/>
          </p:nvSpPr>
          <p:spPr bwMode="auto">
            <a:xfrm>
              <a:off x="4794" y="1853"/>
              <a:ext cx="551" cy="271"/>
            </a:xfrm>
            <a:prstGeom prst="rect">
              <a:avLst/>
            </a:prstGeom>
            <a:noFill/>
            <a:ln w="9525">
              <a:noFill/>
              <a:miter lim="800000"/>
              <a:headEnd/>
              <a:tailEnd/>
            </a:ln>
          </p:spPr>
          <p:txBody>
            <a:bodyPr wrap="none">
              <a:spAutoFit/>
            </a:bodyPr>
            <a:lstStyle/>
            <a:p>
              <a:pPr eaLnBrk="0" hangingPunct="0"/>
              <a:r>
                <a:rPr lang="en-US" altLang="zh-CN" sz="1500">
                  <a:solidFill>
                    <a:srgbClr val="000000"/>
                  </a:solidFill>
                  <a:latin typeface="Times New Roman" pitchFamily="18" charset="0"/>
                </a:rPr>
                <a:t>(</a:t>
              </a:r>
              <a:r>
                <a:rPr lang="en-US" altLang="zh-CN" sz="1500" i="1">
                  <a:solidFill>
                    <a:srgbClr val="000000"/>
                  </a:solidFill>
                  <a:latin typeface="Times New Roman" pitchFamily="18" charset="0"/>
                </a:rPr>
                <a:t>p</a:t>
              </a:r>
              <a:r>
                <a:rPr lang="en-US" altLang="zh-CN" sz="1500" baseline="-25000">
                  <a:solidFill>
                    <a:srgbClr val="000000"/>
                  </a:solidFill>
                  <a:latin typeface="Times New Roman" pitchFamily="18" charset="0"/>
                </a:rPr>
                <a:t>2</a:t>
              </a:r>
              <a:r>
                <a:rPr lang="en-US" altLang="zh-CN" sz="1500" i="1">
                  <a:solidFill>
                    <a:srgbClr val="000000"/>
                  </a:solidFill>
                  <a:latin typeface="Times New Roman" pitchFamily="18" charset="0"/>
                </a:rPr>
                <a:t>V</a:t>
              </a:r>
              <a:r>
                <a:rPr lang="en-US" altLang="zh-CN" sz="1500" baseline="-25000">
                  <a:solidFill>
                    <a:srgbClr val="000000"/>
                  </a:solidFill>
                  <a:latin typeface="Times New Roman" pitchFamily="18" charset="0"/>
                </a:rPr>
                <a:t>2</a:t>
              </a:r>
              <a:r>
                <a:rPr lang="en-US" altLang="zh-CN" sz="1500">
                  <a:solidFill>
                    <a:srgbClr val="000000"/>
                  </a:solidFill>
                  <a:latin typeface="Times New Roman" pitchFamily="18" charset="0"/>
                </a:rPr>
                <a:t> </a:t>
              </a:r>
              <a:r>
                <a:rPr lang="en-US" altLang="zh-CN" sz="1500" i="1">
                  <a:solidFill>
                    <a:srgbClr val="000000"/>
                  </a:solidFill>
                  <a:latin typeface="Times New Roman" pitchFamily="18" charset="0"/>
                </a:rPr>
                <a:t>T</a:t>
              </a:r>
              <a:r>
                <a:rPr lang="en-US" altLang="zh-CN" sz="1500" baseline="-25000">
                  <a:solidFill>
                    <a:srgbClr val="000000"/>
                  </a:solidFill>
                  <a:latin typeface="Times New Roman" pitchFamily="18" charset="0"/>
                </a:rPr>
                <a:t>1</a:t>
              </a:r>
              <a:r>
                <a:rPr lang="en-US" altLang="zh-CN" sz="1500">
                  <a:solidFill>
                    <a:srgbClr val="000000"/>
                  </a:solidFill>
                  <a:latin typeface="Times New Roman" pitchFamily="18" charset="0"/>
                </a:rPr>
                <a:t>)</a:t>
              </a:r>
            </a:p>
          </p:txBody>
        </p:sp>
        <p:sp>
          <p:nvSpPr>
            <p:cNvPr id="20592" name="Text Box 28"/>
            <p:cNvSpPr txBox="1">
              <a:spLocks noChangeArrowheads="1"/>
            </p:cNvSpPr>
            <p:nvPr/>
          </p:nvSpPr>
          <p:spPr bwMode="auto">
            <a:xfrm>
              <a:off x="4753" y="2099"/>
              <a:ext cx="551" cy="271"/>
            </a:xfrm>
            <a:prstGeom prst="rect">
              <a:avLst/>
            </a:prstGeom>
            <a:noFill/>
            <a:ln w="9525">
              <a:noFill/>
              <a:miter lim="800000"/>
              <a:headEnd/>
              <a:tailEnd/>
            </a:ln>
          </p:spPr>
          <p:txBody>
            <a:bodyPr wrap="none">
              <a:spAutoFit/>
            </a:bodyPr>
            <a:lstStyle/>
            <a:p>
              <a:pPr eaLnBrk="0" hangingPunct="0"/>
              <a:r>
                <a:rPr lang="en-US" altLang="zh-CN" sz="1500">
                  <a:solidFill>
                    <a:srgbClr val="000000"/>
                  </a:solidFill>
                  <a:latin typeface="Times New Roman" pitchFamily="18" charset="0"/>
                </a:rPr>
                <a:t>(</a:t>
              </a:r>
              <a:r>
                <a:rPr lang="en-US" altLang="zh-CN" sz="1500" i="1">
                  <a:solidFill>
                    <a:srgbClr val="000000"/>
                  </a:solidFill>
                  <a:latin typeface="Times New Roman" pitchFamily="18" charset="0"/>
                </a:rPr>
                <a:t>p</a:t>
              </a:r>
              <a:r>
                <a:rPr lang="en-US" altLang="zh-CN" sz="1500" baseline="-25000">
                  <a:solidFill>
                    <a:srgbClr val="000000"/>
                  </a:solidFill>
                  <a:latin typeface="Times New Roman" pitchFamily="18" charset="0"/>
                </a:rPr>
                <a:t>3</a:t>
              </a:r>
              <a:r>
                <a:rPr lang="en-US" altLang="zh-CN" sz="1500" i="1">
                  <a:solidFill>
                    <a:srgbClr val="000000"/>
                  </a:solidFill>
                  <a:latin typeface="Times New Roman" pitchFamily="18" charset="0"/>
                </a:rPr>
                <a:t>V</a:t>
              </a:r>
              <a:r>
                <a:rPr lang="en-US" altLang="zh-CN" sz="1500" baseline="-25000">
                  <a:solidFill>
                    <a:srgbClr val="000000"/>
                  </a:solidFill>
                  <a:latin typeface="Times New Roman" pitchFamily="18" charset="0"/>
                </a:rPr>
                <a:t>2</a:t>
              </a:r>
              <a:r>
                <a:rPr lang="en-US" altLang="zh-CN" sz="1500">
                  <a:solidFill>
                    <a:srgbClr val="000000"/>
                  </a:solidFill>
                  <a:latin typeface="Times New Roman" pitchFamily="18" charset="0"/>
                </a:rPr>
                <a:t> </a:t>
              </a:r>
              <a:r>
                <a:rPr lang="en-US" altLang="zh-CN" sz="1500" i="1">
                  <a:solidFill>
                    <a:srgbClr val="000000"/>
                  </a:solidFill>
                  <a:latin typeface="Times New Roman" pitchFamily="18" charset="0"/>
                </a:rPr>
                <a:t>T</a:t>
              </a:r>
              <a:r>
                <a:rPr lang="en-US" altLang="zh-CN" sz="1500" i="1" baseline="-25000">
                  <a:solidFill>
                    <a:srgbClr val="000000"/>
                  </a:solidFill>
                  <a:latin typeface="Times New Roman" pitchFamily="18" charset="0"/>
                </a:rPr>
                <a:t>2</a:t>
              </a:r>
              <a:r>
                <a:rPr lang="en-US" altLang="zh-CN" sz="1500">
                  <a:solidFill>
                    <a:srgbClr val="000000"/>
                  </a:solidFill>
                  <a:latin typeface="Times New Roman" pitchFamily="18" charset="0"/>
                </a:rPr>
                <a:t>)</a:t>
              </a:r>
            </a:p>
          </p:txBody>
        </p:sp>
        <p:sp>
          <p:nvSpPr>
            <p:cNvPr id="20593" name="Text Box 29"/>
            <p:cNvSpPr txBox="1">
              <a:spLocks noChangeArrowheads="1"/>
            </p:cNvSpPr>
            <p:nvPr/>
          </p:nvSpPr>
          <p:spPr bwMode="auto">
            <a:xfrm>
              <a:off x="4117" y="2424"/>
              <a:ext cx="249" cy="271"/>
            </a:xfrm>
            <a:prstGeom prst="rect">
              <a:avLst/>
            </a:prstGeom>
            <a:noFill/>
            <a:ln w="9525">
              <a:noFill/>
              <a:miter lim="800000"/>
              <a:headEnd/>
              <a:tailEnd/>
            </a:ln>
          </p:spPr>
          <p:txBody>
            <a:bodyPr wrap="none">
              <a:spAutoFit/>
            </a:bodyPr>
            <a:lstStyle/>
            <a:p>
              <a:pPr eaLnBrk="0" hangingPunct="0"/>
              <a:r>
                <a:rPr lang="en-US" altLang="zh-CN" sz="1500" i="1">
                  <a:solidFill>
                    <a:srgbClr val="1F497D"/>
                  </a:solidFill>
                  <a:latin typeface="Times New Roman" pitchFamily="18" charset="0"/>
                </a:rPr>
                <a:t>V</a:t>
              </a:r>
              <a:r>
                <a:rPr lang="en-US" altLang="zh-CN" sz="1500" baseline="-25000">
                  <a:solidFill>
                    <a:srgbClr val="1F497D"/>
                  </a:solidFill>
                  <a:latin typeface="Times New Roman" pitchFamily="18" charset="0"/>
                </a:rPr>
                <a:t>A</a:t>
              </a:r>
              <a:endParaRPr lang="en-US" altLang="zh-CN" sz="1500">
                <a:solidFill>
                  <a:srgbClr val="1F497D"/>
                </a:solidFill>
                <a:latin typeface="Times New Roman" pitchFamily="18" charset="0"/>
              </a:endParaRPr>
            </a:p>
          </p:txBody>
        </p:sp>
        <p:sp>
          <p:nvSpPr>
            <p:cNvPr id="20594" name="Text Box 30"/>
            <p:cNvSpPr txBox="1">
              <a:spLocks noChangeArrowheads="1"/>
            </p:cNvSpPr>
            <p:nvPr/>
          </p:nvSpPr>
          <p:spPr bwMode="auto">
            <a:xfrm>
              <a:off x="4635" y="2418"/>
              <a:ext cx="300" cy="271"/>
            </a:xfrm>
            <a:prstGeom prst="rect">
              <a:avLst/>
            </a:prstGeom>
            <a:noFill/>
            <a:ln w="9525">
              <a:noFill/>
              <a:miter lim="800000"/>
              <a:headEnd/>
              <a:tailEnd/>
            </a:ln>
          </p:spPr>
          <p:txBody>
            <a:bodyPr>
              <a:spAutoFit/>
            </a:bodyPr>
            <a:lstStyle/>
            <a:p>
              <a:pPr eaLnBrk="0" hangingPunct="0"/>
              <a:r>
                <a:rPr lang="en-US" altLang="zh-CN" sz="1500" i="1">
                  <a:solidFill>
                    <a:srgbClr val="1F497D"/>
                  </a:solidFill>
                  <a:latin typeface="Times New Roman" pitchFamily="18" charset="0"/>
                </a:rPr>
                <a:t>V</a:t>
              </a:r>
              <a:r>
                <a:rPr lang="en-US" altLang="zh-CN" sz="1500" baseline="-25000">
                  <a:solidFill>
                    <a:srgbClr val="1F497D"/>
                  </a:solidFill>
                  <a:latin typeface="Times New Roman" pitchFamily="18" charset="0"/>
                </a:rPr>
                <a:t>2</a:t>
              </a:r>
              <a:endParaRPr lang="en-US" altLang="zh-CN" sz="1500">
                <a:solidFill>
                  <a:srgbClr val="1F497D"/>
                </a:solidFill>
                <a:latin typeface="Times New Roman" pitchFamily="18" charset="0"/>
              </a:endParaRPr>
            </a:p>
          </p:txBody>
        </p:sp>
        <p:sp>
          <p:nvSpPr>
            <p:cNvPr id="20595" name="Text Box 31"/>
            <p:cNvSpPr txBox="1">
              <a:spLocks noChangeArrowheads="1"/>
            </p:cNvSpPr>
            <p:nvPr/>
          </p:nvSpPr>
          <p:spPr bwMode="auto">
            <a:xfrm>
              <a:off x="3375" y="1683"/>
              <a:ext cx="258" cy="271"/>
            </a:xfrm>
            <a:prstGeom prst="rect">
              <a:avLst/>
            </a:prstGeom>
            <a:noFill/>
            <a:ln w="9525">
              <a:noFill/>
              <a:miter lim="800000"/>
              <a:headEnd/>
              <a:tailEnd/>
            </a:ln>
          </p:spPr>
          <p:txBody>
            <a:bodyPr>
              <a:spAutoFit/>
            </a:bodyPr>
            <a:lstStyle/>
            <a:p>
              <a:pPr eaLnBrk="0" hangingPunct="0"/>
              <a:r>
                <a:rPr lang="en-US" altLang="zh-CN" sz="1500" i="1">
                  <a:solidFill>
                    <a:srgbClr val="1F497D"/>
                  </a:solidFill>
                  <a:latin typeface="Times New Roman" pitchFamily="18" charset="0"/>
                </a:rPr>
                <a:t>p</a:t>
              </a:r>
              <a:r>
                <a:rPr lang="en-US" altLang="zh-CN" sz="1500" i="1" baseline="-25000">
                  <a:solidFill>
                    <a:srgbClr val="1F497D"/>
                  </a:solidFill>
                  <a:latin typeface="Times New Roman" pitchFamily="18" charset="0"/>
                </a:rPr>
                <a:t>A</a:t>
              </a:r>
              <a:endParaRPr lang="en-US" altLang="zh-CN" sz="1500" i="1">
                <a:solidFill>
                  <a:srgbClr val="1F497D"/>
                </a:solidFill>
                <a:latin typeface="Times New Roman" pitchFamily="18" charset="0"/>
              </a:endParaRPr>
            </a:p>
          </p:txBody>
        </p:sp>
      </p:grpSp>
      <p:sp>
        <p:nvSpPr>
          <p:cNvPr id="96288" name="Text Box 32"/>
          <p:cNvSpPr txBox="1">
            <a:spLocks noChangeArrowheads="1"/>
          </p:cNvSpPr>
          <p:nvPr/>
        </p:nvSpPr>
        <p:spPr bwMode="auto">
          <a:xfrm>
            <a:off x="793750" y="1579563"/>
            <a:ext cx="1978025" cy="376237"/>
          </a:xfrm>
          <a:prstGeom prst="rect">
            <a:avLst/>
          </a:prstGeom>
          <a:noFill/>
          <a:ln w="9525">
            <a:noFill/>
            <a:miter lim="800000"/>
            <a:headEnd/>
            <a:tailEnd/>
          </a:ln>
        </p:spPr>
        <p:txBody>
          <a:bodyPr>
            <a:spAutoFit/>
          </a:bodyPr>
          <a:lstStyle/>
          <a:p>
            <a:pPr eaLnBrk="0" hangingPunct="0">
              <a:lnSpc>
                <a:spcPct val="110000"/>
              </a:lnSpc>
            </a:pPr>
            <a:r>
              <a:rPr lang="zh-CN" altLang="en-US" b="1">
                <a:solidFill>
                  <a:srgbClr val="C00000"/>
                </a:solidFill>
                <a:latin typeface="华文中宋"/>
                <a:ea typeface="华文中宋"/>
                <a:cs typeface="华文中宋"/>
              </a:rPr>
              <a:t>等温过程： </a:t>
            </a:r>
          </a:p>
        </p:txBody>
      </p:sp>
      <p:graphicFrame>
        <p:nvGraphicFramePr>
          <p:cNvPr id="96289" name="Object 82"/>
          <p:cNvGraphicFramePr>
            <a:graphicFrameLocks noChangeAspect="1"/>
          </p:cNvGraphicFramePr>
          <p:nvPr/>
        </p:nvGraphicFramePr>
        <p:xfrm>
          <a:off x="2187575" y="1616075"/>
          <a:ext cx="1808163" cy="333375"/>
        </p:xfrm>
        <a:graphic>
          <a:graphicData uri="http://schemas.openxmlformats.org/presentationml/2006/ole">
            <p:oleObj spid="_x0000_s20562" name="公式" r:id="rId3" imgW="875920" imgH="215806" progId="Equation.3">
              <p:embed/>
            </p:oleObj>
          </a:graphicData>
        </a:graphic>
      </p:graphicFrame>
      <p:graphicFrame>
        <p:nvGraphicFramePr>
          <p:cNvPr id="96291" name="Object 83"/>
          <p:cNvGraphicFramePr>
            <a:graphicFrameLocks noChangeAspect="1"/>
          </p:cNvGraphicFramePr>
          <p:nvPr/>
        </p:nvGraphicFramePr>
        <p:xfrm>
          <a:off x="2211388" y="2136775"/>
          <a:ext cx="2830512" cy="603250"/>
        </p:xfrm>
        <a:graphic>
          <a:graphicData uri="http://schemas.openxmlformats.org/presentationml/2006/ole">
            <p:oleObj spid="_x0000_s20563" name="Equation" r:id="rId4" imgW="1384300" imgH="393700" progId="Equation.DSMT4">
              <p:embed/>
            </p:oleObj>
          </a:graphicData>
        </a:graphic>
      </p:graphicFrame>
      <p:graphicFrame>
        <p:nvGraphicFramePr>
          <p:cNvPr id="96292" name="Object 84"/>
          <p:cNvGraphicFramePr>
            <a:graphicFrameLocks noChangeAspect="1"/>
          </p:cNvGraphicFramePr>
          <p:nvPr/>
        </p:nvGraphicFramePr>
        <p:xfrm>
          <a:off x="5075238" y="2073275"/>
          <a:ext cx="1009650" cy="696913"/>
        </p:xfrm>
        <a:graphic>
          <a:graphicData uri="http://schemas.openxmlformats.org/presentationml/2006/ole">
            <p:oleObj spid="_x0000_s20564" name="公式" r:id="rId5" imgW="482391" imgH="444307" progId="Equation.3">
              <p:embed/>
            </p:oleObj>
          </a:graphicData>
        </a:graphic>
      </p:graphicFrame>
      <p:sp>
        <p:nvSpPr>
          <p:cNvPr id="96293" name="Text Box 37"/>
          <p:cNvSpPr txBox="1">
            <a:spLocks noChangeArrowheads="1"/>
          </p:cNvSpPr>
          <p:nvPr/>
        </p:nvSpPr>
        <p:spPr bwMode="auto">
          <a:xfrm>
            <a:off x="815975" y="2917825"/>
            <a:ext cx="1989138" cy="376238"/>
          </a:xfrm>
          <a:prstGeom prst="rect">
            <a:avLst/>
          </a:prstGeom>
          <a:noFill/>
          <a:ln w="9525">
            <a:noFill/>
            <a:miter lim="800000"/>
            <a:headEnd/>
            <a:tailEnd/>
          </a:ln>
        </p:spPr>
        <p:txBody>
          <a:bodyPr>
            <a:spAutoFit/>
          </a:bodyPr>
          <a:lstStyle/>
          <a:p>
            <a:pPr eaLnBrk="0" hangingPunct="0">
              <a:lnSpc>
                <a:spcPct val="110000"/>
              </a:lnSpc>
            </a:pPr>
            <a:r>
              <a:rPr lang="zh-CN" altLang="en-US" b="1">
                <a:solidFill>
                  <a:srgbClr val="C00000"/>
                </a:solidFill>
                <a:latin typeface="华文中宋"/>
                <a:ea typeface="华文中宋"/>
                <a:cs typeface="华文中宋"/>
              </a:rPr>
              <a:t>绝热过程：</a:t>
            </a:r>
          </a:p>
        </p:txBody>
      </p:sp>
      <p:graphicFrame>
        <p:nvGraphicFramePr>
          <p:cNvPr id="96294" name="Object 85"/>
          <p:cNvGraphicFramePr>
            <a:graphicFrameLocks noChangeAspect="1"/>
          </p:cNvGraphicFramePr>
          <p:nvPr/>
        </p:nvGraphicFramePr>
        <p:xfrm>
          <a:off x="2195513" y="2921000"/>
          <a:ext cx="2254250" cy="406400"/>
        </p:xfrm>
        <a:graphic>
          <a:graphicData uri="http://schemas.openxmlformats.org/presentationml/2006/ole">
            <p:oleObj spid="_x0000_s20565" name="公式" r:id="rId6" imgW="1002865" imgH="241195" progId="Equation.3">
              <p:embed/>
            </p:oleObj>
          </a:graphicData>
        </a:graphic>
      </p:graphicFrame>
      <p:graphicFrame>
        <p:nvGraphicFramePr>
          <p:cNvPr id="96296" name="Object 86"/>
          <p:cNvGraphicFramePr>
            <a:graphicFrameLocks noChangeAspect="1"/>
          </p:cNvGraphicFramePr>
          <p:nvPr/>
        </p:nvGraphicFramePr>
        <p:xfrm>
          <a:off x="2236788" y="3468688"/>
          <a:ext cx="2767012" cy="581025"/>
        </p:xfrm>
        <a:graphic>
          <a:graphicData uri="http://schemas.openxmlformats.org/presentationml/2006/ole">
            <p:oleObj spid="_x0000_s20566" name="Equation" r:id="rId7" imgW="1498600" imgH="419100" progId="Equation.DSMT4">
              <p:embed/>
            </p:oleObj>
          </a:graphicData>
        </a:graphic>
      </p:graphicFrame>
      <p:graphicFrame>
        <p:nvGraphicFramePr>
          <p:cNvPr id="96297" name="Object 87"/>
          <p:cNvGraphicFramePr>
            <a:graphicFrameLocks noChangeAspect="1"/>
          </p:cNvGraphicFramePr>
          <p:nvPr/>
        </p:nvGraphicFramePr>
        <p:xfrm>
          <a:off x="4932363" y="3452813"/>
          <a:ext cx="1084262" cy="631825"/>
        </p:xfrm>
        <a:graphic>
          <a:graphicData uri="http://schemas.openxmlformats.org/presentationml/2006/ole">
            <p:oleObj spid="_x0000_s20567" name="公式" r:id="rId8" imgW="571252" imgH="444307" progId="Equation.3">
              <p:embed/>
            </p:oleObj>
          </a:graphicData>
        </a:graphic>
      </p:graphicFrame>
      <p:sp>
        <p:nvSpPr>
          <p:cNvPr id="96298" name="Text Box 42"/>
          <p:cNvSpPr txBox="1">
            <a:spLocks noChangeArrowheads="1"/>
          </p:cNvSpPr>
          <p:nvPr/>
        </p:nvSpPr>
        <p:spPr bwMode="auto">
          <a:xfrm>
            <a:off x="1619250" y="4227513"/>
            <a:ext cx="958850" cy="374650"/>
          </a:xfrm>
          <a:prstGeom prst="rect">
            <a:avLst/>
          </a:prstGeom>
          <a:noFill/>
          <a:ln w="9525">
            <a:noFill/>
            <a:miter lim="800000"/>
            <a:headEnd/>
            <a:tailEnd/>
          </a:ln>
        </p:spPr>
        <p:txBody>
          <a:bodyPr>
            <a:spAutoFit/>
          </a:bodyPr>
          <a:lstStyle/>
          <a:p>
            <a:pPr algn="ctr" eaLnBrk="0" hangingPunct="0">
              <a:lnSpc>
                <a:spcPct val="110000"/>
              </a:lnSpc>
            </a:pPr>
            <a:r>
              <a:rPr lang="en-US" altLang="zh-CN" b="1">
                <a:solidFill>
                  <a:srgbClr val="0000FF"/>
                </a:solidFill>
                <a:latin typeface="Times New Roman" pitchFamily="18" charset="0"/>
                <a:sym typeface="Symbol" pitchFamily="18" charset="2"/>
              </a:rPr>
              <a:t></a:t>
            </a:r>
            <a:r>
              <a:rPr lang="en-US" altLang="zh-CN" b="1">
                <a:solidFill>
                  <a:srgbClr val="0000FF"/>
                </a:solidFill>
                <a:latin typeface="Times New Roman" pitchFamily="18" charset="0"/>
              </a:rPr>
              <a:t>&gt; 1</a:t>
            </a:r>
          </a:p>
        </p:txBody>
      </p:sp>
      <p:graphicFrame>
        <p:nvGraphicFramePr>
          <p:cNvPr id="96302" name="Object 88"/>
          <p:cNvGraphicFramePr>
            <a:graphicFrameLocks noChangeAspect="1"/>
          </p:cNvGraphicFramePr>
          <p:nvPr/>
        </p:nvGraphicFramePr>
        <p:xfrm>
          <a:off x="2555875" y="4084638"/>
          <a:ext cx="1673225" cy="600075"/>
        </p:xfrm>
        <a:graphic>
          <a:graphicData uri="http://schemas.openxmlformats.org/presentationml/2006/ole">
            <p:oleObj spid="_x0000_s20568" name="Equation" r:id="rId9" imgW="901309" imgH="431613" progId="Equation.DSMT4">
              <p:embed/>
            </p:oleObj>
          </a:graphicData>
        </a:graphic>
      </p:graphicFrame>
      <p:graphicFrame>
        <p:nvGraphicFramePr>
          <p:cNvPr id="96303" name="Object 89"/>
          <p:cNvGraphicFramePr>
            <a:graphicFrameLocks noChangeAspect="1"/>
          </p:cNvGraphicFramePr>
          <p:nvPr/>
        </p:nvGraphicFramePr>
        <p:xfrm>
          <a:off x="4211638" y="4084638"/>
          <a:ext cx="1714500" cy="608012"/>
        </p:xfrm>
        <a:graphic>
          <a:graphicData uri="http://schemas.openxmlformats.org/presentationml/2006/ole">
            <p:oleObj spid="_x0000_s20569" name="Equation" r:id="rId10" imgW="914400" imgH="431800" progId="Equation.DSMT4">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6265"/>
                                        </p:tgtEl>
                                        <p:attrNameLst>
                                          <p:attrName>style.visibility</p:attrName>
                                        </p:attrNameLst>
                                      </p:cBhvr>
                                      <p:to>
                                        <p:strVal val="visible"/>
                                      </p:to>
                                    </p:set>
                                    <p:animEffect transition="in" filter="wipe(left)">
                                      <p:cBhvr>
                                        <p:cTn id="7" dur="500"/>
                                        <p:tgtEl>
                                          <p:spTgt spid="9626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6266"/>
                                        </p:tgtEl>
                                        <p:attrNameLst>
                                          <p:attrName>style.visibility</p:attrName>
                                        </p:attrNameLst>
                                      </p:cBhvr>
                                      <p:to>
                                        <p:strVal val="visible"/>
                                      </p:to>
                                    </p:set>
                                    <p:animEffect transition="in" filter="wipe(left)">
                                      <p:cBhvr>
                                        <p:cTn id="12" dur="500"/>
                                        <p:tgtEl>
                                          <p:spTgt spid="9626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3" presetClass="entr" presetSubtype="16"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p:cTn id="17" dur="500" fill="hold"/>
                                        <p:tgtEl>
                                          <p:spTgt spid="2"/>
                                        </p:tgtEl>
                                        <p:attrNameLst>
                                          <p:attrName>ppt_w</p:attrName>
                                        </p:attrNameLst>
                                      </p:cBhvr>
                                      <p:tavLst>
                                        <p:tav tm="0">
                                          <p:val>
                                            <p:fltVal val="0"/>
                                          </p:val>
                                        </p:tav>
                                        <p:tav tm="100000">
                                          <p:val>
                                            <p:strVal val="#ppt_w"/>
                                          </p:val>
                                        </p:tav>
                                      </p:tavLst>
                                    </p:anim>
                                    <p:anim calcmode="lin" valueType="num">
                                      <p:cBhvr>
                                        <p:cTn id="18" dur="500" fill="hold"/>
                                        <p:tgtEl>
                                          <p:spTgt spid="2"/>
                                        </p:tgtEl>
                                        <p:attrNameLst>
                                          <p:attrName>ppt_h</p:attrName>
                                        </p:attrNameLst>
                                      </p:cBhvr>
                                      <p:tavLst>
                                        <p:tav tm="0">
                                          <p:val>
                                            <p:fltVal val="0"/>
                                          </p:val>
                                        </p:tav>
                                        <p:tav tm="100000">
                                          <p:val>
                                            <p:strVal val="#ppt_h"/>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96288"/>
                                        </p:tgtEl>
                                        <p:attrNameLst>
                                          <p:attrName>style.visibility</p:attrName>
                                        </p:attrNameLst>
                                      </p:cBhvr>
                                      <p:to>
                                        <p:strVal val="visible"/>
                                      </p:to>
                                    </p:set>
                                    <p:animEffect transition="in" filter="wipe(left)">
                                      <p:cBhvr>
                                        <p:cTn id="23" dur="500"/>
                                        <p:tgtEl>
                                          <p:spTgt spid="96288"/>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nodeType="clickEffect">
                                  <p:stCondLst>
                                    <p:cond delay="0"/>
                                  </p:stCondLst>
                                  <p:childTnLst>
                                    <p:set>
                                      <p:cBhvr>
                                        <p:cTn id="27" dur="1" fill="hold">
                                          <p:stCondLst>
                                            <p:cond delay="0"/>
                                          </p:stCondLst>
                                        </p:cTn>
                                        <p:tgtEl>
                                          <p:spTgt spid="96289"/>
                                        </p:tgtEl>
                                        <p:attrNameLst>
                                          <p:attrName>style.visibility</p:attrName>
                                        </p:attrNameLst>
                                      </p:cBhvr>
                                      <p:to>
                                        <p:strVal val="visible"/>
                                      </p:to>
                                    </p:set>
                                    <p:animEffect transition="in" filter="wipe(left)">
                                      <p:cBhvr>
                                        <p:cTn id="28" dur="500"/>
                                        <p:tgtEl>
                                          <p:spTgt spid="96289"/>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nodeType="clickEffect">
                                  <p:stCondLst>
                                    <p:cond delay="0"/>
                                  </p:stCondLst>
                                  <p:childTnLst>
                                    <p:set>
                                      <p:cBhvr>
                                        <p:cTn id="32" dur="1" fill="hold">
                                          <p:stCondLst>
                                            <p:cond delay="0"/>
                                          </p:stCondLst>
                                        </p:cTn>
                                        <p:tgtEl>
                                          <p:spTgt spid="96291"/>
                                        </p:tgtEl>
                                        <p:attrNameLst>
                                          <p:attrName>style.visibility</p:attrName>
                                        </p:attrNameLst>
                                      </p:cBhvr>
                                      <p:to>
                                        <p:strVal val="visible"/>
                                      </p:to>
                                    </p:set>
                                    <p:animEffect transition="in" filter="wipe(left)">
                                      <p:cBhvr>
                                        <p:cTn id="33" dur="500"/>
                                        <p:tgtEl>
                                          <p:spTgt spid="96291"/>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nodeType="clickEffect">
                                  <p:stCondLst>
                                    <p:cond delay="0"/>
                                  </p:stCondLst>
                                  <p:childTnLst>
                                    <p:set>
                                      <p:cBhvr>
                                        <p:cTn id="37" dur="1" fill="hold">
                                          <p:stCondLst>
                                            <p:cond delay="0"/>
                                          </p:stCondLst>
                                        </p:cTn>
                                        <p:tgtEl>
                                          <p:spTgt spid="96292"/>
                                        </p:tgtEl>
                                        <p:attrNameLst>
                                          <p:attrName>style.visibility</p:attrName>
                                        </p:attrNameLst>
                                      </p:cBhvr>
                                      <p:to>
                                        <p:strVal val="visible"/>
                                      </p:to>
                                    </p:set>
                                    <p:animEffect transition="in" filter="wipe(left)">
                                      <p:cBhvr>
                                        <p:cTn id="38" dur="500"/>
                                        <p:tgtEl>
                                          <p:spTgt spid="96292"/>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96293"/>
                                        </p:tgtEl>
                                        <p:attrNameLst>
                                          <p:attrName>style.visibility</p:attrName>
                                        </p:attrNameLst>
                                      </p:cBhvr>
                                      <p:to>
                                        <p:strVal val="visible"/>
                                      </p:to>
                                    </p:set>
                                    <p:animEffect transition="in" filter="wipe(left)">
                                      <p:cBhvr>
                                        <p:cTn id="43" dur="500"/>
                                        <p:tgtEl>
                                          <p:spTgt spid="96293"/>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nodeType="clickEffect">
                                  <p:stCondLst>
                                    <p:cond delay="0"/>
                                  </p:stCondLst>
                                  <p:childTnLst>
                                    <p:set>
                                      <p:cBhvr>
                                        <p:cTn id="47" dur="1" fill="hold">
                                          <p:stCondLst>
                                            <p:cond delay="0"/>
                                          </p:stCondLst>
                                        </p:cTn>
                                        <p:tgtEl>
                                          <p:spTgt spid="96294"/>
                                        </p:tgtEl>
                                        <p:attrNameLst>
                                          <p:attrName>style.visibility</p:attrName>
                                        </p:attrNameLst>
                                      </p:cBhvr>
                                      <p:to>
                                        <p:strVal val="visible"/>
                                      </p:to>
                                    </p:set>
                                    <p:animEffect transition="in" filter="wipe(left)">
                                      <p:cBhvr>
                                        <p:cTn id="48" dur="500"/>
                                        <p:tgtEl>
                                          <p:spTgt spid="96294"/>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8" fill="hold" nodeType="clickEffect">
                                  <p:stCondLst>
                                    <p:cond delay="0"/>
                                  </p:stCondLst>
                                  <p:childTnLst>
                                    <p:set>
                                      <p:cBhvr>
                                        <p:cTn id="52" dur="1" fill="hold">
                                          <p:stCondLst>
                                            <p:cond delay="0"/>
                                          </p:stCondLst>
                                        </p:cTn>
                                        <p:tgtEl>
                                          <p:spTgt spid="96296"/>
                                        </p:tgtEl>
                                        <p:attrNameLst>
                                          <p:attrName>style.visibility</p:attrName>
                                        </p:attrNameLst>
                                      </p:cBhvr>
                                      <p:to>
                                        <p:strVal val="visible"/>
                                      </p:to>
                                    </p:set>
                                    <p:animEffect transition="in" filter="wipe(left)">
                                      <p:cBhvr>
                                        <p:cTn id="53" dur="500"/>
                                        <p:tgtEl>
                                          <p:spTgt spid="96296"/>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2" presetClass="entr" presetSubtype="8" fill="hold" nodeType="clickEffect">
                                  <p:stCondLst>
                                    <p:cond delay="0"/>
                                  </p:stCondLst>
                                  <p:childTnLst>
                                    <p:set>
                                      <p:cBhvr>
                                        <p:cTn id="57" dur="1" fill="hold">
                                          <p:stCondLst>
                                            <p:cond delay="0"/>
                                          </p:stCondLst>
                                        </p:cTn>
                                        <p:tgtEl>
                                          <p:spTgt spid="96297"/>
                                        </p:tgtEl>
                                        <p:attrNameLst>
                                          <p:attrName>style.visibility</p:attrName>
                                        </p:attrNameLst>
                                      </p:cBhvr>
                                      <p:to>
                                        <p:strVal val="visible"/>
                                      </p:to>
                                    </p:set>
                                    <p:animEffect transition="in" filter="wipe(left)">
                                      <p:cBhvr>
                                        <p:cTn id="58" dur="500"/>
                                        <p:tgtEl>
                                          <p:spTgt spid="96297"/>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22" presetClass="entr" presetSubtype="8" fill="hold" grpId="0" nodeType="clickEffect">
                                  <p:stCondLst>
                                    <p:cond delay="0"/>
                                  </p:stCondLst>
                                  <p:childTnLst>
                                    <p:set>
                                      <p:cBhvr>
                                        <p:cTn id="62" dur="1" fill="hold">
                                          <p:stCondLst>
                                            <p:cond delay="0"/>
                                          </p:stCondLst>
                                        </p:cTn>
                                        <p:tgtEl>
                                          <p:spTgt spid="96298"/>
                                        </p:tgtEl>
                                        <p:attrNameLst>
                                          <p:attrName>style.visibility</p:attrName>
                                        </p:attrNameLst>
                                      </p:cBhvr>
                                      <p:to>
                                        <p:strVal val="visible"/>
                                      </p:to>
                                    </p:set>
                                    <p:animEffect transition="in" filter="wipe(left)">
                                      <p:cBhvr>
                                        <p:cTn id="63" dur="500"/>
                                        <p:tgtEl>
                                          <p:spTgt spid="96298"/>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22" presetClass="entr" presetSubtype="8" fill="hold" nodeType="clickEffect">
                                  <p:stCondLst>
                                    <p:cond delay="0"/>
                                  </p:stCondLst>
                                  <p:childTnLst>
                                    <p:set>
                                      <p:cBhvr>
                                        <p:cTn id="67" dur="1" fill="hold">
                                          <p:stCondLst>
                                            <p:cond delay="0"/>
                                          </p:stCondLst>
                                        </p:cTn>
                                        <p:tgtEl>
                                          <p:spTgt spid="96302"/>
                                        </p:tgtEl>
                                        <p:attrNameLst>
                                          <p:attrName>style.visibility</p:attrName>
                                        </p:attrNameLst>
                                      </p:cBhvr>
                                      <p:to>
                                        <p:strVal val="visible"/>
                                      </p:to>
                                    </p:set>
                                    <p:animEffect transition="in" filter="wipe(left)">
                                      <p:cBhvr>
                                        <p:cTn id="68" dur="500"/>
                                        <p:tgtEl>
                                          <p:spTgt spid="96302"/>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22" presetClass="entr" presetSubtype="8" fill="hold" nodeType="clickEffect">
                                  <p:stCondLst>
                                    <p:cond delay="0"/>
                                  </p:stCondLst>
                                  <p:childTnLst>
                                    <p:set>
                                      <p:cBhvr>
                                        <p:cTn id="72" dur="1" fill="hold">
                                          <p:stCondLst>
                                            <p:cond delay="0"/>
                                          </p:stCondLst>
                                        </p:cTn>
                                        <p:tgtEl>
                                          <p:spTgt spid="96303"/>
                                        </p:tgtEl>
                                        <p:attrNameLst>
                                          <p:attrName>style.visibility</p:attrName>
                                        </p:attrNameLst>
                                      </p:cBhvr>
                                      <p:to>
                                        <p:strVal val="visible"/>
                                      </p:to>
                                    </p:set>
                                    <p:animEffect transition="in" filter="wipe(left)">
                                      <p:cBhvr>
                                        <p:cTn id="73" dur="500"/>
                                        <p:tgtEl>
                                          <p:spTgt spid="963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265" grpId="0" autoUpdateAnimBg="0"/>
      <p:bldP spid="96266" grpId="0" autoUpdateAnimBg="0"/>
      <p:bldP spid="96288" grpId="0" autoUpdateAnimBg="0"/>
      <p:bldP spid="96293" grpId="0"/>
      <p:bldP spid="96298"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9" name="Text Box 5"/>
          <p:cNvSpPr txBox="1">
            <a:spLocks noChangeArrowheads="1"/>
          </p:cNvSpPr>
          <p:nvPr/>
        </p:nvSpPr>
        <p:spPr bwMode="auto">
          <a:xfrm>
            <a:off x="322263" y="1409700"/>
            <a:ext cx="2449512" cy="369888"/>
          </a:xfrm>
          <a:prstGeom prst="rect">
            <a:avLst/>
          </a:prstGeom>
          <a:noFill/>
          <a:ln w="9525">
            <a:noFill/>
            <a:miter lim="800000"/>
            <a:headEnd/>
            <a:tailEnd/>
          </a:ln>
        </p:spPr>
        <p:txBody>
          <a:bodyPr>
            <a:spAutoFit/>
          </a:bodyPr>
          <a:lstStyle/>
          <a:p>
            <a:pPr eaLnBrk="0" hangingPunct="0"/>
            <a:r>
              <a:rPr lang="zh-CN" altLang="en-US" b="1">
                <a:solidFill>
                  <a:srgbClr val="C0504D"/>
                </a:solidFill>
                <a:latin typeface="华文中宋"/>
                <a:ea typeface="华文中宋"/>
                <a:cs typeface="华文中宋"/>
              </a:rPr>
              <a:t>１、过程方程</a:t>
            </a:r>
            <a:endParaRPr lang="zh-CN" altLang="en-US" b="1">
              <a:solidFill>
                <a:srgbClr val="000000"/>
              </a:solidFill>
              <a:latin typeface="华文中宋"/>
              <a:ea typeface="华文中宋"/>
              <a:cs typeface="华文中宋"/>
            </a:endParaRPr>
          </a:p>
        </p:txBody>
      </p:sp>
      <p:sp>
        <p:nvSpPr>
          <p:cNvPr id="31752" name="Text Box 8"/>
          <p:cNvSpPr txBox="1">
            <a:spLocks noChangeArrowheads="1"/>
          </p:cNvSpPr>
          <p:nvPr/>
        </p:nvSpPr>
        <p:spPr bwMode="auto">
          <a:xfrm>
            <a:off x="2443163" y="1698625"/>
            <a:ext cx="793750" cy="368300"/>
          </a:xfrm>
          <a:prstGeom prst="rect">
            <a:avLst/>
          </a:prstGeom>
          <a:noFill/>
          <a:ln w="9525">
            <a:noFill/>
            <a:miter lim="800000"/>
            <a:headEnd/>
            <a:tailEnd/>
          </a:ln>
        </p:spPr>
        <p:txBody>
          <a:bodyPr>
            <a:spAutoFit/>
          </a:bodyPr>
          <a:lstStyle/>
          <a:p>
            <a:pPr eaLnBrk="0" hangingPunct="0"/>
            <a:r>
              <a:rPr lang="zh-CN" altLang="en-US" b="1">
                <a:solidFill>
                  <a:srgbClr val="000000"/>
                </a:solidFill>
                <a:latin typeface="华文中宋"/>
                <a:ea typeface="华文中宋"/>
                <a:cs typeface="华文中宋"/>
              </a:rPr>
              <a:t>仿照</a:t>
            </a:r>
          </a:p>
        </p:txBody>
      </p:sp>
      <p:graphicFrame>
        <p:nvGraphicFramePr>
          <p:cNvPr id="31753" name="Object 72"/>
          <p:cNvGraphicFramePr>
            <a:graphicFrameLocks noChangeAspect="1"/>
          </p:cNvGraphicFramePr>
          <p:nvPr/>
        </p:nvGraphicFramePr>
        <p:xfrm>
          <a:off x="5189538" y="2157413"/>
          <a:ext cx="1327150" cy="279400"/>
        </p:xfrm>
        <a:graphic>
          <a:graphicData uri="http://schemas.openxmlformats.org/presentationml/2006/ole">
            <p:oleObj spid="_x0000_s21576" name="Equation" r:id="rId3" imgW="837836" imgH="203112" progId="Equation.DSMT4">
              <p:embed/>
            </p:oleObj>
          </a:graphicData>
        </a:graphic>
      </p:graphicFrame>
      <p:sp>
        <p:nvSpPr>
          <p:cNvPr id="31754" name="Text Box 10"/>
          <p:cNvSpPr txBox="1">
            <a:spLocks noChangeArrowheads="1"/>
          </p:cNvSpPr>
          <p:nvPr/>
        </p:nvSpPr>
        <p:spPr bwMode="auto">
          <a:xfrm>
            <a:off x="827088" y="2517775"/>
            <a:ext cx="6754812" cy="368300"/>
          </a:xfrm>
          <a:prstGeom prst="rect">
            <a:avLst/>
          </a:prstGeom>
          <a:noFill/>
          <a:ln w="9525">
            <a:noFill/>
            <a:miter lim="800000"/>
            <a:headEnd/>
            <a:tailEnd/>
          </a:ln>
        </p:spPr>
        <p:txBody>
          <a:bodyPr>
            <a:spAutoFit/>
          </a:bodyPr>
          <a:lstStyle/>
          <a:p>
            <a:pPr eaLnBrk="0" hangingPunct="0"/>
            <a:r>
              <a:rPr lang="en-US" altLang="zh-CN" b="1" i="1">
                <a:solidFill>
                  <a:srgbClr val="000000"/>
                </a:solidFill>
                <a:latin typeface="Times New Roman" pitchFamily="18" charset="0"/>
                <a:ea typeface="华文中宋"/>
                <a:cs typeface="华文中宋"/>
              </a:rPr>
              <a:t>n</a:t>
            </a:r>
            <a:r>
              <a:rPr lang="zh-CN" altLang="en-US" b="1">
                <a:solidFill>
                  <a:srgbClr val="000000"/>
                </a:solidFill>
                <a:latin typeface="Times New Roman" pitchFamily="18" charset="0"/>
                <a:ea typeface="华文中宋"/>
                <a:cs typeface="华文中宋"/>
              </a:rPr>
              <a:t>称多方指数，可依据具体过程用实验方法确定。</a:t>
            </a:r>
          </a:p>
        </p:txBody>
      </p:sp>
      <p:sp>
        <p:nvSpPr>
          <p:cNvPr id="31755" name="Text Box 11"/>
          <p:cNvSpPr txBox="1">
            <a:spLocks noChangeArrowheads="1"/>
          </p:cNvSpPr>
          <p:nvPr/>
        </p:nvSpPr>
        <p:spPr bwMode="auto">
          <a:xfrm>
            <a:off x="323850" y="2922588"/>
            <a:ext cx="7194550" cy="369887"/>
          </a:xfrm>
          <a:prstGeom prst="rect">
            <a:avLst/>
          </a:prstGeom>
          <a:noFill/>
          <a:ln w="9525">
            <a:noFill/>
            <a:miter lim="800000"/>
            <a:headEnd/>
            <a:tailEnd/>
          </a:ln>
        </p:spPr>
        <p:txBody>
          <a:bodyPr>
            <a:spAutoFit/>
          </a:bodyPr>
          <a:lstStyle/>
          <a:p>
            <a:pPr eaLnBrk="0" hangingPunct="0"/>
            <a:r>
              <a:rPr lang="zh-CN" altLang="en-US" b="1">
                <a:solidFill>
                  <a:srgbClr val="C0504D"/>
                </a:solidFill>
                <a:latin typeface="华文中宋"/>
                <a:ea typeface="华文中宋"/>
                <a:cs typeface="华文中宋"/>
              </a:rPr>
              <a:t>２、前面所计论的四种过程仅仅是多方过程的特例：</a:t>
            </a:r>
            <a:endParaRPr lang="zh-CN" altLang="en-US" b="1">
              <a:solidFill>
                <a:srgbClr val="000000"/>
              </a:solidFill>
              <a:latin typeface="华文中宋"/>
              <a:ea typeface="华文中宋"/>
              <a:cs typeface="华文中宋"/>
            </a:endParaRPr>
          </a:p>
        </p:txBody>
      </p:sp>
      <p:sp>
        <p:nvSpPr>
          <p:cNvPr id="31756" name="Text Box 12"/>
          <p:cNvSpPr txBox="1">
            <a:spLocks noChangeArrowheads="1"/>
          </p:cNvSpPr>
          <p:nvPr/>
        </p:nvSpPr>
        <p:spPr bwMode="auto">
          <a:xfrm>
            <a:off x="2555875" y="4427538"/>
            <a:ext cx="1403350" cy="338137"/>
          </a:xfrm>
          <a:prstGeom prst="rect">
            <a:avLst/>
          </a:prstGeom>
          <a:noFill/>
          <a:ln w="9525">
            <a:noFill/>
            <a:miter lim="800000"/>
            <a:headEnd/>
            <a:tailEnd/>
          </a:ln>
        </p:spPr>
        <p:txBody>
          <a:bodyPr>
            <a:spAutoFit/>
          </a:bodyPr>
          <a:lstStyle/>
          <a:p>
            <a:r>
              <a:rPr lang="zh-CN" altLang="en-US" sz="1600" b="1">
                <a:solidFill>
                  <a:srgbClr val="000000"/>
                </a:solidFill>
                <a:latin typeface="Times New Roman" pitchFamily="18" charset="0"/>
                <a:ea typeface="华文中宋"/>
                <a:cs typeface="华文中宋"/>
              </a:rPr>
              <a:t>等容过程</a:t>
            </a:r>
          </a:p>
        </p:txBody>
      </p:sp>
      <p:grpSp>
        <p:nvGrpSpPr>
          <p:cNvPr id="2" name="Group 7"/>
          <p:cNvGrpSpPr>
            <a:grpSpLocks/>
          </p:cNvGrpSpPr>
          <p:nvPr/>
        </p:nvGrpSpPr>
        <p:grpSpPr bwMode="auto">
          <a:xfrm>
            <a:off x="3529013" y="1295400"/>
            <a:ext cx="3562350" cy="368300"/>
            <a:chOff x="1338" y="890"/>
            <a:chExt cx="2244" cy="310"/>
          </a:xfrm>
        </p:grpSpPr>
        <p:graphicFrame>
          <p:nvGraphicFramePr>
            <p:cNvPr id="21577" name="Object 73"/>
            <p:cNvGraphicFramePr>
              <a:graphicFrameLocks noChangeAspect="1"/>
            </p:cNvGraphicFramePr>
            <p:nvPr/>
          </p:nvGraphicFramePr>
          <p:xfrm>
            <a:off x="2404" y="946"/>
            <a:ext cx="1178" cy="216"/>
          </p:xfrm>
          <a:graphic>
            <a:graphicData uri="http://schemas.openxmlformats.org/presentationml/2006/ole">
              <p:oleObj spid="_x0000_s21577" name="Equation" r:id="rId4" imgW="1269449" imgH="177723" progId="Equation.DSMT4">
                <p:embed/>
              </p:oleObj>
            </a:graphicData>
          </a:graphic>
        </p:graphicFrame>
        <p:sp>
          <p:nvSpPr>
            <p:cNvPr id="21596" name="Rectangle 4"/>
            <p:cNvSpPr>
              <a:spLocks noChangeArrowheads="1"/>
            </p:cNvSpPr>
            <p:nvPr/>
          </p:nvSpPr>
          <p:spPr bwMode="auto">
            <a:xfrm>
              <a:off x="1338" y="890"/>
              <a:ext cx="1076" cy="310"/>
            </a:xfrm>
            <a:prstGeom prst="rect">
              <a:avLst/>
            </a:prstGeom>
            <a:noFill/>
            <a:ln w="9525">
              <a:noFill/>
              <a:miter lim="800000"/>
              <a:headEnd/>
              <a:tailEnd/>
            </a:ln>
          </p:spPr>
          <p:txBody>
            <a:bodyPr>
              <a:spAutoFit/>
            </a:bodyPr>
            <a:lstStyle/>
            <a:p>
              <a:r>
                <a:rPr lang="zh-CN" altLang="en-US" b="1">
                  <a:solidFill>
                    <a:srgbClr val="000000"/>
                  </a:solidFill>
                  <a:latin typeface="Times New Roman" pitchFamily="18" charset="0"/>
                  <a:ea typeface="华文中宋"/>
                  <a:cs typeface="华文中宋"/>
                </a:rPr>
                <a:t>等温过程：</a:t>
              </a:r>
            </a:p>
          </p:txBody>
        </p:sp>
      </p:grpSp>
      <p:grpSp>
        <p:nvGrpSpPr>
          <p:cNvPr id="3" name="Group 6"/>
          <p:cNvGrpSpPr>
            <a:grpSpLocks/>
          </p:cNvGrpSpPr>
          <p:nvPr/>
        </p:nvGrpSpPr>
        <p:grpSpPr bwMode="auto">
          <a:xfrm>
            <a:off x="3529013" y="1671638"/>
            <a:ext cx="2986087" cy="368300"/>
            <a:chOff x="1338" y="1253"/>
            <a:chExt cx="1881" cy="310"/>
          </a:xfrm>
        </p:grpSpPr>
        <p:graphicFrame>
          <p:nvGraphicFramePr>
            <p:cNvPr id="21578" name="Object 74"/>
            <p:cNvGraphicFramePr>
              <a:graphicFrameLocks noChangeAspect="1"/>
            </p:cNvGraphicFramePr>
            <p:nvPr/>
          </p:nvGraphicFramePr>
          <p:xfrm>
            <a:off x="2395" y="1273"/>
            <a:ext cx="824" cy="232"/>
          </p:xfrm>
          <a:graphic>
            <a:graphicData uri="http://schemas.openxmlformats.org/presentationml/2006/ole">
              <p:oleObj spid="_x0000_s21578" name="Equation" r:id="rId5" imgW="888614" imgH="203112" progId="Equation.DSMT4">
                <p:embed/>
              </p:oleObj>
            </a:graphicData>
          </a:graphic>
        </p:graphicFrame>
        <p:sp>
          <p:nvSpPr>
            <p:cNvPr id="21595" name="Rectangle 5"/>
            <p:cNvSpPr>
              <a:spLocks noChangeArrowheads="1"/>
            </p:cNvSpPr>
            <p:nvPr/>
          </p:nvSpPr>
          <p:spPr bwMode="auto">
            <a:xfrm>
              <a:off x="1338" y="1253"/>
              <a:ext cx="1076" cy="310"/>
            </a:xfrm>
            <a:prstGeom prst="rect">
              <a:avLst/>
            </a:prstGeom>
            <a:noFill/>
            <a:ln w="9525">
              <a:noFill/>
              <a:miter lim="800000"/>
              <a:headEnd/>
              <a:tailEnd/>
            </a:ln>
          </p:spPr>
          <p:txBody>
            <a:bodyPr>
              <a:spAutoFit/>
            </a:bodyPr>
            <a:lstStyle/>
            <a:p>
              <a:r>
                <a:rPr lang="zh-CN" altLang="en-US" b="1">
                  <a:solidFill>
                    <a:srgbClr val="000000"/>
                  </a:solidFill>
                  <a:latin typeface="Times New Roman" pitchFamily="18" charset="0"/>
                  <a:ea typeface="华文中宋"/>
                  <a:cs typeface="华文中宋"/>
                </a:rPr>
                <a:t>绝热过程：</a:t>
              </a:r>
            </a:p>
          </p:txBody>
        </p:sp>
      </p:grpSp>
      <p:sp>
        <p:nvSpPr>
          <p:cNvPr id="139272" name="Text Box 8"/>
          <p:cNvSpPr txBox="1">
            <a:spLocks noChangeArrowheads="1"/>
          </p:cNvSpPr>
          <p:nvPr/>
        </p:nvSpPr>
        <p:spPr bwMode="auto">
          <a:xfrm>
            <a:off x="3527425" y="2098675"/>
            <a:ext cx="1708150" cy="368300"/>
          </a:xfrm>
          <a:prstGeom prst="rect">
            <a:avLst/>
          </a:prstGeom>
          <a:noFill/>
          <a:ln w="9525">
            <a:noFill/>
            <a:miter lim="800000"/>
            <a:headEnd/>
            <a:tailEnd/>
          </a:ln>
        </p:spPr>
        <p:txBody>
          <a:bodyPr>
            <a:spAutoFit/>
          </a:bodyPr>
          <a:lstStyle/>
          <a:p>
            <a:pPr eaLnBrk="0" hangingPunct="0"/>
            <a:r>
              <a:rPr lang="zh-CN" altLang="en-US" b="1">
                <a:solidFill>
                  <a:srgbClr val="000000"/>
                </a:solidFill>
                <a:latin typeface="华文中宋"/>
                <a:ea typeface="华文中宋"/>
                <a:cs typeface="华文中宋"/>
              </a:rPr>
              <a:t>多方过程：</a:t>
            </a:r>
          </a:p>
        </p:txBody>
      </p:sp>
      <p:graphicFrame>
        <p:nvGraphicFramePr>
          <p:cNvPr id="139274" name="Object 75"/>
          <p:cNvGraphicFramePr>
            <a:graphicFrameLocks noChangeAspect="1"/>
          </p:cNvGraphicFramePr>
          <p:nvPr/>
        </p:nvGraphicFramePr>
        <p:xfrm>
          <a:off x="4414838" y="3675063"/>
          <a:ext cx="2317750" cy="315912"/>
        </p:xfrm>
        <a:graphic>
          <a:graphicData uri="http://schemas.openxmlformats.org/presentationml/2006/ole">
            <p:oleObj spid="_x0000_s21579" name="Equation" r:id="rId6" imgW="1511300" imgH="215900" progId="Equation.DSMT4">
              <p:embed/>
            </p:oleObj>
          </a:graphicData>
        </a:graphic>
      </p:graphicFrame>
      <p:graphicFrame>
        <p:nvGraphicFramePr>
          <p:cNvPr id="139277" name="Object 76"/>
          <p:cNvGraphicFramePr>
            <a:graphicFrameLocks noChangeAspect="1"/>
          </p:cNvGraphicFramePr>
          <p:nvPr/>
        </p:nvGraphicFramePr>
        <p:xfrm>
          <a:off x="4414838" y="3333750"/>
          <a:ext cx="1885950" cy="317500"/>
        </p:xfrm>
        <a:graphic>
          <a:graphicData uri="http://schemas.openxmlformats.org/presentationml/2006/ole">
            <p:oleObj spid="_x0000_s21580" name="Equation" r:id="rId7" imgW="1409088" imgH="215806" progId="Equation.DSMT4">
              <p:embed/>
            </p:oleObj>
          </a:graphicData>
        </a:graphic>
      </p:graphicFrame>
      <p:graphicFrame>
        <p:nvGraphicFramePr>
          <p:cNvPr id="139278" name="Object 77"/>
          <p:cNvGraphicFramePr>
            <a:graphicFrameLocks noChangeAspect="1"/>
          </p:cNvGraphicFramePr>
          <p:nvPr/>
        </p:nvGraphicFramePr>
        <p:xfrm>
          <a:off x="4414838" y="4013200"/>
          <a:ext cx="2389187" cy="334963"/>
        </p:xfrm>
        <a:graphic>
          <a:graphicData uri="http://schemas.openxmlformats.org/presentationml/2006/ole">
            <p:oleObj spid="_x0000_s21581" name="Equation" r:id="rId8" imgW="1612900" imgH="228600" progId="Equation.DSMT4">
              <p:embed/>
            </p:oleObj>
          </a:graphicData>
        </a:graphic>
      </p:graphicFrame>
      <p:graphicFrame>
        <p:nvGraphicFramePr>
          <p:cNvPr id="139279" name="Object 78"/>
          <p:cNvGraphicFramePr>
            <a:graphicFrameLocks noChangeAspect="1"/>
          </p:cNvGraphicFramePr>
          <p:nvPr/>
        </p:nvGraphicFramePr>
        <p:xfrm>
          <a:off x="4391025" y="4371975"/>
          <a:ext cx="3349625" cy="334963"/>
        </p:xfrm>
        <a:graphic>
          <a:graphicData uri="http://schemas.openxmlformats.org/presentationml/2006/ole">
            <p:oleObj spid="_x0000_s21582" name="Equation" r:id="rId9" imgW="2311400" imgH="228600" progId="Equation.DSMT4">
              <p:embed/>
            </p:oleObj>
          </a:graphicData>
        </a:graphic>
      </p:graphicFrame>
      <p:sp>
        <p:nvSpPr>
          <p:cNvPr id="139280" name="Rectangle 16"/>
          <p:cNvSpPr>
            <a:spLocks noChangeArrowheads="1"/>
          </p:cNvSpPr>
          <p:nvPr/>
        </p:nvSpPr>
        <p:spPr bwMode="auto">
          <a:xfrm>
            <a:off x="2555875" y="3292475"/>
            <a:ext cx="1403350" cy="338138"/>
          </a:xfrm>
          <a:prstGeom prst="rect">
            <a:avLst/>
          </a:prstGeom>
          <a:noFill/>
          <a:ln w="9525">
            <a:noFill/>
            <a:miter lim="800000"/>
            <a:headEnd/>
            <a:tailEnd/>
          </a:ln>
        </p:spPr>
        <p:txBody>
          <a:bodyPr>
            <a:spAutoFit/>
          </a:bodyPr>
          <a:lstStyle/>
          <a:p>
            <a:r>
              <a:rPr lang="zh-CN" altLang="en-US" sz="1600" b="1">
                <a:solidFill>
                  <a:srgbClr val="000000"/>
                </a:solidFill>
                <a:latin typeface="Times New Roman" pitchFamily="18" charset="0"/>
                <a:ea typeface="华文中宋"/>
                <a:cs typeface="华文中宋"/>
              </a:rPr>
              <a:t>等压过程</a:t>
            </a:r>
          </a:p>
        </p:txBody>
      </p:sp>
      <p:sp>
        <p:nvSpPr>
          <p:cNvPr id="139281" name="Rectangle 17"/>
          <p:cNvSpPr>
            <a:spLocks noChangeArrowheads="1"/>
          </p:cNvSpPr>
          <p:nvPr/>
        </p:nvSpPr>
        <p:spPr bwMode="auto">
          <a:xfrm>
            <a:off x="2555875" y="3671888"/>
            <a:ext cx="1403350" cy="338137"/>
          </a:xfrm>
          <a:prstGeom prst="rect">
            <a:avLst/>
          </a:prstGeom>
          <a:noFill/>
          <a:ln w="9525">
            <a:noFill/>
            <a:miter lim="800000"/>
            <a:headEnd/>
            <a:tailEnd/>
          </a:ln>
        </p:spPr>
        <p:txBody>
          <a:bodyPr>
            <a:spAutoFit/>
          </a:bodyPr>
          <a:lstStyle/>
          <a:p>
            <a:r>
              <a:rPr lang="zh-CN" altLang="en-US" sz="1600" b="1">
                <a:solidFill>
                  <a:srgbClr val="000000"/>
                </a:solidFill>
                <a:latin typeface="Times New Roman" pitchFamily="18" charset="0"/>
                <a:ea typeface="华文中宋"/>
                <a:cs typeface="华文中宋"/>
              </a:rPr>
              <a:t>等温过程</a:t>
            </a:r>
          </a:p>
        </p:txBody>
      </p:sp>
      <p:sp>
        <p:nvSpPr>
          <p:cNvPr id="139282" name="Rectangle 18"/>
          <p:cNvSpPr>
            <a:spLocks noChangeArrowheads="1"/>
          </p:cNvSpPr>
          <p:nvPr/>
        </p:nvSpPr>
        <p:spPr bwMode="auto">
          <a:xfrm>
            <a:off x="2555875" y="4049713"/>
            <a:ext cx="1403350" cy="338137"/>
          </a:xfrm>
          <a:prstGeom prst="rect">
            <a:avLst/>
          </a:prstGeom>
          <a:noFill/>
          <a:ln w="9525">
            <a:noFill/>
            <a:miter lim="800000"/>
            <a:headEnd/>
            <a:tailEnd/>
          </a:ln>
        </p:spPr>
        <p:txBody>
          <a:bodyPr>
            <a:spAutoFit/>
          </a:bodyPr>
          <a:lstStyle/>
          <a:p>
            <a:r>
              <a:rPr lang="zh-CN" altLang="en-US" sz="1600" b="1">
                <a:solidFill>
                  <a:srgbClr val="000000"/>
                </a:solidFill>
                <a:latin typeface="Times New Roman" pitchFamily="18" charset="0"/>
                <a:ea typeface="华文中宋"/>
                <a:cs typeface="华文中宋"/>
              </a:rPr>
              <a:t>绝热过程</a:t>
            </a:r>
          </a:p>
        </p:txBody>
      </p:sp>
      <p:sp>
        <p:nvSpPr>
          <p:cNvPr id="23" name="Text Box 2"/>
          <p:cNvSpPr>
            <a:spLocks noChangeArrowheads="1"/>
          </p:cNvSpPr>
          <p:nvPr/>
        </p:nvSpPr>
        <p:spPr bwMode="auto">
          <a:xfrm>
            <a:off x="839788" y="874713"/>
            <a:ext cx="1860550" cy="401637"/>
          </a:xfrm>
          <a:prstGeom prst="homePlate">
            <a:avLst>
              <a:gd name="adj" fmla="val 49756"/>
            </a:avLst>
          </a:prstGeom>
          <a:solidFill>
            <a:srgbClr val="539A84"/>
          </a:solidFill>
          <a:ln w="9525">
            <a:noFill/>
            <a:miter lim="800000"/>
            <a:headEnd/>
            <a:tailEnd/>
          </a:ln>
        </p:spPr>
        <p:txBody>
          <a:bodyPr>
            <a:spAutoFit/>
          </a:bodyPr>
          <a:lstStyle/>
          <a:p>
            <a:pPr>
              <a:buFont typeface="Arial" charset="0"/>
              <a:buNone/>
            </a:pPr>
            <a:r>
              <a:rPr kumimoji="1" lang="zh-CN" altLang="en-US" sz="2000" b="1">
                <a:solidFill>
                  <a:srgbClr val="FFFFFF"/>
                </a:solidFill>
                <a:latin typeface="微软雅黑" pitchFamily="34" charset="-122"/>
                <a:ea typeface="微软雅黑" pitchFamily="34" charset="-122"/>
              </a:rPr>
              <a:t>二、多方过程</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ipe(left)">
                                      <p:cBhvr>
                                        <p:cTn id="7" dur="500"/>
                                        <p:tgtEl>
                                          <p:spTgt spid="2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7" presetClass="entr" presetSubtype="8" fill="hold" grpId="0" nodeType="clickEffect">
                                  <p:stCondLst>
                                    <p:cond delay="0"/>
                                  </p:stCondLst>
                                  <p:childTnLst>
                                    <p:set>
                                      <p:cBhvr>
                                        <p:cTn id="11" dur="1" fill="hold">
                                          <p:stCondLst>
                                            <p:cond delay="0"/>
                                          </p:stCondLst>
                                        </p:cTn>
                                        <p:tgtEl>
                                          <p:spTgt spid="31749"/>
                                        </p:tgtEl>
                                        <p:attrNameLst>
                                          <p:attrName>style.visibility</p:attrName>
                                        </p:attrNameLst>
                                      </p:cBhvr>
                                      <p:to>
                                        <p:strVal val="visible"/>
                                      </p:to>
                                    </p:set>
                                    <p:anim calcmode="lin" valueType="num">
                                      <p:cBhvr>
                                        <p:cTn id="12" dur="500" fill="hold"/>
                                        <p:tgtEl>
                                          <p:spTgt spid="31749"/>
                                        </p:tgtEl>
                                        <p:attrNameLst>
                                          <p:attrName>ppt_x</p:attrName>
                                        </p:attrNameLst>
                                      </p:cBhvr>
                                      <p:tavLst>
                                        <p:tav tm="0">
                                          <p:val>
                                            <p:strVal val="#ppt_x-#ppt_w/2"/>
                                          </p:val>
                                        </p:tav>
                                        <p:tav tm="100000">
                                          <p:val>
                                            <p:strVal val="#ppt_x"/>
                                          </p:val>
                                        </p:tav>
                                      </p:tavLst>
                                    </p:anim>
                                    <p:anim calcmode="lin" valueType="num">
                                      <p:cBhvr>
                                        <p:cTn id="13" dur="500" fill="hold"/>
                                        <p:tgtEl>
                                          <p:spTgt spid="31749"/>
                                        </p:tgtEl>
                                        <p:attrNameLst>
                                          <p:attrName>ppt_y</p:attrName>
                                        </p:attrNameLst>
                                      </p:cBhvr>
                                      <p:tavLst>
                                        <p:tav tm="0">
                                          <p:val>
                                            <p:strVal val="#ppt_y"/>
                                          </p:val>
                                        </p:tav>
                                        <p:tav tm="100000">
                                          <p:val>
                                            <p:strVal val="#ppt_y"/>
                                          </p:val>
                                        </p:tav>
                                      </p:tavLst>
                                    </p:anim>
                                    <p:anim calcmode="lin" valueType="num">
                                      <p:cBhvr>
                                        <p:cTn id="14" dur="500" fill="hold"/>
                                        <p:tgtEl>
                                          <p:spTgt spid="31749"/>
                                        </p:tgtEl>
                                        <p:attrNameLst>
                                          <p:attrName>ppt_w</p:attrName>
                                        </p:attrNameLst>
                                      </p:cBhvr>
                                      <p:tavLst>
                                        <p:tav tm="0">
                                          <p:val>
                                            <p:fltVal val="0"/>
                                          </p:val>
                                        </p:tav>
                                        <p:tav tm="100000">
                                          <p:val>
                                            <p:strVal val="#ppt_w"/>
                                          </p:val>
                                        </p:tav>
                                      </p:tavLst>
                                    </p:anim>
                                    <p:anim calcmode="lin" valueType="num">
                                      <p:cBhvr>
                                        <p:cTn id="15" dur="500" fill="hold"/>
                                        <p:tgtEl>
                                          <p:spTgt spid="31749"/>
                                        </p:tgtEl>
                                        <p:attrNameLst>
                                          <p:attrName>ppt_h</p:attrName>
                                        </p:attrNameLst>
                                      </p:cBhvr>
                                      <p:tavLst>
                                        <p:tav tm="0">
                                          <p:val>
                                            <p:strVal val="#ppt_h"/>
                                          </p:val>
                                        </p:tav>
                                        <p:tav tm="100000">
                                          <p:val>
                                            <p:strVal val="#ppt_h"/>
                                          </p:val>
                                        </p:tav>
                                      </p:tavLst>
                                    </p:anim>
                                  </p:childTnLst>
                                </p:cTn>
                              </p:par>
                            </p:childTnLst>
                          </p:cTn>
                        </p:par>
                      </p:childTnLst>
                    </p:cTn>
                  </p:par>
                  <p:par>
                    <p:cTn id="16" fill="hold" nodeType="clickPar">
                      <p:stCondLst>
                        <p:cond delay="indefinite"/>
                      </p:stCondLst>
                      <p:childTnLst>
                        <p:par>
                          <p:cTn id="17" fill="hold" nodeType="withGroup">
                            <p:stCondLst>
                              <p:cond delay="0"/>
                            </p:stCondLst>
                            <p:childTnLst>
                              <p:par>
                                <p:cTn id="18" presetID="3" presetClass="entr" presetSubtype="10" fill="hold" nodeType="click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blinds(horizontal)">
                                      <p:cBhvr>
                                        <p:cTn id="20" dur="500"/>
                                        <p:tgtEl>
                                          <p:spTgt spid="3"/>
                                        </p:tgtEl>
                                      </p:cBhvr>
                                    </p:animEffect>
                                  </p:childTnLst>
                                </p:cTn>
                              </p:par>
                              <p:par>
                                <p:cTn id="21" presetID="3" presetClass="entr" presetSubtype="10" fill="hold" nodeType="with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blinds(horizontal)">
                                      <p:cBhvr>
                                        <p:cTn id="23" dur="500"/>
                                        <p:tgtEl>
                                          <p:spTgt spid="2"/>
                                        </p:tgtEl>
                                      </p:cBhvr>
                                    </p:animEffect>
                                  </p:childTnLst>
                                </p:cTn>
                              </p:par>
                              <p:par>
                                <p:cTn id="24" presetID="3" presetClass="entr" presetSubtype="10" fill="hold" grpId="0" nodeType="withEffect">
                                  <p:stCondLst>
                                    <p:cond delay="0"/>
                                  </p:stCondLst>
                                  <p:childTnLst>
                                    <p:set>
                                      <p:cBhvr>
                                        <p:cTn id="25" dur="1" fill="hold">
                                          <p:stCondLst>
                                            <p:cond delay="0"/>
                                          </p:stCondLst>
                                        </p:cTn>
                                        <p:tgtEl>
                                          <p:spTgt spid="31752"/>
                                        </p:tgtEl>
                                        <p:attrNameLst>
                                          <p:attrName>style.visibility</p:attrName>
                                        </p:attrNameLst>
                                      </p:cBhvr>
                                      <p:to>
                                        <p:strVal val="visible"/>
                                      </p:to>
                                    </p:set>
                                    <p:animEffect transition="in" filter="blinds(horizontal)">
                                      <p:cBhvr>
                                        <p:cTn id="26" dur="500"/>
                                        <p:tgtEl>
                                          <p:spTgt spid="31752"/>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139272"/>
                                        </p:tgtEl>
                                        <p:attrNameLst>
                                          <p:attrName>style.visibility</p:attrName>
                                        </p:attrNameLst>
                                      </p:cBhvr>
                                      <p:to>
                                        <p:strVal val="visible"/>
                                      </p:to>
                                    </p:set>
                                    <p:animEffect transition="in" filter="blinds(horizontal)">
                                      <p:cBhvr>
                                        <p:cTn id="31" dur="500"/>
                                        <p:tgtEl>
                                          <p:spTgt spid="139272"/>
                                        </p:tgtEl>
                                      </p:cBhvr>
                                    </p:animEffect>
                                  </p:childTnLst>
                                </p:cTn>
                              </p:par>
                              <p:par>
                                <p:cTn id="32" presetID="3" presetClass="entr" presetSubtype="10" fill="hold" nodeType="withEffect">
                                  <p:stCondLst>
                                    <p:cond delay="0"/>
                                  </p:stCondLst>
                                  <p:childTnLst>
                                    <p:set>
                                      <p:cBhvr>
                                        <p:cTn id="33" dur="1" fill="hold">
                                          <p:stCondLst>
                                            <p:cond delay="0"/>
                                          </p:stCondLst>
                                        </p:cTn>
                                        <p:tgtEl>
                                          <p:spTgt spid="31753"/>
                                        </p:tgtEl>
                                        <p:attrNameLst>
                                          <p:attrName>style.visibility</p:attrName>
                                        </p:attrNameLst>
                                      </p:cBhvr>
                                      <p:to>
                                        <p:strVal val="visible"/>
                                      </p:to>
                                    </p:set>
                                    <p:animEffect transition="in" filter="blinds(horizontal)">
                                      <p:cBhvr>
                                        <p:cTn id="34" dur="500"/>
                                        <p:tgtEl>
                                          <p:spTgt spid="31753"/>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17" presetClass="entr" presetSubtype="8" fill="hold" grpId="0" nodeType="clickEffect">
                                  <p:stCondLst>
                                    <p:cond delay="0"/>
                                  </p:stCondLst>
                                  <p:childTnLst>
                                    <p:set>
                                      <p:cBhvr>
                                        <p:cTn id="38" dur="1" fill="hold">
                                          <p:stCondLst>
                                            <p:cond delay="0"/>
                                          </p:stCondLst>
                                        </p:cTn>
                                        <p:tgtEl>
                                          <p:spTgt spid="31754"/>
                                        </p:tgtEl>
                                        <p:attrNameLst>
                                          <p:attrName>style.visibility</p:attrName>
                                        </p:attrNameLst>
                                      </p:cBhvr>
                                      <p:to>
                                        <p:strVal val="visible"/>
                                      </p:to>
                                    </p:set>
                                    <p:anim calcmode="lin" valueType="num">
                                      <p:cBhvr>
                                        <p:cTn id="39" dur="500" fill="hold"/>
                                        <p:tgtEl>
                                          <p:spTgt spid="31754"/>
                                        </p:tgtEl>
                                        <p:attrNameLst>
                                          <p:attrName>ppt_x</p:attrName>
                                        </p:attrNameLst>
                                      </p:cBhvr>
                                      <p:tavLst>
                                        <p:tav tm="0">
                                          <p:val>
                                            <p:strVal val="#ppt_x-#ppt_w/2"/>
                                          </p:val>
                                        </p:tav>
                                        <p:tav tm="100000">
                                          <p:val>
                                            <p:strVal val="#ppt_x"/>
                                          </p:val>
                                        </p:tav>
                                      </p:tavLst>
                                    </p:anim>
                                    <p:anim calcmode="lin" valueType="num">
                                      <p:cBhvr>
                                        <p:cTn id="40" dur="500" fill="hold"/>
                                        <p:tgtEl>
                                          <p:spTgt spid="31754"/>
                                        </p:tgtEl>
                                        <p:attrNameLst>
                                          <p:attrName>ppt_y</p:attrName>
                                        </p:attrNameLst>
                                      </p:cBhvr>
                                      <p:tavLst>
                                        <p:tav tm="0">
                                          <p:val>
                                            <p:strVal val="#ppt_y"/>
                                          </p:val>
                                        </p:tav>
                                        <p:tav tm="100000">
                                          <p:val>
                                            <p:strVal val="#ppt_y"/>
                                          </p:val>
                                        </p:tav>
                                      </p:tavLst>
                                    </p:anim>
                                    <p:anim calcmode="lin" valueType="num">
                                      <p:cBhvr>
                                        <p:cTn id="41" dur="500" fill="hold"/>
                                        <p:tgtEl>
                                          <p:spTgt spid="31754"/>
                                        </p:tgtEl>
                                        <p:attrNameLst>
                                          <p:attrName>ppt_w</p:attrName>
                                        </p:attrNameLst>
                                      </p:cBhvr>
                                      <p:tavLst>
                                        <p:tav tm="0">
                                          <p:val>
                                            <p:fltVal val="0"/>
                                          </p:val>
                                        </p:tav>
                                        <p:tav tm="100000">
                                          <p:val>
                                            <p:strVal val="#ppt_w"/>
                                          </p:val>
                                        </p:tav>
                                      </p:tavLst>
                                    </p:anim>
                                    <p:anim calcmode="lin" valueType="num">
                                      <p:cBhvr>
                                        <p:cTn id="42" dur="500" fill="hold"/>
                                        <p:tgtEl>
                                          <p:spTgt spid="31754"/>
                                        </p:tgtEl>
                                        <p:attrNameLst>
                                          <p:attrName>ppt_h</p:attrName>
                                        </p:attrNameLst>
                                      </p:cBhvr>
                                      <p:tavLst>
                                        <p:tav tm="0">
                                          <p:val>
                                            <p:strVal val="#ppt_h"/>
                                          </p:val>
                                        </p:tav>
                                        <p:tav tm="100000">
                                          <p:val>
                                            <p:strVal val="#ppt_h"/>
                                          </p:val>
                                        </p:tav>
                                      </p:tavLst>
                                    </p:anim>
                                  </p:childTnLst>
                                </p:cTn>
                              </p:par>
                            </p:childTnLst>
                          </p:cTn>
                        </p:par>
                      </p:childTnLst>
                    </p:cTn>
                  </p:par>
                  <p:par>
                    <p:cTn id="43" fill="hold" nodeType="clickPar">
                      <p:stCondLst>
                        <p:cond delay="indefinite"/>
                      </p:stCondLst>
                      <p:childTnLst>
                        <p:par>
                          <p:cTn id="44" fill="hold" nodeType="withGroup">
                            <p:stCondLst>
                              <p:cond delay="0"/>
                            </p:stCondLst>
                            <p:childTnLst>
                              <p:par>
                                <p:cTn id="45" presetID="17" presetClass="entr" presetSubtype="8" fill="hold" grpId="0" nodeType="clickEffect">
                                  <p:stCondLst>
                                    <p:cond delay="0"/>
                                  </p:stCondLst>
                                  <p:childTnLst>
                                    <p:set>
                                      <p:cBhvr>
                                        <p:cTn id="46" dur="1" fill="hold">
                                          <p:stCondLst>
                                            <p:cond delay="0"/>
                                          </p:stCondLst>
                                        </p:cTn>
                                        <p:tgtEl>
                                          <p:spTgt spid="31755"/>
                                        </p:tgtEl>
                                        <p:attrNameLst>
                                          <p:attrName>style.visibility</p:attrName>
                                        </p:attrNameLst>
                                      </p:cBhvr>
                                      <p:to>
                                        <p:strVal val="visible"/>
                                      </p:to>
                                    </p:set>
                                    <p:anim calcmode="lin" valueType="num">
                                      <p:cBhvr>
                                        <p:cTn id="47" dur="500" fill="hold"/>
                                        <p:tgtEl>
                                          <p:spTgt spid="31755"/>
                                        </p:tgtEl>
                                        <p:attrNameLst>
                                          <p:attrName>ppt_x</p:attrName>
                                        </p:attrNameLst>
                                      </p:cBhvr>
                                      <p:tavLst>
                                        <p:tav tm="0">
                                          <p:val>
                                            <p:strVal val="#ppt_x-#ppt_w/2"/>
                                          </p:val>
                                        </p:tav>
                                        <p:tav tm="100000">
                                          <p:val>
                                            <p:strVal val="#ppt_x"/>
                                          </p:val>
                                        </p:tav>
                                      </p:tavLst>
                                    </p:anim>
                                    <p:anim calcmode="lin" valueType="num">
                                      <p:cBhvr>
                                        <p:cTn id="48" dur="500" fill="hold"/>
                                        <p:tgtEl>
                                          <p:spTgt spid="31755"/>
                                        </p:tgtEl>
                                        <p:attrNameLst>
                                          <p:attrName>ppt_y</p:attrName>
                                        </p:attrNameLst>
                                      </p:cBhvr>
                                      <p:tavLst>
                                        <p:tav tm="0">
                                          <p:val>
                                            <p:strVal val="#ppt_y"/>
                                          </p:val>
                                        </p:tav>
                                        <p:tav tm="100000">
                                          <p:val>
                                            <p:strVal val="#ppt_y"/>
                                          </p:val>
                                        </p:tav>
                                      </p:tavLst>
                                    </p:anim>
                                    <p:anim calcmode="lin" valueType="num">
                                      <p:cBhvr>
                                        <p:cTn id="49" dur="500" fill="hold"/>
                                        <p:tgtEl>
                                          <p:spTgt spid="31755"/>
                                        </p:tgtEl>
                                        <p:attrNameLst>
                                          <p:attrName>ppt_w</p:attrName>
                                        </p:attrNameLst>
                                      </p:cBhvr>
                                      <p:tavLst>
                                        <p:tav tm="0">
                                          <p:val>
                                            <p:fltVal val="0"/>
                                          </p:val>
                                        </p:tav>
                                        <p:tav tm="100000">
                                          <p:val>
                                            <p:strVal val="#ppt_w"/>
                                          </p:val>
                                        </p:tav>
                                      </p:tavLst>
                                    </p:anim>
                                    <p:anim calcmode="lin" valueType="num">
                                      <p:cBhvr>
                                        <p:cTn id="50" dur="500" fill="hold"/>
                                        <p:tgtEl>
                                          <p:spTgt spid="31755"/>
                                        </p:tgtEl>
                                        <p:attrNameLst>
                                          <p:attrName>ppt_h</p:attrName>
                                        </p:attrNameLst>
                                      </p:cBhvr>
                                      <p:tavLst>
                                        <p:tav tm="0">
                                          <p:val>
                                            <p:strVal val="#ppt_h"/>
                                          </p:val>
                                        </p:tav>
                                        <p:tav tm="100000">
                                          <p:val>
                                            <p:strVal val="#ppt_h"/>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3" presetClass="entr" presetSubtype="10" fill="hold" grpId="0" nodeType="clickEffect">
                                  <p:stCondLst>
                                    <p:cond delay="0"/>
                                  </p:stCondLst>
                                  <p:childTnLst>
                                    <p:set>
                                      <p:cBhvr>
                                        <p:cTn id="54" dur="1" fill="hold">
                                          <p:stCondLst>
                                            <p:cond delay="0"/>
                                          </p:stCondLst>
                                        </p:cTn>
                                        <p:tgtEl>
                                          <p:spTgt spid="139280"/>
                                        </p:tgtEl>
                                        <p:attrNameLst>
                                          <p:attrName>style.visibility</p:attrName>
                                        </p:attrNameLst>
                                      </p:cBhvr>
                                      <p:to>
                                        <p:strVal val="visible"/>
                                      </p:to>
                                    </p:set>
                                    <p:animEffect transition="in" filter="blinds(horizontal)">
                                      <p:cBhvr>
                                        <p:cTn id="55" dur="500"/>
                                        <p:tgtEl>
                                          <p:spTgt spid="139280"/>
                                        </p:tgtEl>
                                      </p:cBhvr>
                                    </p:animEffect>
                                  </p:childTnLst>
                                </p:cTn>
                              </p:par>
                              <p:par>
                                <p:cTn id="56" presetID="3" presetClass="entr" presetSubtype="10" fill="hold" nodeType="withEffect">
                                  <p:stCondLst>
                                    <p:cond delay="0"/>
                                  </p:stCondLst>
                                  <p:childTnLst>
                                    <p:set>
                                      <p:cBhvr>
                                        <p:cTn id="57" dur="1" fill="hold">
                                          <p:stCondLst>
                                            <p:cond delay="0"/>
                                          </p:stCondLst>
                                        </p:cTn>
                                        <p:tgtEl>
                                          <p:spTgt spid="139277"/>
                                        </p:tgtEl>
                                        <p:attrNameLst>
                                          <p:attrName>style.visibility</p:attrName>
                                        </p:attrNameLst>
                                      </p:cBhvr>
                                      <p:to>
                                        <p:strVal val="visible"/>
                                      </p:to>
                                    </p:set>
                                    <p:animEffect transition="in" filter="blinds(horizontal)">
                                      <p:cBhvr>
                                        <p:cTn id="58" dur="500"/>
                                        <p:tgtEl>
                                          <p:spTgt spid="139277"/>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3" presetClass="entr" presetSubtype="10" fill="hold" grpId="0" nodeType="clickEffect">
                                  <p:stCondLst>
                                    <p:cond delay="0"/>
                                  </p:stCondLst>
                                  <p:childTnLst>
                                    <p:set>
                                      <p:cBhvr>
                                        <p:cTn id="62" dur="1" fill="hold">
                                          <p:stCondLst>
                                            <p:cond delay="0"/>
                                          </p:stCondLst>
                                        </p:cTn>
                                        <p:tgtEl>
                                          <p:spTgt spid="139281"/>
                                        </p:tgtEl>
                                        <p:attrNameLst>
                                          <p:attrName>style.visibility</p:attrName>
                                        </p:attrNameLst>
                                      </p:cBhvr>
                                      <p:to>
                                        <p:strVal val="visible"/>
                                      </p:to>
                                    </p:set>
                                    <p:animEffect transition="in" filter="blinds(horizontal)">
                                      <p:cBhvr>
                                        <p:cTn id="63" dur="500"/>
                                        <p:tgtEl>
                                          <p:spTgt spid="139281"/>
                                        </p:tgtEl>
                                      </p:cBhvr>
                                    </p:animEffect>
                                  </p:childTnLst>
                                </p:cTn>
                              </p:par>
                              <p:par>
                                <p:cTn id="64" presetID="3" presetClass="entr" presetSubtype="10" fill="hold" nodeType="withEffect">
                                  <p:stCondLst>
                                    <p:cond delay="0"/>
                                  </p:stCondLst>
                                  <p:childTnLst>
                                    <p:set>
                                      <p:cBhvr>
                                        <p:cTn id="65" dur="1" fill="hold">
                                          <p:stCondLst>
                                            <p:cond delay="0"/>
                                          </p:stCondLst>
                                        </p:cTn>
                                        <p:tgtEl>
                                          <p:spTgt spid="139274"/>
                                        </p:tgtEl>
                                        <p:attrNameLst>
                                          <p:attrName>style.visibility</p:attrName>
                                        </p:attrNameLst>
                                      </p:cBhvr>
                                      <p:to>
                                        <p:strVal val="visible"/>
                                      </p:to>
                                    </p:set>
                                    <p:animEffect transition="in" filter="blinds(horizontal)">
                                      <p:cBhvr>
                                        <p:cTn id="66" dur="500"/>
                                        <p:tgtEl>
                                          <p:spTgt spid="139274"/>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3" presetClass="entr" presetSubtype="10" fill="hold" grpId="0" nodeType="clickEffect">
                                  <p:stCondLst>
                                    <p:cond delay="0"/>
                                  </p:stCondLst>
                                  <p:childTnLst>
                                    <p:set>
                                      <p:cBhvr>
                                        <p:cTn id="70" dur="1" fill="hold">
                                          <p:stCondLst>
                                            <p:cond delay="0"/>
                                          </p:stCondLst>
                                        </p:cTn>
                                        <p:tgtEl>
                                          <p:spTgt spid="139282"/>
                                        </p:tgtEl>
                                        <p:attrNameLst>
                                          <p:attrName>style.visibility</p:attrName>
                                        </p:attrNameLst>
                                      </p:cBhvr>
                                      <p:to>
                                        <p:strVal val="visible"/>
                                      </p:to>
                                    </p:set>
                                    <p:animEffect transition="in" filter="blinds(horizontal)">
                                      <p:cBhvr>
                                        <p:cTn id="71" dur="500"/>
                                        <p:tgtEl>
                                          <p:spTgt spid="139282"/>
                                        </p:tgtEl>
                                      </p:cBhvr>
                                    </p:animEffect>
                                  </p:childTnLst>
                                </p:cTn>
                              </p:par>
                              <p:par>
                                <p:cTn id="72" presetID="3" presetClass="entr" presetSubtype="10" fill="hold" nodeType="withEffect">
                                  <p:stCondLst>
                                    <p:cond delay="0"/>
                                  </p:stCondLst>
                                  <p:childTnLst>
                                    <p:set>
                                      <p:cBhvr>
                                        <p:cTn id="73" dur="1" fill="hold">
                                          <p:stCondLst>
                                            <p:cond delay="0"/>
                                          </p:stCondLst>
                                        </p:cTn>
                                        <p:tgtEl>
                                          <p:spTgt spid="139278"/>
                                        </p:tgtEl>
                                        <p:attrNameLst>
                                          <p:attrName>style.visibility</p:attrName>
                                        </p:attrNameLst>
                                      </p:cBhvr>
                                      <p:to>
                                        <p:strVal val="visible"/>
                                      </p:to>
                                    </p:set>
                                    <p:animEffect transition="in" filter="blinds(horizontal)">
                                      <p:cBhvr>
                                        <p:cTn id="74" dur="500"/>
                                        <p:tgtEl>
                                          <p:spTgt spid="139278"/>
                                        </p:tgtEl>
                                      </p:cBhvr>
                                    </p:animEffect>
                                  </p:childTnLst>
                                </p:cTn>
                              </p:par>
                            </p:childTnLst>
                          </p:cTn>
                        </p:par>
                      </p:childTnLst>
                    </p:cTn>
                  </p:par>
                  <p:par>
                    <p:cTn id="75" fill="hold" nodeType="clickPar">
                      <p:stCondLst>
                        <p:cond delay="indefinite"/>
                      </p:stCondLst>
                      <p:childTnLst>
                        <p:par>
                          <p:cTn id="76" fill="hold" nodeType="withGroup">
                            <p:stCondLst>
                              <p:cond delay="0"/>
                            </p:stCondLst>
                            <p:childTnLst>
                              <p:par>
                                <p:cTn id="77" presetID="3" presetClass="entr" presetSubtype="10" fill="hold" grpId="0" nodeType="clickEffect">
                                  <p:stCondLst>
                                    <p:cond delay="0"/>
                                  </p:stCondLst>
                                  <p:childTnLst>
                                    <p:set>
                                      <p:cBhvr>
                                        <p:cTn id="78" dur="1" fill="hold">
                                          <p:stCondLst>
                                            <p:cond delay="0"/>
                                          </p:stCondLst>
                                        </p:cTn>
                                        <p:tgtEl>
                                          <p:spTgt spid="31756"/>
                                        </p:tgtEl>
                                        <p:attrNameLst>
                                          <p:attrName>style.visibility</p:attrName>
                                        </p:attrNameLst>
                                      </p:cBhvr>
                                      <p:to>
                                        <p:strVal val="visible"/>
                                      </p:to>
                                    </p:set>
                                    <p:animEffect transition="in" filter="blinds(horizontal)">
                                      <p:cBhvr>
                                        <p:cTn id="79" dur="500"/>
                                        <p:tgtEl>
                                          <p:spTgt spid="31756"/>
                                        </p:tgtEl>
                                      </p:cBhvr>
                                    </p:animEffect>
                                  </p:childTnLst>
                                </p:cTn>
                              </p:par>
                              <p:par>
                                <p:cTn id="80" presetID="3" presetClass="entr" presetSubtype="10" fill="hold" nodeType="withEffect">
                                  <p:stCondLst>
                                    <p:cond delay="0"/>
                                  </p:stCondLst>
                                  <p:childTnLst>
                                    <p:set>
                                      <p:cBhvr>
                                        <p:cTn id="81" dur="1" fill="hold">
                                          <p:stCondLst>
                                            <p:cond delay="0"/>
                                          </p:stCondLst>
                                        </p:cTn>
                                        <p:tgtEl>
                                          <p:spTgt spid="139279"/>
                                        </p:tgtEl>
                                        <p:attrNameLst>
                                          <p:attrName>style.visibility</p:attrName>
                                        </p:attrNameLst>
                                      </p:cBhvr>
                                      <p:to>
                                        <p:strVal val="visible"/>
                                      </p:to>
                                    </p:set>
                                    <p:animEffect transition="in" filter="blinds(horizontal)">
                                      <p:cBhvr>
                                        <p:cTn id="82" dur="500"/>
                                        <p:tgtEl>
                                          <p:spTgt spid="1392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9" grpId="0" autoUpdateAnimBg="0"/>
      <p:bldP spid="31752" grpId="0"/>
      <p:bldP spid="31754" grpId="0" autoUpdateAnimBg="0"/>
      <p:bldP spid="31755" grpId="0" autoUpdateAnimBg="0"/>
      <p:bldP spid="31756" grpId="0"/>
      <p:bldP spid="139272" grpId="0"/>
      <p:bldP spid="139280" grpId="0"/>
      <p:bldP spid="139281" grpId="0"/>
      <p:bldP spid="139282" grpId="0"/>
      <p:bldP spid="23"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8" name="Text Box 4"/>
          <p:cNvSpPr txBox="1">
            <a:spLocks noChangeArrowheads="1"/>
          </p:cNvSpPr>
          <p:nvPr/>
        </p:nvSpPr>
        <p:spPr bwMode="auto">
          <a:xfrm>
            <a:off x="515938" y="762000"/>
            <a:ext cx="3725862" cy="369888"/>
          </a:xfrm>
          <a:prstGeom prst="rect">
            <a:avLst/>
          </a:prstGeom>
          <a:noFill/>
          <a:ln w="9525">
            <a:noFill/>
            <a:miter lim="800000"/>
            <a:headEnd/>
            <a:tailEnd/>
          </a:ln>
        </p:spPr>
        <p:txBody>
          <a:bodyPr>
            <a:spAutoFit/>
          </a:bodyPr>
          <a:lstStyle/>
          <a:p>
            <a:pPr eaLnBrk="0" hangingPunct="0"/>
            <a:r>
              <a:rPr lang="en-US" altLang="zh-CN" b="1">
                <a:solidFill>
                  <a:srgbClr val="C0504D"/>
                </a:solidFill>
                <a:latin typeface="华文中宋"/>
                <a:ea typeface="华文中宋"/>
                <a:cs typeface="华文中宋"/>
              </a:rPr>
              <a:t>3</a:t>
            </a:r>
            <a:r>
              <a:rPr lang="zh-CN" altLang="en-US" b="1">
                <a:solidFill>
                  <a:srgbClr val="C0504D"/>
                </a:solidFill>
                <a:latin typeface="华文中宋"/>
                <a:ea typeface="华文中宋"/>
                <a:cs typeface="华文中宋"/>
              </a:rPr>
              <a:t>、多方过程的摩尔热容量</a:t>
            </a:r>
            <a:endParaRPr lang="zh-CN" altLang="en-US">
              <a:solidFill>
                <a:srgbClr val="C0504D"/>
              </a:solidFill>
              <a:latin typeface="华文中宋"/>
              <a:ea typeface="华文中宋"/>
              <a:cs typeface="华文中宋"/>
            </a:endParaRPr>
          </a:p>
        </p:txBody>
      </p:sp>
      <p:sp>
        <p:nvSpPr>
          <p:cNvPr id="169989" name="Text Box 5"/>
          <p:cNvSpPr txBox="1">
            <a:spLocks noChangeArrowheads="1"/>
          </p:cNvSpPr>
          <p:nvPr/>
        </p:nvSpPr>
        <p:spPr bwMode="auto">
          <a:xfrm>
            <a:off x="971550" y="1068388"/>
            <a:ext cx="1708150" cy="369887"/>
          </a:xfrm>
          <a:prstGeom prst="rect">
            <a:avLst/>
          </a:prstGeom>
          <a:noFill/>
          <a:ln w="9525">
            <a:noFill/>
            <a:miter lim="800000"/>
            <a:headEnd/>
            <a:tailEnd/>
          </a:ln>
        </p:spPr>
        <p:txBody>
          <a:bodyPr>
            <a:spAutoFit/>
          </a:bodyPr>
          <a:lstStyle/>
          <a:p>
            <a:pPr eaLnBrk="0" hangingPunct="0"/>
            <a:r>
              <a:rPr lang="zh-CN" altLang="en-US" b="1">
                <a:solidFill>
                  <a:srgbClr val="000000"/>
                </a:solidFill>
                <a:latin typeface="华文中宋"/>
                <a:ea typeface="华文中宋"/>
                <a:cs typeface="华文中宋"/>
              </a:rPr>
              <a:t>多方过程：</a:t>
            </a:r>
          </a:p>
        </p:txBody>
      </p:sp>
      <p:graphicFrame>
        <p:nvGraphicFramePr>
          <p:cNvPr id="169991" name="Object 92"/>
          <p:cNvGraphicFramePr>
            <a:graphicFrameLocks noChangeAspect="1"/>
          </p:cNvGraphicFramePr>
          <p:nvPr/>
        </p:nvGraphicFramePr>
        <p:xfrm>
          <a:off x="3203575" y="958850"/>
          <a:ext cx="2232025" cy="582613"/>
        </p:xfrm>
        <a:graphic>
          <a:graphicData uri="http://schemas.openxmlformats.org/presentationml/2006/ole">
            <p:oleObj spid="_x0000_s22620" name="Equation" r:id="rId3" imgW="1167893" imgH="406224" progId="Equation.DSMT4">
              <p:embed/>
            </p:oleObj>
          </a:graphicData>
        </a:graphic>
      </p:graphicFrame>
      <p:sp>
        <p:nvSpPr>
          <p:cNvPr id="169992" name="Text Box 8"/>
          <p:cNvSpPr txBox="1">
            <a:spLocks noChangeArrowheads="1"/>
          </p:cNvSpPr>
          <p:nvPr/>
        </p:nvSpPr>
        <p:spPr bwMode="auto">
          <a:xfrm>
            <a:off x="792163" y="4121150"/>
            <a:ext cx="1403350" cy="369888"/>
          </a:xfrm>
          <a:prstGeom prst="rect">
            <a:avLst/>
          </a:prstGeom>
          <a:noFill/>
          <a:ln w="9525">
            <a:noFill/>
            <a:miter lim="800000"/>
            <a:headEnd/>
            <a:tailEnd/>
          </a:ln>
        </p:spPr>
        <p:txBody>
          <a:bodyPr>
            <a:spAutoFit/>
          </a:bodyPr>
          <a:lstStyle/>
          <a:p>
            <a:r>
              <a:rPr lang="zh-CN" altLang="en-US" b="1">
                <a:solidFill>
                  <a:srgbClr val="000000"/>
                </a:solidFill>
                <a:latin typeface="Times New Roman" pitchFamily="18" charset="0"/>
                <a:ea typeface="华文中宋"/>
                <a:cs typeface="华文中宋"/>
              </a:rPr>
              <a:t>等容过程</a:t>
            </a:r>
          </a:p>
        </p:txBody>
      </p:sp>
      <p:graphicFrame>
        <p:nvGraphicFramePr>
          <p:cNvPr id="169993" name="Object 93"/>
          <p:cNvGraphicFramePr>
            <a:graphicFrameLocks noChangeAspect="1"/>
          </p:cNvGraphicFramePr>
          <p:nvPr/>
        </p:nvGraphicFramePr>
        <p:xfrm>
          <a:off x="2051050" y="2759075"/>
          <a:ext cx="2054225" cy="261938"/>
        </p:xfrm>
        <a:graphic>
          <a:graphicData uri="http://schemas.openxmlformats.org/presentationml/2006/ole">
            <p:oleObj spid="_x0000_s22621" name="Equation" r:id="rId4" imgW="1332921" imgH="177723" progId="Equation.DSMT4">
              <p:embed/>
            </p:oleObj>
          </a:graphicData>
        </a:graphic>
      </p:graphicFrame>
      <p:graphicFrame>
        <p:nvGraphicFramePr>
          <p:cNvPr id="169994" name="Object 94"/>
          <p:cNvGraphicFramePr>
            <a:graphicFrameLocks noChangeAspect="1"/>
          </p:cNvGraphicFramePr>
          <p:nvPr/>
        </p:nvGraphicFramePr>
        <p:xfrm>
          <a:off x="2051050" y="2087563"/>
          <a:ext cx="1797050" cy="261937"/>
        </p:xfrm>
        <a:graphic>
          <a:graphicData uri="http://schemas.openxmlformats.org/presentationml/2006/ole">
            <p:oleObj spid="_x0000_s22622" name="Equation" r:id="rId5" imgW="1231366" imgH="177723" progId="Equation.DSMT4">
              <p:embed/>
            </p:oleObj>
          </a:graphicData>
        </a:graphic>
      </p:graphicFrame>
      <p:graphicFrame>
        <p:nvGraphicFramePr>
          <p:cNvPr id="169995" name="Object 95"/>
          <p:cNvGraphicFramePr>
            <a:graphicFrameLocks noChangeAspect="1"/>
          </p:cNvGraphicFramePr>
          <p:nvPr/>
        </p:nvGraphicFramePr>
        <p:xfrm>
          <a:off x="2005013" y="3473450"/>
          <a:ext cx="1997075" cy="334963"/>
        </p:xfrm>
        <a:graphic>
          <a:graphicData uri="http://schemas.openxmlformats.org/presentationml/2006/ole">
            <p:oleObj spid="_x0000_s22623" name="Equation" r:id="rId6" imgW="1435100" imgH="228600" progId="Equation.DSMT4">
              <p:embed/>
            </p:oleObj>
          </a:graphicData>
        </a:graphic>
      </p:graphicFrame>
      <p:graphicFrame>
        <p:nvGraphicFramePr>
          <p:cNvPr id="169996" name="Object 96"/>
          <p:cNvGraphicFramePr>
            <a:graphicFrameLocks noChangeAspect="1"/>
          </p:cNvGraphicFramePr>
          <p:nvPr/>
        </p:nvGraphicFramePr>
        <p:xfrm>
          <a:off x="2016125" y="4121150"/>
          <a:ext cx="2771775" cy="334963"/>
        </p:xfrm>
        <a:graphic>
          <a:graphicData uri="http://schemas.openxmlformats.org/presentationml/2006/ole">
            <p:oleObj spid="_x0000_s22624" name="Equation" r:id="rId7" imgW="2133600" imgH="228600" progId="Equation.DSMT4">
              <p:embed/>
            </p:oleObj>
          </a:graphicData>
        </a:graphic>
      </p:graphicFrame>
      <p:sp>
        <p:nvSpPr>
          <p:cNvPr id="169997" name="Rectangle 13"/>
          <p:cNvSpPr>
            <a:spLocks noChangeArrowheads="1"/>
          </p:cNvSpPr>
          <p:nvPr/>
        </p:nvSpPr>
        <p:spPr bwMode="auto">
          <a:xfrm>
            <a:off x="900113" y="2058988"/>
            <a:ext cx="1403350" cy="368300"/>
          </a:xfrm>
          <a:prstGeom prst="rect">
            <a:avLst/>
          </a:prstGeom>
          <a:noFill/>
          <a:ln w="9525">
            <a:noFill/>
            <a:miter lim="800000"/>
            <a:headEnd/>
            <a:tailEnd/>
          </a:ln>
        </p:spPr>
        <p:txBody>
          <a:bodyPr>
            <a:spAutoFit/>
          </a:bodyPr>
          <a:lstStyle/>
          <a:p>
            <a:r>
              <a:rPr lang="zh-CN" altLang="en-US" b="1">
                <a:solidFill>
                  <a:srgbClr val="000000"/>
                </a:solidFill>
                <a:latin typeface="Times New Roman" pitchFamily="18" charset="0"/>
                <a:ea typeface="华文中宋"/>
                <a:cs typeface="华文中宋"/>
              </a:rPr>
              <a:t>等压过程</a:t>
            </a:r>
          </a:p>
        </p:txBody>
      </p:sp>
      <p:sp>
        <p:nvSpPr>
          <p:cNvPr id="169998" name="Rectangle 14"/>
          <p:cNvSpPr>
            <a:spLocks noChangeArrowheads="1"/>
          </p:cNvSpPr>
          <p:nvPr/>
        </p:nvSpPr>
        <p:spPr bwMode="auto">
          <a:xfrm>
            <a:off x="900113" y="2706688"/>
            <a:ext cx="1403350" cy="369887"/>
          </a:xfrm>
          <a:prstGeom prst="rect">
            <a:avLst/>
          </a:prstGeom>
          <a:noFill/>
          <a:ln w="9525">
            <a:noFill/>
            <a:miter lim="800000"/>
            <a:headEnd/>
            <a:tailEnd/>
          </a:ln>
        </p:spPr>
        <p:txBody>
          <a:bodyPr>
            <a:spAutoFit/>
          </a:bodyPr>
          <a:lstStyle/>
          <a:p>
            <a:r>
              <a:rPr lang="zh-CN" altLang="en-US" b="1">
                <a:solidFill>
                  <a:srgbClr val="000000"/>
                </a:solidFill>
                <a:latin typeface="Times New Roman" pitchFamily="18" charset="0"/>
                <a:ea typeface="华文中宋"/>
                <a:cs typeface="华文中宋"/>
              </a:rPr>
              <a:t>等温过程</a:t>
            </a:r>
          </a:p>
        </p:txBody>
      </p:sp>
      <p:sp>
        <p:nvSpPr>
          <p:cNvPr id="169999" name="Rectangle 15"/>
          <p:cNvSpPr>
            <a:spLocks noChangeArrowheads="1"/>
          </p:cNvSpPr>
          <p:nvPr/>
        </p:nvSpPr>
        <p:spPr bwMode="auto">
          <a:xfrm>
            <a:off x="827088" y="3498850"/>
            <a:ext cx="1403350" cy="368300"/>
          </a:xfrm>
          <a:prstGeom prst="rect">
            <a:avLst/>
          </a:prstGeom>
          <a:noFill/>
          <a:ln w="9525">
            <a:noFill/>
            <a:miter lim="800000"/>
            <a:headEnd/>
            <a:tailEnd/>
          </a:ln>
        </p:spPr>
        <p:txBody>
          <a:bodyPr>
            <a:spAutoFit/>
          </a:bodyPr>
          <a:lstStyle/>
          <a:p>
            <a:r>
              <a:rPr lang="zh-CN" altLang="en-US" b="1">
                <a:solidFill>
                  <a:srgbClr val="000000"/>
                </a:solidFill>
                <a:latin typeface="Times New Roman" pitchFamily="18" charset="0"/>
                <a:ea typeface="华文中宋"/>
                <a:cs typeface="华文中宋"/>
              </a:rPr>
              <a:t>绝热过程</a:t>
            </a:r>
          </a:p>
        </p:txBody>
      </p:sp>
      <p:sp>
        <p:nvSpPr>
          <p:cNvPr id="170000" name="Text Box 16"/>
          <p:cNvSpPr txBox="1">
            <a:spLocks noChangeArrowheads="1"/>
          </p:cNvSpPr>
          <p:nvPr/>
        </p:nvSpPr>
        <p:spPr bwMode="auto">
          <a:xfrm>
            <a:off x="684213" y="1492250"/>
            <a:ext cx="8108950" cy="368300"/>
          </a:xfrm>
          <a:prstGeom prst="rect">
            <a:avLst/>
          </a:prstGeom>
          <a:noFill/>
          <a:ln w="9525">
            <a:noFill/>
            <a:miter lim="800000"/>
            <a:headEnd/>
            <a:tailEnd/>
          </a:ln>
        </p:spPr>
        <p:txBody>
          <a:bodyPr>
            <a:spAutoFit/>
          </a:bodyPr>
          <a:lstStyle/>
          <a:p>
            <a:pPr eaLnBrk="0" hangingPunct="0"/>
            <a:r>
              <a:rPr lang="zh-CN" altLang="en-US" b="1">
                <a:solidFill>
                  <a:srgbClr val="000000"/>
                </a:solidFill>
                <a:latin typeface="华文中宋"/>
                <a:ea typeface="华文中宋"/>
                <a:cs typeface="华文中宋"/>
              </a:rPr>
              <a:t>多方过程的摩尔热容量为其他过程摩尔热容量的一般表示。</a:t>
            </a:r>
          </a:p>
        </p:txBody>
      </p:sp>
      <p:graphicFrame>
        <p:nvGraphicFramePr>
          <p:cNvPr id="170001" name="Object 97"/>
          <p:cNvGraphicFramePr>
            <a:graphicFrameLocks noChangeAspect="1"/>
          </p:cNvGraphicFramePr>
          <p:nvPr/>
        </p:nvGraphicFramePr>
        <p:xfrm>
          <a:off x="5110163" y="1844675"/>
          <a:ext cx="3494087" cy="582613"/>
        </p:xfrm>
        <a:graphic>
          <a:graphicData uri="http://schemas.openxmlformats.org/presentationml/2006/ole">
            <p:oleObj spid="_x0000_s22625" name="Equation" r:id="rId8" imgW="1828800" imgH="406400" progId="Equation.DSMT4">
              <p:embed/>
            </p:oleObj>
          </a:graphicData>
        </a:graphic>
      </p:graphicFrame>
      <p:graphicFrame>
        <p:nvGraphicFramePr>
          <p:cNvPr id="170002" name="Object 98"/>
          <p:cNvGraphicFramePr>
            <a:graphicFrameLocks noChangeAspect="1"/>
          </p:cNvGraphicFramePr>
          <p:nvPr/>
        </p:nvGraphicFramePr>
        <p:xfrm>
          <a:off x="5741988" y="2593975"/>
          <a:ext cx="2862262" cy="582613"/>
        </p:xfrm>
        <a:graphic>
          <a:graphicData uri="http://schemas.openxmlformats.org/presentationml/2006/ole">
            <p:oleObj spid="_x0000_s22626" name="Equation" r:id="rId9" imgW="1497950" imgH="406224" progId="Equation.DSMT4">
              <p:embed/>
            </p:oleObj>
          </a:graphicData>
        </a:graphic>
      </p:graphicFrame>
      <p:graphicFrame>
        <p:nvGraphicFramePr>
          <p:cNvPr id="170004" name="Object 99"/>
          <p:cNvGraphicFramePr>
            <a:graphicFrameLocks noChangeAspect="1"/>
          </p:cNvGraphicFramePr>
          <p:nvPr/>
        </p:nvGraphicFramePr>
        <p:xfrm>
          <a:off x="5435600" y="4014788"/>
          <a:ext cx="3201988" cy="581025"/>
        </p:xfrm>
        <a:graphic>
          <a:graphicData uri="http://schemas.openxmlformats.org/presentationml/2006/ole">
            <p:oleObj spid="_x0000_s22627" name="Equation" r:id="rId10" imgW="1675673" imgH="406224" progId="Equation.DSMT4">
              <p:embed/>
            </p:oleObj>
          </a:graphicData>
        </a:graphic>
      </p:graphicFrame>
      <p:grpSp>
        <p:nvGrpSpPr>
          <p:cNvPr id="2" name="Group 22"/>
          <p:cNvGrpSpPr>
            <a:grpSpLocks/>
          </p:cNvGrpSpPr>
          <p:nvPr/>
        </p:nvGrpSpPr>
        <p:grpSpPr bwMode="auto">
          <a:xfrm>
            <a:off x="4716463" y="3292475"/>
            <a:ext cx="3887787" cy="676275"/>
            <a:chOff x="1791" y="2976"/>
            <a:chExt cx="2610" cy="487"/>
          </a:xfrm>
        </p:grpSpPr>
        <p:graphicFrame>
          <p:nvGraphicFramePr>
            <p:cNvPr id="22628" name="Object 100"/>
            <p:cNvGraphicFramePr>
              <a:graphicFrameLocks noChangeAspect="1"/>
            </p:cNvGraphicFramePr>
            <p:nvPr/>
          </p:nvGraphicFramePr>
          <p:xfrm>
            <a:off x="1837" y="2976"/>
            <a:ext cx="2516" cy="487"/>
          </p:xfrm>
          <a:graphic>
            <a:graphicData uri="http://schemas.openxmlformats.org/presentationml/2006/ole">
              <p:oleObj spid="_x0000_s22628" name="Equation" r:id="rId11" imgW="2692400" imgH="444500" progId="Equation.DSMT4">
                <p:embed/>
              </p:oleObj>
            </a:graphicData>
          </a:graphic>
        </p:graphicFrame>
        <p:sp>
          <p:nvSpPr>
            <p:cNvPr id="22637" name="Rectangle 21"/>
            <p:cNvSpPr>
              <a:spLocks noChangeArrowheads="1"/>
            </p:cNvSpPr>
            <p:nvPr/>
          </p:nvSpPr>
          <p:spPr bwMode="auto">
            <a:xfrm>
              <a:off x="1791" y="3020"/>
              <a:ext cx="2610" cy="388"/>
            </a:xfrm>
            <a:prstGeom prst="rect">
              <a:avLst/>
            </a:prstGeom>
            <a:noFill/>
            <a:ln w="19050">
              <a:solidFill>
                <a:srgbClr val="FF00FF"/>
              </a:solidFill>
              <a:miter lim="800000"/>
              <a:headEnd/>
              <a:tailEnd/>
            </a:ln>
          </p:spPr>
          <p:txBody>
            <a:bodyPr anchor="ctr">
              <a:spAutoFit/>
            </a:bodyPr>
            <a:lstStyle/>
            <a:p>
              <a:endParaRPr kumimoji="1" lang="zh-CN" altLang="en-US" sz="2400" b="1">
                <a:solidFill>
                  <a:srgbClr val="000000"/>
                </a:solidFill>
                <a:latin typeface="Times New Roman" pitchFamily="18" charset="0"/>
                <a:ea typeface="华文中宋"/>
                <a:cs typeface="华文中宋"/>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8" fill="hold" grpId="0" nodeType="clickEffect">
                                  <p:stCondLst>
                                    <p:cond delay="0"/>
                                  </p:stCondLst>
                                  <p:childTnLst>
                                    <p:set>
                                      <p:cBhvr>
                                        <p:cTn id="6" dur="1" fill="hold">
                                          <p:stCondLst>
                                            <p:cond delay="0"/>
                                          </p:stCondLst>
                                        </p:cTn>
                                        <p:tgtEl>
                                          <p:spTgt spid="169988"/>
                                        </p:tgtEl>
                                        <p:attrNameLst>
                                          <p:attrName>style.visibility</p:attrName>
                                        </p:attrNameLst>
                                      </p:cBhvr>
                                      <p:to>
                                        <p:strVal val="visible"/>
                                      </p:to>
                                    </p:set>
                                    <p:anim calcmode="lin" valueType="num">
                                      <p:cBhvr>
                                        <p:cTn id="7" dur="500" fill="hold"/>
                                        <p:tgtEl>
                                          <p:spTgt spid="169988"/>
                                        </p:tgtEl>
                                        <p:attrNameLst>
                                          <p:attrName>ppt_x</p:attrName>
                                        </p:attrNameLst>
                                      </p:cBhvr>
                                      <p:tavLst>
                                        <p:tav tm="0">
                                          <p:val>
                                            <p:strVal val="#ppt_x-#ppt_w/2"/>
                                          </p:val>
                                        </p:tav>
                                        <p:tav tm="100000">
                                          <p:val>
                                            <p:strVal val="#ppt_x"/>
                                          </p:val>
                                        </p:tav>
                                      </p:tavLst>
                                    </p:anim>
                                    <p:anim calcmode="lin" valueType="num">
                                      <p:cBhvr>
                                        <p:cTn id="8" dur="500" fill="hold"/>
                                        <p:tgtEl>
                                          <p:spTgt spid="169988"/>
                                        </p:tgtEl>
                                        <p:attrNameLst>
                                          <p:attrName>ppt_y</p:attrName>
                                        </p:attrNameLst>
                                      </p:cBhvr>
                                      <p:tavLst>
                                        <p:tav tm="0">
                                          <p:val>
                                            <p:strVal val="#ppt_y"/>
                                          </p:val>
                                        </p:tav>
                                        <p:tav tm="100000">
                                          <p:val>
                                            <p:strVal val="#ppt_y"/>
                                          </p:val>
                                        </p:tav>
                                      </p:tavLst>
                                    </p:anim>
                                    <p:anim calcmode="lin" valueType="num">
                                      <p:cBhvr>
                                        <p:cTn id="9" dur="500" fill="hold"/>
                                        <p:tgtEl>
                                          <p:spTgt spid="169988"/>
                                        </p:tgtEl>
                                        <p:attrNameLst>
                                          <p:attrName>ppt_w</p:attrName>
                                        </p:attrNameLst>
                                      </p:cBhvr>
                                      <p:tavLst>
                                        <p:tav tm="0">
                                          <p:val>
                                            <p:fltVal val="0"/>
                                          </p:val>
                                        </p:tav>
                                        <p:tav tm="100000">
                                          <p:val>
                                            <p:strVal val="#ppt_w"/>
                                          </p:val>
                                        </p:tav>
                                      </p:tavLst>
                                    </p:anim>
                                    <p:anim calcmode="lin" valueType="num">
                                      <p:cBhvr>
                                        <p:cTn id="10" dur="500" fill="hold"/>
                                        <p:tgtEl>
                                          <p:spTgt spid="169988"/>
                                        </p:tgtEl>
                                        <p:attrNameLst>
                                          <p:attrName>ppt_h</p:attrName>
                                        </p:attrNameLst>
                                      </p:cBhvr>
                                      <p:tavLst>
                                        <p:tav tm="0">
                                          <p:val>
                                            <p:strVal val="#ppt_h"/>
                                          </p:val>
                                        </p:tav>
                                        <p:tav tm="100000">
                                          <p:val>
                                            <p:strVal val="#ppt_h"/>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169989"/>
                                        </p:tgtEl>
                                        <p:attrNameLst>
                                          <p:attrName>style.visibility</p:attrName>
                                        </p:attrNameLst>
                                      </p:cBhvr>
                                      <p:to>
                                        <p:strVal val="visible"/>
                                      </p:to>
                                    </p:set>
                                    <p:animEffect transition="in" filter="blinds(horizontal)">
                                      <p:cBhvr>
                                        <p:cTn id="15" dur="500"/>
                                        <p:tgtEl>
                                          <p:spTgt spid="169989"/>
                                        </p:tgtEl>
                                      </p:cBhvr>
                                    </p:animEffect>
                                  </p:childTnLst>
                                </p:cTn>
                              </p:par>
                              <p:par>
                                <p:cTn id="16" presetID="3" presetClass="entr" presetSubtype="10" fill="hold" nodeType="withEffect">
                                  <p:stCondLst>
                                    <p:cond delay="0"/>
                                  </p:stCondLst>
                                  <p:childTnLst>
                                    <p:set>
                                      <p:cBhvr>
                                        <p:cTn id="17" dur="1" fill="hold">
                                          <p:stCondLst>
                                            <p:cond delay="0"/>
                                          </p:stCondLst>
                                        </p:cTn>
                                        <p:tgtEl>
                                          <p:spTgt spid="169991"/>
                                        </p:tgtEl>
                                        <p:attrNameLst>
                                          <p:attrName>style.visibility</p:attrName>
                                        </p:attrNameLst>
                                      </p:cBhvr>
                                      <p:to>
                                        <p:strVal val="visible"/>
                                      </p:to>
                                    </p:set>
                                    <p:animEffect transition="in" filter="blinds(horizontal)">
                                      <p:cBhvr>
                                        <p:cTn id="18" dur="500"/>
                                        <p:tgtEl>
                                          <p:spTgt spid="169991"/>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170000"/>
                                        </p:tgtEl>
                                        <p:attrNameLst>
                                          <p:attrName>style.visibility</p:attrName>
                                        </p:attrNameLst>
                                      </p:cBhvr>
                                      <p:to>
                                        <p:strVal val="visible"/>
                                      </p:to>
                                    </p:set>
                                    <p:animEffect transition="in" filter="blinds(horizontal)">
                                      <p:cBhvr>
                                        <p:cTn id="23" dur="500"/>
                                        <p:tgtEl>
                                          <p:spTgt spid="170000"/>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3" presetClass="entr" presetSubtype="10" fill="hold" nodeType="clickEffect">
                                  <p:stCondLst>
                                    <p:cond delay="0"/>
                                  </p:stCondLst>
                                  <p:childTnLst>
                                    <p:set>
                                      <p:cBhvr>
                                        <p:cTn id="27" dur="1" fill="hold">
                                          <p:stCondLst>
                                            <p:cond delay="0"/>
                                          </p:stCondLst>
                                        </p:cTn>
                                        <p:tgtEl>
                                          <p:spTgt spid="169994"/>
                                        </p:tgtEl>
                                        <p:attrNameLst>
                                          <p:attrName>style.visibility</p:attrName>
                                        </p:attrNameLst>
                                      </p:cBhvr>
                                      <p:to>
                                        <p:strVal val="visible"/>
                                      </p:to>
                                    </p:set>
                                    <p:animEffect transition="in" filter="blinds(horizontal)">
                                      <p:cBhvr>
                                        <p:cTn id="28" dur="500"/>
                                        <p:tgtEl>
                                          <p:spTgt spid="169994"/>
                                        </p:tgtEl>
                                      </p:cBhvr>
                                    </p:animEffect>
                                  </p:childTnLst>
                                </p:cTn>
                              </p:par>
                              <p:par>
                                <p:cTn id="29" presetID="3" presetClass="entr" presetSubtype="10" fill="hold" grpId="0" nodeType="withEffect">
                                  <p:stCondLst>
                                    <p:cond delay="0"/>
                                  </p:stCondLst>
                                  <p:childTnLst>
                                    <p:set>
                                      <p:cBhvr>
                                        <p:cTn id="30" dur="1" fill="hold">
                                          <p:stCondLst>
                                            <p:cond delay="0"/>
                                          </p:stCondLst>
                                        </p:cTn>
                                        <p:tgtEl>
                                          <p:spTgt spid="169997"/>
                                        </p:tgtEl>
                                        <p:attrNameLst>
                                          <p:attrName>style.visibility</p:attrName>
                                        </p:attrNameLst>
                                      </p:cBhvr>
                                      <p:to>
                                        <p:strVal val="visible"/>
                                      </p:to>
                                    </p:set>
                                    <p:animEffect transition="in" filter="blinds(horizontal)">
                                      <p:cBhvr>
                                        <p:cTn id="31" dur="500"/>
                                        <p:tgtEl>
                                          <p:spTgt spid="169997"/>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3" presetClass="entr" presetSubtype="10" fill="hold" nodeType="clickEffect">
                                  <p:stCondLst>
                                    <p:cond delay="0"/>
                                  </p:stCondLst>
                                  <p:childTnLst>
                                    <p:set>
                                      <p:cBhvr>
                                        <p:cTn id="35" dur="1" fill="hold">
                                          <p:stCondLst>
                                            <p:cond delay="0"/>
                                          </p:stCondLst>
                                        </p:cTn>
                                        <p:tgtEl>
                                          <p:spTgt spid="170001"/>
                                        </p:tgtEl>
                                        <p:attrNameLst>
                                          <p:attrName>style.visibility</p:attrName>
                                        </p:attrNameLst>
                                      </p:cBhvr>
                                      <p:to>
                                        <p:strVal val="visible"/>
                                      </p:to>
                                    </p:set>
                                    <p:animEffect transition="in" filter="blinds(horizontal)">
                                      <p:cBhvr>
                                        <p:cTn id="36" dur="500"/>
                                        <p:tgtEl>
                                          <p:spTgt spid="170001"/>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3" presetClass="entr" presetSubtype="10" fill="hold" nodeType="clickEffect">
                                  <p:stCondLst>
                                    <p:cond delay="0"/>
                                  </p:stCondLst>
                                  <p:childTnLst>
                                    <p:set>
                                      <p:cBhvr>
                                        <p:cTn id="40" dur="1" fill="hold">
                                          <p:stCondLst>
                                            <p:cond delay="0"/>
                                          </p:stCondLst>
                                        </p:cTn>
                                        <p:tgtEl>
                                          <p:spTgt spid="169993"/>
                                        </p:tgtEl>
                                        <p:attrNameLst>
                                          <p:attrName>style.visibility</p:attrName>
                                        </p:attrNameLst>
                                      </p:cBhvr>
                                      <p:to>
                                        <p:strVal val="visible"/>
                                      </p:to>
                                    </p:set>
                                    <p:animEffect transition="in" filter="blinds(horizontal)">
                                      <p:cBhvr>
                                        <p:cTn id="41" dur="500"/>
                                        <p:tgtEl>
                                          <p:spTgt spid="169993"/>
                                        </p:tgtEl>
                                      </p:cBhvr>
                                    </p:animEffect>
                                  </p:childTnLst>
                                </p:cTn>
                              </p:par>
                              <p:par>
                                <p:cTn id="42" presetID="3" presetClass="entr" presetSubtype="10" fill="hold" grpId="0" nodeType="withEffect">
                                  <p:stCondLst>
                                    <p:cond delay="0"/>
                                  </p:stCondLst>
                                  <p:childTnLst>
                                    <p:set>
                                      <p:cBhvr>
                                        <p:cTn id="43" dur="1" fill="hold">
                                          <p:stCondLst>
                                            <p:cond delay="0"/>
                                          </p:stCondLst>
                                        </p:cTn>
                                        <p:tgtEl>
                                          <p:spTgt spid="169998"/>
                                        </p:tgtEl>
                                        <p:attrNameLst>
                                          <p:attrName>style.visibility</p:attrName>
                                        </p:attrNameLst>
                                      </p:cBhvr>
                                      <p:to>
                                        <p:strVal val="visible"/>
                                      </p:to>
                                    </p:set>
                                    <p:animEffect transition="in" filter="blinds(horizontal)">
                                      <p:cBhvr>
                                        <p:cTn id="44" dur="500"/>
                                        <p:tgtEl>
                                          <p:spTgt spid="169998"/>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3" presetClass="entr" presetSubtype="10" fill="hold" nodeType="clickEffect">
                                  <p:stCondLst>
                                    <p:cond delay="0"/>
                                  </p:stCondLst>
                                  <p:childTnLst>
                                    <p:set>
                                      <p:cBhvr>
                                        <p:cTn id="48" dur="1" fill="hold">
                                          <p:stCondLst>
                                            <p:cond delay="0"/>
                                          </p:stCondLst>
                                        </p:cTn>
                                        <p:tgtEl>
                                          <p:spTgt spid="170002"/>
                                        </p:tgtEl>
                                        <p:attrNameLst>
                                          <p:attrName>style.visibility</p:attrName>
                                        </p:attrNameLst>
                                      </p:cBhvr>
                                      <p:to>
                                        <p:strVal val="visible"/>
                                      </p:to>
                                    </p:set>
                                    <p:animEffect transition="in" filter="blinds(horizontal)">
                                      <p:cBhvr>
                                        <p:cTn id="49" dur="500"/>
                                        <p:tgtEl>
                                          <p:spTgt spid="170002"/>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3" presetClass="entr" presetSubtype="10" fill="hold" nodeType="clickEffect">
                                  <p:stCondLst>
                                    <p:cond delay="0"/>
                                  </p:stCondLst>
                                  <p:childTnLst>
                                    <p:set>
                                      <p:cBhvr>
                                        <p:cTn id="53" dur="1" fill="hold">
                                          <p:stCondLst>
                                            <p:cond delay="0"/>
                                          </p:stCondLst>
                                        </p:cTn>
                                        <p:tgtEl>
                                          <p:spTgt spid="169995"/>
                                        </p:tgtEl>
                                        <p:attrNameLst>
                                          <p:attrName>style.visibility</p:attrName>
                                        </p:attrNameLst>
                                      </p:cBhvr>
                                      <p:to>
                                        <p:strVal val="visible"/>
                                      </p:to>
                                    </p:set>
                                    <p:animEffect transition="in" filter="blinds(horizontal)">
                                      <p:cBhvr>
                                        <p:cTn id="54" dur="500"/>
                                        <p:tgtEl>
                                          <p:spTgt spid="169995"/>
                                        </p:tgtEl>
                                      </p:cBhvr>
                                    </p:animEffect>
                                  </p:childTnLst>
                                </p:cTn>
                              </p:par>
                              <p:par>
                                <p:cTn id="55" presetID="3" presetClass="entr" presetSubtype="10" fill="hold" grpId="0" nodeType="withEffect">
                                  <p:stCondLst>
                                    <p:cond delay="0"/>
                                  </p:stCondLst>
                                  <p:childTnLst>
                                    <p:set>
                                      <p:cBhvr>
                                        <p:cTn id="56" dur="1" fill="hold">
                                          <p:stCondLst>
                                            <p:cond delay="0"/>
                                          </p:stCondLst>
                                        </p:cTn>
                                        <p:tgtEl>
                                          <p:spTgt spid="169999"/>
                                        </p:tgtEl>
                                        <p:attrNameLst>
                                          <p:attrName>style.visibility</p:attrName>
                                        </p:attrNameLst>
                                      </p:cBhvr>
                                      <p:to>
                                        <p:strVal val="visible"/>
                                      </p:to>
                                    </p:set>
                                    <p:animEffect transition="in" filter="blinds(horizontal)">
                                      <p:cBhvr>
                                        <p:cTn id="57" dur="500"/>
                                        <p:tgtEl>
                                          <p:spTgt spid="169999"/>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3" presetClass="entr" presetSubtype="10" fill="hold" nodeType="clickEffect">
                                  <p:stCondLst>
                                    <p:cond delay="0"/>
                                  </p:stCondLst>
                                  <p:childTnLst>
                                    <p:set>
                                      <p:cBhvr>
                                        <p:cTn id="61" dur="1" fill="hold">
                                          <p:stCondLst>
                                            <p:cond delay="0"/>
                                          </p:stCondLst>
                                        </p:cTn>
                                        <p:tgtEl>
                                          <p:spTgt spid="2"/>
                                        </p:tgtEl>
                                        <p:attrNameLst>
                                          <p:attrName>style.visibility</p:attrName>
                                        </p:attrNameLst>
                                      </p:cBhvr>
                                      <p:to>
                                        <p:strVal val="visible"/>
                                      </p:to>
                                    </p:set>
                                    <p:animEffect transition="in" filter="blinds(horizontal)">
                                      <p:cBhvr>
                                        <p:cTn id="62" dur="500"/>
                                        <p:tgtEl>
                                          <p:spTgt spid="2"/>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3" presetClass="entr" presetSubtype="10" fill="hold" nodeType="clickEffect">
                                  <p:stCondLst>
                                    <p:cond delay="0"/>
                                  </p:stCondLst>
                                  <p:childTnLst>
                                    <p:set>
                                      <p:cBhvr>
                                        <p:cTn id="66" dur="1" fill="hold">
                                          <p:stCondLst>
                                            <p:cond delay="0"/>
                                          </p:stCondLst>
                                        </p:cTn>
                                        <p:tgtEl>
                                          <p:spTgt spid="169996"/>
                                        </p:tgtEl>
                                        <p:attrNameLst>
                                          <p:attrName>style.visibility</p:attrName>
                                        </p:attrNameLst>
                                      </p:cBhvr>
                                      <p:to>
                                        <p:strVal val="visible"/>
                                      </p:to>
                                    </p:set>
                                    <p:animEffect transition="in" filter="blinds(horizontal)">
                                      <p:cBhvr>
                                        <p:cTn id="67" dur="500"/>
                                        <p:tgtEl>
                                          <p:spTgt spid="169996"/>
                                        </p:tgtEl>
                                      </p:cBhvr>
                                    </p:animEffect>
                                  </p:childTnLst>
                                </p:cTn>
                              </p:par>
                              <p:par>
                                <p:cTn id="68" presetID="3" presetClass="entr" presetSubtype="10" fill="hold" grpId="0" nodeType="withEffect">
                                  <p:stCondLst>
                                    <p:cond delay="0"/>
                                  </p:stCondLst>
                                  <p:childTnLst>
                                    <p:set>
                                      <p:cBhvr>
                                        <p:cTn id="69" dur="1" fill="hold">
                                          <p:stCondLst>
                                            <p:cond delay="0"/>
                                          </p:stCondLst>
                                        </p:cTn>
                                        <p:tgtEl>
                                          <p:spTgt spid="169992"/>
                                        </p:tgtEl>
                                        <p:attrNameLst>
                                          <p:attrName>style.visibility</p:attrName>
                                        </p:attrNameLst>
                                      </p:cBhvr>
                                      <p:to>
                                        <p:strVal val="visible"/>
                                      </p:to>
                                    </p:set>
                                    <p:animEffect transition="in" filter="blinds(horizontal)">
                                      <p:cBhvr>
                                        <p:cTn id="70" dur="500"/>
                                        <p:tgtEl>
                                          <p:spTgt spid="169992"/>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3" presetClass="entr" presetSubtype="10" fill="hold" nodeType="clickEffect">
                                  <p:stCondLst>
                                    <p:cond delay="0"/>
                                  </p:stCondLst>
                                  <p:childTnLst>
                                    <p:set>
                                      <p:cBhvr>
                                        <p:cTn id="74" dur="1" fill="hold">
                                          <p:stCondLst>
                                            <p:cond delay="0"/>
                                          </p:stCondLst>
                                        </p:cTn>
                                        <p:tgtEl>
                                          <p:spTgt spid="170004"/>
                                        </p:tgtEl>
                                        <p:attrNameLst>
                                          <p:attrName>style.visibility</p:attrName>
                                        </p:attrNameLst>
                                      </p:cBhvr>
                                      <p:to>
                                        <p:strVal val="visible"/>
                                      </p:to>
                                    </p:set>
                                    <p:animEffect transition="in" filter="blinds(horizontal)">
                                      <p:cBhvr>
                                        <p:cTn id="75" dur="500"/>
                                        <p:tgtEl>
                                          <p:spTgt spid="1700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9988" grpId="0" autoUpdateAnimBg="0"/>
      <p:bldP spid="169989" grpId="0"/>
      <p:bldP spid="169992" grpId="0"/>
      <p:bldP spid="169997" grpId="0"/>
      <p:bldP spid="169998" grpId="0"/>
      <p:bldP spid="169999" grpId="0"/>
      <p:bldP spid="170000"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3" name="Text Box 5"/>
          <p:cNvSpPr txBox="1">
            <a:spLocks noChangeArrowheads="1"/>
          </p:cNvSpPr>
          <p:nvPr/>
        </p:nvSpPr>
        <p:spPr bwMode="auto">
          <a:xfrm>
            <a:off x="2051050" y="4300538"/>
            <a:ext cx="1657350" cy="322262"/>
          </a:xfrm>
          <a:prstGeom prst="rect">
            <a:avLst/>
          </a:prstGeom>
          <a:noFill/>
          <a:ln w="9525">
            <a:noFill/>
            <a:miter lim="800000"/>
            <a:headEnd/>
            <a:tailEnd/>
          </a:ln>
        </p:spPr>
        <p:txBody>
          <a:bodyPr>
            <a:spAutoFit/>
          </a:bodyPr>
          <a:lstStyle/>
          <a:p>
            <a:pPr algn="ctr" eaLnBrk="0" hangingPunct="0"/>
            <a:r>
              <a:rPr lang="zh-CN" altLang="en-US" sz="1500" b="1">
                <a:solidFill>
                  <a:srgbClr val="000000"/>
                </a:solidFill>
                <a:latin typeface="华文中宋"/>
                <a:ea typeface="华文中宋"/>
                <a:cs typeface="华文中宋"/>
              </a:rPr>
              <a:t>正循环</a:t>
            </a:r>
          </a:p>
        </p:txBody>
      </p:sp>
      <p:sp>
        <p:nvSpPr>
          <p:cNvPr id="32808" name="Text Box 40"/>
          <p:cNvSpPr txBox="1">
            <a:spLocks noChangeArrowheads="1"/>
          </p:cNvSpPr>
          <p:nvPr/>
        </p:nvSpPr>
        <p:spPr bwMode="auto">
          <a:xfrm>
            <a:off x="898525" y="2066925"/>
            <a:ext cx="7489825" cy="342900"/>
          </a:xfrm>
          <a:prstGeom prst="rect">
            <a:avLst/>
          </a:prstGeom>
          <a:noFill/>
          <a:ln w="9525">
            <a:noFill/>
            <a:miter lim="800000"/>
            <a:headEnd/>
            <a:tailEnd/>
          </a:ln>
        </p:spPr>
        <p:txBody>
          <a:bodyPr>
            <a:spAutoFit/>
          </a:bodyPr>
          <a:lstStyle/>
          <a:p>
            <a:pPr marL="457200" indent="-457200" eaLnBrk="0" hangingPunct="0">
              <a:lnSpc>
                <a:spcPct val="90000"/>
              </a:lnSpc>
            </a:pPr>
            <a:r>
              <a:rPr lang="zh-CN" altLang="en-US" b="1">
                <a:solidFill>
                  <a:srgbClr val="000000"/>
                </a:solidFill>
                <a:latin typeface="华文中宋"/>
                <a:ea typeface="华文中宋"/>
                <a:cs typeface="华文中宋"/>
              </a:rPr>
              <a:t>准静态循环在</a:t>
            </a:r>
            <a:r>
              <a:rPr lang="en-US" altLang="zh-CN" b="1" i="1">
                <a:solidFill>
                  <a:srgbClr val="000000"/>
                </a:solidFill>
                <a:latin typeface="Times New Roman" pitchFamily="18" charset="0"/>
                <a:ea typeface="华文中宋"/>
                <a:cs typeface="华文中宋"/>
              </a:rPr>
              <a:t>P</a:t>
            </a:r>
            <a:r>
              <a:rPr lang="en-US" altLang="zh-CN" b="1">
                <a:solidFill>
                  <a:srgbClr val="000000"/>
                </a:solidFill>
                <a:latin typeface="Times New Roman" pitchFamily="18" charset="0"/>
                <a:ea typeface="华文中宋"/>
                <a:cs typeface="华文中宋"/>
              </a:rPr>
              <a:t> -</a:t>
            </a:r>
            <a:r>
              <a:rPr lang="en-US" altLang="zh-CN" b="1" i="1">
                <a:solidFill>
                  <a:srgbClr val="000000"/>
                </a:solidFill>
                <a:latin typeface="Times New Roman" pitchFamily="18" charset="0"/>
                <a:ea typeface="华文中宋"/>
                <a:cs typeface="华文中宋"/>
              </a:rPr>
              <a:t>V</a:t>
            </a:r>
            <a:r>
              <a:rPr lang="zh-CN" altLang="en-US" b="1">
                <a:solidFill>
                  <a:srgbClr val="000000"/>
                </a:solidFill>
                <a:latin typeface="华文中宋"/>
                <a:ea typeface="华文中宋"/>
                <a:cs typeface="华文中宋"/>
              </a:rPr>
              <a:t>图上是一条封闭曲线。</a:t>
            </a:r>
            <a:endParaRPr lang="zh-CN" altLang="en-US">
              <a:solidFill>
                <a:srgbClr val="000000"/>
              </a:solidFill>
              <a:latin typeface="华文中宋"/>
              <a:ea typeface="华文中宋"/>
              <a:cs typeface="华文中宋"/>
            </a:endParaRPr>
          </a:p>
        </p:txBody>
      </p:sp>
      <p:sp>
        <p:nvSpPr>
          <p:cNvPr id="32887" name="Text Box 119"/>
          <p:cNvSpPr txBox="1">
            <a:spLocks noChangeArrowheads="1"/>
          </p:cNvSpPr>
          <p:nvPr/>
        </p:nvSpPr>
        <p:spPr bwMode="auto">
          <a:xfrm>
            <a:off x="900113" y="1798638"/>
            <a:ext cx="7848600" cy="341312"/>
          </a:xfrm>
          <a:prstGeom prst="rect">
            <a:avLst/>
          </a:prstGeom>
          <a:noFill/>
          <a:ln w="9525">
            <a:noFill/>
            <a:miter lim="800000"/>
            <a:headEnd/>
            <a:tailEnd/>
          </a:ln>
        </p:spPr>
        <p:txBody>
          <a:bodyPr>
            <a:spAutoFit/>
          </a:bodyPr>
          <a:lstStyle/>
          <a:p>
            <a:pPr marL="457200" indent="-457200" eaLnBrk="0" hangingPunct="0">
              <a:lnSpc>
                <a:spcPct val="90000"/>
              </a:lnSpc>
            </a:pPr>
            <a:r>
              <a:rPr lang="zh-CN" altLang="en-US" b="1">
                <a:solidFill>
                  <a:srgbClr val="0000FF"/>
                </a:solidFill>
                <a:latin typeface="华文中宋"/>
                <a:ea typeface="华文中宋"/>
                <a:cs typeface="华文中宋"/>
              </a:rPr>
              <a:t>工质（工作物质）</a:t>
            </a:r>
            <a:r>
              <a:rPr lang="zh-CN" altLang="en-US" b="1">
                <a:solidFill>
                  <a:srgbClr val="000000"/>
                </a:solidFill>
                <a:latin typeface="华文中宋"/>
                <a:ea typeface="华文中宋"/>
                <a:cs typeface="华文中宋"/>
              </a:rPr>
              <a:t>：循环工作的物质。</a:t>
            </a:r>
          </a:p>
        </p:txBody>
      </p:sp>
      <p:sp>
        <p:nvSpPr>
          <p:cNvPr id="32994" name="Rectangle 226"/>
          <p:cNvSpPr>
            <a:spLocks noChangeArrowheads="1"/>
          </p:cNvSpPr>
          <p:nvPr/>
        </p:nvSpPr>
        <p:spPr bwMode="auto">
          <a:xfrm>
            <a:off x="900113" y="1260475"/>
            <a:ext cx="7993062" cy="590550"/>
          </a:xfrm>
          <a:prstGeom prst="rect">
            <a:avLst/>
          </a:prstGeom>
          <a:noFill/>
          <a:ln w="9525">
            <a:noFill/>
            <a:miter lim="800000"/>
            <a:headEnd/>
            <a:tailEnd/>
          </a:ln>
        </p:spPr>
        <p:txBody>
          <a:bodyPr>
            <a:spAutoFit/>
          </a:bodyPr>
          <a:lstStyle/>
          <a:p>
            <a:pPr eaLnBrk="0" hangingPunct="0">
              <a:lnSpc>
                <a:spcPct val="90000"/>
              </a:lnSpc>
            </a:pPr>
            <a:r>
              <a:rPr lang="en-US" altLang="zh-CN" b="1">
                <a:solidFill>
                  <a:srgbClr val="000000"/>
                </a:solidFill>
                <a:latin typeface="Times New Roman" pitchFamily="18" charset="0"/>
                <a:ea typeface="华文中宋"/>
                <a:cs typeface="华文中宋"/>
              </a:rPr>
              <a:t>        </a:t>
            </a:r>
            <a:r>
              <a:rPr lang="zh-CN" altLang="en-US" b="1">
                <a:solidFill>
                  <a:srgbClr val="000000"/>
                </a:solidFill>
                <a:latin typeface="Times New Roman" pitchFamily="18" charset="0"/>
                <a:ea typeface="华文中宋"/>
                <a:cs typeface="华文中宋"/>
              </a:rPr>
              <a:t>系统的状态经过一系列变化后，又回到原来出发的状态，这一过程称为</a:t>
            </a:r>
            <a:r>
              <a:rPr lang="zh-CN" altLang="en-US" b="1">
                <a:solidFill>
                  <a:srgbClr val="0000FF"/>
                </a:solidFill>
                <a:latin typeface="Times New Roman" pitchFamily="18" charset="0"/>
                <a:ea typeface="华文中宋"/>
                <a:cs typeface="华文中宋"/>
              </a:rPr>
              <a:t>循环过程</a:t>
            </a:r>
            <a:r>
              <a:rPr lang="zh-CN" altLang="en-US" b="1">
                <a:solidFill>
                  <a:srgbClr val="000000"/>
                </a:solidFill>
                <a:latin typeface="Times New Roman" pitchFamily="18" charset="0"/>
                <a:ea typeface="华文中宋"/>
                <a:cs typeface="华文中宋"/>
              </a:rPr>
              <a:t>，简称</a:t>
            </a:r>
            <a:r>
              <a:rPr lang="zh-CN" altLang="en-US" b="1">
                <a:solidFill>
                  <a:srgbClr val="0000FF"/>
                </a:solidFill>
                <a:latin typeface="Times New Roman" pitchFamily="18" charset="0"/>
                <a:ea typeface="华文中宋"/>
                <a:cs typeface="华文中宋"/>
              </a:rPr>
              <a:t>循环</a:t>
            </a:r>
            <a:r>
              <a:rPr lang="zh-CN" altLang="en-US" b="1">
                <a:solidFill>
                  <a:srgbClr val="000000"/>
                </a:solidFill>
                <a:latin typeface="Times New Roman" pitchFamily="18" charset="0"/>
                <a:ea typeface="华文中宋"/>
                <a:cs typeface="华文中宋"/>
              </a:rPr>
              <a:t>。</a:t>
            </a:r>
          </a:p>
        </p:txBody>
      </p:sp>
      <p:grpSp>
        <p:nvGrpSpPr>
          <p:cNvPr id="2" name="Group 229"/>
          <p:cNvGrpSpPr>
            <a:grpSpLocks/>
          </p:cNvGrpSpPr>
          <p:nvPr/>
        </p:nvGrpSpPr>
        <p:grpSpPr bwMode="auto">
          <a:xfrm>
            <a:off x="1208088" y="2809875"/>
            <a:ext cx="2830512" cy="1690688"/>
            <a:chOff x="3072" y="1632"/>
            <a:chExt cx="2213" cy="1762"/>
          </a:xfrm>
        </p:grpSpPr>
        <p:sp>
          <p:nvSpPr>
            <p:cNvPr id="23749" name="Line 230"/>
            <p:cNvSpPr>
              <a:spLocks noChangeShapeType="1"/>
            </p:cNvSpPr>
            <p:nvPr/>
          </p:nvSpPr>
          <p:spPr bwMode="auto">
            <a:xfrm flipV="1">
              <a:off x="3306" y="3120"/>
              <a:ext cx="1974" cy="6"/>
            </a:xfrm>
            <a:prstGeom prst="line">
              <a:avLst/>
            </a:prstGeom>
            <a:noFill/>
            <a:ln w="19050">
              <a:solidFill>
                <a:srgbClr val="333333"/>
              </a:solidFill>
              <a:round/>
              <a:headEnd/>
              <a:tailEnd type="triangle" w="sm" len="lg"/>
            </a:ln>
          </p:spPr>
          <p:txBody>
            <a:bodyPr wrap="none" anchor="ctr"/>
            <a:lstStyle/>
            <a:p>
              <a:endParaRPr lang="zh-CN" altLang="en-US"/>
            </a:p>
          </p:txBody>
        </p:sp>
        <p:sp>
          <p:nvSpPr>
            <p:cNvPr id="23750" name="Line 231"/>
            <p:cNvSpPr>
              <a:spLocks noChangeShapeType="1"/>
            </p:cNvSpPr>
            <p:nvPr/>
          </p:nvSpPr>
          <p:spPr bwMode="auto">
            <a:xfrm flipV="1">
              <a:off x="3306" y="1638"/>
              <a:ext cx="0" cy="1488"/>
            </a:xfrm>
            <a:prstGeom prst="line">
              <a:avLst/>
            </a:prstGeom>
            <a:noFill/>
            <a:ln w="19050">
              <a:solidFill>
                <a:srgbClr val="333333"/>
              </a:solidFill>
              <a:round/>
              <a:headEnd/>
              <a:tailEnd type="triangle" w="sm" len="lg"/>
            </a:ln>
          </p:spPr>
          <p:txBody>
            <a:bodyPr wrap="none" anchor="ctr"/>
            <a:lstStyle/>
            <a:p>
              <a:endParaRPr lang="zh-CN" altLang="en-US"/>
            </a:p>
          </p:txBody>
        </p:sp>
        <p:graphicFrame>
          <p:nvGraphicFramePr>
            <p:cNvPr id="23698" name="Object 146"/>
            <p:cNvGraphicFramePr>
              <a:graphicFrameLocks noChangeAspect="1"/>
            </p:cNvGraphicFramePr>
            <p:nvPr/>
          </p:nvGraphicFramePr>
          <p:xfrm>
            <a:off x="3072" y="1632"/>
            <a:ext cx="192" cy="228"/>
          </p:xfrm>
          <a:graphic>
            <a:graphicData uri="http://schemas.openxmlformats.org/presentationml/2006/ole">
              <p:oleObj spid="_x0000_s23698" name="Equation" r:id="rId3" imgW="203112" imgH="241195" progId="Equation.3">
                <p:embed/>
              </p:oleObj>
            </a:graphicData>
          </a:graphic>
        </p:graphicFrame>
        <p:graphicFrame>
          <p:nvGraphicFramePr>
            <p:cNvPr id="23699" name="Object 147"/>
            <p:cNvGraphicFramePr>
              <a:graphicFrameLocks noChangeAspect="1"/>
            </p:cNvGraphicFramePr>
            <p:nvPr/>
          </p:nvGraphicFramePr>
          <p:xfrm>
            <a:off x="5088" y="3174"/>
            <a:ext cx="197" cy="220"/>
          </p:xfrm>
          <a:graphic>
            <a:graphicData uri="http://schemas.openxmlformats.org/presentationml/2006/ole">
              <p:oleObj spid="_x0000_s23699" name="Equation" r:id="rId4" imgW="215713" imgH="241091" progId="Equation.3">
                <p:embed/>
              </p:oleObj>
            </a:graphicData>
          </a:graphic>
        </p:graphicFrame>
        <p:graphicFrame>
          <p:nvGraphicFramePr>
            <p:cNvPr id="23700" name="Object 148"/>
            <p:cNvGraphicFramePr>
              <a:graphicFrameLocks noChangeAspect="1"/>
            </p:cNvGraphicFramePr>
            <p:nvPr/>
          </p:nvGraphicFramePr>
          <p:xfrm>
            <a:off x="3210" y="3126"/>
            <a:ext cx="177" cy="204"/>
          </p:xfrm>
          <a:graphic>
            <a:graphicData uri="http://schemas.openxmlformats.org/presentationml/2006/ole">
              <p:oleObj spid="_x0000_s23700" name="Equation" r:id="rId5" imgW="164957" imgH="190335" progId="Equation.3">
                <p:embed/>
              </p:oleObj>
            </a:graphicData>
          </a:graphic>
        </p:graphicFrame>
      </p:grpSp>
      <p:grpSp>
        <p:nvGrpSpPr>
          <p:cNvPr id="3" name="Group 235"/>
          <p:cNvGrpSpPr>
            <a:grpSpLocks/>
          </p:cNvGrpSpPr>
          <p:nvPr/>
        </p:nvGrpSpPr>
        <p:grpSpPr bwMode="auto">
          <a:xfrm>
            <a:off x="2122488" y="3125788"/>
            <a:ext cx="1597025" cy="809625"/>
            <a:chOff x="3648" y="1920"/>
            <a:chExt cx="1248" cy="768"/>
          </a:xfrm>
        </p:grpSpPr>
        <p:sp>
          <p:nvSpPr>
            <p:cNvPr id="23748" name="Freeform 236" descr="浅色下对角线"/>
            <p:cNvSpPr>
              <a:spLocks/>
            </p:cNvSpPr>
            <p:nvPr/>
          </p:nvSpPr>
          <p:spPr bwMode="auto">
            <a:xfrm>
              <a:off x="3648" y="1920"/>
              <a:ext cx="1248" cy="768"/>
            </a:xfrm>
            <a:custGeom>
              <a:avLst/>
              <a:gdLst>
                <a:gd name="T0" fmla="*/ 0 w 1248"/>
                <a:gd name="T1" fmla="*/ 0 h 768"/>
                <a:gd name="T2" fmla="*/ 250 w 1248"/>
                <a:gd name="T3" fmla="*/ 0 h 768"/>
                <a:gd name="T4" fmla="*/ 624 w 1248"/>
                <a:gd name="T5" fmla="*/ 96 h 768"/>
                <a:gd name="T6" fmla="*/ 957 w 1248"/>
                <a:gd name="T7" fmla="*/ 288 h 768"/>
                <a:gd name="T8" fmla="*/ 1118 w 1248"/>
                <a:gd name="T9" fmla="*/ 446 h 768"/>
                <a:gd name="T10" fmla="*/ 1206 w 1248"/>
                <a:gd name="T11" fmla="*/ 624 h 768"/>
                <a:gd name="T12" fmla="*/ 1248 w 1248"/>
                <a:gd name="T13" fmla="*/ 768 h 768"/>
                <a:gd name="T14" fmla="*/ 1040 w 1248"/>
                <a:gd name="T15" fmla="*/ 768 h 768"/>
                <a:gd name="T16" fmla="*/ 790 w 1248"/>
                <a:gd name="T17" fmla="*/ 720 h 768"/>
                <a:gd name="T18" fmla="*/ 582 w 1248"/>
                <a:gd name="T19" fmla="*/ 624 h 768"/>
                <a:gd name="T20" fmla="*/ 374 w 1248"/>
                <a:gd name="T21" fmla="*/ 528 h 768"/>
                <a:gd name="T22" fmla="*/ 250 w 1248"/>
                <a:gd name="T23" fmla="*/ 432 h 768"/>
                <a:gd name="T24" fmla="*/ 166 w 1248"/>
                <a:gd name="T25" fmla="*/ 336 h 768"/>
                <a:gd name="T26" fmla="*/ 62 w 1248"/>
                <a:gd name="T27" fmla="*/ 206 h 768"/>
                <a:gd name="T28" fmla="*/ 27 w 1248"/>
                <a:gd name="T29" fmla="*/ 103 h 768"/>
                <a:gd name="T30" fmla="*/ 0 w 1248"/>
                <a:gd name="T31" fmla="*/ 0 h 76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248"/>
                <a:gd name="T49" fmla="*/ 0 h 768"/>
                <a:gd name="T50" fmla="*/ 1248 w 1248"/>
                <a:gd name="T51" fmla="*/ 768 h 768"/>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248" h="768">
                  <a:moveTo>
                    <a:pt x="0" y="0"/>
                  </a:moveTo>
                  <a:lnTo>
                    <a:pt x="250" y="0"/>
                  </a:lnTo>
                  <a:lnTo>
                    <a:pt x="624" y="96"/>
                  </a:lnTo>
                  <a:lnTo>
                    <a:pt x="957" y="288"/>
                  </a:lnTo>
                  <a:lnTo>
                    <a:pt x="1118" y="446"/>
                  </a:lnTo>
                  <a:lnTo>
                    <a:pt x="1206" y="624"/>
                  </a:lnTo>
                  <a:lnTo>
                    <a:pt x="1248" y="768"/>
                  </a:lnTo>
                  <a:lnTo>
                    <a:pt x="1040" y="768"/>
                  </a:lnTo>
                  <a:lnTo>
                    <a:pt x="790" y="720"/>
                  </a:lnTo>
                  <a:lnTo>
                    <a:pt x="582" y="624"/>
                  </a:lnTo>
                  <a:lnTo>
                    <a:pt x="374" y="528"/>
                  </a:lnTo>
                  <a:lnTo>
                    <a:pt x="250" y="432"/>
                  </a:lnTo>
                  <a:lnTo>
                    <a:pt x="166" y="336"/>
                  </a:lnTo>
                  <a:lnTo>
                    <a:pt x="62" y="206"/>
                  </a:lnTo>
                  <a:lnTo>
                    <a:pt x="27" y="103"/>
                  </a:lnTo>
                  <a:lnTo>
                    <a:pt x="0" y="0"/>
                  </a:lnTo>
                  <a:close/>
                </a:path>
              </a:pathLst>
            </a:custGeom>
            <a:pattFill prst="ltDnDiag">
              <a:fgClr>
                <a:srgbClr val="CC0099"/>
              </a:fgClr>
              <a:bgClr>
                <a:schemeClr val="bg1"/>
              </a:bgClr>
            </a:pattFill>
            <a:ln w="9525">
              <a:noFill/>
              <a:round/>
              <a:headEnd/>
              <a:tailEnd/>
            </a:ln>
          </p:spPr>
          <p:txBody>
            <a:bodyPr wrap="none" anchor="ctr"/>
            <a:lstStyle/>
            <a:p>
              <a:endParaRPr lang="zh-CN" altLang="en-US"/>
            </a:p>
          </p:txBody>
        </p:sp>
        <p:graphicFrame>
          <p:nvGraphicFramePr>
            <p:cNvPr id="23701" name="Object 149"/>
            <p:cNvGraphicFramePr>
              <a:graphicFrameLocks noChangeAspect="1"/>
            </p:cNvGraphicFramePr>
            <p:nvPr/>
          </p:nvGraphicFramePr>
          <p:xfrm>
            <a:off x="4128" y="2160"/>
            <a:ext cx="276" cy="250"/>
          </p:xfrm>
          <a:graphic>
            <a:graphicData uri="http://schemas.openxmlformats.org/presentationml/2006/ole">
              <p:oleObj spid="_x0000_s23701" name="Equation" r:id="rId6" imgW="193680" imgH="174600" progId="Equation.DSMT4">
                <p:embed/>
              </p:oleObj>
            </a:graphicData>
          </a:graphic>
        </p:graphicFrame>
      </p:grpSp>
      <p:grpSp>
        <p:nvGrpSpPr>
          <p:cNvPr id="4" name="Group 238"/>
          <p:cNvGrpSpPr>
            <a:grpSpLocks/>
          </p:cNvGrpSpPr>
          <p:nvPr/>
        </p:nvGrpSpPr>
        <p:grpSpPr bwMode="auto">
          <a:xfrm>
            <a:off x="1893888" y="2824163"/>
            <a:ext cx="2209800" cy="1751012"/>
            <a:chOff x="3504" y="1632"/>
            <a:chExt cx="1728" cy="1824"/>
          </a:xfrm>
        </p:grpSpPr>
        <p:sp>
          <p:nvSpPr>
            <p:cNvPr id="23742" name="Arc 239"/>
            <p:cNvSpPr>
              <a:spLocks/>
            </p:cNvSpPr>
            <p:nvPr/>
          </p:nvSpPr>
          <p:spPr bwMode="auto">
            <a:xfrm>
              <a:off x="3648" y="1921"/>
              <a:ext cx="1252" cy="816"/>
            </a:xfrm>
            <a:custGeom>
              <a:avLst/>
              <a:gdLst>
                <a:gd name="T0" fmla="*/ 0 w 21594"/>
                <a:gd name="T1" fmla="*/ 0 h 21600"/>
                <a:gd name="T2" fmla="*/ 0 w 21594"/>
                <a:gd name="T3" fmla="*/ 0 h 21600"/>
                <a:gd name="T4" fmla="*/ 0 w 21594"/>
                <a:gd name="T5" fmla="*/ 0 h 21600"/>
                <a:gd name="T6" fmla="*/ 0 60000 65536"/>
                <a:gd name="T7" fmla="*/ 0 60000 65536"/>
                <a:gd name="T8" fmla="*/ 0 60000 65536"/>
                <a:gd name="T9" fmla="*/ 0 w 21594"/>
                <a:gd name="T10" fmla="*/ 0 h 21600"/>
                <a:gd name="T11" fmla="*/ 21594 w 21594"/>
                <a:gd name="T12" fmla="*/ 21600 h 21600"/>
              </a:gdLst>
              <a:ahLst/>
              <a:cxnLst>
                <a:cxn ang="T6">
                  <a:pos x="T0" y="T1"/>
                </a:cxn>
                <a:cxn ang="T7">
                  <a:pos x="T2" y="T3"/>
                </a:cxn>
                <a:cxn ang="T8">
                  <a:pos x="T4" y="T5"/>
                </a:cxn>
              </a:cxnLst>
              <a:rect l="T9" t="T10" r="T11" b="T12"/>
              <a:pathLst>
                <a:path w="21594" h="21600" fill="none" extrusionOk="0">
                  <a:moveTo>
                    <a:pt x="-1" y="0"/>
                  </a:moveTo>
                  <a:cubicBezTo>
                    <a:pt x="11723" y="0"/>
                    <a:pt x="21306" y="9351"/>
                    <a:pt x="21593" y="21072"/>
                  </a:cubicBezTo>
                </a:path>
                <a:path w="21594" h="21600" stroke="0" extrusionOk="0">
                  <a:moveTo>
                    <a:pt x="-1" y="0"/>
                  </a:moveTo>
                  <a:cubicBezTo>
                    <a:pt x="11723" y="0"/>
                    <a:pt x="21306" y="9351"/>
                    <a:pt x="21593" y="21072"/>
                  </a:cubicBezTo>
                  <a:lnTo>
                    <a:pt x="0" y="21600"/>
                  </a:lnTo>
                  <a:lnTo>
                    <a:pt x="-1" y="0"/>
                  </a:lnTo>
                  <a:close/>
                </a:path>
              </a:pathLst>
            </a:custGeom>
            <a:noFill/>
            <a:ln w="28575">
              <a:solidFill>
                <a:srgbClr val="CC00CC"/>
              </a:solidFill>
              <a:round/>
              <a:headEnd/>
              <a:tailEnd/>
            </a:ln>
          </p:spPr>
          <p:txBody>
            <a:bodyPr wrap="none" anchor="ctr"/>
            <a:lstStyle/>
            <a:p>
              <a:endParaRPr lang="zh-CN" altLang="en-US"/>
            </a:p>
          </p:txBody>
        </p:sp>
        <p:sp>
          <p:nvSpPr>
            <p:cNvPr id="23743" name="Line 240"/>
            <p:cNvSpPr>
              <a:spLocks noChangeShapeType="1"/>
            </p:cNvSpPr>
            <p:nvPr/>
          </p:nvSpPr>
          <p:spPr bwMode="auto">
            <a:xfrm>
              <a:off x="4368" y="2064"/>
              <a:ext cx="192" cy="96"/>
            </a:xfrm>
            <a:prstGeom prst="line">
              <a:avLst/>
            </a:prstGeom>
            <a:noFill/>
            <a:ln w="57150">
              <a:solidFill>
                <a:srgbClr val="CC0099"/>
              </a:solidFill>
              <a:round/>
              <a:headEnd/>
              <a:tailEnd type="triangle" w="sm" len="lg"/>
            </a:ln>
          </p:spPr>
          <p:txBody>
            <a:bodyPr wrap="none" anchor="ctr"/>
            <a:lstStyle/>
            <a:p>
              <a:endParaRPr lang="zh-CN" altLang="en-US"/>
            </a:p>
          </p:txBody>
        </p:sp>
        <p:sp>
          <p:nvSpPr>
            <p:cNvPr id="23744" name="Text Box 241"/>
            <p:cNvSpPr txBox="1">
              <a:spLocks noChangeArrowheads="1"/>
            </p:cNvSpPr>
            <p:nvPr/>
          </p:nvSpPr>
          <p:spPr bwMode="auto">
            <a:xfrm>
              <a:off x="3504" y="1632"/>
              <a:ext cx="336" cy="337"/>
            </a:xfrm>
            <a:prstGeom prst="rect">
              <a:avLst/>
            </a:prstGeom>
            <a:noFill/>
            <a:ln w="9525">
              <a:noFill/>
              <a:miter lim="800000"/>
              <a:headEnd/>
              <a:tailEnd/>
            </a:ln>
          </p:spPr>
          <p:txBody>
            <a:bodyPr>
              <a:spAutoFit/>
            </a:bodyPr>
            <a:lstStyle/>
            <a:p>
              <a:pPr eaLnBrk="0" hangingPunct="0">
                <a:spcBef>
                  <a:spcPct val="50000"/>
                </a:spcBef>
              </a:pPr>
              <a:r>
                <a:rPr kumimoji="1" lang="en-US" altLang="zh-CN" sz="1500" b="1" i="1">
                  <a:solidFill>
                    <a:srgbClr val="010000"/>
                  </a:solidFill>
                  <a:latin typeface="Times New Roman" pitchFamily="18" charset="0"/>
                  <a:ea typeface="楷体_GB2312"/>
                  <a:cs typeface="楷体_GB2312"/>
                </a:rPr>
                <a:t>A</a:t>
              </a:r>
            </a:p>
          </p:txBody>
        </p:sp>
        <p:sp>
          <p:nvSpPr>
            <p:cNvPr id="23745" name="Text Box 242"/>
            <p:cNvSpPr txBox="1">
              <a:spLocks noChangeArrowheads="1"/>
            </p:cNvSpPr>
            <p:nvPr/>
          </p:nvSpPr>
          <p:spPr bwMode="auto">
            <a:xfrm>
              <a:off x="4896" y="2544"/>
              <a:ext cx="336" cy="337"/>
            </a:xfrm>
            <a:prstGeom prst="rect">
              <a:avLst/>
            </a:prstGeom>
            <a:noFill/>
            <a:ln w="9525">
              <a:noFill/>
              <a:miter lim="800000"/>
              <a:headEnd/>
              <a:tailEnd/>
            </a:ln>
          </p:spPr>
          <p:txBody>
            <a:bodyPr>
              <a:spAutoFit/>
            </a:bodyPr>
            <a:lstStyle/>
            <a:p>
              <a:pPr eaLnBrk="0" hangingPunct="0">
                <a:spcBef>
                  <a:spcPct val="50000"/>
                </a:spcBef>
              </a:pPr>
              <a:r>
                <a:rPr kumimoji="1" lang="en-US" altLang="zh-CN" sz="1500" b="1" i="1">
                  <a:solidFill>
                    <a:srgbClr val="010000"/>
                  </a:solidFill>
                  <a:latin typeface="Times New Roman" pitchFamily="18" charset="0"/>
                  <a:ea typeface="楷体_GB2312"/>
                  <a:cs typeface="楷体_GB2312"/>
                </a:rPr>
                <a:t>B</a:t>
              </a:r>
            </a:p>
          </p:txBody>
        </p:sp>
        <p:sp>
          <p:nvSpPr>
            <p:cNvPr id="23746" name="Line 243"/>
            <p:cNvSpPr>
              <a:spLocks noChangeShapeType="1"/>
            </p:cNvSpPr>
            <p:nvPr/>
          </p:nvSpPr>
          <p:spPr bwMode="auto">
            <a:xfrm>
              <a:off x="3648" y="1920"/>
              <a:ext cx="0" cy="1200"/>
            </a:xfrm>
            <a:prstGeom prst="line">
              <a:avLst/>
            </a:prstGeom>
            <a:noFill/>
            <a:ln w="19050">
              <a:solidFill>
                <a:srgbClr val="1C1C1C"/>
              </a:solidFill>
              <a:prstDash val="dash"/>
              <a:round/>
              <a:headEnd/>
              <a:tailEnd/>
            </a:ln>
          </p:spPr>
          <p:txBody>
            <a:bodyPr wrap="none" anchor="ctr"/>
            <a:lstStyle/>
            <a:p>
              <a:endParaRPr lang="zh-CN" altLang="en-US"/>
            </a:p>
          </p:txBody>
        </p:sp>
        <p:sp>
          <p:nvSpPr>
            <p:cNvPr id="23747" name="Line 244"/>
            <p:cNvSpPr>
              <a:spLocks noChangeShapeType="1"/>
            </p:cNvSpPr>
            <p:nvPr/>
          </p:nvSpPr>
          <p:spPr bwMode="auto">
            <a:xfrm>
              <a:off x="4896" y="2688"/>
              <a:ext cx="0" cy="432"/>
            </a:xfrm>
            <a:prstGeom prst="line">
              <a:avLst/>
            </a:prstGeom>
            <a:noFill/>
            <a:ln w="19050">
              <a:solidFill>
                <a:srgbClr val="1C1C1C"/>
              </a:solidFill>
              <a:prstDash val="dash"/>
              <a:round/>
              <a:headEnd/>
              <a:tailEnd/>
            </a:ln>
          </p:spPr>
          <p:txBody>
            <a:bodyPr wrap="none" anchor="ctr"/>
            <a:lstStyle/>
            <a:p>
              <a:endParaRPr lang="zh-CN" altLang="en-US"/>
            </a:p>
          </p:txBody>
        </p:sp>
        <p:graphicFrame>
          <p:nvGraphicFramePr>
            <p:cNvPr id="23702" name="Object 150"/>
            <p:cNvGraphicFramePr>
              <a:graphicFrameLocks noChangeAspect="1"/>
            </p:cNvGraphicFramePr>
            <p:nvPr/>
          </p:nvGraphicFramePr>
          <p:xfrm>
            <a:off x="3552" y="3072"/>
            <a:ext cx="287" cy="336"/>
          </p:xfrm>
          <a:graphic>
            <a:graphicData uri="http://schemas.openxmlformats.org/presentationml/2006/ole">
              <p:oleObj spid="_x0000_s23702" name="公式" r:id="rId7" imgW="139579" imgH="164957" progId="Equation.3">
                <p:embed/>
              </p:oleObj>
            </a:graphicData>
          </a:graphic>
        </p:graphicFrame>
        <p:graphicFrame>
          <p:nvGraphicFramePr>
            <p:cNvPr id="23703" name="Object 151"/>
            <p:cNvGraphicFramePr>
              <a:graphicFrameLocks noChangeAspect="1"/>
            </p:cNvGraphicFramePr>
            <p:nvPr/>
          </p:nvGraphicFramePr>
          <p:xfrm>
            <a:off x="4800" y="3120"/>
            <a:ext cx="287" cy="336"/>
          </p:xfrm>
          <a:graphic>
            <a:graphicData uri="http://schemas.openxmlformats.org/presentationml/2006/ole">
              <p:oleObj spid="_x0000_s23703" name="公式" r:id="rId8" imgW="139579" imgH="164957" progId="Equation.3">
                <p:embed/>
              </p:oleObj>
            </a:graphicData>
          </a:graphic>
        </p:graphicFrame>
        <p:graphicFrame>
          <p:nvGraphicFramePr>
            <p:cNvPr id="23704" name="Object 152"/>
            <p:cNvGraphicFramePr>
              <a:graphicFrameLocks noChangeAspect="1"/>
            </p:cNvGraphicFramePr>
            <p:nvPr/>
          </p:nvGraphicFramePr>
          <p:xfrm>
            <a:off x="4430" y="1920"/>
            <a:ext cx="163" cy="204"/>
          </p:xfrm>
          <a:graphic>
            <a:graphicData uri="http://schemas.openxmlformats.org/presentationml/2006/ole">
              <p:oleObj spid="_x0000_s23704" name="Equation" r:id="rId9" imgW="152334" imgH="190417" progId="Equation.3">
                <p:embed/>
              </p:oleObj>
            </a:graphicData>
          </a:graphic>
        </p:graphicFrame>
      </p:grpSp>
      <p:grpSp>
        <p:nvGrpSpPr>
          <p:cNvPr id="5" name="Group 248"/>
          <p:cNvGrpSpPr>
            <a:grpSpLocks/>
          </p:cNvGrpSpPr>
          <p:nvPr/>
        </p:nvGrpSpPr>
        <p:grpSpPr bwMode="auto">
          <a:xfrm>
            <a:off x="2111375" y="3157538"/>
            <a:ext cx="1597025" cy="827087"/>
            <a:chOff x="3639" y="1905"/>
            <a:chExt cx="1248" cy="863"/>
          </a:xfrm>
        </p:grpSpPr>
        <p:sp>
          <p:nvSpPr>
            <p:cNvPr id="23740" name="Arc 249"/>
            <p:cNvSpPr>
              <a:spLocks/>
            </p:cNvSpPr>
            <p:nvPr/>
          </p:nvSpPr>
          <p:spPr bwMode="auto">
            <a:xfrm flipH="1" flipV="1">
              <a:off x="3639" y="1905"/>
              <a:ext cx="1248" cy="816"/>
            </a:xfrm>
            <a:custGeom>
              <a:avLst/>
              <a:gdLst>
                <a:gd name="T0" fmla="*/ 0 w 21591"/>
                <a:gd name="T1" fmla="*/ 0 h 21600"/>
                <a:gd name="T2" fmla="*/ 0 w 21591"/>
                <a:gd name="T3" fmla="*/ 0 h 21600"/>
                <a:gd name="T4" fmla="*/ 0 w 21591"/>
                <a:gd name="T5" fmla="*/ 0 h 21600"/>
                <a:gd name="T6" fmla="*/ 0 60000 65536"/>
                <a:gd name="T7" fmla="*/ 0 60000 65536"/>
                <a:gd name="T8" fmla="*/ 0 60000 65536"/>
                <a:gd name="T9" fmla="*/ 0 w 21591"/>
                <a:gd name="T10" fmla="*/ 0 h 21600"/>
                <a:gd name="T11" fmla="*/ 21591 w 21591"/>
                <a:gd name="T12" fmla="*/ 21600 h 21600"/>
              </a:gdLst>
              <a:ahLst/>
              <a:cxnLst>
                <a:cxn ang="T6">
                  <a:pos x="T0" y="T1"/>
                </a:cxn>
                <a:cxn ang="T7">
                  <a:pos x="T2" y="T3"/>
                </a:cxn>
                <a:cxn ang="T8">
                  <a:pos x="T4" y="T5"/>
                </a:cxn>
              </a:cxnLst>
              <a:rect l="T9" t="T10" r="T11" b="T12"/>
              <a:pathLst>
                <a:path w="21591" h="21600" fill="none" extrusionOk="0">
                  <a:moveTo>
                    <a:pt x="-1" y="0"/>
                  </a:moveTo>
                  <a:cubicBezTo>
                    <a:pt x="11681" y="0"/>
                    <a:pt x="21246" y="9287"/>
                    <a:pt x="21590" y="20964"/>
                  </a:cubicBezTo>
                </a:path>
                <a:path w="21591" h="21600" stroke="0" extrusionOk="0">
                  <a:moveTo>
                    <a:pt x="-1" y="0"/>
                  </a:moveTo>
                  <a:cubicBezTo>
                    <a:pt x="11681" y="0"/>
                    <a:pt x="21246" y="9287"/>
                    <a:pt x="21590" y="20964"/>
                  </a:cubicBezTo>
                  <a:lnTo>
                    <a:pt x="0" y="21600"/>
                  </a:lnTo>
                  <a:lnTo>
                    <a:pt x="-1" y="0"/>
                  </a:lnTo>
                  <a:close/>
                </a:path>
              </a:pathLst>
            </a:custGeom>
            <a:noFill/>
            <a:ln w="28575">
              <a:solidFill>
                <a:srgbClr val="0000FF"/>
              </a:solidFill>
              <a:round/>
              <a:headEnd/>
              <a:tailEnd/>
            </a:ln>
          </p:spPr>
          <p:txBody>
            <a:bodyPr wrap="none" anchor="ctr"/>
            <a:lstStyle/>
            <a:p>
              <a:endParaRPr lang="zh-CN" altLang="en-US"/>
            </a:p>
          </p:txBody>
        </p:sp>
        <p:sp>
          <p:nvSpPr>
            <p:cNvPr id="23741" name="Line 250"/>
            <p:cNvSpPr>
              <a:spLocks noChangeShapeType="1"/>
            </p:cNvSpPr>
            <p:nvPr/>
          </p:nvSpPr>
          <p:spPr bwMode="auto">
            <a:xfrm flipH="1" flipV="1">
              <a:off x="4176" y="2544"/>
              <a:ext cx="144" cy="48"/>
            </a:xfrm>
            <a:prstGeom prst="line">
              <a:avLst/>
            </a:prstGeom>
            <a:noFill/>
            <a:ln w="57150">
              <a:solidFill>
                <a:srgbClr val="0000FF"/>
              </a:solidFill>
              <a:round/>
              <a:headEnd/>
              <a:tailEnd type="triangle" w="sm" len="lg"/>
            </a:ln>
          </p:spPr>
          <p:txBody>
            <a:bodyPr wrap="none" anchor="ctr"/>
            <a:lstStyle/>
            <a:p>
              <a:endParaRPr lang="zh-CN" altLang="en-US"/>
            </a:p>
          </p:txBody>
        </p:sp>
        <p:graphicFrame>
          <p:nvGraphicFramePr>
            <p:cNvPr id="23705" name="Object 153"/>
            <p:cNvGraphicFramePr>
              <a:graphicFrameLocks noChangeAspect="1"/>
            </p:cNvGraphicFramePr>
            <p:nvPr/>
          </p:nvGraphicFramePr>
          <p:xfrm>
            <a:off x="4080" y="2544"/>
            <a:ext cx="168" cy="224"/>
          </p:xfrm>
          <a:graphic>
            <a:graphicData uri="http://schemas.openxmlformats.org/presentationml/2006/ole">
              <p:oleObj spid="_x0000_s23705" name="Equation" r:id="rId10" imgW="190417" imgH="253890" progId="Equation.3">
                <p:embed/>
              </p:oleObj>
            </a:graphicData>
          </a:graphic>
        </p:graphicFrame>
      </p:grpSp>
      <p:sp>
        <p:nvSpPr>
          <p:cNvPr id="33020" name="Text Box 252"/>
          <p:cNvSpPr txBox="1">
            <a:spLocks noChangeArrowheads="1"/>
          </p:cNvSpPr>
          <p:nvPr/>
        </p:nvSpPr>
        <p:spPr bwMode="auto">
          <a:xfrm>
            <a:off x="395288" y="2301875"/>
            <a:ext cx="2971800" cy="369888"/>
          </a:xfrm>
          <a:prstGeom prst="rect">
            <a:avLst/>
          </a:prstGeom>
          <a:noFill/>
          <a:ln w="9525">
            <a:noFill/>
            <a:miter lim="800000"/>
            <a:headEnd/>
            <a:tailEnd/>
          </a:ln>
        </p:spPr>
        <p:txBody>
          <a:bodyPr>
            <a:spAutoFit/>
          </a:bodyPr>
          <a:lstStyle/>
          <a:p>
            <a:pPr eaLnBrk="0" hangingPunct="0"/>
            <a:r>
              <a:rPr lang="en-US" altLang="zh-CN" b="1">
                <a:solidFill>
                  <a:srgbClr val="0000FF"/>
                </a:solidFill>
                <a:latin typeface="华文中宋"/>
                <a:ea typeface="华文中宋"/>
                <a:cs typeface="华文中宋"/>
              </a:rPr>
              <a:t>1</a:t>
            </a:r>
            <a:r>
              <a:rPr lang="zh-CN" altLang="en-US" b="1">
                <a:solidFill>
                  <a:srgbClr val="0000FF"/>
                </a:solidFill>
                <a:latin typeface="华文中宋"/>
                <a:ea typeface="华文中宋"/>
                <a:cs typeface="华文中宋"/>
              </a:rPr>
              <a:t>、循环的分类</a:t>
            </a:r>
          </a:p>
        </p:txBody>
      </p:sp>
      <p:grpSp>
        <p:nvGrpSpPr>
          <p:cNvPr id="6" name="Group 254"/>
          <p:cNvGrpSpPr>
            <a:grpSpLocks/>
          </p:cNvGrpSpPr>
          <p:nvPr/>
        </p:nvGrpSpPr>
        <p:grpSpPr bwMode="auto">
          <a:xfrm>
            <a:off x="5846763" y="3122613"/>
            <a:ext cx="1636712" cy="733425"/>
            <a:chOff x="1248" y="864"/>
            <a:chExt cx="1248" cy="768"/>
          </a:xfrm>
        </p:grpSpPr>
        <p:sp>
          <p:nvSpPr>
            <p:cNvPr id="23739" name="Freeform 255" descr="浅色下对角线"/>
            <p:cNvSpPr>
              <a:spLocks/>
            </p:cNvSpPr>
            <p:nvPr/>
          </p:nvSpPr>
          <p:spPr bwMode="auto">
            <a:xfrm>
              <a:off x="1248" y="864"/>
              <a:ext cx="1248" cy="768"/>
            </a:xfrm>
            <a:custGeom>
              <a:avLst/>
              <a:gdLst>
                <a:gd name="T0" fmla="*/ 0 w 1248"/>
                <a:gd name="T1" fmla="*/ 0 h 768"/>
                <a:gd name="T2" fmla="*/ 250 w 1248"/>
                <a:gd name="T3" fmla="*/ 0 h 768"/>
                <a:gd name="T4" fmla="*/ 624 w 1248"/>
                <a:gd name="T5" fmla="*/ 96 h 768"/>
                <a:gd name="T6" fmla="*/ 957 w 1248"/>
                <a:gd name="T7" fmla="*/ 288 h 768"/>
                <a:gd name="T8" fmla="*/ 1118 w 1248"/>
                <a:gd name="T9" fmla="*/ 446 h 768"/>
                <a:gd name="T10" fmla="*/ 1206 w 1248"/>
                <a:gd name="T11" fmla="*/ 624 h 768"/>
                <a:gd name="T12" fmla="*/ 1248 w 1248"/>
                <a:gd name="T13" fmla="*/ 768 h 768"/>
                <a:gd name="T14" fmla="*/ 1040 w 1248"/>
                <a:gd name="T15" fmla="*/ 768 h 768"/>
                <a:gd name="T16" fmla="*/ 790 w 1248"/>
                <a:gd name="T17" fmla="*/ 720 h 768"/>
                <a:gd name="T18" fmla="*/ 582 w 1248"/>
                <a:gd name="T19" fmla="*/ 624 h 768"/>
                <a:gd name="T20" fmla="*/ 374 w 1248"/>
                <a:gd name="T21" fmla="*/ 528 h 768"/>
                <a:gd name="T22" fmla="*/ 250 w 1248"/>
                <a:gd name="T23" fmla="*/ 432 h 768"/>
                <a:gd name="T24" fmla="*/ 166 w 1248"/>
                <a:gd name="T25" fmla="*/ 336 h 768"/>
                <a:gd name="T26" fmla="*/ 62 w 1248"/>
                <a:gd name="T27" fmla="*/ 206 h 768"/>
                <a:gd name="T28" fmla="*/ 27 w 1248"/>
                <a:gd name="T29" fmla="*/ 103 h 768"/>
                <a:gd name="T30" fmla="*/ 0 w 1248"/>
                <a:gd name="T31" fmla="*/ 0 h 76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248"/>
                <a:gd name="T49" fmla="*/ 0 h 768"/>
                <a:gd name="T50" fmla="*/ 1248 w 1248"/>
                <a:gd name="T51" fmla="*/ 768 h 768"/>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248" h="768">
                  <a:moveTo>
                    <a:pt x="0" y="0"/>
                  </a:moveTo>
                  <a:lnTo>
                    <a:pt x="250" y="0"/>
                  </a:lnTo>
                  <a:lnTo>
                    <a:pt x="624" y="96"/>
                  </a:lnTo>
                  <a:lnTo>
                    <a:pt x="957" y="288"/>
                  </a:lnTo>
                  <a:lnTo>
                    <a:pt x="1118" y="446"/>
                  </a:lnTo>
                  <a:lnTo>
                    <a:pt x="1206" y="624"/>
                  </a:lnTo>
                  <a:lnTo>
                    <a:pt x="1248" y="768"/>
                  </a:lnTo>
                  <a:lnTo>
                    <a:pt x="1040" y="768"/>
                  </a:lnTo>
                  <a:lnTo>
                    <a:pt x="790" y="720"/>
                  </a:lnTo>
                  <a:lnTo>
                    <a:pt x="582" y="624"/>
                  </a:lnTo>
                  <a:lnTo>
                    <a:pt x="374" y="528"/>
                  </a:lnTo>
                  <a:lnTo>
                    <a:pt x="250" y="432"/>
                  </a:lnTo>
                  <a:lnTo>
                    <a:pt x="166" y="336"/>
                  </a:lnTo>
                  <a:lnTo>
                    <a:pt x="62" y="206"/>
                  </a:lnTo>
                  <a:lnTo>
                    <a:pt x="27" y="103"/>
                  </a:lnTo>
                  <a:lnTo>
                    <a:pt x="0" y="0"/>
                  </a:lnTo>
                  <a:close/>
                </a:path>
              </a:pathLst>
            </a:custGeom>
            <a:pattFill prst="ltDnDiag">
              <a:fgClr>
                <a:srgbClr val="0066FF"/>
              </a:fgClr>
              <a:bgClr>
                <a:schemeClr val="bg1"/>
              </a:bgClr>
            </a:pattFill>
            <a:ln w="9525">
              <a:noFill/>
              <a:round/>
              <a:headEnd/>
              <a:tailEnd/>
            </a:ln>
          </p:spPr>
          <p:txBody>
            <a:bodyPr wrap="none" anchor="ctr"/>
            <a:lstStyle/>
            <a:p>
              <a:endParaRPr lang="zh-CN" altLang="en-US"/>
            </a:p>
          </p:txBody>
        </p:sp>
        <p:graphicFrame>
          <p:nvGraphicFramePr>
            <p:cNvPr id="23706" name="Object 154"/>
            <p:cNvGraphicFramePr>
              <a:graphicFrameLocks noChangeAspect="1"/>
            </p:cNvGraphicFramePr>
            <p:nvPr/>
          </p:nvGraphicFramePr>
          <p:xfrm>
            <a:off x="1776" y="1104"/>
            <a:ext cx="288" cy="261"/>
          </p:xfrm>
          <a:graphic>
            <a:graphicData uri="http://schemas.openxmlformats.org/presentationml/2006/ole">
              <p:oleObj spid="_x0000_s23706" name="Equation" r:id="rId11" imgW="266469" imgH="241091" progId="Equation.3">
                <p:embed/>
              </p:oleObj>
            </a:graphicData>
          </a:graphic>
        </p:graphicFrame>
      </p:grpSp>
      <p:grpSp>
        <p:nvGrpSpPr>
          <p:cNvPr id="7" name="Group 257"/>
          <p:cNvGrpSpPr>
            <a:grpSpLocks/>
          </p:cNvGrpSpPr>
          <p:nvPr/>
        </p:nvGrpSpPr>
        <p:grpSpPr bwMode="auto">
          <a:xfrm>
            <a:off x="4932363" y="2838450"/>
            <a:ext cx="2903537" cy="1679575"/>
            <a:chOff x="3072" y="1632"/>
            <a:chExt cx="2213" cy="1762"/>
          </a:xfrm>
        </p:grpSpPr>
        <p:sp>
          <p:nvSpPr>
            <p:cNvPr id="23737" name="Line 258"/>
            <p:cNvSpPr>
              <a:spLocks noChangeShapeType="1"/>
            </p:cNvSpPr>
            <p:nvPr/>
          </p:nvSpPr>
          <p:spPr bwMode="auto">
            <a:xfrm flipV="1">
              <a:off x="3306" y="3120"/>
              <a:ext cx="1974" cy="6"/>
            </a:xfrm>
            <a:prstGeom prst="line">
              <a:avLst/>
            </a:prstGeom>
            <a:noFill/>
            <a:ln w="19050">
              <a:solidFill>
                <a:srgbClr val="333333"/>
              </a:solidFill>
              <a:round/>
              <a:headEnd/>
              <a:tailEnd type="triangle" w="sm" len="lg"/>
            </a:ln>
          </p:spPr>
          <p:txBody>
            <a:bodyPr wrap="none" anchor="ctr"/>
            <a:lstStyle/>
            <a:p>
              <a:endParaRPr lang="zh-CN" altLang="en-US"/>
            </a:p>
          </p:txBody>
        </p:sp>
        <p:sp>
          <p:nvSpPr>
            <p:cNvPr id="23738" name="Line 259"/>
            <p:cNvSpPr>
              <a:spLocks noChangeShapeType="1"/>
            </p:cNvSpPr>
            <p:nvPr/>
          </p:nvSpPr>
          <p:spPr bwMode="auto">
            <a:xfrm flipV="1">
              <a:off x="3306" y="1638"/>
              <a:ext cx="0" cy="1488"/>
            </a:xfrm>
            <a:prstGeom prst="line">
              <a:avLst/>
            </a:prstGeom>
            <a:noFill/>
            <a:ln w="19050">
              <a:solidFill>
                <a:srgbClr val="333333"/>
              </a:solidFill>
              <a:round/>
              <a:headEnd/>
              <a:tailEnd type="triangle" w="sm" len="lg"/>
            </a:ln>
          </p:spPr>
          <p:txBody>
            <a:bodyPr wrap="none" anchor="ctr"/>
            <a:lstStyle/>
            <a:p>
              <a:endParaRPr lang="zh-CN" altLang="en-US"/>
            </a:p>
          </p:txBody>
        </p:sp>
        <p:graphicFrame>
          <p:nvGraphicFramePr>
            <p:cNvPr id="23707" name="Object 155"/>
            <p:cNvGraphicFramePr>
              <a:graphicFrameLocks noChangeAspect="1"/>
            </p:cNvGraphicFramePr>
            <p:nvPr/>
          </p:nvGraphicFramePr>
          <p:xfrm>
            <a:off x="3072" y="1632"/>
            <a:ext cx="192" cy="228"/>
          </p:xfrm>
          <a:graphic>
            <a:graphicData uri="http://schemas.openxmlformats.org/presentationml/2006/ole">
              <p:oleObj spid="_x0000_s23707" name="Equation" r:id="rId12" imgW="203112" imgH="241195" progId="Equation.3">
                <p:embed/>
              </p:oleObj>
            </a:graphicData>
          </a:graphic>
        </p:graphicFrame>
        <p:graphicFrame>
          <p:nvGraphicFramePr>
            <p:cNvPr id="23708" name="Object 156"/>
            <p:cNvGraphicFramePr>
              <a:graphicFrameLocks noChangeAspect="1"/>
            </p:cNvGraphicFramePr>
            <p:nvPr/>
          </p:nvGraphicFramePr>
          <p:xfrm>
            <a:off x="5088" y="3174"/>
            <a:ext cx="197" cy="220"/>
          </p:xfrm>
          <a:graphic>
            <a:graphicData uri="http://schemas.openxmlformats.org/presentationml/2006/ole">
              <p:oleObj spid="_x0000_s23708" name="Equation" r:id="rId13" imgW="215713" imgH="241091" progId="Equation.3">
                <p:embed/>
              </p:oleObj>
            </a:graphicData>
          </a:graphic>
        </p:graphicFrame>
        <p:graphicFrame>
          <p:nvGraphicFramePr>
            <p:cNvPr id="23709" name="Object 157"/>
            <p:cNvGraphicFramePr>
              <a:graphicFrameLocks noChangeAspect="1"/>
            </p:cNvGraphicFramePr>
            <p:nvPr/>
          </p:nvGraphicFramePr>
          <p:xfrm>
            <a:off x="3210" y="3126"/>
            <a:ext cx="177" cy="204"/>
          </p:xfrm>
          <a:graphic>
            <a:graphicData uri="http://schemas.openxmlformats.org/presentationml/2006/ole">
              <p:oleObj spid="_x0000_s23709" name="Equation" r:id="rId14" imgW="164957" imgH="190335" progId="Equation.3">
                <p:embed/>
              </p:oleObj>
            </a:graphicData>
          </a:graphic>
        </p:graphicFrame>
      </p:grpSp>
      <p:grpSp>
        <p:nvGrpSpPr>
          <p:cNvPr id="8" name="Group 263"/>
          <p:cNvGrpSpPr>
            <a:grpSpLocks/>
          </p:cNvGrpSpPr>
          <p:nvPr/>
        </p:nvGrpSpPr>
        <p:grpSpPr bwMode="auto">
          <a:xfrm>
            <a:off x="5618163" y="2841625"/>
            <a:ext cx="2266950" cy="1738313"/>
            <a:chOff x="1104" y="576"/>
            <a:chExt cx="1728" cy="1824"/>
          </a:xfrm>
        </p:grpSpPr>
        <p:sp>
          <p:nvSpPr>
            <p:cNvPr id="23731" name="Arc 264"/>
            <p:cNvSpPr>
              <a:spLocks/>
            </p:cNvSpPr>
            <p:nvPr/>
          </p:nvSpPr>
          <p:spPr bwMode="auto">
            <a:xfrm>
              <a:off x="1248" y="865"/>
              <a:ext cx="1252" cy="816"/>
            </a:xfrm>
            <a:custGeom>
              <a:avLst/>
              <a:gdLst>
                <a:gd name="T0" fmla="*/ 0 w 21594"/>
                <a:gd name="T1" fmla="*/ 0 h 21600"/>
                <a:gd name="T2" fmla="*/ 0 w 21594"/>
                <a:gd name="T3" fmla="*/ 0 h 21600"/>
                <a:gd name="T4" fmla="*/ 0 w 21594"/>
                <a:gd name="T5" fmla="*/ 0 h 21600"/>
                <a:gd name="T6" fmla="*/ 0 60000 65536"/>
                <a:gd name="T7" fmla="*/ 0 60000 65536"/>
                <a:gd name="T8" fmla="*/ 0 60000 65536"/>
                <a:gd name="T9" fmla="*/ 0 w 21594"/>
                <a:gd name="T10" fmla="*/ 0 h 21600"/>
                <a:gd name="T11" fmla="*/ 21594 w 21594"/>
                <a:gd name="T12" fmla="*/ 21600 h 21600"/>
              </a:gdLst>
              <a:ahLst/>
              <a:cxnLst>
                <a:cxn ang="T6">
                  <a:pos x="T0" y="T1"/>
                </a:cxn>
                <a:cxn ang="T7">
                  <a:pos x="T2" y="T3"/>
                </a:cxn>
                <a:cxn ang="T8">
                  <a:pos x="T4" y="T5"/>
                </a:cxn>
              </a:cxnLst>
              <a:rect l="T9" t="T10" r="T11" b="T12"/>
              <a:pathLst>
                <a:path w="21594" h="21600" fill="none" extrusionOk="0">
                  <a:moveTo>
                    <a:pt x="-1" y="0"/>
                  </a:moveTo>
                  <a:cubicBezTo>
                    <a:pt x="11723" y="0"/>
                    <a:pt x="21306" y="9351"/>
                    <a:pt x="21593" y="21072"/>
                  </a:cubicBezTo>
                </a:path>
                <a:path w="21594" h="21600" stroke="0" extrusionOk="0">
                  <a:moveTo>
                    <a:pt x="-1" y="0"/>
                  </a:moveTo>
                  <a:cubicBezTo>
                    <a:pt x="11723" y="0"/>
                    <a:pt x="21306" y="9351"/>
                    <a:pt x="21593" y="21072"/>
                  </a:cubicBezTo>
                  <a:lnTo>
                    <a:pt x="0" y="21600"/>
                  </a:lnTo>
                  <a:lnTo>
                    <a:pt x="-1" y="0"/>
                  </a:lnTo>
                  <a:close/>
                </a:path>
              </a:pathLst>
            </a:custGeom>
            <a:noFill/>
            <a:ln w="28575">
              <a:solidFill>
                <a:srgbClr val="CC00CC"/>
              </a:solidFill>
              <a:round/>
              <a:headEnd/>
              <a:tailEnd/>
            </a:ln>
          </p:spPr>
          <p:txBody>
            <a:bodyPr wrap="none" anchor="ctr"/>
            <a:lstStyle/>
            <a:p>
              <a:endParaRPr lang="zh-CN" altLang="en-US"/>
            </a:p>
          </p:txBody>
        </p:sp>
        <p:sp>
          <p:nvSpPr>
            <p:cNvPr id="23732" name="Line 265"/>
            <p:cNvSpPr>
              <a:spLocks noChangeShapeType="1"/>
            </p:cNvSpPr>
            <p:nvPr/>
          </p:nvSpPr>
          <p:spPr bwMode="auto">
            <a:xfrm>
              <a:off x="1968" y="1008"/>
              <a:ext cx="192" cy="96"/>
            </a:xfrm>
            <a:prstGeom prst="line">
              <a:avLst/>
            </a:prstGeom>
            <a:noFill/>
            <a:ln w="57150">
              <a:solidFill>
                <a:srgbClr val="CC0099"/>
              </a:solidFill>
              <a:round/>
              <a:headEnd type="triangle" w="sm" len="lg"/>
              <a:tailEnd type="none" w="sm" len="lg"/>
            </a:ln>
          </p:spPr>
          <p:txBody>
            <a:bodyPr wrap="none" anchor="ctr"/>
            <a:lstStyle/>
            <a:p>
              <a:endParaRPr lang="zh-CN" altLang="en-US"/>
            </a:p>
          </p:txBody>
        </p:sp>
        <p:sp>
          <p:nvSpPr>
            <p:cNvPr id="23733" name="Text Box 266"/>
            <p:cNvSpPr txBox="1">
              <a:spLocks noChangeArrowheads="1"/>
            </p:cNvSpPr>
            <p:nvPr/>
          </p:nvSpPr>
          <p:spPr bwMode="auto">
            <a:xfrm>
              <a:off x="1104" y="576"/>
              <a:ext cx="336" cy="339"/>
            </a:xfrm>
            <a:prstGeom prst="rect">
              <a:avLst/>
            </a:prstGeom>
            <a:noFill/>
            <a:ln w="9525">
              <a:noFill/>
              <a:miter lim="800000"/>
              <a:headEnd/>
              <a:tailEnd/>
            </a:ln>
          </p:spPr>
          <p:txBody>
            <a:bodyPr>
              <a:spAutoFit/>
            </a:bodyPr>
            <a:lstStyle/>
            <a:p>
              <a:pPr eaLnBrk="0" hangingPunct="0">
                <a:spcBef>
                  <a:spcPct val="50000"/>
                </a:spcBef>
              </a:pPr>
              <a:r>
                <a:rPr kumimoji="1" lang="en-US" altLang="zh-CN" sz="1500" b="1" i="1">
                  <a:solidFill>
                    <a:srgbClr val="010000"/>
                  </a:solidFill>
                  <a:latin typeface="Times New Roman" pitchFamily="18" charset="0"/>
                  <a:ea typeface="楷体_GB2312"/>
                  <a:cs typeface="楷体_GB2312"/>
                </a:rPr>
                <a:t>A</a:t>
              </a:r>
            </a:p>
          </p:txBody>
        </p:sp>
        <p:sp>
          <p:nvSpPr>
            <p:cNvPr id="23734" name="Text Box 267"/>
            <p:cNvSpPr txBox="1">
              <a:spLocks noChangeArrowheads="1"/>
            </p:cNvSpPr>
            <p:nvPr/>
          </p:nvSpPr>
          <p:spPr bwMode="auto">
            <a:xfrm>
              <a:off x="2496" y="1489"/>
              <a:ext cx="336" cy="339"/>
            </a:xfrm>
            <a:prstGeom prst="rect">
              <a:avLst/>
            </a:prstGeom>
            <a:noFill/>
            <a:ln w="9525">
              <a:noFill/>
              <a:miter lim="800000"/>
              <a:headEnd/>
              <a:tailEnd/>
            </a:ln>
          </p:spPr>
          <p:txBody>
            <a:bodyPr>
              <a:spAutoFit/>
            </a:bodyPr>
            <a:lstStyle/>
            <a:p>
              <a:pPr eaLnBrk="0" hangingPunct="0">
                <a:spcBef>
                  <a:spcPct val="50000"/>
                </a:spcBef>
              </a:pPr>
              <a:r>
                <a:rPr kumimoji="1" lang="en-US" altLang="zh-CN" sz="1500" b="1" i="1">
                  <a:solidFill>
                    <a:srgbClr val="010000"/>
                  </a:solidFill>
                  <a:latin typeface="Times New Roman" pitchFamily="18" charset="0"/>
                  <a:ea typeface="楷体_GB2312"/>
                  <a:cs typeface="楷体_GB2312"/>
                </a:rPr>
                <a:t>B</a:t>
              </a:r>
            </a:p>
          </p:txBody>
        </p:sp>
        <p:sp>
          <p:nvSpPr>
            <p:cNvPr id="23735" name="Line 268"/>
            <p:cNvSpPr>
              <a:spLocks noChangeShapeType="1"/>
            </p:cNvSpPr>
            <p:nvPr/>
          </p:nvSpPr>
          <p:spPr bwMode="auto">
            <a:xfrm>
              <a:off x="1248" y="864"/>
              <a:ext cx="0" cy="1200"/>
            </a:xfrm>
            <a:prstGeom prst="line">
              <a:avLst/>
            </a:prstGeom>
            <a:noFill/>
            <a:ln w="19050">
              <a:solidFill>
                <a:srgbClr val="1C1C1C"/>
              </a:solidFill>
              <a:prstDash val="dash"/>
              <a:round/>
              <a:headEnd/>
              <a:tailEnd/>
            </a:ln>
          </p:spPr>
          <p:txBody>
            <a:bodyPr wrap="none" anchor="ctr"/>
            <a:lstStyle/>
            <a:p>
              <a:endParaRPr lang="zh-CN" altLang="en-US"/>
            </a:p>
          </p:txBody>
        </p:sp>
        <p:sp>
          <p:nvSpPr>
            <p:cNvPr id="23736" name="Line 269"/>
            <p:cNvSpPr>
              <a:spLocks noChangeShapeType="1"/>
            </p:cNvSpPr>
            <p:nvPr/>
          </p:nvSpPr>
          <p:spPr bwMode="auto">
            <a:xfrm>
              <a:off x="2496" y="1632"/>
              <a:ext cx="0" cy="432"/>
            </a:xfrm>
            <a:prstGeom prst="line">
              <a:avLst/>
            </a:prstGeom>
            <a:noFill/>
            <a:ln w="19050">
              <a:solidFill>
                <a:srgbClr val="1C1C1C"/>
              </a:solidFill>
              <a:prstDash val="dash"/>
              <a:round/>
              <a:headEnd/>
              <a:tailEnd/>
            </a:ln>
          </p:spPr>
          <p:txBody>
            <a:bodyPr wrap="none" anchor="ctr"/>
            <a:lstStyle/>
            <a:p>
              <a:endParaRPr lang="zh-CN" altLang="en-US"/>
            </a:p>
          </p:txBody>
        </p:sp>
        <p:graphicFrame>
          <p:nvGraphicFramePr>
            <p:cNvPr id="23710" name="Object 158"/>
            <p:cNvGraphicFramePr>
              <a:graphicFrameLocks noChangeAspect="1"/>
            </p:cNvGraphicFramePr>
            <p:nvPr/>
          </p:nvGraphicFramePr>
          <p:xfrm>
            <a:off x="1152" y="2016"/>
            <a:ext cx="287" cy="336"/>
          </p:xfrm>
          <a:graphic>
            <a:graphicData uri="http://schemas.openxmlformats.org/presentationml/2006/ole">
              <p:oleObj spid="_x0000_s23710" name="公式" r:id="rId15" imgW="139579" imgH="164957" progId="Equation.3">
                <p:embed/>
              </p:oleObj>
            </a:graphicData>
          </a:graphic>
        </p:graphicFrame>
        <p:graphicFrame>
          <p:nvGraphicFramePr>
            <p:cNvPr id="23711" name="Object 159"/>
            <p:cNvGraphicFramePr>
              <a:graphicFrameLocks noChangeAspect="1"/>
            </p:cNvGraphicFramePr>
            <p:nvPr/>
          </p:nvGraphicFramePr>
          <p:xfrm>
            <a:off x="2400" y="2064"/>
            <a:ext cx="287" cy="336"/>
          </p:xfrm>
          <a:graphic>
            <a:graphicData uri="http://schemas.openxmlformats.org/presentationml/2006/ole">
              <p:oleObj spid="_x0000_s23711" name="公式" r:id="rId16" imgW="139579" imgH="164957" progId="Equation.3">
                <p:embed/>
              </p:oleObj>
            </a:graphicData>
          </a:graphic>
        </p:graphicFrame>
        <p:graphicFrame>
          <p:nvGraphicFramePr>
            <p:cNvPr id="23712" name="Object 160"/>
            <p:cNvGraphicFramePr>
              <a:graphicFrameLocks noChangeAspect="1"/>
            </p:cNvGraphicFramePr>
            <p:nvPr/>
          </p:nvGraphicFramePr>
          <p:xfrm>
            <a:off x="2030" y="864"/>
            <a:ext cx="163" cy="204"/>
          </p:xfrm>
          <a:graphic>
            <a:graphicData uri="http://schemas.openxmlformats.org/presentationml/2006/ole">
              <p:oleObj spid="_x0000_s23712" name="Equation" r:id="rId17" imgW="152334" imgH="190417" progId="Equation.3">
                <p:embed/>
              </p:oleObj>
            </a:graphicData>
          </a:graphic>
        </p:graphicFrame>
      </p:grpSp>
      <p:grpSp>
        <p:nvGrpSpPr>
          <p:cNvPr id="9" name="Group 273"/>
          <p:cNvGrpSpPr>
            <a:grpSpLocks/>
          </p:cNvGrpSpPr>
          <p:nvPr/>
        </p:nvGrpSpPr>
        <p:grpSpPr bwMode="auto">
          <a:xfrm>
            <a:off x="5846763" y="3074988"/>
            <a:ext cx="1636712" cy="869950"/>
            <a:chOff x="1248" y="816"/>
            <a:chExt cx="1248" cy="912"/>
          </a:xfrm>
        </p:grpSpPr>
        <p:sp>
          <p:nvSpPr>
            <p:cNvPr id="23729" name="Arc 274"/>
            <p:cNvSpPr>
              <a:spLocks/>
            </p:cNvSpPr>
            <p:nvPr/>
          </p:nvSpPr>
          <p:spPr bwMode="auto">
            <a:xfrm flipH="1" flipV="1">
              <a:off x="1248" y="816"/>
              <a:ext cx="1248" cy="816"/>
            </a:xfrm>
            <a:custGeom>
              <a:avLst/>
              <a:gdLst>
                <a:gd name="T0" fmla="*/ 0 w 21591"/>
                <a:gd name="T1" fmla="*/ 0 h 21600"/>
                <a:gd name="T2" fmla="*/ 0 w 21591"/>
                <a:gd name="T3" fmla="*/ 0 h 21600"/>
                <a:gd name="T4" fmla="*/ 0 w 21591"/>
                <a:gd name="T5" fmla="*/ 0 h 21600"/>
                <a:gd name="T6" fmla="*/ 0 60000 65536"/>
                <a:gd name="T7" fmla="*/ 0 60000 65536"/>
                <a:gd name="T8" fmla="*/ 0 60000 65536"/>
                <a:gd name="T9" fmla="*/ 0 w 21591"/>
                <a:gd name="T10" fmla="*/ 0 h 21600"/>
                <a:gd name="T11" fmla="*/ 21591 w 21591"/>
                <a:gd name="T12" fmla="*/ 21600 h 21600"/>
              </a:gdLst>
              <a:ahLst/>
              <a:cxnLst>
                <a:cxn ang="T6">
                  <a:pos x="T0" y="T1"/>
                </a:cxn>
                <a:cxn ang="T7">
                  <a:pos x="T2" y="T3"/>
                </a:cxn>
                <a:cxn ang="T8">
                  <a:pos x="T4" y="T5"/>
                </a:cxn>
              </a:cxnLst>
              <a:rect l="T9" t="T10" r="T11" b="T12"/>
              <a:pathLst>
                <a:path w="21591" h="21600" fill="none" extrusionOk="0">
                  <a:moveTo>
                    <a:pt x="-1" y="0"/>
                  </a:moveTo>
                  <a:cubicBezTo>
                    <a:pt x="11681" y="0"/>
                    <a:pt x="21246" y="9287"/>
                    <a:pt x="21590" y="20964"/>
                  </a:cubicBezTo>
                </a:path>
                <a:path w="21591" h="21600" stroke="0" extrusionOk="0">
                  <a:moveTo>
                    <a:pt x="-1" y="0"/>
                  </a:moveTo>
                  <a:cubicBezTo>
                    <a:pt x="11681" y="0"/>
                    <a:pt x="21246" y="9287"/>
                    <a:pt x="21590" y="20964"/>
                  </a:cubicBezTo>
                  <a:lnTo>
                    <a:pt x="0" y="21600"/>
                  </a:lnTo>
                  <a:lnTo>
                    <a:pt x="-1" y="0"/>
                  </a:lnTo>
                  <a:close/>
                </a:path>
              </a:pathLst>
            </a:custGeom>
            <a:noFill/>
            <a:ln w="28575">
              <a:solidFill>
                <a:srgbClr val="0000FF"/>
              </a:solidFill>
              <a:round/>
              <a:headEnd/>
              <a:tailEnd/>
            </a:ln>
          </p:spPr>
          <p:txBody>
            <a:bodyPr wrap="none" anchor="ctr"/>
            <a:lstStyle/>
            <a:p>
              <a:endParaRPr lang="zh-CN" altLang="en-US"/>
            </a:p>
          </p:txBody>
        </p:sp>
        <p:sp>
          <p:nvSpPr>
            <p:cNvPr id="23730" name="Line 275"/>
            <p:cNvSpPr>
              <a:spLocks noChangeShapeType="1"/>
            </p:cNvSpPr>
            <p:nvPr/>
          </p:nvSpPr>
          <p:spPr bwMode="auto">
            <a:xfrm flipH="1" flipV="1">
              <a:off x="1632" y="1392"/>
              <a:ext cx="144" cy="96"/>
            </a:xfrm>
            <a:prstGeom prst="line">
              <a:avLst/>
            </a:prstGeom>
            <a:noFill/>
            <a:ln w="57150">
              <a:solidFill>
                <a:srgbClr val="0000FF"/>
              </a:solidFill>
              <a:round/>
              <a:headEnd type="triangle" w="sm" len="lg"/>
              <a:tailEnd type="none" w="sm" len="lg"/>
            </a:ln>
          </p:spPr>
          <p:txBody>
            <a:bodyPr wrap="none" anchor="ctr"/>
            <a:lstStyle/>
            <a:p>
              <a:endParaRPr lang="zh-CN" altLang="en-US"/>
            </a:p>
          </p:txBody>
        </p:sp>
        <p:graphicFrame>
          <p:nvGraphicFramePr>
            <p:cNvPr id="23713" name="Object 161"/>
            <p:cNvGraphicFramePr>
              <a:graphicFrameLocks noChangeAspect="1"/>
            </p:cNvGraphicFramePr>
            <p:nvPr/>
          </p:nvGraphicFramePr>
          <p:xfrm>
            <a:off x="1680" y="1504"/>
            <a:ext cx="168" cy="224"/>
          </p:xfrm>
          <a:graphic>
            <a:graphicData uri="http://schemas.openxmlformats.org/presentationml/2006/ole">
              <p:oleObj spid="_x0000_s23713" name="Equation" r:id="rId18" imgW="190417" imgH="253890" progId="Equation.3">
                <p:embed/>
              </p:oleObj>
            </a:graphicData>
          </a:graphic>
        </p:graphicFrame>
      </p:grpSp>
      <p:sp>
        <p:nvSpPr>
          <p:cNvPr id="33045" name="Text Box 277"/>
          <p:cNvSpPr txBox="1">
            <a:spLocks noChangeArrowheads="1"/>
          </p:cNvSpPr>
          <p:nvPr/>
        </p:nvSpPr>
        <p:spPr bwMode="auto">
          <a:xfrm>
            <a:off x="5794375" y="4300538"/>
            <a:ext cx="1657350" cy="322262"/>
          </a:xfrm>
          <a:prstGeom prst="rect">
            <a:avLst/>
          </a:prstGeom>
          <a:noFill/>
          <a:ln w="9525">
            <a:noFill/>
            <a:miter lim="800000"/>
            <a:headEnd/>
            <a:tailEnd/>
          </a:ln>
        </p:spPr>
        <p:txBody>
          <a:bodyPr>
            <a:spAutoFit/>
          </a:bodyPr>
          <a:lstStyle/>
          <a:p>
            <a:pPr algn="ctr" eaLnBrk="0" hangingPunct="0"/>
            <a:r>
              <a:rPr lang="zh-CN" altLang="en-US" sz="1500" b="1">
                <a:solidFill>
                  <a:srgbClr val="000000"/>
                </a:solidFill>
                <a:latin typeface="华文中宋"/>
                <a:ea typeface="华文中宋"/>
                <a:cs typeface="华文中宋"/>
              </a:rPr>
              <a:t>逆循环</a:t>
            </a:r>
          </a:p>
        </p:txBody>
      </p:sp>
      <p:sp>
        <p:nvSpPr>
          <p:cNvPr id="56" name="Text Box 2"/>
          <p:cNvSpPr>
            <a:spLocks noChangeArrowheads="1"/>
          </p:cNvSpPr>
          <p:nvPr/>
        </p:nvSpPr>
        <p:spPr bwMode="auto">
          <a:xfrm>
            <a:off x="839788" y="874713"/>
            <a:ext cx="1860550" cy="401637"/>
          </a:xfrm>
          <a:prstGeom prst="homePlate">
            <a:avLst>
              <a:gd name="adj" fmla="val 49756"/>
            </a:avLst>
          </a:prstGeom>
          <a:solidFill>
            <a:srgbClr val="539A84"/>
          </a:solidFill>
          <a:ln w="9525">
            <a:noFill/>
            <a:miter lim="800000"/>
            <a:headEnd/>
            <a:tailEnd/>
          </a:ln>
        </p:spPr>
        <p:txBody>
          <a:bodyPr>
            <a:spAutoFit/>
          </a:bodyPr>
          <a:lstStyle/>
          <a:p>
            <a:pPr>
              <a:buFont typeface="Arial" charset="0"/>
              <a:buNone/>
            </a:pPr>
            <a:r>
              <a:rPr kumimoji="1" lang="zh-CN" altLang="en-US" sz="2000" b="1">
                <a:solidFill>
                  <a:srgbClr val="FFFFFF"/>
                </a:solidFill>
                <a:latin typeface="微软雅黑" pitchFamily="34" charset="-122"/>
                <a:ea typeface="微软雅黑" pitchFamily="34" charset="-122"/>
              </a:rPr>
              <a:t>一、循环过程</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6"/>
                                        </p:tgtEl>
                                        <p:attrNameLst>
                                          <p:attrName>style.visibility</p:attrName>
                                        </p:attrNameLst>
                                      </p:cBhvr>
                                      <p:to>
                                        <p:strVal val="visible"/>
                                      </p:to>
                                    </p:set>
                                    <p:animEffect transition="in" filter="wipe(left)">
                                      <p:cBhvr>
                                        <p:cTn id="7" dur="500"/>
                                        <p:tgtEl>
                                          <p:spTgt spid="5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2994"/>
                                        </p:tgtEl>
                                        <p:attrNameLst>
                                          <p:attrName>style.visibility</p:attrName>
                                        </p:attrNameLst>
                                      </p:cBhvr>
                                      <p:to>
                                        <p:strVal val="visible"/>
                                      </p:to>
                                    </p:set>
                                    <p:animEffect transition="in" filter="blinds(horizontal)">
                                      <p:cBhvr>
                                        <p:cTn id="12" dur="500"/>
                                        <p:tgtEl>
                                          <p:spTgt spid="3299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32887"/>
                                        </p:tgtEl>
                                        <p:attrNameLst>
                                          <p:attrName>style.visibility</p:attrName>
                                        </p:attrNameLst>
                                      </p:cBhvr>
                                      <p:to>
                                        <p:strVal val="visible"/>
                                      </p:to>
                                    </p:set>
                                    <p:animEffect transition="in" filter="checkerboard(across)">
                                      <p:cBhvr>
                                        <p:cTn id="17" dur="500"/>
                                        <p:tgtEl>
                                          <p:spTgt spid="3288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32808"/>
                                        </p:tgtEl>
                                        <p:attrNameLst>
                                          <p:attrName>style.visibility</p:attrName>
                                        </p:attrNameLst>
                                      </p:cBhvr>
                                      <p:to>
                                        <p:strVal val="visible"/>
                                      </p:to>
                                    </p:set>
                                    <p:animEffect transition="in" filter="checkerboard(across)">
                                      <p:cBhvr>
                                        <p:cTn id="22" dur="500"/>
                                        <p:tgtEl>
                                          <p:spTgt spid="3280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33020"/>
                                        </p:tgtEl>
                                        <p:attrNameLst>
                                          <p:attrName>style.visibility</p:attrName>
                                        </p:attrNameLst>
                                      </p:cBhvr>
                                      <p:to>
                                        <p:strVal val="visible"/>
                                      </p:to>
                                    </p:set>
                                    <p:animEffect transition="in" filter="checkerboard(across)">
                                      <p:cBhvr>
                                        <p:cTn id="27" dur="500"/>
                                        <p:tgtEl>
                                          <p:spTgt spid="33020"/>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blinds(horizontal)">
                                      <p:cBhvr>
                                        <p:cTn id="32" dur="500"/>
                                        <p:tgtEl>
                                          <p:spTgt spid="2"/>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4"/>
                                        </p:tgtEl>
                                        <p:attrNameLst>
                                          <p:attrName>style.visibility</p:attrName>
                                        </p:attrNameLst>
                                      </p:cBhvr>
                                      <p:to>
                                        <p:strVal val="visible"/>
                                      </p:to>
                                    </p:set>
                                    <p:animEffect transition="in" filter="blinds(horizontal)">
                                      <p:cBhvr>
                                        <p:cTn id="37" dur="500"/>
                                        <p:tgtEl>
                                          <p:spTgt spid="4"/>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5"/>
                                        </p:tgtEl>
                                        <p:attrNameLst>
                                          <p:attrName>style.visibility</p:attrName>
                                        </p:attrNameLst>
                                      </p:cBhvr>
                                      <p:to>
                                        <p:strVal val="visible"/>
                                      </p:to>
                                    </p:set>
                                    <p:animEffect transition="in" filter="blinds(horizontal)">
                                      <p:cBhvr>
                                        <p:cTn id="42" dur="500"/>
                                        <p:tgtEl>
                                          <p:spTgt spid="5"/>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4" presetClass="entr" presetSubtype="32" fill="hold" nodeType="clickEffect">
                                  <p:stCondLst>
                                    <p:cond delay="0"/>
                                  </p:stCondLst>
                                  <p:childTnLst>
                                    <p:set>
                                      <p:cBhvr>
                                        <p:cTn id="46" dur="1" fill="hold">
                                          <p:stCondLst>
                                            <p:cond delay="0"/>
                                          </p:stCondLst>
                                        </p:cTn>
                                        <p:tgtEl>
                                          <p:spTgt spid="3"/>
                                        </p:tgtEl>
                                        <p:attrNameLst>
                                          <p:attrName>style.visibility</p:attrName>
                                        </p:attrNameLst>
                                      </p:cBhvr>
                                      <p:to>
                                        <p:strVal val="visible"/>
                                      </p:to>
                                    </p:set>
                                    <p:animEffect transition="in" filter="box(out)">
                                      <p:cBhvr>
                                        <p:cTn id="47" dur="500"/>
                                        <p:tgtEl>
                                          <p:spTgt spid="3"/>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5" presetClass="entr" presetSubtype="10" fill="hold" grpId="0" nodeType="clickEffect">
                                  <p:stCondLst>
                                    <p:cond delay="0"/>
                                  </p:stCondLst>
                                  <p:childTnLst>
                                    <p:set>
                                      <p:cBhvr>
                                        <p:cTn id="51" dur="1" fill="hold">
                                          <p:stCondLst>
                                            <p:cond delay="0"/>
                                          </p:stCondLst>
                                        </p:cTn>
                                        <p:tgtEl>
                                          <p:spTgt spid="32773"/>
                                        </p:tgtEl>
                                        <p:attrNameLst>
                                          <p:attrName>style.visibility</p:attrName>
                                        </p:attrNameLst>
                                      </p:cBhvr>
                                      <p:to>
                                        <p:strVal val="visible"/>
                                      </p:to>
                                    </p:set>
                                    <p:animEffect transition="in" filter="checkerboard(across)">
                                      <p:cBhvr>
                                        <p:cTn id="52" dur="500"/>
                                        <p:tgtEl>
                                          <p:spTgt spid="32773"/>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5" presetClass="entr" presetSubtype="10" fill="hold" grpId="0" nodeType="clickEffect">
                                  <p:stCondLst>
                                    <p:cond delay="0"/>
                                  </p:stCondLst>
                                  <p:childTnLst>
                                    <p:set>
                                      <p:cBhvr>
                                        <p:cTn id="56" dur="1" fill="hold">
                                          <p:stCondLst>
                                            <p:cond delay="0"/>
                                          </p:stCondLst>
                                        </p:cTn>
                                        <p:tgtEl>
                                          <p:spTgt spid="33045"/>
                                        </p:tgtEl>
                                        <p:attrNameLst>
                                          <p:attrName>style.visibility</p:attrName>
                                        </p:attrNameLst>
                                      </p:cBhvr>
                                      <p:to>
                                        <p:strVal val="visible"/>
                                      </p:to>
                                    </p:set>
                                    <p:animEffect transition="in" filter="checkerboard(across)">
                                      <p:cBhvr>
                                        <p:cTn id="57" dur="500"/>
                                        <p:tgtEl>
                                          <p:spTgt spid="33045"/>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3" presetClass="entr" presetSubtype="10" fill="hold" nodeType="clickEffect">
                                  <p:stCondLst>
                                    <p:cond delay="0"/>
                                  </p:stCondLst>
                                  <p:childTnLst>
                                    <p:set>
                                      <p:cBhvr>
                                        <p:cTn id="61" dur="1" fill="hold">
                                          <p:stCondLst>
                                            <p:cond delay="0"/>
                                          </p:stCondLst>
                                        </p:cTn>
                                        <p:tgtEl>
                                          <p:spTgt spid="7"/>
                                        </p:tgtEl>
                                        <p:attrNameLst>
                                          <p:attrName>style.visibility</p:attrName>
                                        </p:attrNameLst>
                                      </p:cBhvr>
                                      <p:to>
                                        <p:strVal val="visible"/>
                                      </p:to>
                                    </p:set>
                                    <p:animEffect transition="in" filter="blinds(horizontal)">
                                      <p:cBhvr>
                                        <p:cTn id="62" dur="500"/>
                                        <p:tgtEl>
                                          <p:spTgt spid="7"/>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3" presetClass="entr" presetSubtype="10" fill="hold" nodeType="clickEffect">
                                  <p:stCondLst>
                                    <p:cond delay="0"/>
                                  </p:stCondLst>
                                  <p:childTnLst>
                                    <p:set>
                                      <p:cBhvr>
                                        <p:cTn id="66" dur="1" fill="hold">
                                          <p:stCondLst>
                                            <p:cond delay="0"/>
                                          </p:stCondLst>
                                        </p:cTn>
                                        <p:tgtEl>
                                          <p:spTgt spid="8"/>
                                        </p:tgtEl>
                                        <p:attrNameLst>
                                          <p:attrName>style.visibility</p:attrName>
                                        </p:attrNameLst>
                                      </p:cBhvr>
                                      <p:to>
                                        <p:strVal val="visible"/>
                                      </p:to>
                                    </p:set>
                                    <p:animEffect transition="in" filter="blinds(horizontal)">
                                      <p:cBhvr>
                                        <p:cTn id="67" dur="500"/>
                                        <p:tgtEl>
                                          <p:spTgt spid="8"/>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3" presetClass="entr" presetSubtype="10" fill="hold" nodeType="clickEffect">
                                  <p:stCondLst>
                                    <p:cond delay="0"/>
                                  </p:stCondLst>
                                  <p:childTnLst>
                                    <p:set>
                                      <p:cBhvr>
                                        <p:cTn id="71" dur="1" fill="hold">
                                          <p:stCondLst>
                                            <p:cond delay="0"/>
                                          </p:stCondLst>
                                        </p:cTn>
                                        <p:tgtEl>
                                          <p:spTgt spid="9"/>
                                        </p:tgtEl>
                                        <p:attrNameLst>
                                          <p:attrName>style.visibility</p:attrName>
                                        </p:attrNameLst>
                                      </p:cBhvr>
                                      <p:to>
                                        <p:strVal val="visible"/>
                                      </p:to>
                                    </p:set>
                                    <p:animEffect transition="in" filter="blinds(horizontal)">
                                      <p:cBhvr>
                                        <p:cTn id="72" dur="500"/>
                                        <p:tgtEl>
                                          <p:spTgt spid="9"/>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3" presetClass="entr" presetSubtype="10" fill="hold" nodeType="clickEffect">
                                  <p:stCondLst>
                                    <p:cond delay="0"/>
                                  </p:stCondLst>
                                  <p:childTnLst>
                                    <p:set>
                                      <p:cBhvr>
                                        <p:cTn id="76" dur="1" fill="hold">
                                          <p:stCondLst>
                                            <p:cond delay="0"/>
                                          </p:stCondLst>
                                        </p:cTn>
                                        <p:tgtEl>
                                          <p:spTgt spid="6"/>
                                        </p:tgtEl>
                                        <p:attrNameLst>
                                          <p:attrName>style.visibility</p:attrName>
                                        </p:attrNameLst>
                                      </p:cBhvr>
                                      <p:to>
                                        <p:strVal val="visible"/>
                                      </p:to>
                                    </p:set>
                                    <p:animEffect transition="in" filter="blinds(horizontal)">
                                      <p:cBhvr>
                                        <p:cTn id="7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3" grpId="0" autoUpdateAnimBg="0"/>
      <p:bldP spid="32808" grpId="0" autoUpdateAnimBg="0"/>
      <p:bldP spid="32887" grpId="0" autoUpdateAnimBg="0"/>
      <p:bldP spid="32994" grpId="0"/>
      <p:bldP spid="33020" grpId="0" autoUpdateAnimBg="0"/>
      <p:bldP spid="33045" grpId="0" autoUpdateAnimBg="0"/>
      <p:bldP spid="56"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6" name="Text Box 4"/>
          <p:cNvSpPr txBox="1">
            <a:spLocks noChangeArrowheads="1"/>
          </p:cNvSpPr>
          <p:nvPr/>
        </p:nvSpPr>
        <p:spPr bwMode="auto">
          <a:xfrm>
            <a:off x="539750" y="1492250"/>
            <a:ext cx="6192838" cy="646113"/>
          </a:xfrm>
          <a:prstGeom prst="rect">
            <a:avLst/>
          </a:prstGeom>
          <a:noFill/>
          <a:ln w="9525">
            <a:noFill/>
            <a:miter lim="800000"/>
            <a:headEnd/>
            <a:tailEnd/>
          </a:ln>
        </p:spPr>
        <p:txBody>
          <a:bodyPr>
            <a:spAutoFit/>
          </a:bodyPr>
          <a:lstStyle/>
          <a:p>
            <a:pPr eaLnBrk="0" hangingPunct="0"/>
            <a:r>
              <a:rPr lang="zh-CN" altLang="en-US" b="1">
                <a:solidFill>
                  <a:srgbClr val="000000"/>
                </a:solidFill>
                <a:latin typeface="Times New Roman" pitchFamily="18" charset="0"/>
                <a:ea typeface="华文中宋"/>
                <a:cs typeface="华文中宋"/>
              </a:rPr>
              <a:t>由热力学第一定律知，每次循环，</a:t>
            </a:r>
            <a:r>
              <a:rPr lang="en-US" altLang="zh-CN" b="1" i="1">
                <a:solidFill>
                  <a:srgbClr val="000000"/>
                </a:solidFill>
                <a:latin typeface="Times New Roman" pitchFamily="18" charset="0"/>
                <a:ea typeface="华文中宋"/>
                <a:cs typeface="华文中宋"/>
              </a:rPr>
              <a:t>Q</a:t>
            </a:r>
            <a:r>
              <a:rPr lang="en-US" altLang="zh-CN" b="1" baseline="-25000">
                <a:solidFill>
                  <a:srgbClr val="000000"/>
                </a:solidFill>
                <a:latin typeface="Times New Roman" pitchFamily="18" charset="0"/>
                <a:ea typeface="华文中宋"/>
                <a:cs typeface="华文中宋"/>
              </a:rPr>
              <a:t>1</a:t>
            </a:r>
            <a:r>
              <a:rPr lang="en-US" altLang="zh-CN" b="1" i="1">
                <a:solidFill>
                  <a:srgbClr val="000000"/>
                </a:solidFill>
                <a:latin typeface="Times New Roman" pitchFamily="18" charset="0"/>
                <a:ea typeface="华文中宋"/>
                <a:cs typeface="华文中宋"/>
              </a:rPr>
              <a:t>-Q</a:t>
            </a:r>
            <a:r>
              <a:rPr lang="en-US" altLang="zh-CN" b="1" baseline="-25000">
                <a:solidFill>
                  <a:srgbClr val="000000"/>
                </a:solidFill>
                <a:latin typeface="Times New Roman" pitchFamily="18" charset="0"/>
                <a:ea typeface="华文中宋"/>
                <a:cs typeface="华文中宋"/>
              </a:rPr>
              <a:t>2</a:t>
            </a:r>
            <a:r>
              <a:rPr lang="en-US" altLang="zh-CN" b="1" i="1">
                <a:solidFill>
                  <a:srgbClr val="000000"/>
                </a:solidFill>
                <a:latin typeface="Times New Roman" pitchFamily="18" charset="0"/>
                <a:ea typeface="华文中宋"/>
                <a:cs typeface="华文中宋"/>
              </a:rPr>
              <a:t>=W</a:t>
            </a:r>
            <a:r>
              <a:rPr lang="zh-CN" altLang="en-US" b="1" baseline="-25000">
                <a:solidFill>
                  <a:srgbClr val="000000"/>
                </a:solidFill>
                <a:latin typeface="Times New Roman" pitchFamily="18" charset="0"/>
                <a:ea typeface="华文中宋"/>
                <a:cs typeface="华文中宋"/>
              </a:rPr>
              <a:t>净</a:t>
            </a:r>
            <a:r>
              <a:rPr lang="zh-CN" altLang="en-US" b="1">
                <a:solidFill>
                  <a:srgbClr val="000000"/>
                </a:solidFill>
                <a:latin typeface="Times New Roman" pitchFamily="18" charset="0"/>
                <a:ea typeface="华文中宋"/>
                <a:cs typeface="华文中宋"/>
              </a:rPr>
              <a:t>（做静功为</a:t>
            </a:r>
            <a:r>
              <a:rPr kumimoji="1" lang="zh-CN" altLang="en-US" b="1">
                <a:solidFill>
                  <a:srgbClr val="000000"/>
                </a:solidFill>
                <a:latin typeface="Times New Roman" pitchFamily="18" charset="0"/>
                <a:ea typeface="华文中宋"/>
                <a:cs typeface="华文中宋"/>
              </a:rPr>
              <a:t>封闭曲线所围的面积）</a:t>
            </a:r>
          </a:p>
        </p:txBody>
      </p:sp>
      <p:sp>
        <p:nvSpPr>
          <p:cNvPr id="33797" name="Text Box 5"/>
          <p:cNvSpPr txBox="1">
            <a:spLocks noChangeArrowheads="1"/>
          </p:cNvSpPr>
          <p:nvPr/>
        </p:nvSpPr>
        <p:spPr bwMode="auto">
          <a:xfrm>
            <a:off x="541338" y="2130425"/>
            <a:ext cx="4030662" cy="368300"/>
          </a:xfrm>
          <a:prstGeom prst="rect">
            <a:avLst/>
          </a:prstGeom>
          <a:noFill/>
          <a:ln w="9525">
            <a:noFill/>
            <a:miter lim="800000"/>
            <a:headEnd/>
            <a:tailEnd/>
          </a:ln>
        </p:spPr>
        <p:txBody>
          <a:bodyPr>
            <a:spAutoFit/>
          </a:bodyPr>
          <a:lstStyle/>
          <a:p>
            <a:pPr eaLnBrk="0" hangingPunct="0"/>
            <a:r>
              <a:rPr lang="en-US" altLang="zh-CN" b="1">
                <a:solidFill>
                  <a:srgbClr val="0000FF"/>
                </a:solidFill>
                <a:latin typeface="华文中宋"/>
                <a:ea typeface="华文中宋"/>
                <a:cs typeface="华文中宋"/>
              </a:rPr>
              <a:t>3</a:t>
            </a:r>
            <a:r>
              <a:rPr lang="zh-CN" altLang="en-US" b="1">
                <a:solidFill>
                  <a:srgbClr val="0000FF"/>
                </a:solidFill>
                <a:latin typeface="华文中宋"/>
                <a:ea typeface="华文中宋"/>
                <a:cs typeface="华文中宋"/>
              </a:rPr>
              <a:t>、热机与热机效率</a:t>
            </a:r>
            <a:endParaRPr lang="zh-CN" altLang="en-US">
              <a:solidFill>
                <a:srgbClr val="0000FF"/>
              </a:solidFill>
              <a:latin typeface="华文中宋"/>
              <a:ea typeface="华文中宋"/>
              <a:cs typeface="华文中宋"/>
            </a:endParaRPr>
          </a:p>
        </p:txBody>
      </p:sp>
      <p:sp>
        <p:nvSpPr>
          <p:cNvPr id="33803" name="Rectangle 11"/>
          <p:cNvSpPr>
            <a:spLocks noChangeArrowheads="1"/>
          </p:cNvSpPr>
          <p:nvPr/>
        </p:nvSpPr>
        <p:spPr bwMode="auto">
          <a:xfrm>
            <a:off x="827088" y="4075113"/>
            <a:ext cx="2027237" cy="368300"/>
          </a:xfrm>
          <a:prstGeom prst="rect">
            <a:avLst/>
          </a:prstGeom>
          <a:noFill/>
          <a:ln w="9525">
            <a:noFill/>
            <a:miter lim="800000"/>
            <a:headEnd/>
            <a:tailEnd/>
          </a:ln>
        </p:spPr>
        <p:txBody>
          <a:bodyPr>
            <a:spAutoFit/>
          </a:bodyPr>
          <a:lstStyle/>
          <a:p>
            <a:r>
              <a:rPr lang="zh-CN" altLang="en-US" b="1">
                <a:solidFill>
                  <a:srgbClr val="000000"/>
                </a:solidFill>
                <a:latin typeface="华文中宋"/>
                <a:ea typeface="华文中宋"/>
                <a:cs typeface="华文中宋"/>
              </a:rPr>
              <a:t>热机效率的定义：</a:t>
            </a:r>
          </a:p>
        </p:txBody>
      </p:sp>
      <p:sp>
        <p:nvSpPr>
          <p:cNvPr id="33804" name="Text Box 12"/>
          <p:cNvSpPr txBox="1">
            <a:spLocks noChangeArrowheads="1"/>
          </p:cNvSpPr>
          <p:nvPr/>
        </p:nvSpPr>
        <p:spPr bwMode="auto">
          <a:xfrm>
            <a:off x="539750" y="2489200"/>
            <a:ext cx="5111750" cy="369888"/>
          </a:xfrm>
          <a:prstGeom prst="rect">
            <a:avLst/>
          </a:prstGeom>
          <a:noFill/>
          <a:ln w="9525">
            <a:noFill/>
            <a:miter lim="800000"/>
            <a:headEnd/>
            <a:tailEnd/>
          </a:ln>
        </p:spPr>
        <p:txBody>
          <a:bodyPr>
            <a:spAutoFit/>
          </a:bodyPr>
          <a:lstStyle/>
          <a:p>
            <a:pPr eaLnBrk="0" hangingPunct="0"/>
            <a:r>
              <a:rPr lang="zh-CN" altLang="en-US" b="1">
                <a:solidFill>
                  <a:srgbClr val="0000FF"/>
                </a:solidFill>
                <a:latin typeface="华文中宋"/>
                <a:ea typeface="华文中宋"/>
                <a:cs typeface="华文中宋"/>
              </a:rPr>
              <a:t>热机</a:t>
            </a:r>
            <a:r>
              <a:rPr lang="zh-CN" altLang="en-US" b="1">
                <a:solidFill>
                  <a:srgbClr val="000000"/>
                </a:solidFill>
                <a:latin typeface="华文中宋"/>
                <a:ea typeface="华文中宋"/>
                <a:cs typeface="华文中宋"/>
              </a:rPr>
              <a:t>：就是在一定条件下，将热转换为功的装置</a:t>
            </a:r>
          </a:p>
        </p:txBody>
      </p:sp>
      <p:sp>
        <p:nvSpPr>
          <p:cNvPr id="33807" name="Rectangle 15"/>
          <p:cNvSpPr>
            <a:spLocks noChangeArrowheads="1"/>
          </p:cNvSpPr>
          <p:nvPr/>
        </p:nvSpPr>
        <p:spPr bwMode="auto">
          <a:xfrm>
            <a:off x="539750" y="835025"/>
            <a:ext cx="2952750" cy="368300"/>
          </a:xfrm>
          <a:prstGeom prst="rect">
            <a:avLst/>
          </a:prstGeom>
          <a:noFill/>
          <a:ln w="9525">
            <a:noFill/>
            <a:miter lim="800000"/>
            <a:headEnd/>
            <a:tailEnd/>
          </a:ln>
        </p:spPr>
        <p:txBody>
          <a:bodyPr>
            <a:spAutoFit/>
          </a:bodyPr>
          <a:lstStyle/>
          <a:p>
            <a:pPr eaLnBrk="0" hangingPunct="0"/>
            <a:r>
              <a:rPr lang="en-US" altLang="zh-CN" b="1">
                <a:solidFill>
                  <a:srgbClr val="0000FF"/>
                </a:solidFill>
                <a:latin typeface="华文中宋"/>
                <a:ea typeface="华文中宋"/>
                <a:cs typeface="华文中宋"/>
              </a:rPr>
              <a:t>2</a:t>
            </a:r>
            <a:r>
              <a:rPr lang="zh-CN" altLang="en-US" b="1">
                <a:solidFill>
                  <a:srgbClr val="0000FF"/>
                </a:solidFill>
                <a:latin typeface="华文中宋"/>
                <a:ea typeface="华文中宋"/>
                <a:cs typeface="华文中宋"/>
              </a:rPr>
              <a:t>、循环的特点</a:t>
            </a:r>
          </a:p>
        </p:txBody>
      </p:sp>
      <p:sp>
        <p:nvSpPr>
          <p:cNvPr id="33808" name="Rectangle 16"/>
          <p:cNvSpPr>
            <a:spLocks noChangeArrowheads="1"/>
          </p:cNvSpPr>
          <p:nvPr/>
        </p:nvSpPr>
        <p:spPr bwMode="auto">
          <a:xfrm>
            <a:off x="539750" y="1131888"/>
            <a:ext cx="6192838" cy="368300"/>
          </a:xfrm>
          <a:prstGeom prst="rect">
            <a:avLst/>
          </a:prstGeom>
          <a:noFill/>
          <a:ln w="9525">
            <a:noFill/>
            <a:miter lim="800000"/>
            <a:headEnd/>
            <a:tailEnd/>
          </a:ln>
        </p:spPr>
        <p:txBody>
          <a:bodyPr>
            <a:spAutoFit/>
          </a:bodyPr>
          <a:lstStyle/>
          <a:p>
            <a:pPr eaLnBrk="0" hangingPunct="0"/>
            <a:r>
              <a:rPr lang="zh-CN" altLang="en-US" b="1">
                <a:solidFill>
                  <a:srgbClr val="000000"/>
                </a:solidFill>
                <a:latin typeface="Times New Roman" pitchFamily="18" charset="0"/>
                <a:ea typeface="华文中宋"/>
                <a:cs typeface="华文中宋"/>
              </a:rPr>
              <a:t>工质经历一个循环后内能不变，即：</a:t>
            </a:r>
            <a:r>
              <a:rPr lang="zh-CN" altLang="en-US" b="1">
                <a:solidFill>
                  <a:srgbClr val="000000"/>
                </a:solidFill>
                <a:latin typeface="Times New Roman" pitchFamily="18" charset="0"/>
                <a:ea typeface="华文中宋"/>
                <a:cs typeface="华文中宋"/>
                <a:sym typeface="Symbol" pitchFamily="18" charset="2"/>
              </a:rPr>
              <a:t></a:t>
            </a:r>
            <a:r>
              <a:rPr lang="en-US" altLang="zh-CN" b="1" i="1">
                <a:solidFill>
                  <a:srgbClr val="000000"/>
                </a:solidFill>
                <a:latin typeface="Times New Roman" pitchFamily="18" charset="0"/>
                <a:ea typeface="华文中宋"/>
                <a:cs typeface="华文中宋"/>
              </a:rPr>
              <a:t>E</a:t>
            </a:r>
            <a:r>
              <a:rPr lang="en-US" altLang="zh-CN" b="1">
                <a:solidFill>
                  <a:srgbClr val="000000"/>
                </a:solidFill>
                <a:latin typeface="Times New Roman" pitchFamily="18" charset="0"/>
                <a:ea typeface="华文中宋"/>
                <a:cs typeface="华文中宋"/>
              </a:rPr>
              <a:t>=0</a:t>
            </a:r>
            <a:r>
              <a:rPr lang="zh-CN" altLang="en-US" b="1">
                <a:solidFill>
                  <a:srgbClr val="000000"/>
                </a:solidFill>
                <a:latin typeface="Times New Roman" pitchFamily="18" charset="0"/>
                <a:ea typeface="华文中宋"/>
                <a:cs typeface="华文中宋"/>
              </a:rPr>
              <a:t>。</a:t>
            </a:r>
          </a:p>
        </p:txBody>
      </p:sp>
      <p:sp>
        <p:nvSpPr>
          <p:cNvPr id="74" name="Text Box 12"/>
          <p:cNvSpPr txBox="1">
            <a:spLocks noChangeArrowheads="1"/>
          </p:cNvSpPr>
          <p:nvPr/>
        </p:nvSpPr>
        <p:spPr bwMode="auto">
          <a:xfrm>
            <a:off x="539750" y="2894013"/>
            <a:ext cx="2592388" cy="396875"/>
          </a:xfrm>
          <a:prstGeom prst="rect">
            <a:avLst/>
          </a:prstGeom>
          <a:noFill/>
          <a:ln w="9525">
            <a:noFill/>
            <a:miter lim="800000"/>
            <a:headEnd/>
            <a:tailEnd/>
          </a:ln>
        </p:spPr>
        <p:txBody>
          <a:bodyPr>
            <a:spAutoFit/>
          </a:bodyPr>
          <a:lstStyle/>
          <a:p>
            <a:pPr eaLnBrk="0" hangingPunct="0">
              <a:lnSpc>
                <a:spcPct val="110000"/>
              </a:lnSpc>
            </a:pPr>
            <a:r>
              <a:rPr lang="zh-CN" altLang="en-US" b="1">
                <a:solidFill>
                  <a:srgbClr val="000000"/>
                </a:solidFill>
                <a:latin typeface="Times New Roman" pitchFamily="18" charset="0"/>
                <a:ea typeface="华文中宋"/>
                <a:cs typeface="华文中宋"/>
              </a:rPr>
              <a:t>正循环：系统循环一次</a:t>
            </a:r>
          </a:p>
        </p:txBody>
      </p:sp>
      <p:sp>
        <p:nvSpPr>
          <p:cNvPr id="75" name="Rectangle 40"/>
          <p:cNvSpPr>
            <a:spLocks noChangeArrowheads="1"/>
          </p:cNvSpPr>
          <p:nvPr/>
        </p:nvSpPr>
        <p:spPr bwMode="auto">
          <a:xfrm>
            <a:off x="439738" y="3254375"/>
            <a:ext cx="2047875" cy="396875"/>
          </a:xfrm>
          <a:prstGeom prst="rect">
            <a:avLst/>
          </a:prstGeom>
          <a:noFill/>
          <a:ln w="9525">
            <a:solidFill>
              <a:srgbClr val="000000"/>
            </a:solidFill>
            <a:miter lim="800000"/>
            <a:headEnd/>
            <a:tailEnd/>
          </a:ln>
        </p:spPr>
        <p:txBody>
          <a:bodyPr>
            <a:spAutoFit/>
          </a:bodyPr>
          <a:lstStyle/>
          <a:p>
            <a:pPr eaLnBrk="0" hangingPunct="0">
              <a:lnSpc>
                <a:spcPct val="110000"/>
              </a:lnSpc>
            </a:pPr>
            <a:r>
              <a:rPr lang="zh-CN" altLang="en-US" b="1">
                <a:solidFill>
                  <a:srgbClr val="000000"/>
                </a:solidFill>
                <a:latin typeface="Times New Roman" pitchFamily="18" charset="0"/>
                <a:ea typeface="华文中宋"/>
                <a:cs typeface="华文中宋"/>
              </a:rPr>
              <a:t>净    功      </a:t>
            </a:r>
            <a:r>
              <a:rPr lang="en-US" altLang="zh-CN" b="1" i="1">
                <a:solidFill>
                  <a:srgbClr val="000000"/>
                </a:solidFill>
                <a:latin typeface="Times New Roman" pitchFamily="18" charset="0"/>
                <a:ea typeface="华文中宋"/>
                <a:cs typeface="华文中宋"/>
              </a:rPr>
              <a:t>W</a:t>
            </a:r>
            <a:r>
              <a:rPr lang="zh-CN" altLang="en-US" b="1" baseline="-25000">
                <a:solidFill>
                  <a:srgbClr val="000000"/>
                </a:solidFill>
                <a:latin typeface="Times New Roman" pitchFamily="18" charset="0"/>
                <a:ea typeface="华文中宋"/>
                <a:cs typeface="华文中宋"/>
              </a:rPr>
              <a:t>净  </a:t>
            </a:r>
            <a:r>
              <a:rPr lang="en-US" altLang="zh-CN" b="1">
                <a:solidFill>
                  <a:srgbClr val="000000"/>
                </a:solidFill>
                <a:latin typeface="Times New Roman" pitchFamily="18" charset="0"/>
                <a:ea typeface="华文中宋"/>
                <a:cs typeface="华文中宋"/>
              </a:rPr>
              <a:t>&gt; 0</a:t>
            </a:r>
            <a:endParaRPr lang="en-US" altLang="zh-CN" b="1" baseline="-25000">
              <a:solidFill>
                <a:srgbClr val="000000"/>
              </a:solidFill>
              <a:latin typeface="Times New Roman" pitchFamily="18" charset="0"/>
              <a:ea typeface="华文中宋"/>
              <a:cs typeface="华文中宋"/>
            </a:endParaRPr>
          </a:p>
        </p:txBody>
      </p:sp>
      <p:sp>
        <p:nvSpPr>
          <p:cNvPr id="89" name="Rectangle 40"/>
          <p:cNvSpPr>
            <a:spLocks noChangeArrowheads="1"/>
          </p:cNvSpPr>
          <p:nvPr/>
        </p:nvSpPr>
        <p:spPr bwMode="auto">
          <a:xfrm>
            <a:off x="2555875" y="3268663"/>
            <a:ext cx="2736850" cy="368300"/>
          </a:xfrm>
          <a:prstGeom prst="rect">
            <a:avLst/>
          </a:prstGeom>
          <a:noFill/>
          <a:ln w="9525">
            <a:solidFill>
              <a:srgbClr val="FF0000"/>
            </a:solidFill>
            <a:miter lim="800000"/>
            <a:headEnd/>
            <a:tailEnd/>
          </a:ln>
        </p:spPr>
        <p:txBody>
          <a:bodyPr>
            <a:spAutoFit/>
          </a:bodyPr>
          <a:lstStyle/>
          <a:p>
            <a:r>
              <a:rPr lang="zh-CN" altLang="en-US" b="1">
                <a:solidFill>
                  <a:srgbClr val="FF0000"/>
                </a:solidFill>
                <a:latin typeface="Times New Roman" pitchFamily="18" charset="0"/>
                <a:ea typeface="华文中宋"/>
                <a:cs typeface="华文中宋"/>
              </a:rPr>
              <a:t>净</a:t>
            </a:r>
            <a:r>
              <a:rPr kumimoji="1" lang="zh-CN" altLang="en-US" b="1">
                <a:solidFill>
                  <a:srgbClr val="FF0000"/>
                </a:solidFill>
                <a:latin typeface="Times New Roman" pitchFamily="18" charset="0"/>
                <a:ea typeface="华文中宋"/>
                <a:cs typeface="华文中宋"/>
              </a:rPr>
              <a:t>吸热      </a:t>
            </a:r>
            <a:r>
              <a:rPr lang="en-US" altLang="zh-CN" b="1" i="1">
                <a:solidFill>
                  <a:srgbClr val="FF0000"/>
                </a:solidFill>
                <a:latin typeface="Times New Roman" pitchFamily="18" charset="0"/>
                <a:ea typeface="华文中宋"/>
                <a:cs typeface="华文中宋"/>
              </a:rPr>
              <a:t>Q</a:t>
            </a:r>
            <a:r>
              <a:rPr lang="zh-CN" altLang="en-US" b="1" baseline="-25000">
                <a:solidFill>
                  <a:srgbClr val="FF0000"/>
                </a:solidFill>
                <a:latin typeface="Times New Roman" pitchFamily="18" charset="0"/>
                <a:ea typeface="华文中宋"/>
                <a:cs typeface="华文中宋"/>
              </a:rPr>
              <a:t>净  </a:t>
            </a:r>
            <a:r>
              <a:rPr lang="en-US" altLang="zh-CN" b="1">
                <a:solidFill>
                  <a:srgbClr val="FF0000"/>
                </a:solidFill>
                <a:latin typeface="Times New Roman" pitchFamily="18" charset="0"/>
                <a:ea typeface="华文中宋"/>
                <a:cs typeface="华文中宋"/>
              </a:rPr>
              <a:t>= </a:t>
            </a:r>
            <a:r>
              <a:rPr lang="en-US" altLang="zh-CN" b="1" i="1">
                <a:solidFill>
                  <a:srgbClr val="FF0000"/>
                </a:solidFill>
                <a:latin typeface="Times New Roman" pitchFamily="18" charset="0"/>
                <a:ea typeface="华文中宋"/>
                <a:cs typeface="华文中宋"/>
              </a:rPr>
              <a:t>Q</a:t>
            </a:r>
            <a:r>
              <a:rPr lang="en-US" altLang="zh-CN" b="1" baseline="-25000">
                <a:solidFill>
                  <a:srgbClr val="FF0000"/>
                </a:solidFill>
                <a:latin typeface="Times New Roman" pitchFamily="18" charset="0"/>
                <a:ea typeface="华文中宋"/>
                <a:cs typeface="华文中宋"/>
              </a:rPr>
              <a:t>1 </a:t>
            </a:r>
            <a:r>
              <a:rPr lang="en-US" altLang="zh-CN" b="1">
                <a:solidFill>
                  <a:srgbClr val="FF0000"/>
                </a:solidFill>
                <a:latin typeface="Times New Roman" pitchFamily="18" charset="0"/>
                <a:ea typeface="华文中宋"/>
                <a:cs typeface="华文中宋"/>
              </a:rPr>
              <a:t>- </a:t>
            </a:r>
            <a:r>
              <a:rPr lang="en-US" altLang="zh-CN" b="1" i="1">
                <a:solidFill>
                  <a:srgbClr val="FF0000"/>
                </a:solidFill>
                <a:latin typeface="Times New Roman" pitchFamily="18" charset="0"/>
                <a:ea typeface="华文中宋"/>
                <a:cs typeface="华文中宋"/>
              </a:rPr>
              <a:t>Q</a:t>
            </a:r>
            <a:r>
              <a:rPr lang="en-US" altLang="zh-CN" b="1" baseline="-25000">
                <a:solidFill>
                  <a:srgbClr val="FF0000"/>
                </a:solidFill>
                <a:latin typeface="Times New Roman" pitchFamily="18" charset="0"/>
                <a:ea typeface="华文中宋"/>
                <a:cs typeface="华文中宋"/>
              </a:rPr>
              <a:t>2</a:t>
            </a:r>
          </a:p>
        </p:txBody>
      </p:sp>
      <p:sp>
        <p:nvSpPr>
          <p:cNvPr id="90" name="Rectangle 41"/>
          <p:cNvSpPr>
            <a:spLocks noChangeArrowheads="1"/>
          </p:cNvSpPr>
          <p:nvPr/>
        </p:nvSpPr>
        <p:spPr bwMode="auto">
          <a:xfrm>
            <a:off x="1155700" y="3570288"/>
            <a:ext cx="3240088" cy="369887"/>
          </a:xfrm>
          <a:prstGeom prst="rect">
            <a:avLst/>
          </a:prstGeom>
          <a:noFill/>
          <a:ln w="9525">
            <a:noFill/>
            <a:miter lim="800000"/>
            <a:headEnd/>
            <a:tailEnd/>
          </a:ln>
        </p:spPr>
        <p:txBody>
          <a:bodyPr>
            <a:spAutoFit/>
          </a:bodyPr>
          <a:lstStyle/>
          <a:p>
            <a:pPr eaLnBrk="0" hangingPunct="0"/>
            <a:r>
              <a:rPr lang="zh-CN" altLang="en-US" b="1">
                <a:solidFill>
                  <a:srgbClr val="000000"/>
                </a:solidFill>
                <a:latin typeface="Times New Roman" pitchFamily="18" charset="0"/>
                <a:ea typeface="华文中宋"/>
                <a:cs typeface="华文中宋"/>
              </a:rPr>
              <a:t>热一律      </a:t>
            </a:r>
            <a:r>
              <a:rPr lang="en-US" altLang="zh-CN" b="1" i="1">
                <a:solidFill>
                  <a:srgbClr val="000000"/>
                </a:solidFill>
                <a:latin typeface="Times New Roman" pitchFamily="18" charset="0"/>
                <a:ea typeface="华文中宋"/>
                <a:cs typeface="华文中宋"/>
              </a:rPr>
              <a:t>Q</a:t>
            </a:r>
            <a:r>
              <a:rPr lang="en-US" altLang="zh-CN" b="1" baseline="-25000">
                <a:solidFill>
                  <a:srgbClr val="000000"/>
                </a:solidFill>
                <a:latin typeface="Times New Roman" pitchFamily="18" charset="0"/>
                <a:ea typeface="华文中宋"/>
                <a:cs typeface="华文中宋"/>
              </a:rPr>
              <a:t>1</a:t>
            </a:r>
            <a:r>
              <a:rPr lang="zh-CN" altLang="en-US" b="1">
                <a:solidFill>
                  <a:srgbClr val="000000"/>
                </a:solidFill>
                <a:latin typeface="Times New Roman" pitchFamily="18" charset="0"/>
                <a:ea typeface="华文中宋"/>
                <a:cs typeface="华文中宋"/>
              </a:rPr>
              <a:t>－</a:t>
            </a:r>
            <a:r>
              <a:rPr lang="en-US" altLang="zh-CN" b="1" i="1">
                <a:solidFill>
                  <a:srgbClr val="000000"/>
                </a:solidFill>
                <a:latin typeface="Times New Roman" pitchFamily="18" charset="0"/>
                <a:ea typeface="华文中宋"/>
                <a:cs typeface="华文中宋"/>
              </a:rPr>
              <a:t>Q</a:t>
            </a:r>
            <a:r>
              <a:rPr lang="en-US" altLang="zh-CN" b="1" baseline="-25000">
                <a:solidFill>
                  <a:srgbClr val="000000"/>
                </a:solidFill>
                <a:latin typeface="Times New Roman" pitchFamily="18" charset="0"/>
                <a:ea typeface="华文中宋"/>
                <a:cs typeface="华文中宋"/>
              </a:rPr>
              <a:t>2</a:t>
            </a:r>
            <a:r>
              <a:rPr lang="en-US" altLang="zh-CN" b="1">
                <a:solidFill>
                  <a:srgbClr val="000000"/>
                </a:solidFill>
                <a:latin typeface="Times New Roman" pitchFamily="18" charset="0"/>
                <a:ea typeface="华文中宋"/>
                <a:cs typeface="华文中宋"/>
              </a:rPr>
              <a:t>=</a:t>
            </a:r>
            <a:r>
              <a:rPr lang="en-US" altLang="zh-CN" b="1" i="1">
                <a:solidFill>
                  <a:srgbClr val="000000"/>
                </a:solidFill>
                <a:latin typeface="Times New Roman" pitchFamily="18" charset="0"/>
                <a:ea typeface="华文中宋"/>
                <a:cs typeface="华文中宋"/>
              </a:rPr>
              <a:t>W</a:t>
            </a:r>
            <a:r>
              <a:rPr lang="zh-CN" altLang="en-US" b="1" baseline="-25000">
                <a:solidFill>
                  <a:srgbClr val="000000"/>
                </a:solidFill>
                <a:latin typeface="Times New Roman" pitchFamily="18" charset="0"/>
                <a:ea typeface="华文中宋"/>
                <a:cs typeface="华文中宋"/>
              </a:rPr>
              <a:t>净</a:t>
            </a:r>
            <a:endParaRPr lang="zh-CN" altLang="en-US" b="1">
              <a:solidFill>
                <a:srgbClr val="000000"/>
              </a:solidFill>
              <a:latin typeface="Times New Roman" pitchFamily="18" charset="0"/>
              <a:ea typeface="华文中宋"/>
              <a:cs typeface="华文中宋"/>
            </a:endParaRPr>
          </a:p>
        </p:txBody>
      </p:sp>
      <p:grpSp>
        <p:nvGrpSpPr>
          <p:cNvPr id="2" name="Group 68"/>
          <p:cNvGrpSpPr>
            <a:grpSpLocks/>
          </p:cNvGrpSpPr>
          <p:nvPr/>
        </p:nvGrpSpPr>
        <p:grpSpPr bwMode="auto">
          <a:xfrm>
            <a:off x="5672138" y="2459038"/>
            <a:ext cx="2644775" cy="2128837"/>
            <a:chOff x="3198" y="2097"/>
            <a:chExt cx="1922" cy="1900"/>
          </a:xfrm>
        </p:grpSpPr>
        <p:sp>
          <p:nvSpPr>
            <p:cNvPr id="24650" name="Oval 19"/>
            <p:cNvSpPr>
              <a:spLocks noChangeArrowheads="1"/>
            </p:cNvSpPr>
            <p:nvPr/>
          </p:nvSpPr>
          <p:spPr bwMode="auto">
            <a:xfrm>
              <a:off x="3295" y="2821"/>
              <a:ext cx="1089" cy="506"/>
            </a:xfrm>
            <a:prstGeom prst="ellipse">
              <a:avLst/>
            </a:prstGeom>
            <a:solidFill>
              <a:schemeClr val="accent1"/>
            </a:solidFill>
            <a:ln w="19050">
              <a:solidFill>
                <a:srgbClr val="CC6600"/>
              </a:solidFill>
              <a:round/>
              <a:headEnd/>
              <a:tailEnd/>
            </a:ln>
          </p:spPr>
          <p:txBody>
            <a:bodyPr wrap="none" anchor="ctr"/>
            <a:lstStyle/>
            <a:p>
              <a:pPr algn="ctr"/>
              <a:r>
                <a:rPr kumimoji="1" lang="zh-CN" altLang="en-US" sz="1500" b="1">
                  <a:solidFill>
                    <a:srgbClr val="000000"/>
                  </a:solidFill>
                  <a:latin typeface="Times New Roman" pitchFamily="18" charset="0"/>
                  <a:ea typeface="华文中宋"/>
                  <a:cs typeface="华文中宋"/>
                </a:rPr>
                <a:t>热机</a:t>
              </a:r>
            </a:p>
          </p:txBody>
        </p:sp>
        <p:sp>
          <p:nvSpPr>
            <p:cNvPr id="24651" name="Rectangle 22"/>
            <p:cNvSpPr>
              <a:spLocks noChangeArrowheads="1"/>
            </p:cNvSpPr>
            <p:nvPr/>
          </p:nvSpPr>
          <p:spPr bwMode="auto">
            <a:xfrm>
              <a:off x="3226" y="2097"/>
              <a:ext cx="1152" cy="290"/>
            </a:xfrm>
            <a:prstGeom prst="rect">
              <a:avLst/>
            </a:prstGeom>
            <a:solidFill>
              <a:srgbClr val="FDE3F0"/>
            </a:solidFill>
            <a:ln w="19050">
              <a:solidFill>
                <a:srgbClr val="FF0000"/>
              </a:solidFill>
              <a:miter lim="800000"/>
              <a:headEnd/>
              <a:tailEnd/>
            </a:ln>
          </p:spPr>
          <p:txBody>
            <a:bodyPr wrap="none" anchor="ctr"/>
            <a:lstStyle/>
            <a:p>
              <a:pPr algn="ctr"/>
              <a:r>
                <a:rPr kumimoji="1" lang="zh-CN" altLang="en-US" sz="1500" b="1">
                  <a:solidFill>
                    <a:srgbClr val="FF0000"/>
                  </a:solidFill>
                  <a:latin typeface="Times New Roman" pitchFamily="18" charset="0"/>
                  <a:ea typeface="华文中宋"/>
                  <a:cs typeface="华文中宋"/>
                </a:rPr>
                <a:t>高温热源</a:t>
              </a:r>
            </a:p>
          </p:txBody>
        </p:sp>
        <p:sp>
          <p:nvSpPr>
            <p:cNvPr id="24652" name="Text Box 24"/>
            <p:cNvSpPr txBox="1">
              <a:spLocks noChangeArrowheads="1"/>
            </p:cNvSpPr>
            <p:nvPr/>
          </p:nvSpPr>
          <p:spPr bwMode="auto">
            <a:xfrm>
              <a:off x="3198" y="3726"/>
              <a:ext cx="1248" cy="271"/>
            </a:xfrm>
            <a:prstGeom prst="rect">
              <a:avLst/>
            </a:prstGeom>
            <a:solidFill>
              <a:schemeClr val="accent1"/>
            </a:solidFill>
            <a:ln w="9525">
              <a:solidFill>
                <a:srgbClr val="0000FF"/>
              </a:solidFill>
              <a:miter lim="800000"/>
              <a:headEnd/>
              <a:tailEnd/>
            </a:ln>
          </p:spPr>
          <p:txBody>
            <a:bodyPr>
              <a:spAutoFit/>
            </a:bodyPr>
            <a:lstStyle/>
            <a:p>
              <a:pPr algn="ctr" eaLnBrk="0" hangingPunct="0">
                <a:spcBef>
                  <a:spcPct val="50000"/>
                </a:spcBef>
              </a:pPr>
              <a:r>
                <a:rPr kumimoji="1" lang="zh-CN" altLang="en-US" sz="1500" b="1">
                  <a:solidFill>
                    <a:srgbClr val="000000"/>
                  </a:solidFill>
                  <a:latin typeface="Times New Roman" pitchFamily="18" charset="0"/>
                  <a:ea typeface="华文中宋"/>
                  <a:cs typeface="华文中宋"/>
                </a:rPr>
                <a:t>低温热源</a:t>
              </a:r>
            </a:p>
          </p:txBody>
        </p:sp>
        <p:sp>
          <p:nvSpPr>
            <p:cNvPr id="24653" name="AutoShape 26"/>
            <p:cNvSpPr>
              <a:spLocks noChangeArrowheads="1"/>
            </p:cNvSpPr>
            <p:nvPr/>
          </p:nvSpPr>
          <p:spPr bwMode="auto">
            <a:xfrm>
              <a:off x="3743" y="2387"/>
              <a:ext cx="144" cy="528"/>
            </a:xfrm>
            <a:prstGeom prst="downArrow">
              <a:avLst>
                <a:gd name="adj1" fmla="val 40000"/>
                <a:gd name="adj2" fmla="val 146921"/>
              </a:avLst>
            </a:prstGeom>
            <a:solidFill>
              <a:srgbClr val="FFCCCC"/>
            </a:solidFill>
            <a:ln w="19050">
              <a:solidFill>
                <a:srgbClr val="FF0000"/>
              </a:solidFill>
              <a:miter lim="800000"/>
              <a:headEnd/>
              <a:tailEnd/>
            </a:ln>
          </p:spPr>
          <p:txBody>
            <a:bodyPr vert="eaVert" wrap="none" anchor="ctr"/>
            <a:lstStyle/>
            <a:p>
              <a:endParaRPr kumimoji="1" lang="zh-CN" altLang="en-US" sz="2400" b="1">
                <a:solidFill>
                  <a:srgbClr val="000000"/>
                </a:solidFill>
                <a:latin typeface="Times New Roman" pitchFamily="18" charset="0"/>
                <a:ea typeface="华文中宋"/>
                <a:cs typeface="华文中宋"/>
              </a:endParaRPr>
            </a:p>
          </p:txBody>
        </p:sp>
        <p:graphicFrame>
          <p:nvGraphicFramePr>
            <p:cNvPr id="24614" name="Object 38"/>
            <p:cNvGraphicFramePr>
              <a:graphicFrameLocks noChangeAspect="1"/>
            </p:cNvGraphicFramePr>
            <p:nvPr/>
          </p:nvGraphicFramePr>
          <p:xfrm>
            <a:off x="3879" y="2439"/>
            <a:ext cx="332" cy="356"/>
          </p:xfrm>
          <a:graphic>
            <a:graphicData uri="http://schemas.openxmlformats.org/presentationml/2006/ole">
              <p:oleObj spid="_x0000_s24614" name="公式" r:id="rId4" imgW="152268" imgH="164957" progId="Equation.3">
                <p:embed/>
              </p:oleObj>
            </a:graphicData>
          </a:graphic>
        </p:graphicFrame>
        <p:sp>
          <p:nvSpPr>
            <p:cNvPr id="24654" name="AutoShape 29"/>
            <p:cNvSpPr>
              <a:spLocks noChangeArrowheads="1"/>
            </p:cNvSpPr>
            <p:nvPr/>
          </p:nvSpPr>
          <p:spPr bwMode="auto">
            <a:xfrm>
              <a:off x="3743" y="3268"/>
              <a:ext cx="144" cy="480"/>
            </a:xfrm>
            <a:prstGeom prst="downArrow">
              <a:avLst>
                <a:gd name="adj1" fmla="val 35417"/>
                <a:gd name="adj2" fmla="val 138889"/>
              </a:avLst>
            </a:prstGeom>
            <a:solidFill>
              <a:srgbClr val="CCECFF"/>
            </a:solidFill>
            <a:ln w="19050">
              <a:solidFill>
                <a:srgbClr val="0000FF"/>
              </a:solidFill>
              <a:miter lim="800000"/>
              <a:headEnd/>
              <a:tailEnd/>
            </a:ln>
          </p:spPr>
          <p:txBody>
            <a:bodyPr vert="eaVert" wrap="none" anchor="ctr"/>
            <a:lstStyle/>
            <a:p>
              <a:endParaRPr kumimoji="1" lang="zh-CN" altLang="en-US" sz="2400" b="1">
                <a:solidFill>
                  <a:srgbClr val="000000"/>
                </a:solidFill>
                <a:latin typeface="Times New Roman" pitchFamily="18" charset="0"/>
                <a:ea typeface="华文中宋"/>
                <a:cs typeface="华文中宋"/>
              </a:endParaRPr>
            </a:p>
          </p:txBody>
        </p:sp>
        <p:graphicFrame>
          <p:nvGraphicFramePr>
            <p:cNvPr id="24615" name="Object 39"/>
            <p:cNvGraphicFramePr>
              <a:graphicFrameLocks noChangeAspect="1"/>
            </p:cNvGraphicFramePr>
            <p:nvPr/>
          </p:nvGraphicFramePr>
          <p:xfrm>
            <a:off x="3924" y="3340"/>
            <a:ext cx="316" cy="317"/>
          </p:xfrm>
          <a:graphic>
            <a:graphicData uri="http://schemas.openxmlformats.org/presentationml/2006/ole">
              <p:oleObj spid="_x0000_s24615" name="公式" r:id="rId5" imgW="164885" imgH="164885" progId="Equation.3">
                <p:embed/>
              </p:oleObj>
            </a:graphicData>
          </a:graphic>
        </p:graphicFrame>
        <p:sp>
          <p:nvSpPr>
            <p:cNvPr id="24655" name="AutoShape 32"/>
            <p:cNvSpPr>
              <a:spLocks noChangeArrowheads="1"/>
            </p:cNvSpPr>
            <p:nvPr/>
          </p:nvSpPr>
          <p:spPr bwMode="auto">
            <a:xfrm>
              <a:off x="4248" y="3011"/>
              <a:ext cx="528" cy="102"/>
            </a:xfrm>
            <a:prstGeom prst="rightArrow">
              <a:avLst>
                <a:gd name="adj1" fmla="val 58667"/>
                <a:gd name="adj2" fmla="val 189205"/>
              </a:avLst>
            </a:prstGeom>
            <a:solidFill>
              <a:schemeClr val="accent1"/>
            </a:solidFill>
            <a:ln w="19050">
              <a:solidFill>
                <a:srgbClr val="CC6600"/>
              </a:solidFill>
              <a:miter lim="800000"/>
              <a:headEnd/>
              <a:tailEnd/>
            </a:ln>
          </p:spPr>
          <p:txBody>
            <a:bodyPr wrap="none" anchor="ctr"/>
            <a:lstStyle/>
            <a:p>
              <a:endParaRPr kumimoji="1" lang="zh-CN" altLang="en-US" sz="2400" b="1">
                <a:solidFill>
                  <a:srgbClr val="000000"/>
                </a:solidFill>
                <a:latin typeface="Times New Roman" pitchFamily="18" charset="0"/>
                <a:ea typeface="华文中宋"/>
                <a:cs typeface="华文中宋"/>
              </a:endParaRPr>
            </a:p>
          </p:txBody>
        </p:sp>
        <p:graphicFrame>
          <p:nvGraphicFramePr>
            <p:cNvPr id="24616" name="Object 40"/>
            <p:cNvGraphicFramePr>
              <a:graphicFrameLocks noChangeAspect="1"/>
            </p:cNvGraphicFramePr>
            <p:nvPr/>
          </p:nvGraphicFramePr>
          <p:xfrm>
            <a:off x="4786" y="2976"/>
            <a:ext cx="245" cy="214"/>
          </p:xfrm>
          <a:graphic>
            <a:graphicData uri="http://schemas.openxmlformats.org/presentationml/2006/ole">
              <p:oleObj spid="_x0000_s24616" name="Equation" r:id="rId6" imgW="202936" imgH="177569" progId="Equation.DSMT4">
                <p:embed/>
              </p:oleObj>
            </a:graphicData>
          </a:graphic>
        </p:graphicFrame>
        <p:sp>
          <p:nvSpPr>
            <p:cNvPr id="24656" name="Rectangle 45"/>
            <p:cNvSpPr>
              <a:spLocks noChangeArrowheads="1"/>
            </p:cNvSpPr>
            <p:nvPr/>
          </p:nvSpPr>
          <p:spPr bwMode="auto">
            <a:xfrm>
              <a:off x="4876" y="3022"/>
              <a:ext cx="244" cy="271"/>
            </a:xfrm>
            <a:prstGeom prst="rect">
              <a:avLst/>
            </a:prstGeom>
            <a:noFill/>
            <a:ln w="9525">
              <a:noFill/>
              <a:miter lim="800000"/>
              <a:headEnd/>
              <a:tailEnd/>
            </a:ln>
          </p:spPr>
          <p:txBody>
            <a:bodyPr>
              <a:spAutoFit/>
            </a:bodyPr>
            <a:lstStyle/>
            <a:p>
              <a:pPr algn="ctr"/>
              <a:r>
                <a:rPr lang="zh-CN" altLang="en-US" sz="1500" b="1">
                  <a:solidFill>
                    <a:srgbClr val="000000"/>
                  </a:solidFill>
                  <a:latin typeface="华文中宋"/>
                  <a:ea typeface="华文中宋"/>
                  <a:cs typeface="华文中宋"/>
                </a:rPr>
                <a:t>净</a:t>
              </a:r>
            </a:p>
          </p:txBody>
        </p:sp>
      </p:grpSp>
      <p:graphicFrame>
        <p:nvGraphicFramePr>
          <p:cNvPr id="109" name="Object 41"/>
          <p:cNvGraphicFramePr>
            <a:graphicFrameLocks noChangeAspect="1"/>
          </p:cNvGraphicFramePr>
          <p:nvPr/>
        </p:nvGraphicFramePr>
        <p:xfrm>
          <a:off x="2700338" y="4011613"/>
          <a:ext cx="1943100" cy="574675"/>
        </p:xfrm>
        <a:graphic>
          <a:graphicData uri="http://schemas.openxmlformats.org/presentationml/2006/ole">
            <p:oleObj spid="_x0000_s24617" name="Equation" r:id="rId7" imgW="1054100" imgH="444500" progId="Equation.DSMT4">
              <p:embed/>
            </p:oleObj>
          </a:graphicData>
        </a:graphic>
      </p:graphicFrame>
      <p:grpSp>
        <p:nvGrpSpPr>
          <p:cNvPr id="3" name="Group 220"/>
          <p:cNvGrpSpPr>
            <a:grpSpLocks/>
          </p:cNvGrpSpPr>
          <p:nvPr/>
        </p:nvGrpSpPr>
        <p:grpSpPr bwMode="auto">
          <a:xfrm>
            <a:off x="6708775" y="1031875"/>
            <a:ext cx="2327275" cy="1395413"/>
            <a:chOff x="4033" y="1012"/>
            <a:chExt cx="1466" cy="1172"/>
          </a:xfrm>
        </p:grpSpPr>
        <p:sp>
          <p:nvSpPr>
            <p:cNvPr id="24635" name="Line 221"/>
            <p:cNvSpPr>
              <a:spLocks noChangeShapeType="1"/>
            </p:cNvSpPr>
            <p:nvPr/>
          </p:nvSpPr>
          <p:spPr bwMode="auto">
            <a:xfrm>
              <a:off x="4197" y="1975"/>
              <a:ext cx="1186" cy="0"/>
            </a:xfrm>
            <a:prstGeom prst="line">
              <a:avLst/>
            </a:prstGeom>
            <a:noFill/>
            <a:ln w="9525">
              <a:solidFill>
                <a:srgbClr val="0070C0"/>
              </a:solidFill>
              <a:round/>
              <a:headEnd/>
              <a:tailEnd type="triangle" w="med" len="med"/>
            </a:ln>
          </p:spPr>
          <p:txBody>
            <a:bodyPr/>
            <a:lstStyle/>
            <a:p>
              <a:endParaRPr lang="zh-CN" altLang="en-US"/>
            </a:p>
          </p:txBody>
        </p:sp>
        <p:sp>
          <p:nvSpPr>
            <p:cNvPr id="24636" name="Line 222"/>
            <p:cNvSpPr>
              <a:spLocks noChangeShapeType="1"/>
            </p:cNvSpPr>
            <p:nvPr/>
          </p:nvSpPr>
          <p:spPr bwMode="auto">
            <a:xfrm flipV="1">
              <a:off x="4199" y="1098"/>
              <a:ext cx="0" cy="883"/>
            </a:xfrm>
            <a:prstGeom prst="line">
              <a:avLst/>
            </a:prstGeom>
            <a:noFill/>
            <a:ln w="9525">
              <a:solidFill>
                <a:srgbClr val="0070C0"/>
              </a:solidFill>
              <a:round/>
              <a:headEnd/>
              <a:tailEnd type="triangle" w="med" len="med"/>
            </a:ln>
          </p:spPr>
          <p:txBody>
            <a:bodyPr/>
            <a:lstStyle/>
            <a:p>
              <a:endParaRPr lang="zh-CN" altLang="en-US"/>
            </a:p>
          </p:txBody>
        </p:sp>
        <p:sp>
          <p:nvSpPr>
            <p:cNvPr id="59" name="Freeform 223" descr="5%"/>
            <p:cNvSpPr>
              <a:spLocks/>
            </p:cNvSpPr>
            <p:nvPr/>
          </p:nvSpPr>
          <p:spPr bwMode="auto">
            <a:xfrm>
              <a:off x="4378" y="1157"/>
              <a:ext cx="914" cy="569"/>
            </a:xfrm>
            <a:custGeom>
              <a:avLst/>
              <a:gdLst>
                <a:gd name="T0" fmla="*/ 1 w 1373"/>
                <a:gd name="T1" fmla="*/ 1 h 949"/>
                <a:gd name="T2" fmla="*/ 1 w 1373"/>
                <a:gd name="T3" fmla="*/ 1 h 949"/>
                <a:gd name="T4" fmla="*/ 1 w 1373"/>
                <a:gd name="T5" fmla="*/ 1 h 949"/>
                <a:gd name="T6" fmla="*/ 1 w 1373"/>
                <a:gd name="T7" fmla="*/ 1 h 949"/>
                <a:gd name="T8" fmla="*/ 1 w 1373"/>
                <a:gd name="T9" fmla="*/ 1 h 949"/>
                <a:gd name="T10" fmla="*/ 1 w 1373"/>
                <a:gd name="T11" fmla="*/ 1 h 949"/>
                <a:gd name="T12" fmla="*/ 0 60000 65536"/>
                <a:gd name="T13" fmla="*/ 0 60000 65536"/>
                <a:gd name="T14" fmla="*/ 0 60000 65536"/>
                <a:gd name="T15" fmla="*/ 0 60000 65536"/>
                <a:gd name="T16" fmla="*/ 0 60000 65536"/>
                <a:gd name="T17" fmla="*/ 0 60000 65536"/>
                <a:gd name="T18" fmla="*/ 0 w 1373"/>
                <a:gd name="T19" fmla="*/ 0 h 949"/>
                <a:gd name="T20" fmla="*/ 1373 w 1373"/>
                <a:gd name="T21" fmla="*/ 949 h 949"/>
              </a:gdLst>
              <a:ahLst/>
              <a:cxnLst>
                <a:cxn ang="T12">
                  <a:pos x="T0" y="T1"/>
                </a:cxn>
                <a:cxn ang="T13">
                  <a:pos x="T2" y="T3"/>
                </a:cxn>
                <a:cxn ang="T14">
                  <a:pos x="T4" y="T5"/>
                </a:cxn>
                <a:cxn ang="T15">
                  <a:pos x="T6" y="T7"/>
                </a:cxn>
                <a:cxn ang="T16">
                  <a:pos x="T8" y="T9"/>
                </a:cxn>
                <a:cxn ang="T17">
                  <a:pos x="T10" y="T11"/>
                </a:cxn>
              </a:cxnLst>
              <a:rect l="T18" t="T19" r="T20" b="T21"/>
              <a:pathLst>
                <a:path w="1373" h="949">
                  <a:moveTo>
                    <a:pt x="24" y="178"/>
                  </a:moveTo>
                  <a:cubicBezTo>
                    <a:pt x="48" y="45"/>
                    <a:pt x="372" y="0"/>
                    <a:pt x="574" y="43"/>
                  </a:cubicBezTo>
                  <a:cubicBezTo>
                    <a:pt x="776" y="86"/>
                    <a:pt x="1127" y="310"/>
                    <a:pt x="1238" y="439"/>
                  </a:cubicBezTo>
                  <a:cubicBezTo>
                    <a:pt x="1349" y="568"/>
                    <a:pt x="1373" y="753"/>
                    <a:pt x="1238" y="820"/>
                  </a:cubicBezTo>
                  <a:cubicBezTo>
                    <a:pt x="1103" y="887"/>
                    <a:pt x="634" y="949"/>
                    <a:pt x="428" y="844"/>
                  </a:cubicBezTo>
                  <a:cubicBezTo>
                    <a:pt x="222" y="739"/>
                    <a:pt x="0" y="311"/>
                    <a:pt x="24" y="178"/>
                  </a:cubicBezTo>
                  <a:close/>
                </a:path>
              </a:pathLst>
            </a:custGeom>
            <a:pattFill prst="dashVert">
              <a:fgClr>
                <a:schemeClr val="accent6">
                  <a:lumMod val="40000"/>
                  <a:lumOff val="60000"/>
                </a:schemeClr>
              </a:fgClr>
              <a:bgClr>
                <a:schemeClr val="bg1"/>
              </a:bgClr>
            </a:pattFill>
            <a:ln w="19050">
              <a:solidFill>
                <a:srgbClr val="00B0F0"/>
              </a:solidFill>
              <a:round/>
              <a:headEnd/>
              <a:tailEnd/>
            </a:ln>
          </p:spPr>
          <p:txBody>
            <a:bodyPr/>
            <a:lstStyle/>
            <a:p>
              <a:pPr fontAlgn="auto">
                <a:spcBef>
                  <a:spcPts val="0"/>
                </a:spcBef>
                <a:spcAft>
                  <a:spcPts val="0"/>
                </a:spcAft>
                <a:defRPr/>
              </a:pPr>
              <a:endParaRPr lang="zh-CN" altLang="en-US">
                <a:solidFill>
                  <a:prstClr val="black"/>
                </a:solidFill>
                <a:latin typeface="+mn-lt"/>
                <a:ea typeface="+mn-ea"/>
              </a:endParaRPr>
            </a:p>
          </p:txBody>
        </p:sp>
        <p:sp>
          <p:nvSpPr>
            <p:cNvPr id="24638" name="Line 224"/>
            <p:cNvSpPr>
              <a:spLocks noChangeShapeType="1"/>
            </p:cNvSpPr>
            <p:nvPr/>
          </p:nvSpPr>
          <p:spPr bwMode="auto">
            <a:xfrm>
              <a:off x="4393" y="1260"/>
              <a:ext cx="0" cy="708"/>
            </a:xfrm>
            <a:prstGeom prst="line">
              <a:avLst/>
            </a:prstGeom>
            <a:noFill/>
            <a:ln w="9525">
              <a:solidFill>
                <a:srgbClr val="000000"/>
              </a:solidFill>
              <a:prstDash val="dash"/>
              <a:round/>
              <a:headEnd/>
              <a:tailEnd/>
            </a:ln>
          </p:spPr>
          <p:txBody>
            <a:bodyPr/>
            <a:lstStyle/>
            <a:p>
              <a:endParaRPr lang="zh-CN" altLang="en-US"/>
            </a:p>
          </p:txBody>
        </p:sp>
        <p:sp>
          <p:nvSpPr>
            <p:cNvPr id="24639" name="Line 225"/>
            <p:cNvSpPr>
              <a:spLocks noChangeShapeType="1"/>
            </p:cNvSpPr>
            <p:nvPr/>
          </p:nvSpPr>
          <p:spPr bwMode="auto">
            <a:xfrm>
              <a:off x="5270" y="1570"/>
              <a:ext cx="0" cy="405"/>
            </a:xfrm>
            <a:prstGeom prst="line">
              <a:avLst/>
            </a:prstGeom>
            <a:noFill/>
            <a:ln w="9525">
              <a:solidFill>
                <a:srgbClr val="000000"/>
              </a:solidFill>
              <a:prstDash val="dash"/>
              <a:round/>
              <a:headEnd/>
              <a:tailEnd/>
            </a:ln>
          </p:spPr>
          <p:txBody>
            <a:bodyPr/>
            <a:lstStyle/>
            <a:p>
              <a:endParaRPr lang="zh-CN" altLang="en-US"/>
            </a:p>
          </p:txBody>
        </p:sp>
        <p:sp>
          <p:nvSpPr>
            <p:cNvPr id="24640" name="Text Box 226"/>
            <p:cNvSpPr txBox="1">
              <a:spLocks noChangeArrowheads="1"/>
            </p:cNvSpPr>
            <p:nvPr/>
          </p:nvSpPr>
          <p:spPr bwMode="auto">
            <a:xfrm>
              <a:off x="4251" y="1086"/>
              <a:ext cx="228" cy="248"/>
            </a:xfrm>
            <a:prstGeom prst="rect">
              <a:avLst/>
            </a:prstGeom>
            <a:noFill/>
            <a:ln w="9525">
              <a:noFill/>
              <a:miter lim="800000"/>
              <a:headEnd/>
              <a:tailEnd/>
            </a:ln>
          </p:spPr>
          <p:txBody>
            <a:bodyPr/>
            <a:lstStyle/>
            <a:p>
              <a:pPr algn="just"/>
              <a:r>
                <a:rPr lang="en-US" altLang="zh-CN" b="1" i="1">
                  <a:solidFill>
                    <a:srgbClr val="000000"/>
                  </a:solidFill>
                  <a:latin typeface="Times New Roman" pitchFamily="18" charset="0"/>
                </a:rPr>
                <a:t>a</a:t>
              </a:r>
              <a:endParaRPr lang="en-US" altLang="zh-CN" b="1">
                <a:solidFill>
                  <a:srgbClr val="000000"/>
                </a:solidFill>
                <a:latin typeface="Times New Roman" pitchFamily="18" charset="0"/>
              </a:endParaRPr>
            </a:p>
          </p:txBody>
        </p:sp>
        <p:sp>
          <p:nvSpPr>
            <p:cNvPr id="24641" name="Text Box 228"/>
            <p:cNvSpPr txBox="1">
              <a:spLocks noChangeArrowheads="1"/>
            </p:cNvSpPr>
            <p:nvPr/>
          </p:nvSpPr>
          <p:spPr bwMode="auto">
            <a:xfrm>
              <a:off x="5246" y="1445"/>
              <a:ext cx="195" cy="206"/>
            </a:xfrm>
            <a:prstGeom prst="rect">
              <a:avLst/>
            </a:prstGeom>
            <a:noFill/>
            <a:ln w="9525">
              <a:noFill/>
              <a:miter lim="800000"/>
              <a:headEnd/>
              <a:tailEnd/>
            </a:ln>
          </p:spPr>
          <p:txBody>
            <a:bodyPr/>
            <a:lstStyle/>
            <a:p>
              <a:pPr algn="just"/>
              <a:r>
                <a:rPr lang="en-US" altLang="zh-CN" b="1" i="1">
                  <a:solidFill>
                    <a:srgbClr val="000000"/>
                  </a:solidFill>
                  <a:latin typeface="Times New Roman" pitchFamily="18" charset="0"/>
                </a:rPr>
                <a:t>c</a:t>
              </a:r>
              <a:endParaRPr lang="en-US" altLang="zh-CN" b="1">
                <a:solidFill>
                  <a:srgbClr val="000000"/>
                </a:solidFill>
                <a:latin typeface="Times New Roman" pitchFamily="18" charset="0"/>
              </a:endParaRPr>
            </a:p>
          </p:txBody>
        </p:sp>
        <p:sp>
          <p:nvSpPr>
            <p:cNvPr id="24642" name="Text Box 230"/>
            <p:cNvSpPr txBox="1">
              <a:spLocks noChangeArrowheads="1"/>
            </p:cNvSpPr>
            <p:nvPr/>
          </p:nvSpPr>
          <p:spPr bwMode="auto">
            <a:xfrm>
              <a:off x="4320" y="1928"/>
              <a:ext cx="282" cy="228"/>
            </a:xfrm>
            <a:prstGeom prst="rect">
              <a:avLst/>
            </a:prstGeom>
            <a:noFill/>
            <a:ln w="9525">
              <a:noFill/>
              <a:miter lim="800000"/>
              <a:headEnd/>
              <a:tailEnd/>
            </a:ln>
          </p:spPr>
          <p:txBody>
            <a:bodyPr/>
            <a:lstStyle/>
            <a:p>
              <a:pPr algn="just"/>
              <a:r>
                <a:rPr lang="en-US" altLang="zh-CN" sz="1500" b="1" i="1">
                  <a:solidFill>
                    <a:srgbClr val="000000"/>
                  </a:solidFill>
                  <a:latin typeface="Times New Roman" pitchFamily="18" charset="0"/>
                </a:rPr>
                <a:t>V</a:t>
              </a:r>
              <a:r>
                <a:rPr lang="en-US" altLang="zh-CN" sz="1500" b="1" i="1" baseline="-25000">
                  <a:solidFill>
                    <a:srgbClr val="000000"/>
                  </a:solidFill>
                  <a:latin typeface="Times New Roman" pitchFamily="18" charset="0"/>
                </a:rPr>
                <a:t>a</a:t>
              </a:r>
              <a:endParaRPr lang="en-US" altLang="zh-CN" sz="1500" b="1">
                <a:solidFill>
                  <a:srgbClr val="000000"/>
                </a:solidFill>
                <a:latin typeface="Times New Roman" pitchFamily="18" charset="0"/>
              </a:endParaRPr>
            </a:p>
          </p:txBody>
        </p:sp>
        <p:sp>
          <p:nvSpPr>
            <p:cNvPr id="24643" name="Text Box 231"/>
            <p:cNvSpPr txBox="1">
              <a:spLocks noChangeArrowheads="1"/>
            </p:cNvSpPr>
            <p:nvPr/>
          </p:nvSpPr>
          <p:spPr bwMode="auto">
            <a:xfrm>
              <a:off x="5052" y="1914"/>
              <a:ext cx="258" cy="237"/>
            </a:xfrm>
            <a:prstGeom prst="rect">
              <a:avLst/>
            </a:prstGeom>
            <a:noFill/>
            <a:ln w="9525">
              <a:noFill/>
              <a:miter lim="800000"/>
              <a:headEnd/>
              <a:tailEnd/>
            </a:ln>
          </p:spPr>
          <p:txBody>
            <a:bodyPr/>
            <a:lstStyle/>
            <a:p>
              <a:pPr algn="just"/>
              <a:r>
                <a:rPr lang="en-US" altLang="zh-CN" sz="1500" b="1" i="1">
                  <a:solidFill>
                    <a:srgbClr val="000000"/>
                  </a:solidFill>
                  <a:latin typeface="Times New Roman" pitchFamily="18" charset="0"/>
                </a:rPr>
                <a:t>V</a:t>
              </a:r>
              <a:r>
                <a:rPr lang="en-US" altLang="zh-CN" sz="1500" b="1" i="1" baseline="-25000">
                  <a:solidFill>
                    <a:srgbClr val="000000"/>
                  </a:solidFill>
                  <a:latin typeface="Times New Roman" pitchFamily="18" charset="0"/>
                </a:rPr>
                <a:t>c</a:t>
              </a:r>
              <a:endParaRPr lang="en-US" altLang="zh-CN" sz="1500" b="1">
                <a:solidFill>
                  <a:srgbClr val="000000"/>
                </a:solidFill>
                <a:latin typeface="Times New Roman" pitchFamily="18" charset="0"/>
              </a:endParaRPr>
            </a:p>
          </p:txBody>
        </p:sp>
        <p:sp>
          <p:nvSpPr>
            <p:cNvPr id="24644" name="Text Box 232"/>
            <p:cNvSpPr txBox="1">
              <a:spLocks noChangeArrowheads="1"/>
            </p:cNvSpPr>
            <p:nvPr/>
          </p:nvSpPr>
          <p:spPr bwMode="auto">
            <a:xfrm>
              <a:off x="5261" y="1953"/>
              <a:ext cx="238" cy="231"/>
            </a:xfrm>
            <a:prstGeom prst="rect">
              <a:avLst/>
            </a:prstGeom>
            <a:noFill/>
            <a:ln w="9525">
              <a:noFill/>
              <a:miter lim="800000"/>
              <a:headEnd/>
              <a:tailEnd/>
            </a:ln>
          </p:spPr>
          <p:txBody>
            <a:bodyPr/>
            <a:lstStyle/>
            <a:p>
              <a:pPr algn="just"/>
              <a:r>
                <a:rPr lang="en-US" altLang="zh-CN" sz="1500" b="1" i="1">
                  <a:solidFill>
                    <a:srgbClr val="000000"/>
                  </a:solidFill>
                  <a:latin typeface="Times New Roman" pitchFamily="18" charset="0"/>
                </a:rPr>
                <a:t>V</a:t>
              </a:r>
              <a:endParaRPr lang="en-US" altLang="zh-CN" sz="1500" b="1">
                <a:solidFill>
                  <a:srgbClr val="000000"/>
                </a:solidFill>
                <a:latin typeface="Times New Roman" pitchFamily="18" charset="0"/>
              </a:endParaRPr>
            </a:p>
          </p:txBody>
        </p:sp>
        <p:sp>
          <p:nvSpPr>
            <p:cNvPr id="24645" name="Text Box 233"/>
            <p:cNvSpPr txBox="1">
              <a:spLocks noChangeArrowheads="1"/>
            </p:cNvSpPr>
            <p:nvPr/>
          </p:nvSpPr>
          <p:spPr bwMode="auto">
            <a:xfrm>
              <a:off x="4034" y="1912"/>
              <a:ext cx="214" cy="206"/>
            </a:xfrm>
            <a:prstGeom prst="rect">
              <a:avLst/>
            </a:prstGeom>
            <a:noFill/>
            <a:ln w="9525">
              <a:noFill/>
              <a:miter lim="800000"/>
              <a:headEnd/>
              <a:tailEnd/>
            </a:ln>
          </p:spPr>
          <p:txBody>
            <a:bodyPr/>
            <a:lstStyle/>
            <a:p>
              <a:pPr algn="just"/>
              <a:r>
                <a:rPr lang="en-US" altLang="zh-CN" sz="1500" b="1" i="1">
                  <a:solidFill>
                    <a:srgbClr val="000000"/>
                  </a:solidFill>
                  <a:latin typeface="Times New Roman" pitchFamily="18" charset="0"/>
                </a:rPr>
                <a:t>O</a:t>
              </a:r>
              <a:endParaRPr lang="en-US" altLang="zh-CN" sz="1500" b="1">
                <a:solidFill>
                  <a:srgbClr val="000000"/>
                </a:solidFill>
                <a:latin typeface="Times New Roman" pitchFamily="18" charset="0"/>
              </a:endParaRPr>
            </a:p>
          </p:txBody>
        </p:sp>
        <p:sp>
          <p:nvSpPr>
            <p:cNvPr id="24646" name="Text Box 234"/>
            <p:cNvSpPr txBox="1">
              <a:spLocks noChangeArrowheads="1"/>
            </p:cNvSpPr>
            <p:nvPr/>
          </p:nvSpPr>
          <p:spPr bwMode="auto">
            <a:xfrm>
              <a:off x="4033" y="1012"/>
              <a:ext cx="215" cy="269"/>
            </a:xfrm>
            <a:prstGeom prst="rect">
              <a:avLst/>
            </a:prstGeom>
            <a:noFill/>
            <a:ln w="9525">
              <a:noFill/>
              <a:miter lim="800000"/>
              <a:headEnd/>
              <a:tailEnd/>
            </a:ln>
          </p:spPr>
          <p:txBody>
            <a:bodyPr/>
            <a:lstStyle/>
            <a:p>
              <a:pPr algn="just"/>
              <a:r>
                <a:rPr lang="en-US" altLang="zh-CN" sz="1500" b="1" i="1">
                  <a:solidFill>
                    <a:srgbClr val="000000"/>
                  </a:solidFill>
                  <a:latin typeface="Times New Roman" pitchFamily="18" charset="0"/>
                </a:rPr>
                <a:t>p</a:t>
              </a:r>
              <a:endParaRPr lang="en-US" altLang="zh-CN" sz="1500" b="1">
                <a:solidFill>
                  <a:srgbClr val="000000"/>
                </a:solidFill>
                <a:latin typeface="Times New Roman" pitchFamily="18" charset="0"/>
              </a:endParaRPr>
            </a:p>
          </p:txBody>
        </p:sp>
        <p:sp>
          <p:nvSpPr>
            <p:cNvPr id="24647" name="Line 235"/>
            <p:cNvSpPr>
              <a:spLocks noChangeShapeType="1"/>
            </p:cNvSpPr>
            <p:nvPr/>
          </p:nvSpPr>
          <p:spPr bwMode="auto">
            <a:xfrm>
              <a:off x="4837" y="1199"/>
              <a:ext cx="81" cy="35"/>
            </a:xfrm>
            <a:prstGeom prst="line">
              <a:avLst/>
            </a:prstGeom>
            <a:noFill/>
            <a:ln w="9525">
              <a:solidFill>
                <a:srgbClr val="00B0F0"/>
              </a:solidFill>
              <a:round/>
              <a:headEnd/>
              <a:tailEnd type="triangle" w="med" len="med"/>
            </a:ln>
          </p:spPr>
          <p:txBody>
            <a:bodyPr/>
            <a:lstStyle/>
            <a:p>
              <a:endParaRPr lang="zh-CN" altLang="en-US"/>
            </a:p>
          </p:txBody>
        </p:sp>
        <p:sp>
          <p:nvSpPr>
            <p:cNvPr id="24648" name="Line 236"/>
            <p:cNvSpPr>
              <a:spLocks noChangeShapeType="1"/>
            </p:cNvSpPr>
            <p:nvPr/>
          </p:nvSpPr>
          <p:spPr bwMode="auto">
            <a:xfrm flipH="1" flipV="1">
              <a:off x="4550" y="1575"/>
              <a:ext cx="61" cy="54"/>
            </a:xfrm>
            <a:prstGeom prst="line">
              <a:avLst/>
            </a:prstGeom>
            <a:noFill/>
            <a:ln w="9525">
              <a:solidFill>
                <a:srgbClr val="00B0F0"/>
              </a:solidFill>
              <a:round/>
              <a:headEnd/>
              <a:tailEnd type="triangle" w="med" len="med"/>
            </a:ln>
          </p:spPr>
          <p:txBody>
            <a:bodyPr/>
            <a:lstStyle/>
            <a:p>
              <a:endParaRPr lang="zh-CN" altLang="en-US"/>
            </a:p>
          </p:txBody>
        </p:sp>
        <p:sp>
          <p:nvSpPr>
            <p:cNvPr id="24649" name="Text Box 237"/>
            <p:cNvSpPr txBox="1">
              <a:spLocks noChangeArrowheads="1"/>
            </p:cNvSpPr>
            <p:nvPr/>
          </p:nvSpPr>
          <p:spPr bwMode="auto">
            <a:xfrm>
              <a:off x="4551" y="1276"/>
              <a:ext cx="371" cy="265"/>
            </a:xfrm>
            <a:prstGeom prst="rect">
              <a:avLst/>
            </a:prstGeom>
            <a:noFill/>
            <a:ln w="9525">
              <a:noFill/>
              <a:miter lim="800000"/>
              <a:headEnd/>
              <a:tailEnd/>
            </a:ln>
          </p:spPr>
          <p:txBody>
            <a:bodyPr/>
            <a:lstStyle/>
            <a:p>
              <a:pPr algn="just"/>
              <a:r>
                <a:rPr lang="en-US" altLang="zh-CN" sz="1500" b="1" i="1">
                  <a:solidFill>
                    <a:srgbClr val="0000FF"/>
                  </a:solidFill>
                  <a:latin typeface="Times New Roman" pitchFamily="18" charset="0"/>
                </a:rPr>
                <a:t>W</a:t>
              </a:r>
              <a:r>
                <a:rPr lang="zh-CN" altLang="en-US" sz="1500" b="1" baseline="-25000">
                  <a:solidFill>
                    <a:srgbClr val="0000FF"/>
                  </a:solidFill>
                  <a:latin typeface="Times New Roman" pitchFamily="18" charset="0"/>
                </a:rPr>
                <a:t>净</a:t>
              </a:r>
              <a:endParaRPr lang="zh-CN" altLang="en-US" sz="1500" b="1">
                <a:solidFill>
                  <a:srgbClr val="0000FF"/>
                </a:solidFill>
                <a:latin typeface="Times New Roman" pitchFamily="18" charset="0"/>
              </a:endParaRPr>
            </a:p>
          </p:txBody>
        </p:sp>
      </p:grpSp>
      <p:grpSp>
        <p:nvGrpSpPr>
          <p:cNvPr id="4" name="组合 87"/>
          <p:cNvGrpSpPr>
            <a:grpSpLocks/>
          </p:cNvGrpSpPr>
          <p:nvPr/>
        </p:nvGrpSpPr>
        <p:grpSpPr bwMode="auto">
          <a:xfrm>
            <a:off x="7689850" y="976313"/>
            <a:ext cx="717550" cy="1165225"/>
            <a:chOff x="6309360" y="822960"/>
            <a:chExt cx="716959" cy="1555418"/>
          </a:xfrm>
        </p:grpSpPr>
        <p:cxnSp>
          <p:nvCxnSpPr>
            <p:cNvPr id="24631" name="直接箭头连接符 79"/>
            <p:cNvCxnSpPr>
              <a:cxnSpLocks noChangeShapeType="1"/>
            </p:cNvCxnSpPr>
            <p:nvPr/>
          </p:nvCxnSpPr>
          <p:spPr bwMode="auto">
            <a:xfrm flipH="1">
              <a:off x="6345936" y="1828800"/>
              <a:ext cx="128016" cy="301752"/>
            </a:xfrm>
            <a:prstGeom prst="straightConnector1">
              <a:avLst/>
            </a:prstGeom>
            <a:noFill/>
            <a:ln w="19050" algn="ctr">
              <a:solidFill>
                <a:srgbClr val="FF0000"/>
              </a:solidFill>
              <a:round/>
              <a:headEnd/>
              <a:tailEnd type="arrow" w="med" len="med"/>
            </a:ln>
          </p:spPr>
        </p:cxnSp>
        <p:sp>
          <p:nvSpPr>
            <p:cNvPr id="24632" name="TextBox 80"/>
            <p:cNvSpPr txBox="1">
              <a:spLocks noChangeArrowheads="1"/>
            </p:cNvSpPr>
            <p:nvPr/>
          </p:nvSpPr>
          <p:spPr bwMode="auto">
            <a:xfrm>
              <a:off x="6309360" y="1947065"/>
              <a:ext cx="388230" cy="431313"/>
            </a:xfrm>
            <a:prstGeom prst="rect">
              <a:avLst/>
            </a:prstGeom>
            <a:noFill/>
            <a:ln w="9525">
              <a:noFill/>
              <a:miter lim="800000"/>
              <a:headEnd/>
              <a:tailEnd/>
            </a:ln>
          </p:spPr>
          <p:txBody>
            <a:bodyPr wrap="none">
              <a:spAutoFit/>
            </a:bodyPr>
            <a:lstStyle/>
            <a:p>
              <a:r>
                <a:rPr lang="en-US" altLang="zh-CN" sz="1500" b="1" i="1">
                  <a:solidFill>
                    <a:srgbClr val="FF0000"/>
                  </a:solidFill>
                  <a:latin typeface="Times New Roman" pitchFamily="18" charset="0"/>
                </a:rPr>
                <a:t>Q</a:t>
              </a:r>
              <a:r>
                <a:rPr lang="en-US" altLang="zh-CN" sz="1500" b="1" baseline="-25000">
                  <a:solidFill>
                    <a:srgbClr val="FF0000"/>
                  </a:solidFill>
                  <a:latin typeface="Times New Roman" pitchFamily="18" charset="0"/>
                </a:rPr>
                <a:t>2</a:t>
              </a:r>
              <a:endParaRPr lang="en-US" altLang="zh-CN" sz="1500" b="1">
                <a:solidFill>
                  <a:srgbClr val="FF0000"/>
                </a:solidFill>
                <a:latin typeface="Times New Roman" pitchFamily="18" charset="0"/>
              </a:endParaRPr>
            </a:p>
          </p:txBody>
        </p:sp>
        <p:sp>
          <p:nvSpPr>
            <p:cNvPr id="24633" name="TextBox 81"/>
            <p:cNvSpPr txBox="1">
              <a:spLocks noChangeArrowheads="1"/>
            </p:cNvSpPr>
            <p:nvPr/>
          </p:nvSpPr>
          <p:spPr bwMode="auto">
            <a:xfrm>
              <a:off x="6638089" y="822960"/>
              <a:ext cx="388230" cy="431313"/>
            </a:xfrm>
            <a:prstGeom prst="rect">
              <a:avLst/>
            </a:prstGeom>
            <a:noFill/>
            <a:ln w="9525">
              <a:noFill/>
              <a:miter lim="800000"/>
              <a:headEnd/>
              <a:tailEnd/>
            </a:ln>
          </p:spPr>
          <p:txBody>
            <a:bodyPr wrap="none">
              <a:spAutoFit/>
            </a:bodyPr>
            <a:lstStyle/>
            <a:p>
              <a:r>
                <a:rPr lang="en-US" altLang="zh-CN" sz="1500" b="1" i="1">
                  <a:solidFill>
                    <a:srgbClr val="FF0000"/>
                  </a:solidFill>
                  <a:latin typeface="Times New Roman" pitchFamily="18" charset="0"/>
                </a:rPr>
                <a:t>Q</a:t>
              </a:r>
              <a:r>
                <a:rPr lang="en-US" altLang="zh-CN" sz="1500" b="1" baseline="-25000">
                  <a:solidFill>
                    <a:srgbClr val="FF0000"/>
                  </a:solidFill>
                  <a:latin typeface="Times New Roman" pitchFamily="18" charset="0"/>
                </a:rPr>
                <a:t>1</a:t>
              </a:r>
              <a:endParaRPr lang="en-US" altLang="zh-CN" sz="1500" b="1">
                <a:solidFill>
                  <a:srgbClr val="FF0000"/>
                </a:solidFill>
                <a:latin typeface="Times New Roman" pitchFamily="18" charset="0"/>
              </a:endParaRPr>
            </a:p>
          </p:txBody>
        </p:sp>
        <p:cxnSp>
          <p:nvCxnSpPr>
            <p:cNvPr id="24634" name="直接箭头连接符 86"/>
            <p:cNvCxnSpPr>
              <a:cxnSpLocks noChangeShapeType="1"/>
            </p:cNvCxnSpPr>
            <p:nvPr/>
          </p:nvCxnSpPr>
          <p:spPr bwMode="auto">
            <a:xfrm flipH="1">
              <a:off x="6702552" y="1106424"/>
              <a:ext cx="91440" cy="438912"/>
            </a:xfrm>
            <a:prstGeom prst="straightConnector1">
              <a:avLst/>
            </a:prstGeom>
            <a:noFill/>
            <a:ln w="19050" algn="ctr">
              <a:solidFill>
                <a:srgbClr val="FF0000"/>
              </a:solidFill>
              <a:round/>
              <a:headEnd/>
              <a:tailEnd type="arrow" w="med" len="med"/>
            </a:ln>
          </p:spPr>
        </p:cxn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3807"/>
                                        </p:tgtEl>
                                        <p:attrNameLst>
                                          <p:attrName>style.visibility</p:attrName>
                                        </p:attrNameLst>
                                      </p:cBhvr>
                                      <p:to>
                                        <p:strVal val="visible"/>
                                      </p:to>
                                    </p:set>
                                    <p:animEffect transition="in" filter="checkerboard(across)">
                                      <p:cBhvr>
                                        <p:cTn id="7" dur="500"/>
                                        <p:tgtEl>
                                          <p:spTgt spid="3380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33808"/>
                                        </p:tgtEl>
                                        <p:attrNameLst>
                                          <p:attrName>style.visibility</p:attrName>
                                        </p:attrNameLst>
                                      </p:cBhvr>
                                      <p:to>
                                        <p:strVal val="visible"/>
                                      </p:to>
                                    </p:set>
                                    <p:animEffect transition="in" filter="checkerboard(across)">
                                      <p:cBhvr>
                                        <p:cTn id="12" dur="500"/>
                                        <p:tgtEl>
                                          <p:spTgt spid="3380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33796"/>
                                        </p:tgtEl>
                                        <p:attrNameLst>
                                          <p:attrName>style.visibility</p:attrName>
                                        </p:attrNameLst>
                                      </p:cBhvr>
                                      <p:to>
                                        <p:strVal val="visible"/>
                                      </p:to>
                                    </p:set>
                                    <p:animEffect transition="in" filter="checkerboard(across)">
                                      <p:cBhvr>
                                        <p:cTn id="17" dur="500"/>
                                        <p:tgtEl>
                                          <p:spTgt spid="3379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3" presetClass="entr" presetSubtype="16"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 calcmode="lin" valueType="num">
                                      <p:cBhvr>
                                        <p:cTn id="22" dur="500" fill="hold"/>
                                        <p:tgtEl>
                                          <p:spTgt spid="3"/>
                                        </p:tgtEl>
                                        <p:attrNameLst>
                                          <p:attrName>ppt_w</p:attrName>
                                        </p:attrNameLst>
                                      </p:cBhvr>
                                      <p:tavLst>
                                        <p:tav tm="0">
                                          <p:val>
                                            <p:fltVal val="0"/>
                                          </p:val>
                                        </p:tav>
                                        <p:tav tm="100000">
                                          <p:val>
                                            <p:strVal val="#ppt_w"/>
                                          </p:val>
                                        </p:tav>
                                      </p:tavLst>
                                    </p:anim>
                                    <p:anim calcmode="lin" valueType="num">
                                      <p:cBhvr>
                                        <p:cTn id="23" dur="500" fill="hold"/>
                                        <p:tgtEl>
                                          <p:spTgt spid="3"/>
                                        </p:tgtEl>
                                        <p:attrNameLst>
                                          <p:attrName>ppt_h</p:attrName>
                                        </p:attrNameLst>
                                      </p:cBhvr>
                                      <p:tavLst>
                                        <p:tav tm="0">
                                          <p:val>
                                            <p:fltVal val="0"/>
                                          </p:val>
                                        </p:tav>
                                        <p:tav tm="100000">
                                          <p:val>
                                            <p:strVal val="#ppt_h"/>
                                          </p:val>
                                        </p:tav>
                                      </p:tavLst>
                                    </p:anim>
                                    <p:animEffect transition="in" filter="fade">
                                      <p:cBhvr>
                                        <p:cTn id="24" dur="500"/>
                                        <p:tgtEl>
                                          <p:spTgt spid="3"/>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1" fill="hold" nodeType="clickEffect">
                                  <p:stCondLst>
                                    <p:cond delay="0"/>
                                  </p:stCondLst>
                                  <p:childTnLst>
                                    <p:set>
                                      <p:cBhvr>
                                        <p:cTn id="28" dur="1" fill="hold">
                                          <p:stCondLst>
                                            <p:cond delay="0"/>
                                          </p:stCondLst>
                                        </p:cTn>
                                        <p:tgtEl>
                                          <p:spTgt spid="4"/>
                                        </p:tgtEl>
                                        <p:attrNameLst>
                                          <p:attrName>style.visibility</p:attrName>
                                        </p:attrNameLst>
                                      </p:cBhvr>
                                      <p:to>
                                        <p:strVal val="visible"/>
                                      </p:to>
                                    </p:set>
                                    <p:animEffect transition="in" filter="wipe(up)">
                                      <p:cBhvr>
                                        <p:cTn id="29" dur="500"/>
                                        <p:tgtEl>
                                          <p:spTgt spid="4"/>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5" presetClass="entr" presetSubtype="10" fill="hold" grpId="0" nodeType="clickEffect">
                                  <p:stCondLst>
                                    <p:cond delay="0"/>
                                  </p:stCondLst>
                                  <p:childTnLst>
                                    <p:set>
                                      <p:cBhvr>
                                        <p:cTn id="33" dur="1" fill="hold">
                                          <p:stCondLst>
                                            <p:cond delay="0"/>
                                          </p:stCondLst>
                                        </p:cTn>
                                        <p:tgtEl>
                                          <p:spTgt spid="33797"/>
                                        </p:tgtEl>
                                        <p:attrNameLst>
                                          <p:attrName>style.visibility</p:attrName>
                                        </p:attrNameLst>
                                      </p:cBhvr>
                                      <p:to>
                                        <p:strVal val="visible"/>
                                      </p:to>
                                    </p:set>
                                    <p:animEffect transition="in" filter="checkerboard(across)">
                                      <p:cBhvr>
                                        <p:cTn id="34" dur="500"/>
                                        <p:tgtEl>
                                          <p:spTgt spid="33797"/>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5" presetClass="entr" presetSubtype="10" fill="hold" grpId="0" nodeType="clickEffect">
                                  <p:stCondLst>
                                    <p:cond delay="0"/>
                                  </p:stCondLst>
                                  <p:childTnLst>
                                    <p:set>
                                      <p:cBhvr>
                                        <p:cTn id="38" dur="1" fill="hold">
                                          <p:stCondLst>
                                            <p:cond delay="0"/>
                                          </p:stCondLst>
                                        </p:cTn>
                                        <p:tgtEl>
                                          <p:spTgt spid="33804"/>
                                        </p:tgtEl>
                                        <p:attrNameLst>
                                          <p:attrName>style.visibility</p:attrName>
                                        </p:attrNameLst>
                                      </p:cBhvr>
                                      <p:to>
                                        <p:strVal val="visible"/>
                                      </p:to>
                                    </p:set>
                                    <p:animEffect transition="in" filter="checkerboard(across)">
                                      <p:cBhvr>
                                        <p:cTn id="39" dur="500"/>
                                        <p:tgtEl>
                                          <p:spTgt spid="33804"/>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74"/>
                                        </p:tgtEl>
                                        <p:attrNameLst>
                                          <p:attrName>style.visibility</p:attrName>
                                        </p:attrNameLst>
                                      </p:cBhvr>
                                      <p:to>
                                        <p:strVal val="visible"/>
                                      </p:to>
                                    </p:set>
                                    <p:animEffect transition="in" filter="wipe(left)">
                                      <p:cBhvr>
                                        <p:cTn id="44" dur="500"/>
                                        <p:tgtEl>
                                          <p:spTgt spid="74"/>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75">
                                            <p:bg/>
                                          </p:spTgt>
                                        </p:tgtEl>
                                        <p:attrNameLst>
                                          <p:attrName>style.visibility</p:attrName>
                                        </p:attrNameLst>
                                      </p:cBhvr>
                                      <p:to>
                                        <p:strVal val="visible"/>
                                      </p:to>
                                    </p:set>
                                    <p:animEffect transition="in" filter="wipe(left)">
                                      <p:cBhvr>
                                        <p:cTn id="49" dur="500"/>
                                        <p:tgtEl>
                                          <p:spTgt spid="75">
                                            <p:bg/>
                                          </p:spTgt>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75">
                                            <p:txEl>
                                              <p:pRg st="0" end="0"/>
                                            </p:txEl>
                                          </p:spTgt>
                                        </p:tgtEl>
                                        <p:attrNameLst>
                                          <p:attrName>style.visibility</p:attrName>
                                        </p:attrNameLst>
                                      </p:cBhvr>
                                      <p:to>
                                        <p:strVal val="visible"/>
                                      </p:to>
                                    </p:set>
                                    <p:animEffect transition="in" filter="wipe(left)">
                                      <p:cBhvr>
                                        <p:cTn id="54" dur="500"/>
                                        <p:tgtEl>
                                          <p:spTgt spid="75">
                                            <p:txEl>
                                              <p:pRg st="0" end="0"/>
                                            </p:txEl>
                                          </p:spTgt>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3" presetClass="entr" presetSubtype="10" fill="hold" nodeType="clickEffect">
                                  <p:stCondLst>
                                    <p:cond delay="0"/>
                                  </p:stCondLst>
                                  <p:childTnLst>
                                    <p:set>
                                      <p:cBhvr>
                                        <p:cTn id="58" dur="1" fill="hold">
                                          <p:stCondLst>
                                            <p:cond delay="0"/>
                                          </p:stCondLst>
                                        </p:cTn>
                                        <p:tgtEl>
                                          <p:spTgt spid="2"/>
                                        </p:tgtEl>
                                        <p:attrNameLst>
                                          <p:attrName>style.visibility</p:attrName>
                                        </p:attrNameLst>
                                      </p:cBhvr>
                                      <p:to>
                                        <p:strVal val="visible"/>
                                      </p:to>
                                    </p:set>
                                    <p:animEffect transition="in" filter="blinds(horizontal)">
                                      <p:cBhvr>
                                        <p:cTn id="59" dur="500"/>
                                        <p:tgtEl>
                                          <p:spTgt spid="2"/>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22" presetClass="entr" presetSubtype="8" fill="hold" grpId="0" nodeType="clickEffect">
                                  <p:stCondLst>
                                    <p:cond delay="0"/>
                                  </p:stCondLst>
                                  <p:childTnLst>
                                    <p:set>
                                      <p:cBhvr>
                                        <p:cTn id="63" dur="1" fill="hold">
                                          <p:stCondLst>
                                            <p:cond delay="0"/>
                                          </p:stCondLst>
                                        </p:cTn>
                                        <p:tgtEl>
                                          <p:spTgt spid="89">
                                            <p:bg/>
                                          </p:spTgt>
                                        </p:tgtEl>
                                        <p:attrNameLst>
                                          <p:attrName>style.visibility</p:attrName>
                                        </p:attrNameLst>
                                      </p:cBhvr>
                                      <p:to>
                                        <p:strVal val="visible"/>
                                      </p:to>
                                    </p:set>
                                    <p:animEffect transition="in" filter="wipe(left)">
                                      <p:cBhvr>
                                        <p:cTn id="64" dur="500"/>
                                        <p:tgtEl>
                                          <p:spTgt spid="89">
                                            <p:bg/>
                                          </p:spTgt>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22" presetClass="entr" presetSubtype="8" fill="hold" grpId="0" nodeType="clickEffect">
                                  <p:stCondLst>
                                    <p:cond delay="0"/>
                                  </p:stCondLst>
                                  <p:childTnLst>
                                    <p:set>
                                      <p:cBhvr>
                                        <p:cTn id="68" dur="1" fill="hold">
                                          <p:stCondLst>
                                            <p:cond delay="0"/>
                                          </p:stCondLst>
                                        </p:cTn>
                                        <p:tgtEl>
                                          <p:spTgt spid="89">
                                            <p:txEl>
                                              <p:pRg st="0" end="0"/>
                                            </p:txEl>
                                          </p:spTgt>
                                        </p:tgtEl>
                                        <p:attrNameLst>
                                          <p:attrName>style.visibility</p:attrName>
                                        </p:attrNameLst>
                                      </p:cBhvr>
                                      <p:to>
                                        <p:strVal val="visible"/>
                                      </p:to>
                                    </p:set>
                                    <p:animEffect transition="in" filter="wipe(left)">
                                      <p:cBhvr>
                                        <p:cTn id="69" dur="500"/>
                                        <p:tgtEl>
                                          <p:spTgt spid="89">
                                            <p:txEl>
                                              <p:pRg st="0" end="0"/>
                                            </p:txEl>
                                          </p:spTgt>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22" presetClass="entr" presetSubtype="8" fill="hold" grpId="0" nodeType="clickEffect">
                                  <p:stCondLst>
                                    <p:cond delay="0"/>
                                  </p:stCondLst>
                                  <p:childTnLst>
                                    <p:set>
                                      <p:cBhvr>
                                        <p:cTn id="73" dur="1" fill="hold">
                                          <p:stCondLst>
                                            <p:cond delay="0"/>
                                          </p:stCondLst>
                                        </p:cTn>
                                        <p:tgtEl>
                                          <p:spTgt spid="90">
                                            <p:txEl>
                                              <p:pRg st="0" end="0"/>
                                            </p:txEl>
                                          </p:spTgt>
                                        </p:tgtEl>
                                        <p:attrNameLst>
                                          <p:attrName>style.visibility</p:attrName>
                                        </p:attrNameLst>
                                      </p:cBhvr>
                                      <p:to>
                                        <p:strVal val="visible"/>
                                      </p:to>
                                    </p:set>
                                    <p:animEffect transition="in" filter="wipe(left)">
                                      <p:cBhvr>
                                        <p:cTn id="74" dur="500"/>
                                        <p:tgtEl>
                                          <p:spTgt spid="90">
                                            <p:txEl>
                                              <p:pRg st="0" end="0"/>
                                            </p:txEl>
                                          </p:spTgt>
                                        </p:tgtEl>
                                      </p:cBhvr>
                                    </p:animEffect>
                                  </p:childTnLst>
                                </p:cTn>
                              </p:par>
                            </p:childTnLst>
                          </p:cTn>
                        </p:par>
                      </p:childTnLst>
                    </p:cTn>
                  </p:par>
                  <p:par>
                    <p:cTn id="75" fill="hold" nodeType="clickPar">
                      <p:stCondLst>
                        <p:cond delay="indefinite"/>
                      </p:stCondLst>
                      <p:childTnLst>
                        <p:par>
                          <p:cTn id="76" fill="hold" nodeType="withGroup">
                            <p:stCondLst>
                              <p:cond delay="0"/>
                            </p:stCondLst>
                            <p:childTnLst>
                              <p:par>
                                <p:cTn id="77" presetID="5" presetClass="entr" presetSubtype="10" fill="hold" grpId="0" nodeType="clickEffect">
                                  <p:stCondLst>
                                    <p:cond delay="0"/>
                                  </p:stCondLst>
                                  <p:childTnLst>
                                    <p:set>
                                      <p:cBhvr>
                                        <p:cTn id="78" dur="1" fill="hold">
                                          <p:stCondLst>
                                            <p:cond delay="0"/>
                                          </p:stCondLst>
                                        </p:cTn>
                                        <p:tgtEl>
                                          <p:spTgt spid="33803"/>
                                        </p:tgtEl>
                                        <p:attrNameLst>
                                          <p:attrName>style.visibility</p:attrName>
                                        </p:attrNameLst>
                                      </p:cBhvr>
                                      <p:to>
                                        <p:strVal val="visible"/>
                                      </p:to>
                                    </p:set>
                                    <p:animEffect transition="in" filter="checkerboard(across)">
                                      <p:cBhvr>
                                        <p:cTn id="79" dur="500"/>
                                        <p:tgtEl>
                                          <p:spTgt spid="33803"/>
                                        </p:tgtEl>
                                      </p:cBhvr>
                                    </p:animEffect>
                                  </p:childTnLst>
                                </p:cTn>
                              </p:par>
                            </p:childTnLst>
                          </p:cTn>
                        </p:par>
                      </p:childTnLst>
                    </p:cTn>
                  </p:par>
                  <p:par>
                    <p:cTn id="80" fill="hold" nodeType="clickPar">
                      <p:stCondLst>
                        <p:cond delay="indefinite"/>
                      </p:stCondLst>
                      <p:childTnLst>
                        <p:par>
                          <p:cTn id="81" fill="hold" nodeType="withGroup">
                            <p:stCondLst>
                              <p:cond delay="0"/>
                            </p:stCondLst>
                            <p:childTnLst>
                              <p:par>
                                <p:cTn id="82" presetID="22" presetClass="entr" presetSubtype="8" fill="hold" nodeType="clickEffect">
                                  <p:stCondLst>
                                    <p:cond delay="0"/>
                                  </p:stCondLst>
                                  <p:childTnLst>
                                    <p:set>
                                      <p:cBhvr>
                                        <p:cTn id="83" dur="1" fill="hold">
                                          <p:stCondLst>
                                            <p:cond delay="0"/>
                                          </p:stCondLst>
                                        </p:cTn>
                                        <p:tgtEl>
                                          <p:spTgt spid="109"/>
                                        </p:tgtEl>
                                        <p:attrNameLst>
                                          <p:attrName>style.visibility</p:attrName>
                                        </p:attrNameLst>
                                      </p:cBhvr>
                                      <p:to>
                                        <p:strVal val="visible"/>
                                      </p:to>
                                    </p:set>
                                    <p:animEffect transition="in" filter="wipe(left)">
                                      <p:cBhvr>
                                        <p:cTn id="84" dur="500"/>
                                        <p:tgtEl>
                                          <p:spTgt spid="1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6" grpId="0" autoUpdateAnimBg="0"/>
      <p:bldP spid="33797" grpId="0" autoUpdateAnimBg="0"/>
      <p:bldP spid="33803" grpId="0" autoUpdateAnimBg="0"/>
      <p:bldP spid="33804" grpId="0" autoUpdateAnimBg="0"/>
      <p:bldP spid="33807" grpId="0" autoUpdateAnimBg="0"/>
      <p:bldP spid="33808" grpId="0" autoUpdateAnimBg="0"/>
      <p:bldP spid="74" grpId="0"/>
      <p:bldP spid="75" grpId="0" build="p" animBg="1"/>
      <p:bldP spid="89" grpId="0" build="p" animBg="1"/>
      <p:bldP spid="90"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ext Box 2"/>
          <p:cNvSpPr txBox="1">
            <a:spLocks noChangeArrowheads="1"/>
          </p:cNvSpPr>
          <p:nvPr/>
        </p:nvSpPr>
        <p:spPr bwMode="auto">
          <a:xfrm>
            <a:off x="609600" y="3795713"/>
            <a:ext cx="3962400" cy="369887"/>
          </a:xfrm>
          <a:prstGeom prst="rect">
            <a:avLst/>
          </a:prstGeom>
          <a:noFill/>
          <a:ln w="9525">
            <a:noFill/>
            <a:miter lim="800000"/>
            <a:headEnd/>
            <a:tailEnd/>
          </a:ln>
        </p:spPr>
        <p:txBody>
          <a:bodyPr>
            <a:spAutoFit/>
          </a:bodyPr>
          <a:lstStyle/>
          <a:p>
            <a:pPr eaLnBrk="0" hangingPunct="0"/>
            <a:r>
              <a:rPr lang="en-US" altLang="zh-CN" b="1">
                <a:solidFill>
                  <a:srgbClr val="000000"/>
                </a:solidFill>
                <a:latin typeface="华文中宋"/>
                <a:ea typeface="华文中宋"/>
                <a:cs typeface="华文中宋"/>
              </a:rPr>
              <a:t>(2) </a:t>
            </a:r>
            <a:r>
              <a:rPr lang="zh-CN" altLang="en-US" b="1">
                <a:solidFill>
                  <a:srgbClr val="000000"/>
                </a:solidFill>
                <a:latin typeface="华文中宋"/>
                <a:ea typeface="华文中宋"/>
                <a:cs typeface="华文中宋"/>
              </a:rPr>
              <a:t>提高热机效率的方向</a:t>
            </a:r>
          </a:p>
        </p:txBody>
      </p:sp>
      <p:sp>
        <p:nvSpPr>
          <p:cNvPr id="34820" name="Text Box 4"/>
          <p:cNvSpPr txBox="1">
            <a:spLocks noChangeArrowheads="1"/>
          </p:cNvSpPr>
          <p:nvPr/>
        </p:nvSpPr>
        <p:spPr bwMode="auto">
          <a:xfrm>
            <a:off x="668338" y="4156075"/>
            <a:ext cx="7720012" cy="369888"/>
          </a:xfrm>
          <a:prstGeom prst="rect">
            <a:avLst/>
          </a:prstGeom>
          <a:noFill/>
          <a:ln w="9525">
            <a:noFill/>
            <a:miter lim="800000"/>
            <a:headEnd/>
            <a:tailEnd/>
          </a:ln>
        </p:spPr>
        <p:txBody>
          <a:bodyPr>
            <a:spAutoFit/>
          </a:bodyPr>
          <a:lstStyle/>
          <a:p>
            <a:pPr eaLnBrk="0" hangingPunct="0"/>
            <a:r>
              <a:rPr lang="en-US" altLang="zh-CN" b="1">
                <a:solidFill>
                  <a:srgbClr val="000000"/>
                </a:solidFill>
                <a:latin typeface="华文中宋"/>
                <a:ea typeface="华文中宋"/>
                <a:cs typeface="华文中宋"/>
              </a:rPr>
              <a:t>      </a:t>
            </a:r>
            <a:r>
              <a:rPr lang="zh-CN" altLang="en-US" b="1">
                <a:solidFill>
                  <a:srgbClr val="000000"/>
                </a:solidFill>
                <a:latin typeface="华文中宋"/>
                <a:ea typeface="华文中宋"/>
                <a:cs typeface="华文中宋"/>
              </a:rPr>
              <a:t>由于</a:t>
            </a:r>
            <a:r>
              <a:rPr lang="en-US" altLang="zh-CN" b="1" i="1">
                <a:solidFill>
                  <a:srgbClr val="000000"/>
                </a:solidFill>
                <a:latin typeface="Times New Roman" pitchFamily="18" charset="0"/>
                <a:ea typeface="华文中宋"/>
                <a:cs typeface="华文中宋"/>
              </a:rPr>
              <a:t>Q</a:t>
            </a:r>
            <a:r>
              <a:rPr lang="zh-CN" altLang="en-US" b="1">
                <a:solidFill>
                  <a:srgbClr val="000000"/>
                </a:solidFill>
                <a:latin typeface="华文中宋"/>
                <a:ea typeface="华文中宋"/>
                <a:cs typeface="华文中宋"/>
              </a:rPr>
              <a:t>与过程有关，∴</a:t>
            </a:r>
            <a:r>
              <a:rPr lang="zh-CN" altLang="en-US" b="1" i="1">
                <a:solidFill>
                  <a:srgbClr val="000000"/>
                </a:solidFill>
                <a:latin typeface="华文中宋"/>
                <a:ea typeface="华文中宋"/>
                <a:cs typeface="华文中宋"/>
                <a:sym typeface="Symbol" pitchFamily="18" charset="2"/>
              </a:rPr>
              <a:t></a:t>
            </a:r>
            <a:r>
              <a:rPr lang="zh-CN" altLang="en-US" b="1">
                <a:solidFill>
                  <a:srgbClr val="000000"/>
                </a:solidFill>
                <a:latin typeface="华文中宋"/>
                <a:ea typeface="华文中宋"/>
                <a:cs typeface="华文中宋"/>
              </a:rPr>
              <a:t>与过程有关，于是人们致力于寻找最佳循环。</a:t>
            </a:r>
          </a:p>
        </p:txBody>
      </p:sp>
      <p:sp>
        <p:nvSpPr>
          <p:cNvPr id="34825" name="Text Box 9"/>
          <p:cNvSpPr txBox="1">
            <a:spLocks noChangeArrowheads="1"/>
          </p:cNvSpPr>
          <p:nvPr/>
        </p:nvSpPr>
        <p:spPr bwMode="auto">
          <a:xfrm>
            <a:off x="611188" y="915988"/>
            <a:ext cx="3962400" cy="368300"/>
          </a:xfrm>
          <a:prstGeom prst="rect">
            <a:avLst/>
          </a:prstGeom>
          <a:noFill/>
          <a:ln w="9525">
            <a:noFill/>
            <a:miter lim="800000"/>
            <a:headEnd/>
            <a:tailEnd/>
          </a:ln>
        </p:spPr>
        <p:txBody>
          <a:bodyPr>
            <a:spAutoFit/>
          </a:bodyPr>
          <a:lstStyle/>
          <a:p>
            <a:pPr eaLnBrk="0" hangingPunct="0"/>
            <a:r>
              <a:rPr lang="en-US" altLang="zh-CN" b="1">
                <a:solidFill>
                  <a:srgbClr val="000000"/>
                </a:solidFill>
                <a:latin typeface="华文中宋"/>
                <a:ea typeface="华文中宋"/>
                <a:cs typeface="华文中宋"/>
              </a:rPr>
              <a:t>(1) </a:t>
            </a:r>
            <a:r>
              <a:rPr lang="zh-CN" altLang="en-US" b="1">
                <a:solidFill>
                  <a:srgbClr val="000000"/>
                </a:solidFill>
                <a:latin typeface="华文中宋"/>
                <a:ea typeface="华文中宋"/>
                <a:cs typeface="华文中宋"/>
              </a:rPr>
              <a:t>热机的发展</a:t>
            </a:r>
          </a:p>
        </p:txBody>
      </p:sp>
      <p:sp>
        <p:nvSpPr>
          <p:cNvPr id="34826" name="Text Box 10"/>
          <p:cNvSpPr txBox="1">
            <a:spLocks noChangeArrowheads="1"/>
          </p:cNvSpPr>
          <p:nvPr/>
        </p:nvSpPr>
        <p:spPr bwMode="auto">
          <a:xfrm>
            <a:off x="34925" y="915988"/>
            <a:ext cx="936625" cy="368300"/>
          </a:xfrm>
          <a:prstGeom prst="rect">
            <a:avLst/>
          </a:prstGeom>
          <a:noFill/>
          <a:ln w="9525">
            <a:noFill/>
            <a:miter lim="800000"/>
            <a:headEnd/>
            <a:tailEnd/>
          </a:ln>
        </p:spPr>
        <p:txBody>
          <a:bodyPr>
            <a:spAutoFit/>
          </a:bodyPr>
          <a:lstStyle/>
          <a:p>
            <a:pPr eaLnBrk="0" hangingPunct="0"/>
            <a:r>
              <a:rPr lang="zh-CN" altLang="en-US" b="1">
                <a:solidFill>
                  <a:srgbClr val="0000FF"/>
                </a:solidFill>
                <a:latin typeface="黑体" pitchFamily="49" charset="-122"/>
                <a:ea typeface="黑体" pitchFamily="49" charset="-122"/>
              </a:rPr>
              <a:t>延伸：</a:t>
            </a:r>
          </a:p>
        </p:txBody>
      </p:sp>
      <p:sp>
        <p:nvSpPr>
          <p:cNvPr id="34827" name="Rectangle 11"/>
          <p:cNvSpPr>
            <a:spLocks noChangeArrowheads="1"/>
          </p:cNvSpPr>
          <p:nvPr/>
        </p:nvSpPr>
        <p:spPr bwMode="auto">
          <a:xfrm>
            <a:off x="1619250" y="1349375"/>
            <a:ext cx="1098550" cy="368300"/>
          </a:xfrm>
          <a:prstGeom prst="rect">
            <a:avLst/>
          </a:prstGeom>
          <a:noFill/>
          <a:ln w="9525">
            <a:noFill/>
            <a:miter lim="800000"/>
            <a:headEnd/>
            <a:tailEnd/>
          </a:ln>
        </p:spPr>
        <p:txBody>
          <a:bodyPr>
            <a:spAutoFit/>
          </a:bodyPr>
          <a:lstStyle/>
          <a:p>
            <a:r>
              <a:rPr kumimoji="1" lang="zh-CN" altLang="en-US" b="1">
                <a:solidFill>
                  <a:srgbClr val="000000"/>
                </a:solidFill>
                <a:latin typeface="Times New Roman" pitchFamily="18" charset="0"/>
                <a:ea typeface="华文中宋"/>
                <a:cs typeface="华文中宋"/>
              </a:rPr>
              <a:t>蒸气机</a:t>
            </a:r>
          </a:p>
        </p:txBody>
      </p:sp>
      <p:sp>
        <p:nvSpPr>
          <p:cNvPr id="34828" name="Rectangle 12"/>
          <p:cNvSpPr>
            <a:spLocks noChangeArrowheads="1"/>
          </p:cNvSpPr>
          <p:nvPr/>
        </p:nvSpPr>
        <p:spPr bwMode="auto">
          <a:xfrm>
            <a:off x="2771775" y="1349375"/>
            <a:ext cx="4756150" cy="368300"/>
          </a:xfrm>
          <a:prstGeom prst="rect">
            <a:avLst/>
          </a:prstGeom>
          <a:noFill/>
          <a:ln w="9525">
            <a:noFill/>
            <a:miter lim="800000"/>
            <a:headEnd/>
            <a:tailEnd/>
          </a:ln>
        </p:spPr>
        <p:txBody>
          <a:bodyPr>
            <a:spAutoFit/>
          </a:bodyPr>
          <a:lstStyle/>
          <a:p>
            <a:r>
              <a:rPr kumimoji="1" lang="en-US" altLang="zh-CN">
                <a:solidFill>
                  <a:srgbClr val="080808"/>
                </a:solidFill>
                <a:latin typeface="Times New Roman" pitchFamily="18" charset="0"/>
                <a:ea typeface="华文中宋"/>
                <a:cs typeface="华文中宋"/>
              </a:rPr>
              <a:t>1698</a:t>
            </a:r>
            <a:r>
              <a:rPr kumimoji="1" lang="zh-CN" altLang="en-US" b="1">
                <a:solidFill>
                  <a:srgbClr val="080808"/>
                </a:solidFill>
                <a:latin typeface="Times New Roman" pitchFamily="18" charset="0"/>
                <a:ea typeface="华文中宋"/>
                <a:cs typeface="华文中宋"/>
              </a:rPr>
              <a:t>年萨维利和</a:t>
            </a:r>
            <a:r>
              <a:rPr kumimoji="1" lang="en-US" altLang="zh-CN">
                <a:solidFill>
                  <a:srgbClr val="080808"/>
                </a:solidFill>
                <a:latin typeface="Times New Roman" pitchFamily="18" charset="0"/>
                <a:ea typeface="华文中宋"/>
                <a:cs typeface="华文中宋"/>
              </a:rPr>
              <a:t>1705</a:t>
            </a:r>
            <a:r>
              <a:rPr kumimoji="1" lang="zh-CN" altLang="en-US" b="1">
                <a:solidFill>
                  <a:srgbClr val="080808"/>
                </a:solidFill>
                <a:latin typeface="Times New Roman" pitchFamily="18" charset="0"/>
                <a:ea typeface="华文中宋"/>
                <a:cs typeface="华文中宋"/>
              </a:rPr>
              <a:t>年纽可门发明</a:t>
            </a:r>
          </a:p>
        </p:txBody>
      </p:sp>
      <p:sp>
        <p:nvSpPr>
          <p:cNvPr id="34829" name="Rectangle 13"/>
          <p:cNvSpPr>
            <a:spLocks noChangeArrowheads="1"/>
          </p:cNvSpPr>
          <p:nvPr/>
        </p:nvSpPr>
        <p:spPr bwMode="auto">
          <a:xfrm>
            <a:off x="2771775" y="1727200"/>
            <a:ext cx="3841750" cy="368300"/>
          </a:xfrm>
          <a:prstGeom prst="rect">
            <a:avLst/>
          </a:prstGeom>
          <a:noFill/>
          <a:ln w="9525">
            <a:noFill/>
            <a:miter lim="800000"/>
            <a:headEnd/>
            <a:tailEnd/>
          </a:ln>
        </p:spPr>
        <p:txBody>
          <a:bodyPr>
            <a:spAutoFit/>
          </a:bodyPr>
          <a:lstStyle/>
          <a:p>
            <a:r>
              <a:rPr kumimoji="1" lang="en-US" altLang="zh-CN">
                <a:solidFill>
                  <a:srgbClr val="080808"/>
                </a:solidFill>
                <a:latin typeface="Times New Roman" pitchFamily="18" charset="0"/>
                <a:ea typeface="华文中宋"/>
                <a:cs typeface="华文中宋"/>
              </a:rPr>
              <a:t>1765</a:t>
            </a:r>
            <a:r>
              <a:rPr kumimoji="1" lang="zh-CN" altLang="en-US" b="1">
                <a:solidFill>
                  <a:srgbClr val="080808"/>
                </a:solidFill>
                <a:latin typeface="Times New Roman" pitchFamily="18" charset="0"/>
                <a:ea typeface="华文中宋"/>
                <a:cs typeface="华文中宋"/>
              </a:rPr>
              <a:t>年瓦特进行了重大改进</a:t>
            </a:r>
          </a:p>
        </p:txBody>
      </p:sp>
      <p:sp>
        <p:nvSpPr>
          <p:cNvPr id="34830" name="Rectangle 14"/>
          <p:cNvSpPr>
            <a:spLocks noChangeArrowheads="1"/>
          </p:cNvSpPr>
          <p:nvPr/>
        </p:nvSpPr>
        <p:spPr bwMode="auto">
          <a:xfrm>
            <a:off x="755650" y="2051050"/>
            <a:ext cx="7632700" cy="728663"/>
          </a:xfrm>
          <a:prstGeom prst="rect">
            <a:avLst/>
          </a:prstGeom>
          <a:noFill/>
          <a:ln w="9525">
            <a:noFill/>
            <a:miter lim="800000"/>
            <a:headEnd/>
            <a:tailEnd/>
          </a:ln>
        </p:spPr>
        <p:txBody>
          <a:bodyPr>
            <a:spAutoFit/>
          </a:bodyPr>
          <a:lstStyle/>
          <a:p>
            <a:pPr eaLnBrk="0" hangingPunct="0">
              <a:lnSpc>
                <a:spcPct val="120000"/>
              </a:lnSpc>
              <a:spcBef>
                <a:spcPct val="50000"/>
              </a:spcBef>
            </a:pPr>
            <a:r>
              <a:rPr kumimoji="1" lang="zh-CN" altLang="en-US" b="1">
                <a:solidFill>
                  <a:srgbClr val="080808"/>
                </a:solidFill>
                <a:latin typeface="Times New Roman" pitchFamily="18" charset="0"/>
                <a:ea typeface="华文中宋"/>
                <a:cs typeface="华文中宋"/>
              </a:rPr>
              <a:t>从理论上研究热机效率问题， 一方面指明了提高效率的方向， 另一方面也推动了热学理论的发展。</a:t>
            </a:r>
          </a:p>
        </p:txBody>
      </p:sp>
      <p:sp>
        <p:nvSpPr>
          <p:cNvPr id="34831" name="Rectangle 15"/>
          <p:cNvSpPr>
            <a:spLocks noChangeArrowheads="1"/>
          </p:cNvSpPr>
          <p:nvPr/>
        </p:nvSpPr>
        <p:spPr bwMode="auto">
          <a:xfrm>
            <a:off x="755650" y="2689225"/>
            <a:ext cx="3200400" cy="368300"/>
          </a:xfrm>
          <a:prstGeom prst="rect">
            <a:avLst/>
          </a:prstGeom>
          <a:noFill/>
          <a:ln w="9525">
            <a:noFill/>
            <a:miter lim="800000"/>
            <a:headEnd/>
            <a:tailEnd/>
          </a:ln>
        </p:spPr>
        <p:txBody>
          <a:bodyPr>
            <a:spAutoFit/>
          </a:bodyPr>
          <a:lstStyle/>
          <a:p>
            <a:pPr eaLnBrk="0" hangingPunct="0"/>
            <a:r>
              <a:rPr kumimoji="1" lang="zh-CN" altLang="en-US" b="1">
                <a:solidFill>
                  <a:srgbClr val="CC0000"/>
                </a:solidFill>
                <a:latin typeface="Times New Roman" pitchFamily="18" charset="0"/>
                <a:ea typeface="华文中宋"/>
                <a:cs typeface="华文中宋"/>
              </a:rPr>
              <a:t>各种热机的效率</a:t>
            </a:r>
          </a:p>
        </p:txBody>
      </p:sp>
      <p:sp>
        <p:nvSpPr>
          <p:cNvPr id="34832" name="Rectangle 16"/>
          <p:cNvSpPr>
            <a:spLocks noChangeArrowheads="1"/>
          </p:cNvSpPr>
          <p:nvPr/>
        </p:nvSpPr>
        <p:spPr bwMode="auto">
          <a:xfrm>
            <a:off x="1042988" y="3122613"/>
            <a:ext cx="1828800" cy="368300"/>
          </a:xfrm>
          <a:prstGeom prst="rect">
            <a:avLst/>
          </a:prstGeom>
          <a:noFill/>
          <a:ln w="9525">
            <a:noFill/>
            <a:miter lim="800000"/>
            <a:headEnd/>
            <a:tailEnd/>
          </a:ln>
        </p:spPr>
        <p:txBody>
          <a:bodyPr>
            <a:spAutoFit/>
          </a:bodyPr>
          <a:lstStyle/>
          <a:p>
            <a:pPr eaLnBrk="0" hangingPunct="0"/>
            <a:r>
              <a:rPr kumimoji="1" lang="zh-CN" altLang="en-US" b="1">
                <a:solidFill>
                  <a:srgbClr val="000000"/>
                </a:solidFill>
                <a:latin typeface="Times New Roman" pitchFamily="18" charset="0"/>
                <a:ea typeface="华文中宋"/>
                <a:cs typeface="华文中宋"/>
              </a:rPr>
              <a:t>液体燃料火箭</a:t>
            </a:r>
          </a:p>
        </p:txBody>
      </p:sp>
      <p:sp>
        <p:nvSpPr>
          <p:cNvPr id="34833" name="Rectangle 17"/>
          <p:cNvSpPr>
            <a:spLocks noChangeArrowheads="1"/>
          </p:cNvSpPr>
          <p:nvPr/>
        </p:nvSpPr>
        <p:spPr bwMode="auto">
          <a:xfrm>
            <a:off x="4859338" y="3122613"/>
            <a:ext cx="1028700" cy="368300"/>
          </a:xfrm>
          <a:prstGeom prst="rect">
            <a:avLst/>
          </a:prstGeom>
          <a:noFill/>
          <a:ln w="9525">
            <a:noFill/>
            <a:miter lim="800000"/>
            <a:headEnd/>
            <a:tailEnd/>
          </a:ln>
        </p:spPr>
        <p:txBody>
          <a:bodyPr>
            <a:spAutoFit/>
          </a:bodyPr>
          <a:lstStyle/>
          <a:p>
            <a:pPr eaLnBrk="0" hangingPunct="0"/>
            <a:r>
              <a:rPr kumimoji="1" lang="zh-CN" altLang="en-US" b="1">
                <a:solidFill>
                  <a:srgbClr val="000000"/>
                </a:solidFill>
                <a:latin typeface="Times New Roman" pitchFamily="18" charset="0"/>
                <a:ea typeface="华文中宋"/>
                <a:cs typeface="华文中宋"/>
              </a:rPr>
              <a:t>柴油机</a:t>
            </a:r>
          </a:p>
        </p:txBody>
      </p:sp>
      <p:sp>
        <p:nvSpPr>
          <p:cNvPr id="34834" name="Rectangle 18"/>
          <p:cNvSpPr>
            <a:spLocks noChangeArrowheads="1"/>
          </p:cNvSpPr>
          <p:nvPr/>
        </p:nvSpPr>
        <p:spPr bwMode="auto">
          <a:xfrm>
            <a:off x="1042988" y="3498850"/>
            <a:ext cx="1728787" cy="368300"/>
          </a:xfrm>
          <a:prstGeom prst="rect">
            <a:avLst/>
          </a:prstGeom>
          <a:noFill/>
          <a:ln w="9525">
            <a:noFill/>
            <a:miter lim="800000"/>
            <a:headEnd/>
            <a:tailEnd/>
          </a:ln>
        </p:spPr>
        <p:txBody>
          <a:bodyPr>
            <a:spAutoFit/>
          </a:bodyPr>
          <a:lstStyle/>
          <a:p>
            <a:pPr eaLnBrk="0" hangingPunct="0"/>
            <a:r>
              <a:rPr kumimoji="1" lang="zh-CN" altLang="en-US" b="1">
                <a:solidFill>
                  <a:srgbClr val="000000"/>
                </a:solidFill>
                <a:latin typeface="Times New Roman" pitchFamily="18" charset="0"/>
                <a:ea typeface="华文中宋"/>
                <a:cs typeface="华文中宋"/>
              </a:rPr>
              <a:t>汽油机</a:t>
            </a:r>
          </a:p>
        </p:txBody>
      </p:sp>
      <p:sp>
        <p:nvSpPr>
          <p:cNvPr id="34835" name="Rectangle 19"/>
          <p:cNvSpPr>
            <a:spLocks noChangeArrowheads="1"/>
          </p:cNvSpPr>
          <p:nvPr/>
        </p:nvSpPr>
        <p:spPr bwMode="auto">
          <a:xfrm>
            <a:off x="4859338" y="3498850"/>
            <a:ext cx="1028700" cy="368300"/>
          </a:xfrm>
          <a:prstGeom prst="rect">
            <a:avLst/>
          </a:prstGeom>
          <a:noFill/>
          <a:ln w="9525">
            <a:noFill/>
            <a:miter lim="800000"/>
            <a:headEnd/>
            <a:tailEnd/>
          </a:ln>
        </p:spPr>
        <p:txBody>
          <a:bodyPr>
            <a:spAutoFit/>
          </a:bodyPr>
          <a:lstStyle/>
          <a:p>
            <a:pPr eaLnBrk="0" hangingPunct="0"/>
            <a:r>
              <a:rPr kumimoji="1" lang="zh-CN" altLang="en-US" b="1">
                <a:solidFill>
                  <a:srgbClr val="000000"/>
                </a:solidFill>
                <a:latin typeface="Times New Roman" pitchFamily="18" charset="0"/>
                <a:ea typeface="华文中宋"/>
                <a:cs typeface="华文中宋"/>
              </a:rPr>
              <a:t>蒸气机</a:t>
            </a:r>
          </a:p>
        </p:txBody>
      </p:sp>
      <p:graphicFrame>
        <p:nvGraphicFramePr>
          <p:cNvPr id="34836" name="Object 38"/>
          <p:cNvGraphicFramePr>
            <a:graphicFrameLocks noChangeAspect="1"/>
          </p:cNvGraphicFramePr>
          <p:nvPr/>
        </p:nvGraphicFramePr>
        <p:xfrm>
          <a:off x="3425825" y="3143250"/>
          <a:ext cx="1146175" cy="312738"/>
        </p:xfrm>
        <a:graphic>
          <a:graphicData uri="http://schemas.openxmlformats.org/presentationml/2006/ole">
            <p:oleObj spid="_x0000_s25638" name="公式" r:id="rId3" imgW="418918" imgH="152334" progId="Equation.3">
              <p:embed/>
            </p:oleObj>
          </a:graphicData>
        </a:graphic>
      </p:graphicFrame>
      <p:graphicFrame>
        <p:nvGraphicFramePr>
          <p:cNvPr id="34837" name="Object 39"/>
          <p:cNvGraphicFramePr>
            <a:graphicFrameLocks noChangeAspect="1"/>
          </p:cNvGraphicFramePr>
          <p:nvPr/>
        </p:nvGraphicFramePr>
        <p:xfrm>
          <a:off x="6084888" y="3509963"/>
          <a:ext cx="1008062" cy="312737"/>
        </p:xfrm>
        <a:graphic>
          <a:graphicData uri="http://schemas.openxmlformats.org/presentationml/2006/ole">
            <p:oleObj spid="_x0000_s25639" name="公式" r:id="rId4" imgW="368140" imgH="152334" progId="Equation.3">
              <p:embed/>
            </p:oleObj>
          </a:graphicData>
        </a:graphic>
      </p:graphicFrame>
      <p:graphicFrame>
        <p:nvGraphicFramePr>
          <p:cNvPr id="34838" name="Object 40"/>
          <p:cNvGraphicFramePr>
            <a:graphicFrameLocks noChangeAspect="1"/>
          </p:cNvGraphicFramePr>
          <p:nvPr/>
        </p:nvGraphicFramePr>
        <p:xfrm>
          <a:off x="6084888" y="3132138"/>
          <a:ext cx="1150937" cy="314325"/>
        </p:xfrm>
        <a:graphic>
          <a:graphicData uri="http://schemas.openxmlformats.org/presentationml/2006/ole">
            <p:oleObj spid="_x0000_s25640" name="公式" r:id="rId5" imgW="418918" imgH="152334" progId="Equation.3">
              <p:embed/>
            </p:oleObj>
          </a:graphicData>
        </a:graphic>
      </p:graphicFrame>
      <p:graphicFrame>
        <p:nvGraphicFramePr>
          <p:cNvPr id="34839" name="Object 41"/>
          <p:cNvGraphicFramePr>
            <a:graphicFrameLocks noChangeAspect="1"/>
          </p:cNvGraphicFramePr>
          <p:nvPr/>
        </p:nvGraphicFramePr>
        <p:xfrm>
          <a:off x="3419475" y="3552825"/>
          <a:ext cx="1152525" cy="314325"/>
        </p:xfrm>
        <a:graphic>
          <a:graphicData uri="http://schemas.openxmlformats.org/presentationml/2006/ole">
            <p:oleObj spid="_x0000_s25641" name="公式" r:id="rId6" imgW="418918" imgH="152334" progId="Equation.3">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4826"/>
                                        </p:tgtEl>
                                        <p:attrNameLst>
                                          <p:attrName>style.visibility</p:attrName>
                                        </p:attrNameLst>
                                      </p:cBhvr>
                                      <p:to>
                                        <p:strVal val="visible"/>
                                      </p:to>
                                    </p:set>
                                    <p:animEffect transition="in" filter="checkerboard(across)">
                                      <p:cBhvr>
                                        <p:cTn id="7" dur="500"/>
                                        <p:tgtEl>
                                          <p:spTgt spid="3482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34825"/>
                                        </p:tgtEl>
                                        <p:attrNameLst>
                                          <p:attrName>style.visibility</p:attrName>
                                        </p:attrNameLst>
                                      </p:cBhvr>
                                      <p:to>
                                        <p:strVal val="visible"/>
                                      </p:to>
                                    </p:set>
                                    <p:animEffect transition="in" filter="checkerboard(across)">
                                      <p:cBhvr>
                                        <p:cTn id="12" dur="500"/>
                                        <p:tgtEl>
                                          <p:spTgt spid="3482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4828"/>
                                        </p:tgtEl>
                                        <p:attrNameLst>
                                          <p:attrName>style.visibility</p:attrName>
                                        </p:attrNameLst>
                                      </p:cBhvr>
                                      <p:to>
                                        <p:strVal val="visible"/>
                                      </p:to>
                                    </p:set>
                                    <p:animEffect transition="in" filter="blinds(horizontal)">
                                      <p:cBhvr>
                                        <p:cTn id="17" dur="500"/>
                                        <p:tgtEl>
                                          <p:spTgt spid="34828"/>
                                        </p:tgtEl>
                                      </p:cBhvr>
                                    </p:animEffect>
                                  </p:childTnLst>
                                </p:cTn>
                              </p:par>
                              <p:par>
                                <p:cTn id="18" presetID="3" presetClass="entr" presetSubtype="10" fill="hold" grpId="0" nodeType="withEffect">
                                  <p:stCondLst>
                                    <p:cond delay="0"/>
                                  </p:stCondLst>
                                  <p:childTnLst>
                                    <p:set>
                                      <p:cBhvr>
                                        <p:cTn id="19" dur="1" fill="hold">
                                          <p:stCondLst>
                                            <p:cond delay="0"/>
                                          </p:stCondLst>
                                        </p:cTn>
                                        <p:tgtEl>
                                          <p:spTgt spid="34827"/>
                                        </p:tgtEl>
                                        <p:attrNameLst>
                                          <p:attrName>style.visibility</p:attrName>
                                        </p:attrNameLst>
                                      </p:cBhvr>
                                      <p:to>
                                        <p:strVal val="visible"/>
                                      </p:to>
                                    </p:set>
                                    <p:animEffect transition="in" filter="blinds(horizontal)">
                                      <p:cBhvr>
                                        <p:cTn id="20" dur="500"/>
                                        <p:tgtEl>
                                          <p:spTgt spid="34827"/>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34829"/>
                                        </p:tgtEl>
                                        <p:attrNameLst>
                                          <p:attrName>style.visibility</p:attrName>
                                        </p:attrNameLst>
                                      </p:cBhvr>
                                      <p:to>
                                        <p:strVal val="visible"/>
                                      </p:to>
                                    </p:set>
                                    <p:animEffect transition="in" filter="blinds(horizontal)">
                                      <p:cBhvr>
                                        <p:cTn id="25" dur="500"/>
                                        <p:tgtEl>
                                          <p:spTgt spid="34829"/>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34830"/>
                                        </p:tgtEl>
                                        <p:attrNameLst>
                                          <p:attrName>style.visibility</p:attrName>
                                        </p:attrNameLst>
                                      </p:cBhvr>
                                      <p:to>
                                        <p:strVal val="visible"/>
                                      </p:to>
                                    </p:set>
                                    <p:animEffect transition="in" filter="blinds(horizontal)">
                                      <p:cBhvr>
                                        <p:cTn id="30" dur="500"/>
                                        <p:tgtEl>
                                          <p:spTgt spid="34830"/>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34831"/>
                                        </p:tgtEl>
                                        <p:attrNameLst>
                                          <p:attrName>style.visibility</p:attrName>
                                        </p:attrNameLst>
                                      </p:cBhvr>
                                      <p:to>
                                        <p:strVal val="visible"/>
                                      </p:to>
                                    </p:set>
                                    <p:animEffect transition="in" filter="blinds(horizontal)">
                                      <p:cBhvr>
                                        <p:cTn id="35" dur="500"/>
                                        <p:tgtEl>
                                          <p:spTgt spid="34831"/>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3" presetClass="entr" presetSubtype="10" fill="hold" grpId="0" nodeType="clickEffect">
                                  <p:stCondLst>
                                    <p:cond delay="0"/>
                                  </p:stCondLst>
                                  <p:childTnLst>
                                    <p:set>
                                      <p:cBhvr>
                                        <p:cTn id="39" dur="1" fill="hold">
                                          <p:stCondLst>
                                            <p:cond delay="0"/>
                                          </p:stCondLst>
                                        </p:cTn>
                                        <p:tgtEl>
                                          <p:spTgt spid="34832"/>
                                        </p:tgtEl>
                                        <p:attrNameLst>
                                          <p:attrName>style.visibility</p:attrName>
                                        </p:attrNameLst>
                                      </p:cBhvr>
                                      <p:to>
                                        <p:strVal val="visible"/>
                                      </p:to>
                                    </p:set>
                                    <p:animEffect transition="in" filter="blinds(horizontal)">
                                      <p:cBhvr>
                                        <p:cTn id="40" dur="500"/>
                                        <p:tgtEl>
                                          <p:spTgt spid="34832"/>
                                        </p:tgtEl>
                                      </p:cBhvr>
                                    </p:animEffect>
                                  </p:childTnLst>
                                </p:cTn>
                              </p:par>
                              <p:par>
                                <p:cTn id="41" presetID="3" presetClass="entr" presetSubtype="10" fill="hold" nodeType="withEffect">
                                  <p:stCondLst>
                                    <p:cond delay="0"/>
                                  </p:stCondLst>
                                  <p:childTnLst>
                                    <p:set>
                                      <p:cBhvr>
                                        <p:cTn id="42" dur="1" fill="hold">
                                          <p:stCondLst>
                                            <p:cond delay="0"/>
                                          </p:stCondLst>
                                        </p:cTn>
                                        <p:tgtEl>
                                          <p:spTgt spid="34836"/>
                                        </p:tgtEl>
                                        <p:attrNameLst>
                                          <p:attrName>style.visibility</p:attrName>
                                        </p:attrNameLst>
                                      </p:cBhvr>
                                      <p:to>
                                        <p:strVal val="visible"/>
                                      </p:to>
                                    </p:set>
                                    <p:animEffect transition="in" filter="blinds(horizontal)">
                                      <p:cBhvr>
                                        <p:cTn id="43" dur="500"/>
                                        <p:tgtEl>
                                          <p:spTgt spid="34836"/>
                                        </p:tgtEl>
                                      </p:cBhvr>
                                    </p:animEffect>
                                  </p:childTnLst>
                                </p:cTn>
                              </p:par>
                              <p:par>
                                <p:cTn id="44" presetID="3" presetClass="entr" presetSubtype="10" fill="hold" grpId="0" nodeType="withEffect">
                                  <p:stCondLst>
                                    <p:cond delay="0"/>
                                  </p:stCondLst>
                                  <p:childTnLst>
                                    <p:set>
                                      <p:cBhvr>
                                        <p:cTn id="45" dur="1" fill="hold">
                                          <p:stCondLst>
                                            <p:cond delay="0"/>
                                          </p:stCondLst>
                                        </p:cTn>
                                        <p:tgtEl>
                                          <p:spTgt spid="34833"/>
                                        </p:tgtEl>
                                        <p:attrNameLst>
                                          <p:attrName>style.visibility</p:attrName>
                                        </p:attrNameLst>
                                      </p:cBhvr>
                                      <p:to>
                                        <p:strVal val="visible"/>
                                      </p:to>
                                    </p:set>
                                    <p:animEffect transition="in" filter="blinds(horizontal)">
                                      <p:cBhvr>
                                        <p:cTn id="46" dur="500"/>
                                        <p:tgtEl>
                                          <p:spTgt spid="34833"/>
                                        </p:tgtEl>
                                      </p:cBhvr>
                                    </p:animEffect>
                                  </p:childTnLst>
                                </p:cTn>
                              </p:par>
                              <p:par>
                                <p:cTn id="47" presetID="3" presetClass="entr" presetSubtype="10" fill="hold" nodeType="withEffect">
                                  <p:stCondLst>
                                    <p:cond delay="0"/>
                                  </p:stCondLst>
                                  <p:childTnLst>
                                    <p:set>
                                      <p:cBhvr>
                                        <p:cTn id="48" dur="1" fill="hold">
                                          <p:stCondLst>
                                            <p:cond delay="0"/>
                                          </p:stCondLst>
                                        </p:cTn>
                                        <p:tgtEl>
                                          <p:spTgt spid="34838"/>
                                        </p:tgtEl>
                                        <p:attrNameLst>
                                          <p:attrName>style.visibility</p:attrName>
                                        </p:attrNameLst>
                                      </p:cBhvr>
                                      <p:to>
                                        <p:strVal val="visible"/>
                                      </p:to>
                                    </p:set>
                                    <p:animEffect transition="in" filter="blinds(horizontal)">
                                      <p:cBhvr>
                                        <p:cTn id="49" dur="500"/>
                                        <p:tgtEl>
                                          <p:spTgt spid="34838"/>
                                        </p:tgtEl>
                                      </p:cBhvr>
                                    </p:animEffect>
                                  </p:childTnLst>
                                </p:cTn>
                              </p:par>
                              <p:par>
                                <p:cTn id="50" presetID="3" presetClass="entr" presetSubtype="10" fill="hold" grpId="0" nodeType="withEffect">
                                  <p:stCondLst>
                                    <p:cond delay="0"/>
                                  </p:stCondLst>
                                  <p:childTnLst>
                                    <p:set>
                                      <p:cBhvr>
                                        <p:cTn id="51" dur="1" fill="hold">
                                          <p:stCondLst>
                                            <p:cond delay="0"/>
                                          </p:stCondLst>
                                        </p:cTn>
                                        <p:tgtEl>
                                          <p:spTgt spid="34834"/>
                                        </p:tgtEl>
                                        <p:attrNameLst>
                                          <p:attrName>style.visibility</p:attrName>
                                        </p:attrNameLst>
                                      </p:cBhvr>
                                      <p:to>
                                        <p:strVal val="visible"/>
                                      </p:to>
                                    </p:set>
                                    <p:animEffect transition="in" filter="blinds(horizontal)">
                                      <p:cBhvr>
                                        <p:cTn id="52" dur="500"/>
                                        <p:tgtEl>
                                          <p:spTgt spid="34834"/>
                                        </p:tgtEl>
                                      </p:cBhvr>
                                    </p:animEffect>
                                  </p:childTnLst>
                                </p:cTn>
                              </p:par>
                              <p:par>
                                <p:cTn id="53" presetID="3" presetClass="entr" presetSubtype="10" fill="hold" nodeType="withEffect">
                                  <p:stCondLst>
                                    <p:cond delay="0"/>
                                  </p:stCondLst>
                                  <p:childTnLst>
                                    <p:set>
                                      <p:cBhvr>
                                        <p:cTn id="54" dur="1" fill="hold">
                                          <p:stCondLst>
                                            <p:cond delay="0"/>
                                          </p:stCondLst>
                                        </p:cTn>
                                        <p:tgtEl>
                                          <p:spTgt spid="34839"/>
                                        </p:tgtEl>
                                        <p:attrNameLst>
                                          <p:attrName>style.visibility</p:attrName>
                                        </p:attrNameLst>
                                      </p:cBhvr>
                                      <p:to>
                                        <p:strVal val="visible"/>
                                      </p:to>
                                    </p:set>
                                    <p:animEffect transition="in" filter="blinds(horizontal)">
                                      <p:cBhvr>
                                        <p:cTn id="55" dur="500"/>
                                        <p:tgtEl>
                                          <p:spTgt spid="34839"/>
                                        </p:tgtEl>
                                      </p:cBhvr>
                                    </p:animEffect>
                                  </p:childTnLst>
                                </p:cTn>
                              </p:par>
                              <p:par>
                                <p:cTn id="56" presetID="3" presetClass="entr" presetSubtype="10" fill="hold" grpId="0" nodeType="withEffect">
                                  <p:stCondLst>
                                    <p:cond delay="0"/>
                                  </p:stCondLst>
                                  <p:childTnLst>
                                    <p:set>
                                      <p:cBhvr>
                                        <p:cTn id="57" dur="1" fill="hold">
                                          <p:stCondLst>
                                            <p:cond delay="0"/>
                                          </p:stCondLst>
                                        </p:cTn>
                                        <p:tgtEl>
                                          <p:spTgt spid="34835"/>
                                        </p:tgtEl>
                                        <p:attrNameLst>
                                          <p:attrName>style.visibility</p:attrName>
                                        </p:attrNameLst>
                                      </p:cBhvr>
                                      <p:to>
                                        <p:strVal val="visible"/>
                                      </p:to>
                                    </p:set>
                                    <p:animEffect transition="in" filter="blinds(horizontal)">
                                      <p:cBhvr>
                                        <p:cTn id="58" dur="500"/>
                                        <p:tgtEl>
                                          <p:spTgt spid="34835"/>
                                        </p:tgtEl>
                                      </p:cBhvr>
                                    </p:animEffect>
                                  </p:childTnLst>
                                </p:cTn>
                              </p:par>
                              <p:par>
                                <p:cTn id="59" presetID="3" presetClass="entr" presetSubtype="10" fill="hold" nodeType="withEffect">
                                  <p:stCondLst>
                                    <p:cond delay="0"/>
                                  </p:stCondLst>
                                  <p:childTnLst>
                                    <p:set>
                                      <p:cBhvr>
                                        <p:cTn id="60" dur="1" fill="hold">
                                          <p:stCondLst>
                                            <p:cond delay="0"/>
                                          </p:stCondLst>
                                        </p:cTn>
                                        <p:tgtEl>
                                          <p:spTgt spid="34837"/>
                                        </p:tgtEl>
                                        <p:attrNameLst>
                                          <p:attrName>style.visibility</p:attrName>
                                        </p:attrNameLst>
                                      </p:cBhvr>
                                      <p:to>
                                        <p:strVal val="visible"/>
                                      </p:to>
                                    </p:set>
                                    <p:animEffect transition="in" filter="blinds(horizontal)">
                                      <p:cBhvr>
                                        <p:cTn id="61" dur="500"/>
                                        <p:tgtEl>
                                          <p:spTgt spid="34837"/>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5" presetClass="entr" presetSubtype="10" fill="hold" grpId="0" nodeType="clickEffect">
                                  <p:stCondLst>
                                    <p:cond delay="0"/>
                                  </p:stCondLst>
                                  <p:childTnLst>
                                    <p:set>
                                      <p:cBhvr>
                                        <p:cTn id="65" dur="1" fill="hold">
                                          <p:stCondLst>
                                            <p:cond delay="0"/>
                                          </p:stCondLst>
                                        </p:cTn>
                                        <p:tgtEl>
                                          <p:spTgt spid="34818"/>
                                        </p:tgtEl>
                                        <p:attrNameLst>
                                          <p:attrName>style.visibility</p:attrName>
                                        </p:attrNameLst>
                                      </p:cBhvr>
                                      <p:to>
                                        <p:strVal val="visible"/>
                                      </p:to>
                                    </p:set>
                                    <p:animEffect transition="in" filter="checkerboard(across)">
                                      <p:cBhvr>
                                        <p:cTn id="66" dur="500"/>
                                        <p:tgtEl>
                                          <p:spTgt spid="34818"/>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5" presetClass="entr" presetSubtype="10" fill="hold" grpId="0" nodeType="clickEffect">
                                  <p:stCondLst>
                                    <p:cond delay="0"/>
                                  </p:stCondLst>
                                  <p:childTnLst>
                                    <p:set>
                                      <p:cBhvr>
                                        <p:cTn id="70" dur="1" fill="hold">
                                          <p:stCondLst>
                                            <p:cond delay="0"/>
                                          </p:stCondLst>
                                        </p:cTn>
                                        <p:tgtEl>
                                          <p:spTgt spid="34820"/>
                                        </p:tgtEl>
                                        <p:attrNameLst>
                                          <p:attrName>style.visibility</p:attrName>
                                        </p:attrNameLst>
                                      </p:cBhvr>
                                      <p:to>
                                        <p:strVal val="visible"/>
                                      </p:to>
                                    </p:set>
                                    <p:animEffect transition="in" filter="checkerboard(across)">
                                      <p:cBhvr>
                                        <p:cTn id="71" dur="500"/>
                                        <p:tgtEl>
                                          <p:spTgt spid="348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8" grpId="0" autoUpdateAnimBg="0"/>
      <p:bldP spid="34820" grpId="0" autoUpdateAnimBg="0"/>
      <p:bldP spid="34825" grpId="0" autoUpdateAnimBg="0"/>
      <p:bldP spid="34826" grpId="0" autoUpdateAnimBg="0"/>
      <p:bldP spid="34827" grpId="0"/>
      <p:bldP spid="34828" grpId="0"/>
      <p:bldP spid="34829" grpId="0"/>
      <p:bldP spid="34830" grpId="0"/>
      <p:bldP spid="34831" grpId="0"/>
      <p:bldP spid="34832" grpId="0"/>
      <p:bldP spid="34833" grpId="0"/>
      <p:bldP spid="34834" grpId="0"/>
      <p:bldP spid="34835"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06" name="Text Box 4"/>
          <p:cNvSpPr txBox="1">
            <a:spLocks noChangeArrowheads="1"/>
          </p:cNvSpPr>
          <p:nvPr/>
        </p:nvSpPr>
        <p:spPr bwMode="auto">
          <a:xfrm>
            <a:off x="611188" y="763588"/>
            <a:ext cx="8353425" cy="757237"/>
          </a:xfrm>
          <a:prstGeom prst="rect">
            <a:avLst/>
          </a:prstGeom>
          <a:noFill/>
          <a:ln w="9525">
            <a:noFill/>
            <a:miter lim="800000"/>
            <a:headEnd/>
            <a:tailEnd/>
          </a:ln>
        </p:spPr>
        <p:txBody>
          <a:bodyPr>
            <a:spAutoFit/>
          </a:bodyPr>
          <a:lstStyle/>
          <a:p>
            <a:pPr>
              <a:lnSpc>
                <a:spcPct val="120000"/>
              </a:lnSpc>
              <a:spcBef>
                <a:spcPct val="50000"/>
              </a:spcBef>
            </a:pPr>
            <a:r>
              <a:rPr kumimoji="1" lang="zh-CN" altLang="en-US" b="1">
                <a:solidFill>
                  <a:srgbClr val="CC0000"/>
                </a:solidFill>
                <a:latin typeface="华文中宋"/>
                <a:ea typeface="华文中宋"/>
                <a:cs typeface="华文中宋"/>
              </a:rPr>
              <a:t>例 </a:t>
            </a:r>
            <a:r>
              <a:rPr kumimoji="1" lang="zh-CN" altLang="en-US" b="1">
                <a:solidFill>
                  <a:srgbClr val="0000FF"/>
                </a:solidFill>
                <a:latin typeface="华文中宋"/>
                <a:ea typeface="华文中宋"/>
                <a:cs typeface="华文中宋"/>
              </a:rPr>
              <a:t>汽油机和柴油机是普遍使用的两种内燃机，内燃机可近似看成如图所示的奥托</a:t>
            </a:r>
            <a:r>
              <a:rPr kumimoji="1" lang="en-US" altLang="zh-CN" b="1">
                <a:solidFill>
                  <a:srgbClr val="0000FF"/>
                </a:solidFill>
                <a:latin typeface="华文中宋"/>
                <a:ea typeface="华文中宋"/>
                <a:cs typeface="华文中宋"/>
              </a:rPr>
              <a:t>(</a:t>
            </a:r>
            <a:r>
              <a:rPr kumimoji="1" lang="en-US" altLang="zh-CN" b="1">
                <a:solidFill>
                  <a:srgbClr val="0000FF"/>
                </a:solidFill>
                <a:latin typeface="Times New Roman" pitchFamily="18" charset="0"/>
                <a:ea typeface="华文中宋"/>
                <a:cs typeface="华文中宋"/>
              </a:rPr>
              <a:t>Otto</a:t>
            </a:r>
            <a:r>
              <a:rPr kumimoji="1" lang="en-US" altLang="zh-CN" b="1">
                <a:solidFill>
                  <a:srgbClr val="0000FF"/>
                </a:solidFill>
                <a:latin typeface="华文中宋"/>
                <a:ea typeface="华文中宋"/>
                <a:cs typeface="华文中宋"/>
              </a:rPr>
              <a:t>)</a:t>
            </a:r>
            <a:r>
              <a:rPr kumimoji="1" lang="zh-CN" altLang="en-US" b="1">
                <a:solidFill>
                  <a:srgbClr val="0000FF"/>
                </a:solidFill>
                <a:latin typeface="华文中宋"/>
                <a:ea typeface="华文中宋"/>
                <a:cs typeface="华文中宋"/>
              </a:rPr>
              <a:t>循环，其中</a:t>
            </a:r>
            <a:r>
              <a:rPr kumimoji="1" lang="en-US" altLang="zh-CN" b="1" i="1">
                <a:solidFill>
                  <a:srgbClr val="0000FF"/>
                </a:solidFill>
                <a:latin typeface="Times New Roman" pitchFamily="18" charset="0"/>
                <a:ea typeface="华文中宋"/>
                <a:cs typeface="华文中宋"/>
              </a:rPr>
              <a:t>AB</a:t>
            </a:r>
            <a:r>
              <a:rPr kumimoji="1" lang="zh-CN" altLang="en-US" b="1">
                <a:solidFill>
                  <a:srgbClr val="0000FF"/>
                </a:solidFill>
                <a:latin typeface="华文中宋"/>
                <a:ea typeface="华文中宋"/>
                <a:cs typeface="华文中宋"/>
              </a:rPr>
              <a:t>和</a:t>
            </a:r>
            <a:r>
              <a:rPr kumimoji="1" lang="en-US" altLang="zh-CN" b="1" i="1">
                <a:solidFill>
                  <a:srgbClr val="0000FF"/>
                </a:solidFill>
                <a:latin typeface="Times New Roman" pitchFamily="18" charset="0"/>
                <a:ea typeface="华文中宋"/>
                <a:cs typeface="华文中宋"/>
              </a:rPr>
              <a:t>CD</a:t>
            </a:r>
            <a:r>
              <a:rPr kumimoji="1" lang="zh-CN" altLang="en-US" b="1">
                <a:solidFill>
                  <a:srgbClr val="0000FF"/>
                </a:solidFill>
                <a:latin typeface="华文中宋"/>
                <a:ea typeface="华文中宋"/>
                <a:cs typeface="华文中宋"/>
              </a:rPr>
              <a:t>为绝热过程，求此循环效率。</a:t>
            </a:r>
          </a:p>
        </p:txBody>
      </p:sp>
      <p:sp>
        <p:nvSpPr>
          <p:cNvPr id="171013" name="Rectangle 5"/>
          <p:cNvSpPr>
            <a:spLocks noChangeArrowheads="1"/>
          </p:cNvSpPr>
          <p:nvPr/>
        </p:nvSpPr>
        <p:spPr bwMode="auto">
          <a:xfrm>
            <a:off x="585788" y="1379538"/>
            <a:ext cx="488950" cy="369887"/>
          </a:xfrm>
          <a:prstGeom prst="rect">
            <a:avLst/>
          </a:prstGeom>
          <a:noFill/>
          <a:ln w="9525">
            <a:noFill/>
            <a:miter lim="800000"/>
            <a:headEnd/>
            <a:tailEnd/>
          </a:ln>
        </p:spPr>
        <p:txBody>
          <a:bodyPr>
            <a:spAutoFit/>
          </a:bodyPr>
          <a:lstStyle/>
          <a:p>
            <a:r>
              <a:rPr kumimoji="1" lang="zh-CN" altLang="en-US" b="1">
                <a:solidFill>
                  <a:srgbClr val="FF0000"/>
                </a:solidFill>
                <a:latin typeface="Times New Roman" pitchFamily="18" charset="0"/>
                <a:ea typeface="华文中宋"/>
                <a:cs typeface="华文中宋"/>
              </a:rPr>
              <a:t>解</a:t>
            </a:r>
          </a:p>
        </p:txBody>
      </p:sp>
      <p:graphicFrame>
        <p:nvGraphicFramePr>
          <p:cNvPr id="171014" name="Object 74"/>
          <p:cNvGraphicFramePr>
            <a:graphicFrameLocks noChangeAspect="1"/>
          </p:cNvGraphicFramePr>
          <p:nvPr/>
        </p:nvGraphicFramePr>
        <p:xfrm>
          <a:off x="1036638" y="1925638"/>
          <a:ext cx="4392612" cy="650875"/>
        </p:xfrm>
        <a:graphic>
          <a:graphicData uri="http://schemas.openxmlformats.org/presentationml/2006/ole">
            <p:oleObj spid="_x0000_s26698" name="Equation" r:id="rId3" imgW="2819400" imgH="495300" progId="Equation.DSMT4">
              <p:embed/>
            </p:oleObj>
          </a:graphicData>
        </a:graphic>
      </p:graphicFrame>
      <p:grpSp>
        <p:nvGrpSpPr>
          <p:cNvPr id="26708" name="Group 39"/>
          <p:cNvGrpSpPr>
            <a:grpSpLocks/>
          </p:cNvGrpSpPr>
          <p:nvPr/>
        </p:nvGrpSpPr>
        <p:grpSpPr bwMode="auto">
          <a:xfrm>
            <a:off x="6340475" y="1254125"/>
            <a:ext cx="2552700" cy="2014538"/>
            <a:chOff x="3270" y="971"/>
            <a:chExt cx="2136" cy="2232"/>
          </a:xfrm>
        </p:grpSpPr>
        <p:sp>
          <p:nvSpPr>
            <p:cNvPr id="26715" name="Text Box 9"/>
            <p:cNvSpPr txBox="1">
              <a:spLocks noChangeArrowheads="1"/>
            </p:cNvSpPr>
            <p:nvPr/>
          </p:nvSpPr>
          <p:spPr bwMode="auto">
            <a:xfrm>
              <a:off x="4121" y="2712"/>
              <a:ext cx="116" cy="491"/>
            </a:xfrm>
            <a:prstGeom prst="rect">
              <a:avLst/>
            </a:prstGeom>
            <a:noFill/>
            <a:ln w="9525">
              <a:noFill/>
              <a:miter lim="800000"/>
              <a:headEnd/>
              <a:tailEnd/>
            </a:ln>
          </p:spPr>
          <p:txBody>
            <a:bodyPr wrap="none">
              <a:spAutoFit/>
            </a:bodyPr>
            <a:lstStyle/>
            <a:p>
              <a:endParaRPr lang="zh-CN" altLang="zh-CN" sz="3200" b="1">
                <a:solidFill>
                  <a:srgbClr val="1C1C1C"/>
                </a:solidFill>
                <a:latin typeface="Times New Roman" pitchFamily="18" charset="0"/>
              </a:endParaRPr>
            </a:p>
          </p:txBody>
        </p:sp>
        <p:sp>
          <p:nvSpPr>
            <p:cNvPr id="26716" name="Line 12"/>
            <p:cNvSpPr>
              <a:spLocks noChangeShapeType="1"/>
            </p:cNvSpPr>
            <p:nvPr/>
          </p:nvSpPr>
          <p:spPr bwMode="auto">
            <a:xfrm flipV="1">
              <a:off x="3534" y="1079"/>
              <a:ext cx="0" cy="1753"/>
            </a:xfrm>
            <a:prstGeom prst="line">
              <a:avLst/>
            </a:prstGeom>
            <a:noFill/>
            <a:ln w="19050">
              <a:solidFill>
                <a:schemeClr val="tx1"/>
              </a:solidFill>
              <a:round/>
              <a:headEnd/>
              <a:tailEnd type="triangle" w="sm" len="lg"/>
            </a:ln>
          </p:spPr>
          <p:txBody>
            <a:bodyPr wrap="none" anchor="ctr"/>
            <a:lstStyle/>
            <a:p>
              <a:endParaRPr lang="zh-CN" altLang="en-US"/>
            </a:p>
          </p:txBody>
        </p:sp>
        <p:sp>
          <p:nvSpPr>
            <p:cNvPr id="26717" name="Line 13"/>
            <p:cNvSpPr>
              <a:spLocks noChangeShapeType="1"/>
            </p:cNvSpPr>
            <p:nvPr/>
          </p:nvSpPr>
          <p:spPr bwMode="auto">
            <a:xfrm flipV="1">
              <a:off x="3534" y="2807"/>
              <a:ext cx="1872" cy="4"/>
            </a:xfrm>
            <a:prstGeom prst="line">
              <a:avLst/>
            </a:prstGeom>
            <a:noFill/>
            <a:ln w="19050">
              <a:solidFill>
                <a:schemeClr val="tx1"/>
              </a:solidFill>
              <a:round/>
              <a:headEnd/>
              <a:tailEnd type="triangle" w="sm" len="lg"/>
            </a:ln>
          </p:spPr>
          <p:txBody>
            <a:bodyPr wrap="none" anchor="ctr"/>
            <a:lstStyle/>
            <a:p>
              <a:endParaRPr lang="zh-CN" altLang="en-US"/>
            </a:p>
          </p:txBody>
        </p:sp>
        <p:sp>
          <p:nvSpPr>
            <p:cNvPr id="26718" name="Text Box 14"/>
            <p:cNvSpPr txBox="1">
              <a:spLocks noChangeArrowheads="1"/>
            </p:cNvSpPr>
            <p:nvPr/>
          </p:nvSpPr>
          <p:spPr bwMode="auto">
            <a:xfrm>
              <a:off x="3822" y="1127"/>
              <a:ext cx="197" cy="271"/>
            </a:xfrm>
            <a:prstGeom prst="rect">
              <a:avLst/>
            </a:prstGeom>
            <a:noFill/>
            <a:ln w="9525">
              <a:noFill/>
              <a:miter lim="800000"/>
              <a:headEnd/>
              <a:tailEnd/>
            </a:ln>
          </p:spPr>
          <p:txBody>
            <a:bodyPr wrap="none">
              <a:spAutoFit/>
            </a:bodyPr>
            <a:lstStyle/>
            <a:p>
              <a:r>
                <a:rPr kumimoji="1" lang="en-US" altLang="zh-CN" sz="1500" b="1" i="1">
                  <a:solidFill>
                    <a:srgbClr val="1F497D"/>
                  </a:solidFill>
                  <a:latin typeface="Times New Roman" pitchFamily="18" charset="0"/>
                </a:rPr>
                <a:t>C</a:t>
              </a:r>
            </a:p>
          </p:txBody>
        </p:sp>
        <p:sp>
          <p:nvSpPr>
            <p:cNvPr id="26719" name="Text Box 15"/>
            <p:cNvSpPr txBox="1">
              <a:spLocks noChangeArrowheads="1"/>
            </p:cNvSpPr>
            <p:nvPr/>
          </p:nvSpPr>
          <p:spPr bwMode="auto">
            <a:xfrm>
              <a:off x="4878" y="1751"/>
              <a:ext cx="204" cy="271"/>
            </a:xfrm>
            <a:prstGeom prst="rect">
              <a:avLst/>
            </a:prstGeom>
            <a:noFill/>
            <a:ln w="9525">
              <a:noFill/>
              <a:miter lim="800000"/>
              <a:headEnd/>
              <a:tailEnd/>
            </a:ln>
          </p:spPr>
          <p:txBody>
            <a:bodyPr wrap="none">
              <a:spAutoFit/>
            </a:bodyPr>
            <a:lstStyle/>
            <a:p>
              <a:r>
                <a:rPr kumimoji="1" lang="en-US" altLang="zh-CN" sz="1500" b="1" i="1">
                  <a:solidFill>
                    <a:srgbClr val="1F497D"/>
                  </a:solidFill>
                  <a:latin typeface="Times New Roman" pitchFamily="18" charset="0"/>
                </a:rPr>
                <a:t>D</a:t>
              </a:r>
            </a:p>
          </p:txBody>
        </p:sp>
        <p:sp>
          <p:nvSpPr>
            <p:cNvPr id="26720" name="Text Box 16"/>
            <p:cNvSpPr txBox="1">
              <a:spLocks noChangeArrowheads="1"/>
            </p:cNvSpPr>
            <p:nvPr/>
          </p:nvSpPr>
          <p:spPr bwMode="auto">
            <a:xfrm>
              <a:off x="3774" y="1924"/>
              <a:ext cx="262" cy="358"/>
            </a:xfrm>
            <a:prstGeom prst="rect">
              <a:avLst/>
            </a:prstGeom>
            <a:noFill/>
            <a:ln w="9525">
              <a:noFill/>
              <a:miter lim="800000"/>
              <a:headEnd/>
              <a:tailEnd/>
            </a:ln>
          </p:spPr>
          <p:txBody>
            <a:bodyPr wrap="none">
              <a:spAutoFit/>
            </a:bodyPr>
            <a:lstStyle/>
            <a:p>
              <a:r>
                <a:rPr kumimoji="1" lang="en-US" altLang="zh-CN" sz="1500" b="1" i="1">
                  <a:solidFill>
                    <a:srgbClr val="1F497D"/>
                  </a:solidFill>
                  <a:latin typeface="Times New Roman" pitchFamily="18" charset="0"/>
                </a:rPr>
                <a:t>B</a:t>
              </a:r>
            </a:p>
          </p:txBody>
        </p:sp>
        <p:sp>
          <p:nvSpPr>
            <p:cNvPr id="26721" name="Text Box 17"/>
            <p:cNvSpPr txBox="1">
              <a:spLocks noChangeArrowheads="1"/>
            </p:cNvSpPr>
            <p:nvPr/>
          </p:nvSpPr>
          <p:spPr bwMode="auto">
            <a:xfrm>
              <a:off x="4921" y="2468"/>
              <a:ext cx="262" cy="358"/>
            </a:xfrm>
            <a:prstGeom prst="rect">
              <a:avLst/>
            </a:prstGeom>
            <a:noFill/>
            <a:ln w="9525">
              <a:noFill/>
              <a:miter lim="800000"/>
              <a:headEnd/>
              <a:tailEnd/>
            </a:ln>
          </p:spPr>
          <p:txBody>
            <a:bodyPr wrap="none">
              <a:spAutoFit/>
            </a:bodyPr>
            <a:lstStyle/>
            <a:p>
              <a:r>
                <a:rPr kumimoji="1" lang="en-US" altLang="zh-CN" sz="1500" b="1" i="1">
                  <a:solidFill>
                    <a:srgbClr val="1F497D"/>
                  </a:solidFill>
                  <a:latin typeface="Times New Roman" pitchFamily="18" charset="0"/>
                </a:rPr>
                <a:t>A</a:t>
              </a:r>
            </a:p>
          </p:txBody>
        </p:sp>
        <p:sp>
          <p:nvSpPr>
            <p:cNvPr id="26722" name="Text Box 18"/>
            <p:cNvSpPr txBox="1">
              <a:spLocks noChangeArrowheads="1"/>
            </p:cNvSpPr>
            <p:nvPr/>
          </p:nvSpPr>
          <p:spPr bwMode="auto">
            <a:xfrm>
              <a:off x="3270" y="971"/>
              <a:ext cx="336" cy="271"/>
            </a:xfrm>
            <a:prstGeom prst="rect">
              <a:avLst/>
            </a:prstGeom>
            <a:noFill/>
            <a:ln w="9525">
              <a:noFill/>
              <a:miter lim="800000"/>
              <a:headEnd/>
              <a:tailEnd/>
            </a:ln>
          </p:spPr>
          <p:txBody>
            <a:bodyPr>
              <a:spAutoFit/>
            </a:bodyPr>
            <a:lstStyle/>
            <a:p>
              <a:pPr>
                <a:spcBef>
                  <a:spcPct val="50000"/>
                </a:spcBef>
              </a:pPr>
              <a:r>
                <a:rPr kumimoji="1" lang="en-US" altLang="zh-CN" sz="1500" b="1" i="1">
                  <a:solidFill>
                    <a:srgbClr val="1F497D"/>
                  </a:solidFill>
                  <a:latin typeface="Times New Roman" pitchFamily="18" charset="0"/>
                </a:rPr>
                <a:t>P</a:t>
              </a:r>
            </a:p>
          </p:txBody>
        </p:sp>
        <p:sp>
          <p:nvSpPr>
            <p:cNvPr id="26723" name="Line 19"/>
            <p:cNvSpPr>
              <a:spLocks noChangeShapeType="1"/>
            </p:cNvSpPr>
            <p:nvPr/>
          </p:nvSpPr>
          <p:spPr bwMode="auto">
            <a:xfrm flipV="1">
              <a:off x="4014" y="1415"/>
              <a:ext cx="0" cy="564"/>
            </a:xfrm>
            <a:prstGeom prst="line">
              <a:avLst/>
            </a:prstGeom>
            <a:noFill/>
            <a:ln w="25400">
              <a:solidFill>
                <a:srgbClr val="FF0000"/>
              </a:solidFill>
              <a:round/>
              <a:headEnd/>
              <a:tailEnd/>
            </a:ln>
          </p:spPr>
          <p:txBody>
            <a:bodyPr wrap="none" anchor="ctr"/>
            <a:lstStyle/>
            <a:p>
              <a:endParaRPr lang="zh-CN" altLang="en-US"/>
            </a:p>
          </p:txBody>
        </p:sp>
        <p:sp>
          <p:nvSpPr>
            <p:cNvPr id="26724" name="Line 20"/>
            <p:cNvSpPr>
              <a:spLocks noChangeShapeType="1"/>
            </p:cNvSpPr>
            <p:nvPr/>
          </p:nvSpPr>
          <p:spPr bwMode="auto">
            <a:xfrm flipV="1">
              <a:off x="4921" y="2039"/>
              <a:ext cx="5" cy="575"/>
            </a:xfrm>
            <a:prstGeom prst="line">
              <a:avLst/>
            </a:prstGeom>
            <a:noFill/>
            <a:ln w="25400">
              <a:solidFill>
                <a:srgbClr val="FF0000"/>
              </a:solidFill>
              <a:round/>
              <a:headEnd/>
              <a:tailEnd/>
            </a:ln>
          </p:spPr>
          <p:txBody>
            <a:bodyPr wrap="none" anchor="ctr"/>
            <a:lstStyle/>
            <a:p>
              <a:endParaRPr lang="zh-CN" altLang="en-US"/>
            </a:p>
          </p:txBody>
        </p:sp>
        <p:sp>
          <p:nvSpPr>
            <p:cNvPr id="26725" name="Freeform 21"/>
            <p:cNvSpPr>
              <a:spLocks/>
            </p:cNvSpPr>
            <p:nvPr/>
          </p:nvSpPr>
          <p:spPr bwMode="auto">
            <a:xfrm>
              <a:off x="4014" y="1415"/>
              <a:ext cx="912" cy="624"/>
            </a:xfrm>
            <a:custGeom>
              <a:avLst/>
              <a:gdLst>
                <a:gd name="T0" fmla="*/ 0 w 912"/>
                <a:gd name="T1" fmla="*/ 0 h 624"/>
                <a:gd name="T2" fmla="*/ 480 w 912"/>
                <a:gd name="T3" fmla="*/ 432 h 624"/>
                <a:gd name="T4" fmla="*/ 912 w 912"/>
                <a:gd name="T5" fmla="*/ 624 h 624"/>
                <a:gd name="T6" fmla="*/ 0 60000 65536"/>
                <a:gd name="T7" fmla="*/ 0 60000 65536"/>
                <a:gd name="T8" fmla="*/ 0 60000 65536"/>
                <a:gd name="T9" fmla="*/ 0 w 912"/>
                <a:gd name="T10" fmla="*/ 0 h 624"/>
                <a:gd name="T11" fmla="*/ 912 w 912"/>
                <a:gd name="T12" fmla="*/ 624 h 624"/>
              </a:gdLst>
              <a:ahLst/>
              <a:cxnLst>
                <a:cxn ang="T6">
                  <a:pos x="T0" y="T1"/>
                </a:cxn>
                <a:cxn ang="T7">
                  <a:pos x="T2" y="T3"/>
                </a:cxn>
                <a:cxn ang="T8">
                  <a:pos x="T4" y="T5"/>
                </a:cxn>
              </a:cxnLst>
              <a:rect l="T9" t="T10" r="T11" b="T12"/>
              <a:pathLst>
                <a:path w="912" h="624">
                  <a:moveTo>
                    <a:pt x="0" y="0"/>
                  </a:moveTo>
                  <a:cubicBezTo>
                    <a:pt x="164" y="164"/>
                    <a:pt x="328" y="328"/>
                    <a:pt x="480" y="432"/>
                  </a:cubicBezTo>
                  <a:cubicBezTo>
                    <a:pt x="632" y="536"/>
                    <a:pt x="772" y="580"/>
                    <a:pt x="912" y="624"/>
                  </a:cubicBezTo>
                </a:path>
              </a:pathLst>
            </a:custGeom>
            <a:noFill/>
            <a:ln w="25400" cap="flat" cmpd="sng">
              <a:solidFill>
                <a:srgbClr val="FF0000"/>
              </a:solidFill>
              <a:prstDash val="solid"/>
              <a:round/>
              <a:headEnd/>
              <a:tailEnd/>
            </a:ln>
          </p:spPr>
          <p:txBody>
            <a:bodyPr wrap="none" anchor="ctr"/>
            <a:lstStyle/>
            <a:p>
              <a:endParaRPr lang="zh-CN" altLang="en-US"/>
            </a:p>
          </p:txBody>
        </p:sp>
        <p:sp>
          <p:nvSpPr>
            <p:cNvPr id="26726" name="Line 23"/>
            <p:cNvSpPr>
              <a:spLocks noChangeShapeType="1"/>
            </p:cNvSpPr>
            <p:nvPr/>
          </p:nvSpPr>
          <p:spPr bwMode="auto">
            <a:xfrm>
              <a:off x="4014" y="1799"/>
              <a:ext cx="0" cy="1008"/>
            </a:xfrm>
            <a:prstGeom prst="line">
              <a:avLst/>
            </a:prstGeom>
            <a:noFill/>
            <a:ln w="25400">
              <a:solidFill>
                <a:schemeClr val="tx1"/>
              </a:solidFill>
              <a:prstDash val="dash"/>
              <a:round/>
              <a:headEnd/>
              <a:tailEnd/>
            </a:ln>
          </p:spPr>
          <p:txBody>
            <a:bodyPr wrap="none" anchor="ctr"/>
            <a:lstStyle/>
            <a:p>
              <a:endParaRPr lang="zh-CN" altLang="en-US"/>
            </a:p>
          </p:txBody>
        </p:sp>
        <p:sp>
          <p:nvSpPr>
            <p:cNvPr id="26727" name="Line 24"/>
            <p:cNvSpPr>
              <a:spLocks noChangeShapeType="1"/>
            </p:cNvSpPr>
            <p:nvPr/>
          </p:nvSpPr>
          <p:spPr bwMode="auto">
            <a:xfrm>
              <a:off x="4926" y="2423"/>
              <a:ext cx="0" cy="384"/>
            </a:xfrm>
            <a:prstGeom prst="line">
              <a:avLst/>
            </a:prstGeom>
            <a:noFill/>
            <a:ln w="25400">
              <a:solidFill>
                <a:schemeClr val="tx1"/>
              </a:solidFill>
              <a:prstDash val="dash"/>
              <a:round/>
              <a:headEnd/>
              <a:tailEnd/>
            </a:ln>
          </p:spPr>
          <p:txBody>
            <a:bodyPr wrap="none" anchor="ctr"/>
            <a:lstStyle/>
            <a:p>
              <a:endParaRPr lang="zh-CN" altLang="en-US"/>
            </a:p>
          </p:txBody>
        </p:sp>
        <p:sp>
          <p:nvSpPr>
            <p:cNvPr id="26728" name="Line 25"/>
            <p:cNvSpPr>
              <a:spLocks noChangeShapeType="1"/>
            </p:cNvSpPr>
            <p:nvPr/>
          </p:nvSpPr>
          <p:spPr bwMode="auto">
            <a:xfrm flipH="1">
              <a:off x="3534" y="1415"/>
              <a:ext cx="480" cy="0"/>
            </a:xfrm>
            <a:prstGeom prst="line">
              <a:avLst/>
            </a:prstGeom>
            <a:noFill/>
            <a:ln w="25400">
              <a:solidFill>
                <a:schemeClr val="tx1"/>
              </a:solidFill>
              <a:prstDash val="dash"/>
              <a:round/>
              <a:headEnd/>
              <a:tailEnd/>
            </a:ln>
          </p:spPr>
          <p:txBody>
            <a:bodyPr wrap="none" anchor="ctr"/>
            <a:lstStyle/>
            <a:p>
              <a:endParaRPr lang="zh-CN" altLang="en-US"/>
            </a:p>
          </p:txBody>
        </p:sp>
        <p:sp>
          <p:nvSpPr>
            <p:cNvPr id="26729" name="Line 26"/>
            <p:cNvSpPr>
              <a:spLocks noChangeShapeType="1"/>
            </p:cNvSpPr>
            <p:nvPr/>
          </p:nvSpPr>
          <p:spPr bwMode="auto">
            <a:xfrm flipH="1">
              <a:off x="3534" y="1979"/>
              <a:ext cx="480" cy="0"/>
            </a:xfrm>
            <a:prstGeom prst="line">
              <a:avLst/>
            </a:prstGeom>
            <a:noFill/>
            <a:ln w="25400">
              <a:solidFill>
                <a:schemeClr val="tx1"/>
              </a:solidFill>
              <a:prstDash val="dash"/>
              <a:round/>
              <a:headEnd/>
              <a:tailEnd/>
            </a:ln>
          </p:spPr>
          <p:txBody>
            <a:bodyPr wrap="none" anchor="ctr"/>
            <a:lstStyle/>
            <a:p>
              <a:endParaRPr lang="zh-CN" altLang="en-US"/>
            </a:p>
          </p:txBody>
        </p:sp>
        <p:sp>
          <p:nvSpPr>
            <p:cNvPr id="26730" name="Line 27"/>
            <p:cNvSpPr>
              <a:spLocks noChangeShapeType="1"/>
            </p:cNvSpPr>
            <p:nvPr/>
          </p:nvSpPr>
          <p:spPr bwMode="auto">
            <a:xfrm>
              <a:off x="4318" y="1703"/>
              <a:ext cx="144" cy="144"/>
            </a:xfrm>
            <a:prstGeom prst="line">
              <a:avLst/>
            </a:prstGeom>
            <a:noFill/>
            <a:ln w="38100">
              <a:solidFill>
                <a:srgbClr val="0033CC"/>
              </a:solidFill>
              <a:round/>
              <a:headEnd/>
              <a:tailEnd type="triangle" w="med" len="med"/>
            </a:ln>
          </p:spPr>
          <p:txBody>
            <a:bodyPr wrap="none" anchor="ctr"/>
            <a:lstStyle/>
            <a:p>
              <a:endParaRPr lang="zh-CN" altLang="en-US"/>
            </a:p>
          </p:txBody>
        </p:sp>
        <p:grpSp>
          <p:nvGrpSpPr>
            <p:cNvPr id="26731" name="Group 34"/>
            <p:cNvGrpSpPr>
              <a:grpSpLocks/>
            </p:cNvGrpSpPr>
            <p:nvPr/>
          </p:nvGrpSpPr>
          <p:grpSpPr bwMode="auto">
            <a:xfrm>
              <a:off x="4014" y="1979"/>
              <a:ext cx="912" cy="624"/>
              <a:chOff x="4014" y="1854"/>
              <a:chExt cx="912" cy="624"/>
            </a:xfrm>
          </p:grpSpPr>
          <p:sp>
            <p:nvSpPr>
              <p:cNvPr id="26739" name="Freeform 22"/>
              <p:cNvSpPr>
                <a:spLocks/>
              </p:cNvSpPr>
              <p:nvPr/>
            </p:nvSpPr>
            <p:spPr bwMode="auto">
              <a:xfrm>
                <a:off x="4014" y="1854"/>
                <a:ext cx="912" cy="624"/>
              </a:xfrm>
              <a:custGeom>
                <a:avLst/>
                <a:gdLst>
                  <a:gd name="T0" fmla="*/ 0 w 912"/>
                  <a:gd name="T1" fmla="*/ 0 h 624"/>
                  <a:gd name="T2" fmla="*/ 480 w 912"/>
                  <a:gd name="T3" fmla="*/ 432 h 624"/>
                  <a:gd name="T4" fmla="*/ 912 w 912"/>
                  <a:gd name="T5" fmla="*/ 624 h 624"/>
                  <a:gd name="T6" fmla="*/ 0 60000 65536"/>
                  <a:gd name="T7" fmla="*/ 0 60000 65536"/>
                  <a:gd name="T8" fmla="*/ 0 60000 65536"/>
                  <a:gd name="T9" fmla="*/ 0 w 912"/>
                  <a:gd name="T10" fmla="*/ 0 h 624"/>
                  <a:gd name="T11" fmla="*/ 912 w 912"/>
                  <a:gd name="T12" fmla="*/ 624 h 624"/>
                </a:gdLst>
                <a:ahLst/>
                <a:cxnLst>
                  <a:cxn ang="T6">
                    <a:pos x="T0" y="T1"/>
                  </a:cxn>
                  <a:cxn ang="T7">
                    <a:pos x="T2" y="T3"/>
                  </a:cxn>
                  <a:cxn ang="T8">
                    <a:pos x="T4" y="T5"/>
                  </a:cxn>
                </a:cxnLst>
                <a:rect l="T9" t="T10" r="T11" b="T12"/>
                <a:pathLst>
                  <a:path w="912" h="624">
                    <a:moveTo>
                      <a:pt x="0" y="0"/>
                    </a:moveTo>
                    <a:cubicBezTo>
                      <a:pt x="164" y="164"/>
                      <a:pt x="328" y="328"/>
                      <a:pt x="480" y="432"/>
                    </a:cubicBezTo>
                    <a:cubicBezTo>
                      <a:pt x="632" y="536"/>
                      <a:pt x="772" y="580"/>
                      <a:pt x="912" y="624"/>
                    </a:cubicBezTo>
                  </a:path>
                </a:pathLst>
              </a:custGeom>
              <a:noFill/>
              <a:ln w="25400" cap="flat" cmpd="sng">
                <a:solidFill>
                  <a:srgbClr val="FF0000"/>
                </a:solidFill>
                <a:prstDash val="solid"/>
                <a:round/>
                <a:headEnd/>
                <a:tailEnd/>
              </a:ln>
            </p:spPr>
            <p:txBody>
              <a:bodyPr wrap="none" anchor="ctr"/>
              <a:lstStyle/>
              <a:p>
                <a:endParaRPr lang="zh-CN" altLang="en-US"/>
              </a:p>
            </p:txBody>
          </p:sp>
          <p:sp>
            <p:nvSpPr>
              <p:cNvPr id="26740" name="Line 28"/>
              <p:cNvSpPr>
                <a:spLocks noChangeShapeType="1"/>
              </p:cNvSpPr>
              <p:nvPr/>
            </p:nvSpPr>
            <p:spPr bwMode="auto">
              <a:xfrm flipH="1" flipV="1">
                <a:off x="4446" y="2251"/>
                <a:ext cx="203" cy="136"/>
              </a:xfrm>
              <a:prstGeom prst="line">
                <a:avLst/>
              </a:prstGeom>
              <a:noFill/>
              <a:ln w="38100">
                <a:solidFill>
                  <a:srgbClr val="0033CC"/>
                </a:solidFill>
                <a:round/>
                <a:headEnd/>
                <a:tailEnd type="triangle" w="med" len="med"/>
              </a:ln>
            </p:spPr>
            <p:txBody>
              <a:bodyPr wrap="none" anchor="ctr"/>
              <a:lstStyle/>
              <a:p>
                <a:endParaRPr lang="zh-CN" altLang="en-US"/>
              </a:p>
            </p:txBody>
          </p:sp>
        </p:grpSp>
        <p:sp>
          <p:nvSpPr>
            <p:cNvPr id="26732" name="Line 29"/>
            <p:cNvSpPr>
              <a:spLocks noChangeShapeType="1"/>
            </p:cNvSpPr>
            <p:nvPr/>
          </p:nvSpPr>
          <p:spPr bwMode="auto">
            <a:xfrm flipV="1">
              <a:off x="4014" y="1605"/>
              <a:ext cx="0" cy="192"/>
            </a:xfrm>
            <a:prstGeom prst="line">
              <a:avLst/>
            </a:prstGeom>
            <a:noFill/>
            <a:ln w="38100">
              <a:solidFill>
                <a:srgbClr val="0033CC"/>
              </a:solidFill>
              <a:round/>
              <a:headEnd/>
              <a:tailEnd type="triangle" w="med" len="med"/>
            </a:ln>
          </p:spPr>
          <p:txBody>
            <a:bodyPr wrap="none" anchor="ctr"/>
            <a:lstStyle/>
            <a:p>
              <a:endParaRPr lang="zh-CN" altLang="en-US"/>
            </a:p>
          </p:txBody>
        </p:sp>
        <p:sp>
          <p:nvSpPr>
            <p:cNvPr id="26733" name="Line 30"/>
            <p:cNvSpPr>
              <a:spLocks noChangeShapeType="1"/>
            </p:cNvSpPr>
            <p:nvPr/>
          </p:nvSpPr>
          <p:spPr bwMode="auto">
            <a:xfrm flipV="1">
              <a:off x="4926" y="2240"/>
              <a:ext cx="0" cy="192"/>
            </a:xfrm>
            <a:prstGeom prst="line">
              <a:avLst/>
            </a:prstGeom>
            <a:noFill/>
            <a:ln w="38100">
              <a:solidFill>
                <a:srgbClr val="0033CC"/>
              </a:solidFill>
              <a:round/>
              <a:headEnd type="triangle" w="med" len="med"/>
              <a:tailEnd/>
            </a:ln>
          </p:spPr>
          <p:txBody>
            <a:bodyPr wrap="none" anchor="ctr"/>
            <a:lstStyle/>
            <a:p>
              <a:endParaRPr lang="zh-CN" altLang="en-US"/>
            </a:p>
          </p:txBody>
        </p:sp>
        <p:sp>
          <p:nvSpPr>
            <p:cNvPr id="26734" name="Text Box 31"/>
            <p:cNvSpPr txBox="1">
              <a:spLocks noChangeArrowheads="1"/>
            </p:cNvSpPr>
            <p:nvPr/>
          </p:nvSpPr>
          <p:spPr bwMode="auto">
            <a:xfrm>
              <a:off x="3866" y="2837"/>
              <a:ext cx="315" cy="358"/>
            </a:xfrm>
            <a:prstGeom prst="rect">
              <a:avLst/>
            </a:prstGeom>
            <a:noFill/>
            <a:ln w="9525">
              <a:noFill/>
              <a:miter lim="800000"/>
              <a:headEnd/>
              <a:tailEnd/>
            </a:ln>
          </p:spPr>
          <p:txBody>
            <a:bodyPr wrap="none">
              <a:spAutoFit/>
            </a:bodyPr>
            <a:lstStyle/>
            <a:p>
              <a:r>
                <a:rPr lang="en-US" altLang="zh-CN" sz="1500" b="1" i="1">
                  <a:solidFill>
                    <a:srgbClr val="1C1C1C"/>
                  </a:solidFill>
                  <a:latin typeface="Times New Roman" pitchFamily="18" charset="0"/>
                </a:rPr>
                <a:t>V</a:t>
              </a:r>
              <a:r>
                <a:rPr lang="en-US" altLang="zh-CN" sz="1500" b="1" baseline="-25000">
                  <a:solidFill>
                    <a:srgbClr val="1C1C1C"/>
                  </a:solidFill>
                  <a:latin typeface="Times New Roman" pitchFamily="18" charset="0"/>
                </a:rPr>
                <a:t>1</a:t>
              </a:r>
            </a:p>
          </p:txBody>
        </p:sp>
        <p:sp>
          <p:nvSpPr>
            <p:cNvPr id="26735" name="Text Box 32"/>
            <p:cNvSpPr txBox="1">
              <a:spLocks noChangeArrowheads="1"/>
            </p:cNvSpPr>
            <p:nvPr/>
          </p:nvSpPr>
          <p:spPr bwMode="auto">
            <a:xfrm>
              <a:off x="4786" y="2840"/>
              <a:ext cx="315" cy="358"/>
            </a:xfrm>
            <a:prstGeom prst="rect">
              <a:avLst/>
            </a:prstGeom>
            <a:noFill/>
            <a:ln w="9525">
              <a:noFill/>
              <a:miter lim="800000"/>
              <a:headEnd/>
              <a:tailEnd/>
            </a:ln>
          </p:spPr>
          <p:txBody>
            <a:bodyPr wrap="none">
              <a:spAutoFit/>
            </a:bodyPr>
            <a:lstStyle/>
            <a:p>
              <a:r>
                <a:rPr lang="en-US" altLang="zh-CN" sz="1500" b="1" i="1">
                  <a:solidFill>
                    <a:srgbClr val="1C1C1C"/>
                  </a:solidFill>
                  <a:latin typeface="Times New Roman" pitchFamily="18" charset="0"/>
                </a:rPr>
                <a:t>V</a:t>
              </a:r>
              <a:r>
                <a:rPr lang="en-US" altLang="zh-CN" sz="1500" b="1" baseline="-25000">
                  <a:solidFill>
                    <a:srgbClr val="1C1C1C"/>
                  </a:solidFill>
                  <a:latin typeface="Times New Roman" pitchFamily="18" charset="0"/>
                </a:rPr>
                <a:t>2</a:t>
              </a:r>
            </a:p>
          </p:txBody>
        </p:sp>
        <p:sp>
          <p:nvSpPr>
            <p:cNvPr id="26736" name="Text Box 33"/>
            <p:cNvSpPr txBox="1">
              <a:spLocks noChangeArrowheads="1"/>
            </p:cNvSpPr>
            <p:nvPr/>
          </p:nvSpPr>
          <p:spPr bwMode="auto">
            <a:xfrm>
              <a:off x="3390" y="2781"/>
              <a:ext cx="307" cy="358"/>
            </a:xfrm>
            <a:prstGeom prst="rect">
              <a:avLst/>
            </a:prstGeom>
            <a:noFill/>
            <a:ln w="9525">
              <a:noFill/>
              <a:miter lim="800000"/>
              <a:headEnd/>
              <a:tailEnd/>
            </a:ln>
          </p:spPr>
          <p:txBody>
            <a:bodyPr>
              <a:spAutoFit/>
            </a:bodyPr>
            <a:lstStyle/>
            <a:p>
              <a:pPr>
                <a:spcBef>
                  <a:spcPct val="50000"/>
                </a:spcBef>
              </a:pPr>
              <a:r>
                <a:rPr lang="en-US" altLang="zh-CN" sz="1500" b="1" i="1">
                  <a:solidFill>
                    <a:srgbClr val="000000"/>
                  </a:solidFill>
                  <a:latin typeface="Times New Roman" pitchFamily="18" charset="0"/>
                </a:rPr>
                <a:t>O</a:t>
              </a:r>
            </a:p>
          </p:txBody>
        </p:sp>
        <p:sp>
          <p:nvSpPr>
            <p:cNvPr id="26737" name="Line 35"/>
            <p:cNvSpPr>
              <a:spLocks noChangeShapeType="1"/>
            </p:cNvSpPr>
            <p:nvPr/>
          </p:nvSpPr>
          <p:spPr bwMode="auto">
            <a:xfrm>
              <a:off x="3696" y="1797"/>
              <a:ext cx="454" cy="0"/>
            </a:xfrm>
            <a:prstGeom prst="line">
              <a:avLst/>
            </a:prstGeom>
            <a:noFill/>
            <a:ln w="63500">
              <a:solidFill>
                <a:srgbClr val="FF0000"/>
              </a:solidFill>
              <a:round/>
              <a:headEnd/>
              <a:tailEnd type="stealth" w="lg" len="lg"/>
            </a:ln>
          </p:spPr>
          <p:txBody>
            <a:bodyPr/>
            <a:lstStyle/>
            <a:p>
              <a:endParaRPr lang="zh-CN" altLang="en-US"/>
            </a:p>
          </p:txBody>
        </p:sp>
        <p:graphicFrame>
          <p:nvGraphicFramePr>
            <p:cNvPr id="26699" name="Object 75"/>
            <p:cNvGraphicFramePr>
              <a:graphicFrameLocks noChangeAspect="1"/>
            </p:cNvGraphicFramePr>
            <p:nvPr/>
          </p:nvGraphicFramePr>
          <p:xfrm>
            <a:off x="3696" y="1525"/>
            <a:ext cx="211" cy="253"/>
          </p:xfrm>
          <a:graphic>
            <a:graphicData uri="http://schemas.openxmlformats.org/presentationml/2006/ole">
              <p:oleObj spid="_x0000_s26699" name="Equation" r:id="rId4" imgW="190500" imgH="228600" progId="Equation.DSMT4">
                <p:embed/>
              </p:oleObj>
            </a:graphicData>
          </a:graphic>
        </p:graphicFrame>
        <p:sp>
          <p:nvSpPr>
            <p:cNvPr id="26738" name="Line 37"/>
            <p:cNvSpPr>
              <a:spLocks noChangeShapeType="1"/>
            </p:cNvSpPr>
            <p:nvPr/>
          </p:nvSpPr>
          <p:spPr bwMode="auto">
            <a:xfrm>
              <a:off x="4830" y="2478"/>
              <a:ext cx="454" cy="0"/>
            </a:xfrm>
            <a:prstGeom prst="line">
              <a:avLst/>
            </a:prstGeom>
            <a:noFill/>
            <a:ln w="63500">
              <a:solidFill>
                <a:srgbClr val="FF0000"/>
              </a:solidFill>
              <a:round/>
              <a:headEnd/>
              <a:tailEnd type="stealth" w="lg" len="lg"/>
            </a:ln>
          </p:spPr>
          <p:txBody>
            <a:bodyPr/>
            <a:lstStyle/>
            <a:p>
              <a:endParaRPr lang="zh-CN" altLang="en-US"/>
            </a:p>
          </p:txBody>
        </p:sp>
        <p:graphicFrame>
          <p:nvGraphicFramePr>
            <p:cNvPr id="26700" name="Object 76"/>
            <p:cNvGraphicFramePr>
              <a:graphicFrameLocks noChangeAspect="1"/>
            </p:cNvGraphicFramePr>
            <p:nvPr/>
          </p:nvGraphicFramePr>
          <p:xfrm>
            <a:off x="5005" y="2160"/>
            <a:ext cx="225" cy="253"/>
          </p:xfrm>
          <a:graphic>
            <a:graphicData uri="http://schemas.openxmlformats.org/presentationml/2006/ole">
              <p:oleObj spid="_x0000_s26700" name="Equation" r:id="rId5" imgW="203112" imgH="228501" progId="Equation.DSMT4">
                <p:embed/>
              </p:oleObj>
            </a:graphicData>
          </a:graphic>
        </p:graphicFrame>
      </p:grpSp>
      <p:sp>
        <p:nvSpPr>
          <p:cNvPr id="171048" name="Text Box 40"/>
          <p:cNvSpPr txBox="1">
            <a:spLocks noChangeArrowheads="1"/>
          </p:cNvSpPr>
          <p:nvPr/>
        </p:nvSpPr>
        <p:spPr bwMode="auto">
          <a:xfrm>
            <a:off x="684213" y="2643188"/>
            <a:ext cx="2663825" cy="369887"/>
          </a:xfrm>
          <a:prstGeom prst="rect">
            <a:avLst/>
          </a:prstGeom>
          <a:noFill/>
          <a:ln w="9525">
            <a:noFill/>
            <a:miter lim="800000"/>
            <a:headEnd/>
            <a:tailEnd/>
          </a:ln>
        </p:spPr>
        <p:txBody>
          <a:bodyPr>
            <a:spAutoFit/>
          </a:bodyPr>
          <a:lstStyle/>
          <a:p>
            <a:r>
              <a:rPr lang="zh-CN" altLang="en-US" b="1">
                <a:solidFill>
                  <a:srgbClr val="1C1C1C"/>
                </a:solidFill>
                <a:latin typeface="华文中宋"/>
                <a:ea typeface="华文中宋"/>
                <a:cs typeface="华文中宋"/>
              </a:rPr>
              <a:t>又</a:t>
            </a:r>
            <a:r>
              <a:rPr lang="en-US" altLang="zh-CN" b="1">
                <a:solidFill>
                  <a:srgbClr val="1C1C1C"/>
                </a:solidFill>
                <a:latin typeface="华文中宋"/>
                <a:ea typeface="华文中宋"/>
                <a:cs typeface="华文中宋"/>
              </a:rPr>
              <a:t>BC</a:t>
            </a:r>
            <a:r>
              <a:rPr lang="zh-CN" altLang="en-US" b="1">
                <a:solidFill>
                  <a:srgbClr val="1C1C1C"/>
                </a:solidFill>
                <a:latin typeface="华文中宋"/>
                <a:ea typeface="华文中宋"/>
                <a:cs typeface="华文中宋"/>
              </a:rPr>
              <a:t>和</a:t>
            </a:r>
            <a:r>
              <a:rPr lang="en-US" altLang="zh-CN" b="1">
                <a:solidFill>
                  <a:srgbClr val="1C1C1C"/>
                </a:solidFill>
                <a:latin typeface="华文中宋"/>
                <a:ea typeface="华文中宋"/>
                <a:cs typeface="华文中宋"/>
              </a:rPr>
              <a:t>DA</a:t>
            </a:r>
            <a:r>
              <a:rPr lang="zh-CN" altLang="en-US" b="1">
                <a:solidFill>
                  <a:srgbClr val="1C1C1C"/>
                </a:solidFill>
                <a:latin typeface="华文中宋"/>
                <a:ea typeface="华文中宋"/>
                <a:cs typeface="华文中宋"/>
              </a:rPr>
              <a:t>是绝热过程：</a:t>
            </a:r>
          </a:p>
        </p:txBody>
      </p:sp>
      <p:graphicFrame>
        <p:nvGraphicFramePr>
          <p:cNvPr id="171049" name="Object 77"/>
          <p:cNvGraphicFramePr>
            <a:graphicFrameLocks noChangeAspect="1"/>
          </p:cNvGraphicFramePr>
          <p:nvPr/>
        </p:nvGraphicFramePr>
        <p:xfrm>
          <a:off x="971550" y="3533775"/>
          <a:ext cx="2011363" cy="406400"/>
        </p:xfrm>
        <a:graphic>
          <a:graphicData uri="http://schemas.openxmlformats.org/presentationml/2006/ole">
            <p:oleObj spid="_x0000_s26701" name="公式" r:id="rId6" imgW="850900" imgH="228600" progId="Equation.3">
              <p:embed/>
            </p:oleObj>
          </a:graphicData>
        </a:graphic>
      </p:graphicFrame>
      <p:graphicFrame>
        <p:nvGraphicFramePr>
          <p:cNvPr id="171050" name="Object 78"/>
          <p:cNvGraphicFramePr>
            <a:graphicFrameLocks noChangeAspect="1"/>
          </p:cNvGraphicFramePr>
          <p:nvPr/>
        </p:nvGraphicFramePr>
        <p:xfrm>
          <a:off x="971550" y="3157538"/>
          <a:ext cx="2016125" cy="400050"/>
        </p:xfrm>
        <a:graphic>
          <a:graphicData uri="http://schemas.openxmlformats.org/presentationml/2006/ole">
            <p:oleObj spid="_x0000_s26702" name="公式" r:id="rId7" imgW="863225" imgH="228501" progId="Equation.3">
              <p:embed/>
            </p:oleObj>
          </a:graphicData>
        </a:graphic>
      </p:graphicFrame>
      <p:graphicFrame>
        <p:nvGraphicFramePr>
          <p:cNvPr id="171051" name="Object 79"/>
          <p:cNvGraphicFramePr>
            <a:graphicFrameLocks noChangeAspect="1"/>
          </p:cNvGraphicFramePr>
          <p:nvPr/>
        </p:nvGraphicFramePr>
        <p:xfrm>
          <a:off x="4640263" y="3284538"/>
          <a:ext cx="3675062" cy="431800"/>
        </p:xfrm>
        <a:graphic>
          <a:graphicData uri="http://schemas.openxmlformats.org/presentationml/2006/ole">
            <p:oleObj spid="_x0000_s26703" name="公式" r:id="rId8" imgW="1460500" imgH="228600" progId="Equation.3">
              <p:embed/>
            </p:oleObj>
          </a:graphicData>
        </a:graphic>
      </p:graphicFrame>
      <p:sp>
        <p:nvSpPr>
          <p:cNvPr id="171052" name="Text Box 44"/>
          <p:cNvSpPr txBox="1">
            <a:spLocks noChangeArrowheads="1"/>
          </p:cNvSpPr>
          <p:nvPr/>
        </p:nvSpPr>
        <p:spPr bwMode="auto">
          <a:xfrm>
            <a:off x="611188" y="4084638"/>
            <a:ext cx="793750" cy="368300"/>
          </a:xfrm>
          <a:prstGeom prst="rect">
            <a:avLst/>
          </a:prstGeom>
          <a:noFill/>
          <a:ln w="9525">
            <a:noFill/>
            <a:miter lim="800000"/>
            <a:headEnd/>
            <a:tailEnd/>
          </a:ln>
        </p:spPr>
        <p:txBody>
          <a:bodyPr>
            <a:spAutoFit/>
          </a:bodyPr>
          <a:lstStyle/>
          <a:p>
            <a:r>
              <a:rPr lang="zh-CN" altLang="en-US" b="1">
                <a:solidFill>
                  <a:srgbClr val="1C1C1C"/>
                </a:solidFill>
                <a:latin typeface="Times New Roman" pitchFamily="18" charset="0"/>
                <a:ea typeface="华文中宋"/>
                <a:cs typeface="华文中宋"/>
              </a:rPr>
              <a:t>所以</a:t>
            </a:r>
          </a:p>
        </p:txBody>
      </p:sp>
      <p:graphicFrame>
        <p:nvGraphicFramePr>
          <p:cNvPr id="171053" name="Object 80"/>
          <p:cNvGraphicFramePr>
            <a:graphicFrameLocks noChangeAspect="1"/>
          </p:cNvGraphicFramePr>
          <p:nvPr/>
        </p:nvGraphicFramePr>
        <p:xfrm>
          <a:off x="1547813" y="3940175"/>
          <a:ext cx="3425825" cy="717550"/>
        </p:xfrm>
        <a:graphic>
          <a:graphicData uri="http://schemas.openxmlformats.org/presentationml/2006/ole">
            <p:oleObj spid="_x0000_s26704" name="公式" r:id="rId9" imgW="1409088" imgH="393529" progId="Equation.3">
              <p:embed/>
            </p:oleObj>
          </a:graphicData>
        </a:graphic>
      </p:graphicFrame>
      <p:grpSp>
        <p:nvGrpSpPr>
          <p:cNvPr id="4" name="Group 49"/>
          <p:cNvGrpSpPr>
            <a:grpSpLocks/>
          </p:cNvGrpSpPr>
          <p:nvPr/>
        </p:nvGrpSpPr>
        <p:grpSpPr bwMode="auto">
          <a:xfrm>
            <a:off x="3130550" y="3209925"/>
            <a:ext cx="1657350" cy="647700"/>
            <a:chOff x="2426" y="3067"/>
            <a:chExt cx="1044" cy="544"/>
          </a:xfrm>
        </p:grpSpPr>
        <p:sp>
          <p:nvSpPr>
            <p:cNvPr id="26712" name="Text Box 46"/>
            <p:cNvSpPr txBox="1">
              <a:spLocks noChangeArrowheads="1"/>
            </p:cNvSpPr>
            <p:nvPr/>
          </p:nvSpPr>
          <p:spPr bwMode="auto">
            <a:xfrm>
              <a:off x="2472" y="3067"/>
              <a:ext cx="998" cy="271"/>
            </a:xfrm>
            <a:prstGeom prst="rect">
              <a:avLst/>
            </a:prstGeom>
            <a:noFill/>
            <a:ln w="9525">
              <a:noFill/>
              <a:miter lim="800000"/>
              <a:headEnd/>
              <a:tailEnd/>
            </a:ln>
          </p:spPr>
          <p:txBody>
            <a:bodyPr>
              <a:spAutoFit/>
            </a:bodyPr>
            <a:lstStyle/>
            <a:p>
              <a:pPr algn="ctr"/>
              <a:r>
                <a:rPr lang="zh-CN" altLang="en-US" sz="1500" b="1">
                  <a:solidFill>
                    <a:srgbClr val="1C1C1C"/>
                  </a:solidFill>
                  <a:latin typeface="华文中宋"/>
                  <a:ea typeface="华文中宋"/>
                  <a:cs typeface="华文中宋"/>
                </a:rPr>
                <a:t>两式相减</a:t>
              </a:r>
            </a:p>
          </p:txBody>
        </p:sp>
        <p:sp>
          <p:nvSpPr>
            <p:cNvPr id="26713" name="AutoShape 47"/>
            <p:cNvSpPr>
              <a:spLocks/>
            </p:cNvSpPr>
            <p:nvPr/>
          </p:nvSpPr>
          <p:spPr bwMode="auto">
            <a:xfrm>
              <a:off x="2426" y="3158"/>
              <a:ext cx="136" cy="453"/>
            </a:xfrm>
            <a:prstGeom prst="rightBrace">
              <a:avLst>
                <a:gd name="adj1" fmla="val 27757"/>
                <a:gd name="adj2" fmla="val 50000"/>
              </a:avLst>
            </a:prstGeom>
            <a:noFill/>
            <a:ln w="25400">
              <a:solidFill>
                <a:schemeClr val="tx1"/>
              </a:solidFill>
              <a:round/>
              <a:headEnd/>
              <a:tailEnd/>
            </a:ln>
          </p:spPr>
          <p:txBody>
            <a:bodyPr wrap="none" anchor="ctr"/>
            <a:lstStyle/>
            <a:p>
              <a:endParaRPr kumimoji="1" lang="zh-CN" altLang="en-US" sz="2400" b="1">
                <a:solidFill>
                  <a:srgbClr val="000000"/>
                </a:solidFill>
                <a:latin typeface="Times New Roman" pitchFamily="18" charset="0"/>
                <a:ea typeface="华文中宋"/>
                <a:cs typeface="华文中宋"/>
              </a:endParaRPr>
            </a:p>
          </p:txBody>
        </p:sp>
        <p:sp>
          <p:nvSpPr>
            <p:cNvPr id="26714" name="Line 48"/>
            <p:cNvSpPr>
              <a:spLocks noChangeShapeType="1"/>
            </p:cNvSpPr>
            <p:nvPr/>
          </p:nvSpPr>
          <p:spPr bwMode="auto">
            <a:xfrm>
              <a:off x="2562" y="3385"/>
              <a:ext cx="817" cy="0"/>
            </a:xfrm>
            <a:prstGeom prst="line">
              <a:avLst/>
            </a:prstGeom>
            <a:noFill/>
            <a:ln w="25400">
              <a:solidFill>
                <a:schemeClr val="tx1"/>
              </a:solidFill>
              <a:round/>
              <a:headEnd/>
              <a:tailEnd type="stealth" w="lg" len="lg"/>
            </a:ln>
          </p:spPr>
          <p:txBody>
            <a:bodyPr/>
            <a:lstStyle/>
            <a:p>
              <a:endParaRPr lang="zh-CN" altLang="en-US"/>
            </a:p>
          </p:txBody>
        </p:sp>
      </p:grpSp>
      <p:graphicFrame>
        <p:nvGraphicFramePr>
          <p:cNvPr id="171058" name="Object 81"/>
          <p:cNvGraphicFramePr>
            <a:graphicFrameLocks noChangeAspect="1"/>
          </p:cNvGraphicFramePr>
          <p:nvPr/>
        </p:nvGraphicFramePr>
        <p:xfrm>
          <a:off x="5364163" y="3940175"/>
          <a:ext cx="2784475" cy="681038"/>
        </p:xfrm>
        <a:graphic>
          <a:graphicData uri="http://schemas.openxmlformats.org/presentationml/2006/ole">
            <p:oleObj spid="_x0000_s26705" name="公式" r:id="rId10" imgW="1282700" imgH="419100" progId="Equation.3">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71013"/>
                                        </p:tgtEl>
                                        <p:attrNameLst>
                                          <p:attrName>style.visibility</p:attrName>
                                        </p:attrNameLst>
                                      </p:cBhvr>
                                      <p:to>
                                        <p:strVal val="visible"/>
                                      </p:to>
                                    </p:set>
                                    <p:animEffect transition="in" filter="blinds(horizontal)">
                                      <p:cBhvr>
                                        <p:cTn id="7" dur="500"/>
                                        <p:tgtEl>
                                          <p:spTgt spid="17101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171014"/>
                                        </p:tgtEl>
                                        <p:attrNameLst>
                                          <p:attrName>style.visibility</p:attrName>
                                        </p:attrNameLst>
                                      </p:cBhvr>
                                      <p:to>
                                        <p:strVal val="visible"/>
                                      </p:to>
                                    </p:set>
                                    <p:animEffect transition="in" filter="blinds(horizontal)">
                                      <p:cBhvr>
                                        <p:cTn id="12" dur="500"/>
                                        <p:tgtEl>
                                          <p:spTgt spid="17101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71048"/>
                                        </p:tgtEl>
                                        <p:attrNameLst>
                                          <p:attrName>style.visibility</p:attrName>
                                        </p:attrNameLst>
                                      </p:cBhvr>
                                      <p:to>
                                        <p:strVal val="visible"/>
                                      </p:to>
                                    </p:set>
                                    <p:animEffect transition="in" filter="blinds(horizontal)">
                                      <p:cBhvr>
                                        <p:cTn id="17" dur="500"/>
                                        <p:tgtEl>
                                          <p:spTgt spid="17104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171050"/>
                                        </p:tgtEl>
                                        <p:attrNameLst>
                                          <p:attrName>style.visibility</p:attrName>
                                        </p:attrNameLst>
                                      </p:cBhvr>
                                      <p:to>
                                        <p:strVal val="visible"/>
                                      </p:to>
                                    </p:set>
                                    <p:animEffect transition="in" filter="blinds(horizontal)">
                                      <p:cBhvr>
                                        <p:cTn id="22" dur="500"/>
                                        <p:tgtEl>
                                          <p:spTgt spid="17105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171049"/>
                                        </p:tgtEl>
                                        <p:attrNameLst>
                                          <p:attrName>style.visibility</p:attrName>
                                        </p:attrNameLst>
                                      </p:cBhvr>
                                      <p:to>
                                        <p:strVal val="visible"/>
                                      </p:to>
                                    </p:set>
                                    <p:animEffect transition="in" filter="blinds(horizontal)">
                                      <p:cBhvr>
                                        <p:cTn id="27" dur="500"/>
                                        <p:tgtEl>
                                          <p:spTgt spid="171049"/>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blinds(horizontal)">
                                      <p:cBhvr>
                                        <p:cTn id="32" dur="500"/>
                                        <p:tgtEl>
                                          <p:spTgt spid="4"/>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171051"/>
                                        </p:tgtEl>
                                        <p:attrNameLst>
                                          <p:attrName>style.visibility</p:attrName>
                                        </p:attrNameLst>
                                      </p:cBhvr>
                                      <p:to>
                                        <p:strVal val="visible"/>
                                      </p:to>
                                    </p:set>
                                    <p:animEffect transition="in" filter="blinds(horizontal)">
                                      <p:cBhvr>
                                        <p:cTn id="37" dur="500"/>
                                        <p:tgtEl>
                                          <p:spTgt spid="171051"/>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171058"/>
                                        </p:tgtEl>
                                        <p:attrNameLst>
                                          <p:attrName>style.visibility</p:attrName>
                                        </p:attrNameLst>
                                      </p:cBhvr>
                                      <p:to>
                                        <p:strVal val="visible"/>
                                      </p:to>
                                    </p:set>
                                    <p:animEffect transition="in" filter="blinds(horizontal)">
                                      <p:cBhvr>
                                        <p:cTn id="42" dur="500"/>
                                        <p:tgtEl>
                                          <p:spTgt spid="171058"/>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171052"/>
                                        </p:tgtEl>
                                        <p:attrNameLst>
                                          <p:attrName>style.visibility</p:attrName>
                                        </p:attrNameLst>
                                      </p:cBhvr>
                                      <p:to>
                                        <p:strVal val="visible"/>
                                      </p:to>
                                    </p:set>
                                    <p:animEffect transition="in" filter="blinds(horizontal)">
                                      <p:cBhvr>
                                        <p:cTn id="47" dur="500"/>
                                        <p:tgtEl>
                                          <p:spTgt spid="171052"/>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3" presetClass="entr" presetSubtype="10" fill="hold" nodeType="clickEffect">
                                  <p:stCondLst>
                                    <p:cond delay="0"/>
                                  </p:stCondLst>
                                  <p:childTnLst>
                                    <p:set>
                                      <p:cBhvr>
                                        <p:cTn id="51" dur="1" fill="hold">
                                          <p:stCondLst>
                                            <p:cond delay="0"/>
                                          </p:stCondLst>
                                        </p:cTn>
                                        <p:tgtEl>
                                          <p:spTgt spid="171053"/>
                                        </p:tgtEl>
                                        <p:attrNameLst>
                                          <p:attrName>style.visibility</p:attrName>
                                        </p:attrNameLst>
                                      </p:cBhvr>
                                      <p:to>
                                        <p:strVal val="visible"/>
                                      </p:to>
                                    </p:set>
                                    <p:animEffect transition="in" filter="blinds(horizontal)">
                                      <p:cBhvr>
                                        <p:cTn id="52" dur="500"/>
                                        <p:tgtEl>
                                          <p:spTgt spid="1710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1013" grpId="0" autoUpdateAnimBg="0"/>
      <p:bldP spid="171048" grpId="0"/>
      <p:bldP spid="171052" grpId="0"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ext Box 2"/>
          <p:cNvSpPr txBox="1">
            <a:spLocks noChangeArrowheads="1"/>
          </p:cNvSpPr>
          <p:nvPr/>
        </p:nvSpPr>
        <p:spPr bwMode="auto">
          <a:xfrm>
            <a:off x="611188" y="835025"/>
            <a:ext cx="2635250" cy="368300"/>
          </a:xfrm>
          <a:prstGeom prst="rect">
            <a:avLst/>
          </a:prstGeom>
          <a:noFill/>
          <a:ln w="9525">
            <a:noFill/>
            <a:miter lim="800000"/>
            <a:headEnd/>
            <a:tailEnd/>
          </a:ln>
        </p:spPr>
        <p:txBody>
          <a:bodyPr>
            <a:spAutoFit/>
          </a:bodyPr>
          <a:lstStyle/>
          <a:p>
            <a:pPr eaLnBrk="0" hangingPunct="0"/>
            <a:r>
              <a:rPr lang="en-US" altLang="zh-CN" b="1">
                <a:solidFill>
                  <a:srgbClr val="0000FF"/>
                </a:solidFill>
                <a:latin typeface="Times New Roman" pitchFamily="18" charset="0"/>
                <a:ea typeface="黑体" pitchFamily="49" charset="-122"/>
              </a:rPr>
              <a:t>4</a:t>
            </a:r>
            <a:r>
              <a:rPr lang="zh-CN" altLang="en-US" b="1">
                <a:solidFill>
                  <a:srgbClr val="0000FF"/>
                </a:solidFill>
                <a:latin typeface="Times New Roman" pitchFamily="18" charset="0"/>
                <a:ea typeface="黑体" pitchFamily="49" charset="-122"/>
              </a:rPr>
              <a:t>、致冷机与致冷系数</a:t>
            </a:r>
          </a:p>
        </p:txBody>
      </p:sp>
      <p:sp>
        <p:nvSpPr>
          <p:cNvPr id="113" name="Text Box 120"/>
          <p:cNvSpPr txBox="1">
            <a:spLocks noChangeArrowheads="1"/>
          </p:cNvSpPr>
          <p:nvPr/>
        </p:nvSpPr>
        <p:spPr bwMode="auto">
          <a:xfrm>
            <a:off x="611188" y="1203325"/>
            <a:ext cx="5584825" cy="646113"/>
          </a:xfrm>
          <a:prstGeom prst="rect">
            <a:avLst/>
          </a:prstGeom>
          <a:noFill/>
          <a:ln w="9525">
            <a:noFill/>
            <a:miter lim="800000"/>
            <a:headEnd/>
            <a:tailEnd/>
          </a:ln>
        </p:spPr>
        <p:txBody>
          <a:bodyPr>
            <a:spAutoFit/>
          </a:bodyPr>
          <a:lstStyle/>
          <a:p>
            <a:r>
              <a:rPr kumimoji="1" lang="zh-CN" altLang="en-US" b="1">
                <a:solidFill>
                  <a:srgbClr val="0000FF"/>
                </a:solidFill>
                <a:latin typeface="Times New Roman" pitchFamily="18" charset="0"/>
                <a:ea typeface="华文中宋"/>
                <a:cs typeface="Times New Roman" pitchFamily="18" charset="0"/>
              </a:rPr>
              <a:t>致冷机</a:t>
            </a:r>
            <a:r>
              <a:rPr kumimoji="1" lang="zh-CN" altLang="en-US" b="1">
                <a:solidFill>
                  <a:srgbClr val="000000"/>
                </a:solidFill>
                <a:latin typeface="Times New Roman" pitchFamily="18" charset="0"/>
                <a:ea typeface="华文中宋"/>
                <a:cs typeface="Times New Roman" pitchFamily="18" charset="0"/>
              </a:rPr>
              <a:t>：工质把从低温热源吸收的热量和外界对它所作的功以热量的形式传给高温热源。</a:t>
            </a:r>
          </a:p>
        </p:txBody>
      </p:sp>
      <p:sp>
        <p:nvSpPr>
          <p:cNvPr id="75" name="Rectangle 99"/>
          <p:cNvSpPr>
            <a:spLocks noChangeArrowheads="1"/>
          </p:cNvSpPr>
          <p:nvPr/>
        </p:nvSpPr>
        <p:spPr bwMode="auto">
          <a:xfrm>
            <a:off x="611188" y="1843088"/>
            <a:ext cx="2736850" cy="368300"/>
          </a:xfrm>
          <a:prstGeom prst="rect">
            <a:avLst/>
          </a:prstGeom>
          <a:noFill/>
          <a:ln w="9525">
            <a:noFill/>
            <a:miter lim="800000"/>
            <a:headEnd/>
            <a:tailEnd/>
          </a:ln>
        </p:spPr>
        <p:txBody>
          <a:bodyPr>
            <a:spAutoFit/>
          </a:bodyPr>
          <a:lstStyle/>
          <a:p>
            <a:pPr eaLnBrk="0" hangingPunct="0"/>
            <a:r>
              <a:rPr lang="zh-CN" altLang="en-US" b="1">
                <a:solidFill>
                  <a:srgbClr val="0000FF"/>
                </a:solidFill>
                <a:latin typeface="Times New Roman" pitchFamily="18" charset="0"/>
                <a:ea typeface="华文中宋"/>
                <a:cs typeface="华文中宋"/>
              </a:rPr>
              <a:t>逆循环</a:t>
            </a:r>
            <a:r>
              <a:rPr lang="zh-CN" altLang="en-US" b="1">
                <a:solidFill>
                  <a:srgbClr val="000000"/>
                </a:solidFill>
                <a:latin typeface="Times New Roman" pitchFamily="18" charset="0"/>
                <a:ea typeface="华文中宋"/>
                <a:cs typeface="华文中宋"/>
              </a:rPr>
              <a:t>：系统循环一次</a:t>
            </a:r>
            <a:endParaRPr lang="zh-CN" altLang="en-US" b="1" baseline="-25000">
              <a:solidFill>
                <a:srgbClr val="000000"/>
              </a:solidFill>
              <a:latin typeface="Times New Roman" pitchFamily="18" charset="0"/>
              <a:ea typeface="华文中宋"/>
              <a:cs typeface="华文中宋"/>
            </a:endParaRPr>
          </a:p>
        </p:txBody>
      </p:sp>
      <p:sp>
        <p:nvSpPr>
          <p:cNvPr id="76" name="Rectangle 99"/>
          <p:cNvSpPr>
            <a:spLocks noChangeArrowheads="1"/>
          </p:cNvSpPr>
          <p:nvPr/>
        </p:nvSpPr>
        <p:spPr bwMode="auto">
          <a:xfrm>
            <a:off x="928688" y="2138363"/>
            <a:ext cx="3481387" cy="369887"/>
          </a:xfrm>
          <a:prstGeom prst="rect">
            <a:avLst/>
          </a:prstGeom>
          <a:noFill/>
          <a:ln w="9525">
            <a:noFill/>
            <a:miter lim="800000"/>
            <a:headEnd/>
            <a:tailEnd/>
          </a:ln>
        </p:spPr>
        <p:txBody>
          <a:bodyPr>
            <a:spAutoFit/>
          </a:bodyPr>
          <a:lstStyle/>
          <a:p>
            <a:pPr eaLnBrk="0" hangingPunct="0"/>
            <a:r>
              <a:rPr lang="zh-CN" altLang="en-US" b="1">
                <a:solidFill>
                  <a:srgbClr val="000000"/>
                </a:solidFill>
                <a:latin typeface="Times New Roman" pitchFamily="18" charset="0"/>
                <a:ea typeface="华文中宋"/>
                <a:cs typeface="华文中宋"/>
              </a:rPr>
              <a:t>净    功        </a:t>
            </a:r>
            <a:r>
              <a:rPr lang="en-US" altLang="zh-CN" b="1" i="1">
                <a:solidFill>
                  <a:srgbClr val="000000"/>
                </a:solidFill>
                <a:latin typeface="Times New Roman" pitchFamily="18" charset="0"/>
                <a:ea typeface="华文中宋"/>
                <a:cs typeface="华文中宋"/>
              </a:rPr>
              <a:t>W</a:t>
            </a:r>
            <a:r>
              <a:rPr lang="zh-CN" altLang="en-US" b="1" baseline="-25000">
                <a:solidFill>
                  <a:srgbClr val="000000"/>
                </a:solidFill>
                <a:latin typeface="Times New Roman" pitchFamily="18" charset="0"/>
                <a:ea typeface="华文中宋"/>
                <a:cs typeface="华文中宋"/>
              </a:rPr>
              <a:t>净  </a:t>
            </a:r>
            <a:r>
              <a:rPr lang="en-US" altLang="zh-CN" b="1">
                <a:solidFill>
                  <a:srgbClr val="000000"/>
                </a:solidFill>
                <a:latin typeface="Times New Roman" pitchFamily="18" charset="0"/>
                <a:ea typeface="华文中宋"/>
                <a:cs typeface="华文中宋"/>
              </a:rPr>
              <a:t>&lt;  0</a:t>
            </a:r>
            <a:endParaRPr lang="en-US" altLang="zh-CN" b="1" baseline="-25000">
              <a:solidFill>
                <a:srgbClr val="000000"/>
              </a:solidFill>
              <a:latin typeface="Times New Roman" pitchFamily="18" charset="0"/>
              <a:ea typeface="华文中宋"/>
              <a:cs typeface="华文中宋"/>
            </a:endParaRPr>
          </a:p>
        </p:txBody>
      </p:sp>
      <p:sp>
        <p:nvSpPr>
          <p:cNvPr id="83" name="Rectangle 99"/>
          <p:cNvSpPr>
            <a:spLocks noChangeArrowheads="1"/>
          </p:cNvSpPr>
          <p:nvPr/>
        </p:nvSpPr>
        <p:spPr bwMode="auto">
          <a:xfrm>
            <a:off x="952500" y="2578100"/>
            <a:ext cx="4195763" cy="369888"/>
          </a:xfrm>
          <a:prstGeom prst="rect">
            <a:avLst/>
          </a:prstGeom>
          <a:noFill/>
          <a:ln w="9525">
            <a:noFill/>
            <a:miter lim="800000"/>
            <a:headEnd/>
            <a:tailEnd/>
          </a:ln>
        </p:spPr>
        <p:txBody>
          <a:bodyPr>
            <a:spAutoFit/>
          </a:bodyPr>
          <a:lstStyle/>
          <a:p>
            <a:pPr eaLnBrk="0" hangingPunct="0"/>
            <a:r>
              <a:rPr lang="zh-CN" altLang="en-US" b="1">
                <a:solidFill>
                  <a:srgbClr val="000000"/>
                </a:solidFill>
                <a:latin typeface="Times New Roman" pitchFamily="18" charset="0"/>
                <a:ea typeface="华文中宋"/>
                <a:cs typeface="华文中宋"/>
              </a:rPr>
              <a:t>净</a:t>
            </a:r>
            <a:r>
              <a:rPr kumimoji="1" lang="zh-CN" altLang="en-US" b="1">
                <a:solidFill>
                  <a:srgbClr val="000000"/>
                </a:solidFill>
                <a:latin typeface="Times New Roman" pitchFamily="18" charset="0"/>
                <a:ea typeface="华文中宋"/>
                <a:cs typeface="华文中宋"/>
              </a:rPr>
              <a:t>放热  </a:t>
            </a:r>
            <a:r>
              <a:rPr lang="zh-CN" altLang="en-US" b="1" i="1">
                <a:solidFill>
                  <a:srgbClr val="000000"/>
                </a:solidFill>
                <a:latin typeface="Times New Roman" pitchFamily="18" charset="0"/>
                <a:ea typeface="华文中宋"/>
                <a:cs typeface="华文中宋"/>
              </a:rPr>
              <a:t>     </a:t>
            </a:r>
            <a:r>
              <a:rPr lang="en-US" altLang="zh-CN" b="1" i="1">
                <a:solidFill>
                  <a:srgbClr val="000000"/>
                </a:solidFill>
                <a:latin typeface="Times New Roman" pitchFamily="18" charset="0"/>
                <a:ea typeface="华文中宋"/>
                <a:cs typeface="华文中宋"/>
              </a:rPr>
              <a:t>Q</a:t>
            </a:r>
            <a:r>
              <a:rPr lang="zh-CN" altLang="en-US" b="1" baseline="-25000">
                <a:solidFill>
                  <a:srgbClr val="000000"/>
                </a:solidFill>
                <a:latin typeface="Times New Roman" pitchFamily="18" charset="0"/>
                <a:ea typeface="华文中宋"/>
                <a:cs typeface="华文中宋"/>
              </a:rPr>
              <a:t>净  </a:t>
            </a:r>
            <a:r>
              <a:rPr lang="en-US" altLang="zh-CN" b="1">
                <a:solidFill>
                  <a:srgbClr val="000000"/>
                </a:solidFill>
                <a:latin typeface="Times New Roman" pitchFamily="18" charset="0"/>
                <a:ea typeface="华文中宋"/>
                <a:cs typeface="华文中宋"/>
              </a:rPr>
              <a:t>= </a:t>
            </a:r>
            <a:r>
              <a:rPr lang="en-US" altLang="zh-CN" b="1" i="1">
                <a:solidFill>
                  <a:srgbClr val="000000"/>
                </a:solidFill>
                <a:latin typeface="Times New Roman" pitchFamily="18" charset="0"/>
                <a:ea typeface="华文中宋"/>
                <a:cs typeface="华文中宋"/>
              </a:rPr>
              <a:t>Q</a:t>
            </a:r>
            <a:r>
              <a:rPr lang="en-US" altLang="zh-CN" b="1" baseline="-25000">
                <a:solidFill>
                  <a:srgbClr val="000000"/>
                </a:solidFill>
                <a:latin typeface="Times New Roman" pitchFamily="18" charset="0"/>
                <a:ea typeface="华文中宋"/>
                <a:cs typeface="华文中宋"/>
              </a:rPr>
              <a:t>1 </a:t>
            </a:r>
            <a:r>
              <a:rPr lang="en-US" altLang="zh-CN" b="1">
                <a:solidFill>
                  <a:srgbClr val="000000"/>
                </a:solidFill>
                <a:latin typeface="Times New Roman" pitchFamily="18" charset="0"/>
                <a:ea typeface="华文中宋"/>
                <a:cs typeface="华文中宋"/>
              </a:rPr>
              <a:t>– </a:t>
            </a:r>
            <a:r>
              <a:rPr lang="en-US" altLang="zh-CN" b="1" i="1">
                <a:solidFill>
                  <a:srgbClr val="000000"/>
                </a:solidFill>
                <a:latin typeface="Times New Roman" pitchFamily="18" charset="0"/>
                <a:ea typeface="华文中宋"/>
                <a:cs typeface="华文中宋"/>
              </a:rPr>
              <a:t>Q</a:t>
            </a:r>
            <a:r>
              <a:rPr lang="en-US" altLang="zh-CN" b="1" baseline="-25000">
                <a:solidFill>
                  <a:srgbClr val="000000"/>
                </a:solidFill>
                <a:latin typeface="Times New Roman" pitchFamily="18" charset="0"/>
                <a:ea typeface="华文中宋"/>
                <a:cs typeface="华文中宋"/>
              </a:rPr>
              <a:t>2</a:t>
            </a:r>
          </a:p>
        </p:txBody>
      </p:sp>
      <p:sp>
        <p:nvSpPr>
          <p:cNvPr id="84" name="Rectangle 119"/>
          <p:cNvSpPr>
            <a:spLocks noChangeArrowheads="1"/>
          </p:cNvSpPr>
          <p:nvPr/>
        </p:nvSpPr>
        <p:spPr bwMode="auto">
          <a:xfrm>
            <a:off x="1476375" y="3009900"/>
            <a:ext cx="2454275" cy="396875"/>
          </a:xfrm>
          <a:prstGeom prst="rect">
            <a:avLst/>
          </a:prstGeom>
          <a:noFill/>
          <a:ln w="9525">
            <a:noFill/>
            <a:miter lim="800000"/>
            <a:headEnd/>
            <a:tailEnd/>
          </a:ln>
        </p:spPr>
        <p:txBody>
          <a:bodyPr>
            <a:spAutoFit/>
          </a:bodyPr>
          <a:lstStyle/>
          <a:p>
            <a:pPr eaLnBrk="0" hangingPunct="0">
              <a:lnSpc>
                <a:spcPct val="110000"/>
              </a:lnSpc>
            </a:pPr>
            <a:r>
              <a:rPr lang="en-US" altLang="zh-CN" b="1" i="1">
                <a:solidFill>
                  <a:srgbClr val="000000"/>
                </a:solidFill>
                <a:latin typeface="Times New Roman" pitchFamily="18" charset="0"/>
                <a:ea typeface="华文中宋"/>
                <a:cs typeface="华文中宋"/>
              </a:rPr>
              <a:t>Q</a:t>
            </a:r>
            <a:r>
              <a:rPr lang="en-US" altLang="zh-CN" b="1" baseline="-25000">
                <a:solidFill>
                  <a:srgbClr val="000000"/>
                </a:solidFill>
                <a:latin typeface="Times New Roman" pitchFamily="18" charset="0"/>
                <a:ea typeface="华文中宋"/>
                <a:cs typeface="华文中宋"/>
              </a:rPr>
              <a:t>1</a:t>
            </a:r>
            <a:r>
              <a:rPr lang="zh-CN" altLang="en-US" b="1">
                <a:solidFill>
                  <a:srgbClr val="000000"/>
                </a:solidFill>
                <a:latin typeface="Times New Roman" pitchFamily="18" charset="0"/>
                <a:ea typeface="华文中宋"/>
                <a:cs typeface="华文中宋"/>
              </a:rPr>
              <a:t>－</a:t>
            </a:r>
            <a:r>
              <a:rPr lang="en-US" altLang="zh-CN" b="1" i="1">
                <a:solidFill>
                  <a:srgbClr val="000000"/>
                </a:solidFill>
                <a:latin typeface="Times New Roman" pitchFamily="18" charset="0"/>
                <a:ea typeface="华文中宋"/>
                <a:cs typeface="华文中宋"/>
              </a:rPr>
              <a:t>Q</a:t>
            </a:r>
            <a:r>
              <a:rPr lang="en-US" altLang="zh-CN" b="1" baseline="-25000">
                <a:solidFill>
                  <a:srgbClr val="000000"/>
                </a:solidFill>
                <a:latin typeface="Times New Roman" pitchFamily="18" charset="0"/>
                <a:ea typeface="华文中宋"/>
                <a:cs typeface="华文中宋"/>
              </a:rPr>
              <a:t>2</a:t>
            </a:r>
            <a:r>
              <a:rPr lang="zh-CN" altLang="en-US" b="1">
                <a:solidFill>
                  <a:srgbClr val="000000"/>
                </a:solidFill>
                <a:latin typeface="Times New Roman" pitchFamily="18" charset="0"/>
                <a:ea typeface="华文中宋"/>
                <a:cs typeface="华文中宋"/>
              </a:rPr>
              <a:t>＝</a:t>
            </a:r>
            <a:r>
              <a:rPr lang="en-US" altLang="zh-CN" b="1">
                <a:solidFill>
                  <a:srgbClr val="000000"/>
                </a:solidFill>
                <a:latin typeface="Times New Roman" pitchFamily="18" charset="0"/>
                <a:ea typeface="华文中宋"/>
                <a:cs typeface="华文中宋"/>
              </a:rPr>
              <a:t>|</a:t>
            </a:r>
            <a:r>
              <a:rPr lang="en-US" altLang="zh-CN" b="1" i="1">
                <a:solidFill>
                  <a:srgbClr val="000000"/>
                </a:solidFill>
                <a:latin typeface="Times New Roman" pitchFamily="18" charset="0"/>
                <a:ea typeface="华文中宋"/>
                <a:cs typeface="华文中宋"/>
              </a:rPr>
              <a:t>W</a:t>
            </a:r>
            <a:r>
              <a:rPr lang="zh-CN" altLang="en-US" b="1" baseline="-25000">
                <a:solidFill>
                  <a:srgbClr val="000000"/>
                </a:solidFill>
                <a:latin typeface="Times New Roman" pitchFamily="18" charset="0"/>
                <a:ea typeface="华文中宋"/>
                <a:cs typeface="华文中宋"/>
              </a:rPr>
              <a:t>净</a:t>
            </a:r>
            <a:r>
              <a:rPr lang="zh-CN" altLang="en-US" b="1">
                <a:solidFill>
                  <a:srgbClr val="3333FF"/>
                </a:solidFill>
                <a:latin typeface="Times New Roman" pitchFamily="18" charset="0"/>
                <a:ea typeface="华文中宋"/>
                <a:cs typeface="华文中宋"/>
              </a:rPr>
              <a:t> </a:t>
            </a:r>
            <a:r>
              <a:rPr lang="en-US" altLang="zh-CN" b="1">
                <a:solidFill>
                  <a:srgbClr val="000000"/>
                </a:solidFill>
                <a:latin typeface="Times New Roman" pitchFamily="18" charset="0"/>
                <a:ea typeface="华文中宋"/>
                <a:cs typeface="华文中宋"/>
              </a:rPr>
              <a:t>|</a:t>
            </a:r>
          </a:p>
        </p:txBody>
      </p:sp>
      <p:grpSp>
        <p:nvGrpSpPr>
          <p:cNvPr id="2" name="Group 77"/>
          <p:cNvGrpSpPr>
            <a:grpSpLocks/>
          </p:cNvGrpSpPr>
          <p:nvPr/>
        </p:nvGrpSpPr>
        <p:grpSpPr bwMode="auto">
          <a:xfrm>
            <a:off x="6080125" y="2643188"/>
            <a:ext cx="2020888" cy="1881187"/>
            <a:chOff x="3498" y="2187"/>
            <a:chExt cx="1922" cy="1900"/>
          </a:xfrm>
        </p:grpSpPr>
        <p:sp>
          <p:nvSpPr>
            <p:cNvPr id="27720" name="Oval 43"/>
            <p:cNvSpPr>
              <a:spLocks noChangeArrowheads="1"/>
            </p:cNvSpPr>
            <p:nvPr/>
          </p:nvSpPr>
          <p:spPr bwMode="auto">
            <a:xfrm>
              <a:off x="3595" y="2911"/>
              <a:ext cx="1089" cy="506"/>
            </a:xfrm>
            <a:prstGeom prst="ellipse">
              <a:avLst/>
            </a:prstGeom>
            <a:solidFill>
              <a:schemeClr val="accent1"/>
            </a:solidFill>
            <a:ln w="19050">
              <a:solidFill>
                <a:srgbClr val="CC6600"/>
              </a:solidFill>
              <a:round/>
              <a:headEnd/>
              <a:tailEnd/>
            </a:ln>
          </p:spPr>
          <p:txBody>
            <a:bodyPr wrap="none" anchor="ctr"/>
            <a:lstStyle/>
            <a:p>
              <a:pPr algn="ctr"/>
              <a:r>
                <a:rPr kumimoji="1" lang="zh-CN" altLang="en-US" sz="1500" b="1">
                  <a:solidFill>
                    <a:srgbClr val="000000"/>
                  </a:solidFill>
                  <a:latin typeface="Times New Roman" pitchFamily="18" charset="0"/>
                  <a:ea typeface="华文中宋"/>
                  <a:cs typeface="华文中宋"/>
                </a:rPr>
                <a:t>致冷机</a:t>
              </a:r>
            </a:p>
          </p:txBody>
        </p:sp>
        <p:sp>
          <p:nvSpPr>
            <p:cNvPr id="27721" name="Rectangle 44"/>
            <p:cNvSpPr>
              <a:spLocks noChangeArrowheads="1"/>
            </p:cNvSpPr>
            <p:nvPr/>
          </p:nvSpPr>
          <p:spPr bwMode="auto">
            <a:xfrm>
              <a:off x="3526" y="2187"/>
              <a:ext cx="1152" cy="290"/>
            </a:xfrm>
            <a:prstGeom prst="rect">
              <a:avLst/>
            </a:prstGeom>
            <a:solidFill>
              <a:srgbClr val="FDE3F0"/>
            </a:solidFill>
            <a:ln w="19050">
              <a:solidFill>
                <a:srgbClr val="FF0000"/>
              </a:solidFill>
              <a:miter lim="800000"/>
              <a:headEnd/>
              <a:tailEnd/>
            </a:ln>
          </p:spPr>
          <p:txBody>
            <a:bodyPr wrap="none" anchor="ctr"/>
            <a:lstStyle/>
            <a:p>
              <a:pPr algn="ctr"/>
              <a:r>
                <a:rPr kumimoji="1" lang="zh-CN" altLang="en-US" sz="1500" b="1">
                  <a:solidFill>
                    <a:srgbClr val="FF0000"/>
                  </a:solidFill>
                  <a:latin typeface="Times New Roman" pitchFamily="18" charset="0"/>
                  <a:ea typeface="华文中宋"/>
                  <a:cs typeface="华文中宋"/>
                </a:rPr>
                <a:t>高温热源</a:t>
              </a:r>
            </a:p>
          </p:txBody>
        </p:sp>
        <p:sp>
          <p:nvSpPr>
            <p:cNvPr id="27722" name="Text Box 45"/>
            <p:cNvSpPr txBox="1">
              <a:spLocks noChangeArrowheads="1"/>
            </p:cNvSpPr>
            <p:nvPr/>
          </p:nvSpPr>
          <p:spPr bwMode="auto">
            <a:xfrm>
              <a:off x="3498" y="3816"/>
              <a:ext cx="1248" cy="271"/>
            </a:xfrm>
            <a:prstGeom prst="rect">
              <a:avLst/>
            </a:prstGeom>
            <a:solidFill>
              <a:schemeClr val="accent1"/>
            </a:solidFill>
            <a:ln w="9525">
              <a:solidFill>
                <a:srgbClr val="0000FF"/>
              </a:solidFill>
              <a:miter lim="800000"/>
              <a:headEnd/>
              <a:tailEnd/>
            </a:ln>
          </p:spPr>
          <p:txBody>
            <a:bodyPr>
              <a:spAutoFit/>
            </a:bodyPr>
            <a:lstStyle/>
            <a:p>
              <a:pPr algn="ctr" eaLnBrk="0" hangingPunct="0">
                <a:spcBef>
                  <a:spcPct val="50000"/>
                </a:spcBef>
              </a:pPr>
              <a:r>
                <a:rPr kumimoji="1" lang="zh-CN" altLang="en-US" sz="1500" b="1">
                  <a:solidFill>
                    <a:srgbClr val="000000"/>
                  </a:solidFill>
                  <a:latin typeface="Times New Roman" pitchFamily="18" charset="0"/>
                  <a:ea typeface="华文中宋"/>
                  <a:cs typeface="华文中宋"/>
                </a:rPr>
                <a:t>低温热源</a:t>
              </a:r>
            </a:p>
          </p:txBody>
        </p:sp>
        <p:sp>
          <p:nvSpPr>
            <p:cNvPr id="27723" name="AutoShape 46"/>
            <p:cNvSpPr>
              <a:spLocks noChangeArrowheads="1"/>
            </p:cNvSpPr>
            <p:nvPr/>
          </p:nvSpPr>
          <p:spPr bwMode="auto">
            <a:xfrm rot="10800000">
              <a:off x="4071" y="2459"/>
              <a:ext cx="136" cy="452"/>
            </a:xfrm>
            <a:prstGeom prst="downArrow">
              <a:avLst>
                <a:gd name="adj1" fmla="val 40000"/>
                <a:gd name="adj2" fmla="val 155560"/>
              </a:avLst>
            </a:prstGeom>
            <a:solidFill>
              <a:srgbClr val="FFCCCC"/>
            </a:solidFill>
            <a:ln w="19050">
              <a:solidFill>
                <a:srgbClr val="FF0000"/>
              </a:solidFill>
              <a:miter lim="800000"/>
              <a:headEnd/>
              <a:tailEnd/>
            </a:ln>
          </p:spPr>
          <p:txBody>
            <a:bodyPr vert="eaVert" wrap="none" anchor="ctr"/>
            <a:lstStyle/>
            <a:p>
              <a:endParaRPr kumimoji="1" lang="zh-CN" altLang="en-US" sz="2400" b="1">
                <a:solidFill>
                  <a:srgbClr val="000000"/>
                </a:solidFill>
                <a:latin typeface="Times New Roman" pitchFamily="18" charset="0"/>
                <a:ea typeface="华文中宋"/>
                <a:cs typeface="华文中宋"/>
              </a:endParaRPr>
            </a:p>
          </p:txBody>
        </p:sp>
        <p:graphicFrame>
          <p:nvGraphicFramePr>
            <p:cNvPr id="27686" name="Object 38"/>
            <p:cNvGraphicFramePr>
              <a:graphicFrameLocks noChangeAspect="1"/>
            </p:cNvGraphicFramePr>
            <p:nvPr/>
          </p:nvGraphicFramePr>
          <p:xfrm>
            <a:off x="4179" y="2529"/>
            <a:ext cx="332" cy="356"/>
          </p:xfrm>
          <a:graphic>
            <a:graphicData uri="http://schemas.openxmlformats.org/presentationml/2006/ole">
              <p:oleObj spid="_x0000_s27686" name="Equation" r:id="rId3" imgW="152268" imgH="164957" progId="Equation.DSMT4">
                <p:embed/>
              </p:oleObj>
            </a:graphicData>
          </a:graphic>
        </p:graphicFrame>
        <p:sp>
          <p:nvSpPr>
            <p:cNvPr id="27724" name="AutoShape 48"/>
            <p:cNvSpPr>
              <a:spLocks noChangeArrowheads="1"/>
            </p:cNvSpPr>
            <p:nvPr/>
          </p:nvSpPr>
          <p:spPr bwMode="auto">
            <a:xfrm rot="10800000">
              <a:off x="4071" y="3358"/>
              <a:ext cx="136" cy="458"/>
            </a:xfrm>
            <a:prstGeom prst="downArrow">
              <a:avLst>
                <a:gd name="adj1" fmla="val 44852"/>
                <a:gd name="adj2" fmla="val 141909"/>
              </a:avLst>
            </a:prstGeom>
            <a:solidFill>
              <a:srgbClr val="CCECFF"/>
            </a:solidFill>
            <a:ln w="19050">
              <a:solidFill>
                <a:srgbClr val="0000FF"/>
              </a:solidFill>
              <a:miter lim="800000"/>
              <a:headEnd/>
              <a:tailEnd/>
            </a:ln>
          </p:spPr>
          <p:txBody>
            <a:bodyPr vert="eaVert" wrap="none" anchor="ctr"/>
            <a:lstStyle/>
            <a:p>
              <a:endParaRPr kumimoji="1" lang="zh-CN" altLang="en-US" sz="2400" b="1">
                <a:solidFill>
                  <a:srgbClr val="000000"/>
                </a:solidFill>
                <a:latin typeface="Times New Roman" pitchFamily="18" charset="0"/>
                <a:ea typeface="华文中宋"/>
                <a:cs typeface="华文中宋"/>
              </a:endParaRPr>
            </a:p>
          </p:txBody>
        </p:sp>
        <p:graphicFrame>
          <p:nvGraphicFramePr>
            <p:cNvPr id="27687" name="Object 39"/>
            <p:cNvGraphicFramePr>
              <a:graphicFrameLocks noChangeAspect="1"/>
            </p:cNvGraphicFramePr>
            <p:nvPr/>
          </p:nvGraphicFramePr>
          <p:xfrm>
            <a:off x="4224" y="3430"/>
            <a:ext cx="316" cy="317"/>
          </p:xfrm>
          <a:graphic>
            <a:graphicData uri="http://schemas.openxmlformats.org/presentationml/2006/ole">
              <p:oleObj spid="_x0000_s27687" name="公式" r:id="rId4" imgW="164885" imgH="164885" progId="Equation.3">
                <p:embed/>
              </p:oleObj>
            </a:graphicData>
          </a:graphic>
        </p:graphicFrame>
        <p:sp>
          <p:nvSpPr>
            <p:cNvPr id="27725" name="AutoShape 50"/>
            <p:cNvSpPr>
              <a:spLocks noChangeArrowheads="1"/>
            </p:cNvSpPr>
            <p:nvPr/>
          </p:nvSpPr>
          <p:spPr bwMode="auto">
            <a:xfrm rot="10800000">
              <a:off x="4548" y="3101"/>
              <a:ext cx="528" cy="102"/>
            </a:xfrm>
            <a:prstGeom prst="rightArrow">
              <a:avLst>
                <a:gd name="adj1" fmla="val 58667"/>
                <a:gd name="adj2" fmla="val 189205"/>
              </a:avLst>
            </a:prstGeom>
            <a:solidFill>
              <a:schemeClr val="accent1"/>
            </a:solidFill>
            <a:ln w="19050">
              <a:solidFill>
                <a:srgbClr val="CC6600"/>
              </a:solidFill>
              <a:miter lim="800000"/>
              <a:headEnd/>
              <a:tailEnd/>
            </a:ln>
          </p:spPr>
          <p:txBody>
            <a:bodyPr wrap="none" anchor="ctr"/>
            <a:lstStyle/>
            <a:p>
              <a:endParaRPr kumimoji="1" lang="zh-CN" altLang="en-US" sz="2400" b="1">
                <a:solidFill>
                  <a:srgbClr val="000000"/>
                </a:solidFill>
                <a:latin typeface="Times New Roman" pitchFamily="18" charset="0"/>
                <a:ea typeface="华文中宋"/>
                <a:cs typeface="华文中宋"/>
              </a:endParaRPr>
            </a:p>
          </p:txBody>
        </p:sp>
        <p:graphicFrame>
          <p:nvGraphicFramePr>
            <p:cNvPr id="27688" name="Object 40"/>
            <p:cNvGraphicFramePr>
              <a:graphicFrameLocks noChangeAspect="1"/>
            </p:cNvGraphicFramePr>
            <p:nvPr/>
          </p:nvGraphicFramePr>
          <p:xfrm>
            <a:off x="5086" y="3066"/>
            <a:ext cx="245" cy="214"/>
          </p:xfrm>
          <a:graphic>
            <a:graphicData uri="http://schemas.openxmlformats.org/presentationml/2006/ole">
              <p:oleObj spid="_x0000_s27688" name="Equation" r:id="rId5" imgW="202936" imgH="177569" progId="Equation.DSMT4">
                <p:embed/>
              </p:oleObj>
            </a:graphicData>
          </a:graphic>
        </p:graphicFrame>
        <p:sp>
          <p:nvSpPr>
            <p:cNvPr id="27726" name="Rectangle 52"/>
            <p:cNvSpPr>
              <a:spLocks noChangeArrowheads="1"/>
            </p:cNvSpPr>
            <p:nvPr/>
          </p:nvSpPr>
          <p:spPr bwMode="auto">
            <a:xfrm>
              <a:off x="5176" y="3112"/>
              <a:ext cx="244" cy="271"/>
            </a:xfrm>
            <a:prstGeom prst="rect">
              <a:avLst/>
            </a:prstGeom>
            <a:noFill/>
            <a:ln w="9525">
              <a:noFill/>
              <a:miter lim="800000"/>
              <a:headEnd/>
              <a:tailEnd/>
            </a:ln>
          </p:spPr>
          <p:txBody>
            <a:bodyPr>
              <a:spAutoFit/>
            </a:bodyPr>
            <a:lstStyle/>
            <a:p>
              <a:pPr algn="ctr"/>
              <a:r>
                <a:rPr lang="zh-CN" altLang="en-US" sz="1500" b="1">
                  <a:solidFill>
                    <a:srgbClr val="000000"/>
                  </a:solidFill>
                  <a:latin typeface="华文中宋"/>
                  <a:ea typeface="华文中宋"/>
                  <a:cs typeface="华文中宋"/>
                </a:rPr>
                <a:t>净</a:t>
              </a:r>
            </a:p>
          </p:txBody>
        </p:sp>
      </p:grpSp>
      <p:sp>
        <p:nvSpPr>
          <p:cNvPr id="114" name="Rectangle 119"/>
          <p:cNvSpPr>
            <a:spLocks noChangeArrowheads="1"/>
          </p:cNvSpPr>
          <p:nvPr/>
        </p:nvSpPr>
        <p:spPr bwMode="auto">
          <a:xfrm>
            <a:off x="1809750" y="3495675"/>
            <a:ext cx="2257425" cy="371475"/>
          </a:xfrm>
          <a:prstGeom prst="rect">
            <a:avLst/>
          </a:prstGeom>
          <a:noFill/>
          <a:ln w="9525">
            <a:noFill/>
            <a:miter lim="800000"/>
            <a:headEnd/>
            <a:tailEnd/>
          </a:ln>
        </p:spPr>
        <p:txBody>
          <a:bodyPr>
            <a:spAutoFit/>
          </a:bodyPr>
          <a:lstStyle/>
          <a:p>
            <a:pPr eaLnBrk="0" hangingPunct="0">
              <a:lnSpc>
                <a:spcPct val="110000"/>
              </a:lnSpc>
            </a:pPr>
            <a:r>
              <a:rPr lang="en-US" altLang="zh-CN" b="1" i="1">
                <a:solidFill>
                  <a:srgbClr val="000000"/>
                </a:solidFill>
                <a:latin typeface="Times New Roman" pitchFamily="18" charset="0"/>
              </a:rPr>
              <a:t>W</a:t>
            </a:r>
            <a:r>
              <a:rPr lang="zh-CN" altLang="en-US" b="1" baseline="-25000">
                <a:solidFill>
                  <a:srgbClr val="000000"/>
                </a:solidFill>
                <a:latin typeface="Times New Roman" pitchFamily="18" charset="0"/>
              </a:rPr>
              <a:t>外</a:t>
            </a:r>
            <a:r>
              <a:rPr lang="zh-CN" altLang="en-US" b="1">
                <a:solidFill>
                  <a:srgbClr val="000000"/>
                </a:solidFill>
                <a:latin typeface="Times New Roman" pitchFamily="18" charset="0"/>
              </a:rPr>
              <a:t>＝</a:t>
            </a:r>
            <a:r>
              <a:rPr lang="en-US" altLang="zh-CN" b="1">
                <a:solidFill>
                  <a:srgbClr val="000000"/>
                </a:solidFill>
                <a:latin typeface="Times New Roman" pitchFamily="18" charset="0"/>
              </a:rPr>
              <a:t>|</a:t>
            </a:r>
            <a:r>
              <a:rPr lang="en-US" altLang="zh-CN" b="1" i="1">
                <a:solidFill>
                  <a:srgbClr val="000000"/>
                </a:solidFill>
                <a:latin typeface="Times New Roman" pitchFamily="18" charset="0"/>
              </a:rPr>
              <a:t>W</a:t>
            </a:r>
            <a:r>
              <a:rPr lang="zh-CN" altLang="en-US" b="1" baseline="-25000">
                <a:solidFill>
                  <a:srgbClr val="000000"/>
                </a:solidFill>
                <a:latin typeface="Times New Roman" pitchFamily="18" charset="0"/>
              </a:rPr>
              <a:t>净</a:t>
            </a:r>
            <a:r>
              <a:rPr lang="zh-CN" altLang="en-US" b="1">
                <a:solidFill>
                  <a:srgbClr val="3333FF"/>
                </a:solidFill>
                <a:latin typeface="Times New Roman" pitchFamily="18" charset="0"/>
              </a:rPr>
              <a:t> </a:t>
            </a:r>
            <a:r>
              <a:rPr lang="en-US" altLang="zh-CN" b="1">
                <a:solidFill>
                  <a:srgbClr val="000000"/>
                </a:solidFill>
                <a:latin typeface="Times New Roman" pitchFamily="18" charset="0"/>
              </a:rPr>
              <a:t>|</a:t>
            </a:r>
          </a:p>
        </p:txBody>
      </p:sp>
      <p:sp>
        <p:nvSpPr>
          <p:cNvPr id="115" name="Text Box 141"/>
          <p:cNvSpPr txBox="1">
            <a:spLocks noChangeArrowheads="1"/>
          </p:cNvSpPr>
          <p:nvPr/>
        </p:nvSpPr>
        <p:spPr bwMode="auto">
          <a:xfrm>
            <a:off x="1187450" y="4098925"/>
            <a:ext cx="1271588" cy="369888"/>
          </a:xfrm>
          <a:prstGeom prst="rect">
            <a:avLst/>
          </a:prstGeom>
          <a:noFill/>
          <a:ln w="9525">
            <a:noFill/>
            <a:miter lim="800000"/>
            <a:headEnd/>
            <a:tailEnd/>
          </a:ln>
        </p:spPr>
        <p:txBody>
          <a:bodyPr>
            <a:spAutoFit/>
          </a:bodyPr>
          <a:lstStyle/>
          <a:p>
            <a:r>
              <a:rPr lang="zh-CN" altLang="en-US" b="1">
                <a:solidFill>
                  <a:srgbClr val="FF3300"/>
                </a:solidFill>
                <a:latin typeface="华文中宋"/>
                <a:ea typeface="华文中宋"/>
                <a:cs typeface="华文中宋"/>
              </a:rPr>
              <a:t>致冷系数</a:t>
            </a:r>
            <a:r>
              <a:rPr lang="en-US" altLang="zh-CN" b="1">
                <a:solidFill>
                  <a:srgbClr val="FF3300"/>
                </a:solidFill>
                <a:latin typeface="华文中宋"/>
                <a:ea typeface="华文中宋"/>
                <a:cs typeface="华文中宋"/>
              </a:rPr>
              <a:t>:</a:t>
            </a:r>
          </a:p>
        </p:txBody>
      </p:sp>
      <p:graphicFrame>
        <p:nvGraphicFramePr>
          <p:cNvPr id="116" name="Object 41"/>
          <p:cNvGraphicFramePr>
            <a:graphicFrameLocks noChangeAspect="1"/>
          </p:cNvGraphicFramePr>
          <p:nvPr/>
        </p:nvGraphicFramePr>
        <p:xfrm>
          <a:off x="2484438" y="3960813"/>
          <a:ext cx="2447925" cy="646112"/>
        </p:xfrm>
        <a:graphic>
          <a:graphicData uri="http://schemas.openxmlformats.org/presentationml/2006/ole">
            <p:oleObj spid="_x0000_s27689" name="公式" r:id="rId6" imgW="1282700" imgH="457200" progId="Equation.3">
              <p:embed/>
            </p:oleObj>
          </a:graphicData>
        </a:graphic>
      </p:graphicFrame>
      <p:grpSp>
        <p:nvGrpSpPr>
          <p:cNvPr id="3" name="组合 51"/>
          <p:cNvGrpSpPr>
            <a:grpSpLocks/>
          </p:cNvGrpSpPr>
          <p:nvPr/>
        </p:nvGrpSpPr>
        <p:grpSpPr bwMode="auto">
          <a:xfrm>
            <a:off x="6024563" y="1085850"/>
            <a:ext cx="2363787" cy="1377950"/>
            <a:chOff x="3717991" y="3347530"/>
            <a:chExt cx="2363090" cy="1836738"/>
          </a:xfrm>
        </p:grpSpPr>
        <p:sp>
          <p:nvSpPr>
            <p:cNvPr id="54" name="Freeform 248" descr="5%"/>
            <p:cNvSpPr>
              <a:spLocks/>
            </p:cNvSpPr>
            <p:nvPr/>
          </p:nvSpPr>
          <p:spPr bwMode="auto">
            <a:xfrm>
              <a:off x="4279800" y="3639546"/>
              <a:ext cx="1363260" cy="681371"/>
            </a:xfrm>
            <a:custGeom>
              <a:avLst/>
              <a:gdLst>
                <a:gd name="T0" fmla="*/ 31 w 930"/>
                <a:gd name="T1" fmla="*/ 61 h 496"/>
                <a:gd name="T2" fmla="*/ 512 w 930"/>
                <a:gd name="T3" fmla="*/ 65 h 496"/>
                <a:gd name="T4" fmla="*/ 877 w 930"/>
                <a:gd name="T5" fmla="*/ 333 h 496"/>
                <a:gd name="T6" fmla="*/ 829 w 930"/>
                <a:gd name="T7" fmla="*/ 455 h 496"/>
                <a:gd name="T8" fmla="*/ 323 w 930"/>
                <a:gd name="T9" fmla="*/ 430 h 496"/>
                <a:gd name="T10" fmla="*/ 31 w 930"/>
                <a:gd name="T11" fmla="*/ 61 h 496"/>
                <a:gd name="T12" fmla="*/ 0 60000 65536"/>
                <a:gd name="T13" fmla="*/ 0 60000 65536"/>
                <a:gd name="T14" fmla="*/ 0 60000 65536"/>
                <a:gd name="T15" fmla="*/ 0 60000 65536"/>
                <a:gd name="T16" fmla="*/ 0 60000 65536"/>
                <a:gd name="T17" fmla="*/ 0 60000 65536"/>
                <a:gd name="T18" fmla="*/ 0 w 930"/>
                <a:gd name="T19" fmla="*/ 0 h 496"/>
                <a:gd name="T20" fmla="*/ 930 w 930"/>
                <a:gd name="T21" fmla="*/ 496 h 496"/>
                <a:gd name="connsiteX0" fmla="*/ 85 w 9531"/>
                <a:gd name="connsiteY0" fmla="*/ 676 h 8685"/>
                <a:gd name="connsiteX1" fmla="*/ 5257 w 9531"/>
                <a:gd name="connsiteY1" fmla="*/ 756 h 8685"/>
                <a:gd name="connsiteX2" fmla="*/ 9182 w 9531"/>
                <a:gd name="connsiteY2" fmla="*/ 6160 h 8685"/>
                <a:gd name="connsiteX3" fmla="*/ 8666 w 9531"/>
                <a:gd name="connsiteY3" fmla="*/ 8619 h 8685"/>
                <a:gd name="connsiteX4" fmla="*/ 2522 w 9531"/>
                <a:gd name="connsiteY4" fmla="*/ 6721 h 8685"/>
                <a:gd name="connsiteX5" fmla="*/ 85 w 9531"/>
                <a:gd name="connsiteY5" fmla="*/ 676 h 8685"/>
                <a:gd name="connsiteX0" fmla="*/ 159 w 9973"/>
                <a:gd name="connsiteY0" fmla="*/ 712 h 9934"/>
                <a:gd name="connsiteX1" fmla="*/ 6927 w 9973"/>
                <a:gd name="connsiteY1" fmla="*/ 938 h 9934"/>
                <a:gd name="connsiteX2" fmla="*/ 9704 w 9973"/>
                <a:gd name="connsiteY2" fmla="*/ 7027 h 9934"/>
                <a:gd name="connsiteX3" fmla="*/ 9162 w 9973"/>
                <a:gd name="connsiteY3" fmla="*/ 9858 h 9934"/>
                <a:gd name="connsiteX4" fmla="*/ 2716 w 9973"/>
                <a:gd name="connsiteY4" fmla="*/ 7673 h 9934"/>
                <a:gd name="connsiteX5" fmla="*/ 159 w 9973"/>
                <a:gd name="connsiteY5" fmla="*/ 712 h 9934"/>
                <a:gd name="connsiteX0" fmla="*/ 176 w 10017"/>
                <a:gd name="connsiteY0" fmla="*/ 735 h 10035"/>
                <a:gd name="connsiteX1" fmla="*/ 6963 w 10017"/>
                <a:gd name="connsiteY1" fmla="*/ 962 h 10035"/>
                <a:gd name="connsiteX2" fmla="*/ 9747 w 10017"/>
                <a:gd name="connsiteY2" fmla="*/ 7092 h 10035"/>
                <a:gd name="connsiteX3" fmla="*/ 9204 w 10017"/>
                <a:gd name="connsiteY3" fmla="*/ 9941 h 10035"/>
                <a:gd name="connsiteX4" fmla="*/ 2606 w 10017"/>
                <a:gd name="connsiteY4" fmla="*/ 8011 h 10035"/>
                <a:gd name="connsiteX5" fmla="*/ 176 w 10017"/>
                <a:gd name="connsiteY5" fmla="*/ 735 h 10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17" h="10035">
                  <a:moveTo>
                    <a:pt x="176" y="735"/>
                  </a:moveTo>
                  <a:cubicBezTo>
                    <a:pt x="902" y="-440"/>
                    <a:pt x="5367" y="-89"/>
                    <a:pt x="6963" y="962"/>
                  </a:cubicBezTo>
                  <a:cubicBezTo>
                    <a:pt x="8558" y="2015"/>
                    <a:pt x="9374" y="5595"/>
                    <a:pt x="9747" y="7092"/>
                  </a:cubicBezTo>
                  <a:cubicBezTo>
                    <a:pt x="10120" y="8589"/>
                    <a:pt x="10245" y="9568"/>
                    <a:pt x="9204" y="9941"/>
                  </a:cubicBezTo>
                  <a:cubicBezTo>
                    <a:pt x="8164" y="10316"/>
                    <a:pt x="4110" y="9553"/>
                    <a:pt x="2606" y="8011"/>
                  </a:cubicBezTo>
                  <a:cubicBezTo>
                    <a:pt x="1102" y="6469"/>
                    <a:pt x="-550" y="1910"/>
                    <a:pt x="176" y="735"/>
                  </a:cubicBezTo>
                  <a:close/>
                </a:path>
              </a:pathLst>
            </a:custGeom>
            <a:pattFill prst="dashVert">
              <a:fgClr>
                <a:schemeClr val="accent6">
                  <a:lumMod val="40000"/>
                  <a:lumOff val="60000"/>
                </a:schemeClr>
              </a:fgClr>
              <a:bgClr>
                <a:schemeClr val="bg1"/>
              </a:bgClr>
            </a:pattFill>
            <a:ln w="19050">
              <a:solidFill>
                <a:srgbClr val="00B0F0"/>
              </a:solidFill>
              <a:round/>
              <a:headEnd/>
              <a:tailEnd/>
            </a:ln>
          </p:spPr>
          <p:txBody>
            <a:bodyPr/>
            <a:lstStyle/>
            <a:p>
              <a:pPr fontAlgn="auto">
                <a:spcBef>
                  <a:spcPts val="0"/>
                </a:spcBef>
                <a:spcAft>
                  <a:spcPts val="0"/>
                </a:spcAft>
                <a:defRPr/>
              </a:pPr>
              <a:endParaRPr lang="zh-CN" altLang="en-US">
                <a:solidFill>
                  <a:prstClr val="black"/>
                </a:solidFill>
                <a:latin typeface="+mn-lt"/>
                <a:ea typeface="+mn-ea"/>
              </a:endParaRPr>
            </a:p>
          </p:txBody>
        </p:sp>
        <p:sp>
          <p:nvSpPr>
            <p:cNvPr id="27706" name="Line 221"/>
            <p:cNvSpPr>
              <a:spLocks noChangeShapeType="1"/>
            </p:cNvSpPr>
            <p:nvPr/>
          </p:nvSpPr>
          <p:spPr bwMode="auto">
            <a:xfrm>
              <a:off x="3978341" y="4876293"/>
              <a:ext cx="1892107" cy="0"/>
            </a:xfrm>
            <a:prstGeom prst="line">
              <a:avLst/>
            </a:prstGeom>
            <a:noFill/>
            <a:ln w="9525">
              <a:solidFill>
                <a:srgbClr val="0070C0"/>
              </a:solidFill>
              <a:round/>
              <a:headEnd/>
              <a:tailEnd type="triangle" w="med" len="med"/>
            </a:ln>
          </p:spPr>
          <p:txBody>
            <a:bodyPr/>
            <a:lstStyle/>
            <a:p>
              <a:endParaRPr lang="zh-CN" altLang="en-US"/>
            </a:p>
          </p:txBody>
        </p:sp>
        <p:sp>
          <p:nvSpPr>
            <p:cNvPr id="27707" name="Line 222"/>
            <p:cNvSpPr>
              <a:spLocks noChangeShapeType="1"/>
            </p:cNvSpPr>
            <p:nvPr/>
          </p:nvSpPr>
          <p:spPr bwMode="auto">
            <a:xfrm flipV="1">
              <a:off x="3981516" y="3484055"/>
              <a:ext cx="0" cy="1401763"/>
            </a:xfrm>
            <a:prstGeom prst="line">
              <a:avLst/>
            </a:prstGeom>
            <a:noFill/>
            <a:ln w="9525">
              <a:solidFill>
                <a:srgbClr val="0070C0"/>
              </a:solidFill>
              <a:round/>
              <a:headEnd/>
              <a:tailEnd type="triangle" w="med" len="med"/>
            </a:ln>
          </p:spPr>
          <p:txBody>
            <a:bodyPr/>
            <a:lstStyle/>
            <a:p>
              <a:endParaRPr lang="zh-CN" altLang="en-US"/>
            </a:p>
          </p:txBody>
        </p:sp>
        <p:sp>
          <p:nvSpPr>
            <p:cNvPr id="27708" name="Line 224"/>
            <p:cNvSpPr>
              <a:spLocks noChangeShapeType="1"/>
            </p:cNvSpPr>
            <p:nvPr/>
          </p:nvSpPr>
          <p:spPr bwMode="auto">
            <a:xfrm>
              <a:off x="4271203" y="3741230"/>
              <a:ext cx="0" cy="1123950"/>
            </a:xfrm>
            <a:prstGeom prst="line">
              <a:avLst/>
            </a:prstGeom>
            <a:noFill/>
            <a:ln w="9525">
              <a:solidFill>
                <a:srgbClr val="000000"/>
              </a:solidFill>
              <a:prstDash val="dash"/>
              <a:round/>
              <a:headEnd/>
              <a:tailEnd/>
            </a:ln>
          </p:spPr>
          <p:txBody>
            <a:bodyPr/>
            <a:lstStyle/>
            <a:p>
              <a:endParaRPr lang="zh-CN" altLang="en-US"/>
            </a:p>
          </p:txBody>
        </p:sp>
        <p:sp>
          <p:nvSpPr>
            <p:cNvPr id="27709" name="Line 225"/>
            <p:cNvSpPr>
              <a:spLocks noChangeShapeType="1"/>
            </p:cNvSpPr>
            <p:nvPr/>
          </p:nvSpPr>
          <p:spPr bwMode="auto">
            <a:xfrm>
              <a:off x="5654297" y="4233355"/>
              <a:ext cx="0" cy="642938"/>
            </a:xfrm>
            <a:prstGeom prst="line">
              <a:avLst/>
            </a:prstGeom>
            <a:noFill/>
            <a:ln w="9525">
              <a:solidFill>
                <a:srgbClr val="000000"/>
              </a:solidFill>
              <a:prstDash val="dash"/>
              <a:round/>
              <a:headEnd/>
              <a:tailEnd/>
            </a:ln>
          </p:spPr>
          <p:txBody>
            <a:bodyPr/>
            <a:lstStyle/>
            <a:p>
              <a:endParaRPr lang="zh-CN" altLang="en-US"/>
            </a:p>
          </p:txBody>
        </p:sp>
        <p:sp>
          <p:nvSpPr>
            <p:cNvPr id="27710" name="Text Box 226"/>
            <p:cNvSpPr txBox="1">
              <a:spLocks noChangeArrowheads="1"/>
            </p:cNvSpPr>
            <p:nvPr/>
          </p:nvSpPr>
          <p:spPr bwMode="auto">
            <a:xfrm>
              <a:off x="4064066" y="3465005"/>
              <a:ext cx="361950" cy="393700"/>
            </a:xfrm>
            <a:prstGeom prst="rect">
              <a:avLst/>
            </a:prstGeom>
            <a:noFill/>
            <a:ln w="9525">
              <a:noFill/>
              <a:miter lim="800000"/>
              <a:headEnd/>
              <a:tailEnd/>
            </a:ln>
          </p:spPr>
          <p:txBody>
            <a:bodyPr/>
            <a:lstStyle/>
            <a:p>
              <a:pPr algn="just"/>
              <a:r>
                <a:rPr lang="en-US" altLang="zh-CN" b="1" i="1">
                  <a:solidFill>
                    <a:srgbClr val="000000"/>
                  </a:solidFill>
                  <a:latin typeface="Times New Roman" pitchFamily="18" charset="0"/>
                </a:rPr>
                <a:t>a</a:t>
              </a:r>
              <a:endParaRPr lang="en-US" altLang="zh-CN" b="1">
                <a:solidFill>
                  <a:srgbClr val="000000"/>
                </a:solidFill>
                <a:latin typeface="Times New Roman" pitchFamily="18" charset="0"/>
              </a:endParaRPr>
            </a:p>
          </p:txBody>
        </p:sp>
        <p:sp>
          <p:nvSpPr>
            <p:cNvPr id="27711" name="Text Box 228"/>
            <p:cNvSpPr txBox="1">
              <a:spLocks noChangeArrowheads="1"/>
            </p:cNvSpPr>
            <p:nvPr/>
          </p:nvSpPr>
          <p:spPr bwMode="auto">
            <a:xfrm>
              <a:off x="5643629" y="4034918"/>
              <a:ext cx="309563" cy="327025"/>
            </a:xfrm>
            <a:prstGeom prst="rect">
              <a:avLst/>
            </a:prstGeom>
            <a:noFill/>
            <a:ln w="9525">
              <a:noFill/>
              <a:miter lim="800000"/>
              <a:headEnd/>
              <a:tailEnd/>
            </a:ln>
          </p:spPr>
          <p:txBody>
            <a:bodyPr/>
            <a:lstStyle/>
            <a:p>
              <a:pPr algn="just"/>
              <a:r>
                <a:rPr lang="en-US" altLang="zh-CN" b="1" i="1">
                  <a:solidFill>
                    <a:srgbClr val="000000"/>
                  </a:solidFill>
                  <a:latin typeface="Times New Roman" pitchFamily="18" charset="0"/>
                </a:rPr>
                <a:t>c</a:t>
              </a:r>
              <a:endParaRPr lang="en-US" altLang="zh-CN" b="1">
                <a:solidFill>
                  <a:srgbClr val="000000"/>
                </a:solidFill>
                <a:latin typeface="Times New Roman" pitchFamily="18" charset="0"/>
              </a:endParaRPr>
            </a:p>
          </p:txBody>
        </p:sp>
        <p:sp>
          <p:nvSpPr>
            <p:cNvPr id="27712" name="Text Box 230"/>
            <p:cNvSpPr txBox="1">
              <a:spLocks noChangeArrowheads="1"/>
            </p:cNvSpPr>
            <p:nvPr/>
          </p:nvSpPr>
          <p:spPr bwMode="auto">
            <a:xfrm>
              <a:off x="4173604" y="4801680"/>
              <a:ext cx="447675" cy="361950"/>
            </a:xfrm>
            <a:prstGeom prst="rect">
              <a:avLst/>
            </a:prstGeom>
            <a:noFill/>
            <a:ln w="9525">
              <a:noFill/>
              <a:miter lim="800000"/>
              <a:headEnd/>
              <a:tailEnd/>
            </a:ln>
          </p:spPr>
          <p:txBody>
            <a:bodyPr/>
            <a:lstStyle/>
            <a:p>
              <a:pPr algn="just"/>
              <a:r>
                <a:rPr lang="en-US" altLang="zh-CN" sz="1500" b="1" i="1">
                  <a:solidFill>
                    <a:srgbClr val="000000"/>
                  </a:solidFill>
                  <a:latin typeface="Times New Roman" pitchFamily="18" charset="0"/>
                </a:rPr>
                <a:t>V</a:t>
              </a:r>
              <a:r>
                <a:rPr lang="en-US" altLang="zh-CN" sz="1500" b="1" i="1" baseline="-25000">
                  <a:solidFill>
                    <a:srgbClr val="000000"/>
                  </a:solidFill>
                  <a:latin typeface="Times New Roman" pitchFamily="18" charset="0"/>
                </a:rPr>
                <a:t>a</a:t>
              </a:r>
              <a:endParaRPr lang="en-US" altLang="zh-CN" sz="1500" b="1">
                <a:solidFill>
                  <a:srgbClr val="000000"/>
                </a:solidFill>
                <a:latin typeface="Times New Roman" pitchFamily="18" charset="0"/>
              </a:endParaRPr>
            </a:p>
          </p:txBody>
        </p:sp>
        <p:sp>
          <p:nvSpPr>
            <p:cNvPr id="27713" name="Text Box 231"/>
            <p:cNvSpPr txBox="1">
              <a:spLocks noChangeArrowheads="1"/>
            </p:cNvSpPr>
            <p:nvPr/>
          </p:nvSpPr>
          <p:spPr bwMode="auto">
            <a:xfrm>
              <a:off x="5320795" y="4808030"/>
              <a:ext cx="409575" cy="376238"/>
            </a:xfrm>
            <a:prstGeom prst="rect">
              <a:avLst/>
            </a:prstGeom>
            <a:noFill/>
            <a:ln w="9525">
              <a:noFill/>
              <a:miter lim="800000"/>
              <a:headEnd/>
              <a:tailEnd/>
            </a:ln>
          </p:spPr>
          <p:txBody>
            <a:bodyPr/>
            <a:lstStyle/>
            <a:p>
              <a:pPr algn="just"/>
              <a:r>
                <a:rPr lang="en-US" altLang="zh-CN" sz="1500" b="1" i="1">
                  <a:solidFill>
                    <a:srgbClr val="000000"/>
                  </a:solidFill>
                  <a:latin typeface="Times New Roman" pitchFamily="18" charset="0"/>
                </a:rPr>
                <a:t>V</a:t>
              </a:r>
              <a:r>
                <a:rPr lang="en-US" altLang="zh-CN" sz="1500" b="1" i="1" baseline="-25000">
                  <a:solidFill>
                    <a:srgbClr val="000000"/>
                  </a:solidFill>
                  <a:latin typeface="Times New Roman" pitchFamily="18" charset="0"/>
                </a:rPr>
                <a:t>c</a:t>
              </a:r>
              <a:endParaRPr lang="en-US" altLang="zh-CN" sz="1500" b="1">
                <a:solidFill>
                  <a:srgbClr val="000000"/>
                </a:solidFill>
                <a:latin typeface="Times New Roman" pitchFamily="18" charset="0"/>
              </a:endParaRPr>
            </a:p>
          </p:txBody>
        </p:sp>
        <p:sp>
          <p:nvSpPr>
            <p:cNvPr id="27714" name="Text Box 232"/>
            <p:cNvSpPr txBox="1">
              <a:spLocks noChangeArrowheads="1"/>
            </p:cNvSpPr>
            <p:nvPr/>
          </p:nvSpPr>
          <p:spPr bwMode="auto">
            <a:xfrm>
              <a:off x="5703256" y="4809364"/>
              <a:ext cx="377825" cy="366713"/>
            </a:xfrm>
            <a:prstGeom prst="rect">
              <a:avLst/>
            </a:prstGeom>
            <a:noFill/>
            <a:ln w="9525">
              <a:noFill/>
              <a:miter lim="800000"/>
              <a:headEnd/>
              <a:tailEnd/>
            </a:ln>
          </p:spPr>
          <p:txBody>
            <a:bodyPr/>
            <a:lstStyle/>
            <a:p>
              <a:pPr algn="just"/>
              <a:r>
                <a:rPr lang="en-US" altLang="zh-CN" sz="1500" b="1" i="1">
                  <a:solidFill>
                    <a:srgbClr val="000000"/>
                  </a:solidFill>
                  <a:latin typeface="Times New Roman" pitchFamily="18" charset="0"/>
                </a:rPr>
                <a:t>V</a:t>
              </a:r>
              <a:endParaRPr lang="en-US" altLang="zh-CN" sz="1500" b="1">
                <a:solidFill>
                  <a:srgbClr val="000000"/>
                </a:solidFill>
                <a:latin typeface="Times New Roman" pitchFamily="18" charset="0"/>
              </a:endParaRPr>
            </a:p>
          </p:txBody>
        </p:sp>
        <p:sp>
          <p:nvSpPr>
            <p:cNvPr id="27715" name="Text Box 233"/>
            <p:cNvSpPr txBox="1">
              <a:spLocks noChangeArrowheads="1"/>
            </p:cNvSpPr>
            <p:nvPr/>
          </p:nvSpPr>
          <p:spPr bwMode="auto">
            <a:xfrm>
              <a:off x="3719579" y="4776280"/>
              <a:ext cx="339725" cy="327025"/>
            </a:xfrm>
            <a:prstGeom prst="rect">
              <a:avLst/>
            </a:prstGeom>
            <a:noFill/>
            <a:ln w="9525">
              <a:noFill/>
              <a:miter lim="800000"/>
              <a:headEnd/>
              <a:tailEnd/>
            </a:ln>
          </p:spPr>
          <p:txBody>
            <a:bodyPr/>
            <a:lstStyle/>
            <a:p>
              <a:pPr algn="just"/>
              <a:r>
                <a:rPr lang="en-US" altLang="zh-CN" sz="1500" b="1" i="1">
                  <a:solidFill>
                    <a:srgbClr val="000000"/>
                  </a:solidFill>
                  <a:latin typeface="Times New Roman" pitchFamily="18" charset="0"/>
                </a:rPr>
                <a:t>O</a:t>
              </a:r>
              <a:endParaRPr lang="en-US" altLang="zh-CN" sz="1500" b="1">
                <a:solidFill>
                  <a:srgbClr val="000000"/>
                </a:solidFill>
                <a:latin typeface="Times New Roman" pitchFamily="18" charset="0"/>
              </a:endParaRPr>
            </a:p>
          </p:txBody>
        </p:sp>
        <p:sp>
          <p:nvSpPr>
            <p:cNvPr id="27716" name="Text Box 234"/>
            <p:cNvSpPr txBox="1">
              <a:spLocks noChangeArrowheads="1"/>
            </p:cNvSpPr>
            <p:nvPr/>
          </p:nvSpPr>
          <p:spPr bwMode="auto">
            <a:xfrm>
              <a:off x="3717991" y="3347530"/>
              <a:ext cx="341313" cy="427038"/>
            </a:xfrm>
            <a:prstGeom prst="rect">
              <a:avLst/>
            </a:prstGeom>
            <a:noFill/>
            <a:ln w="9525">
              <a:noFill/>
              <a:miter lim="800000"/>
              <a:headEnd/>
              <a:tailEnd/>
            </a:ln>
          </p:spPr>
          <p:txBody>
            <a:bodyPr/>
            <a:lstStyle/>
            <a:p>
              <a:pPr algn="just"/>
              <a:r>
                <a:rPr lang="en-US" altLang="zh-CN" sz="1500" b="1" i="1">
                  <a:solidFill>
                    <a:srgbClr val="000000"/>
                  </a:solidFill>
                  <a:latin typeface="Times New Roman" pitchFamily="18" charset="0"/>
                </a:rPr>
                <a:t>p</a:t>
              </a:r>
              <a:endParaRPr lang="en-US" altLang="zh-CN" sz="1500" b="1">
                <a:solidFill>
                  <a:srgbClr val="000000"/>
                </a:solidFill>
                <a:latin typeface="Times New Roman" pitchFamily="18" charset="0"/>
              </a:endParaRPr>
            </a:p>
          </p:txBody>
        </p:sp>
        <p:sp>
          <p:nvSpPr>
            <p:cNvPr id="27717" name="Text Box 237"/>
            <p:cNvSpPr txBox="1">
              <a:spLocks noChangeArrowheads="1"/>
            </p:cNvSpPr>
            <p:nvPr/>
          </p:nvSpPr>
          <p:spPr bwMode="auto">
            <a:xfrm>
              <a:off x="4595815" y="3738754"/>
              <a:ext cx="607121" cy="420688"/>
            </a:xfrm>
            <a:prstGeom prst="rect">
              <a:avLst/>
            </a:prstGeom>
            <a:noFill/>
            <a:ln w="9525">
              <a:noFill/>
              <a:miter lim="800000"/>
              <a:headEnd/>
              <a:tailEnd/>
            </a:ln>
          </p:spPr>
          <p:txBody>
            <a:bodyPr/>
            <a:lstStyle/>
            <a:p>
              <a:pPr algn="just"/>
              <a:r>
                <a:rPr lang="en-US" altLang="zh-CN" sz="1500" b="1" i="1">
                  <a:solidFill>
                    <a:srgbClr val="0000FF"/>
                  </a:solidFill>
                  <a:latin typeface="Times New Roman" pitchFamily="18" charset="0"/>
                </a:rPr>
                <a:t>W</a:t>
              </a:r>
              <a:r>
                <a:rPr lang="zh-CN" altLang="en-US" sz="1500" b="1" baseline="-25000">
                  <a:solidFill>
                    <a:srgbClr val="0000FF"/>
                  </a:solidFill>
                  <a:latin typeface="Times New Roman" pitchFamily="18" charset="0"/>
                </a:rPr>
                <a:t>净</a:t>
              </a:r>
              <a:endParaRPr lang="zh-CN" altLang="en-US" sz="1500" b="1">
                <a:solidFill>
                  <a:srgbClr val="0000FF"/>
                </a:solidFill>
                <a:latin typeface="Times New Roman" pitchFamily="18" charset="0"/>
              </a:endParaRPr>
            </a:p>
          </p:txBody>
        </p:sp>
        <p:sp>
          <p:nvSpPr>
            <p:cNvPr id="27718" name="Line 261"/>
            <p:cNvSpPr>
              <a:spLocks noChangeShapeType="1"/>
            </p:cNvSpPr>
            <p:nvPr/>
          </p:nvSpPr>
          <p:spPr bwMode="auto">
            <a:xfrm flipH="1" flipV="1">
              <a:off x="4718304" y="4215383"/>
              <a:ext cx="137159" cy="45719"/>
            </a:xfrm>
            <a:prstGeom prst="line">
              <a:avLst/>
            </a:prstGeom>
            <a:noFill/>
            <a:ln w="9525">
              <a:solidFill>
                <a:srgbClr val="00B0F0"/>
              </a:solidFill>
              <a:round/>
              <a:headEnd type="triangle" w="med" len="med"/>
              <a:tailEnd/>
            </a:ln>
          </p:spPr>
          <p:txBody>
            <a:bodyPr/>
            <a:lstStyle/>
            <a:p>
              <a:endParaRPr lang="zh-CN" altLang="en-US"/>
            </a:p>
          </p:txBody>
        </p:sp>
        <p:sp>
          <p:nvSpPr>
            <p:cNvPr id="27719" name="Line 260"/>
            <p:cNvSpPr>
              <a:spLocks noChangeShapeType="1"/>
            </p:cNvSpPr>
            <p:nvPr/>
          </p:nvSpPr>
          <p:spPr bwMode="auto">
            <a:xfrm>
              <a:off x="5057331" y="3656013"/>
              <a:ext cx="136461" cy="38163"/>
            </a:xfrm>
            <a:prstGeom prst="line">
              <a:avLst/>
            </a:prstGeom>
            <a:noFill/>
            <a:ln w="9525">
              <a:solidFill>
                <a:srgbClr val="00B0F0"/>
              </a:solidFill>
              <a:round/>
              <a:headEnd type="triangle" w="med" len="med"/>
              <a:tailEnd/>
            </a:ln>
          </p:spPr>
          <p:txBody>
            <a:bodyPr/>
            <a:lstStyle/>
            <a:p>
              <a:endParaRPr lang="zh-CN" altLang="en-US"/>
            </a:p>
          </p:txBody>
        </p:sp>
      </p:grpSp>
      <p:grpSp>
        <p:nvGrpSpPr>
          <p:cNvPr id="4" name="组合 77"/>
          <p:cNvGrpSpPr>
            <a:grpSpLocks/>
          </p:cNvGrpSpPr>
          <p:nvPr/>
        </p:nvGrpSpPr>
        <p:grpSpPr bwMode="auto">
          <a:xfrm>
            <a:off x="7089775" y="1009650"/>
            <a:ext cx="457200" cy="1166813"/>
            <a:chOff x="6281928" y="731520"/>
            <a:chExt cx="457200" cy="1554855"/>
          </a:xfrm>
        </p:grpSpPr>
        <p:cxnSp>
          <p:nvCxnSpPr>
            <p:cNvPr id="27701" name="直接箭头连接符 78"/>
            <p:cNvCxnSpPr>
              <a:cxnSpLocks noChangeShapeType="1"/>
            </p:cNvCxnSpPr>
            <p:nvPr/>
          </p:nvCxnSpPr>
          <p:spPr bwMode="auto">
            <a:xfrm flipH="1">
              <a:off x="6464808" y="1636776"/>
              <a:ext cx="128016" cy="301752"/>
            </a:xfrm>
            <a:prstGeom prst="straightConnector1">
              <a:avLst/>
            </a:prstGeom>
            <a:noFill/>
            <a:ln w="19050" algn="ctr">
              <a:solidFill>
                <a:srgbClr val="FF0000"/>
              </a:solidFill>
              <a:round/>
              <a:headEnd type="arrow" w="med" len="med"/>
              <a:tailEnd/>
            </a:ln>
          </p:spPr>
        </p:cxnSp>
        <p:sp>
          <p:nvSpPr>
            <p:cNvPr id="27702" name="TextBox 79"/>
            <p:cNvSpPr txBox="1">
              <a:spLocks noChangeArrowheads="1"/>
            </p:cNvSpPr>
            <p:nvPr/>
          </p:nvSpPr>
          <p:spPr bwMode="auto">
            <a:xfrm>
              <a:off x="6281928" y="1855626"/>
              <a:ext cx="388795" cy="430749"/>
            </a:xfrm>
            <a:prstGeom prst="rect">
              <a:avLst/>
            </a:prstGeom>
            <a:noFill/>
            <a:ln w="9525">
              <a:noFill/>
              <a:miter lim="800000"/>
              <a:headEnd/>
              <a:tailEnd/>
            </a:ln>
          </p:spPr>
          <p:txBody>
            <a:bodyPr wrap="none">
              <a:spAutoFit/>
            </a:bodyPr>
            <a:lstStyle/>
            <a:p>
              <a:r>
                <a:rPr lang="en-US" altLang="zh-CN" sz="1500" b="1" i="1">
                  <a:solidFill>
                    <a:srgbClr val="FF0000"/>
                  </a:solidFill>
                  <a:latin typeface="Times New Roman" pitchFamily="18" charset="0"/>
                </a:rPr>
                <a:t>Q</a:t>
              </a:r>
              <a:r>
                <a:rPr lang="en-US" altLang="zh-CN" sz="1500" b="1" baseline="-25000">
                  <a:solidFill>
                    <a:srgbClr val="FF0000"/>
                  </a:solidFill>
                  <a:latin typeface="Times New Roman" pitchFamily="18" charset="0"/>
                </a:rPr>
                <a:t>2</a:t>
              </a:r>
              <a:endParaRPr lang="en-US" altLang="zh-CN" sz="1500" b="1">
                <a:solidFill>
                  <a:srgbClr val="FF0000"/>
                </a:solidFill>
                <a:latin typeface="Times New Roman" pitchFamily="18" charset="0"/>
              </a:endParaRPr>
            </a:p>
          </p:txBody>
        </p:sp>
        <p:sp>
          <p:nvSpPr>
            <p:cNvPr id="27703" name="TextBox 80"/>
            <p:cNvSpPr txBox="1">
              <a:spLocks noChangeArrowheads="1"/>
            </p:cNvSpPr>
            <p:nvPr/>
          </p:nvSpPr>
          <p:spPr bwMode="auto">
            <a:xfrm>
              <a:off x="6328060" y="731520"/>
              <a:ext cx="388794" cy="430749"/>
            </a:xfrm>
            <a:prstGeom prst="rect">
              <a:avLst/>
            </a:prstGeom>
            <a:noFill/>
            <a:ln w="9525">
              <a:noFill/>
              <a:miter lim="800000"/>
              <a:headEnd/>
              <a:tailEnd/>
            </a:ln>
          </p:spPr>
          <p:txBody>
            <a:bodyPr wrap="none">
              <a:spAutoFit/>
            </a:bodyPr>
            <a:lstStyle/>
            <a:p>
              <a:r>
                <a:rPr lang="en-US" altLang="zh-CN" sz="1500" b="1" i="1">
                  <a:solidFill>
                    <a:srgbClr val="FF0000"/>
                  </a:solidFill>
                  <a:latin typeface="Times New Roman" pitchFamily="18" charset="0"/>
                </a:rPr>
                <a:t>Q</a:t>
              </a:r>
              <a:r>
                <a:rPr lang="en-US" altLang="zh-CN" sz="1500" b="1" baseline="-25000">
                  <a:solidFill>
                    <a:srgbClr val="FF0000"/>
                  </a:solidFill>
                  <a:latin typeface="Times New Roman" pitchFamily="18" charset="0"/>
                </a:rPr>
                <a:t>1</a:t>
              </a:r>
              <a:endParaRPr lang="en-US" altLang="zh-CN" sz="1500" b="1">
                <a:solidFill>
                  <a:srgbClr val="FF0000"/>
                </a:solidFill>
                <a:latin typeface="Times New Roman" pitchFamily="18" charset="0"/>
              </a:endParaRPr>
            </a:p>
          </p:txBody>
        </p:sp>
        <p:cxnSp>
          <p:nvCxnSpPr>
            <p:cNvPr id="27704" name="直接箭头连接符 81"/>
            <p:cNvCxnSpPr>
              <a:cxnSpLocks noChangeShapeType="1"/>
            </p:cNvCxnSpPr>
            <p:nvPr/>
          </p:nvCxnSpPr>
          <p:spPr bwMode="auto">
            <a:xfrm flipH="1">
              <a:off x="6647688" y="996696"/>
              <a:ext cx="91440" cy="438912"/>
            </a:xfrm>
            <a:prstGeom prst="straightConnector1">
              <a:avLst/>
            </a:prstGeom>
            <a:noFill/>
            <a:ln w="19050" algn="ctr">
              <a:solidFill>
                <a:srgbClr val="FF0000"/>
              </a:solidFill>
              <a:round/>
              <a:headEnd type="arrow" w="med" len="med"/>
              <a:tailEnd/>
            </a:ln>
          </p:spPr>
        </p:cxn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5842"/>
                                        </p:tgtEl>
                                        <p:attrNameLst>
                                          <p:attrName>style.visibility</p:attrName>
                                        </p:attrNameLst>
                                      </p:cBhvr>
                                      <p:to>
                                        <p:strVal val="visible"/>
                                      </p:to>
                                    </p:set>
                                    <p:animEffect transition="in" filter="checkerboard(across)">
                                      <p:cBhvr>
                                        <p:cTn id="7" dur="500"/>
                                        <p:tgtEl>
                                          <p:spTgt spid="3584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13"/>
                                        </p:tgtEl>
                                        <p:attrNameLst>
                                          <p:attrName>style.visibility</p:attrName>
                                        </p:attrNameLst>
                                      </p:cBhvr>
                                      <p:to>
                                        <p:strVal val="visible"/>
                                      </p:to>
                                    </p:set>
                                    <p:animEffect transition="in" filter="wipe(left)">
                                      <p:cBhvr>
                                        <p:cTn id="12" dur="500"/>
                                        <p:tgtEl>
                                          <p:spTgt spid="11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5">
                                            <p:txEl>
                                              <p:pRg st="0" end="0"/>
                                            </p:txEl>
                                          </p:spTgt>
                                        </p:tgtEl>
                                        <p:attrNameLst>
                                          <p:attrName>style.visibility</p:attrName>
                                        </p:attrNameLst>
                                      </p:cBhvr>
                                      <p:to>
                                        <p:strVal val="visible"/>
                                      </p:to>
                                    </p:set>
                                    <p:animEffect transition="in" filter="wipe(left)">
                                      <p:cBhvr>
                                        <p:cTn id="17" dur="500"/>
                                        <p:tgtEl>
                                          <p:spTgt spid="75">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6">
                                            <p:txEl>
                                              <p:pRg st="0" end="0"/>
                                            </p:txEl>
                                          </p:spTgt>
                                        </p:tgtEl>
                                        <p:attrNameLst>
                                          <p:attrName>style.visibility</p:attrName>
                                        </p:attrNameLst>
                                      </p:cBhvr>
                                      <p:to>
                                        <p:strVal val="visible"/>
                                      </p:to>
                                    </p:set>
                                    <p:animEffect transition="in" filter="wipe(left)">
                                      <p:cBhvr>
                                        <p:cTn id="22" dur="500"/>
                                        <p:tgtEl>
                                          <p:spTgt spid="76">
                                            <p:txEl>
                                              <p:pRg st="0" end="0"/>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53" presetClass="entr" presetSubtype="16"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anim calcmode="lin" valueType="num">
                                      <p:cBhvr>
                                        <p:cTn id="27" dur="500" fill="hold"/>
                                        <p:tgtEl>
                                          <p:spTgt spid="3"/>
                                        </p:tgtEl>
                                        <p:attrNameLst>
                                          <p:attrName>ppt_w</p:attrName>
                                        </p:attrNameLst>
                                      </p:cBhvr>
                                      <p:tavLst>
                                        <p:tav tm="0">
                                          <p:val>
                                            <p:fltVal val="0"/>
                                          </p:val>
                                        </p:tav>
                                        <p:tav tm="100000">
                                          <p:val>
                                            <p:strVal val="#ppt_w"/>
                                          </p:val>
                                        </p:tav>
                                      </p:tavLst>
                                    </p:anim>
                                    <p:anim calcmode="lin" valueType="num">
                                      <p:cBhvr>
                                        <p:cTn id="28" dur="500" fill="hold"/>
                                        <p:tgtEl>
                                          <p:spTgt spid="3"/>
                                        </p:tgtEl>
                                        <p:attrNameLst>
                                          <p:attrName>ppt_h</p:attrName>
                                        </p:attrNameLst>
                                      </p:cBhvr>
                                      <p:tavLst>
                                        <p:tav tm="0">
                                          <p:val>
                                            <p:fltVal val="0"/>
                                          </p:val>
                                        </p:tav>
                                        <p:tav tm="100000">
                                          <p:val>
                                            <p:strVal val="#ppt_h"/>
                                          </p:val>
                                        </p:tav>
                                      </p:tavLst>
                                    </p:anim>
                                    <p:animEffect transition="in" filter="fade">
                                      <p:cBhvr>
                                        <p:cTn id="29" dur="500"/>
                                        <p:tgtEl>
                                          <p:spTgt spid="3"/>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4" fill="hold" nodeType="clickEffect">
                                  <p:stCondLst>
                                    <p:cond delay="0"/>
                                  </p:stCondLst>
                                  <p:childTnLst>
                                    <p:set>
                                      <p:cBhvr>
                                        <p:cTn id="33" dur="1" fill="hold">
                                          <p:stCondLst>
                                            <p:cond delay="0"/>
                                          </p:stCondLst>
                                        </p:cTn>
                                        <p:tgtEl>
                                          <p:spTgt spid="4"/>
                                        </p:tgtEl>
                                        <p:attrNameLst>
                                          <p:attrName>style.visibility</p:attrName>
                                        </p:attrNameLst>
                                      </p:cBhvr>
                                      <p:to>
                                        <p:strVal val="visible"/>
                                      </p:to>
                                    </p:set>
                                    <p:animEffect transition="in" filter="wipe(down)">
                                      <p:cBhvr>
                                        <p:cTn id="34" dur="500"/>
                                        <p:tgtEl>
                                          <p:spTgt spid="4"/>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83">
                                            <p:txEl>
                                              <p:pRg st="0" end="0"/>
                                            </p:txEl>
                                          </p:spTgt>
                                        </p:tgtEl>
                                        <p:attrNameLst>
                                          <p:attrName>style.visibility</p:attrName>
                                        </p:attrNameLst>
                                      </p:cBhvr>
                                      <p:to>
                                        <p:strVal val="visible"/>
                                      </p:to>
                                    </p:set>
                                    <p:animEffect transition="in" filter="wipe(left)">
                                      <p:cBhvr>
                                        <p:cTn id="39" dur="500"/>
                                        <p:tgtEl>
                                          <p:spTgt spid="83">
                                            <p:txEl>
                                              <p:pRg st="0" end="0"/>
                                            </p:txEl>
                                          </p:spTgt>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84">
                                            <p:txEl>
                                              <p:pRg st="0" end="0"/>
                                            </p:txEl>
                                          </p:spTgt>
                                        </p:tgtEl>
                                        <p:attrNameLst>
                                          <p:attrName>style.visibility</p:attrName>
                                        </p:attrNameLst>
                                      </p:cBhvr>
                                      <p:to>
                                        <p:strVal val="visible"/>
                                      </p:to>
                                    </p:set>
                                    <p:animEffect transition="in" filter="wipe(left)">
                                      <p:cBhvr>
                                        <p:cTn id="44" dur="500"/>
                                        <p:tgtEl>
                                          <p:spTgt spid="84">
                                            <p:txEl>
                                              <p:pRg st="0" end="0"/>
                                            </p:txEl>
                                          </p:spTgt>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114">
                                            <p:txEl>
                                              <p:pRg st="0" end="0"/>
                                            </p:txEl>
                                          </p:spTgt>
                                        </p:tgtEl>
                                        <p:attrNameLst>
                                          <p:attrName>style.visibility</p:attrName>
                                        </p:attrNameLst>
                                      </p:cBhvr>
                                      <p:to>
                                        <p:strVal val="visible"/>
                                      </p:to>
                                    </p:set>
                                    <p:animEffect transition="in" filter="wipe(left)">
                                      <p:cBhvr>
                                        <p:cTn id="49" dur="500"/>
                                        <p:tgtEl>
                                          <p:spTgt spid="114">
                                            <p:txEl>
                                              <p:pRg st="0" end="0"/>
                                            </p:txEl>
                                          </p:spTgt>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115"/>
                                        </p:tgtEl>
                                        <p:attrNameLst>
                                          <p:attrName>style.visibility</p:attrName>
                                        </p:attrNameLst>
                                      </p:cBhvr>
                                      <p:to>
                                        <p:strVal val="visible"/>
                                      </p:to>
                                    </p:set>
                                    <p:animEffect transition="in" filter="wipe(left)">
                                      <p:cBhvr>
                                        <p:cTn id="54" dur="500"/>
                                        <p:tgtEl>
                                          <p:spTgt spid="115"/>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3" presetClass="entr" presetSubtype="10" fill="hold" nodeType="clickEffect">
                                  <p:stCondLst>
                                    <p:cond delay="0"/>
                                  </p:stCondLst>
                                  <p:childTnLst>
                                    <p:set>
                                      <p:cBhvr>
                                        <p:cTn id="58" dur="1" fill="hold">
                                          <p:stCondLst>
                                            <p:cond delay="0"/>
                                          </p:stCondLst>
                                        </p:cTn>
                                        <p:tgtEl>
                                          <p:spTgt spid="2"/>
                                        </p:tgtEl>
                                        <p:attrNameLst>
                                          <p:attrName>style.visibility</p:attrName>
                                        </p:attrNameLst>
                                      </p:cBhvr>
                                      <p:to>
                                        <p:strVal val="visible"/>
                                      </p:to>
                                    </p:set>
                                    <p:animEffect transition="in" filter="blinds(horizontal)">
                                      <p:cBhvr>
                                        <p:cTn id="59" dur="500"/>
                                        <p:tgtEl>
                                          <p:spTgt spid="2"/>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22" presetClass="entr" presetSubtype="8" fill="hold" nodeType="clickEffect">
                                  <p:stCondLst>
                                    <p:cond delay="0"/>
                                  </p:stCondLst>
                                  <p:childTnLst>
                                    <p:set>
                                      <p:cBhvr>
                                        <p:cTn id="63" dur="1" fill="hold">
                                          <p:stCondLst>
                                            <p:cond delay="0"/>
                                          </p:stCondLst>
                                        </p:cTn>
                                        <p:tgtEl>
                                          <p:spTgt spid="116"/>
                                        </p:tgtEl>
                                        <p:attrNameLst>
                                          <p:attrName>style.visibility</p:attrName>
                                        </p:attrNameLst>
                                      </p:cBhvr>
                                      <p:to>
                                        <p:strVal val="visible"/>
                                      </p:to>
                                    </p:set>
                                    <p:animEffect transition="in" filter="wipe(left)">
                                      <p:cBhvr>
                                        <p:cTn id="64" dur="500"/>
                                        <p:tgtEl>
                                          <p:spTgt spid="1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2" grpId="0" autoUpdateAnimBg="0"/>
      <p:bldP spid="113" grpId="0" autoUpdateAnimBg="0"/>
      <p:bldP spid="75" grpId="0" build="p"/>
      <p:bldP spid="76" grpId="0" build="p"/>
      <p:bldP spid="83" grpId="0" build="p"/>
      <p:bldP spid="84" grpId="0" build="p"/>
      <p:bldP spid="114" grpId="0" build="p"/>
      <p:bldP spid="115"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a:spLocks noChangeArrowheads="1"/>
          </p:cNvSpPr>
          <p:nvPr/>
        </p:nvSpPr>
        <p:spPr bwMode="auto">
          <a:xfrm>
            <a:off x="100013" y="871538"/>
            <a:ext cx="2671762" cy="701675"/>
          </a:xfrm>
          <a:prstGeom prst="rect">
            <a:avLst/>
          </a:prstGeom>
          <a:noFill/>
          <a:ln w="9525">
            <a:noFill/>
            <a:miter lim="800000"/>
            <a:headEnd/>
            <a:tailEnd/>
          </a:ln>
        </p:spPr>
        <p:txBody>
          <a:bodyPr anchor="ctr">
            <a:spAutoFit/>
          </a:bodyPr>
          <a:lstStyle/>
          <a:p>
            <a:pPr>
              <a:lnSpc>
                <a:spcPct val="110000"/>
              </a:lnSpc>
            </a:pPr>
            <a:r>
              <a:rPr kumimoji="1" lang="zh-CN" altLang="en-US" b="1">
                <a:solidFill>
                  <a:srgbClr val="000000"/>
                </a:solidFill>
                <a:latin typeface="华文中宋"/>
                <a:ea typeface="华文中宋"/>
                <a:cs typeface="华文中宋"/>
                <a:sym typeface="Symbol" pitchFamily="18" charset="2"/>
              </a:rPr>
              <a:t>例  </a:t>
            </a:r>
            <a:r>
              <a:rPr kumimoji="1" lang="zh-CN" altLang="en-US" b="1">
                <a:solidFill>
                  <a:srgbClr val="000000"/>
                </a:solidFill>
                <a:latin typeface="华文中宋"/>
                <a:ea typeface="华文中宋"/>
                <a:cs typeface="华文中宋"/>
              </a:rPr>
              <a:t>电冰箱的工作原理 </a:t>
            </a:r>
            <a:r>
              <a:rPr kumimoji="1" lang="en-US" altLang="zh-CN" b="1">
                <a:solidFill>
                  <a:srgbClr val="0000FF"/>
                </a:solidFill>
                <a:latin typeface="华文中宋"/>
                <a:ea typeface="华文中宋"/>
                <a:cs typeface="华文中宋"/>
              </a:rPr>
              <a:t>(</a:t>
            </a:r>
            <a:r>
              <a:rPr kumimoji="1" lang="zh-CN" altLang="en-US" b="1">
                <a:solidFill>
                  <a:srgbClr val="0000FF"/>
                </a:solidFill>
                <a:latin typeface="华文中宋"/>
                <a:ea typeface="华文中宋"/>
                <a:cs typeface="华文中宋"/>
              </a:rPr>
              <a:t>工质：氟利昂</a:t>
            </a:r>
            <a:r>
              <a:rPr kumimoji="1" lang="en-US" altLang="zh-CN" b="1">
                <a:solidFill>
                  <a:srgbClr val="0000FF"/>
                </a:solidFill>
                <a:latin typeface="华文中宋"/>
                <a:ea typeface="华文中宋"/>
                <a:cs typeface="华文中宋"/>
              </a:rPr>
              <a:t>)</a:t>
            </a:r>
            <a:endParaRPr kumimoji="1" lang="en-US" altLang="zh-CN" b="1" baseline="-25000">
              <a:solidFill>
                <a:srgbClr val="000000"/>
              </a:solidFill>
              <a:latin typeface="华文中宋"/>
              <a:ea typeface="华文中宋"/>
              <a:cs typeface="华文中宋"/>
            </a:endParaRPr>
          </a:p>
        </p:txBody>
      </p:sp>
      <p:grpSp>
        <p:nvGrpSpPr>
          <p:cNvPr id="2" name="组合 94"/>
          <p:cNvGrpSpPr>
            <a:grpSpLocks/>
          </p:cNvGrpSpPr>
          <p:nvPr/>
        </p:nvGrpSpPr>
        <p:grpSpPr bwMode="auto">
          <a:xfrm>
            <a:off x="2771775" y="1016000"/>
            <a:ext cx="2979738" cy="3552825"/>
            <a:chOff x="4298622" y="1438627"/>
            <a:chExt cx="2978870" cy="4739053"/>
          </a:xfrm>
        </p:grpSpPr>
        <p:sp>
          <p:nvSpPr>
            <p:cNvPr id="93" name="AutoShape 4"/>
            <p:cNvSpPr>
              <a:spLocks noChangeArrowheads="1"/>
            </p:cNvSpPr>
            <p:nvPr/>
          </p:nvSpPr>
          <p:spPr bwMode="auto">
            <a:xfrm>
              <a:off x="4614443" y="5819817"/>
              <a:ext cx="249164" cy="241399"/>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tx2">
                <a:lumMod val="60000"/>
                <a:lumOff val="40000"/>
              </a:schemeClr>
            </a:solidFill>
            <a:ln w="9525">
              <a:solidFill>
                <a:schemeClr val="tx1"/>
              </a:solidFill>
              <a:miter lim="800000"/>
              <a:headEnd/>
              <a:tailEnd/>
            </a:ln>
          </p:spPr>
          <p:txBody>
            <a:bodyPr wrap="none" anchor="ctr"/>
            <a:lstStyle/>
            <a:p>
              <a:pPr>
                <a:defRPr/>
              </a:pPr>
              <a:endParaRPr lang="zh-CN" altLang="en-US">
                <a:solidFill>
                  <a:prstClr val="black"/>
                </a:solidFill>
                <a:latin typeface="Times New Roman" pitchFamily="18" charset="0"/>
                <a:ea typeface="+mn-ea"/>
                <a:cs typeface="Times New Roman" pitchFamily="18" charset="0"/>
              </a:endParaRPr>
            </a:p>
          </p:txBody>
        </p:sp>
        <p:sp>
          <p:nvSpPr>
            <p:cNvPr id="94" name="AutoShape 4"/>
            <p:cNvSpPr>
              <a:spLocks noChangeArrowheads="1"/>
            </p:cNvSpPr>
            <p:nvPr/>
          </p:nvSpPr>
          <p:spPr bwMode="auto">
            <a:xfrm>
              <a:off x="6679178" y="5830404"/>
              <a:ext cx="249165" cy="241399"/>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tx2">
                <a:lumMod val="60000"/>
                <a:lumOff val="40000"/>
              </a:schemeClr>
            </a:solidFill>
            <a:ln w="9525">
              <a:solidFill>
                <a:schemeClr val="tx1"/>
              </a:solidFill>
              <a:miter lim="800000"/>
              <a:headEnd/>
              <a:tailEnd/>
            </a:ln>
          </p:spPr>
          <p:txBody>
            <a:bodyPr wrap="none" anchor="ctr"/>
            <a:lstStyle/>
            <a:p>
              <a:pPr>
                <a:defRPr/>
              </a:pPr>
              <a:endParaRPr lang="zh-CN" altLang="en-US">
                <a:solidFill>
                  <a:prstClr val="black"/>
                </a:solidFill>
                <a:latin typeface="Times New Roman" pitchFamily="18" charset="0"/>
                <a:ea typeface="+mn-ea"/>
                <a:cs typeface="Times New Roman" pitchFamily="18" charset="0"/>
              </a:endParaRPr>
            </a:p>
          </p:txBody>
        </p:sp>
        <p:sp>
          <p:nvSpPr>
            <p:cNvPr id="114710" name="Text Box 23"/>
            <p:cNvSpPr txBox="1">
              <a:spLocks noChangeArrowheads="1"/>
            </p:cNvSpPr>
            <p:nvPr/>
          </p:nvSpPr>
          <p:spPr bwMode="auto">
            <a:xfrm>
              <a:off x="4433521" y="4367185"/>
              <a:ext cx="598313" cy="410803"/>
            </a:xfrm>
            <a:prstGeom prst="rect">
              <a:avLst/>
            </a:prstGeom>
            <a:noFill/>
            <a:ln w="9525">
              <a:noFill/>
              <a:miter lim="800000"/>
              <a:headEnd/>
              <a:tailEnd/>
            </a:ln>
          </p:spPr>
          <p:txBody>
            <a:bodyPr wrap="none">
              <a:spAutoFit/>
            </a:bodyPr>
            <a:lstStyle/>
            <a:p>
              <a:pPr eaLnBrk="0" hangingPunct="0"/>
              <a:r>
                <a:rPr lang="en-US" altLang="zh-CN" sz="1400" b="1">
                  <a:solidFill>
                    <a:srgbClr val="0000FF"/>
                  </a:solidFill>
                  <a:latin typeface="Times New Roman" pitchFamily="18" charset="0"/>
                  <a:cs typeface="Times New Roman" pitchFamily="18" charset="0"/>
                </a:rPr>
                <a:t>20 </a:t>
              </a:r>
              <a:r>
                <a:rPr lang="en-US" altLang="zh-CN" sz="1400" b="1" baseline="30000">
                  <a:solidFill>
                    <a:srgbClr val="0000FF"/>
                  </a:solidFill>
                  <a:latin typeface="Times New Roman" pitchFamily="18" charset="0"/>
                  <a:cs typeface="Times New Roman" pitchFamily="18" charset="0"/>
                </a:rPr>
                <a:t>0</a:t>
              </a:r>
              <a:r>
                <a:rPr lang="en-US" altLang="zh-CN" sz="1400" b="1">
                  <a:solidFill>
                    <a:srgbClr val="0000FF"/>
                  </a:solidFill>
                  <a:latin typeface="Times New Roman" pitchFamily="18" charset="0"/>
                  <a:cs typeface="Times New Roman" pitchFamily="18" charset="0"/>
                </a:rPr>
                <a:t>C</a:t>
              </a:r>
            </a:p>
          </p:txBody>
        </p:sp>
        <p:sp>
          <p:nvSpPr>
            <p:cNvPr id="114711" name="Rectangle 25"/>
            <p:cNvSpPr>
              <a:spLocks noChangeArrowheads="1"/>
            </p:cNvSpPr>
            <p:nvPr/>
          </p:nvSpPr>
          <p:spPr bwMode="auto">
            <a:xfrm>
              <a:off x="4433521" y="2306818"/>
              <a:ext cx="180922" cy="861839"/>
            </a:xfrm>
            <a:prstGeom prst="rect">
              <a:avLst/>
            </a:prstGeom>
            <a:noFill/>
            <a:ln w="9525">
              <a:noFill/>
              <a:miter lim="800000"/>
              <a:headEnd/>
              <a:tailEnd/>
            </a:ln>
          </p:spPr>
          <p:txBody>
            <a:bodyPr wrap="none" lIns="0" tIns="0" rIns="0" bIns="0">
              <a:spAutoFit/>
            </a:bodyPr>
            <a:lstStyle/>
            <a:p>
              <a:pPr algn="ctr"/>
              <a:r>
                <a:rPr kumimoji="1" lang="zh-CN" altLang="en-US" sz="1400" b="1">
                  <a:solidFill>
                    <a:srgbClr val="0000FF"/>
                  </a:solidFill>
                  <a:latin typeface="Times New Roman" pitchFamily="18" charset="0"/>
                  <a:cs typeface="Times New Roman" pitchFamily="18" charset="0"/>
                </a:rPr>
                <a:t>节</a:t>
              </a:r>
            </a:p>
            <a:p>
              <a:pPr algn="ctr"/>
              <a:r>
                <a:rPr kumimoji="1" lang="zh-CN" altLang="en-US" sz="1400" b="1">
                  <a:solidFill>
                    <a:srgbClr val="0000FF"/>
                  </a:solidFill>
                  <a:latin typeface="Times New Roman" pitchFamily="18" charset="0"/>
                  <a:cs typeface="Times New Roman" pitchFamily="18" charset="0"/>
                </a:rPr>
                <a:t>流</a:t>
              </a:r>
            </a:p>
            <a:p>
              <a:pPr algn="ctr"/>
              <a:r>
                <a:rPr kumimoji="1" lang="zh-CN" altLang="en-US" sz="1400" b="1">
                  <a:solidFill>
                    <a:srgbClr val="0000FF"/>
                  </a:solidFill>
                  <a:latin typeface="Times New Roman" pitchFamily="18" charset="0"/>
                  <a:cs typeface="Times New Roman" pitchFamily="18" charset="0"/>
                </a:rPr>
                <a:t>阀</a:t>
              </a:r>
            </a:p>
          </p:txBody>
        </p:sp>
        <p:sp>
          <p:nvSpPr>
            <p:cNvPr id="35" name="图文框 34"/>
            <p:cNvSpPr/>
            <p:nvPr/>
          </p:nvSpPr>
          <p:spPr bwMode="auto">
            <a:xfrm>
              <a:off x="4298622" y="3189833"/>
              <a:ext cx="2978870" cy="821605"/>
            </a:xfrm>
            <a:prstGeom prst="frame">
              <a:avLst>
                <a:gd name="adj1" fmla="val 4252"/>
              </a:avLst>
            </a:prstGeom>
            <a:solidFill>
              <a:schemeClr val="accent4">
                <a:lumMod val="20000"/>
                <a:lumOff val="80000"/>
              </a:schemeClr>
            </a:solidFill>
            <a:ln w="12700">
              <a:solidFill>
                <a:srgbClr val="0070C0"/>
              </a:solidFill>
              <a:miter lim="800000"/>
              <a:headEnd/>
              <a:tailEnd/>
            </a:ln>
            <a:extLst/>
          </p:spPr>
          <p:txBody>
            <a:bodyPr anchor="ctr">
              <a:spAutoFit/>
            </a:bodyPr>
            <a:lstStyle/>
            <a:p>
              <a:pPr algn="ctr">
                <a:lnSpc>
                  <a:spcPct val="110000"/>
                </a:lnSpc>
                <a:defRPr/>
              </a:pPr>
              <a:endParaRPr kumimoji="1" lang="zh-CN" altLang="en-US" sz="2800" b="1" dirty="0">
                <a:solidFill>
                  <a:srgbClr val="0000FF"/>
                </a:solidFill>
                <a:latin typeface="Times New Roman" pitchFamily="18" charset="0"/>
                <a:ea typeface="+mn-ea"/>
              </a:endParaRPr>
            </a:p>
          </p:txBody>
        </p:sp>
        <p:sp>
          <p:nvSpPr>
            <p:cNvPr id="37" name="Rectangle 8"/>
            <p:cNvSpPr>
              <a:spLocks noChangeArrowheads="1"/>
            </p:cNvSpPr>
            <p:nvPr/>
          </p:nvSpPr>
          <p:spPr bwMode="auto">
            <a:xfrm>
              <a:off x="6958497" y="4951625"/>
              <a:ext cx="180922" cy="861838"/>
            </a:xfrm>
            <a:prstGeom prst="rect">
              <a:avLst/>
            </a:prstGeom>
            <a:solidFill>
              <a:schemeClr val="bg1"/>
            </a:solidFill>
            <a:ln w="9525">
              <a:solidFill>
                <a:schemeClr val="accent3">
                  <a:lumMod val="60000"/>
                  <a:lumOff val="40000"/>
                </a:schemeClr>
              </a:solidFill>
              <a:miter lim="800000"/>
              <a:headEnd/>
              <a:tailEnd/>
            </a:ln>
          </p:spPr>
          <p:txBody>
            <a:bodyPr wrap="none" lIns="0" tIns="0" rIns="0" bIns="0">
              <a:spAutoFit/>
            </a:bodyPr>
            <a:lstStyle/>
            <a:p>
              <a:pPr algn="ctr">
                <a:defRPr/>
              </a:pPr>
              <a:r>
                <a:rPr kumimoji="1" lang="zh-CN" altLang="en-US" sz="1400" b="1" dirty="0">
                  <a:solidFill>
                    <a:srgbClr val="0000FF"/>
                  </a:solidFill>
                  <a:latin typeface="Times New Roman" pitchFamily="18" charset="0"/>
                  <a:ea typeface="+mn-ea"/>
                  <a:cs typeface="Times New Roman" pitchFamily="18" charset="0"/>
                </a:rPr>
                <a:t>压</a:t>
              </a:r>
            </a:p>
            <a:p>
              <a:pPr algn="ctr">
                <a:defRPr/>
              </a:pPr>
              <a:r>
                <a:rPr kumimoji="1" lang="zh-CN" altLang="en-US" sz="1400" b="1" dirty="0">
                  <a:solidFill>
                    <a:srgbClr val="0000FF"/>
                  </a:solidFill>
                  <a:latin typeface="Times New Roman" pitchFamily="18" charset="0"/>
                  <a:ea typeface="+mn-ea"/>
                  <a:cs typeface="Times New Roman" pitchFamily="18" charset="0"/>
                </a:rPr>
                <a:t>缩</a:t>
              </a:r>
            </a:p>
            <a:p>
              <a:pPr algn="ctr">
                <a:defRPr/>
              </a:pPr>
              <a:r>
                <a:rPr kumimoji="1" lang="zh-CN" altLang="en-US" sz="1400" b="1" dirty="0">
                  <a:solidFill>
                    <a:srgbClr val="0000FF"/>
                  </a:solidFill>
                  <a:latin typeface="Times New Roman" pitchFamily="18" charset="0"/>
                  <a:ea typeface="+mn-ea"/>
                  <a:cs typeface="Times New Roman" pitchFamily="18" charset="0"/>
                </a:rPr>
                <a:t>机</a:t>
              </a:r>
            </a:p>
          </p:txBody>
        </p:sp>
        <p:sp>
          <p:nvSpPr>
            <p:cNvPr id="55" name="任意多边形 54"/>
            <p:cNvSpPr/>
            <p:nvPr/>
          </p:nvSpPr>
          <p:spPr bwMode="auto">
            <a:xfrm>
              <a:off x="4722362" y="1771081"/>
              <a:ext cx="2064735" cy="3659108"/>
            </a:xfrm>
            <a:custGeom>
              <a:avLst/>
              <a:gdLst>
                <a:gd name="connsiteX0" fmla="*/ 235670 w 2064470"/>
                <a:gd name="connsiteY0" fmla="*/ 3657600 h 3657600"/>
                <a:gd name="connsiteX1" fmla="*/ 0 w 2064470"/>
                <a:gd name="connsiteY1" fmla="*/ 3657600 h 3657600"/>
                <a:gd name="connsiteX2" fmla="*/ 0 w 2064470"/>
                <a:gd name="connsiteY2" fmla="*/ 0 h 3657600"/>
                <a:gd name="connsiteX3" fmla="*/ 2064470 w 2064470"/>
                <a:gd name="connsiteY3" fmla="*/ 0 h 3657600"/>
                <a:gd name="connsiteX4" fmla="*/ 2064470 w 2064470"/>
                <a:gd name="connsiteY4" fmla="*/ 131975 h 3657600"/>
                <a:gd name="connsiteX5" fmla="*/ 320511 w 2064470"/>
                <a:gd name="connsiteY5" fmla="*/ 131975 h 3657600"/>
                <a:gd name="connsiteX6" fmla="*/ 320511 w 2064470"/>
                <a:gd name="connsiteY6" fmla="*/ 254524 h 3657600"/>
                <a:gd name="connsiteX7" fmla="*/ 2055043 w 2064470"/>
                <a:gd name="connsiteY7" fmla="*/ 254524 h 3657600"/>
                <a:gd name="connsiteX8" fmla="*/ 2055043 w 2064470"/>
                <a:gd name="connsiteY8" fmla="*/ 358219 h 3657600"/>
                <a:gd name="connsiteX9" fmla="*/ 320511 w 2064470"/>
                <a:gd name="connsiteY9" fmla="*/ 358219 h 3657600"/>
                <a:gd name="connsiteX10" fmla="*/ 320511 w 2064470"/>
                <a:gd name="connsiteY10" fmla="*/ 480767 h 3657600"/>
                <a:gd name="connsiteX11" fmla="*/ 2064470 w 2064470"/>
                <a:gd name="connsiteY11" fmla="*/ 480767 h 3657600"/>
                <a:gd name="connsiteX12" fmla="*/ 2064470 w 2064470"/>
                <a:gd name="connsiteY12" fmla="*/ 593889 h 3657600"/>
                <a:gd name="connsiteX13" fmla="*/ 320511 w 2064470"/>
                <a:gd name="connsiteY13" fmla="*/ 593889 h 3657600"/>
                <a:gd name="connsiteX14" fmla="*/ 320511 w 2064470"/>
                <a:gd name="connsiteY14" fmla="*/ 707010 h 3657600"/>
                <a:gd name="connsiteX15" fmla="*/ 2045616 w 2064470"/>
                <a:gd name="connsiteY15" fmla="*/ 707010 h 3657600"/>
                <a:gd name="connsiteX16" fmla="*/ 2045616 w 2064470"/>
                <a:gd name="connsiteY16" fmla="*/ 810705 h 3657600"/>
                <a:gd name="connsiteX17" fmla="*/ 320511 w 2064470"/>
                <a:gd name="connsiteY17" fmla="*/ 810705 h 3657600"/>
                <a:gd name="connsiteX18" fmla="*/ 320511 w 2064470"/>
                <a:gd name="connsiteY18" fmla="*/ 933254 h 3657600"/>
                <a:gd name="connsiteX19" fmla="*/ 2055043 w 2064470"/>
                <a:gd name="connsiteY19" fmla="*/ 933254 h 3657600"/>
                <a:gd name="connsiteX20" fmla="*/ 2055043 w 2064470"/>
                <a:gd name="connsiteY20" fmla="*/ 3619893 h 3657600"/>
                <a:gd name="connsiteX21" fmla="*/ 1319752 w 2064470"/>
                <a:gd name="connsiteY21" fmla="*/ 3619893 h 3657600"/>
                <a:gd name="connsiteX22" fmla="*/ 1319752 w 2064470"/>
                <a:gd name="connsiteY22" fmla="*/ 3638747 h 3657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64470" h="3657600">
                  <a:moveTo>
                    <a:pt x="235670" y="3657600"/>
                  </a:moveTo>
                  <a:lnTo>
                    <a:pt x="0" y="3657600"/>
                  </a:lnTo>
                  <a:lnTo>
                    <a:pt x="0" y="0"/>
                  </a:lnTo>
                  <a:lnTo>
                    <a:pt x="2064470" y="0"/>
                  </a:lnTo>
                  <a:lnTo>
                    <a:pt x="2064470" y="131975"/>
                  </a:lnTo>
                  <a:lnTo>
                    <a:pt x="320511" y="131975"/>
                  </a:lnTo>
                  <a:lnTo>
                    <a:pt x="320511" y="254524"/>
                  </a:lnTo>
                  <a:lnTo>
                    <a:pt x="2055043" y="254524"/>
                  </a:lnTo>
                  <a:lnTo>
                    <a:pt x="2055043" y="358219"/>
                  </a:lnTo>
                  <a:lnTo>
                    <a:pt x="320511" y="358219"/>
                  </a:lnTo>
                  <a:lnTo>
                    <a:pt x="320511" y="480767"/>
                  </a:lnTo>
                  <a:lnTo>
                    <a:pt x="2064470" y="480767"/>
                  </a:lnTo>
                  <a:lnTo>
                    <a:pt x="2064470" y="593889"/>
                  </a:lnTo>
                  <a:lnTo>
                    <a:pt x="320511" y="593889"/>
                  </a:lnTo>
                  <a:lnTo>
                    <a:pt x="320511" y="707010"/>
                  </a:lnTo>
                  <a:lnTo>
                    <a:pt x="2045616" y="707010"/>
                  </a:lnTo>
                  <a:lnTo>
                    <a:pt x="2045616" y="810705"/>
                  </a:lnTo>
                  <a:lnTo>
                    <a:pt x="320511" y="810705"/>
                  </a:lnTo>
                  <a:lnTo>
                    <a:pt x="320511" y="933254"/>
                  </a:lnTo>
                  <a:lnTo>
                    <a:pt x="2055043" y="933254"/>
                  </a:lnTo>
                  <a:lnTo>
                    <a:pt x="2055043" y="3619893"/>
                  </a:lnTo>
                  <a:lnTo>
                    <a:pt x="1319752" y="3619893"/>
                  </a:lnTo>
                  <a:lnTo>
                    <a:pt x="1319752" y="3638747"/>
                  </a:lnTo>
                </a:path>
              </a:pathLst>
            </a:custGeom>
            <a:noFill/>
            <a:ln w="28575">
              <a:solidFill>
                <a:schemeClr val="accent6">
                  <a:lumMod val="50000"/>
                </a:schemeClr>
              </a:solidFill>
              <a:miter lim="800000"/>
              <a:headEnd/>
              <a:tailEnd/>
            </a:ln>
            <a:extLst/>
          </p:spPr>
          <p:txBody>
            <a:bodyPr anchor="ctr"/>
            <a:lstStyle/>
            <a:p>
              <a:pPr algn="ctr">
                <a:defRPr/>
              </a:pPr>
              <a:endParaRPr lang="zh-CN" altLang="en-US">
                <a:solidFill>
                  <a:prstClr val="black"/>
                </a:solidFill>
                <a:latin typeface="Times New Roman" pitchFamily="18" charset="0"/>
                <a:ea typeface="+mn-ea"/>
              </a:endParaRPr>
            </a:p>
          </p:txBody>
        </p:sp>
        <p:sp>
          <p:nvSpPr>
            <p:cNvPr id="114715" name="Text Box 16"/>
            <p:cNvSpPr txBox="1">
              <a:spLocks noChangeArrowheads="1"/>
            </p:cNvSpPr>
            <p:nvPr/>
          </p:nvSpPr>
          <p:spPr bwMode="auto">
            <a:xfrm>
              <a:off x="6003100" y="4822455"/>
              <a:ext cx="707819" cy="696671"/>
            </a:xfrm>
            <a:prstGeom prst="rect">
              <a:avLst/>
            </a:prstGeom>
            <a:noFill/>
            <a:ln w="9525">
              <a:noFill/>
              <a:miter lim="800000"/>
              <a:headEnd/>
              <a:tailEnd/>
            </a:ln>
          </p:spPr>
          <p:txBody>
            <a:bodyPr wrap="none">
              <a:spAutoFit/>
            </a:bodyPr>
            <a:lstStyle/>
            <a:p>
              <a:pPr eaLnBrk="0" hangingPunct="0"/>
              <a:r>
                <a:rPr lang="en-US" altLang="zh-CN" sz="1400" b="1">
                  <a:solidFill>
                    <a:srgbClr val="1F497D"/>
                  </a:solidFill>
                  <a:latin typeface="Times New Roman" pitchFamily="18" charset="0"/>
                  <a:cs typeface="Times New Roman" pitchFamily="18" charset="0"/>
                </a:rPr>
                <a:t>70 </a:t>
              </a:r>
              <a:r>
                <a:rPr lang="en-US" altLang="zh-CN" sz="1400" b="1" baseline="30000">
                  <a:solidFill>
                    <a:srgbClr val="1F497D"/>
                  </a:solidFill>
                  <a:latin typeface="Times New Roman" pitchFamily="18" charset="0"/>
                  <a:cs typeface="Times New Roman" pitchFamily="18" charset="0"/>
                </a:rPr>
                <a:t>0</a:t>
              </a:r>
              <a:r>
                <a:rPr lang="en-US" altLang="zh-CN" sz="1400" b="1">
                  <a:solidFill>
                    <a:srgbClr val="1F497D"/>
                  </a:solidFill>
                  <a:latin typeface="Times New Roman" pitchFamily="18" charset="0"/>
                  <a:cs typeface="Times New Roman" pitchFamily="18" charset="0"/>
                </a:rPr>
                <a:t>C </a:t>
              </a:r>
            </a:p>
            <a:p>
              <a:pPr eaLnBrk="0" hangingPunct="0"/>
              <a:r>
                <a:rPr kumimoji="1" lang="en-US" altLang="zh-CN" sz="1400" b="1">
                  <a:solidFill>
                    <a:srgbClr val="000000"/>
                  </a:solidFill>
                  <a:latin typeface="Times New Roman" pitchFamily="18" charset="0"/>
                  <a:cs typeface="Times New Roman" pitchFamily="18" charset="0"/>
                </a:rPr>
                <a:t>10 atm</a:t>
              </a:r>
            </a:p>
          </p:txBody>
        </p:sp>
        <p:sp>
          <p:nvSpPr>
            <p:cNvPr id="114716" name="Rectangle 10" descr="浅色竖线"/>
            <p:cNvSpPr>
              <a:spLocks noChangeArrowheads="1"/>
            </p:cNvSpPr>
            <p:nvPr/>
          </p:nvSpPr>
          <p:spPr bwMode="auto">
            <a:xfrm>
              <a:off x="4955656" y="5137969"/>
              <a:ext cx="1068077" cy="535737"/>
            </a:xfrm>
            <a:prstGeom prst="rect">
              <a:avLst/>
            </a:prstGeom>
            <a:pattFill prst="ltVert">
              <a:fgClr>
                <a:schemeClr val="tx2"/>
              </a:fgClr>
              <a:bgClr>
                <a:schemeClr val="bg1"/>
              </a:bgClr>
            </a:pattFill>
            <a:ln w="9525">
              <a:solidFill>
                <a:schemeClr val="tx1"/>
              </a:solidFill>
              <a:miter lim="800000"/>
              <a:headEnd/>
              <a:tailEnd/>
            </a:ln>
          </p:spPr>
          <p:txBody>
            <a:bodyPr wrap="none" anchor="ctr"/>
            <a:lstStyle/>
            <a:p>
              <a:endParaRPr lang="zh-CN" altLang="en-US">
                <a:solidFill>
                  <a:srgbClr val="000000"/>
                </a:solidFill>
                <a:latin typeface="Times New Roman" pitchFamily="18" charset="0"/>
                <a:cs typeface="Times New Roman" pitchFamily="18" charset="0"/>
              </a:endParaRPr>
            </a:p>
          </p:txBody>
        </p:sp>
        <p:sp>
          <p:nvSpPr>
            <p:cNvPr id="114717" name="AutoShape 18" descr="横虚线"/>
            <p:cNvSpPr>
              <a:spLocks noChangeArrowheads="1"/>
            </p:cNvSpPr>
            <p:nvPr/>
          </p:nvSpPr>
          <p:spPr bwMode="auto">
            <a:xfrm>
              <a:off x="4547787" y="3232183"/>
              <a:ext cx="390411" cy="1103237"/>
            </a:xfrm>
            <a:prstGeom prst="roundRect">
              <a:avLst>
                <a:gd name="adj" fmla="val 50000"/>
              </a:avLst>
            </a:prstGeom>
            <a:pattFill prst="dashHorz">
              <a:fgClr>
                <a:srgbClr val="00B0F0"/>
              </a:fgClr>
              <a:bgClr>
                <a:schemeClr val="bg1"/>
              </a:bgClr>
            </a:pattFill>
            <a:ln w="9525">
              <a:solidFill>
                <a:schemeClr val="tx1"/>
              </a:solidFill>
              <a:round/>
              <a:headEnd/>
              <a:tailEnd/>
            </a:ln>
          </p:spPr>
          <p:txBody>
            <a:bodyPr wrap="none" anchor="ctr"/>
            <a:lstStyle/>
            <a:p>
              <a:endParaRPr lang="zh-CN" altLang="en-US">
                <a:solidFill>
                  <a:srgbClr val="000000"/>
                </a:solidFill>
                <a:latin typeface="Times New Roman" pitchFamily="18" charset="0"/>
                <a:cs typeface="Times New Roman" pitchFamily="18" charset="0"/>
              </a:endParaRPr>
            </a:p>
          </p:txBody>
        </p:sp>
        <p:sp>
          <p:nvSpPr>
            <p:cNvPr id="114718" name="AutoShape 24"/>
            <p:cNvSpPr>
              <a:spLocks noChangeArrowheads="1"/>
            </p:cNvSpPr>
            <p:nvPr/>
          </p:nvSpPr>
          <p:spPr bwMode="auto">
            <a:xfrm>
              <a:off x="4604921" y="2840438"/>
              <a:ext cx="231707" cy="232929"/>
            </a:xfrm>
            <a:prstGeom prst="flowChartSummingJunction">
              <a:avLst/>
            </a:prstGeom>
            <a:solidFill>
              <a:srgbClr val="FFC000"/>
            </a:solidFill>
            <a:ln w="9525">
              <a:solidFill>
                <a:schemeClr val="tx1"/>
              </a:solidFill>
              <a:round/>
              <a:headEnd/>
              <a:tailEnd/>
            </a:ln>
          </p:spPr>
          <p:txBody>
            <a:bodyPr wrap="none" anchor="ctr"/>
            <a:lstStyle/>
            <a:p>
              <a:endParaRPr lang="zh-CN" altLang="en-US">
                <a:solidFill>
                  <a:srgbClr val="000000"/>
                </a:solidFill>
                <a:latin typeface="Times New Roman" pitchFamily="18" charset="0"/>
                <a:cs typeface="Times New Roman" pitchFamily="18" charset="0"/>
              </a:endParaRPr>
            </a:p>
          </p:txBody>
        </p:sp>
        <p:cxnSp>
          <p:nvCxnSpPr>
            <p:cNvPr id="63" name="直接箭头连接符 62"/>
            <p:cNvCxnSpPr/>
            <p:nvPr/>
          </p:nvCxnSpPr>
          <p:spPr>
            <a:xfrm flipH="1">
              <a:off x="6174500" y="5392074"/>
              <a:ext cx="292015" cy="0"/>
            </a:xfrm>
            <a:prstGeom prst="straightConnector1">
              <a:avLst/>
            </a:prstGeom>
            <a:ln w="28575">
              <a:solidFill>
                <a:srgbClr val="FF00FF"/>
              </a:solidFill>
              <a:tailEnd type="arrow" w="sm" len="med"/>
            </a:ln>
          </p:spPr>
          <p:style>
            <a:lnRef idx="1">
              <a:schemeClr val="accent1"/>
            </a:lnRef>
            <a:fillRef idx="0">
              <a:schemeClr val="accent1"/>
            </a:fillRef>
            <a:effectRef idx="0">
              <a:schemeClr val="accent1"/>
            </a:effectRef>
            <a:fontRef idx="minor">
              <a:schemeClr val="tx1"/>
            </a:fontRef>
          </p:style>
        </p:cxnSp>
        <p:cxnSp>
          <p:nvCxnSpPr>
            <p:cNvPr id="65" name="直接箭头连接符 64"/>
            <p:cNvCxnSpPr/>
            <p:nvPr/>
          </p:nvCxnSpPr>
          <p:spPr>
            <a:xfrm flipV="1">
              <a:off x="4722362" y="4695402"/>
              <a:ext cx="0" cy="330336"/>
            </a:xfrm>
            <a:prstGeom prst="straightConnector1">
              <a:avLst/>
            </a:prstGeom>
            <a:ln w="28575">
              <a:solidFill>
                <a:srgbClr val="FF00FF"/>
              </a:solidFill>
              <a:tailEnd type="arrow" w="sm" len="med"/>
            </a:ln>
          </p:spPr>
          <p:style>
            <a:lnRef idx="1">
              <a:schemeClr val="accent1"/>
            </a:lnRef>
            <a:fillRef idx="0">
              <a:schemeClr val="accent1"/>
            </a:fillRef>
            <a:effectRef idx="0">
              <a:schemeClr val="accent1"/>
            </a:effectRef>
            <a:fontRef idx="minor">
              <a:schemeClr val="tx1"/>
            </a:fontRef>
          </p:style>
        </p:cxnSp>
        <p:sp>
          <p:nvSpPr>
            <p:cNvPr id="114721" name="Rectangle 11"/>
            <p:cNvSpPr>
              <a:spLocks noChangeArrowheads="1"/>
            </p:cNvSpPr>
            <p:nvPr/>
          </p:nvSpPr>
          <p:spPr bwMode="auto">
            <a:xfrm>
              <a:off x="5258780" y="5320077"/>
              <a:ext cx="557050" cy="287985"/>
            </a:xfrm>
            <a:prstGeom prst="rect">
              <a:avLst/>
            </a:prstGeom>
            <a:solidFill>
              <a:schemeClr val="bg1"/>
            </a:solidFill>
            <a:ln w="9525">
              <a:noFill/>
              <a:miter lim="800000"/>
              <a:headEnd/>
              <a:tailEnd/>
            </a:ln>
          </p:spPr>
          <p:txBody>
            <a:bodyPr lIns="0" tIns="0" rIns="0" bIns="0">
              <a:spAutoFit/>
            </a:bodyPr>
            <a:lstStyle/>
            <a:p>
              <a:r>
                <a:rPr kumimoji="1" lang="zh-CN" altLang="en-US" sz="1400">
                  <a:solidFill>
                    <a:srgbClr val="0000FF"/>
                  </a:solidFill>
                  <a:latin typeface="Times New Roman" pitchFamily="18" charset="0"/>
                  <a:cs typeface="Times New Roman" pitchFamily="18" charset="0"/>
                </a:rPr>
                <a:t>散热器</a:t>
              </a:r>
            </a:p>
          </p:txBody>
        </p:sp>
        <p:sp>
          <p:nvSpPr>
            <p:cNvPr id="114722" name="Rectangle 21"/>
            <p:cNvSpPr>
              <a:spLocks noChangeArrowheads="1"/>
            </p:cNvSpPr>
            <p:nvPr/>
          </p:nvSpPr>
          <p:spPr bwMode="auto">
            <a:xfrm>
              <a:off x="4604921" y="3469348"/>
              <a:ext cx="304711" cy="861838"/>
            </a:xfrm>
            <a:prstGeom prst="rect">
              <a:avLst/>
            </a:prstGeom>
            <a:noFill/>
            <a:ln w="9525">
              <a:noFill/>
              <a:miter lim="800000"/>
              <a:headEnd/>
              <a:tailEnd/>
            </a:ln>
          </p:spPr>
          <p:txBody>
            <a:bodyPr lIns="0" tIns="0" rIns="0" bIns="0">
              <a:spAutoFit/>
            </a:bodyPr>
            <a:lstStyle/>
            <a:p>
              <a:pPr algn="ctr"/>
              <a:r>
                <a:rPr kumimoji="1" lang="zh-CN" altLang="en-US" sz="1400" b="1">
                  <a:solidFill>
                    <a:srgbClr val="0000FF"/>
                  </a:solidFill>
                  <a:latin typeface="Times New Roman" pitchFamily="18" charset="0"/>
                  <a:cs typeface="Times New Roman" pitchFamily="18" charset="0"/>
                </a:rPr>
                <a:t>储</a:t>
              </a:r>
            </a:p>
            <a:p>
              <a:pPr algn="ctr"/>
              <a:r>
                <a:rPr kumimoji="1" lang="zh-CN" altLang="en-US" sz="1400" b="1">
                  <a:solidFill>
                    <a:srgbClr val="0000FF"/>
                  </a:solidFill>
                  <a:latin typeface="Times New Roman" pitchFamily="18" charset="0"/>
                  <a:cs typeface="Times New Roman" pitchFamily="18" charset="0"/>
                </a:rPr>
                <a:t>液</a:t>
              </a:r>
            </a:p>
            <a:p>
              <a:pPr algn="ctr"/>
              <a:r>
                <a:rPr kumimoji="1" lang="zh-CN" altLang="en-US" sz="1400" b="1">
                  <a:solidFill>
                    <a:srgbClr val="0000FF"/>
                  </a:solidFill>
                  <a:latin typeface="Times New Roman" pitchFamily="18" charset="0"/>
                  <a:cs typeface="Times New Roman" pitchFamily="18" charset="0"/>
                </a:rPr>
                <a:t>器</a:t>
              </a:r>
            </a:p>
          </p:txBody>
        </p:sp>
        <p:sp>
          <p:nvSpPr>
            <p:cNvPr id="114723" name="矩形 68"/>
            <p:cNvSpPr>
              <a:spLocks noChangeArrowheads="1"/>
            </p:cNvSpPr>
            <p:nvPr/>
          </p:nvSpPr>
          <p:spPr bwMode="auto">
            <a:xfrm>
              <a:off x="4798244" y="1889573"/>
              <a:ext cx="2083324" cy="755149"/>
            </a:xfrm>
            <a:prstGeom prst="rect">
              <a:avLst/>
            </a:prstGeom>
            <a:noFill/>
            <a:ln w="19050">
              <a:solidFill>
                <a:srgbClr val="0070C0"/>
              </a:solidFill>
              <a:prstDash val="sysDash"/>
              <a:miter lim="800000"/>
              <a:headEnd/>
              <a:tailEnd/>
            </a:ln>
          </p:spPr>
          <p:txBody>
            <a:bodyPr anchor="ctr">
              <a:spAutoFit/>
            </a:bodyPr>
            <a:lstStyle/>
            <a:p>
              <a:pPr algn="ctr">
                <a:lnSpc>
                  <a:spcPct val="110000"/>
                </a:lnSpc>
              </a:pPr>
              <a:endParaRPr kumimoji="1" lang="zh-CN" altLang="zh-CN" sz="2800" b="1">
                <a:solidFill>
                  <a:srgbClr val="0000FF"/>
                </a:solidFill>
                <a:latin typeface="Times New Roman" pitchFamily="18" charset="0"/>
              </a:endParaRPr>
            </a:p>
          </p:txBody>
        </p:sp>
        <p:sp>
          <p:nvSpPr>
            <p:cNvPr id="114724" name="Rectangle 29"/>
            <p:cNvSpPr>
              <a:spLocks noChangeArrowheads="1"/>
            </p:cNvSpPr>
            <p:nvPr/>
          </p:nvSpPr>
          <p:spPr bwMode="auto">
            <a:xfrm>
              <a:off x="4923915" y="1472508"/>
              <a:ext cx="358670" cy="285868"/>
            </a:xfrm>
            <a:prstGeom prst="rect">
              <a:avLst/>
            </a:prstGeom>
            <a:noFill/>
            <a:ln w="9525">
              <a:noFill/>
              <a:miter lim="800000"/>
              <a:headEnd/>
              <a:tailEnd/>
            </a:ln>
          </p:spPr>
          <p:txBody>
            <a:bodyPr wrap="none" lIns="0" tIns="0" rIns="0" bIns="0">
              <a:spAutoFit/>
            </a:bodyPr>
            <a:lstStyle/>
            <a:p>
              <a:pPr algn="ctr"/>
              <a:r>
                <a:rPr kumimoji="1" lang="en-US" altLang="zh-CN" sz="1400">
                  <a:solidFill>
                    <a:srgbClr val="0000FF"/>
                  </a:solidFill>
                  <a:latin typeface="Times New Roman" pitchFamily="18" charset="0"/>
                  <a:cs typeface="Times New Roman" pitchFamily="18" charset="0"/>
                </a:rPr>
                <a:t>3atm</a:t>
              </a:r>
            </a:p>
          </p:txBody>
        </p:sp>
        <p:sp>
          <p:nvSpPr>
            <p:cNvPr id="114725" name="Text Box 30"/>
            <p:cNvSpPr txBox="1">
              <a:spLocks noChangeArrowheads="1"/>
            </p:cNvSpPr>
            <p:nvPr/>
          </p:nvSpPr>
          <p:spPr bwMode="auto">
            <a:xfrm>
              <a:off x="5336545" y="1438627"/>
              <a:ext cx="647511" cy="410803"/>
            </a:xfrm>
            <a:prstGeom prst="rect">
              <a:avLst/>
            </a:prstGeom>
            <a:noFill/>
            <a:ln w="9525">
              <a:noFill/>
              <a:miter lim="800000"/>
              <a:headEnd/>
              <a:tailEnd/>
            </a:ln>
          </p:spPr>
          <p:txBody>
            <a:bodyPr wrap="none">
              <a:spAutoFit/>
            </a:bodyPr>
            <a:lstStyle/>
            <a:p>
              <a:pPr eaLnBrk="0" hangingPunct="0"/>
              <a:r>
                <a:rPr lang="en-US" altLang="zh-CN" sz="1400">
                  <a:solidFill>
                    <a:srgbClr val="0000FF"/>
                  </a:solidFill>
                  <a:latin typeface="Times New Roman" pitchFamily="18" charset="0"/>
                  <a:cs typeface="Times New Roman" pitchFamily="18" charset="0"/>
                </a:rPr>
                <a:t>-10 </a:t>
              </a:r>
              <a:r>
                <a:rPr lang="en-US" altLang="zh-CN" sz="1400" baseline="30000">
                  <a:solidFill>
                    <a:srgbClr val="0000FF"/>
                  </a:solidFill>
                  <a:latin typeface="Times New Roman" pitchFamily="18" charset="0"/>
                  <a:cs typeface="Times New Roman" pitchFamily="18" charset="0"/>
                </a:rPr>
                <a:t>0</a:t>
              </a:r>
              <a:r>
                <a:rPr lang="en-US" altLang="zh-CN" sz="1400">
                  <a:solidFill>
                    <a:srgbClr val="0000FF"/>
                  </a:solidFill>
                  <a:latin typeface="Times New Roman" pitchFamily="18" charset="0"/>
                  <a:cs typeface="Times New Roman" pitchFamily="18" charset="0"/>
                </a:rPr>
                <a:t>C</a:t>
              </a:r>
            </a:p>
          </p:txBody>
        </p:sp>
        <p:sp>
          <p:nvSpPr>
            <p:cNvPr id="114726" name="Rectangle 31"/>
            <p:cNvSpPr>
              <a:spLocks noChangeArrowheads="1"/>
            </p:cNvSpPr>
            <p:nvPr/>
          </p:nvSpPr>
          <p:spPr bwMode="auto">
            <a:xfrm>
              <a:off x="6007862" y="1491566"/>
              <a:ext cx="539593" cy="287985"/>
            </a:xfrm>
            <a:prstGeom prst="rect">
              <a:avLst/>
            </a:prstGeom>
            <a:noFill/>
            <a:ln w="9525">
              <a:noFill/>
              <a:miter lim="800000"/>
              <a:headEnd/>
              <a:tailEnd/>
            </a:ln>
          </p:spPr>
          <p:txBody>
            <a:bodyPr wrap="none" lIns="0" tIns="0" rIns="0" bIns="0">
              <a:spAutoFit/>
            </a:bodyPr>
            <a:lstStyle/>
            <a:p>
              <a:pPr algn="ctr"/>
              <a:r>
                <a:rPr kumimoji="1" lang="zh-CN" altLang="en-US" sz="1400">
                  <a:solidFill>
                    <a:srgbClr val="0000FF"/>
                  </a:solidFill>
                  <a:latin typeface="Times New Roman" pitchFamily="18" charset="0"/>
                  <a:cs typeface="Times New Roman" pitchFamily="18" charset="0"/>
                </a:rPr>
                <a:t>冷冻室</a:t>
              </a:r>
            </a:p>
          </p:txBody>
        </p:sp>
        <p:cxnSp>
          <p:nvCxnSpPr>
            <p:cNvPr id="74" name="直接箭头连接符 73"/>
            <p:cNvCxnSpPr/>
            <p:nvPr/>
          </p:nvCxnSpPr>
          <p:spPr>
            <a:xfrm>
              <a:off x="6777575" y="3534991"/>
              <a:ext cx="0" cy="338806"/>
            </a:xfrm>
            <a:prstGeom prst="straightConnector1">
              <a:avLst/>
            </a:prstGeom>
            <a:ln w="28575">
              <a:solidFill>
                <a:srgbClr val="FF00FF"/>
              </a:solidFill>
              <a:tailEnd type="arrow" w="sm" len="med"/>
            </a:ln>
          </p:spPr>
          <p:style>
            <a:lnRef idx="1">
              <a:schemeClr val="accent1"/>
            </a:lnRef>
            <a:fillRef idx="0">
              <a:schemeClr val="accent1"/>
            </a:fillRef>
            <a:effectRef idx="0">
              <a:schemeClr val="accent1"/>
            </a:effectRef>
            <a:fontRef idx="minor">
              <a:schemeClr val="tx1"/>
            </a:fontRef>
          </p:style>
        </p:cxnSp>
        <p:cxnSp>
          <p:nvCxnSpPr>
            <p:cNvPr id="76" name="直接箭头连接符 75"/>
            <p:cNvCxnSpPr/>
            <p:nvPr/>
          </p:nvCxnSpPr>
          <p:spPr>
            <a:xfrm>
              <a:off x="5485726" y="1771081"/>
              <a:ext cx="284080" cy="0"/>
            </a:xfrm>
            <a:prstGeom prst="straightConnector1">
              <a:avLst/>
            </a:prstGeom>
            <a:ln w="28575">
              <a:solidFill>
                <a:srgbClr val="FF00FF"/>
              </a:solidFill>
              <a:tailEnd type="arrow" w="sm" len="med"/>
            </a:ln>
          </p:spPr>
          <p:style>
            <a:lnRef idx="1">
              <a:schemeClr val="accent1"/>
            </a:lnRef>
            <a:fillRef idx="0">
              <a:schemeClr val="accent1"/>
            </a:fillRef>
            <a:effectRef idx="0">
              <a:schemeClr val="accent1"/>
            </a:effectRef>
            <a:fontRef idx="minor">
              <a:schemeClr val="tx1"/>
            </a:fontRef>
          </p:style>
        </p:cxnSp>
        <p:cxnSp>
          <p:nvCxnSpPr>
            <p:cNvPr id="77" name="直接箭头连接符 76"/>
            <p:cNvCxnSpPr/>
            <p:nvPr/>
          </p:nvCxnSpPr>
          <p:spPr>
            <a:xfrm>
              <a:off x="5495248" y="2704916"/>
              <a:ext cx="284080" cy="0"/>
            </a:xfrm>
            <a:prstGeom prst="straightConnector1">
              <a:avLst/>
            </a:prstGeom>
            <a:ln w="28575">
              <a:solidFill>
                <a:srgbClr val="FF00FF"/>
              </a:solidFill>
              <a:tailEnd type="arrow" w="sm" len="med"/>
            </a:ln>
          </p:spPr>
          <p:style>
            <a:lnRef idx="1">
              <a:schemeClr val="accent1"/>
            </a:lnRef>
            <a:fillRef idx="0">
              <a:schemeClr val="accent1"/>
            </a:fillRef>
            <a:effectRef idx="0">
              <a:schemeClr val="accent1"/>
            </a:effectRef>
            <a:fontRef idx="minor">
              <a:schemeClr val="tx1"/>
            </a:fontRef>
          </p:style>
        </p:cxnSp>
        <p:sp>
          <p:nvSpPr>
            <p:cNvPr id="114730" name="Rectangle 19"/>
            <p:cNvSpPr>
              <a:spLocks noChangeArrowheads="1"/>
            </p:cNvSpPr>
            <p:nvPr/>
          </p:nvSpPr>
          <p:spPr bwMode="auto">
            <a:xfrm>
              <a:off x="5569840" y="2128945"/>
              <a:ext cx="539593" cy="287985"/>
            </a:xfrm>
            <a:prstGeom prst="rect">
              <a:avLst/>
            </a:prstGeom>
            <a:solidFill>
              <a:schemeClr val="bg1"/>
            </a:solidFill>
            <a:ln w="9525">
              <a:noFill/>
              <a:miter lim="800000"/>
              <a:headEnd/>
              <a:tailEnd/>
            </a:ln>
          </p:spPr>
          <p:txBody>
            <a:bodyPr wrap="none" lIns="0" tIns="0" rIns="0" bIns="0">
              <a:spAutoFit/>
            </a:bodyPr>
            <a:lstStyle/>
            <a:p>
              <a:pPr algn="ctr"/>
              <a:r>
                <a:rPr kumimoji="1" lang="zh-CN" altLang="en-US" sz="1400">
                  <a:solidFill>
                    <a:srgbClr val="0000FF"/>
                  </a:solidFill>
                  <a:latin typeface="Times New Roman" pitchFamily="18" charset="0"/>
                  <a:cs typeface="Times New Roman" pitchFamily="18" charset="0"/>
                </a:rPr>
                <a:t>蒸发器</a:t>
              </a:r>
            </a:p>
          </p:txBody>
        </p:sp>
        <p:sp>
          <p:nvSpPr>
            <p:cNvPr id="114731" name="Rectangle 32"/>
            <p:cNvSpPr>
              <a:spLocks noChangeArrowheads="1"/>
            </p:cNvSpPr>
            <p:nvPr/>
          </p:nvSpPr>
          <p:spPr bwMode="auto">
            <a:xfrm>
              <a:off x="5596819" y="3092426"/>
              <a:ext cx="322169" cy="287985"/>
            </a:xfrm>
            <a:prstGeom prst="rect">
              <a:avLst/>
            </a:prstGeom>
            <a:noFill/>
            <a:ln w="9525">
              <a:noFill/>
              <a:miter lim="800000"/>
              <a:headEnd/>
              <a:tailEnd/>
            </a:ln>
          </p:spPr>
          <p:txBody>
            <a:bodyPr lIns="0" tIns="0" rIns="0" bIns="0">
              <a:spAutoFit/>
            </a:bodyPr>
            <a:lstStyle/>
            <a:p>
              <a:pPr algn="ctr"/>
              <a:r>
                <a:rPr kumimoji="1" lang="en-US" altLang="zh-CN" sz="1400" b="1" i="1">
                  <a:solidFill>
                    <a:srgbClr val="FF0000"/>
                  </a:solidFill>
                  <a:latin typeface="Times New Roman" pitchFamily="18" charset="0"/>
                  <a:cs typeface="Times New Roman" pitchFamily="18" charset="0"/>
                </a:rPr>
                <a:t>Q</a:t>
              </a:r>
              <a:r>
                <a:rPr kumimoji="1" lang="en-US" altLang="zh-CN" sz="1400" b="1" i="1" baseline="-25000">
                  <a:solidFill>
                    <a:srgbClr val="FF0000"/>
                  </a:solidFill>
                  <a:latin typeface="Times New Roman" pitchFamily="18" charset="0"/>
                  <a:cs typeface="Times New Roman" pitchFamily="18" charset="0"/>
                </a:rPr>
                <a:t>2</a:t>
              </a:r>
              <a:endParaRPr kumimoji="1" lang="en-US" altLang="zh-CN" sz="1400" b="1">
                <a:solidFill>
                  <a:srgbClr val="FF0000"/>
                </a:solidFill>
                <a:latin typeface="Times New Roman" pitchFamily="18" charset="0"/>
                <a:cs typeface="Times New Roman" pitchFamily="18" charset="0"/>
              </a:endParaRPr>
            </a:p>
          </p:txBody>
        </p:sp>
        <p:cxnSp>
          <p:nvCxnSpPr>
            <p:cNvPr id="82" name="直接箭头连接符 81"/>
            <p:cNvCxnSpPr/>
            <p:nvPr/>
          </p:nvCxnSpPr>
          <p:spPr>
            <a:xfrm flipV="1">
              <a:off x="5834874" y="2527042"/>
              <a:ext cx="38089" cy="592911"/>
            </a:xfrm>
            <a:prstGeom prst="straightConnector1">
              <a:avLst/>
            </a:prstGeom>
            <a:ln>
              <a:solidFill>
                <a:srgbClr val="00B0F0"/>
              </a:solidFill>
              <a:tailEnd type="arrow"/>
            </a:ln>
          </p:spPr>
          <p:style>
            <a:lnRef idx="1">
              <a:schemeClr val="accent1"/>
            </a:lnRef>
            <a:fillRef idx="0">
              <a:schemeClr val="accent1"/>
            </a:fillRef>
            <a:effectRef idx="0">
              <a:schemeClr val="accent1"/>
            </a:effectRef>
            <a:fontRef idx="minor">
              <a:schemeClr val="tx1"/>
            </a:fontRef>
          </p:style>
        </p:cxnSp>
        <p:cxnSp>
          <p:nvCxnSpPr>
            <p:cNvPr id="86" name="直接箭头连接符 85"/>
            <p:cNvCxnSpPr/>
            <p:nvPr/>
          </p:nvCxnSpPr>
          <p:spPr>
            <a:xfrm flipH="1">
              <a:off x="4968352" y="5419601"/>
              <a:ext cx="282493" cy="575971"/>
            </a:xfrm>
            <a:prstGeom prst="straightConnector1">
              <a:avLst/>
            </a:prstGeom>
            <a:ln>
              <a:solidFill>
                <a:srgbClr val="00B0F0"/>
              </a:solidFill>
              <a:tailEnd type="arrow"/>
            </a:ln>
          </p:spPr>
          <p:style>
            <a:lnRef idx="1">
              <a:schemeClr val="accent1"/>
            </a:lnRef>
            <a:fillRef idx="0">
              <a:schemeClr val="accent1"/>
            </a:fillRef>
            <a:effectRef idx="0">
              <a:schemeClr val="accent1"/>
            </a:effectRef>
            <a:fontRef idx="minor">
              <a:schemeClr val="tx1"/>
            </a:fontRef>
          </p:style>
        </p:cxnSp>
        <p:sp>
          <p:nvSpPr>
            <p:cNvPr id="114734" name="Rectangle 12"/>
            <p:cNvSpPr>
              <a:spLocks noChangeArrowheads="1"/>
            </p:cNvSpPr>
            <p:nvPr/>
          </p:nvSpPr>
          <p:spPr bwMode="auto">
            <a:xfrm>
              <a:off x="4963591" y="5889695"/>
              <a:ext cx="345974" cy="287985"/>
            </a:xfrm>
            <a:prstGeom prst="rect">
              <a:avLst/>
            </a:prstGeom>
            <a:noFill/>
            <a:ln w="9525">
              <a:noFill/>
              <a:miter lim="800000"/>
              <a:headEnd/>
              <a:tailEnd/>
            </a:ln>
          </p:spPr>
          <p:txBody>
            <a:bodyPr lIns="0" tIns="0" rIns="0" bIns="0">
              <a:spAutoFit/>
            </a:bodyPr>
            <a:lstStyle/>
            <a:p>
              <a:pPr algn="ctr"/>
              <a:r>
                <a:rPr kumimoji="1" lang="en-US" altLang="zh-CN" sz="1400" b="1" i="1">
                  <a:solidFill>
                    <a:srgbClr val="FF0000"/>
                  </a:solidFill>
                  <a:latin typeface="Times New Roman" pitchFamily="18" charset="0"/>
                  <a:cs typeface="Times New Roman" pitchFamily="18" charset="0"/>
                </a:rPr>
                <a:t>Q</a:t>
              </a:r>
              <a:r>
                <a:rPr kumimoji="1" lang="en-US" altLang="zh-CN" sz="1400" b="1" baseline="-25000">
                  <a:solidFill>
                    <a:srgbClr val="FF0000"/>
                  </a:solidFill>
                  <a:latin typeface="Times New Roman" pitchFamily="18" charset="0"/>
                  <a:cs typeface="Times New Roman" pitchFamily="18" charset="0"/>
                </a:rPr>
                <a:t>1</a:t>
              </a:r>
              <a:endParaRPr kumimoji="1" lang="en-US" altLang="zh-CN" sz="1400" b="1">
                <a:solidFill>
                  <a:srgbClr val="FF0000"/>
                </a:solidFill>
                <a:latin typeface="Times New Roman" pitchFamily="18" charset="0"/>
                <a:cs typeface="Times New Roman" pitchFamily="18" charset="0"/>
              </a:endParaRPr>
            </a:p>
          </p:txBody>
        </p:sp>
        <p:sp>
          <p:nvSpPr>
            <p:cNvPr id="90" name="AutoShape 9"/>
            <p:cNvSpPr>
              <a:spLocks noChangeArrowheads="1"/>
            </p:cNvSpPr>
            <p:nvPr/>
          </p:nvSpPr>
          <p:spPr bwMode="auto">
            <a:xfrm flipV="1">
              <a:off x="6504604" y="5504302"/>
              <a:ext cx="528484" cy="154581"/>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accent4">
                <a:lumMod val="75000"/>
              </a:schemeClr>
            </a:solidFill>
            <a:ln w="9525">
              <a:solidFill>
                <a:schemeClr val="tx1"/>
              </a:solidFill>
              <a:miter lim="800000"/>
              <a:headEnd/>
              <a:tailEnd/>
            </a:ln>
            <a:effectLst/>
          </p:spPr>
          <p:txBody>
            <a:bodyPr wrap="none" anchor="ctr"/>
            <a:lstStyle/>
            <a:p>
              <a:pPr>
                <a:defRPr/>
              </a:pPr>
              <a:endParaRPr lang="zh-CN" altLang="en-US">
                <a:solidFill>
                  <a:prstClr val="black"/>
                </a:solidFill>
                <a:latin typeface="Times New Roman" pitchFamily="18" charset="0"/>
                <a:ea typeface="+mn-ea"/>
                <a:cs typeface="Times New Roman" pitchFamily="18" charset="0"/>
              </a:endParaRPr>
            </a:p>
          </p:txBody>
        </p:sp>
        <p:sp>
          <p:nvSpPr>
            <p:cNvPr id="91" name="AutoShape 26"/>
            <p:cNvSpPr>
              <a:spLocks noChangeArrowheads="1"/>
            </p:cNvSpPr>
            <p:nvPr/>
          </p:nvSpPr>
          <p:spPr bwMode="auto">
            <a:xfrm>
              <a:off x="6580013" y="5189540"/>
              <a:ext cx="386395" cy="386395"/>
            </a:xfrm>
            <a:custGeom>
              <a:avLst/>
              <a:gdLst>
                <a:gd name="G0" fmla="+- 8269 0 0"/>
                <a:gd name="G1" fmla="+- 21600 0 8269"/>
                <a:gd name="G2" fmla="+- 21600 0 8269"/>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8269" y="10800"/>
                  </a:moveTo>
                  <a:cubicBezTo>
                    <a:pt x="8269" y="12198"/>
                    <a:pt x="9402" y="13331"/>
                    <a:pt x="10800" y="13331"/>
                  </a:cubicBezTo>
                  <a:cubicBezTo>
                    <a:pt x="12198" y="13331"/>
                    <a:pt x="13331" y="12198"/>
                    <a:pt x="13331" y="10800"/>
                  </a:cubicBezTo>
                  <a:cubicBezTo>
                    <a:pt x="13331" y="9402"/>
                    <a:pt x="12198" y="8269"/>
                    <a:pt x="10800" y="8269"/>
                  </a:cubicBezTo>
                  <a:cubicBezTo>
                    <a:pt x="9402" y="8269"/>
                    <a:pt x="8269" y="9402"/>
                    <a:pt x="8269" y="10800"/>
                  </a:cubicBezTo>
                  <a:close/>
                </a:path>
              </a:pathLst>
            </a:custGeom>
            <a:solidFill>
              <a:schemeClr val="accent4">
                <a:lumMod val="40000"/>
                <a:lumOff val="60000"/>
              </a:schemeClr>
            </a:solidFill>
            <a:ln w="9525">
              <a:solidFill>
                <a:schemeClr val="tx1"/>
              </a:solidFill>
              <a:round/>
              <a:headEnd/>
              <a:tailEnd/>
            </a:ln>
            <a:effectLst>
              <a:innerShdw blurRad="114300">
                <a:prstClr val="black"/>
              </a:innerShdw>
            </a:effectLst>
          </p:spPr>
          <p:txBody>
            <a:bodyPr wrap="none" anchor="ctr"/>
            <a:lstStyle/>
            <a:p>
              <a:pPr>
                <a:defRPr/>
              </a:pPr>
              <a:endParaRPr lang="zh-CN" altLang="en-US">
                <a:solidFill>
                  <a:prstClr val="black"/>
                </a:solidFill>
                <a:latin typeface="Times New Roman" pitchFamily="18" charset="0"/>
                <a:ea typeface="+mn-ea"/>
                <a:cs typeface="Times New Roman" pitchFamily="18" charset="0"/>
              </a:endParaRPr>
            </a:p>
          </p:txBody>
        </p:sp>
        <p:sp>
          <p:nvSpPr>
            <p:cNvPr id="114739" name="Text Box 20"/>
            <p:cNvSpPr txBox="1">
              <a:spLocks noChangeArrowheads="1"/>
            </p:cNvSpPr>
            <p:nvPr/>
          </p:nvSpPr>
          <p:spPr bwMode="auto">
            <a:xfrm>
              <a:off x="4877891" y="3590047"/>
              <a:ext cx="365019" cy="410803"/>
            </a:xfrm>
            <a:prstGeom prst="rect">
              <a:avLst/>
            </a:prstGeom>
            <a:noFill/>
            <a:ln w="9525">
              <a:noFill/>
              <a:miter lim="800000"/>
              <a:headEnd/>
              <a:tailEnd/>
            </a:ln>
          </p:spPr>
          <p:txBody>
            <a:bodyPr wrap="none" anchor="ctr">
              <a:spAutoFit/>
            </a:bodyPr>
            <a:lstStyle/>
            <a:p>
              <a:pPr algn="ctr"/>
              <a:r>
                <a:rPr kumimoji="1" lang="zh-CN" altLang="en-US" sz="1400" b="1">
                  <a:solidFill>
                    <a:srgbClr val="0000FF"/>
                  </a:solidFill>
                  <a:latin typeface="Times New Roman" pitchFamily="18" charset="0"/>
                  <a:cs typeface="Times New Roman" pitchFamily="18" charset="0"/>
                </a:rPr>
                <a:t>氨</a:t>
              </a:r>
            </a:p>
          </p:txBody>
        </p:sp>
      </p:grpSp>
      <p:grpSp>
        <p:nvGrpSpPr>
          <p:cNvPr id="4" name="组合 125"/>
          <p:cNvGrpSpPr>
            <a:grpSpLocks/>
          </p:cNvGrpSpPr>
          <p:nvPr/>
        </p:nvGrpSpPr>
        <p:grpSpPr bwMode="auto">
          <a:xfrm>
            <a:off x="6516688" y="1460500"/>
            <a:ext cx="1944687" cy="2238375"/>
            <a:chOff x="5658146" y="1910662"/>
            <a:chExt cx="1944688" cy="2982473"/>
          </a:xfrm>
        </p:grpSpPr>
        <p:grpSp>
          <p:nvGrpSpPr>
            <p:cNvPr id="114692" name="Group 43"/>
            <p:cNvGrpSpPr>
              <a:grpSpLocks/>
            </p:cNvGrpSpPr>
            <p:nvPr/>
          </p:nvGrpSpPr>
          <p:grpSpPr bwMode="auto">
            <a:xfrm>
              <a:off x="5658146" y="2349369"/>
              <a:ext cx="1944688" cy="2176463"/>
              <a:chOff x="2350" y="228"/>
              <a:chExt cx="1225" cy="1371"/>
            </a:xfrm>
          </p:grpSpPr>
          <p:sp>
            <p:nvSpPr>
              <p:cNvPr id="114695" name="Rectangle 47"/>
              <p:cNvSpPr>
                <a:spLocks noChangeArrowheads="1"/>
              </p:cNvSpPr>
              <p:nvPr/>
            </p:nvSpPr>
            <p:spPr bwMode="auto">
              <a:xfrm>
                <a:off x="2600" y="1327"/>
                <a:ext cx="972" cy="272"/>
              </a:xfrm>
              <a:prstGeom prst="rect">
                <a:avLst/>
              </a:prstGeom>
              <a:noFill/>
              <a:ln w="19050">
                <a:solidFill>
                  <a:srgbClr val="0070C0"/>
                </a:solidFill>
                <a:miter lim="800000"/>
                <a:headEnd/>
                <a:tailEnd/>
              </a:ln>
            </p:spPr>
            <p:txBody>
              <a:bodyPr lIns="92075" tIns="46038" rIns="92075" bIns="46038">
                <a:spAutoFit/>
              </a:bodyPr>
              <a:lstStyle/>
              <a:p>
                <a:pPr algn="ctr" eaLnBrk="0" hangingPunct="0"/>
                <a:r>
                  <a:rPr kumimoji="1" lang="zh-CN" altLang="en-US" sz="1500" b="1">
                    <a:solidFill>
                      <a:srgbClr val="0000FF"/>
                    </a:solidFill>
                    <a:latin typeface="Times New Roman" pitchFamily="18" charset="0"/>
                    <a:ea typeface="华文中宋"/>
                    <a:cs typeface="华文中宋"/>
                  </a:rPr>
                  <a:t>低温热源</a:t>
                </a:r>
                <a:r>
                  <a:rPr kumimoji="1" lang="en-US" altLang="zh-CN" sz="1500" b="1" i="1">
                    <a:solidFill>
                      <a:srgbClr val="0000FF"/>
                    </a:solidFill>
                    <a:latin typeface="Times New Roman" pitchFamily="18" charset="0"/>
                    <a:ea typeface="华文中宋"/>
                    <a:cs typeface="华文中宋"/>
                  </a:rPr>
                  <a:t>T</a:t>
                </a:r>
                <a:r>
                  <a:rPr kumimoji="1" lang="en-US" altLang="zh-CN" sz="1500" b="1" baseline="-25000">
                    <a:solidFill>
                      <a:srgbClr val="0000FF"/>
                    </a:solidFill>
                    <a:latin typeface="Times New Roman" pitchFamily="18" charset="0"/>
                    <a:ea typeface="华文中宋"/>
                    <a:cs typeface="华文中宋"/>
                  </a:rPr>
                  <a:t>2</a:t>
                </a:r>
              </a:p>
            </p:txBody>
          </p:sp>
          <p:grpSp>
            <p:nvGrpSpPr>
              <p:cNvPr id="114696" name="Group 48"/>
              <p:cNvGrpSpPr>
                <a:grpSpLocks/>
              </p:cNvGrpSpPr>
              <p:nvPr/>
            </p:nvGrpSpPr>
            <p:grpSpPr bwMode="auto">
              <a:xfrm>
                <a:off x="2350" y="437"/>
                <a:ext cx="1057" cy="920"/>
                <a:chOff x="1135" y="2585"/>
                <a:chExt cx="1057" cy="920"/>
              </a:xfrm>
            </p:grpSpPr>
            <p:sp>
              <p:nvSpPr>
                <p:cNvPr id="100" name="Oval 49"/>
                <p:cNvSpPr>
                  <a:spLocks noChangeArrowheads="1"/>
                </p:cNvSpPr>
                <p:nvPr/>
              </p:nvSpPr>
              <p:spPr bwMode="auto">
                <a:xfrm>
                  <a:off x="1643" y="2810"/>
                  <a:ext cx="467" cy="480"/>
                </a:xfrm>
                <a:prstGeom prst="ellipse">
                  <a:avLst/>
                </a:prstGeom>
                <a:solidFill>
                  <a:schemeClr val="accent6">
                    <a:lumMod val="20000"/>
                    <a:lumOff val="80000"/>
                  </a:schemeClr>
                </a:solidFill>
                <a:ln w="19050">
                  <a:solidFill>
                    <a:srgbClr val="00B0F0"/>
                  </a:solidFill>
                  <a:round/>
                  <a:headEnd/>
                  <a:tailEnd/>
                </a:ln>
              </p:spPr>
              <p:txBody>
                <a:bodyPr wrap="none" anchor="ctr"/>
                <a:lstStyle/>
                <a:p>
                  <a:pPr fontAlgn="auto">
                    <a:spcBef>
                      <a:spcPts val="0"/>
                    </a:spcBef>
                    <a:spcAft>
                      <a:spcPts val="0"/>
                    </a:spcAft>
                    <a:defRPr/>
                  </a:pPr>
                  <a:endParaRPr lang="zh-CN" altLang="en-US">
                    <a:solidFill>
                      <a:prstClr val="black"/>
                    </a:solidFill>
                    <a:latin typeface="+mn-lt"/>
                    <a:ea typeface="+mn-ea"/>
                  </a:endParaRPr>
                </a:p>
              </p:txBody>
            </p:sp>
            <p:sp>
              <p:nvSpPr>
                <p:cNvPr id="114699" name="Text Box 51"/>
                <p:cNvSpPr txBox="1">
                  <a:spLocks noChangeArrowheads="1"/>
                </p:cNvSpPr>
                <p:nvPr/>
              </p:nvSpPr>
              <p:spPr bwMode="auto">
                <a:xfrm>
                  <a:off x="1947" y="3234"/>
                  <a:ext cx="245" cy="271"/>
                </a:xfrm>
                <a:prstGeom prst="rect">
                  <a:avLst/>
                </a:prstGeom>
                <a:noFill/>
                <a:ln w="9525">
                  <a:noFill/>
                  <a:miter lim="800000"/>
                  <a:headEnd/>
                  <a:tailEnd/>
                </a:ln>
              </p:spPr>
              <p:txBody>
                <a:bodyPr wrap="none">
                  <a:spAutoFit/>
                </a:bodyPr>
                <a:lstStyle/>
                <a:p>
                  <a:r>
                    <a:rPr lang="en-US" altLang="zh-CN" sz="1500" b="1" i="1">
                      <a:solidFill>
                        <a:srgbClr val="000000"/>
                      </a:solidFill>
                      <a:latin typeface="Times New Roman" pitchFamily="18" charset="0"/>
                    </a:rPr>
                    <a:t>Q</a:t>
                  </a:r>
                  <a:r>
                    <a:rPr lang="en-US" altLang="zh-CN" sz="1500" b="1" baseline="-25000">
                      <a:solidFill>
                        <a:srgbClr val="000000"/>
                      </a:solidFill>
                      <a:latin typeface="Times New Roman" pitchFamily="18" charset="0"/>
                    </a:rPr>
                    <a:t>2</a:t>
                  </a:r>
                  <a:endParaRPr lang="en-US" altLang="zh-CN" sz="1500" b="1">
                    <a:solidFill>
                      <a:srgbClr val="000000"/>
                    </a:solidFill>
                    <a:latin typeface="Times New Roman" pitchFamily="18" charset="0"/>
                  </a:endParaRPr>
                </a:p>
              </p:txBody>
            </p:sp>
            <p:sp>
              <p:nvSpPr>
                <p:cNvPr id="114700" name="Text Box 52"/>
                <p:cNvSpPr txBox="1">
                  <a:spLocks noChangeArrowheads="1"/>
                </p:cNvSpPr>
                <p:nvPr/>
              </p:nvSpPr>
              <p:spPr bwMode="auto">
                <a:xfrm>
                  <a:off x="1940" y="2642"/>
                  <a:ext cx="245" cy="271"/>
                </a:xfrm>
                <a:prstGeom prst="rect">
                  <a:avLst/>
                </a:prstGeom>
                <a:noFill/>
                <a:ln w="9525">
                  <a:noFill/>
                  <a:miter lim="800000"/>
                  <a:headEnd/>
                  <a:tailEnd/>
                </a:ln>
              </p:spPr>
              <p:txBody>
                <a:bodyPr wrap="none">
                  <a:spAutoFit/>
                </a:bodyPr>
                <a:lstStyle/>
                <a:p>
                  <a:r>
                    <a:rPr lang="en-US" altLang="zh-CN" sz="1500" b="1" i="1">
                      <a:solidFill>
                        <a:srgbClr val="000000"/>
                      </a:solidFill>
                      <a:latin typeface="Times New Roman" pitchFamily="18" charset="0"/>
                    </a:rPr>
                    <a:t>Q</a:t>
                  </a:r>
                  <a:r>
                    <a:rPr lang="en-US" altLang="zh-CN" sz="1500" b="1" baseline="-25000">
                      <a:solidFill>
                        <a:srgbClr val="000000"/>
                      </a:solidFill>
                      <a:latin typeface="Times New Roman" pitchFamily="18" charset="0"/>
                    </a:rPr>
                    <a:t>1</a:t>
                  </a:r>
                </a:p>
              </p:txBody>
            </p:sp>
            <p:sp>
              <p:nvSpPr>
                <p:cNvPr id="114701" name="Text Box 53"/>
                <p:cNvSpPr txBox="1">
                  <a:spLocks noChangeArrowheads="1"/>
                </p:cNvSpPr>
                <p:nvPr/>
              </p:nvSpPr>
              <p:spPr bwMode="auto">
                <a:xfrm>
                  <a:off x="1135" y="2923"/>
                  <a:ext cx="305" cy="271"/>
                </a:xfrm>
                <a:prstGeom prst="rect">
                  <a:avLst/>
                </a:prstGeom>
                <a:noFill/>
                <a:ln w="9525">
                  <a:noFill/>
                  <a:miter lim="800000"/>
                  <a:headEnd/>
                  <a:tailEnd/>
                </a:ln>
              </p:spPr>
              <p:txBody>
                <a:bodyPr wrap="none">
                  <a:spAutoFit/>
                </a:bodyPr>
                <a:lstStyle/>
                <a:p>
                  <a:r>
                    <a:rPr lang="en-US" altLang="zh-CN" sz="1500" b="1" i="1">
                      <a:solidFill>
                        <a:srgbClr val="000000"/>
                      </a:solidFill>
                      <a:latin typeface="Times New Roman" pitchFamily="18" charset="0"/>
                    </a:rPr>
                    <a:t>W</a:t>
                  </a:r>
                  <a:r>
                    <a:rPr lang="zh-CN" altLang="en-US" sz="1500" b="1" baseline="-25000">
                      <a:solidFill>
                        <a:srgbClr val="000000"/>
                      </a:solidFill>
                      <a:latin typeface="Times New Roman" pitchFamily="18" charset="0"/>
                    </a:rPr>
                    <a:t>外</a:t>
                  </a:r>
                </a:p>
              </p:txBody>
            </p:sp>
            <p:sp>
              <p:nvSpPr>
                <p:cNvPr id="104" name="Rectangle 55" descr="大纸屑"/>
                <p:cNvSpPr>
                  <a:spLocks noChangeArrowheads="1"/>
                </p:cNvSpPr>
                <p:nvPr/>
              </p:nvSpPr>
              <p:spPr bwMode="auto">
                <a:xfrm>
                  <a:off x="1798" y="2834"/>
                  <a:ext cx="156" cy="240"/>
                </a:xfrm>
                <a:prstGeom prst="rect">
                  <a:avLst/>
                </a:prstGeom>
                <a:solidFill>
                  <a:schemeClr val="accent6">
                    <a:lumMod val="60000"/>
                    <a:lumOff val="40000"/>
                  </a:schemeClr>
                </a:solidFill>
                <a:ln>
                  <a:noFill/>
                </a:ln>
                <a:extLst/>
              </p:spPr>
              <p:txBody>
                <a:bodyPr wrap="none" anchor="ctr"/>
                <a:lstStyle/>
                <a:p>
                  <a:pPr fontAlgn="auto">
                    <a:spcBef>
                      <a:spcPts val="0"/>
                    </a:spcBef>
                    <a:spcAft>
                      <a:spcPts val="0"/>
                    </a:spcAft>
                    <a:defRPr/>
                  </a:pPr>
                  <a:endParaRPr lang="zh-CN" altLang="en-US">
                    <a:solidFill>
                      <a:prstClr val="black"/>
                    </a:solidFill>
                    <a:latin typeface="+mn-lt"/>
                    <a:ea typeface="+mn-ea"/>
                  </a:endParaRPr>
                </a:p>
              </p:txBody>
            </p:sp>
            <p:sp>
              <p:nvSpPr>
                <p:cNvPr id="105" name="Rectangle 56" descr="大纸屑"/>
                <p:cNvSpPr>
                  <a:spLocks noChangeArrowheads="1"/>
                </p:cNvSpPr>
                <p:nvPr/>
              </p:nvSpPr>
              <p:spPr bwMode="auto">
                <a:xfrm>
                  <a:off x="1867" y="3010"/>
                  <a:ext cx="87" cy="240"/>
                </a:xfrm>
                <a:prstGeom prst="rect">
                  <a:avLst/>
                </a:prstGeom>
                <a:solidFill>
                  <a:schemeClr val="accent6">
                    <a:lumMod val="60000"/>
                    <a:lumOff val="40000"/>
                  </a:schemeClr>
                </a:solidFill>
                <a:ln>
                  <a:noFill/>
                </a:ln>
                <a:extLst/>
              </p:spPr>
              <p:txBody>
                <a:bodyPr wrap="none" anchor="ctr"/>
                <a:lstStyle/>
                <a:p>
                  <a:pPr fontAlgn="auto">
                    <a:spcBef>
                      <a:spcPts val="0"/>
                    </a:spcBef>
                    <a:spcAft>
                      <a:spcPts val="0"/>
                    </a:spcAft>
                    <a:defRPr/>
                  </a:pPr>
                  <a:endParaRPr lang="zh-CN" altLang="en-US">
                    <a:solidFill>
                      <a:prstClr val="black"/>
                    </a:solidFill>
                    <a:latin typeface="+mn-lt"/>
                    <a:ea typeface="+mn-ea"/>
                  </a:endParaRPr>
                </a:p>
              </p:txBody>
            </p:sp>
            <p:sp>
              <p:nvSpPr>
                <p:cNvPr id="106" name="Rectangle 57" descr="大纸屑"/>
                <p:cNvSpPr>
                  <a:spLocks noChangeArrowheads="1"/>
                </p:cNvSpPr>
                <p:nvPr/>
              </p:nvSpPr>
              <p:spPr bwMode="auto">
                <a:xfrm>
                  <a:off x="1642" y="2998"/>
                  <a:ext cx="226" cy="108"/>
                </a:xfrm>
                <a:prstGeom prst="rect">
                  <a:avLst/>
                </a:prstGeom>
                <a:solidFill>
                  <a:schemeClr val="accent6">
                    <a:lumMod val="60000"/>
                    <a:lumOff val="40000"/>
                  </a:schemeClr>
                </a:solidFill>
                <a:ln>
                  <a:noFill/>
                </a:ln>
                <a:extLst/>
              </p:spPr>
              <p:txBody>
                <a:bodyPr wrap="none" anchor="ctr"/>
                <a:lstStyle/>
                <a:p>
                  <a:pPr fontAlgn="auto">
                    <a:spcBef>
                      <a:spcPts val="0"/>
                    </a:spcBef>
                    <a:spcAft>
                      <a:spcPts val="0"/>
                    </a:spcAft>
                    <a:defRPr/>
                  </a:pPr>
                  <a:endParaRPr lang="zh-CN" altLang="en-US">
                    <a:solidFill>
                      <a:prstClr val="black"/>
                    </a:solidFill>
                    <a:latin typeface="+mn-lt"/>
                    <a:ea typeface="+mn-ea"/>
                  </a:endParaRPr>
                </a:p>
              </p:txBody>
            </p:sp>
            <p:sp>
              <p:nvSpPr>
                <p:cNvPr id="107" name="AutoShape 58"/>
                <p:cNvSpPr>
                  <a:spLocks noChangeArrowheads="1"/>
                </p:cNvSpPr>
                <p:nvPr/>
              </p:nvSpPr>
              <p:spPr bwMode="auto">
                <a:xfrm flipV="1">
                  <a:off x="1749" y="2585"/>
                  <a:ext cx="251" cy="341"/>
                </a:xfrm>
                <a:prstGeom prst="downArrow">
                  <a:avLst>
                    <a:gd name="adj1" fmla="val 56176"/>
                    <a:gd name="adj2" fmla="val 42065"/>
                  </a:avLst>
                </a:prstGeom>
                <a:solidFill>
                  <a:schemeClr val="accent6">
                    <a:lumMod val="75000"/>
                  </a:schemeClr>
                </a:solidFill>
                <a:ln w="12700">
                  <a:solidFill>
                    <a:srgbClr val="0070C0"/>
                  </a:solidFill>
                  <a:miter lim="800000"/>
                  <a:headEnd/>
                  <a:tailEnd/>
                </a:ln>
              </p:spPr>
              <p:txBody>
                <a:bodyPr wrap="none" anchor="ctr"/>
                <a:lstStyle/>
                <a:p>
                  <a:pPr fontAlgn="auto">
                    <a:spcBef>
                      <a:spcPts val="0"/>
                    </a:spcBef>
                    <a:spcAft>
                      <a:spcPts val="0"/>
                    </a:spcAft>
                    <a:defRPr/>
                  </a:pPr>
                  <a:endParaRPr lang="zh-CN" altLang="en-US">
                    <a:solidFill>
                      <a:prstClr val="black"/>
                    </a:solidFill>
                    <a:latin typeface="+mn-lt"/>
                    <a:ea typeface="+mn-ea"/>
                  </a:endParaRPr>
                </a:p>
              </p:txBody>
            </p:sp>
            <p:sp>
              <p:nvSpPr>
                <p:cNvPr id="108" name="AutoShape 54"/>
                <p:cNvSpPr>
                  <a:spLocks noChangeArrowheads="1"/>
                </p:cNvSpPr>
                <p:nvPr/>
              </p:nvSpPr>
              <p:spPr bwMode="auto">
                <a:xfrm>
                  <a:off x="1470" y="2950"/>
                  <a:ext cx="368" cy="184"/>
                </a:xfrm>
                <a:prstGeom prst="rightArrow">
                  <a:avLst>
                    <a:gd name="adj1" fmla="val 54369"/>
                    <a:gd name="adj2" fmla="val 71926"/>
                  </a:avLst>
                </a:prstGeom>
                <a:solidFill>
                  <a:schemeClr val="accent6">
                    <a:lumMod val="75000"/>
                  </a:schemeClr>
                </a:solidFill>
                <a:ln w="9525">
                  <a:solidFill>
                    <a:srgbClr val="00B0F0"/>
                  </a:solidFill>
                  <a:miter lim="800000"/>
                  <a:headEnd/>
                  <a:tailEnd/>
                </a:ln>
              </p:spPr>
              <p:txBody>
                <a:bodyPr wrap="none" anchor="ctr"/>
                <a:lstStyle/>
                <a:p>
                  <a:pPr fontAlgn="auto">
                    <a:spcBef>
                      <a:spcPts val="0"/>
                    </a:spcBef>
                    <a:spcAft>
                      <a:spcPts val="0"/>
                    </a:spcAft>
                    <a:defRPr/>
                  </a:pPr>
                  <a:endParaRPr lang="zh-CN" altLang="en-US">
                    <a:solidFill>
                      <a:prstClr val="black"/>
                    </a:solidFill>
                    <a:latin typeface="+mn-lt"/>
                    <a:ea typeface="+mn-ea"/>
                  </a:endParaRPr>
                </a:p>
              </p:txBody>
            </p:sp>
            <p:sp>
              <p:nvSpPr>
                <p:cNvPr id="109" name="AutoShape 50"/>
                <p:cNvSpPr>
                  <a:spLocks noChangeArrowheads="1"/>
                </p:cNvSpPr>
                <p:nvPr/>
              </p:nvSpPr>
              <p:spPr bwMode="auto">
                <a:xfrm flipV="1">
                  <a:off x="1797" y="3162"/>
                  <a:ext cx="214" cy="320"/>
                </a:xfrm>
                <a:prstGeom prst="downArrow">
                  <a:avLst>
                    <a:gd name="adj1" fmla="val 32546"/>
                    <a:gd name="adj2" fmla="val 60384"/>
                  </a:avLst>
                </a:prstGeom>
                <a:solidFill>
                  <a:schemeClr val="accent6">
                    <a:lumMod val="75000"/>
                  </a:schemeClr>
                </a:solidFill>
                <a:ln w="12700">
                  <a:solidFill>
                    <a:srgbClr val="00B0F0"/>
                  </a:solidFill>
                  <a:miter lim="800000"/>
                  <a:headEnd/>
                  <a:tailEnd/>
                </a:ln>
              </p:spPr>
              <p:txBody>
                <a:bodyPr wrap="none" anchor="ctr"/>
                <a:lstStyle/>
                <a:p>
                  <a:pPr fontAlgn="auto">
                    <a:spcBef>
                      <a:spcPts val="0"/>
                    </a:spcBef>
                    <a:spcAft>
                      <a:spcPts val="0"/>
                    </a:spcAft>
                    <a:defRPr/>
                  </a:pPr>
                  <a:endParaRPr lang="zh-CN" altLang="en-US">
                    <a:solidFill>
                      <a:prstClr val="black"/>
                    </a:solidFill>
                    <a:latin typeface="+mn-lt"/>
                    <a:ea typeface="+mn-ea"/>
                  </a:endParaRPr>
                </a:p>
              </p:txBody>
            </p:sp>
          </p:grpSp>
          <p:sp>
            <p:nvSpPr>
              <p:cNvPr id="114697" name="Rectangle 45"/>
              <p:cNvSpPr>
                <a:spLocks noChangeArrowheads="1"/>
              </p:cNvSpPr>
              <p:nvPr/>
            </p:nvSpPr>
            <p:spPr bwMode="auto">
              <a:xfrm>
                <a:off x="2613" y="228"/>
                <a:ext cx="962" cy="272"/>
              </a:xfrm>
              <a:prstGeom prst="rect">
                <a:avLst/>
              </a:prstGeom>
              <a:solidFill>
                <a:srgbClr val="FFFFFF"/>
              </a:solidFill>
              <a:ln w="19050">
                <a:solidFill>
                  <a:srgbClr val="0070C0"/>
                </a:solidFill>
                <a:miter lim="800000"/>
                <a:headEnd/>
                <a:tailEnd/>
              </a:ln>
            </p:spPr>
            <p:txBody>
              <a:bodyPr lIns="92075" tIns="46038" rIns="92075" bIns="46038">
                <a:spAutoFit/>
              </a:bodyPr>
              <a:lstStyle/>
              <a:p>
                <a:pPr algn="ctr" eaLnBrk="0" hangingPunct="0"/>
                <a:r>
                  <a:rPr kumimoji="1" lang="zh-CN" altLang="en-US" sz="1500" b="1">
                    <a:solidFill>
                      <a:srgbClr val="0000FF"/>
                    </a:solidFill>
                    <a:latin typeface="Times New Roman" pitchFamily="18" charset="0"/>
                    <a:ea typeface="华文中宋"/>
                    <a:cs typeface="华文中宋"/>
                  </a:rPr>
                  <a:t>高温热源</a:t>
                </a:r>
                <a:r>
                  <a:rPr kumimoji="1" lang="en-US" altLang="zh-CN" sz="1500" b="1" i="1">
                    <a:solidFill>
                      <a:srgbClr val="0000FF"/>
                    </a:solidFill>
                    <a:latin typeface="Times New Roman" pitchFamily="18" charset="0"/>
                    <a:ea typeface="华文中宋"/>
                    <a:cs typeface="华文中宋"/>
                  </a:rPr>
                  <a:t>T</a:t>
                </a:r>
                <a:r>
                  <a:rPr kumimoji="1" lang="en-US" altLang="zh-CN" sz="1500" b="1" baseline="-25000">
                    <a:solidFill>
                      <a:srgbClr val="0000FF"/>
                    </a:solidFill>
                    <a:latin typeface="Times New Roman" pitchFamily="18" charset="0"/>
                    <a:ea typeface="华文中宋"/>
                    <a:cs typeface="华文中宋"/>
                  </a:rPr>
                  <a:t>1</a:t>
                </a:r>
              </a:p>
            </p:txBody>
          </p:sp>
        </p:grpSp>
        <p:sp>
          <p:nvSpPr>
            <p:cNvPr id="114693" name="Rectangle 45"/>
            <p:cNvSpPr>
              <a:spLocks noChangeArrowheads="1"/>
            </p:cNvSpPr>
            <p:nvPr/>
          </p:nvSpPr>
          <p:spPr bwMode="auto">
            <a:xfrm>
              <a:off x="6128046" y="1910662"/>
              <a:ext cx="954107" cy="430735"/>
            </a:xfrm>
            <a:prstGeom prst="rect">
              <a:avLst/>
            </a:prstGeom>
            <a:noFill/>
            <a:ln w="9525">
              <a:noFill/>
              <a:miter lim="800000"/>
              <a:headEnd/>
              <a:tailEnd/>
            </a:ln>
          </p:spPr>
          <p:txBody>
            <a:bodyPr wrap="none">
              <a:spAutoFit/>
            </a:bodyPr>
            <a:lstStyle/>
            <a:p>
              <a:pPr algn="ctr"/>
              <a:r>
                <a:rPr kumimoji="1" lang="zh-CN" altLang="en-US" sz="1500" b="1">
                  <a:solidFill>
                    <a:srgbClr val="000000"/>
                  </a:solidFill>
                  <a:latin typeface="Times New Roman" pitchFamily="18" charset="0"/>
                  <a:ea typeface="华文中宋"/>
                  <a:cs typeface="华文中宋"/>
                </a:rPr>
                <a:t>周围环境</a:t>
              </a:r>
            </a:p>
          </p:txBody>
        </p:sp>
        <p:sp>
          <p:nvSpPr>
            <p:cNvPr id="114694" name="Rectangle 46"/>
            <p:cNvSpPr>
              <a:spLocks noChangeArrowheads="1"/>
            </p:cNvSpPr>
            <p:nvPr/>
          </p:nvSpPr>
          <p:spPr bwMode="auto">
            <a:xfrm>
              <a:off x="6321721" y="4462400"/>
              <a:ext cx="761747" cy="430735"/>
            </a:xfrm>
            <a:prstGeom prst="rect">
              <a:avLst/>
            </a:prstGeom>
            <a:noFill/>
            <a:ln w="9525">
              <a:noFill/>
              <a:miter lim="800000"/>
              <a:headEnd/>
              <a:tailEnd/>
            </a:ln>
          </p:spPr>
          <p:txBody>
            <a:bodyPr wrap="none">
              <a:spAutoFit/>
            </a:bodyPr>
            <a:lstStyle/>
            <a:p>
              <a:pPr eaLnBrk="0" hangingPunct="0"/>
              <a:r>
                <a:rPr kumimoji="1" lang="zh-CN" altLang="en-US" sz="1500" b="1">
                  <a:solidFill>
                    <a:srgbClr val="000000"/>
                  </a:solidFill>
                  <a:latin typeface="Times New Roman" pitchFamily="18" charset="0"/>
                  <a:ea typeface="华文中宋"/>
                  <a:cs typeface="华文中宋"/>
                </a:rPr>
                <a:t>冷冻室</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3" presetClass="entr" presetSubtype="16"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500" fill="hold"/>
                                        <p:tgtEl>
                                          <p:spTgt spid="2"/>
                                        </p:tgtEl>
                                        <p:attrNameLst>
                                          <p:attrName>ppt_w</p:attrName>
                                        </p:attrNameLst>
                                      </p:cBhvr>
                                      <p:tavLst>
                                        <p:tav tm="0">
                                          <p:val>
                                            <p:fltVal val="0"/>
                                          </p:val>
                                        </p:tav>
                                        <p:tav tm="100000">
                                          <p:val>
                                            <p:strVal val="#ppt_w"/>
                                          </p:val>
                                        </p:tav>
                                      </p:tavLst>
                                    </p:anim>
                                    <p:anim calcmode="lin" valueType="num">
                                      <p:cBhvr>
                                        <p:cTn id="13" dur="500" fill="hold"/>
                                        <p:tgtEl>
                                          <p:spTgt spid="2"/>
                                        </p:tgtEl>
                                        <p:attrNameLst>
                                          <p:attrName>ppt_h</p:attrName>
                                        </p:attrNameLst>
                                      </p:cBhvr>
                                      <p:tavLst>
                                        <p:tav tm="0">
                                          <p:val>
                                            <p:fltVal val="0"/>
                                          </p:val>
                                        </p:tav>
                                        <p:tav tm="100000">
                                          <p:val>
                                            <p:strVal val="#ppt_h"/>
                                          </p:val>
                                        </p:tav>
                                      </p:tavLst>
                                    </p:anim>
                                    <p:animEffect transition="in" filter="fade">
                                      <p:cBhvr>
                                        <p:cTn id="14" dur="500"/>
                                        <p:tgtEl>
                                          <p:spTgt spid="2"/>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53" presetClass="entr" presetSubtype="16"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p:cTn id="19" dur="500" fill="hold"/>
                                        <p:tgtEl>
                                          <p:spTgt spid="4"/>
                                        </p:tgtEl>
                                        <p:attrNameLst>
                                          <p:attrName>ppt_w</p:attrName>
                                        </p:attrNameLst>
                                      </p:cBhvr>
                                      <p:tavLst>
                                        <p:tav tm="0">
                                          <p:val>
                                            <p:fltVal val="0"/>
                                          </p:val>
                                        </p:tav>
                                        <p:tav tm="100000">
                                          <p:val>
                                            <p:strVal val="#ppt_w"/>
                                          </p:val>
                                        </p:tav>
                                      </p:tavLst>
                                    </p:anim>
                                    <p:anim calcmode="lin" valueType="num">
                                      <p:cBhvr>
                                        <p:cTn id="20" dur="500" fill="hold"/>
                                        <p:tgtEl>
                                          <p:spTgt spid="4"/>
                                        </p:tgtEl>
                                        <p:attrNameLst>
                                          <p:attrName>ppt_h</p:attrName>
                                        </p:attrNameLst>
                                      </p:cBhvr>
                                      <p:tavLst>
                                        <p:tav tm="0">
                                          <p:val>
                                            <p:fltVal val="0"/>
                                          </p:val>
                                        </p:tav>
                                        <p:tav tm="100000">
                                          <p:val>
                                            <p:strVal val="#ppt_h"/>
                                          </p:val>
                                        </p:tav>
                                      </p:tavLst>
                                    </p:anim>
                                    <p:animEffect transition="in" filter="fade">
                                      <p:cBhvr>
                                        <p:cTn id="2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6"/>
          <p:cNvSpPr txBox="1">
            <a:spLocks noChangeArrowheads="1"/>
          </p:cNvSpPr>
          <p:nvPr/>
        </p:nvSpPr>
        <p:spPr bwMode="auto">
          <a:xfrm>
            <a:off x="179388" y="1277938"/>
            <a:ext cx="7824787" cy="646112"/>
          </a:xfrm>
          <a:prstGeom prst="rect">
            <a:avLst/>
          </a:prstGeom>
          <a:noFill/>
          <a:ln w="9525">
            <a:noFill/>
            <a:miter lim="800000"/>
            <a:headEnd/>
            <a:tailEnd/>
          </a:ln>
        </p:spPr>
        <p:txBody>
          <a:bodyPr>
            <a:spAutoFit/>
          </a:bodyPr>
          <a:lstStyle/>
          <a:p>
            <a:r>
              <a:rPr kumimoji="1" lang="en-US" altLang="zh-CN" b="1">
                <a:solidFill>
                  <a:srgbClr val="000000"/>
                </a:solidFill>
                <a:latin typeface="Times New Roman" pitchFamily="18" charset="0"/>
                <a:ea typeface="华文中宋"/>
                <a:cs typeface="华文中宋"/>
              </a:rPr>
              <a:t>       </a:t>
            </a:r>
            <a:r>
              <a:rPr kumimoji="1" lang="zh-CN" altLang="en-US" b="1">
                <a:solidFill>
                  <a:srgbClr val="000000"/>
                </a:solidFill>
                <a:latin typeface="Times New Roman" pitchFamily="18" charset="0"/>
                <a:ea typeface="华文中宋"/>
                <a:cs typeface="华文中宋"/>
              </a:rPr>
              <a:t>工质在两个恒定的热源</a:t>
            </a:r>
            <a:r>
              <a:rPr kumimoji="1" lang="en-US" altLang="zh-CN" b="1">
                <a:solidFill>
                  <a:srgbClr val="000000"/>
                </a:solidFill>
                <a:latin typeface="Times New Roman" pitchFamily="18" charset="0"/>
                <a:ea typeface="华文中宋"/>
                <a:cs typeface="华文中宋"/>
              </a:rPr>
              <a:t>(</a:t>
            </a:r>
            <a:r>
              <a:rPr kumimoji="1" lang="en-US" altLang="zh-CN" b="1" i="1">
                <a:solidFill>
                  <a:srgbClr val="000000"/>
                </a:solidFill>
                <a:latin typeface="Times New Roman" pitchFamily="18" charset="0"/>
                <a:ea typeface="华文中宋"/>
                <a:cs typeface="华文中宋"/>
              </a:rPr>
              <a:t>T</a:t>
            </a:r>
            <a:r>
              <a:rPr kumimoji="1" lang="en-US" altLang="zh-CN" b="1" baseline="-25000">
                <a:solidFill>
                  <a:srgbClr val="000000"/>
                </a:solidFill>
                <a:latin typeface="Times New Roman" pitchFamily="18" charset="0"/>
                <a:ea typeface="华文中宋"/>
                <a:cs typeface="华文中宋"/>
              </a:rPr>
              <a:t>1</a:t>
            </a:r>
            <a:r>
              <a:rPr kumimoji="1" lang="zh-CN" altLang="en-US" b="1">
                <a:solidFill>
                  <a:srgbClr val="000000"/>
                </a:solidFill>
                <a:latin typeface="Times New Roman" pitchFamily="18" charset="0"/>
                <a:ea typeface="华文中宋"/>
                <a:cs typeface="华文中宋"/>
              </a:rPr>
              <a:t>＞</a:t>
            </a:r>
            <a:r>
              <a:rPr kumimoji="1" lang="en-US" altLang="zh-CN" b="1" i="1">
                <a:solidFill>
                  <a:srgbClr val="000000"/>
                </a:solidFill>
                <a:latin typeface="Times New Roman" pitchFamily="18" charset="0"/>
                <a:ea typeface="华文中宋"/>
                <a:cs typeface="华文中宋"/>
              </a:rPr>
              <a:t>T</a:t>
            </a:r>
            <a:r>
              <a:rPr kumimoji="1" lang="en-US" altLang="zh-CN" b="1" baseline="-25000">
                <a:solidFill>
                  <a:srgbClr val="000000"/>
                </a:solidFill>
                <a:latin typeface="Times New Roman" pitchFamily="18" charset="0"/>
                <a:ea typeface="华文中宋"/>
                <a:cs typeface="华文中宋"/>
              </a:rPr>
              <a:t>2</a:t>
            </a:r>
            <a:r>
              <a:rPr kumimoji="1" lang="en-US" altLang="zh-CN" b="1">
                <a:solidFill>
                  <a:srgbClr val="000000"/>
                </a:solidFill>
                <a:latin typeface="Times New Roman" pitchFamily="18" charset="0"/>
                <a:ea typeface="华文中宋"/>
                <a:cs typeface="华文中宋"/>
              </a:rPr>
              <a:t>)</a:t>
            </a:r>
            <a:r>
              <a:rPr kumimoji="1" lang="zh-CN" altLang="en-US" b="1">
                <a:solidFill>
                  <a:srgbClr val="000000"/>
                </a:solidFill>
                <a:latin typeface="Times New Roman" pitchFamily="18" charset="0"/>
                <a:ea typeface="华文中宋"/>
                <a:cs typeface="华文中宋"/>
              </a:rPr>
              <a:t>之间工作的准静态循环过程。由</a:t>
            </a:r>
            <a:r>
              <a:rPr kumimoji="1" lang="zh-CN" altLang="en-US" b="1" u="sng">
                <a:solidFill>
                  <a:srgbClr val="0000FF"/>
                </a:solidFill>
                <a:latin typeface="Times New Roman" pitchFamily="18" charset="0"/>
                <a:ea typeface="华文中宋"/>
                <a:cs typeface="华文中宋"/>
              </a:rPr>
              <a:t>等温膨胀</a:t>
            </a:r>
            <a:r>
              <a:rPr kumimoji="1" lang="zh-CN" altLang="en-US" b="1">
                <a:solidFill>
                  <a:srgbClr val="0000FF"/>
                </a:solidFill>
                <a:latin typeface="Times New Roman" pitchFamily="18" charset="0"/>
                <a:ea typeface="华文中宋"/>
                <a:cs typeface="华文中宋"/>
              </a:rPr>
              <a:t>，</a:t>
            </a:r>
            <a:r>
              <a:rPr kumimoji="1" lang="zh-CN" altLang="en-US" b="1" u="sng">
                <a:solidFill>
                  <a:srgbClr val="0000FF"/>
                </a:solidFill>
                <a:latin typeface="Times New Roman" pitchFamily="18" charset="0"/>
                <a:ea typeface="华文中宋"/>
                <a:cs typeface="华文中宋"/>
              </a:rPr>
              <a:t>绝热膨胀</a:t>
            </a:r>
            <a:r>
              <a:rPr kumimoji="1" lang="zh-CN" altLang="en-US" b="1">
                <a:solidFill>
                  <a:srgbClr val="0000FF"/>
                </a:solidFill>
                <a:latin typeface="Times New Roman" pitchFamily="18" charset="0"/>
                <a:ea typeface="华文中宋"/>
                <a:cs typeface="华文中宋"/>
              </a:rPr>
              <a:t>，</a:t>
            </a:r>
            <a:r>
              <a:rPr kumimoji="1" lang="zh-CN" altLang="en-US" b="1" u="sng">
                <a:solidFill>
                  <a:srgbClr val="0000FF"/>
                </a:solidFill>
                <a:latin typeface="Times New Roman" pitchFamily="18" charset="0"/>
                <a:ea typeface="华文中宋"/>
                <a:cs typeface="华文中宋"/>
              </a:rPr>
              <a:t>等温压缩</a:t>
            </a:r>
            <a:r>
              <a:rPr kumimoji="1" lang="zh-CN" altLang="en-US" b="1">
                <a:solidFill>
                  <a:srgbClr val="0000FF"/>
                </a:solidFill>
                <a:latin typeface="Times New Roman" pitchFamily="18" charset="0"/>
                <a:ea typeface="华文中宋"/>
                <a:cs typeface="华文中宋"/>
              </a:rPr>
              <a:t>，</a:t>
            </a:r>
            <a:r>
              <a:rPr kumimoji="1" lang="zh-CN" altLang="en-US" b="1" u="sng">
                <a:solidFill>
                  <a:srgbClr val="0000FF"/>
                </a:solidFill>
                <a:latin typeface="Times New Roman" pitchFamily="18" charset="0"/>
                <a:ea typeface="华文中宋"/>
                <a:cs typeface="华文中宋"/>
              </a:rPr>
              <a:t>绝热压缩</a:t>
            </a:r>
            <a:r>
              <a:rPr kumimoji="1" lang="zh-CN" altLang="en-US" b="1">
                <a:solidFill>
                  <a:srgbClr val="000000"/>
                </a:solidFill>
                <a:latin typeface="Times New Roman" pitchFamily="18" charset="0"/>
                <a:ea typeface="华文中宋"/>
                <a:cs typeface="华文中宋"/>
              </a:rPr>
              <a:t>四个过程组成。</a:t>
            </a:r>
          </a:p>
        </p:txBody>
      </p:sp>
      <p:grpSp>
        <p:nvGrpSpPr>
          <p:cNvPr id="2" name="组合 122"/>
          <p:cNvGrpSpPr>
            <a:grpSpLocks/>
          </p:cNvGrpSpPr>
          <p:nvPr/>
        </p:nvGrpSpPr>
        <p:grpSpPr bwMode="auto">
          <a:xfrm>
            <a:off x="6156325" y="1611313"/>
            <a:ext cx="2924175" cy="1614487"/>
            <a:chOff x="5223765" y="2485708"/>
            <a:chExt cx="2923538" cy="2152900"/>
          </a:xfrm>
        </p:grpSpPr>
        <p:sp>
          <p:nvSpPr>
            <p:cNvPr id="28771" name="Text Box 55"/>
            <p:cNvSpPr txBox="1">
              <a:spLocks noChangeArrowheads="1"/>
            </p:cNvSpPr>
            <p:nvPr/>
          </p:nvSpPr>
          <p:spPr bwMode="auto">
            <a:xfrm>
              <a:off x="5223765" y="2541255"/>
              <a:ext cx="280785" cy="430934"/>
            </a:xfrm>
            <a:prstGeom prst="rect">
              <a:avLst/>
            </a:prstGeom>
            <a:noFill/>
            <a:ln w="9525">
              <a:noFill/>
              <a:miter lim="800000"/>
              <a:headEnd/>
              <a:tailEnd/>
            </a:ln>
          </p:spPr>
          <p:txBody>
            <a:bodyPr wrap="none">
              <a:spAutoFit/>
            </a:bodyPr>
            <a:lstStyle/>
            <a:p>
              <a:pPr eaLnBrk="0" hangingPunct="0"/>
              <a:r>
                <a:rPr lang="en-US" altLang="zh-CN" sz="1500" b="1" i="1">
                  <a:solidFill>
                    <a:srgbClr val="000000"/>
                  </a:solidFill>
                  <a:latin typeface="Times New Roman" pitchFamily="18" charset="0"/>
                </a:rPr>
                <a:t>p</a:t>
              </a:r>
            </a:p>
          </p:txBody>
        </p:sp>
        <p:sp>
          <p:nvSpPr>
            <p:cNvPr id="28772" name="Text Box 56"/>
            <p:cNvSpPr txBox="1">
              <a:spLocks noChangeArrowheads="1"/>
            </p:cNvSpPr>
            <p:nvPr/>
          </p:nvSpPr>
          <p:spPr bwMode="auto">
            <a:xfrm>
              <a:off x="5925287" y="3349073"/>
              <a:ext cx="280785" cy="430934"/>
            </a:xfrm>
            <a:prstGeom prst="rect">
              <a:avLst/>
            </a:prstGeom>
            <a:noFill/>
            <a:ln w="9525">
              <a:noFill/>
              <a:miter lim="800000"/>
              <a:headEnd/>
              <a:tailEnd/>
            </a:ln>
          </p:spPr>
          <p:txBody>
            <a:bodyPr wrap="none">
              <a:spAutoFit/>
            </a:bodyPr>
            <a:lstStyle/>
            <a:p>
              <a:pPr eaLnBrk="0" hangingPunct="0"/>
              <a:r>
                <a:rPr lang="en-US" altLang="zh-CN" sz="1500" b="1" i="1">
                  <a:solidFill>
                    <a:srgbClr val="000000"/>
                  </a:solidFill>
                  <a:latin typeface="Times New Roman" pitchFamily="18" charset="0"/>
                </a:rPr>
                <a:t>d</a:t>
              </a:r>
            </a:p>
          </p:txBody>
        </p:sp>
        <p:sp>
          <p:nvSpPr>
            <p:cNvPr id="28773" name="Rectangle 57"/>
            <p:cNvSpPr>
              <a:spLocks noChangeArrowheads="1"/>
            </p:cNvSpPr>
            <p:nvPr/>
          </p:nvSpPr>
          <p:spPr bwMode="auto">
            <a:xfrm>
              <a:off x="5585636" y="2485708"/>
              <a:ext cx="280785" cy="430934"/>
            </a:xfrm>
            <a:prstGeom prst="rect">
              <a:avLst/>
            </a:prstGeom>
            <a:noFill/>
            <a:ln w="9525">
              <a:noFill/>
              <a:miter lim="800000"/>
              <a:headEnd/>
              <a:tailEnd/>
            </a:ln>
          </p:spPr>
          <p:txBody>
            <a:bodyPr wrap="none">
              <a:spAutoFit/>
            </a:bodyPr>
            <a:lstStyle/>
            <a:p>
              <a:pPr eaLnBrk="0" hangingPunct="0"/>
              <a:r>
                <a:rPr lang="en-US" altLang="zh-CN" sz="1500" b="1" i="1">
                  <a:solidFill>
                    <a:srgbClr val="000000"/>
                  </a:solidFill>
                  <a:latin typeface="Times New Roman" pitchFamily="18" charset="0"/>
                </a:rPr>
                <a:t>a</a:t>
              </a:r>
            </a:p>
          </p:txBody>
        </p:sp>
        <p:sp>
          <p:nvSpPr>
            <p:cNvPr id="28774" name="Rectangle 58"/>
            <p:cNvSpPr>
              <a:spLocks noChangeArrowheads="1"/>
            </p:cNvSpPr>
            <p:nvPr/>
          </p:nvSpPr>
          <p:spPr bwMode="auto">
            <a:xfrm>
              <a:off x="7177552" y="2866604"/>
              <a:ext cx="280785" cy="430933"/>
            </a:xfrm>
            <a:prstGeom prst="rect">
              <a:avLst/>
            </a:prstGeom>
            <a:noFill/>
            <a:ln w="9525">
              <a:noFill/>
              <a:miter lim="800000"/>
              <a:headEnd/>
              <a:tailEnd/>
            </a:ln>
          </p:spPr>
          <p:txBody>
            <a:bodyPr wrap="none">
              <a:spAutoFit/>
            </a:bodyPr>
            <a:lstStyle/>
            <a:p>
              <a:pPr eaLnBrk="0" hangingPunct="0"/>
              <a:r>
                <a:rPr lang="en-US" altLang="zh-CN" sz="1500" b="1" i="1">
                  <a:solidFill>
                    <a:srgbClr val="000000"/>
                  </a:solidFill>
                  <a:latin typeface="Times New Roman" pitchFamily="18" charset="0"/>
                </a:rPr>
                <a:t>b</a:t>
              </a:r>
            </a:p>
          </p:txBody>
        </p:sp>
        <p:sp>
          <p:nvSpPr>
            <p:cNvPr id="28775" name="Rectangle 59"/>
            <p:cNvSpPr>
              <a:spLocks noChangeArrowheads="1"/>
            </p:cNvSpPr>
            <p:nvPr/>
          </p:nvSpPr>
          <p:spPr bwMode="auto">
            <a:xfrm>
              <a:off x="7539356" y="3711892"/>
              <a:ext cx="370204" cy="430933"/>
            </a:xfrm>
            <a:prstGeom prst="rect">
              <a:avLst/>
            </a:prstGeom>
            <a:noFill/>
            <a:ln w="9525">
              <a:noFill/>
              <a:miter lim="800000"/>
              <a:headEnd/>
              <a:tailEnd/>
            </a:ln>
          </p:spPr>
          <p:txBody>
            <a:bodyPr>
              <a:spAutoFit/>
            </a:bodyPr>
            <a:lstStyle/>
            <a:p>
              <a:pPr eaLnBrk="0" hangingPunct="0"/>
              <a:r>
                <a:rPr lang="en-US" altLang="zh-CN" sz="1500" b="1" i="1">
                  <a:solidFill>
                    <a:srgbClr val="000000"/>
                  </a:solidFill>
                  <a:latin typeface="Times New Roman" pitchFamily="18" charset="0"/>
                </a:rPr>
                <a:t>c</a:t>
              </a:r>
            </a:p>
          </p:txBody>
        </p:sp>
        <p:sp>
          <p:nvSpPr>
            <p:cNvPr id="28776" name="Text Box 62"/>
            <p:cNvSpPr txBox="1">
              <a:spLocks noChangeArrowheads="1"/>
            </p:cNvSpPr>
            <p:nvPr/>
          </p:nvSpPr>
          <p:spPr bwMode="auto">
            <a:xfrm>
              <a:off x="5315820" y="4166411"/>
              <a:ext cx="324057" cy="430934"/>
            </a:xfrm>
            <a:prstGeom prst="rect">
              <a:avLst/>
            </a:prstGeom>
            <a:noFill/>
            <a:ln w="9525">
              <a:noFill/>
              <a:miter lim="800000"/>
              <a:headEnd/>
              <a:tailEnd/>
            </a:ln>
          </p:spPr>
          <p:txBody>
            <a:bodyPr wrap="none">
              <a:spAutoFit/>
            </a:bodyPr>
            <a:lstStyle/>
            <a:p>
              <a:pPr eaLnBrk="0" hangingPunct="0"/>
              <a:r>
                <a:rPr lang="en-US" altLang="zh-CN" sz="1500" b="1" i="1">
                  <a:solidFill>
                    <a:srgbClr val="000000"/>
                  </a:solidFill>
                  <a:latin typeface="Times New Roman" pitchFamily="18" charset="0"/>
                </a:rPr>
                <a:t>O</a:t>
              </a:r>
            </a:p>
          </p:txBody>
        </p:sp>
        <p:sp>
          <p:nvSpPr>
            <p:cNvPr id="28777" name="Text Box 63"/>
            <p:cNvSpPr txBox="1">
              <a:spLocks noChangeArrowheads="1"/>
            </p:cNvSpPr>
            <p:nvPr/>
          </p:nvSpPr>
          <p:spPr bwMode="auto">
            <a:xfrm>
              <a:off x="5652297" y="4202915"/>
              <a:ext cx="376944" cy="430934"/>
            </a:xfrm>
            <a:prstGeom prst="rect">
              <a:avLst/>
            </a:prstGeom>
            <a:noFill/>
            <a:ln w="9525">
              <a:noFill/>
              <a:miter lim="800000"/>
              <a:headEnd/>
              <a:tailEnd/>
            </a:ln>
          </p:spPr>
          <p:txBody>
            <a:bodyPr wrap="none">
              <a:spAutoFit/>
            </a:bodyPr>
            <a:lstStyle/>
            <a:p>
              <a:pPr eaLnBrk="0" hangingPunct="0"/>
              <a:r>
                <a:rPr lang="en-US" altLang="zh-CN" sz="1500" b="1" i="1">
                  <a:solidFill>
                    <a:srgbClr val="000000"/>
                  </a:solidFill>
                  <a:latin typeface="Times New Roman" pitchFamily="18" charset="0"/>
                </a:rPr>
                <a:t>V</a:t>
              </a:r>
              <a:r>
                <a:rPr lang="en-US" altLang="zh-CN" sz="1500" b="1" baseline="-25000">
                  <a:solidFill>
                    <a:srgbClr val="000000"/>
                  </a:solidFill>
                  <a:latin typeface="Times New Roman" pitchFamily="18" charset="0"/>
                </a:rPr>
                <a:t>1</a:t>
              </a:r>
              <a:endParaRPr lang="en-US" altLang="zh-CN" sz="1500" b="1">
                <a:solidFill>
                  <a:srgbClr val="000000"/>
                </a:solidFill>
                <a:latin typeface="Times New Roman" pitchFamily="18" charset="0"/>
              </a:endParaRPr>
            </a:p>
          </p:txBody>
        </p:sp>
        <p:sp>
          <p:nvSpPr>
            <p:cNvPr id="28778" name="Text Box 64"/>
            <p:cNvSpPr txBox="1">
              <a:spLocks noChangeArrowheads="1"/>
            </p:cNvSpPr>
            <p:nvPr/>
          </p:nvSpPr>
          <p:spPr bwMode="auto">
            <a:xfrm>
              <a:off x="6107810" y="4204814"/>
              <a:ext cx="376944" cy="430934"/>
            </a:xfrm>
            <a:prstGeom prst="rect">
              <a:avLst/>
            </a:prstGeom>
            <a:noFill/>
            <a:ln w="9525">
              <a:noFill/>
              <a:miter lim="800000"/>
              <a:headEnd/>
              <a:tailEnd/>
            </a:ln>
          </p:spPr>
          <p:txBody>
            <a:bodyPr wrap="none">
              <a:spAutoFit/>
            </a:bodyPr>
            <a:lstStyle/>
            <a:p>
              <a:pPr eaLnBrk="0" hangingPunct="0"/>
              <a:r>
                <a:rPr lang="en-US" altLang="zh-CN" sz="1500" b="1" i="1">
                  <a:solidFill>
                    <a:srgbClr val="000000"/>
                  </a:solidFill>
                  <a:latin typeface="Times New Roman" pitchFamily="18" charset="0"/>
                </a:rPr>
                <a:t>V</a:t>
              </a:r>
              <a:r>
                <a:rPr lang="en-US" altLang="zh-CN" sz="1500" b="1" baseline="-25000">
                  <a:solidFill>
                    <a:srgbClr val="000000"/>
                  </a:solidFill>
                  <a:latin typeface="Times New Roman" pitchFamily="18" charset="0"/>
                </a:rPr>
                <a:t>4</a:t>
              </a:r>
              <a:endParaRPr lang="en-US" altLang="zh-CN" sz="1500" b="1">
                <a:solidFill>
                  <a:srgbClr val="000000"/>
                </a:solidFill>
                <a:latin typeface="Times New Roman" pitchFamily="18" charset="0"/>
              </a:endParaRPr>
            </a:p>
          </p:txBody>
        </p:sp>
        <p:sp>
          <p:nvSpPr>
            <p:cNvPr id="28779" name="Text Box 65"/>
            <p:cNvSpPr txBox="1">
              <a:spLocks noChangeArrowheads="1"/>
            </p:cNvSpPr>
            <p:nvPr/>
          </p:nvSpPr>
          <p:spPr bwMode="auto">
            <a:xfrm>
              <a:off x="6977570" y="4207674"/>
              <a:ext cx="376944" cy="430934"/>
            </a:xfrm>
            <a:prstGeom prst="rect">
              <a:avLst/>
            </a:prstGeom>
            <a:noFill/>
            <a:ln w="9525">
              <a:noFill/>
              <a:miter lim="800000"/>
              <a:headEnd/>
              <a:tailEnd/>
            </a:ln>
          </p:spPr>
          <p:txBody>
            <a:bodyPr wrap="none">
              <a:spAutoFit/>
            </a:bodyPr>
            <a:lstStyle/>
            <a:p>
              <a:pPr eaLnBrk="0" hangingPunct="0"/>
              <a:r>
                <a:rPr lang="en-US" altLang="zh-CN" sz="1500" b="1" i="1">
                  <a:solidFill>
                    <a:srgbClr val="000000"/>
                  </a:solidFill>
                  <a:latin typeface="Times New Roman" pitchFamily="18" charset="0"/>
                </a:rPr>
                <a:t>V</a:t>
              </a:r>
              <a:r>
                <a:rPr lang="en-US" altLang="zh-CN" sz="1500" b="1" baseline="-25000">
                  <a:solidFill>
                    <a:srgbClr val="000000"/>
                  </a:solidFill>
                  <a:latin typeface="Times New Roman" pitchFamily="18" charset="0"/>
                </a:rPr>
                <a:t>2</a:t>
              </a:r>
              <a:endParaRPr lang="en-US" altLang="zh-CN" sz="1500" b="1">
                <a:solidFill>
                  <a:srgbClr val="000000"/>
                </a:solidFill>
                <a:latin typeface="Times New Roman" pitchFamily="18" charset="0"/>
              </a:endParaRPr>
            </a:p>
          </p:txBody>
        </p:sp>
        <p:sp>
          <p:nvSpPr>
            <p:cNvPr id="28780" name="Text Box 66"/>
            <p:cNvSpPr txBox="1">
              <a:spLocks noChangeArrowheads="1"/>
            </p:cNvSpPr>
            <p:nvPr/>
          </p:nvSpPr>
          <p:spPr bwMode="auto">
            <a:xfrm>
              <a:off x="7390230" y="4201326"/>
              <a:ext cx="376944" cy="430933"/>
            </a:xfrm>
            <a:prstGeom prst="rect">
              <a:avLst/>
            </a:prstGeom>
            <a:noFill/>
            <a:ln w="9525">
              <a:noFill/>
              <a:miter lim="800000"/>
              <a:headEnd/>
              <a:tailEnd/>
            </a:ln>
          </p:spPr>
          <p:txBody>
            <a:bodyPr wrap="none">
              <a:spAutoFit/>
            </a:bodyPr>
            <a:lstStyle/>
            <a:p>
              <a:pPr eaLnBrk="0" hangingPunct="0"/>
              <a:r>
                <a:rPr lang="en-US" altLang="zh-CN" sz="1500" b="1" i="1">
                  <a:solidFill>
                    <a:srgbClr val="000000"/>
                  </a:solidFill>
                  <a:latin typeface="Times New Roman" pitchFamily="18" charset="0"/>
                </a:rPr>
                <a:t>V</a:t>
              </a:r>
              <a:r>
                <a:rPr lang="en-US" altLang="zh-CN" sz="1500" b="1" baseline="-25000">
                  <a:solidFill>
                    <a:srgbClr val="000000"/>
                  </a:solidFill>
                  <a:latin typeface="Times New Roman" pitchFamily="18" charset="0"/>
                </a:rPr>
                <a:t>3</a:t>
              </a:r>
              <a:endParaRPr lang="en-US" altLang="zh-CN" sz="1500" b="1">
                <a:solidFill>
                  <a:srgbClr val="000000"/>
                </a:solidFill>
                <a:latin typeface="Times New Roman" pitchFamily="18" charset="0"/>
              </a:endParaRPr>
            </a:p>
          </p:txBody>
        </p:sp>
        <p:sp>
          <p:nvSpPr>
            <p:cNvPr id="28781" name="Text Box 67"/>
            <p:cNvSpPr txBox="1">
              <a:spLocks noChangeArrowheads="1"/>
            </p:cNvSpPr>
            <p:nvPr/>
          </p:nvSpPr>
          <p:spPr bwMode="auto">
            <a:xfrm>
              <a:off x="7806065" y="4047383"/>
              <a:ext cx="341238" cy="430933"/>
            </a:xfrm>
            <a:prstGeom prst="rect">
              <a:avLst/>
            </a:prstGeom>
            <a:noFill/>
            <a:ln w="9525">
              <a:noFill/>
              <a:miter lim="800000"/>
              <a:headEnd/>
              <a:tailEnd/>
            </a:ln>
          </p:spPr>
          <p:txBody>
            <a:bodyPr>
              <a:spAutoFit/>
            </a:bodyPr>
            <a:lstStyle/>
            <a:p>
              <a:pPr eaLnBrk="0" hangingPunct="0"/>
              <a:r>
                <a:rPr lang="en-US" altLang="zh-CN" sz="1500" b="1" i="1">
                  <a:solidFill>
                    <a:srgbClr val="000000"/>
                  </a:solidFill>
                  <a:latin typeface="Times New Roman" pitchFamily="18" charset="0"/>
                </a:rPr>
                <a:t>V</a:t>
              </a:r>
            </a:p>
          </p:txBody>
        </p:sp>
        <p:sp>
          <p:nvSpPr>
            <p:cNvPr id="28782" name="Rectangle 68"/>
            <p:cNvSpPr>
              <a:spLocks noChangeArrowheads="1"/>
            </p:cNvSpPr>
            <p:nvPr/>
          </p:nvSpPr>
          <p:spPr bwMode="auto">
            <a:xfrm>
              <a:off x="6758543" y="2712659"/>
              <a:ext cx="445990" cy="430933"/>
            </a:xfrm>
            <a:prstGeom prst="rect">
              <a:avLst/>
            </a:prstGeom>
            <a:noFill/>
            <a:ln w="9525">
              <a:noFill/>
              <a:miter lim="800000"/>
              <a:headEnd/>
              <a:tailEnd/>
            </a:ln>
          </p:spPr>
          <p:txBody>
            <a:bodyPr>
              <a:spAutoFit/>
            </a:bodyPr>
            <a:lstStyle/>
            <a:p>
              <a:pPr eaLnBrk="0" hangingPunct="0"/>
              <a:r>
                <a:rPr lang="en-US" altLang="zh-CN" sz="1500" b="1" i="1">
                  <a:solidFill>
                    <a:srgbClr val="000000"/>
                  </a:solidFill>
                  <a:latin typeface="Times New Roman" pitchFamily="18" charset="0"/>
                </a:rPr>
                <a:t>T</a:t>
              </a:r>
              <a:r>
                <a:rPr lang="en-US" altLang="zh-CN" sz="1500" b="1" i="1" baseline="-25000">
                  <a:solidFill>
                    <a:srgbClr val="000000"/>
                  </a:solidFill>
                  <a:latin typeface="Times New Roman" pitchFamily="18" charset="0"/>
                </a:rPr>
                <a:t>1</a:t>
              </a:r>
              <a:endParaRPr lang="en-US" altLang="zh-CN" sz="1500" b="1" i="1">
                <a:solidFill>
                  <a:srgbClr val="000000"/>
                </a:solidFill>
                <a:latin typeface="Times New Roman" pitchFamily="18" charset="0"/>
              </a:endParaRPr>
            </a:p>
          </p:txBody>
        </p:sp>
        <p:sp>
          <p:nvSpPr>
            <p:cNvPr id="28783" name="Rectangle 69"/>
            <p:cNvSpPr>
              <a:spLocks noChangeArrowheads="1"/>
            </p:cNvSpPr>
            <p:nvPr/>
          </p:nvSpPr>
          <p:spPr bwMode="auto">
            <a:xfrm>
              <a:off x="6853772" y="3763297"/>
              <a:ext cx="455514" cy="430933"/>
            </a:xfrm>
            <a:prstGeom prst="rect">
              <a:avLst/>
            </a:prstGeom>
            <a:noFill/>
            <a:ln w="9525">
              <a:noFill/>
              <a:miter lim="800000"/>
              <a:headEnd/>
              <a:tailEnd/>
            </a:ln>
          </p:spPr>
          <p:txBody>
            <a:bodyPr>
              <a:spAutoFit/>
            </a:bodyPr>
            <a:lstStyle/>
            <a:p>
              <a:pPr eaLnBrk="0" hangingPunct="0"/>
              <a:r>
                <a:rPr lang="en-US" altLang="zh-CN" sz="1500" b="1" i="1">
                  <a:solidFill>
                    <a:srgbClr val="000000"/>
                  </a:solidFill>
                  <a:latin typeface="Times New Roman" pitchFamily="18" charset="0"/>
                </a:rPr>
                <a:t>T</a:t>
              </a:r>
              <a:r>
                <a:rPr lang="en-US" altLang="zh-CN" sz="1500" b="1" i="1" baseline="-25000">
                  <a:solidFill>
                    <a:srgbClr val="000000"/>
                  </a:solidFill>
                  <a:latin typeface="Times New Roman" pitchFamily="18" charset="0"/>
                </a:rPr>
                <a:t>2</a:t>
              </a:r>
              <a:endParaRPr lang="en-US" altLang="zh-CN" sz="1500" b="1" i="1">
                <a:solidFill>
                  <a:srgbClr val="000000"/>
                </a:solidFill>
                <a:latin typeface="Times New Roman" pitchFamily="18" charset="0"/>
              </a:endParaRPr>
            </a:p>
          </p:txBody>
        </p:sp>
        <p:sp>
          <p:nvSpPr>
            <p:cNvPr id="28784" name="Freeform 70"/>
            <p:cNvSpPr>
              <a:spLocks/>
            </p:cNvSpPr>
            <p:nvPr/>
          </p:nvSpPr>
          <p:spPr bwMode="auto">
            <a:xfrm>
              <a:off x="5806440" y="2660904"/>
              <a:ext cx="1426464" cy="466344"/>
            </a:xfrm>
            <a:custGeom>
              <a:avLst/>
              <a:gdLst>
                <a:gd name="T0" fmla="*/ 0 w 10000"/>
                <a:gd name="T1" fmla="*/ 0 h 10000"/>
                <a:gd name="T2" fmla="*/ 2147483647 w 10000"/>
                <a:gd name="T3" fmla="*/ 2147483647 h 10000"/>
                <a:gd name="T4" fmla="*/ 0 60000 65536"/>
                <a:gd name="T5" fmla="*/ 0 60000 65536"/>
                <a:gd name="T6" fmla="*/ 0 w 10000"/>
                <a:gd name="T7" fmla="*/ 0 h 10000"/>
                <a:gd name="T8" fmla="*/ 10000 w 10000"/>
                <a:gd name="T9" fmla="*/ 10000 h 10000"/>
              </a:gdLst>
              <a:ahLst/>
              <a:cxnLst>
                <a:cxn ang="T4">
                  <a:pos x="T0" y="T1"/>
                </a:cxn>
                <a:cxn ang="T5">
                  <a:pos x="T2" y="T3"/>
                </a:cxn>
              </a:cxnLst>
              <a:rect l="T6" t="T7" r="T8" b="T9"/>
              <a:pathLst>
                <a:path w="10000" h="10000">
                  <a:moveTo>
                    <a:pt x="0" y="0"/>
                  </a:moveTo>
                  <a:cubicBezTo>
                    <a:pt x="2054" y="3438"/>
                    <a:pt x="6058" y="8131"/>
                    <a:pt x="10000" y="10000"/>
                  </a:cubicBezTo>
                </a:path>
              </a:pathLst>
            </a:custGeom>
            <a:noFill/>
            <a:ln w="19050">
              <a:solidFill>
                <a:srgbClr val="C00000"/>
              </a:solidFill>
              <a:round/>
              <a:headEnd/>
              <a:tailEnd/>
            </a:ln>
          </p:spPr>
          <p:txBody>
            <a:bodyPr/>
            <a:lstStyle/>
            <a:p>
              <a:endParaRPr lang="zh-CN" altLang="en-US"/>
            </a:p>
          </p:txBody>
        </p:sp>
        <p:sp>
          <p:nvSpPr>
            <p:cNvPr id="28785" name="Freeform 71"/>
            <p:cNvSpPr>
              <a:spLocks/>
            </p:cNvSpPr>
            <p:nvPr/>
          </p:nvSpPr>
          <p:spPr bwMode="auto">
            <a:xfrm>
              <a:off x="5815584" y="2660904"/>
              <a:ext cx="384048" cy="813817"/>
            </a:xfrm>
            <a:custGeom>
              <a:avLst/>
              <a:gdLst>
                <a:gd name="T0" fmla="*/ 0 w 10000"/>
                <a:gd name="T1" fmla="*/ 0 h 10000"/>
                <a:gd name="T2" fmla="*/ 2147483647 w 10000"/>
                <a:gd name="T3" fmla="*/ 2147483647 h 10000"/>
                <a:gd name="T4" fmla="*/ 0 60000 65536"/>
                <a:gd name="T5" fmla="*/ 0 60000 65536"/>
                <a:gd name="T6" fmla="*/ 0 w 10000"/>
                <a:gd name="T7" fmla="*/ 0 h 10000"/>
                <a:gd name="T8" fmla="*/ 10000 w 10000"/>
                <a:gd name="T9" fmla="*/ 10000 h 10000"/>
              </a:gdLst>
              <a:ahLst/>
              <a:cxnLst>
                <a:cxn ang="T4">
                  <a:pos x="T0" y="T1"/>
                </a:cxn>
                <a:cxn ang="T5">
                  <a:pos x="T2" y="T3"/>
                </a:cxn>
              </a:cxnLst>
              <a:rect l="T6" t="T7" r="T8" b="T9"/>
              <a:pathLst>
                <a:path w="10000" h="10000">
                  <a:moveTo>
                    <a:pt x="0" y="0"/>
                  </a:moveTo>
                  <a:cubicBezTo>
                    <a:pt x="2419" y="3893"/>
                    <a:pt x="5753" y="7320"/>
                    <a:pt x="10000" y="10000"/>
                  </a:cubicBezTo>
                </a:path>
              </a:pathLst>
            </a:custGeom>
            <a:noFill/>
            <a:ln w="19050">
              <a:solidFill>
                <a:srgbClr val="00B0F0"/>
              </a:solidFill>
              <a:round/>
              <a:headEnd/>
              <a:tailEnd/>
            </a:ln>
          </p:spPr>
          <p:txBody>
            <a:bodyPr/>
            <a:lstStyle/>
            <a:p>
              <a:endParaRPr lang="zh-CN" altLang="en-US"/>
            </a:p>
          </p:txBody>
        </p:sp>
        <p:sp>
          <p:nvSpPr>
            <p:cNvPr id="28786" name="Freeform 70"/>
            <p:cNvSpPr>
              <a:spLocks/>
            </p:cNvSpPr>
            <p:nvPr/>
          </p:nvSpPr>
          <p:spPr bwMode="auto">
            <a:xfrm>
              <a:off x="6181344" y="3456432"/>
              <a:ext cx="1426464" cy="466344"/>
            </a:xfrm>
            <a:custGeom>
              <a:avLst/>
              <a:gdLst>
                <a:gd name="T0" fmla="*/ 0 w 10000"/>
                <a:gd name="T1" fmla="*/ 0 h 10000"/>
                <a:gd name="T2" fmla="*/ 2147483647 w 10000"/>
                <a:gd name="T3" fmla="*/ 2147483647 h 10000"/>
                <a:gd name="T4" fmla="*/ 0 60000 65536"/>
                <a:gd name="T5" fmla="*/ 0 60000 65536"/>
                <a:gd name="T6" fmla="*/ 0 w 10000"/>
                <a:gd name="T7" fmla="*/ 0 h 10000"/>
                <a:gd name="T8" fmla="*/ 10000 w 10000"/>
                <a:gd name="T9" fmla="*/ 10000 h 10000"/>
              </a:gdLst>
              <a:ahLst/>
              <a:cxnLst>
                <a:cxn ang="T4">
                  <a:pos x="T0" y="T1"/>
                </a:cxn>
                <a:cxn ang="T5">
                  <a:pos x="T2" y="T3"/>
                </a:cxn>
              </a:cxnLst>
              <a:rect l="T6" t="T7" r="T8" b="T9"/>
              <a:pathLst>
                <a:path w="10000" h="10000">
                  <a:moveTo>
                    <a:pt x="0" y="0"/>
                  </a:moveTo>
                  <a:cubicBezTo>
                    <a:pt x="2054" y="3438"/>
                    <a:pt x="6058" y="8131"/>
                    <a:pt x="10000" y="10000"/>
                  </a:cubicBezTo>
                </a:path>
              </a:pathLst>
            </a:custGeom>
            <a:noFill/>
            <a:ln w="19050">
              <a:solidFill>
                <a:srgbClr val="C00000"/>
              </a:solidFill>
              <a:round/>
              <a:headEnd/>
              <a:tailEnd/>
            </a:ln>
          </p:spPr>
          <p:txBody>
            <a:bodyPr/>
            <a:lstStyle/>
            <a:p>
              <a:endParaRPr lang="zh-CN" altLang="en-US"/>
            </a:p>
          </p:txBody>
        </p:sp>
        <p:sp>
          <p:nvSpPr>
            <p:cNvPr id="28787" name="Freeform 71"/>
            <p:cNvSpPr>
              <a:spLocks/>
            </p:cNvSpPr>
            <p:nvPr/>
          </p:nvSpPr>
          <p:spPr bwMode="auto">
            <a:xfrm>
              <a:off x="7223760" y="3127248"/>
              <a:ext cx="384048" cy="813817"/>
            </a:xfrm>
            <a:custGeom>
              <a:avLst/>
              <a:gdLst>
                <a:gd name="T0" fmla="*/ 0 w 10000"/>
                <a:gd name="T1" fmla="*/ 0 h 10000"/>
                <a:gd name="T2" fmla="*/ 2147483647 w 10000"/>
                <a:gd name="T3" fmla="*/ 2147483647 h 10000"/>
                <a:gd name="T4" fmla="*/ 0 60000 65536"/>
                <a:gd name="T5" fmla="*/ 0 60000 65536"/>
                <a:gd name="T6" fmla="*/ 0 w 10000"/>
                <a:gd name="T7" fmla="*/ 0 h 10000"/>
                <a:gd name="T8" fmla="*/ 10000 w 10000"/>
                <a:gd name="T9" fmla="*/ 10000 h 10000"/>
              </a:gdLst>
              <a:ahLst/>
              <a:cxnLst>
                <a:cxn ang="T4">
                  <a:pos x="T0" y="T1"/>
                </a:cxn>
                <a:cxn ang="T5">
                  <a:pos x="T2" y="T3"/>
                </a:cxn>
              </a:cxnLst>
              <a:rect l="T6" t="T7" r="T8" b="T9"/>
              <a:pathLst>
                <a:path w="10000" h="10000">
                  <a:moveTo>
                    <a:pt x="0" y="0"/>
                  </a:moveTo>
                  <a:cubicBezTo>
                    <a:pt x="2419" y="3893"/>
                    <a:pt x="5753" y="7320"/>
                    <a:pt x="10000" y="10000"/>
                  </a:cubicBezTo>
                </a:path>
              </a:pathLst>
            </a:custGeom>
            <a:noFill/>
            <a:ln w="19050">
              <a:solidFill>
                <a:srgbClr val="00B0F0"/>
              </a:solidFill>
              <a:round/>
              <a:headEnd/>
              <a:tailEnd/>
            </a:ln>
          </p:spPr>
          <p:txBody>
            <a:bodyPr/>
            <a:lstStyle/>
            <a:p>
              <a:endParaRPr lang="zh-CN" altLang="en-US"/>
            </a:p>
          </p:txBody>
        </p:sp>
        <p:cxnSp>
          <p:nvCxnSpPr>
            <p:cNvPr id="90" name="直接箭头连接符 89"/>
            <p:cNvCxnSpPr/>
            <p:nvPr/>
          </p:nvCxnSpPr>
          <p:spPr>
            <a:xfrm>
              <a:off x="6391910" y="2906973"/>
              <a:ext cx="119037" cy="46572"/>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92" name="直接箭头连接符 91"/>
            <p:cNvCxnSpPr/>
            <p:nvPr/>
          </p:nvCxnSpPr>
          <p:spPr>
            <a:xfrm>
              <a:off x="7342616" y="3465838"/>
              <a:ext cx="73009" cy="154535"/>
            </a:xfrm>
            <a:prstGeom prst="straightConnector1">
              <a:avLst/>
            </a:prstGeom>
            <a:ln w="19050">
              <a:solidFill>
                <a:srgbClr val="00B0F0"/>
              </a:solidFill>
              <a:tailEnd type="arrow"/>
            </a:ln>
          </p:spPr>
          <p:style>
            <a:lnRef idx="1">
              <a:schemeClr val="accent1"/>
            </a:lnRef>
            <a:fillRef idx="0">
              <a:schemeClr val="accent1"/>
            </a:fillRef>
            <a:effectRef idx="0">
              <a:schemeClr val="accent1"/>
            </a:effectRef>
            <a:fontRef idx="minor">
              <a:schemeClr val="tx1"/>
            </a:fontRef>
          </p:style>
        </p:cxnSp>
        <p:cxnSp>
          <p:nvCxnSpPr>
            <p:cNvPr id="94" name="直接箭头连接符 93"/>
            <p:cNvCxnSpPr/>
            <p:nvPr/>
          </p:nvCxnSpPr>
          <p:spPr>
            <a:xfrm flipH="1" flipV="1">
              <a:off x="6849011" y="3730453"/>
              <a:ext cx="82532" cy="27519"/>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96" name="直接箭头连接符 95"/>
            <p:cNvCxnSpPr/>
            <p:nvPr/>
          </p:nvCxnSpPr>
          <p:spPr>
            <a:xfrm flipH="1" flipV="1">
              <a:off x="5961792" y="3053041"/>
              <a:ext cx="55550" cy="139716"/>
            </a:xfrm>
            <a:prstGeom prst="straightConnector1">
              <a:avLst/>
            </a:prstGeom>
            <a:ln w="19050">
              <a:solidFill>
                <a:srgbClr val="00B0F0"/>
              </a:solidFill>
              <a:tailEnd type="arrow"/>
            </a:ln>
          </p:spPr>
          <p:style>
            <a:lnRef idx="1">
              <a:schemeClr val="accent1"/>
            </a:lnRef>
            <a:fillRef idx="0">
              <a:schemeClr val="accent1"/>
            </a:fillRef>
            <a:effectRef idx="0">
              <a:schemeClr val="accent1"/>
            </a:effectRef>
            <a:fontRef idx="minor">
              <a:schemeClr val="tx1"/>
            </a:fontRef>
          </p:style>
        </p:cxnSp>
        <p:cxnSp>
          <p:nvCxnSpPr>
            <p:cNvPr id="98" name="直接箭头连接符 97"/>
            <p:cNvCxnSpPr/>
            <p:nvPr/>
          </p:nvCxnSpPr>
          <p:spPr>
            <a:xfrm flipV="1">
              <a:off x="5531673" y="2578852"/>
              <a:ext cx="0" cy="169141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02" name="直接箭头连接符 101"/>
            <p:cNvCxnSpPr/>
            <p:nvPr/>
          </p:nvCxnSpPr>
          <p:spPr>
            <a:xfrm>
              <a:off x="5523738" y="4261797"/>
              <a:ext cx="2395015"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13" name="直接连接符 112"/>
            <p:cNvCxnSpPr/>
            <p:nvPr/>
          </p:nvCxnSpPr>
          <p:spPr>
            <a:xfrm>
              <a:off x="7598148" y="3895572"/>
              <a:ext cx="0" cy="355641"/>
            </a:xfrm>
            <a:prstGeom prst="line">
              <a:avLst/>
            </a:prstGeom>
            <a:ln w="12700">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115" name="直接连接符 114"/>
            <p:cNvCxnSpPr/>
            <p:nvPr/>
          </p:nvCxnSpPr>
          <p:spPr>
            <a:xfrm>
              <a:off x="7206121" y="3110197"/>
              <a:ext cx="0" cy="1160068"/>
            </a:xfrm>
            <a:prstGeom prst="line">
              <a:avLst/>
            </a:prstGeom>
            <a:ln w="12700">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118" name="直接连接符 117"/>
            <p:cNvCxnSpPr/>
            <p:nvPr/>
          </p:nvCxnSpPr>
          <p:spPr>
            <a:xfrm>
              <a:off x="6190342" y="3465838"/>
              <a:ext cx="0" cy="795959"/>
            </a:xfrm>
            <a:prstGeom prst="line">
              <a:avLst/>
            </a:prstGeom>
            <a:ln w="12700">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121" name="直接连接符 120"/>
            <p:cNvCxnSpPr/>
            <p:nvPr/>
          </p:nvCxnSpPr>
          <p:spPr>
            <a:xfrm>
              <a:off x="5796728" y="2669879"/>
              <a:ext cx="0" cy="1600386"/>
            </a:xfrm>
            <a:prstGeom prst="line">
              <a:avLst/>
            </a:prstGeom>
            <a:ln w="12700">
              <a:solidFill>
                <a:schemeClr val="tx1"/>
              </a:solidFill>
              <a:prstDash val="lgDash"/>
            </a:ln>
          </p:spPr>
          <p:style>
            <a:lnRef idx="1">
              <a:schemeClr val="accent1"/>
            </a:lnRef>
            <a:fillRef idx="0">
              <a:schemeClr val="accent1"/>
            </a:fillRef>
            <a:effectRef idx="0">
              <a:schemeClr val="accent1"/>
            </a:effectRef>
            <a:fontRef idx="minor">
              <a:schemeClr val="tx1"/>
            </a:fontRef>
          </p:style>
        </p:cxnSp>
      </p:grpSp>
      <p:sp>
        <p:nvSpPr>
          <p:cNvPr id="124" name="Text Box 80"/>
          <p:cNvSpPr txBox="1">
            <a:spLocks noChangeArrowheads="1"/>
          </p:cNvSpPr>
          <p:nvPr/>
        </p:nvSpPr>
        <p:spPr bwMode="auto">
          <a:xfrm>
            <a:off x="611188" y="1885950"/>
            <a:ext cx="1657350" cy="398463"/>
          </a:xfrm>
          <a:prstGeom prst="rect">
            <a:avLst/>
          </a:prstGeom>
          <a:noFill/>
          <a:ln w="9525">
            <a:noFill/>
            <a:miter lim="800000"/>
            <a:headEnd/>
            <a:tailEnd/>
          </a:ln>
        </p:spPr>
        <p:txBody>
          <a:bodyPr>
            <a:spAutoFit/>
          </a:bodyPr>
          <a:lstStyle/>
          <a:p>
            <a:pPr>
              <a:lnSpc>
                <a:spcPct val="110000"/>
              </a:lnSpc>
            </a:pPr>
            <a:r>
              <a:rPr lang="en-US" altLang="zh-CN" b="1">
                <a:solidFill>
                  <a:srgbClr val="0000FF"/>
                </a:solidFill>
                <a:latin typeface="华文中宋"/>
                <a:ea typeface="华文中宋"/>
                <a:cs typeface="华文中宋"/>
              </a:rPr>
              <a:t>1</a:t>
            </a:r>
            <a:r>
              <a:rPr lang="zh-CN" altLang="en-US" b="1">
                <a:solidFill>
                  <a:srgbClr val="0000FF"/>
                </a:solidFill>
                <a:latin typeface="华文中宋"/>
                <a:ea typeface="华文中宋"/>
                <a:cs typeface="华文中宋"/>
              </a:rPr>
              <a:t>、卡诺热机</a:t>
            </a:r>
            <a:endParaRPr kumimoji="1" lang="zh-CN" altLang="en-US" b="1">
              <a:solidFill>
                <a:srgbClr val="000000"/>
              </a:solidFill>
              <a:latin typeface="华文中宋"/>
              <a:ea typeface="华文中宋"/>
              <a:cs typeface="华文中宋"/>
            </a:endParaRPr>
          </a:p>
        </p:txBody>
      </p:sp>
      <p:sp>
        <p:nvSpPr>
          <p:cNvPr id="125" name="Text Box 80"/>
          <p:cNvSpPr txBox="1">
            <a:spLocks noChangeArrowheads="1"/>
          </p:cNvSpPr>
          <p:nvPr/>
        </p:nvSpPr>
        <p:spPr bwMode="auto">
          <a:xfrm>
            <a:off x="179388" y="2511425"/>
            <a:ext cx="1204912" cy="396875"/>
          </a:xfrm>
          <a:prstGeom prst="rect">
            <a:avLst/>
          </a:prstGeom>
          <a:noFill/>
          <a:ln w="9525">
            <a:noFill/>
            <a:miter lim="800000"/>
            <a:headEnd/>
            <a:tailEnd/>
          </a:ln>
        </p:spPr>
        <p:txBody>
          <a:bodyPr>
            <a:spAutoFit/>
          </a:bodyPr>
          <a:lstStyle/>
          <a:p>
            <a:pPr>
              <a:lnSpc>
                <a:spcPct val="110000"/>
              </a:lnSpc>
            </a:pPr>
            <a:r>
              <a:rPr kumimoji="1" lang="zh-CN" altLang="en-US" b="1">
                <a:solidFill>
                  <a:srgbClr val="000000"/>
                </a:solidFill>
                <a:latin typeface="Times New Roman" pitchFamily="18" charset="0"/>
                <a:ea typeface="华文中宋"/>
                <a:cs typeface="华文中宋"/>
              </a:rPr>
              <a:t>两等温线</a:t>
            </a:r>
          </a:p>
        </p:txBody>
      </p:sp>
      <p:grpSp>
        <p:nvGrpSpPr>
          <p:cNvPr id="5" name="组合 141"/>
          <p:cNvGrpSpPr>
            <a:grpSpLocks/>
          </p:cNvGrpSpPr>
          <p:nvPr/>
        </p:nvGrpSpPr>
        <p:grpSpPr bwMode="auto">
          <a:xfrm>
            <a:off x="6950075" y="1600200"/>
            <a:ext cx="569913" cy="574675"/>
            <a:chOff x="6063362" y="2087880"/>
            <a:chExt cx="569913" cy="765175"/>
          </a:xfrm>
        </p:grpSpPr>
        <p:sp>
          <p:nvSpPr>
            <p:cNvPr id="28769" name="Line 47"/>
            <p:cNvSpPr>
              <a:spLocks noChangeShapeType="1"/>
            </p:cNvSpPr>
            <p:nvPr/>
          </p:nvSpPr>
          <p:spPr bwMode="auto">
            <a:xfrm rot="1169993">
              <a:off x="6241162" y="2459355"/>
              <a:ext cx="392113" cy="393700"/>
            </a:xfrm>
            <a:prstGeom prst="line">
              <a:avLst/>
            </a:prstGeom>
            <a:noFill/>
            <a:ln w="19050">
              <a:solidFill>
                <a:srgbClr val="FF00FF"/>
              </a:solidFill>
              <a:round/>
              <a:headEnd/>
              <a:tailEnd type="triangle" w="med" len="med"/>
            </a:ln>
          </p:spPr>
          <p:txBody>
            <a:bodyPr wrap="none" anchor="ctr"/>
            <a:lstStyle/>
            <a:p>
              <a:endParaRPr lang="zh-CN" altLang="en-US"/>
            </a:p>
          </p:txBody>
        </p:sp>
        <p:sp>
          <p:nvSpPr>
            <p:cNvPr id="28770" name="Text Box 61"/>
            <p:cNvSpPr txBox="1">
              <a:spLocks noChangeArrowheads="1"/>
            </p:cNvSpPr>
            <p:nvPr/>
          </p:nvSpPr>
          <p:spPr bwMode="auto">
            <a:xfrm>
              <a:off x="6063362" y="2087880"/>
              <a:ext cx="474663" cy="430292"/>
            </a:xfrm>
            <a:prstGeom prst="rect">
              <a:avLst/>
            </a:prstGeom>
            <a:noFill/>
            <a:ln w="9525">
              <a:noFill/>
              <a:miter lim="800000"/>
              <a:headEnd/>
              <a:tailEnd/>
            </a:ln>
          </p:spPr>
          <p:txBody>
            <a:bodyPr>
              <a:spAutoFit/>
            </a:bodyPr>
            <a:lstStyle/>
            <a:p>
              <a:pPr eaLnBrk="0" hangingPunct="0"/>
              <a:r>
                <a:rPr lang="en-US" altLang="zh-CN" sz="1500" b="1">
                  <a:solidFill>
                    <a:srgbClr val="FF00FF"/>
                  </a:solidFill>
                  <a:latin typeface="Times New Roman" pitchFamily="18" charset="0"/>
                </a:rPr>
                <a:t>Q</a:t>
              </a:r>
              <a:r>
                <a:rPr lang="en-US" altLang="zh-CN" sz="1500" b="1" baseline="-25000">
                  <a:solidFill>
                    <a:srgbClr val="FF00FF"/>
                  </a:solidFill>
                  <a:latin typeface="Times New Roman" pitchFamily="18" charset="0"/>
                </a:rPr>
                <a:t>1</a:t>
              </a:r>
              <a:endParaRPr lang="en-US" altLang="zh-CN" sz="1500" b="1">
                <a:solidFill>
                  <a:srgbClr val="FF00FF"/>
                </a:solidFill>
                <a:latin typeface="Times New Roman" pitchFamily="18" charset="0"/>
              </a:endParaRPr>
            </a:p>
          </p:txBody>
        </p:sp>
      </p:grpSp>
      <p:sp>
        <p:nvSpPr>
          <p:cNvPr id="145" name="Text Box 80"/>
          <p:cNvSpPr txBox="1">
            <a:spLocks noChangeArrowheads="1"/>
          </p:cNvSpPr>
          <p:nvPr/>
        </p:nvSpPr>
        <p:spPr bwMode="auto">
          <a:xfrm>
            <a:off x="1709738" y="2216150"/>
            <a:ext cx="1768475" cy="376238"/>
          </a:xfrm>
          <a:prstGeom prst="rect">
            <a:avLst/>
          </a:prstGeom>
          <a:noFill/>
          <a:ln w="9525">
            <a:noFill/>
            <a:miter lim="800000"/>
            <a:headEnd/>
            <a:tailEnd/>
          </a:ln>
        </p:spPr>
        <p:txBody>
          <a:bodyPr>
            <a:spAutoFit/>
          </a:bodyPr>
          <a:lstStyle/>
          <a:p>
            <a:pPr>
              <a:lnSpc>
                <a:spcPct val="110000"/>
              </a:lnSpc>
            </a:pPr>
            <a:r>
              <a:rPr kumimoji="1" lang="en-US" altLang="zh-CN" b="1" i="1">
                <a:solidFill>
                  <a:srgbClr val="000000"/>
                </a:solidFill>
                <a:latin typeface="Times New Roman" pitchFamily="18" charset="0"/>
                <a:ea typeface="华文中宋"/>
                <a:cs typeface="华文中宋"/>
              </a:rPr>
              <a:t>a</a:t>
            </a:r>
            <a:r>
              <a:rPr kumimoji="1" lang="en-US" altLang="zh-CN" b="1">
                <a:solidFill>
                  <a:srgbClr val="000000"/>
                </a:solidFill>
                <a:latin typeface="Times New Roman" pitchFamily="18" charset="0"/>
                <a:ea typeface="华文中宋"/>
                <a:cs typeface="华文中宋"/>
              </a:rPr>
              <a:t>→</a:t>
            </a:r>
            <a:r>
              <a:rPr kumimoji="1" lang="en-US" altLang="zh-CN" b="1" i="1">
                <a:solidFill>
                  <a:srgbClr val="000000"/>
                </a:solidFill>
                <a:latin typeface="Times New Roman" pitchFamily="18" charset="0"/>
                <a:ea typeface="华文中宋"/>
                <a:cs typeface="华文中宋"/>
              </a:rPr>
              <a:t>b </a:t>
            </a:r>
            <a:r>
              <a:rPr kumimoji="1" lang="zh-CN" altLang="en-US" b="1">
                <a:solidFill>
                  <a:srgbClr val="000000"/>
                </a:solidFill>
                <a:latin typeface="Times New Roman" pitchFamily="18" charset="0"/>
                <a:ea typeface="华文中宋"/>
                <a:cs typeface="华文中宋"/>
              </a:rPr>
              <a:t>吸热</a:t>
            </a:r>
          </a:p>
        </p:txBody>
      </p:sp>
      <p:graphicFrame>
        <p:nvGraphicFramePr>
          <p:cNvPr id="146" name="Object 74"/>
          <p:cNvGraphicFramePr>
            <a:graphicFrameLocks noChangeAspect="1"/>
          </p:cNvGraphicFramePr>
          <p:nvPr/>
        </p:nvGraphicFramePr>
        <p:xfrm>
          <a:off x="3059113" y="2151063"/>
          <a:ext cx="1804987" cy="596900"/>
        </p:xfrm>
        <a:graphic>
          <a:graphicData uri="http://schemas.openxmlformats.org/presentationml/2006/ole">
            <p:oleObj spid="_x0000_s28746" name="公式" r:id="rId3" imgW="1002865" imgH="444307" progId="Equation.3">
              <p:embed/>
            </p:oleObj>
          </a:graphicData>
        </a:graphic>
      </p:graphicFrame>
      <p:sp>
        <p:nvSpPr>
          <p:cNvPr id="147" name="Text Box 80"/>
          <p:cNvSpPr txBox="1">
            <a:spLocks noChangeArrowheads="1"/>
          </p:cNvSpPr>
          <p:nvPr/>
        </p:nvSpPr>
        <p:spPr bwMode="auto">
          <a:xfrm>
            <a:off x="1727200" y="2701925"/>
            <a:ext cx="1778000" cy="376238"/>
          </a:xfrm>
          <a:prstGeom prst="rect">
            <a:avLst/>
          </a:prstGeom>
          <a:noFill/>
          <a:ln w="9525">
            <a:noFill/>
            <a:miter lim="800000"/>
            <a:headEnd/>
            <a:tailEnd/>
          </a:ln>
        </p:spPr>
        <p:txBody>
          <a:bodyPr>
            <a:spAutoFit/>
          </a:bodyPr>
          <a:lstStyle/>
          <a:p>
            <a:pPr>
              <a:lnSpc>
                <a:spcPct val="110000"/>
              </a:lnSpc>
            </a:pPr>
            <a:r>
              <a:rPr kumimoji="1" lang="en-US" altLang="zh-CN" b="1" i="1">
                <a:solidFill>
                  <a:srgbClr val="000000"/>
                </a:solidFill>
                <a:latin typeface="Times New Roman" pitchFamily="18" charset="0"/>
                <a:ea typeface="华文中宋"/>
                <a:cs typeface="华文中宋"/>
              </a:rPr>
              <a:t>c</a:t>
            </a:r>
            <a:r>
              <a:rPr kumimoji="1" lang="en-US" altLang="zh-CN" b="1">
                <a:solidFill>
                  <a:srgbClr val="000000"/>
                </a:solidFill>
                <a:latin typeface="Times New Roman" pitchFamily="18" charset="0"/>
                <a:ea typeface="华文中宋"/>
                <a:cs typeface="华文中宋"/>
              </a:rPr>
              <a:t>→</a:t>
            </a:r>
            <a:r>
              <a:rPr kumimoji="1" lang="en-US" altLang="zh-CN" b="1" i="1">
                <a:solidFill>
                  <a:srgbClr val="000000"/>
                </a:solidFill>
                <a:latin typeface="Times New Roman" pitchFamily="18" charset="0"/>
                <a:ea typeface="华文中宋"/>
                <a:cs typeface="华文中宋"/>
              </a:rPr>
              <a:t>d </a:t>
            </a:r>
            <a:r>
              <a:rPr kumimoji="1" lang="zh-CN" altLang="en-US" b="1">
                <a:solidFill>
                  <a:srgbClr val="000000"/>
                </a:solidFill>
                <a:latin typeface="Times New Roman" pitchFamily="18" charset="0"/>
                <a:ea typeface="华文中宋"/>
                <a:cs typeface="华文中宋"/>
              </a:rPr>
              <a:t>放热</a:t>
            </a:r>
          </a:p>
        </p:txBody>
      </p:sp>
      <p:grpSp>
        <p:nvGrpSpPr>
          <p:cNvPr id="6" name="组合 147"/>
          <p:cNvGrpSpPr>
            <a:grpSpLocks/>
          </p:cNvGrpSpPr>
          <p:nvPr/>
        </p:nvGrpSpPr>
        <p:grpSpPr bwMode="auto">
          <a:xfrm>
            <a:off x="7394575" y="2255838"/>
            <a:ext cx="398463" cy="650875"/>
            <a:chOff x="6452300" y="3199130"/>
            <a:chExt cx="397705" cy="867352"/>
          </a:xfrm>
        </p:grpSpPr>
        <p:sp>
          <p:nvSpPr>
            <p:cNvPr id="28767" name="Line 48"/>
            <p:cNvSpPr>
              <a:spLocks noChangeShapeType="1"/>
            </p:cNvSpPr>
            <p:nvPr/>
          </p:nvSpPr>
          <p:spPr bwMode="auto">
            <a:xfrm rot="-584322">
              <a:off x="6506275" y="3199130"/>
              <a:ext cx="95250" cy="542925"/>
            </a:xfrm>
            <a:prstGeom prst="line">
              <a:avLst/>
            </a:prstGeom>
            <a:noFill/>
            <a:ln w="19050">
              <a:solidFill>
                <a:srgbClr val="0000FF"/>
              </a:solidFill>
              <a:round/>
              <a:headEnd/>
              <a:tailEnd type="triangle" w="med" len="med"/>
            </a:ln>
          </p:spPr>
          <p:txBody>
            <a:bodyPr wrap="none" anchor="ctr"/>
            <a:lstStyle/>
            <a:p>
              <a:endParaRPr lang="zh-CN" altLang="en-US"/>
            </a:p>
          </p:txBody>
        </p:sp>
        <p:sp>
          <p:nvSpPr>
            <p:cNvPr id="28768" name="Text Box 60"/>
            <p:cNvSpPr txBox="1">
              <a:spLocks noChangeArrowheads="1"/>
            </p:cNvSpPr>
            <p:nvPr/>
          </p:nvSpPr>
          <p:spPr bwMode="auto">
            <a:xfrm>
              <a:off x="6452300" y="3635693"/>
              <a:ext cx="397705" cy="430789"/>
            </a:xfrm>
            <a:prstGeom prst="rect">
              <a:avLst/>
            </a:prstGeom>
            <a:noFill/>
            <a:ln w="9525">
              <a:noFill/>
              <a:miter lim="800000"/>
              <a:headEnd/>
              <a:tailEnd/>
            </a:ln>
          </p:spPr>
          <p:txBody>
            <a:bodyPr wrap="none">
              <a:spAutoFit/>
            </a:bodyPr>
            <a:lstStyle/>
            <a:p>
              <a:pPr eaLnBrk="0" hangingPunct="0"/>
              <a:r>
                <a:rPr lang="en-US" altLang="zh-CN" sz="1500" b="1">
                  <a:solidFill>
                    <a:srgbClr val="0000FF"/>
                  </a:solidFill>
                  <a:latin typeface="Times New Roman" pitchFamily="18" charset="0"/>
                </a:rPr>
                <a:t>Q</a:t>
              </a:r>
              <a:r>
                <a:rPr lang="en-US" altLang="zh-CN" sz="1500" b="1" baseline="-25000">
                  <a:solidFill>
                    <a:srgbClr val="0000FF"/>
                  </a:solidFill>
                  <a:latin typeface="Times New Roman" pitchFamily="18" charset="0"/>
                </a:rPr>
                <a:t>2</a:t>
              </a:r>
              <a:endParaRPr lang="en-US" altLang="zh-CN" sz="1500" b="1">
                <a:solidFill>
                  <a:srgbClr val="0000FF"/>
                </a:solidFill>
                <a:latin typeface="Times New Roman" pitchFamily="18" charset="0"/>
              </a:endParaRPr>
            </a:p>
          </p:txBody>
        </p:sp>
      </p:grpSp>
      <p:graphicFrame>
        <p:nvGraphicFramePr>
          <p:cNvPr id="151" name="Object 75"/>
          <p:cNvGraphicFramePr>
            <a:graphicFrameLocks noChangeAspect="1"/>
          </p:cNvGraphicFramePr>
          <p:nvPr/>
        </p:nvGraphicFramePr>
        <p:xfrm>
          <a:off x="3063875" y="2640013"/>
          <a:ext cx="1771650" cy="579437"/>
        </p:xfrm>
        <a:graphic>
          <a:graphicData uri="http://schemas.openxmlformats.org/presentationml/2006/ole">
            <p:oleObj spid="_x0000_s28747" name="公式" r:id="rId4" imgW="1015559" imgH="444307" progId="Equation.3">
              <p:embed/>
            </p:oleObj>
          </a:graphicData>
        </a:graphic>
      </p:graphicFrame>
      <p:sp>
        <p:nvSpPr>
          <p:cNvPr id="152" name="Text Box 83"/>
          <p:cNvSpPr txBox="1">
            <a:spLocks noChangeArrowheads="1"/>
          </p:cNvSpPr>
          <p:nvPr/>
        </p:nvSpPr>
        <p:spPr bwMode="auto">
          <a:xfrm>
            <a:off x="206375" y="3292475"/>
            <a:ext cx="1403350" cy="374650"/>
          </a:xfrm>
          <a:prstGeom prst="rect">
            <a:avLst/>
          </a:prstGeom>
          <a:noFill/>
          <a:ln w="9525">
            <a:noFill/>
            <a:miter lim="800000"/>
            <a:headEnd/>
            <a:tailEnd/>
          </a:ln>
        </p:spPr>
        <p:txBody>
          <a:bodyPr>
            <a:spAutoFit/>
          </a:bodyPr>
          <a:lstStyle/>
          <a:p>
            <a:pPr>
              <a:lnSpc>
                <a:spcPct val="110000"/>
              </a:lnSpc>
            </a:pPr>
            <a:r>
              <a:rPr kumimoji="1" lang="zh-CN" altLang="en-US" b="1">
                <a:solidFill>
                  <a:srgbClr val="000000"/>
                </a:solidFill>
                <a:latin typeface="Times New Roman" pitchFamily="18" charset="0"/>
                <a:ea typeface="华文中宋"/>
                <a:cs typeface="华文中宋"/>
              </a:rPr>
              <a:t>两绝热线</a:t>
            </a:r>
          </a:p>
        </p:txBody>
      </p:sp>
      <p:sp>
        <p:nvSpPr>
          <p:cNvPr id="153" name="Text Box 83"/>
          <p:cNvSpPr txBox="1">
            <a:spLocks noChangeArrowheads="1"/>
          </p:cNvSpPr>
          <p:nvPr/>
        </p:nvSpPr>
        <p:spPr bwMode="auto">
          <a:xfrm>
            <a:off x="1763713" y="3076575"/>
            <a:ext cx="777875" cy="374650"/>
          </a:xfrm>
          <a:prstGeom prst="rect">
            <a:avLst/>
          </a:prstGeom>
          <a:noFill/>
          <a:ln w="9525">
            <a:noFill/>
            <a:miter lim="800000"/>
            <a:headEnd/>
            <a:tailEnd/>
          </a:ln>
        </p:spPr>
        <p:txBody>
          <a:bodyPr>
            <a:spAutoFit/>
          </a:bodyPr>
          <a:lstStyle/>
          <a:p>
            <a:pPr>
              <a:lnSpc>
                <a:spcPct val="110000"/>
              </a:lnSpc>
            </a:pPr>
            <a:r>
              <a:rPr kumimoji="1" lang="en-US" altLang="zh-CN" b="1" i="1">
                <a:solidFill>
                  <a:srgbClr val="000000"/>
                </a:solidFill>
                <a:latin typeface="Times New Roman" pitchFamily="18" charset="0"/>
              </a:rPr>
              <a:t>b</a:t>
            </a:r>
            <a:r>
              <a:rPr kumimoji="1" lang="en-US" altLang="zh-CN" b="1">
                <a:solidFill>
                  <a:srgbClr val="000000"/>
                </a:solidFill>
                <a:latin typeface="Times New Roman" pitchFamily="18" charset="0"/>
              </a:rPr>
              <a:t>→</a:t>
            </a:r>
            <a:r>
              <a:rPr kumimoji="1" lang="en-US" altLang="zh-CN" b="1" i="1">
                <a:solidFill>
                  <a:srgbClr val="000000"/>
                </a:solidFill>
                <a:latin typeface="Times New Roman" pitchFamily="18" charset="0"/>
              </a:rPr>
              <a:t>c</a:t>
            </a:r>
          </a:p>
        </p:txBody>
      </p:sp>
      <p:graphicFrame>
        <p:nvGraphicFramePr>
          <p:cNvPr id="154" name="Object 76"/>
          <p:cNvGraphicFramePr>
            <a:graphicFrameLocks noChangeAspect="1"/>
          </p:cNvGraphicFramePr>
          <p:nvPr/>
        </p:nvGraphicFramePr>
        <p:xfrm>
          <a:off x="2946400" y="3133725"/>
          <a:ext cx="1943100" cy="349250"/>
        </p:xfrm>
        <a:graphic>
          <a:graphicData uri="http://schemas.openxmlformats.org/presentationml/2006/ole">
            <p:oleObj spid="_x0000_s28748" name="公式" r:id="rId5" imgW="1002865" imgH="241195" progId="Equation.3">
              <p:embed/>
            </p:oleObj>
          </a:graphicData>
        </a:graphic>
      </p:graphicFrame>
      <p:sp>
        <p:nvSpPr>
          <p:cNvPr id="155" name="Text Box 83"/>
          <p:cNvSpPr txBox="1">
            <a:spLocks noChangeArrowheads="1"/>
          </p:cNvSpPr>
          <p:nvPr/>
        </p:nvSpPr>
        <p:spPr bwMode="auto">
          <a:xfrm>
            <a:off x="1790700" y="3543300"/>
            <a:ext cx="795338" cy="374650"/>
          </a:xfrm>
          <a:prstGeom prst="rect">
            <a:avLst/>
          </a:prstGeom>
          <a:noFill/>
          <a:ln w="9525">
            <a:noFill/>
            <a:miter lim="800000"/>
            <a:headEnd/>
            <a:tailEnd/>
          </a:ln>
        </p:spPr>
        <p:txBody>
          <a:bodyPr>
            <a:spAutoFit/>
          </a:bodyPr>
          <a:lstStyle/>
          <a:p>
            <a:pPr>
              <a:lnSpc>
                <a:spcPct val="110000"/>
              </a:lnSpc>
            </a:pPr>
            <a:r>
              <a:rPr kumimoji="1" lang="en-US" altLang="zh-CN" b="1" i="1">
                <a:solidFill>
                  <a:srgbClr val="000000"/>
                </a:solidFill>
                <a:latin typeface="Times New Roman" pitchFamily="18" charset="0"/>
              </a:rPr>
              <a:t>d</a:t>
            </a:r>
            <a:r>
              <a:rPr kumimoji="1" lang="en-US" altLang="zh-CN" b="1">
                <a:solidFill>
                  <a:srgbClr val="000000"/>
                </a:solidFill>
                <a:latin typeface="Times New Roman" pitchFamily="18" charset="0"/>
              </a:rPr>
              <a:t>→</a:t>
            </a:r>
            <a:r>
              <a:rPr kumimoji="1" lang="en-US" altLang="zh-CN" b="1" i="1">
                <a:solidFill>
                  <a:srgbClr val="000000"/>
                </a:solidFill>
                <a:latin typeface="Times New Roman" pitchFamily="18" charset="0"/>
              </a:rPr>
              <a:t>a</a:t>
            </a:r>
          </a:p>
        </p:txBody>
      </p:sp>
      <p:graphicFrame>
        <p:nvGraphicFramePr>
          <p:cNvPr id="156" name="Object 77"/>
          <p:cNvGraphicFramePr>
            <a:graphicFrameLocks noChangeAspect="1"/>
          </p:cNvGraphicFramePr>
          <p:nvPr/>
        </p:nvGraphicFramePr>
        <p:xfrm>
          <a:off x="2947988" y="3589338"/>
          <a:ext cx="1941512" cy="331787"/>
        </p:xfrm>
        <a:graphic>
          <a:graphicData uri="http://schemas.openxmlformats.org/presentationml/2006/ole">
            <p:oleObj spid="_x0000_s28749" name="公式" r:id="rId6" imgW="1002865" imgH="228501" progId="Equation.3">
              <p:embed/>
            </p:oleObj>
          </a:graphicData>
        </a:graphic>
      </p:graphicFrame>
      <p:graphicFrame>
        <p:nvGraphicFramePr>
          <p:cNvPr id="157" name="Object 78"/>
          <p:cNvGraphicFramePr>
            <a:graphicFrameLocks noChangeAspect="1"/>
          </p:cNvGraphicFramePr>
          <p:nvPr/>
        </p:nvGraphicFramePr>
        <p:xfrm>
          <a:off x="5394325" y="3259138"/>
          <a:ext cx="1030288" cy="566737"/>
        </p:xfrm>
        <a:graphic>
          <a:graphicData uri="http://schemas.openxmlformats.org/presentationml/2006/ole">
            <p:oleObj spid="_x0000_s28750" name="公式" r:id="rId7" imgW="431425" imgH="317225" progId="Equation.3">
              <p:embed/>
            </p:oleObj>
          </a:graphicData>
        </a:graphic>
      </p:graphicFrame>
      <p:sp>
        <p:nvSpPr>
          <p:cNvPr id="49171" name="AutoShape 51"/>
          <p:cNvSpPr>
            <a:spLocks/>
          </p:cNvSpPr>
          <p:nvPr/>
        </p:nvSpPr>
        <p:spPr bwMode="auto">
          <a:xfrm>
            <a:off x="5033963" y="3265488"/>
            <a:ext cx="144462" cy="541337"/>
          </a:xfrm>
          <a:prstGeom prst="rightBrace">
            <a:avLst>
              <a:gd name="adj1" fmla="val 41636"/>
              <a:gd name="adj2" fmla="val 50000"/>
            </a:avLst>
          </a:prstGeom>
          <a:noFill/>
          <a:ln w="25400">
            <a:solidFill>
              <a:schemeClr val="tx1"/>
            </a:solidFill>
            <a:round/>
            <a:headEnd/>
            <a:tailEnd/>
          </a:ln>
        </p:spPr>
        <p:txBody>
          <a:bodyPr wrap="none" anchor="ctr"/>
          <a:lstStyle/>
          <a:p>
            <a:endParaRPr kumimoji="1" lang="zh-CN" altLang="en-US" sz="2400" b="1">
              <a:solidFill>
                <a:srgbClr val="000000"/>
              </a:solidFill>
              <a:latin typeface="Times New Roman" pitchFamily="18" charset="0"/>
              <a:ea typeface="华文中宋"/>
              <a:cs typeface="华文中宋"/>
            </a:endParaRPr>
          </a:p>
        </p:txBody>
      </p:sp>
      <p:graphicFrame>
        <p:nvGraphicFramePr>
          <p:cNvPr id="7" name="Object 79"/>
          <p:cNvGraphicFramePr>
            <a:graphicFrameLocks noChangeAspect="1"/>
          </p:cNvGraphicFramePr>
          <p:nvPr/>
        </p:nvGraphicFramePr>
        <p:xfrm>
          <a:off x="1600200" y="4194175"/>
          <a:ext cx="1077913" cy="523875"/>
        </p:xfrm>
        <a:graphic>
          <a:graphicData uri="http://schemas.openxmlformats.org/presentationml/2006/ole">
            <p:oleObj spid="_x0000_s28751" name="公式" r:id="rId8" imgW="685502" imgH="444307" progId="Equation.3">
              <p:embed/>
            </p:oleObj>
          </a:graphicData>
        </a:graphic>
      </p:graphicFrame>
      <p:graphicFrame>
        <p:nvGraphicFramePr>
          <p:cNvPr id="52" name="Object 80"/>
          <p:cNvGraphicFramePr>
            <a:graphicFrameLocks noChangeAspect="1"/>
          </p:cNvGraphicFramePr>
          <p:nvPr/>
        </p:nvGraphicFramePr>
        <p:xfrm>
          <a:off x="2743200" y="3932238"/>
          <a:ext cx="1679575" cy="1016000"/>
        </p:xfrm>
        <a:graphic>
          <a:graphicData uri="http://schemas.openxmlformats.org/presentationml/2006/ole">
            <p:oleObj spid="_x0000_s28752" name="公式" r:id="rId9" imgW="1041400" imgH="838200" progId="Equation.3">
              <p:embed/>
            </p:oleObj>
          </a:graphicData>
        </a:graphic>
      </p:graphicFrame>
      <p:graphicFrame>
        <p:nvGraphicFramePr>
          <p:cNvPr id="53" name="Object 81"/>
          <p:cNvGraphicFramePr>
            <a:graphicFrameLocks noChangeAspect="1"/>
          </p:cNvGraphicFramePr>
          <p:nvPr/>
        </p:nvGraphicFramePr>
        <p:xfrm>
          <a:off x="4543425" y="4144963"/>
          <a:ext cx="1036638" cy="608012"/>
        </p:xfrm>
        <a:graphic>
          <a:graphicData uri="http://schemas.openxmlformats.org/presentationml/2006/ole">
            <p:oleObj spid="_x0000_s28753" name="公式" r:id="rId10" imgW="406048" imgH="317225" progId="Equation.3">
              <p:embed/>
            </p:oleObj>
          </a:graphicData>
        </a:graphic>
      </p:graphicFrame>
      <p:sp>
        <p:nvSpPr>
          <p:cNvPr id="54" name="Text Box 2"/>
          <p:cNvSpPr>
            <a:spLocks noChangeArrowheads="1"/>
          </p:cNvSpPr>
          <p:nvPr/>
        </p:nvSpPr>
        <p:spPr bwMode="auto">
          <a:xfrm>
            <a:off x="839788" y="874713"/>
            <a:ext cx="1860550" cy="401637"/>
          </a:xfrm>
          <a:prstGeom prst="homePlate">
            <a:avLst>
              <a:gd name="adj" fmla="val 49756"/>
            </a:avLst>
          </a:prstGeom>
          <a:solidFill>
            <a:srgbClr val="539A84"/>
          </a:solidFill>
          <a:ln w="9525">
            <a:noFill/>
            <a:miter lim="800000"/>
            <a:headEnd/>
            <a:tailEnd/>
          </a:ln>
        </p:spPr>
        <p:txBody>
          <a:bodyPr>
            <a:spAutoFit/>
          </a:bodyPr>
          <a:lstStyle/>
          <a:p>
            <a:pPr>
              <a:buFont typeface="Arial" charset="0"/>
              <a:buNone/>
            </a:pPr>
            <a:r>
              <a:rPr kumimoji="1" lang="zh-CN" altLang="en-US" sz="2000" b="1">
                <a:solidFill>
                  <a:srgbClr val="FFFFFF"/>
                </a:solidFill>
                <a:latin typeface="微软雅黑" pitchFamily="34" charset="-122"/>
                <a:ea typeface="微软雅黑" pitchFamily="34" charset="-122"/>
              </a:rPr>
              <a:t>二、卡诺循环</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4"/>
                                        </p:tgtEl>
                                        <p:attrNameLst>
                                          <p:attrName>style.visibility</p:attrName>
                                        </p:attrNameLst>
                                      </p:cBhvr>
                                      <p:to>
                                        <p:strVal val="visible"/>
                                      </p:to>
                                    </p:set>
                                    <p:animEffect transition="in" filter="wipe(left)">
                                      <p:cBhvr>
                                        <p:cTn id="7" dur="500"/>
                                        <p:tgtEl>
                                          <p:spTgt spid="5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3" presetClass="entr" presetSubtype="16"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p:cTn id="17" dur="500" fill="hold"/>
                                        <p:tgtEl>
                                          <p:spTgt spid="2"/>
                                        </p:tgtEl>
                                        <p:attrNameLst>
                                          <p:attrName>ppt_w</p:attrName>
                                        </p:attrNameLst>
                                      </p:cBhvr>
                                      <p:tavLst>
                                        <p:tav tm="0">
                                          <p:val>
                                            <p:fltVal val="0"/>
                                          </p:val>
                                        </p:tav>
                                        <p:tav tm="100000">
                                          <p:val>
                                            <p:strVal val="#ppt_w"/>
                                          </p:val>
                                        </p:tav>
                                      </p:tavLst>
                                    </p:anim>
                                    <p:anim calcmode="lin" valueType="num">
                                      <p:cBhvr>
                                        <p:cTn id="18" dur="500" fill="hold"/>
                                        <p:tgtEl>
                                          <p:spTgt spid="2"/>
                                        </p:tgtEl>
                                        <p:attrNameLst>
                                          <p:attrName>ppt_h</p:attrName>
                                        </p:attrNameLst>
                                      </p:cBhvr>
                                      <p:tavLst>
                                        <p:tav tm="0">
                                          <p:val>
                                            <p:fltVal val="0"/>
                                          </p:val>
                                        </p:tav>
                                        <p:tav tm="100000">
                                          <p:val>
                                            <p:strVal val="#ppt_h"/>
                                          </p:val>
                                        </p:tav>
                                      </p:tavLst>
                                    </p:anim>
                                    <p:animEffect transition="in" filter="fade">
                                      <p:cBhvr>
                                        <p:cTn id="19" dur="500"/>
                                        <p:tgtEl>
                                          <p:spTgt spid="2"/>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124">
                                            <p:txEl>
                                              <p:pRg st="0" end="0"/>
                                            </p:txEl>
                                          </p:spTgt>
                                        </p:tgtEl>
                                        <p:attrNameLst>
                                          <p:attrName>style.visibility</p:attrName>
                                        </p:attrNameLst>
                                      </p:cBhvr>
                                      <p:to>
                                        <p:strVal val="visible"/>
                                      </p:to>
                                    </p:set>
                                    <p:animEffect transition="in" filter="wipe(left)">
                                      <p:cBhvr>
                                        <p:cTn id="24" dur="500"/>
                                        <p:tgtEl>
                                          <p:spTgt spid="124">
                                            <p:txEl>
                                              <p:pRg st="0" end="0"/>
                                            </p:txEl>
                                          </p:spTgt>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125">
                                            <p:txEl>
                                              <p:pRg st="0" end="0"/>
                                            </p:txEl>
                                          </p:spTgt>
                                        </p:tgtEl>
                                        <p:attrNameLst>
                                          <p:attrName>style.visibility</p:attrName>
                                        </p:attrNameLst>
                                      </p:cBhvr>
                                      <p:to>
                                        <p:strVal val="visible"/>
                                      </p:to>
                                    </p:set>
                                    <p:animEffect transition="in" filter="wipe(left)">
                                      <p:cBhvr>
                                        <p:cTn id="29" dur="500"/>
                                        <p:tgtEl>
                                          <p:spTgt spid="125">
                                            <p:txEl>
                                              <p:pRg st="0" end="0"/>
                                            </p:txEl>
                                          </p:spTgt>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1" fill="hold" nodeType="clickEffect">
                                  <p:stCondLst>
                                    <p:cond delay="0"/>
                                  </p:stCondLst>
                                  <p:childTnLst>
                                    <p:set>
                                      <p:cBhvr>
                                        <p:cTn id="33" dur="1" fill="hold">
                                          <p:stCondLst>
                                            <p:cond delay="0"/>
                                          </p:stCondLst>
                                        </p:cTn>
                                        <p:tgtEl>
                                          <p:spTgt spid="5"/>
                                        </p:tgtEl>
                                        <p:attrNameLst>
                                          <p:attrName>style.visibility</p:attrName>
                                        </p:attrNameLst>
                                      </p:cBhvr>
                                      <p:to>
                                        <p:strVal val="visible"/>
                                      </p:to>
                                    </p:set>
                                    <p:animEffect transition="in" filter="wipe(up)">
                                      <p:cBhvr>
                                        <p:cTn id="34" dur="500"/>
                                        <p:tgtEl>
                                          <p:spTgt spid="5"/>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145">
                                            <p:txEl>
                                              <p:pRg st="0" end="0"/>
                                            </p:txEl>
                                          </p:spTgt>
                                        </p:tgtEl>
                                        <p:attrNameLst>
                                          <p:attrName>style.visibility</p:attrName>
                                        </p:attrNameLst>
                                      </p:cBhvr>
                                      <p:to>
                                        <p:strVal val="visible"/>
                                      </p:to>
                                    </p:set>
                                    <p:animEffect transition="in" filter="wipe(left)">
                                      <p:cBhvr>
                                        <p:cTn id="39" dur="500"/>
                                        <p:tgtEl>
                                          <p:spTgt spid="145">
                                            <p:txEl>
                                              <p:pRg st="0" end="0"/>
                                            </p:txEl>
                                          </p:spTgt>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8" fill="hold" nodeType="clickEffect">
                                  <p:stCondLst>
                                    <p:cond delay="0"/>
                                  </p:stCondLst>
                                  <p:childTnLst>
                                    <p:set>
                                      <p:cBhvr>
                                        <p:cTn id="43" dur="1" fill="hold">
                                          <p:stCondLst>
                                            <p:cond delay="0"/>
                                          </p:stCondLst>
                                        </p:cTn>
                                        <p:tgtEl>
                                          <p:spTgt spid="146"/>
                                        </p:tgtEl>
                                        <p:attrNameLst>
                                          <p:attrName>style.visibility</p:attrName>
                                        </p:attrNameLst>
                                      </p:cBhvr>
                                      <p:to>
                                        <p:strVal val="visible"/>
                                      </p:to>
                                    </p:set>
                                    <p:animEffect transition="in" filter="wipe(left)">
                                      <p:cBhvr>
                                        <p:cTn id="44" dur="500"/>
                                        <p:tgtEl>
                                          <p:spTgt spid="146"/>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147">
                                            <p:txEl>
                                              <p:pRg st="0" end="0"/>
                                            </p:txEl>
                                          </p:spTgt>
                                        </p:tgtEl>
                                        <p:attrNameLst>
                                          <p:attrName>style.visibility</p:attrName>
                                        </p:attrNameLst>
                                      </p:cBhvr>
                                      <p:to>
                                        <p:strVal val="visible"/>
                                      </p:to>
                                    </p:set>
                                    <p:animEffect transition="in" filter="wipe(left)">
                                      <p:cBhvr>
                                        <p:cTn id="49" dur="500"/>
                                        <p:tgtEl>
                                          <p:spTgt spid="147">
                                            <p:txEl>
                                              <p:pRg st="0" end="0"/>
                                            </p:txEl>
                                          </p:spTgt>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1" fill="hold" nodeType="clickEffect">
                                  <p:stCondLst>
                                    <p:cond delay="0"/>
                                  </p:stCondLst>
                                  <p:childTnLst>
                                    <p:set>
                                      <p:cBhvr>
                                        <p:cTn id="53" dur="1" fill="hold">
                                          <p:stCondLst>
                                            <p:cond delay="0"/>
                                          </p:stCondLst>
                                        </p:cTn>
                                        <p:tgtEl>
                                          <p:spTgt spid="6"/>
                                        </p:tgtEl>
                                        <p:attrNameLst>
                                          <p:attrName>style.visibility</p:attrName>
                                        </p:attrNameLst>
                                      </p:cBhvr>
                                      <p:to>
                                        <p:strVal val="visible"/>
                                      </p:to>
                                    </p:set>
                                    <p:animEffect transition="in" filter="wipe(up)">
                                      <p:cBhvr>
                                        <p:cTn id="54" dur="500"/>
                                        <p:tgtEl>
                                          <p:spTgt spid="6"/>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8" fill="hold" nodeType="clickEffect">
                                  <p:stCondLst>
                                    <p:cond delay="0"/>
                                  </p:stCondLst>
                                  <p:childTnLst>
                                    <p:set>
                                      <p:cBhvr>
                                        <p:cTn id="58" dur="1" fill="hold">
                                          <p:stCondLst>
                                            <p:cond delay="0"/>
                                          </p:stCondLst>
                                        </p:cTn>
                                        <p:tgtEl>
                                          <p:spTgt spid="151"/>
                                        </p:tgtEl>
                                        <p:attrNameLst>
                                          <p:attrName>style.visibility</p:attrName>
                                        </p:attrNameLst>
                                      </p:cBhvr>
                                      <p:to>
                                        <p:strVal val="visible"/>
                                      </p:to>
                                    </p:set>
                                    <p:animEffect transition="in" filter="wipe(left)">
                                      <p:cBhvr>
                                        <p:cTn id="59" dur="500"/>
                                        <p:tgtEl>
                                          <p:spTgt spid="151"/>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22" presetClass="entr" presetSubtype="8" fill="hold" grpId="0" nodeType="clickEffect">
                                  <p:stCondLst>
                                    <p:cond delay="0"/>
                                  </p:stCondLst>
                                  <p:childTnLst>
                                    <p:set>
                                      <p:cBhvr>
                                        <p:cTn id="63" dur="1" fill="hold">
                                          <p:stCondLst>
                                            <p:cond delay="0"/>
                                          </p:stCondLst>
                                        </p:cTn>
                                        <p:tgtEl>
                                          <p:spTgt spid="152"/>
                                        </p:tgtEl>
                                        <p:attrNameLst>
                                          <p:attrName>style.visibility</p:attrName>
                                        </p:attrNameLst>
                                      </p:cBhvr>
                                      <p:to>
                                        <p:strVal val="visible"/>
                                      </p:to>
                                    </p:set>
                                    <p:animEffect transition="in" filter="wipe(left)">
                                      <p:cBhvr>
                                        <p:cTn id="64" dur="500"/>
                                        <p:tgtEl>
                                          <p:spTgt spid="152"/>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22" presetClass="entr" presetSubtype="8" fill="hold" grpId="0" nodeType="clickEffect">
                                  <p:stCondLst>
                                    <p:cond delay="0"/>
                                  </p:stCondLst>
                                  <p:childTnLst>
                                    <p:set>
                                      <p:cBhvr>
                                        <p:cTn id="68" dur="1" fill="hold">
                                          <p:stCondLst>
                                            <p:cond delay="0"/>
                                          </p:stCondLst>
                                        </p:cTn>
                                        <p:tgtEl>
                                          <p:spTgt spid="153"/>
                                        </p:tgtEl>
                                        <p:attrNameLst>
                                          <p:attrName>style.visibility</p:attrName>
                                        </p:attrNameLst>
                                      </p:cBhvr>
                                      <p:to>
                                        <p:strVal val="visible"/>
                                      </p:to>
                                    </p:set>
                                    <p:animEffect transition="in" filter="wipe(left)">
                                      <p:cBhvr>
                                        <p:cTn id="69" dur="500"/>
                                        <p:tgtEl>
                                          <p:spTgt spid="153"/>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22" presetClass="entr" presetSubtype="8" fill="hold" nodeType="clickEffect">
                                  <p:stCondLst>
                                    <p:cond delay="0"/>
                                  </p:stCondLst>
                                  <p:childTnLst>
                                    <p:set>
                                      <p:cBhvr>
                                        <p:cTn id="73" dur="1" fill="hold">
                                          <p:stCondLst>
                                            <p:cond delay="0"/>
                                          </p:stCondLst>
                                        </p:cTn>
                                        <p:tgtEl>
                                          <p:spTgt spid="154"/>
                                        </p:tgtEl>
                                        <p:attrNameLst>
                                          <p:attrName>style.visibility</p:attrName>
                                        </p:attrNameLst>
                                      </p:cBhvr>
                                      <p:to>
                                        <p:strVal val="visible"/>
                                      </p:to>
                                    </p:set>
                                    <p:animEffect transition="in" filter="wipe(left)">
                                      <p:cBhvr>
                                        <p:cTn id="74" dur="500"/>
                                        <p:tgtEl>
                                          <p:spTgt spid="154"/>
                                        </p:tgtEl>
                                      </p:cBhvr>
                                    </p:animEffect>
                                  </p:childTnLst>
                                </p:cTn>
                              </p:par>
                            </p:childTnLst>
                          </p:cTn>
                        </p:par>
                      </p:childTnLst>
                    </p:cTn>
                  </p:par>
                  <p:par>
                    <p:cTn id="75" fill="hold" nodeType="clickPar">
                      <p:stCondLst>
                        <p:cond delay="indefinite"/>
                      </p:stCondLst>
                      <p:childTnLst>
                        <p:par>
                          <p:cTn id="76" fill="hold" nodeType="withGroup">
                            <p:stCondLst>
                              <p:cond delay="0"/>
                            </p:stCondLst>
                            <p:childTnLst>
                              <p:par>
                                <p:cTn id="77" presetID="22" presetClass="entr" presetSubtype="8" fill="hold" grpId="0" nodeType="clickEffect">
                                  <p:stCondLst>
                                    <p:cond delay="0"/>
                                  </p:stCondLst>
                                  <p:childTnLst>
                                    <p:set>
                                      <p:cBhvr>
                                        <p:cTn id="78" dur="1" fill="hold">
                                          <p:stCondLst>
                                            <p:cond delay="0"/>
                                          </p:stCondLst>
                                        </p:cTn>
                                        <p:tgtEl>
                                          <p:spTgt spid="155"/>
                                        </p:tgtEl>
                                        <p:attrNameLst>
                                          <p:attrName>style.visibility</p:attrName>
                                        </p:attrNameLst>
                                      </p:cBhvr>
                                      <p:to>
                                        <p:strVal val="visible"/>
                                      </p:to>
                                    </p:set>
                                    <p:animEffect transition="in" filter="wipe(left)">
                                      <p:cBhvr>
                                        <p:cTn id="79" dur="500"/>
                                        <p:tgtEl>
                                          <p:spTgt spid="155"/>
                                        </p:tgtEl>
                                      </p:cBhvr>
                                    </p:animEffect>
                                  </p:childTnLst>
                                </p:cTn>
                              </p:par>
                            </p:childTnLst>
                          </p:cTn>
                        </p:par>
                      </p:childTnLst>
                    </p:cTn>
                  </p:par>
                  <p:par>
                    <p:cTn id="80" fill="hold" nodeType="clickPar">
                      <p:stCondLst>
                        <p:cond delay="indefinite"/>
                      </p:stCondLst>
                      <p:childTnLst>
                        <p:par>
                          <p:cTn id="81" fill="hold" nodeType="withGroup">
                            <p:stCondLst>
                              <p:cond delay="0"/>
                            </p:stCondLst>
                            <p:childTnLst>
                              <p:par>
                                <p:cTn id="82" presetID="22" presetClass="entr" presetSubtype="8" fill="hold" nodeType="clickEffect">
                                  <p:stCondLst>
                                    <p:cond delay="0"/>
                                  </p:stCondLst>
                                  <p:childTnLst>
                                    <p:set>
                                      <p:cBhvr>
                                        <p:cTn id="83" dur="1" fill="hold">
                                          <p:stCondLst>
                                            <p:cond delay="0"/>
                                          </p:stCondLst>
                                        </p:cTn>
                                        <p:tgtEl>
                                          <p:spTgt spid="156"/>
                                        </p:tgtEl>
                                        <p:attrNameLst>
                                          <p:attrName>style.visibility</p:attrName>
                                        </p:attrNameLst>
                                      </p:cBhvr>
                                      <p:to>
                                        <p:strVal val="visible"/>
                                      </p:to>
                                    </p:set>
                                    <p:animEffect transition="in" filter="wipe(left)">
                                      <p:cBhvr>
                                        <p:cTn id="84" dur="500"/>
                                        <p:tgtEl>
                                          <p:spTgt spid="156"/>
                                        </p:tgtEl>
                                      </p:cBhvr>
                                    </p:animEffect>
                                  </p:childTnLst>
                                </p:cTn>
                              </p:par>
                            </p:childTnLst>
                          </p:cTn>
                        </p:par>
                      </p:childTnLst>
                    </p:cTn>
                  </p:par>
                  <p:par>
                    <p:cTn id="85" fill="hold" nodeType="clickPar">
                      <p:stCondLst>
                        <p:cond delay="indefinite"/>
                      </p:stCondLst>
                      <p:childTnLst>
                        <p:par>
                          <p:cTn id="86" fill="hold" nodeType="withGroup">
                            <p:stCondLst>
                              <p:cond delay="0"/>
                            </p:stCondLst>
                            <p:childTnLst>
                              <p:par>
                                <p:cTn id="87" presetID="6" presetClass="entr" presetSubtype="16" fill="hold" grpId="0" nodeType="clickEffect">
                                  <p:stCondLst>
                                    <p:cond delay="0"/>
                                  </p:stCondLst>
                                  <p:childTnLst>
                                    <p:set>
                                      <p:cBhvr>
                                        <p:cTn id="88" dur="1" fill="hold">
                                          <p:stCondLst>
                                            <p:cond delay="0"/>
                                          </p:stCondLst>
                                        </p:cTn>
                                        <p:tgtEl>
                                          <p:spTgt spid="49171"/>
                                        </p:tgtEl>
                                        <p:attrNameLst>
                                          <p:attrName>style.visibility</p:attrName>
                                        </p:attrNameLst>
                                      </p:cBhvr>
                                      <p:to>
                                        <p:strVal val="visible"/>
                                      </p:to>
                                    </p:set>
                                    <p:animEffect transition="in" filter="circle(in)">
                                      <p:cBhvr>
                                        <p:cTn id="89" dur="2000"/>
                                        <p:tgtEl>
                                          <p:spTgt spid="49171"/>
                                        </p:tgtEl>
                                      </p:cBhvr>
                                    </p:animEffect>
                                  </p:childTnLst>
                                </p:cTn>
                              </p:par>
                            </p:childTnLst>
                          </p:cTn>
                        </p:par>
                      </p:childTnLst>
                    </p:cTn>
                  </p:par>
                  <p:par>
                    <p:cTn id="90" fill="hold" nodeType="clickPar">
                      <p:stCondLst>
                        <p:cond delay="indefinite"/>
                      </p:stCondLst>
                      <p:childTnLst>
                        <p:par>
                          <p:cTn id="91" fill="hold" nodeType="withGroup">
                            <p:stCondLst>
                              <p:cond delay="0"/>
                            </p:stCondLst>
                            <p:childTnLst>
                              <p:par>
                                <p:cTn id="92" presetID="22" presetClass="entr" presetSubtype="8" fill="hold" nodeType="clickEffect">
                                  <p:stCondLst>
                                    <p:cond delay="0"/>
                                  </p:stCondLst>
                                  <p:childTnLst>
                                    <p:set>
                                      <p:cBhvr>
                                        <p:cTn id="93" dur="1" fill="hold">
                                          <p:stCondLst>
                                            <p:cond delay="0"/>
                                          </p:stCondLst>
                                        </p:cTn>
                                        <p:tgtEl>
                                          <p:spTgt spid="157"/>
                                        </p:tgtEl>
                                        <p:attrNameLst>
                                          <p:attrName>style.visibility</p:attrName>
                                        </p:attrNameLst>
                                      </p:cBhvr>
                                      <p:to>
                                        <p:strVal val="visible"/>
                                      </p:to>
                                    </p:set>
                                    <p:animEffect transition="in" filter="wipe(left)">
                                      <p:cBhvr>
                                        <p:cTn id="94" dur="500"/>
                                        <p:tgtEl>
                                          <p:spTgt spid="157"/>
                                        </p:tgtEl>
                                      </p:cBhvr>
                                    </p:animEffect>
                                  </p:childTnLst>
                                </p:cTn>
                              </p:par>
                            </p:childTnLst>
                          </p:cTn>
                        </p:par>
                      </p:childTnLst>
                    </p:cTn>
                  </p:par>
                  <p:par>
                    <p:cTn id="95" fill="hold" nodeType="clickPar">
                      <p:stCondLst>
                        <p:cond delay="indefinite"/>
                      </p:stCondLst>
                      <p:childTnLst>
                        <p:par>
                          <p:cTn id="96" fill="hold" nodeType="withGroup">
                            <p:stCondLst>
                              <p:cond delay="0"/>
                            </p:stCondLst>
                            <p:childTnLst>
                              <p:par>
                                <p:cTn id="97" presetID="22" presetClass="entr" presetSubtype="8" fill="hold" nodeType="clickEffect">
                                  <p:stCondLst>
                                    <p:cond delay="0"/>
                                  </p:stCondLst>
                                  <p:childTnLst>
                                    <p:set>
                                      <p:cBhvr>
                                        <p:cTn id="98" dur="1" fill="hold">
                                          <p:stCondLst>
                                            <p:cond delay="0"/>
                                          </p:stCondLst>
                                        </p:cTn>
                                        <p:tgtEl>
                                          <p:spTgt spid="7"/>
                                        </p:tgtEl>
                                        <p:attrNameLst>
                                          <p:attrName>style.visibility</p:attrName>
                                        </p:attrNameLst>
                                      </p:cBhvr>
                                      <p:to>
                                        <p:strVal val="visible"/>
                                      </p:to>
                                    </p:set>
                                    <p:animEffect transition="in" filter="wipe(left)">
                                      <p:cBhvr>
                                        <p:cTn id="99" dur="500"/>
                                        <p:tgtEl>
                                          <p:spTgt spid="7"/>
                                        </p:tgtEl>
                                      </p:cBhvr>
                                    </p:animEffect>
                                  </p:childTnLst>
                                </p:cTn>
                              </p:par>
                            </p:childTnLst>
                          </p:cTn>
                        </p:par>
                      </p:childTnLst>
                    </p:cTn>
                  </p:par>
                  <p:par>
                    <p:cTn id="100" fill="hold" nodeType="clickPar">
                      <p:stCondLst>
                        <p:cond delay="indefinite"/>
                      </p:stCondLst>
                      <p:childTnLst>
                        <p:par>
                          <p:cTn id="101" fill="hold" nodeType="withGroup">
                            <p:stCondLst>
                              <p:cond delay="0"/>
                            </p:stCondLst>
                            <p:childTnLst>
                              <p:par>
                                <p:cTn id="102" presetID="22" presetClass="entr" presetSubtype="8" fill="hold" nodeType="clickEffect">
                                  <p:stCondLst>
                                    <p:cond delay="0"/>
                                  </p:stCondLst>
                                  <p:childTnLst>
                                    <p:set>
                                      <p:cBhvr>
                                        <p:cTn id="103" dur="1" fill="hold">
                                          <p:stCondLst>
                                            <p:cond delay="0"/>
                                          </p:stCondLst>
                                        </p:cTn>
                                        <p:tgtEl>
                                          <p:spTgt spid="52"/>
                                        </p:tgtEl>
                                        <p:attrNameLst>
                                          <p:attrName>style.visibility</p:attrName>
                                        </p:attrNameLst>
                                      </p:cBhvr>
                                      <p:to>
                                        <p:strVal val="visible"/>
                                      </p:to>
                                    </p:set>
                                    <p:animEffect transition="in" filter="wipe(left)">
                                      <p:cBhvr>
                                        <p:cTn id="104" dur="500"/>
                                        <p:tgtEl>
                                          <p:spTgt spid="52"/>
                                        </p:tgtEl>
                                      </p:cBhvr>
                                    </p:animEffect>
                                  </p:childTnLst>
                                </p:cTn>
                              </p:par>
                            </p:childTnLst>
                          </p:cTn>
                        </p:par>
                      </p:childTnLst>
                    </p:cTn>
                  </p:par>
                  <p:par>
                    <p:cTn id="105" fill="hold" nodeType="clickPar">
                      <p:stCondLst>
                        <p:cond delay="indefinite"/>
                      </p:stCondLst>
                      <p:childTnLst>
                        <p:par>
                          <p:cTn id="106" fill="hold" nodeType="withGroup">
                            <p:stCondLst>
                              <p:cond delay="0"/>
                            </p:stCondLst>
                            <p:childTnLst>
                              <p:par>
                                <p:cTn id="107" presetID="22" presetClass="entr" presetSubtype="8" fill="hold" nodeType="clickEffect">
                                  <p:stCondLst>
                                    <p:cond delay="0"/>
                                  </p:stCondLst>
                                  <p:childTnLst>
                                    <p:set>
                                      <p:cBhvr>
                                        <p:cTn id="108" dur="1" fill="hold">
                                          <p:stCondLst>
                                            <p:cond delay="0"/>
                                          </p:stCondLst>
                                        </p:cTn>
                                        <p:tgtEl>
                                          <p:spTgt spid="53"/>
                                        </p:tgtEl>
                                        <p:attrNameLst>
                                          <p:attrName>style.visibility</p:attrName>
                                        </p:attrNameLst>
                                      </p:cBhvr>
                                      <p:to>
                                        <p:strVal val="visible"/>
                                      </p:to>
                                    </p:set>
                                    <p:animEffect transition="in" filter="wipe(left)">
                                      <p:cBhvr>
                                        <p:cTn id="109"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utoUpdateAnimBg="0"/>
      <p:bldP spid="124" grpId="0" build="p" autoUpdateAnimBg="0"/>
      <p:bldP spid="125" grpId="0" build="p" autoUpdateAnimBg="0"/>
      <p:bldP spid="145" grpId="0" build="p" autoUpdateAnimBg="0"/>
      <p:bldP spid="147" grpId="0" build="p" autoUpdateAnimBg="0"/>
      <p:bldP spid="152" grpId="0"/>
      <p:bldP spid="153" grpId="0"/>
      <p:bldP spid="155" grpId="0"/>
      <p:bldP spid="49171" grpId="0" animBg="1"/>
      <p:bldP spid="54"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3" name="Object 11"/>
          <p:cNvGraphicFramePr>
            <a:graphicFrameLocks noChangeAspect="1"/>
          </p:cNvGraphicFramePr>
          <p:nvPr/>
        </p:nvGraphicFramePr>
        <p:xfrm>
          <a:off x="4932363" y="1131888"/>
          <a:ext cx="1152525" cy="582612"/>
        </p:xfrm>
        <a:graphic>
          <a:graphicData uri="http://schemas.openxmlformats.org/presentationml/2006/ole">
            <p:oleObj spid="_x0000_s29707" name="公式" r:id="rId3" imgW="660113" imgH="444307" progId="Equation.3">
              <p:embed/>
            </p:oleObj>
          </a:graphicData>
        </a:graphic>
      </p:graphicFrame>
      <p:sp>
        <p:nvSpPr>
          <p:cNvPr id="54" name="Text Box 44"/>
          <p:cNvSpPr txBox="1">
            <a:spLocks noChangeArrowheads="1"/>
          </p:cNvSpPr>
          <p:nvPr/>
        </p:nvSpPr>
        <p:spPr bwMode="auto">
          <a:xfrm>
            <a:off x="395288" y="1889125"/>
            <a:ext cx="8534400" cy="646113"/>
          </a:xfrm>
          <a:prstGeom prst="rect">
            <a:avLst/>
          </a:prstGeom>
          <a:noFill/>
          <a:ln w="9525">
            <a:noFill/>
            <a:miter lim="800000"/>
            <a:headEnd/>
            <a:tailEnd/>
          </a:ln>
        </p:spPr>
        <p:txBody>
          <a:bodyPr>
            <a:spAutoFit/>
          </a:bodyPr>
          <a:lstStyle/>
          <a:p>
            <a:pPr marL="457200" indent="-457200"/>
            <a:r>
              <a:rPr lang="zh-CN" altLang="en-US" b="1">
                <a:solidFill>
                  <a:srgbClr val="000000"/>
                </a:solidFill>
                <a:latin typeface="华文中宋"/>
                <a:ea typeface="华文中宋"/>
                <a:cs typeface="华文中宋"/>
              </a:rPr>
              <a:t>（</a:t>
            </a:r>
            <a:r>
              <a:rPr lang="en-US" altLang="zh-CN" b="1">
                <a:solidFill>
                  <a:srgbClr val="000000"/>
                </a:solidFill>
                <a:latin typeface="华文中宋"/>
                <a:ea typeface="华文中宋"/>
                <a:cs typeface="华文中宋"/>
              </a:rPr>
              <a:t>1</a:t>
            </a:r>
            <a:r>
              <a:rPr lang="zh-CN" altLang="en-US" b="1">
                <a:solidFill>
                  <a:srgbClr val="000000"/>
                </a:solidFill>
                <a:latin typeface="华文中宋"/>
                <a:ea typeface="华文中宋"/>
                <a:cs typeface="华文中宋"/>
              </a:rPr>
              <a:t>）卡诺循环的效率只与两个热源温度有关，</a:t>
            </a:r>
            <a:r>
              <a:rPr lang="zh-CN" altLang="en-US" b="1">
                <a:solidFill>
                  <a:srgbClr val="000000"/>
                </a:solidFill>
                <a:latin typeface="Times New Roman" pitchFamily="18" charset="0"/>
                <a:ea typeface="华文中宋"/>
                <a:cs typeface="华文中宋"/>
              </a:rPr>
              <a:t>因此提高热机效率的唯一有效途径：</a:t>
            </a:r>
            <a:r>
              <a:rPr lang="zh-CN" altLang="en-US" b="1">
                <a:solidFill>
                  <a:srgbClr val="0000FF"/>
                </a:solidFill>
                <a:latin typeface="Times New Roman" pitchFamily="18" charset="0"/>
                <a:ea typeface="华文中宋"/>
                <a:cs typeface="华文中宋"/>
              </a:rPr>
              <a:t>提高高温热源的温度。</a:t>
            </a:r>
          </a:p>
        </p:txBody>
      </p:sp>
      <p:sp>
        <p:nvSpPr>
          <p:cNvPr id="55" name="Text Box 44"/>
          <p:cNvSpPr txBox="1">
            <a:spLocks noChangeArrowheads="1"/>
          </p:cNvSpPr>
          <p:nvPr/>
        </p:nvSpPr>
        <p:spPr bwMode="auto">
          <a:xfrm>
            <a:off x="2627313" y="2589213"/>
            <a:ext cx="3960812" cy="368300"/>
          </a:xfrm>
          <a:prstGeom prst="rect">
            <a:avLst/>
          </a:prstGeom>
          <a:noFill/>
          <a:ln w="9525">
            <a:noFill/>
            <a:miter lim="800000"/>
            <a:headEnd/>
            <a:tailEnd/>
          </a:ln>
        </p:spPr>
        <p:txBody>
          <a:bodyPr>
            <a:spAutoFit/>
          </a:bodyPr>
          <a:lstStyle/>
          <a:p>
            <a:pPr marL="457200" indent="-457200"/>
            <a:r>
              <a:rPr kumimoji="1" lang="en-US" altLang="zh-CN" b="1" i="1">
                <a:solidFill>
                  <a:srgbClr val="000000"/>
                </a:solidFill>
                <a:latin typeface="Times New Roman" pitchFamily="18" charset="0"/>
                <a:ea typeface="华文中宋"/>
                <a:cs typeface="华文中宋"/>
              </a:rPr>
              <a:t>T</a:t>
            </a:r>
            <a:r>
              <a:rPr kumimoji="1" lang="en-US" altLang="zh-CN" b="1" baseline="-25000">
                <a:solidFill>
                  <a:srgbClr val="000000"/>
                </a:solidFill>
                <a:latin typeface="Times New Roman" pitchFamily="18" charset="0"/>
                <a:ea typeface="华文中宋"/>
                <a:cs typeface="华文中宋"/>
              </a:rPr>
              <a:t>1</a:t>
            </a:r>
            <a:r>
              <a:rPr kumimoji="1" lang="en-US" altLang="zh-CN" b="1">
                <a:solidFill>
                  <a:srgbClr val="000000"/>
                </a:solidFill>
                <a:latin typeface="Times New Roman" pitchFamily="18" charset="0"/>
                <a:ea typeface="华文中宋"/>
                <a:cs typeface="华文中宋"/>
                <a:sym typeface="Symbol" pitchFamily="18" charset="2"/>
              </a:rPr>
              <a:t></a:t>
            </a:r>
            <a:r>
              <a:rPr kumimoji="1" lang="zh-CN" altLang="en-US" b="1">
                <a:solidFill>
                  <a:srgbClr val="000000"/>
                </a:solidFill>
                <a:latin typeface="Times New Roman" pitchFamily="18" charset="0"/>
                <a:ea typeface="华文中宋"/>
                <a:cs typeface="华文中宋"/>
                <a:sym typeface="Symbol" pitchFamily="18" charset="2"/>
              </a:rPr>
              <a:t>，</a:t>
            </a:r>
            <a:r>
              <a:rPr kumimoji="1" lang="en-US" altLang="zh-CN" b="1" i="1">
                <a:solidFill>
                  <a:srgbClr val="000000"/>
                </a:solidFill>
                <a:latin typeface="Times New Roman" pitchFamily="18" charset="0"/>
                <a:ea typeface="华文中宋"/>
                <a:cs typeface="华文中宋"/>
              </a:rPr>
              <a:t>T</a:t>
            </a:r>
            <a:r>
              <a:rPr kumimoji="1" lang="en-US" altLang="zh-CN" b="1" baseline="-25000">
                <a:solidFill>
                  <a:srgbClr val="000000"/>
                </a:solidFill>
                <a:latin typeface="Times New Roman" pitchFamily="18" charset="0"/>
                <a:ea typeface="华文中宋"/>
                <a:cs typeface="华文中宋"/>
              </a:rPr>
              <a:t>2</a:t>
            </a:r>
            <a:r>
              <a:rPr kumimoji="1" lang="en-US" altLang="zh-CN" b="1">
                <a:solidFill>
                  <a:srgbClr val="000000"/>
                </a:solidFill>
                <a:latin typeface="Times New Roman" pitchFamily="18" charset="0"/>
                <a:ea typeface="华文中宋"/>
                <a:cs typeface="华文中宋"/>
                <a:sym typeface="Symbol" pitchFamily="18" charset="2"/>
              </a:rPr>
              <a:t>  </a:t>
            </a:r>
            <a:r>
              <a:rPr kumimoji="1" lang="en-US" altLang="zh-CN" b="1" i="1">
                <a:solidFill>
                  <a:srgbClr val="000000"/>
                </a:solidFill>
                <a:latin typeface="Times New Roman" pitchFamily="18" charset="0"/>
                <a:ea typeface="华文中宋"/>
                <a:cs typeface="华文中宋"/>
                <a:sym typeface="Symbol" pitchFamily="18" charset="2"/>
              </a:rPr>
              <a:t></a:t>
            </a:r>
            <a:r>
              <a:rPr kumimoji="1" lang="en-US" altLang="zh-CN" b="1">
                <a:solidFill>
                  <a:srgbClr val="000000"/>
                </a:solidFill>
                <a:latin typeface="Times New Roman" pitchFamily="18" charset="0"/>
                <a:ea typeface="华文中宋"/>
                <a:cs typeface="华文中宋"/>
                <a:sym typeface="Symbol" pitchFamily="18" charset="2"/>
              </a:rPr>
              <a:t></a:t>
            </a:r>
            <a:r>
              <a:rPr kumimoji="1" lang="en-US" altLang="zh-CN" b="1">
                <a:solidFill>
                  <a:srgbClr val="000000"/>
                </a:solidFill>
                <a:latin typeface="Times New Roman" pitchFamily="18" charset="0"/>
                <a:ea typeface="华文中宋"/>
                <a:cs typeface="华文中宋"/>
              </a:rPr>
              <a:t> </a:t>
            </a:r>
            <a:r>
              <a:rPr kumimoji="1" lang="zh-CN" altLang="en-US" b="1">
                <a:solidFill>
                  <a:srgbClr val="000000"/>
                </a:solidFill>
                <a:latin typeface="Times New Roman" pitchFamily="18" charset="0"/>
                <a:ea typeface="华文中宋"/>
                <a:cs typeface="华文中宋"/>
              </a:rPr>
              <a:t>， 实际上是</a:t>
            </a:r>
            <a:r>
              <a:rPr kumimoji="1" lang="zh-CN" altLang="en-US" b="1">
                <a:solidFill>
                  <a:srgbClr val="000000"/>
                </a:solidFill>
                <a:latin typeface="Times New Roman" pitchFamily="18" charset="0"/>
                <a:ea typeface="华文中宋"/>
                <a:cs typeface="华文中宋"/>
                <a:sym typeface="Symbol" pitchFamily="18" charset="2"/>
              </a:rPr>
              <a:t> </a:t>
            </a:r>
            <a:r>
              <a:rPr kumimoji="1" lang="en-US" altLang="zh-CN" b="1" i="1">
                <a:solidFill>
                  <a:srgbClr val="000000"/>
                </a:solidFill>
                <a:latin typeface="Times New Roman" pitchFamily="18" charset="0"/>
                <a:ea typeface="华文中宋"/>
                <a:cs typeface="华文中宋"/>
              </a:rPr>
              <a:t>T</a:t>
            </a:r>
            <a:r>
              <a:rPr kumimoji="1" lang="en-US" altLang="zh-CN" b="1" baseline="-25000">
                <a:solidFill>
                  <a:srgbClr val="000000"/>
                </a:solidFill>
                <a:latin typeface="Times New Roman" pitchFamily="18" charset="0"/>
                <a:ea typeface="华文中宋"/>
                <a:cs typeface="华文中宋"/>
              </a:rPr>
              <a:t>1</a:t>
            </a:r>
            <a:endParaRPr lang="en-US" altLang="zh-CN" b="1">
              <a:solidFill>
                <a:srgbClr val="000000"/>
              </a:solidFill>
              <a:latin typeface="Times New Roman" pitchFamily="18" charset="0"/>
              <a:ea typeface="华文中宋"/>
              <a:cs typeface="华文中宋"/>
            </a:endParaRPr>
          </a:p>
        </p:txBody>
      </p:sp>
      <p:sp>
        <p:nvSpPr>
          <p:cNvPr id="56" name="Text Box 44"/>
          <p:cNvSpPr txBox="1">
            <a:spLocks noChangeArrowheads="1"/>
          </p:cNvSpPr>
          <p:nvPr/>
        </p:nvSpPr>
        <p:spPr bwMode="auto">
          <a:xfrm>
            <a:off x="404813" y="3003550"/>
            <a:ext cx="7335837" cy="369888"/>
          </a:xfrm>
          <a:prstGeom prst="rect">
            <a:avLst/>
          </a:prstGeom>
          <a:noFill/>
          <a:ln w="9525">
            <a:noFill/>
            <a:miter lim="800000"/>
            <a:headEnd/>
            <a:tailEnd/>
          </a:ln>
        </p:spPr>
        <p:txBody>
          <a:bodyPr>
            <a:spAutoFit/>
          </a:bodyPr>
          <a:lstStyle/>
          <a:p>
            <a:pPr marL="457200" indent="-457200"/>
            <a:r>
              <a:rPr lang="zh-CN" altLang="en-US" b="1">
                <a:solidFill>
                  <a:srgbClr val="000000"/>
                </a:solidFill>
                <a:latin typeface="华文中宋"/>
                <a:ea typeface="华文中宋"/>
                <a:cs typeface="华文中宋"/>
              </a:rPr>
              <a:t>（</a:t>
            </a:r>
            <a:r>
              <a:rPr lang="en-US" altLang="zh-CN" b="1">
                <a:solidFill>
                  <a:srgbClr val="000000"/>
                </a:solidFill>
                <a:latin typeface="华文中宋"/>
                <a:ea typeface="华文中宋"/>
                <a:cs typeface="华文中宋"/>
              </a:rPr>
              <a:t>2</a:t>
            </a:r>
            <a:r>
              <a:rPr lang="zh-CN" altLang="en-US" b="1">
                <a:solidFill>
                  <a:srgbClr val="000000"/>
                </a:solidFill>
                <a:latin typeface="华文中宋"/>
                <a:ea typeface="华文中宋"/>
                <a:cs typeface="华文中宋"/>
              </a:rPr>
              <a:t>）</a:t>
            </a:r>
            <a:r>
              <a:rPr lang="zh-CN" altLang="en-US" b="1">
                <a:solidFill>
                  <a:srgbClr val="000000"/>
                </a:solidFill>
                <a:latin typeface="Times New Roman" pitchFamily="18" charset="0"/>
                <a:ea typeface="华文中宋"/>
                <a:cs typeface="华文中宋"/>
              </a:rPr>
              <a:t> </a:t>
            </a:r>
            <a:r>
              <a:rPr lang="en-US" altLang="zh-CN" b="1">
                <a:solidFill>
                  <a:srgbClr val="000000"/>
                </a:solidFill>
                <a:latin typeface="Times New Roman" pitchFamily="18" charset="0"/>
                <a:ea typeface="华文中宋"/>
                <a:cs typeface="华文中宋"/>
              </a:rPr>
              <a:t>T</a:t>
            </a:r>
            <a:r>
              <a:rPr lang="en-US" altLang="zh-CN" b="1" baseline="-25000">
                <a:solidFill>
                  <a:srgbClr val="000000"/>
                </a:solidFill>
                <a:latin typeface="Times New Roman" pitchFamily="18" charset="0"/>
                <a:ea typeface="华文中宋"/>
                <a:cs typeface="华文中宋"/>
              </a:rPr>
              <a:t>1</a:t>
            </a:r>
            <a:r>
              <a:rPr lang="en-US" altLang="zh-CN" b="1">
                <a:solidFill>
                  <a:srgbClr val="000000"/>
                </a:solidFill>
                <a:latin typeface="Times New Roman" pitchFamily="18" charset="0"/>
                <a:ea typeface="华文中宋"/>
                <a:cs typeface="华文中宋"/>
              </a:rPr>
              <a:t>≠∞,T</a:t>
            </a:r>
            <a:r>
              <a:rPr lang="en-US" altLang="zh-CN" b="1" baseline="-25000">
                <a:solidFill>
                  <a:srgbClr val="000000"/>
                </a:solidFill>
                <a:latin typeface="Times New Roman" pitchFamily="18" charset="0"/>
                <a:ea typeface="华文中宋"/>
                <a:cs typeface="华文中宋"/>
              </a:rPr>
              <a:t>2 </a:t>
            </a:r>
            <a:r>
              <a:rPr lang="en-US" altLang="zh-CN" b="1">
                <a:solidFill>
                  <a:srgbClr val="000000"/>
                </a:solidFill>
                <a:latin typeface="Times New Roman" pitchFamily="18" charset="0"/>
                <a:ea typeface="华文中宋"/>
                <a:cs typeface="华文中宋"/>
              </a:rPr>
              <a:t>≠0</a:t>
            </a:r>
            <a:r>
              <a:rPr lang="zh-CN" altLang="en-US" b="1">
                <a:solidFill>
                  <a:srgbClr val="000000"/>
                </a:solidFill>
                <a:latin typeface="Times New Roman" pitchFamily="18" charset="0"/>
                <a:ea typeface="华文中宋"/>
                <a:cs typeface="华文中宋"/>
              </a:rPr>
              <a:t>，故</a:t>
            </a:r>
            <a:r>
              <a:rPr kumimoji="1" lang="zh-CN" altLang="en-US" b="1" i="1">
                <a:solidFill>
                  <a:srgbClr val="000000"/>
                </a:solidFill>
                <a:latin typeface="Times New Roman" pitchFamily="18" charset="0"/>
                <a:ea typeface="华文中宋"/>
                <a:cs typeface="华文中宋"/>
                <a:sym typeface="Symbol" pitchFamily="18" charset="2"/>
              </a:rPr>
              <a:t></a:t>
            </a:r>
            <a:r>
              <a:rPr lang="zh-CN" altLang="en-US" b="1">
                <a:solidFill>
                  <a:srgbClr val="000000"/>
                </a:solidFill>
                <a:latin typeface="Times New Roman" pitchFamily="18" charset="0"/>
                <a:ea typeface="华文中宋"/>
                <a:cs typeface="华文中宋"/>
              </a:rPr>
              <a:t>不可能等于</a:t>
            </a:r>
            <a:r>
              <a:rPr lang="en-US" altLang="zh-CN" b="1">
                <a:solidFill>
                  <a:srgbClr val="000000"/>
                </a:solidFill>
                <a:latin typeface="Times New Roman" pitchFamily="18" charset="0"/>
                <a:ea typeface="华文中宋"/>
                <a:cs typeface="华文中宋"/>
              </a:rPr>
              <a:t>1</a:t>
            </a:r>
            <a:r>
              <a:rPr lang="zh-CN" altLang="en-US" b="1">
                <a:solidFill>
                  <a:srgbClr val="000000"/>
                </a:solidFill>
                <a:latin typeface="Times New Roman" pitchFamily="18" charset="0"/>
                <a:ea typeface="华文中宋"/>
                <a:cs typeface="华文中宋"/>
              </a:rPr>
              <a:t>或大于</a:t>
            </a:r>
            <a:r>
              <a:rPr lang="en-US" altLang="zh-CN" b="1">
                <a:solidFill>
                  <a:srgbClr val="000000"/>
                </a:solidFill>
                <a:latin typeface="Times New Roman" pitchFamily="18" charset="0"/>
                <a:ea typeface="华文中宋"/>
                <a:cs typeface="华文中宋"/>
              </a:rPr>
              <a:t>1</a:t>
            </a:r>
          </a:p>
        </p:txBody>
      </p:sp>
      <p:sp>
        <p:nvSpPr>
          <p:cNvPr id="175117" name="Rectangle 13"/>
          <p:cNvSpPr>
            <a:spLocks noChangeArrowheads="1"/>
          </p:cNvSpPr>
          <p:nvPr/>
        </p:nvSpPr>
        <p:spPr bwMode="auto">
          <a:xfrm>
            <a:off x="395288" y="3436938"/>
            <a:ext cx="8534400" cy="647700"/>
          </a:xfrm>
          <a:prstGeom prst="rect">
            <a:avLst/>
          </a:prstGeom>
          <a:noFill/>
          <a:ln w="9525">
            <a:noFill/>
            <a:miter lim="800000"/>
            <a:headEnd/>
            <a:tailEnd/>
          </a:ln>
        </p:spPr>
        <p:txBody>
          <a:bodyPr>
            <a:spAutoFit/>
          </a:bodyPr>
          <a:lstStyle/>
          <a:p>
            <a:pPr eaLnBrk="0" hangingPunct="0">
              <a:spcBef>
                <a:spcPct val="50000"/>
              </a:spcBef>
            </a:pPr>
            <a:r>
              <a:rPr lang="zh-CN" altLang="en-US" b="1">
                <a:solidFill>
                  <a:srgbClr val="000000"/>
                </a:solidFill>
                <a:latin typeface="华文中宋"/>
                <a:ea typeface="华文中宋"/>
                <a:cs typeface="华文中宋"/>
              </a:rPr>
              <a:t>（</a:t>
            </a:r>
            <a:r>
              <a:rPr lang="en-US" altLang="zh-CN" b="1">
                <a:solidFill>
                  <a:srgbClr val="000000"/>
                </a:solidFill>
                <a:latin typeface="华文中宋"/>
                <a:ea typeface="华文中宋"/>
                <a:cs typeface="华文中宋"/>
              </a:rPr>
              <a:t>3</a:t>
            </a:r>
            <a:r>
              <a:rPr lang="zh-CN" altLang="en-US" b="1">
                <a:solidFill>
                  <a:srgbClr val="000000"/>
                </a:solidFill>
                <a:latin typeface="华文中宋"/>
                <a:ea typeface="华文中宋"/>
                <a:cs typeface="华文中宋"/>
              </a:rPr>
              <a:t>）可以证明（卡诺定理），工作在相同高低温热源间的一切热机，以卡诺可逆 机效率最高。</a:t>
            </a:r>
          </a:p>
        </p:txBody>
      </p:sp>
      <p:sp>
        <p:nvSpPr>
          <p:cNvPr id="29712" name="Rectangle 14"/>
          <p:cNvSpPr>
            <a:spLocks noChangeArrowheads="1"/>
          </p:cNvSpPr>
          <p:nvPr/>
        </p:nvSpPr>
        <p:spPr bwMode="auto">
          <a:xfrm>
            <a:off x="2411413" y="1239838"/>
            <a:ext cx="2317750" cy="368300"/>
          </a:xfrm>
          <a:prstGeom prst="rect">
            <a:avLst/>
          </a:prstGeom>
          <a:noFill/>
          <a:ln w="9525">
            <a:noFill/>
            <a:miter lim="800000"/>
            <a:headEnd/>
            <a:tailEnd/>
          </a:ln>
        </p:spPr>
        <p:txBody>
          <a:bodyPr>
            <a:spAutoFit/>
          </a:bodyPr>
          <a:lstStyle/>
          <a:p>
            <a:r>
              <a:rPr lang="zh-CN" altLang="en-US" b="1">
                <a:solidFill>
                  <a:srgbClr val="000000"/>
                </a:solidFill>
                <a:latin typeface="Times New Roman" pitchFamily="18" charset="0"/>
                <a:ea typeface="华文中宋"/>
                <a:cs typeface="华文中宋"/>
              </a:rPr>
              <a:t>卡诺热机的效率</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53"/>
                                        </p:tgtEl>
                                        <p:attrNameLst>
                                          <p:attrName>style.visibility</p:attrName>
                                        </p:attrNameLst>
                                      </p:cBhvr>
                                      <p:to>
                                        <p:strVal val="visible"/>
                                      </p:to>
                                    </p:set>
                                    <p:animEffect transition="in" filter="wipe(left)">
                                      <p:cBhvr>
                                        <p:cTn id="7" dur="500"/>
                                        <p:tgtEl>
                                          <p:spTgt spid="5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4">
                                            <p:txEl>
                                              <p:pRg st="0" end="0"/>
                                            </p:txEl>
                                          </p:spTgt>
                                        </p:tgtEl>
                                        <p:attrNameLst>
                                          <p:attrName>style.visibility</p:attrName>
                                        </p:attrNameLst>
                                      </p:cBhvr>
                                      <p:to>
                                        <p:strVal val="visible"/>
                                      </p:to>
                                    </p:set>
                                    <p:animEffect transition="in" filter="wipe(left)">
                                      <p:cBhvr>
                                        <p:cTn id="12" dur="500"/>
                                        <p:tgtEl>
                                          <p:spTgt spid="54">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5">
                                            <p:txEl>
                                              <p:pRg st="0" end="0"/>
                                            </p:txEl>
                                          </p:spTgt>
                                        </p:tgtEl>
                                        <p:attrNameLst>
                                          <p:attrName>style.visibility</p:attrName>
                                        </p:attrNameLst>
                                      </p:cBhvr>
                                      <p:to>
                                        <p:strVal val="visible"/>
                                      </p:to>
                                    </p:set>
                                    <p:animEffect transition="in" filter="wipe(left)">
                                      <p:cBhvr>
                                        <p:cTn id="17" dur="500"/>
                                        <p:tgtEl>
                                          <p:spTgt spid="55">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6">
                                            <p:txEl>
                                              <p:pRg st="0" end="0"/>
                                            </p:txEl>
                                          </p:spTgt>
                                        </p:tgtEl>
                                        <p:attrNameLst>
                                          <p:attrName>style.visibility</p:attrName>
                                        </p:attrNameLst>
                                      </p:cBhvr>
                                      <p:to>
                                        <p:strVal val="visible"/>
                                      </p:to>
                                    </p:set>
                                    <p:animEffect transition="in" filter="wipe(left)">
                                      <p:cBhvr>
                                        <p:cTn id="22" dur="500"/>
                                        <p:tgtEl>
                                          <p:spTgt spid="56">
                                            <p:txEl>
                                              <p:pRg st="0" end="0"/>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175117"/>
                                        </p:tgtEl>
                                        <p:attrNameLst>
                                          <p:attrName>style.visibility</p:attrName>
                                        </p:attrNameLst>
                                      </p:cBhvr>
                                      <p:to>
                                        <p:strVal val="visible"/>
                                      </p:to>
                                    </p:set>
                                    <p:animEffect transition="in" filter="checkerboard(across)">
                                      <p:cBhvr>
                                        <p:cTn id="27" dur="500"/>
                                        <p:tgtEl>
                                          <p:spTgt spid="1751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build="p"/>
      <p:bldP spid="55" grpId="0" build="p"/>
      <p:bldP spid="56" grpId="0" build="p"/>
      <p:bldP spid="175117" grpId="0"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11"/>
          <p:cNvGraphicFramePr>
            <a:graphicFrameLocks noChangeAspect="1"/>
          </p:cNvGraphicFramePr>
          <p:nvPr/>
        </p:nvGraphicFramePr>
        <p:xfrm>
          <a:off x="1487488" y="2592388"/>
          <a:ext cx="2524125" cy="660400"/>
        </p:xfrm>
        <a:graphic>
          <a:graphicData uri="http://schemas.openxmlformats.org/presentationml/2006/ole">
            <p:oleObj spid="_x0000_s30731" name="公式" r:id="rId3" imgW="837836" imgH="291973" progId="Equation.3">
              <p:embed/>
            </p:oleObj>
          </a:graphicData>
        </a:graphic>
      </p:graphicFrame>
      <p:sp>
        <p:nvSpPr>
          <p:cNvPr id="18" name="Text Box 17"/>
          <p:cNvSpPr txBox="1">
            <a:spLocks noChangeArrowheads="1"/>
          </p:cNvSpPr>
          <p:nvPr/>
        </p:nvSpPr>
        <p:spPr bwMode="auto">
          <a:xfrm>
            <a:off x="1406525" y="3294063"/>
            <a:ext cx="2805113" cy="396875"/>
          </a:xfrm>
          <a:prstGeom prst="rect">
            <a:avLst/>
          </a:prstGeom>
          <a:noFill/>
          <a:ln w="9525">
            <a:noFill/>
            <a:miter lim="800000"/>
            <a:headEnd/>
            <a:tailEnd/>
          </a:ln>
        </p:spPr>
        <p:txBody>
          <a:bodyPr>
            <a:spAutoFit/>
          </a:bodyPr>
          <a:lstStyle/>
          <a:p>
            <a:pPr>
              <a:lnSpc>
                <a:spcPct val="110000"/>
              </a:lnSpc>
            </a:pPr>
            <a:r>
              <a:rPr kumimoji="1" lang="zh-CN" altLang="en-US" b="1">
                <a:solidFill>
                  <a:srgbClr val="000000"/>
                </a:solidFill>
                <a:latin typeface="Times New Roman" pitchFamily="18" charset="0"/>
                <a:ea typeface="华文中宋"/>
                <a:cs typeface="华文中宋"/>
              </a:rPr>
              <a:t>理论上：</a:t>
            </a:r>
            <a:r>
              <a:rPr kumimoji="1" lang="zh-CN" altLang="en-US" b="1" i="1">
                <a:solidFill>
                  <a:srgbClr val="000000"/>
                </a:solidFill>
                <a:latin typeface="Times New Roman" pitchFamily="18" charset="0"/>
                <a:sym typeface="Symbol" pitchFamily="18" charset="2"/>
              </a:rPr>
              <a:t></a:t>
            </a:r>
            <a:r>
              <a:rPr kumimoji="1" lang="zh-CN" altLang="en-US" b="1">
                <a:solidFill>
                  <a:srgbClr val="000000"/>
                </a:solidFill>
                <a:latin typeface="Times New Roman" pitchFamily="18" charset="0"/>
              </a:rPr>
              <a:t> </a:t>
            </a:r>
            <a:r>
              <a:rPr kumimoji="1" lang="en-US" altLang="zh-CN" b="1">
                <a:solidFill>
                  <a:srgbClr val="000000"/>
                </a:solidFill>
                <a:latin typeface="Times New Roman" pitchFamily="18" charset="0"/>
              </a:rPr>
              <a:t>~ 65%</a:t>
            </a:r>
            <a:r>
              <a:rPr kumimoji="1" lang="zh-CN" altLang="en-US" b="1">
                <a:solidFill>
                  <a:srgbClr val="000000"/>
                </a:solidFill>
                <a:latin typeface="Times New Roman" pitchFamily="18" charset="0"/>
                <a:ea typeface="华文中宋"/>
                <a:cs typeface="华文中宋"/>
              </a:rPr>
              <a:t>；</a:t>
            </a:r>
          </a:p>
        </p:txBody>
      </p:sp>
      <p:sp>
        <p:nvSpPr>
          <p:cNvPr id="19" name="Text Box 18"/>
          <p:cNvSpPr txBox="1">
            <a:spLocks noChangeArrowheads="1"/>
          </p:cNvSpPr>
          <p:nvPr/>
        </p:nvSpPr>
        <p:spPr bwMode="auto">
          <a:xfrm>
            <a:off x="1416050" y="3781425"/>
            <a:ext cx="2508250" cy="396875"/>
          </a:xfrm>
          <a:prstGeom prst="rect">
            <a:avLst/>
          </a:prstGeom>
          <a:noFill/>
          <a:ln w="9525">
            <a:noFill/>
            <a:miter lim="800000"/>
            <a:headEnd/>
            <a:tailEnd/>
          </a:ln>
        </p:spPr>
        <p:txBody>
          <a:bodyPr>
            <a:spAutoFit/>
          </a:bodyPr>
          <a:lstStyle/>
          <a:p>
            <a:pPr>
              <a:lnSpc>
                <a:spcPct val="110000"/>
              </a:lnSpc>
            </a:pPr>
            <a:r>
              <a:rPr kumimoji="1" lang="zh-CN" altLang="en-US" b="1">
                <a:solidFill>
                  <a:srgbClr val="000000"/>
                </a:solidFill>
                <a:latin typeface="Times New Roman" pitchFamily="18" charset="0"/>
                <a:ea typeface="华文中宋"/>
                <a:cs typeface="华文中宋"/>
              </a:rPr>
              <a:t>实际上：</a:t>
            </a:r>
            <a:r>
              <a:rPr kumimoji="1" lang="zh-CN" altLang="en-US" b="1" i="1">
                <a:solidFill>
                  <a:srgbClr val="000000"/>
                </a:solidFill>
                <a:latin typeface="Times New Roman" pitchFamily="18" charset="0"/>
                <a:sym typeface="Symbol" pitchFamily="18" charset="2"/>
              </a:rPr>
              <a:t></a:t>
            </a:r>
            <a:r>
              <a:rPr kumimoji="1" lang="zh-CN" altLang="en-US" b="1">
                <a:solidFill>
                  <a:srgbClr val="000000"/>
                </a:solidFill>
                <a:latin typeface="Times New Roman" pitchFamily="18" charset="0"/>
              </a:rPr>
              <a:t> </a:t>
            </a:r>
            <a:r>
              <a:rPr kumimoji="1" lang="zh-CN" altLang="en-US" b="1">
                <a:solidFill>
                  <a:srgbClr val="000000"/>
                </a:solidFill>
                <a:latin typeface="Times New Roman" pitchFamily="18" charset="0"/>
                <a:sym typeface="Symbol" pitchFamily="18" charset="2"/>
              </a:rPr>
              <a:t></a:t>
            </a:r>
            <a:r>
              <a:rPr kumimoji="1" lang="en-US" altLang="zh-CN" b="1">
                <a:solidFill>
                  <a:srgbClr val="000000"/>
                </a:solidFill>
                <a:latin typeface="Times New Roman" pitchFamily="18" charset="0"/>
              </a:rPr>
              <a:t>40% </a:t>
            </a:r>
            <a:r>
              <a:rPr kumimoji="1" lang="zh-CN" altLang="en-US" b="1">
                <a:solidFill>
                  <a:srgbClr val="000000"/>
                </a:solidFill>
                <a:latin typeface="Times New Roman" pitchFamily="18" charset="0"/>
                <a:ea typeface="华文中宋"/>
                <a:cs typeface="华文中宋"/>
              </a:rPr>
              <a:t>。</a:t>
            </a:r>
            <a:r>
              <a:rPr kumimoji="1" lang="zh-CN" altLang="en-US" b="1">
                <a:solidFill>
                  <a:srgbClr val="000000"/>
                </a:solidFill>
                <a:latin typeface="Times New Roman" pitchFamily="18" charset="0"/>
              </a:rPr>
              <a:t> </a:t>
            </a:r>
          </a:p>
        </p:txBody>
      </p:sp>
      <p:sp>
        <p:nvSpPr>
          <p:cNvPr id="20" name="Text Box 19"/>
          <p:cNvSpPr txBox="1">
            <a:spLocks noChangeArrowheads="1"/>
          </p:cNvSpPr>
          <p:nvPr/>
        </p:nvSpPr>
        <p:spPr bwMode="auto">
          <a:xfrm>
            <a:off x="468313" y="4119563"/>
            <a:ext cx="7899400" cy="396875"/>
          </a:xfrm>
          <a:prstGeom prst="rect">
            <a:avLst/>
          </a:prstGeom>
          <a:noFill/>
          <a:ln w="9525">
            <a:noFill/>
            <a:miter lim="800000"/>
            <a:headEnd/>
            <a:tailEnd/>
          </a:ln>
        </p:spPr>
        <p:txBody>
          <a:bodyPr anchor="ctr">
            <a:spAutoFit/>
          </a:bodyPr>
          <a:lstStyle/>
          <a:p>
            <a:pPr>
              <a:lnSpc>
                <a:spcPct val="110000"/>
              </a:lnSpc>
            </a:pPr>
            <a:r>
              <a:rPr kumimoji="1" lang="zh-CN" altLang="en-US" b="1">
                <a:solidFill>
                  <a:srgbClr val="000000"/>
                </a:solidFill>
                <a:latin typeface="华文中宋"/>
                <a:ea typeface="华文中宋"/>
                <a:cs typeface="华文中宋"/>
              </a:rPr>
              <a:t>原因：主要是实际循环非卡诺循环，非两热源、</a:t>
            </a:r>
            <a:r>
              <a:rPr kumimoji="1" lang="zh-CN" altLang="en-US" b="1">
                <a:solidFill>
                  <a:srgbClr val="FF0000"/>
                </a:solidFill>
                <a:latin typeface="华文中宋"/>
                <a:ea typeface="华文中宋"/>
                <a:cs typeface="华文中宋"/>
              </a:rPr>
              <a:t>非准静态</a:t>
            </a:r>
            <a:r>
              <a:rPr kumimoji="1" lang="zh-CN" altLang="en-US" b="1">
                <a:solidFill>
                  <a:srgbClr val="000000"/>
                </a:solidFill>
                <a:latin typeface="华文中宋"/>
                <a:ea typeface="华文中宋"/>
                <a:cs typeface="华文中宋"/>
              </a:rPr>
              <a:t>、有摩擦、</a:t>
            </a:r>
            <a:r>
              <a:rPr kumimoji="1" lang="zh-CN" altLang="en-US" b="1">
                <a:solidFill>
                  <a:srgbClr val="000000"/>
                </a:solidFill>
                <a:latin typeface="华文中宋"/>
                <a:ea typeface="华文中宋"/>
                <a:cs typeface="华文中宋"/>
                <a:sym typeface="Symbol" pitchFamily="18" charset="2"/>
              </a:rPr>
              <a:t></a:t>
            </a:r>
            <a:r>
              <a:rPr kumimoji="1" lang="zh-CN" altLang="en-US" b="1">
                <a:solidFill>
                  <a:srgbClr val="000000"/>
                </a:solidFill>
                <a:latin typeface="华文中宋"/>
                <a:ea typeface="华文中宋"/>
                <a:cs typeface="华文中宋"/>
              </a:rPr>
              <a:t>。</a:t>
            </a:r>
          </a:p>
        </p:txBody>
      </p:sp>
      <p:sp>
        <p:nvSpPr>
          <p:cNvPr id="57" name="Text Box 4"/>
          <p:cNvSpPr txBox="1">
            <a:spLocks noChangeArrowheads="1"/>
          </p:cNvSpPr>
          <p:nvPr/>
        </p:nvSpPr>
        <p:spPr bwMode="auto">
          <a:xfrm>
            <a:off x="768350" y="1025525"/>
            <a:ext cx="3732213" cy="396875"/>
          </a:xfrm>
          <a:prstGeom prst="rect">
            <a:avLst/>
          </a:prstGeom>
          <a:noFill/>
          <a:ln w="9525">
            <a:noFill/>
            <a:miter lim="800000"/>
            <a:headEnd/>
            <a:tailEnd/>
          </a:ln>
        </p:spPr>
        <p:txBody>
          <a:bodyPr>
            <a:spAutoFit/>
          </a:bodyPr>
          <a:lstStyle/>
          <a:p>
            <a:pPr algn="ctr">
              <a:lnSpc>
                <a:spcPct val="110000"/>
              </a:lnSpc>
            </a:pPr>
            <a:r>
              <a:rPr kumimoji="1" lang="zh-CN" altLang="en-US" b="1">
                <a:solidFill>
                  <a:srgbClr val="FF0000"/>
                </a:solidFill>
                <a:latin typeface="Times New Roman" pitchFamily="18" charset="0"/>
                <a:ea typeface="华文中宋"/>
                <a:cs typeface="华文中宋"/>
                <a:sym typeface="Symbol" pitchFamily="18" charset="2"/>
              </a:rPr>
              <a:t>现代</a:t>
            </a:r>
            <a:r>
              <a:rPr kumimoji="1" lang="zh-CN" altLang="en-US" b="1">
                <a:solidFill>
                  <a:srgbClr val="FF0000"/>
                </a:solidFill>
                <a:latin typeface="华文中宋"/>
                <a:ea typeface="华文中宋"/>
                <a:cs typeface="华文中宋"/>
                <a:sym typeface="Symbol" pitchFamily="18" charset="2"/>
              </a:rPr>
              <a:t>“</a:t>
            </a:r>
            <a:r>
              <a:rPr kumimoji="1" lang="zh-CN" altLang="en-US" b="1">
                <a:solidFill>
                  <a:srgbClr val="FF0000"/>
                </a:solidFill>
                <a:latin typeface="Times New Roman" pitchFamily="18" charset="0"/>
                <a:ea typeface="华文中宋"/>
                <a:cs typeface="华文中宋"/>
                <a:sym typeface="Symbol" pitchFamily="18" charset="2"/>
              </a:rPr>
              <a:t>标准火力发电厂</a:t>
            </a:r>
            <a:r>
              <a:rPr kumimoji="1" lang="zh-CN" altLang="en-US" b="1">
                <a:solidFill>
                  <a:srgbClr val="FF0000"/>
                </a:solidFill>
                <a:latin typeface="华文中宋"/>
                <a:ea typeface="华文中宋"/>
                <a:cs typeface="华文中宋"/>
                <a:sym typeface="Symbol" pitchFamily="18" charset="2"/>
              </a:rPr>
              <a:t>”</a:t>
            </a:r>
            <a:r>
              <a:rPr kumimoji="1" lang="zh-CN" altLang="en-US" b="1">
                <a:solidFill>
                  <a:srgbClr val="FF0000"/>
                </a:solidFill>
                <a:latin typeface="Times New Roman" pitchFamily="18" charset="0"/>
                <a:ea typeface="华文中宋"/>
                <a:cs typeface="华文中宋"/>
                <a:sym typeface="Symbol" pitchFamily="18" charset="2"/>
              </a:rPr>
              <a:t>：</a:t>
            </a:r>
          </a:p>
        </p:txBody>
      </p:sp>
      <p:sp>
        <p:nvSpPr>
          <p:cNvPr id="58" name="Text Box 14"/>
          <p:cNvSpPr txBox="1">
            <a:spLocks noChangeArrowheads="1"/>
          </p:cNvSpPr>
          <p:nvPr/>
        </p:nvSpPr>
        <p:spPr bwMode="auto">
          <a:xfrm>
            <a:off x="1343025" y="1566863"/>
            <a:ext cx="2581275" cy="396875"/>
          </a:xfrm>
          <a:prstGeom prst="rect">
            <a:avLst/>
          </a:prstGeom>
          <a:noFill/>
          <a:ln w="9525">
            <a:noFill/>
            <a:miter lim="800000"/>
            <a:headEnd/>
            <a:tailEnd/>
          </a:ln>
        </p:spPr>
        <p:txBody>
          <a:bodyPr>
            <a:spAutoFit/>
          </a:bodyPr>
          <a:lstStyle/>
          <a:p>
            <a:pPr>
              <a:lnSpc>
                <a:spcPct val="110000"/>
              </a:lnSpc>
            </a:pPr>
            <a:r>
              <a:rPr kumimoji="1" lang="en-US" altLang="zh-CN" b="1" i="1">
                <a:solidFill>
                  <a:srgbClr val="000000"/>
                </a:solidFill>
                <a:latin typeface="Times New Roman" pitchFamily="18" charset="0"/>
                <a:ea typeface="华文中宋"/>
                <a:cs typeface="华文中宋"/>
              </a:rPr>
              <a:t>t</a:t>
            </a:r>
            <a:r>
              <a:rPr kumimoji="1" lang="en-US" altLang="zh-CN" b="1" baseline="-25000">
                <a:solidFill>
                  <a:srgbClr val="000000"/>
                </a:solidFill>
                <a:latin typeface="Times New Roman" pitchFamily="18" charset="0"/>
                <a:ea typeface="华文中宋"/>
                <a:cs typeface="华文中宋"/>
              </a:rPr>
              <a:t>1</a:t>
            </a:r>
            <a:r>
              <a:rPr kumimoji="1" lang="en-US" altLang="zh-CN" b="1">
                <a:solidFill>
                  <a:srgbClr val="000000"/>
                </a:solidFill>
                <a:latin typeface="Times New Roman" pitchFamily="18" charset="0"/>
                <a:ea typeface="华文中宋"/>
                <a:cs typeface="华文中宋"/>
              </a:rPr>
              <a:t>=580℃ →</a:t>
            </a:r>
            <a:r>
              <a:rPr kumimoji="1" lang="en-US" altLang="zh-CN" b="1" i="1">
                <a:solidFill>
                  <a:srgbClr val="000000"/>
                </a:solidFill>
                <a:latin typeface="Times New Roman" pitchFamily="18" charset="0"/>
                <a:ea typeface="华文中宋"/>
                <a:cs typeface="华文中宋"/>
              </a:rPr>
              <a:t>T</a:t>
            </a:r>
            <a:r>
              <a:rPr kumimoji="1" lang="en-US" altLang="zh-CN" b="1" baseline="-25000">
                <a:solidFill>
                  <a:srgbClr val="000000"/>
                </a:solidFill>
                <a:latin typeface="Times New Roman" pitchFamily="18" charset="0"/>
                <a:ea typeface="华文中宋"/>
                <a:cs typeface="华文中宋"/>
              </a:rPr>
              <a:t>1</a:t>
            </a:r>
            <a:r>
              <a:rPr kumimoji="1" lang="en-US" altLang="zh-CN" b="1">
                <a:solidFill>
                  <a:srgbClr val="000000"/>
                </a:solidFill>
                <a:latin typeface="Times New Roman" pitchFamily="18" charset="0"/>
                <a:ea typeface="华文中宋"/>
                <a:cs typeface="华文中宋"/>
              </a:rPr>
              <a:t>=853K</a:t>
            </a:r>
          </a:p>
        </p:txBody>
      </p:sp>
      <p:sp>
        <p:nvSpPr>
          <p:cNvPr id="59" name="Text Box 15"/>
          <p:cNvSpPr txBox="1">
            <a:spLocks noChangeArrowheads="1"/>
          </p:cNvSpPr>
          <p:nvPr/>
        </p:nvSpPr>
        <p:spPr bwMode="auto">
          <a:xfrm>
            <a:off x="1368425" y="2032000"/>
            <a:ext cx="2482850" cy="396875"/>
          </a:xfrm>
          <a:prstGeom prst="rect">
            <a:avLst/>
          </a:prstGeom>
          <a:noFill/>
          <a:ln w="9525">
            <a:noFill/>
            <a:miter lim="800000"/>
            <a:headEnd/>
            <a:tailEnd/>
          </a:ln>
        </p:spPr>
        <p:txBody>
          <a:bodyPr>
            <a:spAutoFit/>
          </a:bodyPr>
          <a:lstStyle/>
          <a:p>
            <a:pPr>
              <a:lnSpc>
                <a:spcPct val="110000"/>
              </a:lnSpc>
            </a:pPr>
            <a:r>
              <a:rPr kumimoji="1" lang="en-US" altLang="zh-CN" b="1" i="1">
                <a:solidFill>
                  <a:srgbClr val="000000"/>
                </a:solidFill>
                <a:latin typeface="Times New Roman" pitchFamily="18" charset="0"/>
                <a:ea typeface="华文中宋"/>
                <a:cs typeface="华文中宋"/>
              </a:rPr>
              <a:t>t</a:t>
            </a:r>
            <a:r>
              <a:rPr kumimoji="1" lang="en-US" altLang="zh-CN" b="1" baseline="-25000">
                <a:solidFill>
                  <a:srgbClr val="000000"/>
                </a:solidFill>
                <a:latin typeface="Times New Roman" pitchFamily="18" charset="0"/>
                <a:ea typeface="华文中宋"/>
                <a:cs typeface="华文中宋"/>
              </a:rPr>
              <a:t>2</a:t>
            </a:r>
            <a:r>
              <a:rPr kumimoji="1" lang="en-US" altLang="zh-CN" b="1">
                <a:solidFill>
                  <a:srgbClr val="000000"/>
                </a:solidFill>
                <a:latin typeface="Times New Roman" pitchFamily="18" charset="0"/>
                <a:ea typeface="华文中宋"/>
                <a:cs typeface="华文中宋"/>
              </a:rPr>
              <a:t>=30℃   →</a:t>
            </a:r>
            <a:r>
              <a:rPr kumimoji="1" lang="en-US" altLang="zh-CN" b="1" i="1">
                <a:solidFill>
                  <a:srgbClr val="000000"/>
                </a:solidFill>
                <a:latin typeface="Times New Roman" pitchFamily="18" charset="0"/>
                <a:ea typeface="华文中宋"/>
                <a:cs typeface="华文中宋"/>
              </a:rPr>
              <a:t>T</a:t>
            </a:r>
            <a:r>
              <a:rPr kumimoji="1" lang="en-US" altLang="zh-CN" b="1" baseline="-25000">
                <a:solidFill>
                  <a:srgbClr val="000000"/>
                </a:solidFill>
                <a:latin typeface="Times New Roman" pitchFamily="18" charset="0"/>
                <a:ea typeface="华文中宋"/>
                <a:cs typeface="华文中宋"/>
              </a:rPr>
              <a:t>2</a:t>
            </a:r>
            <a:r>
              <a:rPr kumimoji="1" lang="en-US" altLang="zh-CN" b="1">
                <a:solidFill>
                  <a:srgbClr val="000000"/>
                </a:solidFill>
                <a:latin typeface="Times New Roman" pitchFamily="18" charset="0"/>
                <a:ea typeface="华文中宋"/>
                <a:cs typeface="华文中宋"/>
              </a:rPr>
              <a:t>=303K</a:t>
            </a:r>
          </a:p>
        </p:txBody>
      </p:sp>
      <p:grpSp>
        <p:nvGrpSpPr>
          <p:cNvPr id="30738" name="组合 3"/>
          <p:cNvGrpSpPr>
            <a:grpSpLocks/>
          </p:cNvGrpSpPr>
          <p:nvPr/>
        </p:nvGrpSpPr>
        <p:grpSpPr bwMode="auto">
          <a:xfrm>
            <a:off x="4891088" y="996950"/>
            <a:ext cx="3929062" cy="2798763"/>
            <a:chOff x="980584" y="416915"/>
            <a:chExt cx="6024508" cy="5861335"/>
          </a:xfrm>
        </p:grpSpPr>
        <p:pic>
          <p:nvPicPr>
            <p:cNvPr id="30739" name="Picture 2" descr="C:\Users\yang\Pictures\新图片1.jpg"/>
            <p:cNvPicPr>
              <a:picLocks noChangeAspect="1" noChangeArrowheads="1"/>
            </p:cNvPicPr>
            <p:nvPr/>
          </p:nvPicPr>
          <p:blipFill>
            <a:blip r:embed="rId4"/>
            <a:srcRect/>
            <a:stretch>
              <a:fillRect/>
            </a:stretch>
          </p:blipFill>
          <p:spPr bwMode="auto">
            <a:xfrm>
              <a:off x="1241321" y="416915"/>
              <a:ext cx="5763771" cy="5861335"/>
            </a:xfrm>
            <a:prstGeom prst="rect">
              <a:avLst/>
            </a:prstGeom>
            <a:noFill/>
            <a:ln w="9525">
              <a:noFill/>
              <a:miter lim="800000"/>
              <a:headEnd/>
              <a:tailEnd/>
            </a:ln>
          </p:spPr>
        </p:pic>
        <p:sp>
          <p:nvSpPr>
            <p:cNvPr id="30740" name="Rectangle 5"/>
            <p:cNvSpPr>
              <a:spLocks noChangeArrowheads="1"/>
            </p:cNvSpPr>
            <p:nvPr/>
          </p:nvSpPr>
          <p:spPr bwMode="auto">
            <a:xfrm>
              <a:off x="1023578" y="2225478"/>
              <a:ext cx="354013" cy="131763"/>
            </a:xfrm>
            <a:prstGeom prst="rect">
              <a:avLst/>
            </a:prstGeom>
            <a:noFill/>
            <a:ln w="9525">
              <a:noFill/>
              <a:miter lim="800000"/>
              <a:headEnd/>
              <a:tailEnd/>
            </a:ln>
          </p:spPr>
          <p:txBody>
            <a:bodyPr wrap="none" anchor="ctr"/>
            <a:lstStyle/>
            <a:p>
              <a:endParaRPr lang="zh-CN" altLang="zh-CN" sz="1400" b="1">
                <a:solidFill>
                  <a:srgbClr val="0070C0"/>
                </a:solidFill>
                <a:latin typeface="Times New Roman" pitchFamily="18" charset="0"/>
                <a:ea typeface="华文中宋"/>
                <a:cs typeface="华文中宋"/>
              </a:endParaRPr>
            </a:p>
          </p:txBody>
        </p:sp>
        <p:sp>
          <p:nvSpPr>
            <p:cNvPr id="30741" name="Rectangle 12"/>
            <p:cNvSpPr>
              <a:spLocks noChangeArrowheads="1"/>
            </p:cNvSpPr>
            <p:nvPr/>
          </p:nvSpPr>
          <p:spPr bwMode="auto">
            <a:xfrm>
              <a:off x="1335969" y="2099774"/>
              <a:ext cx="1109012" cy="644473"/>
            </a:xfrm>
            <a:prstGeom prst="rect">
              <a:avLst/>
            </a:prstGeom>
            <a:noFill/>
            <a:ln w="9525">
              <a:noFill/>
              <a:miter lim="800000"/>
              <a:headEnd/>
              <a:tailEnd/>
            </a:ln>
          </p:spPr>
          <p:txBody>
            <a:bodyPr wrap="none">
              <a:spAutoFit/>
            </a:bodyPr>
            <a:lstStyle/>
            <a:p>
              <a:pPr eaLnBrk="0" hangingPunct="0"/>
              <a:r>
                <a:rPr kumimoji="1" lang="zh-CN" altLang="en-US" sz="1400" b="1">
                  <a:solidFill>
                    <a:srgbClr val="0070C0"/>
                  </a:solidFill>
                  <a:latin typeface="Times New Roman" pitchFamily="18" charset="0"/>
                  <a:ea typeface="华文中宋"/>
                  <a:cs typeface="华文中宋"/>
                </a:rPr>
                <a:t>碾磨机</a:t>
              </a:r>
            </a:p>
          </p:txBody>
        </p:sp>
        <p:sp>
          <p:nvSpPr>
            <p:cNvPr id="30742" name="Rectangle 13"/>
            <p:cNvSpPr>
              <a:spLocks noChangeArrowheads="1"/>
            </p:cNvSpPr>
            <p:nvPr/>
          </p:nvSpPr>
          <p:spPr bwMode="auto">
            <a:xfrm>
              <a:off x="980584" y="3064613"/>
              <a:ext cx="1659585" cy="644473"/>
            </a:xfrm>
            <a:prstGeom prst="rect">
              <a:avLst/>
            </a:prstGeom>
            <a:noFill/>
            <a:ln w="9525">
              <a:noFill/>
              <a:miter lim="800000"/>
              <a:headEnd/>
              <a:tailEnd/>
            </a:ln>
          </p:spPr>
          <p:txBody>
            <a:bodyPr wrap="none">
              <a:spAutoFit/>
            </a:bodyPr>
            <a:lstStyle/>
            <a:p>
              <a:pPr eaLnBrk="0" hangingPunct="0"/>
              <a:r>
                <a:rPr kumimoji="1" lang="zh-CN" altLang="en-US" sz="1400" b="1">
                  <a:solidFill>
                    <a:srgbClr val="0070C0"/>
                  </a:solidFill>
                  <a:latin typeface="Times New Roman" pitchFamily="18" charset="0"/>
                  <a:ea typeface="华文中宋"/>
                  <a:cs typeface="华文中宋"/>
                </a:rPr>
                <a:t>喷射给水器</a:t>
              </a:r>
            </a:p>
          </p:txBody>
        </p:sp>
        <p:sp>
          <p:nvSpPr>
            <p:cNvPr id="30743" name="Rectangle 19"/>
            <p:cNvSpPr>
              <a:spLocks noChangeArrowheads="1"/>
            </p:cNvSpPr>
            <p:nvPr/>
          </p:nvSpPr>
          <p:spPr bwMode="auto">
            <a:xfrm>
              <a:off x="5805992" y="4263806"/>
              <a:ext cx="1109012" cy="644473"/>
            </a:xfrm>
            <a:prstGeom prst="rect">
              <a:avLst/>
            </a:prstGeom>
            <a:noFill/>
            <a:ln w="9525">
              <a:noFill/>
              <a:miter lim="800000"/>
              <a:headEnd/>
              <a:tailEnd/>
            </a:ln>
          </p:spPr>
          <p:txBody>
            <a:bodyPr wrap="none">
              <a:spAutoFit/>
            </a:bodyPr>
            <a:lstStyle/>
            <a:p>
              <a:pPr eaLnBrk="0" hangingPunct="0"/>
              <a:r>
                <a:rPr kumimoji="1" lang="zh-CN" altLang="en-US" sz="1400" b="1">
                  <a:solidFill>
                    <a:srgbClr val="0070C0"/>
                  </a:solidFill>
                  <a:latin typeface="Times New Roman" pitchFamily="18" charset="0"/>
                  <a:ea typeface="华文中宋"/>
                  <a:cs typeface="华文中宋"/>
                </a:rPr>
                <a:t>冷凝塔</a:t>
              </a:r>
            </a:p>
          </p:txBody>
        </p:sp>
        <p:sp>
          <p:nvSpPr>
            <p:cNvPr id="30744" name="Rectangle 20"/>
            <p:cNvSpPr>
              <a:spLocks noChangeArrowheads="1"/>
            </p:cNvSpPr>
            <p:nvPr/>
          </p:nvSpPr>
          <p:spPr bwMode="auto">
            <a:xfrm>
              <a:off x="5650177" y="3603128"/>
              <a:ext cx="1109012" cy="644473"/>
            </a:xfrm>
            <a:prstGeom prst="rect">
              <a:avLst/>
            </a:prstGeom>
            <a:noFill/>
            <a:ln w="9525">
              <a:noFill/>
              <a:miter lim="800000"/>
              <a:headEnd/>
              <a:tailEnd/>
            </a:ln>
          </p:spPr>
          <p:txBody>
            <a:bodyPr wrap="none">
              <a:spAutoFit/>
            </a:bodyPr>
            <a:lstStyle/>
            <a:p>
              <a:pPr>
                <a:spcBef>
                  <a:spcPct val="50000"/>
                </a:spcBef>
              </a:pPr>
              <a:r>
                <a:rPr kumimoji="1" lang="zh-CN" altLang="en-US" sz="1400" b="1">
                  <a:solidFill>
                    <a:srgbClr val="0070C0"/>
                  </a:solidFill>
                  <a:latin typeface="Times New Roman" pitchFamily="18" charset="0"/>
                  <a:ea typeface="华文中宋"/>
                  <a:cs typeface="华文中宋"/>
                </a:rPr>
                <a:t>除尘器</a:t>
              </a:r>
            </a:p>
          </p:txBody>
        </p:sp>
        <p:sp>
          <p:nvSpPr>
            <p:cNvPr id="30745" name="Rectangle 18"/>
            <p:cNvSpPr>
              <a:spLocks noChangeArrowheads="1"/>
            </p:cNvSpPr>
            <p:nvPr/>
          </p:nvSpPr>
          <p:spPr bwMode="auto">
            <a:xfrm>
              <a:off x="4742066" y="4311176"/>
              <a:ext cx="833726" cy="644473"/>
            </a:xfrm>
            <a:prstGeom prst="rect">
              <a:avLst/>
            </a:prstGeom>
            <a:noFill/>
            <a:ln w="9525">
              <a:noFill/>
              <a:miter lim="800000"/>
              <a:headEnd/>
              <a:tailEnd/>
            </a:ln>
          </p:spPr>
          <p:txBody>
            <a:bodyPr wrap="none">
              <a:spAutoFit/>
            </a:bodyPr>
            <a:lstStyle/>
            <a:p>
              <a:pPr eaLnBrk="0" hangingPunct="0"/>
              <a:r>
                <a:rPr kumimoji="1" lang="zh-CN" altLang="en-US" sz="1400" b="1">
                  <a:solidFill>
                    <a:srgbClr val="0070C0"/>
                  </a:solidFill>
                  <a:latin typeface="Times New Roman" pitchFamily="18" charset="0"/>
                  <a:ea typeface="华文中宋"/>
                  <a:cs typeface="华文中宋"/>
                </a:rPr>
                <a:t>涡轮</a:t>
              </a:r>
            </a:p>
          </p:txBody>
        </p:sp>
        <p:sp>
          <p:nvSpPr>
            <p:cNvPr id="30746" name="Rectangle 15"/>
            <p:cNvSpPr>
              <a:spLocks noChangeArrowheads="1"/>
            </p:cNvSpPr>
            <p:nvPr/>
          </p:nvSpPr>
          <p:spPr bwMode="auto">
            <a:xfrm>
              <a:off x="3790130" y="4725035"/>
              <a:ext cx="1109012" cy="644473"/>
            </a:xfrm>
            <a:prstGeom prst="rect">
              <a:avLst/>
            </a:prstGeom>
            <a:noFill/>
            <a:ln w="9525">
              <a:noFill/>
              <a:miter lim="800000"/>
              <a:headEnd/>
              <a:tailEnd/>
            </a:ln>
          </p:spPr>
          <p:txBody>
            <a:bodyPr wrap="none">
              <a:spAutoFit/>
            </a:bodyPr>
            <a:lstStyle/>
            <a:p>
              <a:pPr>
                <a:spcBef>
                  <a:spcPct val="50000"/>
                </a:spcBef>
              </a:pPr>
              <a:r>
                <a:rPr kumimoji="1" lang="zh-CN" altLang="en-US" sz="1400" b="1">
                  <a:solidFill>
                    <a:srgbClr val="0070C0"/>
                  </a:solidFill>
                  <a:latin typeface="Times New Roman" pitchFamily="18" charset="0"/>
                  <a:ea typeface="华文中宋"/>
                  <a:cs typeface="华文中宋"/>
                </a:rPr>
                <a:t>发电机</a:t>
              </a:r>
            </a:p>
          </p:txBody>
        </p:sp>
        <p:sp>
          <p:nvSpPr>
            <p:cNvPr id="30747" name="Rectangle 14"/>
            <p:cNvSpPr>
              <a:spLocks noChangeArrowheads="1"/>
            </p:cNvSpPr>
            <p:nvPr/>
          </p:nvSpPr>
          <p:spPr bwMode="auto">
            <a:xfrm>
              <a:off x="3634316" y="863184"/>
              <a:ext cx="833726" cy="644473"/>
            </a:xfrm>
            <a:prstGeom prst="rect">
              <a:avLst/>
            </a:prstGeom>
            <a:noFill/>
            <a:ln w="9525">
              <a:noFill/>
              <a:miter lim="800000"/>
              <a:headEnd/>
              <a:tailEnd/>
            </a:ln>
          </p:spPr>
          <p:txBody>
            <a:bodyPr wrap="none">
              <a:spAutoFit/>
            </a:bodyPr>
            <a:lstStyle/>
            <a:p>
              <a:pPr eaLnBrk="0" hangingPunct="0"/>
              <a:r>
                <a:rPr kumimoji="1" lang="zh-CN" altLang="en-US" sz="1400" b="1">
                  <a:solidFill>
                    <a:srgbClr val="0070C0"/>
                  </a:solidFill>
                  <a:latin typeface="Times New Roman" pitchFamily="18" charset="0"/>
                  <a:ea typeface="华文中宋"/>
                  <a:cs typeface="华文中宋"/>
                </a:rPr>
                <a:t>锅炉</a:t>
              </a:r>
            </a:p>
          </p:txBody>
        </p:sp>
        <p:sp>
          <p:nvSpPr>
            <p:cNvPr id="30748" name="Rectangle 10"/>
            <p:cNvSpPr>
              <a:spLocks noChangeArrowheads="1"/>
            </p:cNvSpPr>
            <p:nvPr/>
          </p:nvSpPr>
          <p:spPr bwMode="auto">
            <a:xfrm>
              <a:off x="4564338" y="489215"/>
              <a:ext cx="833726" cy="644473"/>
            </a:xfrm>
            <a:prstGeom prst="rect">
              <a:avLst/>
            </a:prstGeom>
            <a:noFill/>
            <a:ln w="9525">
              <a:noFill/>
              <a:miter lim="800000"/>
              <a:headEnd/>
              <a:tailEnd/>
            </a:ln>
          </p:spPr>
          <p:txBody>
            <a:bodyPr wrap="none">
              <a:spAutoFit/>
            </a:bodyPr>
            <a:lstStyle/>
            <a:p>
              <a:pPr>
                <a:spcBef>
                  <a:spcPct val="50000"/>
                </a:spcBef>
              </a:pPr>
              <a:r>
                <a:rPr kumimoji="1" lang="zh-CN" altLang="en-US" sz="1400" b="1">
                  <a:solidFill>
                    <a:srgbClr val="0070C0"/>
                  </a:solidFill>
                  <a:latin typeface="Times New Roman" pitchFamily="18" charset="0"/>
                  <a:ea typeface="华文中宋"/>
                  <a:cs typeface="华文中宋"/>
                </a:rPr>
                <a:t>空气</a:t>
              </a:r>
            </a:p>
          </p:txBody>
        </p:sp>
        <p:sp>
          <p:nvSpPr>
            <p:cNvPr id="30749" name="Rectangle 11"/>
            <p:cNvSpPr>
              <a:spLocks noChangeArrowheads="1"/>
            </p:cNvSpPr>
            <p:nvPr/>
          </p:nvSpPr>
          <p:spPr bwMode="auto">
            <a:xfrm>
              <a:off x="6152238" y="1259590"/>
              <a:ext cx="833726" cy="644473"/>
            </a:xfrm>
            <a:prstGeom prst="rect">
              <a:avLst/>
            </a:prstGeom>
            <a:noFill/>
            <a:ln w="9525">
              <a:noFill/>
              <a:miter lim="800000"/>
              <a:headEnd/>
              <a:tailEnd/>
            </a:ln>
          </p:spPr>
          <p:txBody>
            <a:bodyPr wrap="none">
              <a:spAutoFit/>
            </a:bodyPr>
            <a:lstStyle/>
            <a:p>
              <a:pPr>
                <a:spcBef>
                  <a:spcPct val="50000"/>
                </a:spcBef>
              </a:pPr>
              <a:r>
                <a:rPr kumimoji="1" lang="zh-CN" altLang="en-US" sz="1400" b="1">
                  <a:solidFill>
                    <a:srgbClr val="0070C0"/>
                  </a:solidFill>
                  <a:latin typeface="Times New Roman" pitchFamily="18" charset="0"/>
                  <a:ea typeface="华文中宋"/>
                  <a:cs typeface="华文中宋"/>
                </a:rPr>
                <a:t>烟筒</a:t>
              </a:r>
            </a:p>
          </p:txBody>
        </p:sp>
        <p:sp>
          <p:nvSpPr>
            <p:cNvPr id="30750" name="Rectangle 16"/>
            <p:cNvSpPr>
              <a:spLocks noChangeArrowheads="1"/>
            </p:cNvSpPr>
            <p:nvPr/>
          </p:nvSpPr>
          <p:spPr bwMode="auto">
            <a:xfrm>
              <a:off x="4927501" y="5592641"/>
              <a:ext cx="833726" cy="644473"/>
            </a:xfrm>
            <a:prstGeom prst="rect">
              <a:avLst/>
            </a:prstGeom>
            <a:noFill/>
            <a:ln w="9525">
              <a:noFill/>
              <a:miter lim="800000"/>
              <a:headEnd/>
              <a:tailEnd/>
            </a:ln>
          </p:spPr>
          <p:txBody>
            <a:bodyPr wrap="none">
              <a:spAutoFit/>
            </a:bodyPr>
            <a:lstStyle/>
            <a:p>
              <a:pPr eaLnBrk="0" hangingPunct="0"/>
              <a:r>
                <a:rPr kumimoji="1" lang="zh-CN" altLang="en-US" sz="1400" b="1">
                  <a:solidFill>
                    <a:srgbClr val="0070C0"/>
                  </a:solidFill>
                  <a:latin typeface="Times New Roman" pitchFamily="18" charset="0"/>
                  <a:ea typeface="华文中宋"/>
                  <a:cs typeface="华文中宋"/>
                </a:rPr>
                <a:t>水管</a:t>
              </a:r>
            </a:p>
          </p:txBody>
        </p:sp>
        <p:sp>
          <p:nvSpPr>
            <p:cNvPr id="30751" name="Rectangle 17"/>
            <p:cNvSpPr>
              <a:spLocks noChangeArrowheads="1"/>
            </p:cNvSpPr>
            <p:nvPr/>
          </p:nvSpPr>
          <p:spPr bwMode="auto">
            <a:xfrm>
              <a:off x="1713479" y="4453282"/>
              <a:ext cx="642804" cy="1095603"/>
            </a:xfrm>
            <a:prstGeom prst="rect">
              <a:avLst/>
            </a:prstGeom>
            <a:noFill/>
            <a:ln w="9525">
              <a:noFill/>
              <a:miter lim="800000"/>
              <a:headEnd/>
              <a:tailEnd/>
            </a:ln>
          </p:spPr>
          <p:txBody>
            <a:bodyPr>
              <a:spAutoFit/>
            </a:bodyPr>
            <a:lstStyle/>
            <a:p>
              <a:pPr>
                <a:spcBef>
                  <a:spcPct val="50000"/>
                </a:spcBef>
              </a:pPr>
              <a:r>
                <a:rPr kumimoji="1" lang="zh-CN" altLang="en-US" sz="1400" b="1">
                  <a:solidFill>
                    <a:srgbClr val="0070C0"/>
                  </a:solidFill>
                  <a:latin typeface="Times New Roman" pitchFamily="18" charset="0"/>
                  <a:ea typeface="华文中宋"/>
                  <a:cs typeface="华文中宋"/>
                </a:rPr>
                <a:t>水泵</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7"/>
                                        </p:tgtEl>
                                        <p:attrNameLst>
                                          <p:attrName>style.visibility</p:attrName>
                                        </p:attrNameLst>
                                      </p:cBhvr>
                                      <p:to>
                                        <p:strVal val="visible"/>
                                      </p:to>
                                    </p:set>
                                    <p:animEffect transition="in" filter="wipe(left)">
                                      <p:cBhvr>
                                        <p:cTn id="7" dur="500"/>
                                        <p:tgtEl>
                                          <p:spTgt spid="5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8"/>
                                        </p:tgtEl>
                                        <p:attrNameLst>
                                          <p:attrName>style.visibility</p:attrName>
                                        </p:attrNameLst>
                                      </p:cBhvr>
                                      <p:to>
                                        <p:strVal val="visible"/>
                                      </p:to>
                                    </p:set>
                                    <p:animEffect transition="in" filter="wipe(left)">
                                      <p:cBhvr>
                                        <p:cTn id="12" dur="500"/>
                                        <p:tgtEl>
                                          <p:spTgt spid="5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9"/>
                                        </p:tgtEl>
                                        <p:attrNameLst>
                                          <p:attrName>style.visibility</p:attrName>
                                        </p:attrNameLst>
                                      </p:cBhvr>
                                      <p:to>
                                        <p:strVal val="visible"/>
                                      </p:to>
                                    </p:set>
                                    <p:animEffect transition="in" filter="wipe(left)">
                                      <p:cBhvr>
                                        <p:cTn id="17" dur="500"/>
                                        <p:tgtEl>
                                          <p:spTgt spid="5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wipe(left)">
                                      <p:cBhvr>
                                        <p:cTn id="22" dur="500"/>
                                        <p:tgtEl>
                                          <p:spTgt spid="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wipe(left)">
                                      <p:cBhvr>
                                        <p:cTn id="27" dur="500"/>
                                        <p:tgtEl>
                                          <p:spTgt spid="1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wipe(left)">
                                      <p:cBhvr>
                                        <p:cTn id="32" dur="500"/>
                                        <p:tgtEl>
                                          <p:spTgt spid="19"/>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wipe(left)">
                                      <p:cBhvr>
                                        <p:cTn id="3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utoUpdateAnimBg="0"/>
      <p:bldP spid="19" grpId="0" autoUpdateAnimBg="0"/>
      <p:bldP spid="20" grpId="0" autoUpdateAnimBg="0"/>
      <p:bldP spid="57" grpId="0"/>
      <p:bldP spid="58" grpId="0" autoUpdateAnimBg="0"/>
      <p:bldP spid="59" grpId="0"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73"/>
          <p:cNvSpPr txBox="1">
            <a:spLocks noChangeArrowheads="1"/>
          </p:cNvSpPr>
          <p:nvPr/>
        </p:nvSpPr>
        <p:spPr bwMode="auto">
          <a:xfrm>
            <a:off x="755650" y="900113"/>
            <a:ext cx="2300288" cy="376237"/>
          </a:xfrm>
          <a:prstGeom prst="rect">
            <a:avLst/>
          </a:prstGeom>
          <a:noFill/>
          <a:ln w="9525">
            <a:noFill/>
            <a:miter lim="800000"/>
            <a:headEnd/>
            <a:tailEnd/>
          </a:ln>
        </p:spPr>
        <p:txBody>
          <a:bodyPr>
            <a:spAutoFit/>
          </a:bodyPr>
          <a:lstStyle/>
          <a:p>
            <a:pPr eaLnBrk="0" hangingPunct="0">
              <a:lnSpc>
                <a:spcPct val="110000"/>
              </a:lnSpc>
            </a:pPr>
            <a:r>
              <a:rPr lang="en-US" altLang="zh-CN" b="1">
                <a:solidFill>
                  <a:srgbClr val="0000FF"/>
                </a:solidFill>
                <a:latin typeface="华文中宋"/>
                <a:ea typeface="华文中宋"/>
                <a:cs typeface="华文中宋"/>
              </a:rPr>
              <a:t>2</a:t>
            </a:r>
            <a:r>
              <a:rPr lang="zh-CN" altLang="en-US" b="1">
                <a:solidFill>
                  <a:srgbClr val="0000FF"/>
                </a:solidFill>
                <a:latin typeface="华文中宋"/>
                <a:ea typeface="华文中宋"/>
                <a:cs typeface="华文中宋"/>
              </a:rPr>
              <a:t>、卡诺致冷机 </a:t>
            </a:r>
          </a:p>
        </p:txBody>
      </p:sp>
      <p:grpSp>
        <p:nvGrpSpPr>
          <p:cNvPr id="2" name="组合 21"/>
          <p:cNvGrpSpPr>
            <a:grpSpLocks/>
          </p:cNvGrpSpPr>
          <p:nvPr/>
        </p:nvGrpSpPr>
        <p:grpSpPr bwMode="auto">
          <a:xfrm>
            <a:off x="5895975" y="982663"/>
            <a:ext cx="2924175" cy="1614487"/>
            <a:chOff x="5223765" y="2485708"/>
            <a:chExt cx="2923538" cy="2152852"/>
          </a:xfrm>
        </p:grpSpPr>
        <p:sp>
          <p:nvSpPr>
            <p:cNvPr id="31790" name="Text Box 55"/>
            <p:cNvSpPr txBox="1">
              <a:spLocks noChangeArrowheads="1"/>
            </p:cNvSpPr>
            <p:nvPr/>
          </p:nvSpPr>
          <p:spPr bwMode="auto">
            <a:xfrm>
              <a:off x="5223765" y="2540571"/>
              <a:ext cx="280785" cy="430987"/>
            </a:xfrm>
            <a:prstGeom prst="rect">
              <a:avLst/>
            </a:prstGeom>
            <a:noFill/>
            <a:ln w="9525">
              <a:noFill/>
              <a:miter lim="800000"/>
              <a:headEnd/>
              <a:tailEnd/>
            </a:ln>
          </p:spPr>
          <p:txBody>
            <a:bodyPr wrap="none">
              <a:spAutoFit/>
            </a:bodyPr>
            <a:lstStyle/>
            <a:p>
              <a:pPr eaLnBrk="0" hangingPunct="0"/>
              <a:r>
                <a:rPr lang="en-US" altLang="zh-CN" sz="1500" b="1" i="1">
                  <a:solidFill>
                    <a:srgbClr val="000000"/>
                  </a:solidFill>
                  <a:latin typeface="Times New Roman" pitchFamily="18" charset="0"/>
                </a:rPr>
                <a:t>p</a:t>
              </a:r>
            </a:p>
          </p:txBody>
        </p:sp>
        <p:sp>
          <p:nvSpPr>
            <p:cNvPr id="31791" name="Text Box 56"/>
            <p:cNvSpPr txBox="1">
              <a:spLocks noChangeArrowheads="1"/>
            </p:cNvSpPr>
            <p:nvPr/>
          </p:nvSpPr>
          <p:spPr bwMode="auto">
            <a:xfrm>
              <a:off x="5925313" y="3349815"/>
              <a:ext cx="280785" cy="430986"/>
            </a:xfrm>
            <a:prstGeom prst="rect">
              <a:avLst/>
            </a:prstGeom>
            <a:noFill/>
            <a:ln w="9525">
              <a:noFill/>
              <a:miter lim="800000"/>
              <a:headEnd/>
              <a:tailEnd/>
            </a:ln>
          </p:spPr>
          <p:txBody>
            <a:bodyPr wrap="none">
              <a:spAutoFit/>
            </a:bodyPr>
            <a:lstStyle/>
            <a:p>
              <a:pPr eaLnBrk="0" hangingPunct="0"/>
              <a:r>
                <a:rPr lang="en-US" altLang="zh-CN" sz="1500" b="1" i="1">
                  <a:solidFill>
                    <a:srgbClr val="000000"/>
                  </a:solidFill>
                  <a:latin typeface="Times New Roman" pitchFamily="18" charset="0"/>
                </a:rPr>
                <a:t>d</a:t>
              </a:r>
            </a:p>
          </p:txBody>
        </p:sp>
        <p:sp>
          <p:nvSpPr>
            <p:cNvPr id="31792" name="Rectangle 57"/>
            <p:cNvSpPr>
              <a:spLocks noChangeArrowheads="1"/>
            </p:cNvSpPr>
            <p:nvPr/>
          </p:nvSpPr>
          <p:spPr bwMode="auto">
            <a:xfrm>
              <a:off x="5586414" y="2485708"/>
              <a:ext cx="280785" cy="430986"/>
            </a:xfrm>
            <a:prstGeom prst="rect">
              <a:avLst/>
            </a:prstGeom>
            <a:noFill/>
            <a:ln w="9525">
              <a:noFill/>
              <a:miter lim="800000"/>
              <a:headEnd/>
              <a:tailEnd/>
            </a:ln>
          </p:spPr>
          <p:txBody>
            <a:bodyPr wrap="none">
              <a:spAutoFit/>
            </a:bodyPr>
            <a:lstStyle/>
            <a:p>
              <a:pPr eaLnBrk="0" hangingPunct="0"/>
              <a:r>
                <a:rPr lang="en-US" altLang="zh-CN" sz="1500" b="1" i="1">
                  <a:solidFill>
                    <a:srgbClr val="000000"/>
                  </a:solidFill>
                  <a:latin typeface="Times New Roman" pitchFamily="18" charset="0"/>
                </a:rPr>
                <a:t>a</a:t>
              </a:r>
            </a:p>
          </p:txBody>
        </p:sp>
        <p:sp>
          <p:nvSpPr>
            <p:cNvPr id="31793" name="Rectangle 58"/>
            <p:cNvSpPr>
              <a:spLocks noChangeArrowheads="1"/>
            </p:cNvSpPr>
            <p:nvPr/>
          </p:nvSpPr>
          <p:spPr bwMode="auto">
            <a:xfrm>
              <a:off x="7176835" y="2866263"/>
              <a:ext cx="280785" cy="430986"/>
            </a:xfrm>
            <a:prstGeom prst="rect">
              <a:avLst/>
            </a:prstGeom>
            <a:noFill/>
            <a:ln w="9525">
              <a:noFill/>
              <a:miter lim="800000"/>
              <a:headEnd/>
              <a:tailEnd/>
            </a:ln>
          </p:spPr>
          <p:txBody>
            <a:bodyPr wrap="none">
              <a:spAutoFit/>
            </a:bodyPr>
            <a:lstStyle/>
            <a:p>
              <a:pPr eaLnBrk="0" hangingPunct="0"/>
              <a:r>
                <a:rPr lang="en-US" altLang="zh-CN" sz="1500" b="1" i="1">
                  <a:solidFill>
                    <a:srgbClr val="000000"/>
                  </a:solidFill>
                  <a:latin typeface="Times New Roman" pitchFamily="18" charset="0"/>
                </a:rPr>
                <a:t>b</a:t>
              </a:r>
            </a:p>
          </p:txBody>
        </p:sp>
        <p:sp>
          <p:nvSpPr>
            <p:cNvPr id="31794" name="Rectangle 59"/>
            <p:cNvSpPr>
              <a:spLocks noChangeArrowheads="1"/>
            </p:cNvSpPr>
            <p:nvPr/>
          </p:nvSpPr>
          <p:spPr bwMode="auto">
            <a:xfrm>
              <a:off x="7539356" y="3711893"/>
              <a:ext cx="370204" cy="430986"/>
            </a:xfrm>
            <a:prstGeom prst="rect">
              <a:avLst/>
            </a:prstGeom>
            <a:noFill/>
            <a:ln w="9525">
              <a:noFill/>
              <a:miter lim="800000"/>
              <a:headEnd/>
              <a:tailEnd/>
            </a:ln>
          </p:spPr>
          <p:txBody>
            <a:bodyPr>
              <a:spAutoFit/>
            </a:bodyPr>
            <a:lstStyle/>
            <a:p>
              <a:pPr eaLnBrk="0" hangingPunct="0"/>
              <a:r>
                <a:rPr lang="en-US" altLang="zh-CN" sz="1500" b="1" i="1">
                  <a:solidFill>
                    <a:srgbClr val="000000"/>
                  </a:solidFill>
                  <a:latin typeface="Times New Roman" pitchFamily="18" charset="0"/>
                </a:rPr>
                <a:t>c</a:t>
              </a:r>
            </a:p>
          </p:txBody>
        </p:sp>
        <p:sp>
          <p:nvSpPr>
            <p:cNvPr id="31795" name="Text Box 62"/>
            <p:cNvSpPr txBox="1">
              <a:spLocks noChangeArrowheads="1"/>
            </p:cNvSpPr>
            <p:nvPr/>
          </p:nvSpPr>
          <p:spPr bwMode="auto">
            <a:xfrm>
              <a:off x="5316348" y="4166298"/>
              <a:ext cx="324057" cy="430987"/>
            </a:xfrm>
            <a:prstGeom prst="rect">
              <a:avLst/>
            </a:prstGeom>
            <a:noFill/>
            <a:ln w="9525">
              <a:noFill/>
              <a:miter lim="800000"/>
              <a:headEnd/>
              <a:tailEnd/>
            </a:ln>
          </p:spPr>
          <p:txBody>
            <a:bodyPr wrap="none">
              <a:spAutoFit/>
            </a:bodyPr>
            <a:lstStyle/>
            <a:p>
              <a:pPr eaLnBrk="0" hangingPunct="0"/>
              <a:r>
                <a:rPr lang="en-US" altLang="zh-CN" sz="1500" b="1" i="1">
                  <a:solidFill>
                    <a:srgbClr val="000000"/>
                  </a:solidFill>
                  <a:latin typeface="Times New Roman" pitchFamily="18" charset="0"/>
                </a:rPr>
                <a:t>O</a:t>
              </a:r>
            </a:p>
          </p:txBody>
        </p:sp>
        <p:sp>
          <p:nvSpPr>
            <p:cNvPr id="31796" name="Text Box 63"/>
            <p:cNvSpPr txBox="1">
              <a:spLocks noChangeArrowheads="1"/>
            </p:cNvSpPr>
            <p:nvPr/>
          </p:nvSpPr>
          <p:spPr bwMode="auto">
            <a:xfrm>
              <a:off x="5652708" y="4203574"/>
              <a:ext cx="376944" cy="430987"/>
            </a:xfrm>
            <a:prstGeom prst="rect">
              <a:avLst/>
            </a:prstGeom>
            <a:noFill/>
            <a:ln w="9525">
              <a:noFill/>
              <a:miter lim="800000"/>
              <a:headEnd/>
              <a:tailEnd/>
            </a:ln>
          </p:spPr>
          <p:txBody>
            <a:bodyPr wrap="none">
              <a:spAutoFit/>
            </a:bodyPr>
            <a:lstStyle/>
            <a:p>
              <a:pPr eaLnBrk="0" hangingPunct="0"/>
              <a:r>
                <a:rPr lang="en-US" altLang="zh-CN" sz="1500" b="1" i="1">
                  <a:solidFill>
                    <a:srgbClr val="000000"/>
                  </a:solidFill>
                  <a:latin typeface="Times New Roman" pitchFamily="18" charset="0"/>
                </a:rPr>
                <a:t>V</a:t>
              </a:r>
              <a:r>
                <a:rPr lang="en-US" altLang="zh-CN" sz="1500" b="1" baseline="-25000">
                  <a:solidFill>
                    <a:srgbClr val="000000"/>
                  </a:solidFill>
                  <a:latin typeface="Times New Roman" pitchFamily="18" charset="0"/>
                </a:rPr>
                <a:t>1</a:t>
              </a:r>
              <a:endParaRPr lang="en-US" altLang="zh-CN" sz="1500" b="1">
                <a:solidFill>
                  <a:srgbClr val="000000"/>
                </a:solidFill>
                <a:latin typeface="Times New Roman" pitchFamily="18" charset="0"/>
              </a:endParaRPr>
            </a:p>
          </p:txBody>
        </p:sp>
        <p:sp>
          <p:nvSpPr>
            <p:cNvPr id="31797" name="Text Box 64"/>
            <p:cNvSpPr txBox="1">
              <a:spLocks noChangeArrowheads="1"/>
            </p:cNvSpPr>
            <p:nvPr/>
          </p:nvSpPr>
          <p:spPr bwMode="auto">
            <a:xfrm>
              <a:off x="6107876" y="4204780"/>
              <a:ext cx="376944" cy="430987"/>
            </a:xfrm>
            <a:prstGeom prst="rect">
              <a:avLst/>
            </a:prstGeom>
            <a:noFill/>
            <a:ln w="9525">
              <a:noFill/>
              <a:miter lim="800000"/>
              <a:headEnd/>
              <a:tailEnd/>
            </a:ln>
          </p:spPr>
          <p:txBody>
            <a:bodyPr wrap="none">
              <a:spAutoFit/>
            </a:bodyPr>
            <a:lstStyle/>
            <a:p>
              <a:pPr eaLnBrk="0" hangingPunct="0"/>
              <a:r>
                <a:rPr lang="en-US" altLang="zh-CN" sz="1500" b="1" i="1">
                  <a:solidFill>
                    <a:srgbClr val="000000"/>
                  </a:solidFill>
                  <a:latin typeface="Times New Roman" pitchFamily="18" charset="0"/>
                </a:rPr>
                <a:t>V</a:t>
              </a:r>
              <a:r>
                <a:rPr lang="en-US" altLang="zh-CN" sz="1500" b="1" baseline="-25000">
                  <a:solidFill>
                    <a:srgbClr val="000000"/>
                  </a:solidFill>
                  <a:latin typeface="Times New Roman" pitchFamily="18" charset="0"/>
                </a:rPr>
                <a:t>4</a:t>
              </a:r>
              <a:endParaRPr lang="en-US" altLang="zh-CN" sz="1500" b="1">
                <a:solidFill>
                  <a:srgbClr val="000000"/>
                </a:solidFill>
                <a:latin typeface="Times New Roman" pitchFamily="18" charset="0"/>
              </a:endParaRPr>
            </a:p>
          </p:txBody>
        </p:sp>
        <p:sp>
          <p:nvSpPr>
            <p:cNvPr id="31798" name="Text Box 65"/>
            <p:cNvSpPr txBox="1">
              <a:spLocks noChangeArrowheads="1"/>
            </p:cNvSpPr>
            <p:nvPr/>
          </p:nvSpPr>
          <p:spPr bwMode="auto">
            <a:xfrm>
              <a:off x="6977254" y="4207573"/>
              <a:ext cx="376944" cy="430987"/>
            </a:xfrm>
            <a:prstGeom prst="rect">
              <a:avLst/>
            </a:prstGeom>
            <a:noFill/>
            <a:ln w="9525">
              <a:noFill/>
              <a:miter lim="800000"/>
              <a:headEnd/>
              <a:tailEnd/>
            </a:ln>
          </p:spPr>
          <p:txBody>
            <a:bodyPr wrap="none">
              <a:spAutoFit/>
            </a:bodyPr>
            <a:lstStyle/>
            <a:p>
              <a:pPr eaLnBrk="0" hangingPunct="0"/>
              <a:r>
                <a:rPr lang="en-US" altLang="zh-CN" sz="1500" b="1" i="1">
                  <a:solidFill>
                    <a:srgbClr val="000000"/>
                  </a:solidFill>
                  <a:latin typeface="Times New Roman" pitchFamily="18" charset="0"/>
                </a:rPr>
                <a:t>V</a:t>
              </a:r>
              <a:r>
                <a:rPr lang="en-US" altLang="zh-CN" sz="1500" b="1" baseline="-25000">
                  <a:solidFill>
                    <a:srgbClr val="000000"/>
                  </a:solidFill>
                  <a:latin typeface="Times New Roman" pitchFamily="18" charset="0"/>
                </a:rPr>
                <a:t>2</a:t>
              </a:r>
              <a:endParaRPr lang="en-US" altLang="zh-CN" sz="1500" b="1">
                <a:solidFill>
                  <a:srgbClr val="000000"/>
                </a:solidFill>
                <a:latin typeface="Times New Roman" pitchFamily="18" charset="0"/>
              </a:endParaRPr>
            </a:p>
          </p:txBody>
        </p:sp>
        <p:sp>
          <p:nvSpPr>
            <p:cNvPr id="31799" name="Text Box 66"/>
            <p:cNvSpPr txBox="1">
              <a:spLocks noChangeArrowheads="1"/>
            </p:cNvSpPr>
            <p:nvPr/>
          </p:nvSpPr>
          <p:spPr bwMode="auto">
            <a:xfrm>
              <a:off x="7390639" y="4201223"/>
              <a:ext cx="376944" cy="430987"/>
            </a:xfrm>
            <a:prstGeom prst="rect">
              <a:avLst/>
            </a:prstGeom>
            <a:noFill/>
            <a:ln w="9525">
              <a:noFill/>
              <a:miter lim="800000"/>
              <a:headEnd/>
              <a:tailEnd/>
            </a:ln>
          </p:spPr>
          <p:txBody>
            <a:bodyPr wrap="none">
              <a:spAutoFit/>
            </a:bodyPr>
            <a:lstStyle/>
            <a:p>
              <a:pPr eaLnBrk="0" hangingPunct="0"/>
              <a:r>
                <a:rPr lang="en-US" altLang="zh-CN" sz="1500" b="1" i="1">
                  <a:solidFill>
                    <a:srgbClr val="000000"/>
                  </a:solidFill>
                  <a:latin typeface="Times New Roman" pitchFamily="18" charset="0"/>
                </a:rPr>
                <a:t>V</a:t>
              </a:r>
              <a:r>
                <a:rPr lang="en-US" altLang="zh-CN" sz="1500" b="1" baseline="-25000">
                  <a:solidFill>
                    <a:srgbClr val="000000"/>
                  </a:solidFill>
                  <a:latin typeface="Times New Roman" pitchFamily="18" charset="0"/>
                </a:rPr>
                <a:t>3</a:t>
              </a:r>
              <a:endParaRPr lang="en-US" altLang="zh-CN" sz="1500" b="1">
                <a:solidFill>
                  <a:srgbClr val="000000"/>
                </a:solidFill>
                <a:latin typeface="Times New Roman" pitchFamily="18" charset="0"/>
              </a:endParaRPr>
            </a:p>
          </p:txBody>
        </p:sp>
        <p:sp>
          <p:nvSpPr>
            <p:cNvPr id="31800" name="Text Box 67"/>
            <p:cNvSpPr txBox="1">
              <a:spLocks noChangeArrowheads="1"/>
            </p:cNvSpPr>
            <p:nvPr/>
          </p:nvSpPr>
          <p:spPr bwMode="auto">
            <a:xfrm>
              <a:off x="7806690" y="4047808"/>
              <a:ext cx="340613" cy="492682"/>
            </a:xfrm>
            <a:prstGeom prst="rect">
              <a:avLst/>
            </a:prstGeom>
            <a:noFill/>
            <a:ln w="9525">
              <a:noFill/>
              <a:miter lim="800000"/>
              <a:headEnd/>
              <a:tailEnd/>
            </a:ln>
          </p:spPr>
          <p:txBody>
            <a:bodyPr>
              <a:spAutoFit/>
            </a:bodyPr>
            <a:lstStyle/>
            <a:p>
              <a:pPr eaLnBrk="0" hangingPunct="0"/>
              <a:r>
                <a:rPr lang="en-US" altLang="zh-CN" b="1" i="1">
                  <a:solidFill>
                    <a:srgbClr val="000000"/>
                  </a:solidFill>
                  <a:latin typeface="Times New Roman" pitchFamily="18" charset="0"/>
                </a:rPr>
                <a:t>V</a:t>
              </a:r>
            </a:p>
          </p:txBody>
        </p:sp>
        <p:sp>
          <p:nvSpPr>
            <p:cNvPr id="31801" name="Rectangle 68"/>
            <p:cNvSpPr>
              <a:spLocks noChangeArrowheads="1"/>
            </p:cNvSpPr>
            <p:nvPr/>
          </p:nvSpPr>
          <p:spPr bwMode="auto">
            <a:xfrm>
              <a:off x="6796689" y="2731047"/>
              <a:ext cx="446088" cy="430986"/>
            </a:xfrm>
            <a:prstGeom prst="rect">
              <a:avLst/>
            </a:prstGeom>
            <a:noFill/>
            <a:ln w="9525">
              <a:noFill/>
              <a:miter lim="800000"/>
              <a:headEnd/>
              <a:tailEnd/>
            </a:ln>
          </p:spPr>
          <p:txBody>
            <a:bodyPr>
              <a:spAutoFit/>
            </a:bodyPr>
            <a:lstStyle/>
            <a:p>
              <a:pPr eaLnBrk="0" hangingPunct="0"/>
              <a:r>
                <a:rPr lang="en-US" altLang="zh-CN" sz="1500" b="1" i="1">
                  <a:solidFill>
                    <a:srgbClr val="000000"/>
                  </a:solidFill>
                  <a:latin typeface="Times New Roman" pitchFamily="18" charset="0"/>
                </a:rPr>
                <a:t>T</a:t>
              </a:r>
              <a:r>
                <a:rPr lang="en-US" altLang="zh-CN" sz="1500" b="1" i="1" baseline="-25000">
                  <a:solidFill>
                    <a:srgbClr val="000000"/>
                  </a:solidFill>
                  <a:latin typeface="Times New Roman" pitchFamily="18" charset="0"/>
                </a:rPr>
                <a:t>1</a:t>
              </a:r>
              <a:endParaRPr lang="en-US" altLang="zh-CN" sz="1500" b="1" i="1">
                <a:solidFill>
                  <a:srgbClr val="000000"/>
                </a:solidFill>
                <a:latin typeface="Times New Roman" pitchFamily="18" charset="0"/>
              </a:endParaRPr>
            </a:p>
          </p:txBody>
        </p:sp>
        <p:sp>
          <p:nvSpPr>
            <p:cNvPr id="31802" name="Rectangle 69"/>
            <p:cNvSpPr>
              <a:spLocks noChangeArrowheads="1"/>
            </p:cNvSpPr>
            <p:nvPr/>
          </p:nvSpPr>
          <p:spPr bwMode="auto">
            <a:xfrm>
              <a:off x="6862959" y="3754429"/>
              <a:ext cx="455613" cy="430986"/>
            </a:xfrm>
            <a:prstGeom prst="rect">
              <a:avLst/>
            </a:prstGeom>
            <a:noFill/>
            <a:ln w="9525">
              <a:noFill/>
              <a:miter lim="800000"/>
              <a:headEnd/>
              <a:tailEnd/>
            </a:ln>
          </p:spPr>
          <p:txBody>
            <a:bodyPr>
              <a:spAutoFit/>
            </a:bodyPr>
            <a:lstStyle/>
            <a:p>
              <a:pPr eaLnBrk="0" hangingPunct="0"/>
              <a:r>
                <a:rPr lang="en-US" altLang="zh-CN" sz="1500" b="1" i="1">
                  <a:solidFill>
                    <a:srgbClr val="000000"/>
                  </a:solidFill>
                  <a:latin typeface="Times New Roman" pitchFamily="18" charset="0"/>
                </a:rPr>
                <a:t>T</a:t>
              </a:r>
              <a:r>
                <a:rPr lang="en-US" altLang="zh-CN" sz="1500" b="1" i="1" baseline="-25000">
                  <a:solidFill>
                    <a:srgbClr val="000000"/>
                  </a:solidFill>
                  <a:latin typeface="Times New Roman" pitchFamily="18" charset="0"/>
                </a:rPr>
                <a:t>2</a:t>
              </a:r>
              <a:endParaRPr lang="en-US" altLang="zh-CN" sz="1500" b="1" i="1">
                <a:solidFill>
                  <a:srgbClr val="000000"/>
                </a:solidFill>
                <a:latin typeface="Times New Roman" pitchFamily="18" charset="0"/>
              </a:endParaRPr>
            </a:p>
          </p:txBody>
        </p:sp>
        <p:sp>
          <p:nvSpPr>
            <p:cNvPr id="31803" name="Freeform 70"/>
            <p:cNvSpPr>
              <a:spLocks/>
            </p:cNvSpPr>
            <p:nvPr/>
          </p:nvSpPr>
          <p:spPr bwMode="auto">
            <a:xfrm>
              <a:off x="5806440" y="2660904"/>
              <a:ext cx="1426464" cy="466344"/>
            </a:xfrm>
            <a:custGeom>
              <a:avLst/>
              <a:gdLst>
                <a:gd name="T0" fmla="*/ 0 w 10000"/>
                <a:gd name="T1" fmla="*/ 0 h 10000"/>
                <a:gd name="T2" fmla="*/ 2147483647 w 10000"/>
                <a:gd name="T3" fmla="*/ 2147483647 h 10000"/>
                <a:gd name="T4" fmla="*/ 0 60000 65536"/>
                <a:gd name="T5" fmla="*/ 0 60000 65536"/>
                <a:gd name="T6" fmla="*/ 0 w 10000"/>
                <a:gd name="T7" fmla="*/ 0 h 10000"/>
                <a:gd name="T8" fmla="*/ 10000 w 10000"/>
                <a:gd name="T9" fmla="*/ 10000 h 10000"/>
              </a:gdLst>
              <a:ahLst/>
              <a:cxnLst>
                <a:cxn ang="T4">
                  <a:pos x="T0" y="T1"/>
                </a:cxn>
                <a:cxn ang="T5">
                  <a:pos x="T2" y="T3"/>
                </a:cxn>
              </a:cxnLst>
              <a:rect l="T6" t="T7" r="T8" b="T9"/>
              <a:pathLst>
                <a:path w="10000" h="10000">
                  <a:moveTo>
                    <a:pt x="0" y="0"/>
                  </a:moveTo>
                  <a:cubicBezTo>
                    <a:pt x="2054" y="3438"/>
                    <a:pt x="6058" y="8131"/>
                    <a:pt x="10000" y="10000"/>
                  </a:cubicBezTo>
                </a:path>
              </a:pathLst>
            </a:custGeom>
            <a:noFill/>
            <a:ln w="19050">
              <a:solidFill>
                <a:srgbClr val="C00000"/>
              </a:solidFill>
              <a:round/>
              <a:headEnd/>
              <a:tailEnd/>
            </a:ln>
          </p:spPr>
          <p:txBody>
            <a:bodyPr/>
            <a:lstStyle/>
            <a:p>
              <a:endParaRPr lang="zh-CN" altLang="en-US"/>
            </a:p>
          </p:txBody>
        </p:sp>
        <p:sp>
          <p:nvSpPr>
            <p:cNvPr id="31804" name="Freeform 71"/>
            <p:cNvSpPr>
              <a:spLocks/>
            </p:cNvSpPr>
            <p:nvPr/>
          </p:nvSpPr>
          <p:spPr bwMode="auto">
            <a:xfrm>
              <a:off x="5815584" y="2660904"/>
              <a:ext cx="384048" cy="813817"/>
            </a:xfrm>
            <a:custGeom>
              <a:avLst/>
              <a:gdLst>
                <a:gd name="T0" fmla="*/ 0 w 10000"/>
                <a:gd name="T1" fmla="*/ 0 h 10000"/>
                <a:gd name="T2" fmla="*/ 2147483647 w 10000"/>
                <a:gd name="T3" fmla="*/ 2147483647 h 10000"/>
                <a:gd name="T4" fmla="*/ 0 60000 65536"/>
                <a:gd name="T5" fmla="*/ 0 60000 65536"/>
                <a:gd name="T6" fmla="*/ 0 w 10000"/>
                <a:gd name="T7" fmla="*/ 0 h 10000"/>
                <a:gd name="T8" fmla="*/ 10000 w 10000"/>
                <a:gd name="T9" fmla="*/ 10000 h 10000"/>
              </a:gdLst>
              <a:ahLst/>
              <a:cxnLst>
                <a:cxn ang="T4">
                  <a:pos x="T0" y="T1"/>
                </a:cxn>
                <a:cxn ang="T5">
                  <a:pos x="T2" y="T3"/>
                </a:cxn>
              </a:cxnLst>
              <a:rect l="T6" t="T7" r="T8" b="T9"/>
              <a:pathLst>
                <a:path w="10000" h="10000">
                  <a:moveTo>
                    <a:pt x="0" y="0"/>
                  </a:moveTo>
                  <a:cubicBezTo>
                    <a:pt x="2419" y="3893"/>
                    <a:pt x="5753" y="7320"/>
                    <a:pt x="10000" y="10000"/>
                  </a:cubicBezTo>
                </a:path>
              </a:pathLst>
            </a:custGeom>
            <a:noFill/>
            <a:ln w="19050">
              <a:solidFill>
                <a:srgbClr val="00B0F0"/>
              </a:solidFill>
              <a:round/>
              <a:headEnd/>
              <a:tailEnd/>
            </a:ln>
          </p:spPr>
          <p:txBody>
            <a:bodyPr/>
            <a:lstStyle/>
            <a:p>
              <a:endParaRPr lang="zh-CN" altLang="en-US"/>
            </a:p>
          </p:txBody>
        </p:sp>
        <p:sp>
          <p:nvSpPr>
            <p:cNvPr id="31805" name="Freeform 70"/>
            <p:cNvSpPr>
              <a:spLocks/>
            </p:cNvSpPr>
            <p:nvPr/>
          </p:nvSpPr>
          <p:spPr bwMode="auto">
            <a:xfrm>
              <a:off x="6181344" y="3456432"/>
              <a:ext cx="1426464" cy="466344"/>
            </a:xfrm>
            <a:custGeom>
              <a:avLst/>
              <a:gdLst>
                <a:gd name="T0" fmla="*/ 0 w 10000"/>
                <a:gd name="T1" fmla="*/ 0 h 10000"/>
                <a:gd name="T2" fmla="*/ 2147483647 w 10000"/>
                <a:gd name="T3" fmla="*/ 2147483647 h 10000"/>
                <a:gd name="T4" fmla="*/ 0 60000 65536"/>
                <a:gd name="T5" fmla="*/ 0 60000 65536"/>
                <a:gd name="T6" fmla="*/ 0 w 10000"/>
                <a:gd name="T7" fmla="*/ 0 h 10000"/>
                <a:gd name="T8" fmla="*/ 10000 w 10000"/>
                <a:gd name="T9" fmla="*/ 10000 h 10000"/>
              </a:gdLst>
              <a:ahLst/>
              <a:cxnLst>
                <a:cxn ang="T4">
                  <a:pos x="T0" y="T1"/>
                </a:cxn>
                <a:cxn ang="T5">
                  <a:pos x="T2" y="T3"/>
                </a:cxn>
              </a:cxnLst>
              <a:rect l="T6" t="T7" r="T8" b="T9"/>
              <a:pathLst>
                <a:path w="10000" h="10000">
                  <a:moveTo>
                    <a:pt x="0" y="0"/>
                  </a:moveTo>
                  <a:cubicBezTo>
                    <a:pt x="2054" y="3438"/>
                    <a:pt x="6058" y="8131"/>
                    <a:pt x="10000" y="10000"/>
                  </a:cubicBezTo>
                </a:path>
              </a:pathLst>
            </a:custGeom>
            <a:noFill/>
            <a:ln w="19050">
              <a:solidFill>
                <a:srgbClr val="C00000"/>
              </a:solidFill>
              <a:round/>
              <a:headEnd/>
              <a:tailEnd/>
            </a:ln>
          </p:spPr>
          <p:txBody>
            <a:bodyPr/>
            <a:lstStyle/>
            <a:p>
              <a:endParaRPr lang="zh-CN" altLang="en-US"/>
            </a:p>
          </p:txBody>
        </p:sp>
        <p:sp>
          <p:nvSpPr>
            <p:cNvPr id="31806" name="Freeform 71"/>
            <p:cNvSpPr>
              <a:spLocks/>
            </p:cNvSpPr>
            <p:nvPr/>
          </p:nvSpPr>
          <p:spPr bwMode="auto">
            <a:xfrm>
              <a:off x="7223760" y="3127248"/>
              <a:ext cx="384048" cy="813817"/>
            </a:xfrm>
            <a:custGeom>
              <a:avLst/>
              <a:gdLst>
                <a:gd name="T0" fmla="*/ 0 w 10000"/>
                <a:gd name="T1" fmla="*/ 0 h 10000"/>
                <a:gd name="T2" fmla="*/ 2147483647 w 10000"/>
                <a:gd name="T3" fmla="*/ 2147483647 h 10000"/>
                <a:gd name="T4" fmla="*/ 0 60000 65536"/>
                <a:gd name="T5" fmla="*/ 0 60000 65536"/>
                <a:gd name="T6" fmla="*/ 0 w 10000"/>
                <a:gd name="T7" fmla="*/ 0 h 10000"/>
                <a:gd name="T8" fmla="*/ 10000 w 10000"/>
                <a:gd name="T9" fmla="*/ 10000 h 10000"/>
              </a:gdLst>
              <a:ahLst/>
              <a:cxnLst>
                <a:cxn ang="T4">
                  <a:pos x="T0" y="T1"/>
                </a:cxn>
                <a:cxn ang="T5">
                  <a:pos x="T2" y="T3"/>
                </a:cxn>
              </a:cxnLst>
              <a:rect l="T6" t="T7" r="T8" b="T9"/>
              <a:pathLst>
                <a:path w="10000" h="10000">
                  <a:moveTo>
                    <a:pt x="0" y="0"/>
                  </a:moveTo>
                  <a:cubicBezTo>
                    <a:pt x="2419" y="3893"/>
                    <a:pt x="5753" y="7320"/>
                    <a:pt x="10000" y="10000"/>
                  </a:cubicBezTo>
                </a:path>
              </a:pathLst>
            </a:custGeom>
            <a:noFill/>
            <a:ln w="19050">
              <a:solidFill>
                <a:srgbClr val="00B0F0"/>
              </a:solidFill>
              <a:round/>
              <a:headEnd/>
              <a:tailEnd/>
            </a:ln>
          </p:spPr>
          <p:txBody>
            <a:bodyPr/>
            <a:lstStyle/>
            <a:p>
              <a:endParaRPr lang="zh-CN" altLang="en-US"/>
            </a:p>
          </p:txBody>
        </p:sp>
        <p:cxnSp>
          <p:nvCxnSpPr>
            <p:cNvPr id="22" name="直接箭头连接符 21"/>
            <p:cNvCxnSpPr/>
            <p:nvPr/>
          </p:nvCxnSpPr>
          <p:spPr>
            <a:xfrm>
              <a:off x="6391910" y="2909081"/>
              <a:ext cx="119037" cy="44454"/>
            </a:xfrm>
            <a:prstGeom prst="straightConnector1">
              <a:avLst/>
            </a:prstGeom>
            <a:ln w="19050">
              <a:solidFill>
                <a:srgbClr val="C00000"/>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直接箭头连接符 22"/>
            <p:cNvCxnSpPr/>
            <p:nvPr/>
          </p:nvCxnSpPr>
          <p:spPr>
            <a:xfrm>
              <a:off x="7342616" y="3465816"/>
              <a:ext cx="73009" cy="154532"/>
            </a:xfrm>
            <a:prstGeom prst="straightConnector1">
              <a:avLst/>
            </a:prstGeom>
            <a:ln w="19050">
              <a:solidFill>
                <a:srgbClr val="00B0F0"/>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 name="直接箭头连接符 23"/>
            <p:cNvCxnSpPr/>
            <p:nvPr/>
          </p:nvCxnSpPr>
          <p:spPr>
            <a:xfrm flipH="1" flipV="1">
              <a:off x="6849011" y="3730425"/>
              <a:ext cx="82532" cy="27519"/>
            </a:xfrm>
            <a:prstGeom prst="straightConnector1">
              <a:avLst/>
            </a:prstGeom>
            <a:ln w="19050">
              <a:solidFill>
                <a:srgbClr val="C00000"/>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5" name="直接箭头连接符 24"/>
            <p:cNvCxnSpPr/>
            <p:nvPr/>
          </p:nvCxnSpPr>
          <p:spPr>
            <a:xfrm flipH="1" flipV="1">
              <a:off x="5961792" y="3055144"/>
              <a:ext cx="55550" cy="135479"/>
            </a:xfrm>
            <a:prstGeom prst="straightConnector1">
              <a:avLst/>
            </a:prstGeom>
            <a:ln w="19050">
              <a:solidFill>
                <a:srgbClr val="00B0F0"/>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 name="直接箭头连接符 25"/>
            <p:cNvCxnSpPr/>
            <p:nvPr/>
          </p:nvCxnSpPr>
          <p:spPr>
            <a:xfrm flipV="1">
              <a:off x="5531673" y="2578850"/>
              <a:ext cx="0" cy="169137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7" name="直接箭头连接符 26"/>
            <p:cNvCxnSpPr/>
            <p:nvPr/>
          </p:nvCxnSpPr>
          <p:spPr>
            <a:xfrm>
              <a:off x="5523738" y="4261758"/>
              <a:ext cx="2395015"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7598148" y="3895541"/>
              <a:ext cx="0" cy="355633"/>
            </a:xfrm>
            <a:prstGeom prst="line">
              <a:avLst/>
            </a:prstGeom>
            <a:ln w="12700">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a:off x="7206121" y="3108067"/>
              <a:ext cx="0" cy="1162159"/>
            </a:xfrm>
            <a:prstGeom prst="line">
              <a:avLst/>
            </a:prstGeom>
            <a:ln w="12700">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a:off x="6190342" y="3465816"/>
              <a:ext cx="0" cy="795942"/>
            </a:xfrm>
            <a:prstGeom prst="line">
              <a:avLst/>
            </a:prstGeom>
            <a:ln w="12700">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a:off x="5796728" y="2669875"/>
              <a:ext cx="0" cy="1600351"/>
            </a:xfrm>
            <a:prstGeom prst="line">
              <a:avLst/>
            </a:prstGeom>
            <a:ln w="12700">
              <a:solidFill>
                <a:schemeClr val="tx1"/>
              </a:solidFill>
              <a:prstDash val="lgDash"/>
            </a:ln>
          </p:spPr>
          <p:style>
            <a:lnRef idx="1">
              <a:schemeClr val="accent1"/>
            </a:lnRef>
            <a:fillRef idx="0">
              <a:schemeClr val="accent1"/>
            </a:fillRef>
            <a:effectRef idx="0">
              <a:schemeClr val="accent1"/>
            </a:effectRef>
            <a:fontRef idx="minor">
              <a:schemeClr val="tx1"/>
            </a:fontRef>
          </p:style>
        </p:cxnSp>
      </p:grpSp>
      <p:grpSp>
        <p:nvGrpSpPr>
          <p:cNvPr id="4" name="组合 49"/>
          <p:cNvGrpSpPr>
            <a:grpSpLocks/>
          </p:cNvGrpSpPr>
          <p:nvPr/>
        </p:nvGrpSpPr>
        <p:grpSpPr bwMode="auto">
          <a:xfrm>
            <a:off x="7180263" y="1620838"/>
            <a:ext cx="398462" cy="650875"/>
            <a:chOff x="6452300" y="3199130"/>
            <a:chExt cx="397705" cy="867352"/>
          </a:xfrm>
        </p:grpSpPr>
        <p:sp>
          <p:nvSpPr>
            <p:cNvPr id="31788" name="Line 48"/>
            <p:cNvSpPr>
              <a:spLocks noChangeShapeType="1"/>
            </p:cNvSpPr>
            <p:nvPr/>
          </p:nvSpPr>
          <p:spPr bwMode="auto">
            <a:xfrm rot="-584322">
              <a:off x="6506275" y="3199130"/>
              <a:ext cx="95250" cy="542925"/>
            </a:xfrm>
            <a:prstGeom prst="line">
              <a:avLst/>
            </a:prstGeom>
            <a:noFill/>
            <a:ln w="19050">
              <a:solidFill>
                <a:srgbClr val="0000FF"/>
              </a:solidFill>
              <a:round/>
              <a:headEnd type="arrow" w="med" len="med"/>
              <a:tailEnd/>
            </a:ln>
          </p:spPr>
          <p:txBody>
            <a:bodyPr wrap="none" anchor="ctr"/>
            <a:lstStyle/>
            <a:p>
              <a:endParaRPr lang="zh-CN" altLang="en-US"/>
            </a:p>
          </p:txBody>
        </p:sp>
        <p:sp>
          <p:nvSpPr>
            <p:cNvPr id="31789" name="Text Box 60"/>
            <p:cNvSpPr txBox="1">
              <a:spLocks noChangeArrowheads="1"/>
            </p:cNvSpPr>
            <p:nvPr/>
          </p:nvSpPr>
          <p:spPr bwMode="auto">
            <a:xfrm>
              <a:off x="6452300" y="3635693"/>
              <a:ext cx="397705" cy="430789"/>
            </a:xfrm>
            <a:prstGeom prst="rect">
              <a:avLst/>
            </a:prstGeom>
            <a:noFill/>
            <a:ln w="9525">
              <a:noFill/>
              <a:miter lim="800000"/>
              <a:headEnd/>
              <a:tailEnd/>
            </a:ln>
          </p:spPr>
          <p:txBody>
            <a:bodyPr wrap="none">
              <a:spAutoFit/>
            </a:bodyPr>
            <a:lstStyle/>
            <a:p>
              <a:pPr eaLnBrk="0" hangingPunct="0"/>
              <a:r>
                <a:rPr lang="en-US" altLang="zh-CN" sz="1500" b="1">
                  <a:solidFill>
                    <a:srgbClr val="0000FF"/>
                  </a:solidFill>
                  <a:latin typeface="Times New Roman" pitchFamily="18" charset="0"/>
                </a:rPr>
                <a:t>Q</a:t>
              </a:r>
              <a:r>
                <a:rPr lang="en-US" altLang="zh-CN" sz="1500" b="1" baseline="-25000">
                  <a:solidFill>
                    <a:srgbClr val="0000FF"/>
                  </a:solidFill>
                  <a:latin typeface="Times New Roman" pitchFamily="18" charset="0"/>
                </a:rPr>
                <a:t>2</a:t>
              </a:r>
              <a:endParaRPr lang="en-US" altLang="zh-CN" sz="1500" b="1">
                <a:solidFill>
                  <a:srgbClr val="0000FF"/>
                </a:solidFill>
                <a:latin typeface="Times New Roman" pitchFamily="18" charset="0"/>
              </a:endParaRPr>
            </a:p>
          </p:txBody>
        </p:sp>
      </p:grpSp>
      <p:grpSp>
        <p:nvGrpSpPr>
          <p:cNvPr id="5" name="组合 52"/>
          <p:cNvGrpSpPr>
            <a:grpSpLocks/>
          </p:cNvGrpSpPr>
          <p:nvPr/>
        </p:nvGrpSpPr>
        <p:grpSpPr bwMode="auto">
          <a:xfrm>
            <a:off x="6784975" y="917575"/>
            <a:ext cx="711200" cy="544513"/>
            <a:chOff x="5921960" y="2125587"/>
            <a:chExt cx="711315" cy="727468"/>
          </a:xfrm>
        </p:grpSpPr>
        <p:sp>
          <p:nvSpPr>
            <p:cNvPr id="31786" name="Line 47"/>
            <p:cNvSpPr>
              <a:spLocks noChangeShapeType="1"/>
            </p:cNvSpPr>
            <p:nvPr/>
          </p:nvSpPr>
          <p:spPr bwMode="auto">
            <a:xfrm rot="1169993">
              <a:off x="6241162" y="2459355"/>
              <a:ext cx="392113" cy="393700"/>
            </a:xfrm>
            <a:prstGeom prst="line">
              <a:avLst/>
            </a:prstGeom>
            <a:noFill/>
            <a:ln w="19050">
              <a:solidFill>
                <a:srgbClr val="FF00FF"/>
              </a:solidFill>
              <a:round/>
              <a:headEnd type="arrow" w="med" len="med"/>
              <a:tailEnd/>
            </a:ln>
          </p:spPr>
          <p:txBody>
            <a:bodyPr wrap="none" anchor="ctr"/>
            <a:lstStyle/>
            <a:p>
              <a:endParaRPr lang="zh-CN" altLang="en-US"/>
            </a:p>
          </p:txBody>
        </p:sp>
        <p:sp>
          <p:nvSpPr>
            <p:cNvPr id="31787" name="Text Box 61"/>
            <p:cNvSpPr txBox="1">
              <a:spLocks noChangeArrowheads="1"/>
            </p:cNvSpPr>
            <p:nvPr/>
          </p:nvSpPr>
          <p:spPr bwMode="auto">
            <a:xfrm>
              <a:off x="5921960" y="2125587"/>
              <a:ext cx="474663" cy="431748"/>
            </a:xfrm>
            <a:prstGeom prst="rect">
              <a:avLst/>
            </a:prstGeom>
            <a:noFill/>
            <a:ln w="9525">
              <a:noFill/>
              <a:miter lim="800000"/>
              <a:headEnd/>
              <a:tailEnd/>
            </a:ln>
          </p:spPr>
          <p:txBody>
            <a:bodyPr>
              <a:spAutoFit/>
            </a:bodyPr>
            <a:lstStyle/>
            <a:p>
              <a:pPr eaLnBrk="0" hangingPunct="0"/>
              <a:r>
                <a:rPr lang="en-US" altLang="zh-CN" sz="1500" b="1">
                  <a:solidFill>
                    <a:srgbClr val="FF00FF"/>
                  </a:solidFill>
                  <a:latin typeface="Times New Roman" pitchFamily="18" charset="0"/>
                </a:rPr>
                <a:t>Q</a:t>
              </a:r>
              <a:r>
                <a:rPr lang="en-US" altLang="zh-CN" sz="1500" b="1" baseline="-25000">
                  <a:solidFill>
                    <a:srgbClr val="FF00FF"/>
                  </a:solidFill>
                  <a:latin typeface="Times New Roman" pitchFamily="18" charset="0"/>
                </a:rPr>
                <a:t>1</a:t>
              </a:r>
              <a:endParaRPr lang="en-US" altLang="zh-CN" sz="1500" b="1">
                <a:solidFill>
                  <a:srgbClr val="FF00FF"/>
                </a:solidFill>
                <a:latin typeface="Times New Roman" pitchFamily="18" charset="0"/>
              </a:endParaRPr>
            </a:p>
          </p:txBody>
        </p:sp>
      </p:grpSp>
      <p:sp>
        <p:nvSpPr>
          <p:cNvPr id="38" name="Rectangle 136"/>
          <p:cNvSpPr>
            <a:spLocks noChangeArrowheads="1"/>
          </p:cNvSpPr>
          <p:nvPr/>
        </p:nvSpPr>
        <p:spPr bwMode="auto">
          <a:xfrm>
            <a:off x="2062163" y="1503363"/>
            <a:ext cx="1223962" cy="368300"/>
          </a:xfrm>
          <a:prstGeom prst="rect">
            <a:avLst/>
          </a:prstGeom>
          <a:noFill/>
          <a:ln w="9525">
            <a:noFill/>
            <a:miter lim="800000"/>
            <a:headEnd/>
            <a:tailEnd/>
          </a:ln>
        </p:spPr>
        <p:txBody>
          <a:bodyPr>
            <a:spAutoFit/>
          </a:bodyPr>
          <a:lstStyle/>
          <a:p>
            <a:pPr eaLnBrk="0" hangingPunct="0"/>
            <a:r>
              <a:rPr kumimoji="1" lang="zh-CN" altLang="en-US" b="1">
                <a:solidFill>
                  <a:srgbClr val="000000"/>
                </a:solidFill>
                <a:latin typeface="Times New Roman" pitchFamily="18" charset="0"/>
                <a:ea typeface="华文中宋"/>
                <a:cs typeface="华文中宋"/>
              </a:rPr>
              <a:t>致冷系数</a:t>
            </a:r>
          </a:p>
        </p:txBody>
      </p:sp>
      <p:graphicFrame>
        <p:nvGraphicFramePr>
          <p:cNvPr id="39" name="Object 11"/>
          <p:cNvGraphicFramePr>
            <a:graphicFrameLocks noChangeAspect="1"/>
          </p:cNvGraphicFramePr>
          <p:nvPr/>
        </p:nvGraphicFramePr>
        <p:xfrm>
          <a:off x="3430588" y="1373188"/>
          <a:ext cx="1501775" cy="693737"/>
        </p:xfrm>
        <a:graphic>
          <a:graphicData uri="http://schemas.openxmlformats.org/presentationml/2006/ole">
            <p:oleObj spid="_x0000_s31755" name="Equation" r:id="rId3" imgW="698197" imgH="431613" progId="Equation.DSMT4">
              <p:embed/>
            </p:oleObj>
          </a:graphicData>
        </a:graphic>
      </p:graphicFrame>
      <p:sp>
        <p:nvSpPr>
          <p:cNvPr id="40" name="Text Box 138"/>
          <p:cNvSpPr txBox="1">
            <a:spLocks noChangeArrowheads="1"/>
          </p:cNvSpPr>
          <p:nvPr/>
        </p:nvSpPr>
        <p:spPr bwMode="auto">
          <a:xfrm>
            <a:off x="250825" y="2265363"/>
            <a:ext cx="2659063" cy="374650"/>
          </a:xfrm>
          <a:prstGeom prst="rect">
            <a:avLst/>
          </a:prstGeom>
          <a:noFill/>
          <a:ln w="9525">
            <a:noFill/>
            <a:miter lim="800000"/>
            <a:headEnd/>
            <a:tailEnd/>
          </a:ln>
        </p:spPr>
        <p:txBody>
          <a:bodyPr anchor="ctr">
            <a:spAutoFit/>
          </a:bodyPr>
          <a:lstStyle/>
          <a:p>
            <a:pPr algn="ctr">
              <a:lnSpc>
                <a:spcPct val="110000"/>
              </a:lnSpc>
            </a:pPr>
            <a:r>
              <a:rPr kumimoji="1" lang="zh-CN" altLang="en-US" b="1">
                <a:solidFill>
                  <a:srgbClr val="000000"/>
                </a:solidFill>
                <a:latin typeface="Times New Roman" pitchFamily="18" charset="0"/>
                <a:ea typeface="华文中宋"/>
                <a:cs typeface="华文中宋"/>
              </a:rPr>
              <a:t>若</a:t>
            </a:r>
            <a:r>
              <a:rPr kumimoji="1" lang="en-US" altLang="zh-CN" b="1" i="1">
                <a:solidFill>
                  <a:srgbClr val="000000"/>
                </a:solidFill>
                <a:latin typeface="Times New Roman" pitchFamily="18" charset="0"/>
                <a:ea typeface="华文中宋"/>
                <a:cs typeface="华文中宋"/>
              </a:rPr>
              <a:t>T</a:t>
            </a:r>
            <a:r>
              <a:rPr kumimoji="1" lang="en-US" altLang="zh-CN" b="1" baseline="-25000">
                <a:solidFill>
                  <a:srgbClr val="000000"/>
                </a:solidFill>
                <a:latin typeface="Times New Roman" pitchFamily="18" charset="0"/>
                <a:ea typeface="华文中宋"/>
                <a:cs typeface="华文中宋"/>
              </a:rPr>
              <a:t>1 </a:t>
            </a:r>
            <a:r>
              <a:rPr kumimoji="1" lang="en-US" altLang="zh-CN" b="1">
                <a:solidFill>
                  <a:srgbClr val="000000"/>
                </a:solidFill>
                <a:latin typeface="Times New Roman" pitchFamily="18" charset="0"/>
                <a:ea typeface="华文中宋"/>
                <a:cs typeface="华文中宋"/>
              </a:rPr>
              <a:t>= 293 K(</a:t>
            </a:r>
            <a:r>
              <a:rPr kumimoji="1" lang="zh-CN" altLang="en-US" b="1">
                <a:solidFill>
                  <a:srgbClr val="000000"/>
                </a:solidFill>
                <a:latin typeface="Times New Roman" pitchFamily="18" charset="0"/>
                <a:ea typeface="华文中宋"/>
                <a:cs typeface="华文中宋"/>
              </a:rPr>
              <a:t>室温</a:t>
            </a:r>
            <a:r>
              <a:rPr kumimoji="1" lang="en-US" altLang="zh-CN" b="1">
                <a:solidFill>
                  <a:srgbClr val="000000"/>
                </a:solidFill>
                <a:latin typeface="Times New Roman" pitchFamily="18" charset="0"/>
                <a:ea typeface="华文中宋"/>
                <a:cs typeface="华文中宋"/>
              </a:rPr>
              <a:t>)</a:t>
            </a:r>
            <a:endParaRPr kumimoji="1" lang="en-US" altLang="zh-CN" b="1" u="sng" baseline="-25000">
              <a:solidFill>
                <a:srgbClr val="000000"/>
              </a:solidFill>
              <a:latin typeface="Times New Roman" pitchFamily="18" charset="0"/>
              <a:ea typeface="华文中宋"/>
              <a:cs typeface="华文中宋"/>
            </a:endParaRPr>
          </a:p>
        </p:txBody>
      </p:sp>
      <p:graphicFrame>
        <p:nvGraphicFramePr>
          <p:cNvPr id="178241" name="Group 65"/>
          <p:cNvGraphicFramePr>
            <a:graphicFrameLocks noGrp="1"/>
          </p:cNvGraphicFramePr>
          <p:nvPr/>
        </p:nvGraphicFramePr>
        <p:xfrm>
          <a:off x="1187450" y="2740025"/>
          <a:ext cx="6897688" cy="685800"/>
        </p:xfrm>
        <a:graphic>
          <a:graphicData uri="http://schemas.openxmlformats.org/drawingml/2006/table">
            <a:tbl>
              <a:tblPr/>
              <a:tblGrid>
                <a:gridCol w="758825"/>
                <a:gridCol w="1241425"/>
                <a:gridCol w="1171575"/>
                <a:gridCol w="1243013"/>
                <a:gridCol w="1309687"/>
                <a:gridCol w="1173163"/>
              </a:tblGrid>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500" b="1" i="1"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T</a:t>
                      </a:r>
                      <a:r>
                        <a:rPr kumimoji="1" lang="en-US" altLang="zh-CN" sz="1500" b="1" i="0" u="none" strike="noStrike" cap="none" normalizeH="0" baseline="-25000" dirty="0" smtClean="0">
                          <a:ln>
                            <a:noFill/>
                          </a:ln>
                          <a:solidFill>
                            <a:schemeClr val="tx1"/>
                          </a:solidFill>
                          <a:effectLst/>
                          <a:latin typeface="Times New Roman" pitchFamily="18" charset="0"/>
                          <a:ea typeface="宋体" pitchFamily="2" charset="-122"/>
                          <a:cs typeface="Times New Roman" pitchFamily="18" charset="0"/>
                        </a:rPr>
                        <a:t>2</a:t>
                      </a:r>
                      <a:endParaRPr kumimoji="1" lang="en-US" altLang="zh-CN" sz="15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endParaRPr>
                    </a:p>
                  </a:txBody>
                  <a:tcPr marL="91435" marR="91435" marT="34290" marB="34290"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5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   273</a:t>
                      </a:r>
                    </a:p>
                  </a:txBody>
                  <a:tcPr marL="91435" marR="91435" marT="34290" marB="34290"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5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   223</a:t>
                      </a:r>
                    </a:p>
                  </a:txBody>
                  <a:tcPr marL="91435" marR="91435" marT="34290" marB="34290"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5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   100</a:t>
                      </a:r>
                    </a:p>
                  </a:txBody>
                  <a:tcPr marL="91435" marR="91435" marT="34290" marB="34290"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5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     5</a:t>
                      </a:r>
                    </a:p>
                  </a:txBody>
                  <a:tcPr marL="91435" marR="91435" marT="34290" marB="34290"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5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     1</a:t>
                      </a:r>
                    </a:p>
                  </a:txBody>
                  <a:tcPr marL="91435" marR="91435" marT="34290" marB="34290"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500" b="1" i="1"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e</a:t>
                      </a:r>
                    </a:p>
                  </a:txBody>
                  <a:tcPr marL="91435" marR="91435" marT="34290" marB="34290"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5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  13.6</a:t>
                      </a:r>
                    </a:p>
                  </a:txBody>
                  <a:tcPr marL="91435" marR="91435" marT="34290" marB="34290"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5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    3.2</a:t>
                      </a:r>
                    </a:p>
                  </a:txBody>
                  <a:tcPr marL="91435" marR="91435" marT="34290" marB="34290"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5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   0.52</a:t>
                      </a:r>
                    </a:p>
                  </a:txBody>
                  <a:tcPr marL="91435" marR="91435" marT="34290" marB="34290"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5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  0.017</a:t>
                      </a:r>
                    </a:p>
                  </a:txBody>
                  <a:tcPr marL="91435" marR="91435" marT="34290" marB="34290"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5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0.0034</a:t>
                      </a:r>
                    </a:p>
                  </a:txBody>
                  <a:tcPr marL="91435" marR="91435" marT="34290" marB="34290"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r>
            </a:tbl>
          </a:graphicData>
        </a:graphic>
      </p:graphicFrame>
      <p:sp>
        <p:nvSpPr>
          <p:cNvPr id="42" name="Text Box 162"/>
          <p:cNvSpPr txBox="1">
            <a:spLocks noChangeArrowheads="1"/>
          </p:cNvSpPr>
          <p:nvPr/>
        </p:nvSpPr>
        <p:spPr bwMode="auto">
          <a:xfrm>
            <a:off x="1331913" y="3603625"/>
            <a:ext cx="6630987" cy="984250"/>
          </a:xfrm>
          <a:prstGeom prst="rect">
            <a:avLst/>
          </a:prstGeom>
          <a:solidFill>
            <a:schemeClr val="bg1"/>
          </a:solidFill>
          <a:ln w="9525">
            <a:noFill/>
            <a:miter lim="800000"/>
            <a:headEnd/>
            <a:tailEnd/>
          </a:ln>
        </p:spPr>
        <p:txBody>
          <a:bodyPr>
            <a:spAutoFit/>
          </a:bodyPr>
          <a:lstStyle/>
          <a:p>
            <a:pPr>
              <a:lnSpc>
                <a:spcPct val="110000"/>
              </a:lnSpc>
            </a:pPr>
            <a:r>
              <a:rPr kumimoji="1" lang="zh-CN" altLang="en-US" b="1">
                <a:solidFill>
                  <a:srgbClr val="0000FF"/>
                </a:solidFill>
                <a:latin typeface="Times New Roman" pitchFamily="18" charset="0"/>
                <a:ea typeface="华文中宋"/>
                <a:cs typeface="华文中宋"/>
              </a:rPr>
              <a:t>可见，低温热源的温度</a:t>
            </a:r>
            <a:r>
              <a:rPr kumimoji="1" lang="en-US" altLang="zh-CN" b="1" i="1">
                <a:solidFill>
                  <a:srgbClr val="0000FF"/>
                </a:solidFill>
                <a:latin typeface="Times New Roman" pitchFamily="18" charset="0"/>
                <a:ea typeface="华文中宋"/>
                <a:cs typeface="华文中宋"/>
              </a:rPr>
              <a:t>T</a:t>
            </a:r>
            <a:r>
              <a:rPr kumimoji="1" lang="en-US" altLang="zh-CN" b="1" baseline="-25000">
                <a:solidFill>
                  <a:srgbClr val="0000FF"/>
                </a:solidFill>
                <a:latin typeface="Times New Roman" pitchFamily="18" charset="0"/>
                <a:ea typeface="华文中宋"/>
                <a:cs typeface="华文中宋"/>
              </a:rPr>
              <a:t>2 </a:t>
            </a:r>
            <a:r>
              <a:rPr kumimoji="1" lang="zh-CN" altLang="en-US" b="1">
                <a:solidFill>
                  <a:srgbClr val="0000FF"/>
                </a:solidFill>
                <a:latin typeface="Times New Roman" pitchFamily="18" charset="0"/>
                <a:ea typeface="华文中宋"/>
                <a:cs typeface="华文中宋"/>
              </a:rPr>
              <a:t>越低，则</a:t>
            </a:r>
          </a:p>
          <a:p>
            <a:pPr>
              <a:lnSpc>
                <a:spcPct val="110000"/>
              </a:lnSpc>
            </a:pPr>
            <a:r>
              <a:rPr kumimoji="1" lang="zh-CN" altLang="en-US" b="1">
                <a:solidFill>
                  <a:srgbClr val="0000FF"/>
                </a:solidFill>
                <a:latin typeface="Times New Roman" pitchFamily="18" charset="0"/>
                <a:ea typeface="华文中宋"/>
                <a:cs typeface="华文中宋"/>
              </a:rPr>
              <a:t>             致冷系数</a:t>
            </a:r>
            <a:r>
              <a:rPr kumimoji="1" lang="en-US" altLang="zh-CN" b="1" i="1">
                <a:solidFill>
                  <a:srgbClr val="0000FF"/>
                </a:solidFill>
                <a:latin typeface="Times New Roman" pitchFamily="18" charset="0"/>
                <a:ea typeface="华文中宋"/>
                <a:cs typeface="华文中宋"/>
              </a:rPr>
              <a:t>e</a:t>
            </a:r>
            <a:r>
              <a:rPr kumimoji="1" lang="zh-CN" altLang="en-US" b="1">
                <a:solidFill>
                  <a:srgbClr val="0000FF"/>
                </a:solidFill>
                <a:latin typeface="Times New Roman" pitchFamily="18" charset="0"/>
                <a:ea typeface="华文中宋"/>
                <a:cs typeface="华文中宋"/>
              </a:rPr>
              <a:t>越小</a:t>
            </a:r>
            <a:r>
              <a:rPr kumimoji="1" lang="en-US" altLang="zh-CN" b="1">
                <a:solidFill>
                  <a:srgbClr val="0000FF"/>
                </a:solidFill>
                <a:latin typeface="Times New Roman" pitchFamily="18" charset="0"/>
                <a:ea typeface="华文中宋"/>
                <a:cs typeface="华文中宋"/>
              </a:rPr>
              <a:t>,  </a:t>
            </a:r>
            <a:r>
              <a:rPr kumimoji="1" lang="zh-CN" altLang="en-US" b="1">
                <a:solidFill>
                  <a:srgbClr val="0000FF"/>
                </a:solidFill>
                <a:latin typeface="Times New Roman" pitchFamily="18" charset="0"/>
                <a:ea typeface="华文中宋"/>
                <a:cs typeface="华文中宋"/>
              </a:rPr>
              <a:t>致冷越困难。</a:t>
            </a:r>
          </a:p>
          <a:p>
            <a:pPr>
              <a:lnSpc>
                <a:spcPct val="110000"/>
              </a:lnSpc>
            </a:pPr>
            <a:r>
              <a:rPr kumimoji="1" lang="zh-CN" altLang="en-US" b="1">
                <a:solidFill>
                  <a:srgbClr val="000000"/>
                </a:solidFill>
                <a:latin typeface="Times New Roman" pitchFamily="18" charset="0"/>
                <a:ea typeface="华文中宋"/>
                <a:cs typeface="华文中宋"/>
              </a:rPr>
              <a:t>             一般致冷机的致冷系数约</a:t>
            </a:r>
            <a:r>
              <a:rPr kumimoji="1" lang="en-US" altLang="zh-CN" b="1">
                <a:solidFill>
                  <a:srgbClr val="000000"/>
                </a:solidFill>
                <a:latin typeface="Times New Roman" pitchFamily="18" charset="0"/>
                <a:ea typeface="华文中宋"/>
                <a:cs typeface="华文中宋"/>
              </a:rPr>
              <a:t>:  2</a:t>
            </a:r>
            <a:r>
              <a:rPr kumimoji="1" lang="en-US" altLang="zh-CN" b="1">
                <a:solidFill>
                  <a:srgbClr val="000000"/>
                </a:solidFill>
                <a:latin typeface="Times New Roman" pitchFamily="18" charset="0"/>
                <a:ea typeface="华文中宋"/>
                <a:cs typeface="华文中宋"/>
                <a:sym typeface="Symbol" pitchFamily="18" charset="2"/>
              </a:rPr>
              <a:t></a:t>
            </a:r>
            <a:r>
              <a:rPr kumimoji="1" lang="en-US" altLang="zh-CN" b="1">
                <a:solidFill>
                  <a:srgbClr val="000000"/>
                </a:solidFill>
                <a:latin typeface="Times New Roman" pitchFamily="18" charset="0"/>
                <a:ea typeface="华文中宋"/>
                <a:cs typeface="华文中宋"/>
              </a:rPr>
              <a:t>7</a:t>
            </a:r>
            <a:r>
              <a:rPr kumimoji="1" lang="zh-CN" altLang="en-US" b="1">
                <a:solidFill>
                  <a:srgbClr val="000000"/>
                </a:solidFill>
                <a:latin typeface="Times New Roman" pitchFamily="18" charset="0"/>
                <a:ea typeface="华文中宋"/>
                <a:cs typeface="华文中宋"/>
              </a:rPr>
              <a:t>。</a:t>
            </a:r>
            <a:endParaRPr kumimoji="1" lang="zh-CN" altLang="en-US" b="1">
              <a:solidFill>
                <a:srgbClr val="0000FF"/>
              </a:solidFill>
              <a:latin typeface="Times New Roman" pitchFamily="18" charset="0"/>
              <a:ea typeface="华文中宋"/>
              <a:cs typeface="华文中宋"/>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nodeType="clickEffect">
                                  <p:stCondLst>
                                    <p:cond delay="0"/>
                                  </p:stCondLst>
                                  <p:childTnLst>
                                    <p:set>
                                      <p:cBhvr>
                                        <p:cTn id="11" dur="1" fill="hold">
                                          <p:stCondLst>
                                            <p:cond delay="499"/>
                                          </p:stCondLst>
                                        </p:cTn>
                                        <p:tgtEl>
                                          <p:spTgt spid="2"/>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4" fill="hold" nodeType="click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wipe(down)">
                                      <p:cBhvr>
                                        <p:cTn id="16" dur="500"/>
                                        <p:tgtEl>
                                          <p:spTgt spid="4"/>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1"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wipe(up)">
                                      <p:cBhvr>
                                        <p:cTn id="21" dur="500"/>
                                        <p:tgtEl>
                                          <p:spTgt spid="5"/>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38"/>
                                        </p:tgtEl>
                                        <p:attrNameLst>
                                          <p:attrName>style.visibility</p:attrName>
                                        </p:attrNameLst>
                                      </p:cBhvr>
                                      <p:to>
                                        <p:strVal val="visible"/>
                                      </p:to>
                                    </p:set>
                                    <p:animEffect transition="in" filter="wipe(left)">
                                      <p:cBhvr>
                                        <p:cTn id="26" dur="500"/>
                                        <p:tgtEl>
                                          <p:spTgt spid="38"/>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nodeType="clickEffect">
                                  <p:stCondLst>
                                    <p:cond delay="0"/>
                                  </p:stCondLst>
                                  <p:childTnLst>
                                    <p:set>
                                      <p:cBhvr>
                                        <p:cTn id="30" dur="1" fill="hold">
                                          <p:stCondLst>
                                            <p:cond delay="0"/>
                                          </p:stCondLst>
                                        </p:cTn>
                                        <p:tgtEl>
                                          <p:spTgt spid="39"/>
                                        </p:tgtEl>
                                        <p:attrNameLst>
                                          <p:attrName>style.visibility</p:attrName>
                                        </p:attrNameLst>
                                      </p:cBhvr>
                                      <p:to>
                                        <p:strVal val="visible"/>
                                      </p:to>
                                    </p:set>
                                    <p:animEffect transition="in" filter="wipe(left)">
                                      <p:cBhvr>
                                        <p:cTn id="31" dur="500"/>
                                        <p:tgtEl>
                                          <p:spTgt spid="39"/>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40"/>
                                        </p:tgtEl>
                                        <p:attrNameLst>
                                          <p:attrName>style.visibility</p:attrName>
                                        </p:attrNameLst>
                                      </p:cBhvr>
                                      <p:to>
                                        <p:strVal val="visible"/>
                                      </p:to>
                                    </p:set>
                                    <p:animEffect transition="in" filter="wipe(left)">
                                      <p:cBhvr>
                                        <p:cTn id="36" dur="500"/>
                                        <p:tgtEl>
                                          <p:spTgt spid="40"/>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nodeType="clickEffect">
                                  <p:stCondLst>
                                    <p:cond delay="0"/>
                                  </p:stCondLst>
                                  <p:childTnLst>
                                    <p:set>
                                      <p:cBhvr>
                                        <p:cTn id="40" dur="1" fill="hold">
                                          <p:stCondLst>
                                            <p:cond delay="0"/>
                                          </p:stCondLst>
                                        </p:cTn>
                                        <p:tgtEl>
                                          <p:spTgt spid="178241"/>
                                        </p:tgtEl>
                                        <p:attrNameLst>
                                          <p:attrName>style.visibility</p:attrName>
                                        </p:attrNameLst>
                                      </p:cBhvr>
                                      <p:to>
                                        <p:strVal val="visible"/>
                                      </p:to>
                                    </p:set>
                                    <p:animEffect transition="in" filter="wipe(left)">
                                      <p:cBhvr>
                                        <p:cTn id="41" dur="500"/>
                                        <p:tgtEl>
                                          <p:spTgt spid="178241"/>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42">
                                            <p:txEl>
                                              <p:pRg st="0" end="0"/>
                                            </p:txEl>
                                          </p:spTgt>
                                        </p:tgtEl>
                                        <p:attrNameLst>
                                          <p:attrName>style.visibility</p:attrName>
                                        </p:attrNameLst>
                                      </p:cBhvr>
                                      <p:to>
                                        <p:strVal val="visible"/>
                                      </p:to>
                                    </p:set>
                                    <p:animEffect transition="in" filter="wipe(left)">
                                      <p:cBhvr>
                                        <p:cTn id="46" dur="500"/>
                                        <p:tgtEl>
                                          <p:spTgt spid="42">
                                            <p:txEl>
                                              <p:pRg st="0" end="0"/>
                                            </p:txEl>
                                          </p:spTgt>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42">
                                            <p:txEl>
                                              <p:pRg st="1" end="1"/>
                                            </p:txEl>
                                          </p:spTgt>
                                        </p:tgtEl>
                                        <p:attrNameLst>
                                          <p:attrName>style.visibility</p:attrName>
                                        </p:attrNameLst>
                                      </p:cBhvr>
                                      <p:to>
                                        <p:strVal val="visible"/>
                                      </p:to>
                                    </p:set>
                                    <p:animEffect transition="in" filter="wipe(left)">
                                      <p:cBhvr>
                                        <p:cTn id="51" dur="500"/>
                                        <p:tgtEl>
                                          <p:spTgt spid="42">
                                            <p:txEl>
                                              <p:pRg st="1" end="1"/>
                                            </p:txEl>
                                          </p:spTgt>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42">
                                            <p:txEl>
                                              <p:pRg st="2" end="2"/>
                                            </p:txEl>
                                          </p:spTgt>
                                        </p:tgtEl>
                                        <p:attrNameLst>
                                          <p:attrName>style.visibility</p:attrName>
                                        </p:attrNameLst>
                                      </p:cBhvr>
                                      <p:to>
                                        <p:strVal val="visible"/>
                                      </p:to>
                                    </p:set>
                                    <p:animEffect transition="in" filter="wipe(left)">
                                      <p:cBhvr>
                                        <p:cTn id="56" dur="500"/>
                                        <p:tgtEl>
                                          <p:spTgt spid="4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utoUpdateAnimBg="0"/>
      <p:bldP spid="38" grpId="0" autoUpdateAnimBg="0"/>
      <p:bldP spid="40" grpId="0" autoUpdateAnimBg="0"/>
      <p:bldP spid="42" grpId="0" build="p"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860" name="Text Box 1026"/>
          <p:cNvSpPr txBox="1">
            <a:spLocks noChangeArrowheads="1"/>
          </p:cNvSpPr>
          <p:nvPr/>
        </p:nvSpPr>
        <p:spPr bwMode="auto">
          <a:xfrm>
            <a:off x="425450" y="771525"/>
            <a:ext cx="8539163" cy="1200150"/>
          </a:xfrm>
          <a:prstGeom prst="rect">
            <a:avLst/>
          </a:prstGeom>
          <a:noFill/>
          <a:ln w="9525">
            <a:noFill/>
            <a:miter lim="800000"/>
            <a:headEnd/>
            <a:tailEnd/>
          </a:ln>
        </p:spPr>
        <p:txBody>
          <a:bodyPr>
            <a:spAutoFit/>
          </a:bodyPr>
          <a:lstStyle/>
          <a:p>
            <a:r>
              <a:rPr kumimoji="1" lang="zh-CN" altLang="en-US" b="1">
                <a:solidFill>
                  <a:srgbClr val="0000FF"/>
                </a:solidFill>
                <a:latin typeface="Times New Roman" pitchFamily="18" charset="0"/>
                <a:ea typeface="华文中宋"/>
                <a:cs typeface="华文中宋"/>
              </a:rPr>
              <a:t>例   一卡诺热机</a:t>
            </a:r>
            <a:r>
              <a:rPr kumimoji="1" lang="en-US" altLang="zh-CN" b="1">
                <a:solidFill>
                  <a:srgbClr val="0000FF"/>
                </a:solidFill>
                <a:latin typeface="Times New Roman" pitchFamily="18" charset="0"/>
                <a:ea typeface="华文中宋"/>
                <a:cs typeface="华文中宋"/>
              </a:rPr>
              <a:t>(</a:t>
            </a:r>
            <a:r>
              <a:rPr kumimoji="1" lang="zh-CN" altLang="en-US" b="1">
                <a:solidFill>
                  <a:srgbClr val="0000FF"/>
                </a:solidFill>
                <a:latin typeface="Times New Roman" pitchFamily="18" charset="0"/>
                <a:ea typeface="华文中宋"/>
                <a:cs typeface="华文中宋"/>
              </a:rPr>
              <a:t>可逆的</a:t>
            </a:r>
            <a:r>
              <a:rPr kumimoji="1" lang="en-US" altLang="zh-CN" b="1">
                <a:solidFill>
                  <a:srgbClr val="0000FF"/>
                </a:solidFill>
                <a:latin typeface="Times New Roman" pitchFamily="18" charset="0"/>
                <a:ea typeface="华文中宋"/>
                <a:cs typeface="华文中宋"/>
              </a:rPr>
              <a:t>)</a:t>
            </a:r>
            <a:r>
              <a:rPr kumimoji="1" lang="zh-CN" altLang="en-US" b="1">
                <a:solidFill>
                  <a:srgbClr val="0000FF"/>
                </a:solidFill>
                <a:latin typeface="Times New Roman" pitchFamily="18" charset="0"/>
                <a:ea typeface="华文中宋"/>
                <a:cs typeface="华文中宋"/>
              </a:rPr>
              <a:t>，当高温热源的温度为</a:t>
            </a:r>
            <a:r>
              <a:rPr kumimoji="1" lang="en-US" altLang="zh-CN" b="1">
                <a:solidFill>
                  <a:srgbClr val="0000FF"/>
                </a:solidFill>
                <a:latin typeface="Times New Roman" pitchFamily="18" charset="0"/>
                <a:ea typeface="华文中宋"/>
                <a:cs typeface="华文中宋"/>
              </a:rPr>
              <a:t>127℃</a:t>
            </a:r>
            <a:r>
              <a:rPr kumimoji="1" lang="zh-CN" altLang="en-US" b="1">
                <a:solidFill>
                  <a:srgbClr val="0000FF"/>
                </a:solidFill>
                <a:latin typeface="Times New Roman" pitchFamily="18" charset="0"/>
                <a:ea typeface="华文中宋"/>
                <a:cs typeface="华文中宋"/>
              </a:rPr>
              <a:t>、低温热源温度为</a:t>
            </a:r>
            <a:r>
              <a:rPr kumimoji="1" lang="en-US" altLang="zh-CN" b="1">
                <a:solidFill>
                  <a:srgbClr val="0000FF"/>
                </a:solidFill>
                <a:latin typeface="Times New Roman" pitchFamily="18" charset="0"/>
                <a:ea typeface="华文中宋"/>
                <a:cs typeface="华文中宋"/>
              </a:rPr>
              <a:t>27℃</a:t>
            </a:r>
            <a:r>
              <a:rPr kumimoji="1" lang="zh-CN" altLang="en-US" b="1">
                <a:solidFill>
                  <a:srgbClr val="0000FF"/>
                </a:solidFill>
                <a:latin typeface="Times New Roman" pitchFamily="18" charset="0"/>
                <a:ea typeface="华文中宋"/>
                <a:cs typeface="华文中宋"/>
              </a:rPr>
              <a:t>时，其每次循环对外作净功</a:t>
            </a:r>
            <a:r>
              <a:rPr kumimoji="1" lang="en-US" altLang="zh-CN" b="1">
                <a:solidFill>
                  <a:srgbClr val="0000FF"/>
                </a:solidFill>
                <a:latin typeface="Times New Roman" pitchFamily="18" charset="0"/>
                <a:ea typeface="华文中宋"/>
                <a:cs typeface="华文中宋"/>
              </a:rPr>
              <a:t>8000J</a:t>
            </a:r>
            <a:r>
              <a:rPr kumimoji="1" lang="zh-CN" altLang="en-US" b="1">
                <a:solidFill>
                  <a:srgbClr val="0000FF"/>
                </a:solidFill>
                <a:latin typeface="Times New Roman" pitchFamily="18" charset="0"/>
                <a:ea typeface="华文中宋"/>
                <a:cs typeface="华文中宋"/>
              </a:rPr>
              <a:t>，今维持低温热源温度不变，提高高温热源温度，使其每次循环对外作净功</a:t>
            </a:r>
            <a:r>
              <a:rPr kumimoji="1" lang="en-US" altLang="zh-CN" b="1">
                <a:solidFill>
                  <a:srgbClr val="0000FF"/>
                </a:solidFill>
                <a:latin typeface="Times New Roman" pitchFamily="18" charset="0"/>
                <a:ea typeface="华文中宋"/>
                <a:cs typeface="华文中宋"/>
              </a:rPr>
              <a:t>10000J</a:t>
            </a:r>
            <a:r>
              <a:rPr kumimoji="1" lang="zh-CN" altLang="en-US" b="1">
                <a:solidFill>
                  <a:srgbClr val="0000FF"/>
                </a:solidFill>
                <a:latin typeface="Times New Roman" pitchFamily="18" charset="0"/>
                <a:ea typeface="华文中宋"/>
                <a:cs typeface="华文中宋"/>
              </a:rPr>
              <a:t>。若两个卡诺循环都工作在相同的两条绝热线之间，试求：（</a:t>
            </a:r>
            <a:r>
              <a:rPr kumimoji="1" lang="en-US" altLang="zh-CN" b="1">
                <a:solidFill>
                  <a:srgbClr val="0000FF"/>
                </a:solidFill>
                <a:latin typeface="Times New Roman" pitchFamily="18" charset="0"/>
                <a:ea typeface="华文中宋"/>
                <a:cs typeface="华文中宋"/>
              </a:rPr>
              <a:t>1</a:t>
            </a:r>
            <a:r>
              <a:rPr kumimoji="1" lang="zh-CN" altLang="en-US" b="1">
                <a:solidFill>
                  <a:srgbClr val="0000FF"/>
                </a:solidFill>
                <a:latin typeface="Times New Roman" pitchFamily="18" charset="0"/>
                <a:ea typeface="华文中宋"/>
                <a:cs typeface="华文中宋"/>
              </a:rPr>
              <a:t>）第二个循环热机的效率；（</a:t>
            </a:r>
            <a:r>
              <a:rPr kumimoji="1" lang="en-US" altLang="zh-CN" b="1">
                <a:solidFill>
                  <a:srgbClr val="0000FF"/>
                </a:solidFill>
                <a:latin typeface="Times New Roman" pitchFamily="18" charset="0"/>
                <a:ea typeface="华文中宋"/>
                <a:cs typeface="华文中宋"/>
              </a:rPr>
              <a:t>2</a:t>
            </a:r>
            <a:r>
              <a:rPr kumimoji="1" lang="zh-CN" altLang="en-US" b="1">
                <a:solidFill>
                  <a:srgbClr val="0000FF"/>
                </a:solidFill>
                <a:latin typeface="Times New Roman" pitchFamily="18" charset="0"/>
                <a:ea typeface="华文中宋"/>
                <a:cs typeface="华文中宋"/>
              </a:rPr>
              <a:t>）第二个循环的高温热源的温度。</a:t>
            </a:r>
          </a:p>
        </p:txBody>
      </p:sp>
      <p:sp>
        <p:nvSpPr>
          <p:cNvPr id="105475" name="Text Box 1027"/>
          <p:cNvSpPr txBox="1">
            <a:spLocks noChangeArrowheads="1"/>
          </p:cNvSpPr>
          <p:nvPr/>
        </p:nvSpPr>
        <p:spPr bwMode="auto">
          <a:xfrm>
            <a:off x="539750" y="1978025"/>
            <a:ext cx="1871663" cy="369888"/>
          </a:xfrm>
          <a:prstGeom prst="rect">
            <a:avLst/>
          </a:prstGeom>
          <a:noFill/>
          <a:ln w="9525">
            <a:noFill/>
            <a:miter lim="800000"/>
            <a:headEnd/>
            <a:tailEnd/>
          </a:ln>
        </p:spPr>
        <p:txBody>
          <a:bodyPr>
            <a:spAutoFit/>
          </a:bodyPr>
          <a:lstStyle/>
          <a:p>
            <a:r>
              <a:rPr kumimoji="1" lang="en-US" altLang="zh-CN" b="1">
                <a:solidFill>
                  <a:srgbClr val="FF0000"/>
                </a:solidFill>
                <a:latin typeface="楷体_GB2312"/>
                <a:ea typeface="楷体_GB2312"/>
                <a:cs typeface="楷体_GB2312"/>
              </a:rPr>
              <a:t> </a:t>
            </a:r>
            <a:r>
              <a:rPr kumimoji="1" lang="zh-CN" altLang="en-US" b="1">
                <a:solidFill>
                  <a:srgbClr val="FF0000"/>
                </a:solidFill>
                <a:latin typeface="楷体_GB2312"/>
                <a:ea typeface="楷体_GB2312"/>
                <a:cs typeface="楷体_GB2312"/>
              </a:rPr>
              <a:t>解</a:t>
            </a:r>
            <a:r>
              <a:rPr kumimoji="1" lang="zh-CN" altLang="en-US" b="1">
                <a:solidFill>
                  <a:srgbClr val="FF0000"/>
                </a:solidFill>
                <a:latin typeface="楷体_GB2312"/>
                <a:ea typeface="楷体_GB2312"/>
                <a:cs typeface="楷体_GB2312"/>
                <a:sym typeface="Wingdings" pitchFamily="2" charset="2"/>
              </a:rPr>
              <a:t>：</a:t>
            </a:r>
            <a:r>
              <a:rPr kumimoji="1" lang="zh-CN" altLang="en-US" b="1">
                <a:solidFill>
                  <a:srgbClr val="000000"/>
                </a:solidFill>
                <a:latin typeface="楷体_GB2312"/>
                <a:ea typeface="楷体_GB2312"/>
                <a:cs typeface="楷体_GB2312"/>
                <a:sym typeface="Wingdings" pitchFamily="2" charset="2"/>
              </a:rPr>
              <a:t>（</a:t>
            </a:r>
            <a:r>
              <a:rPr kumimoji="1" lang="en-US" altLang="zh-CN" b="1">
                <a:solidFill>
                  <a:srgbClr val="000000"/>
                </a:solidFill>
                <a:latin typeface="楷体_GB2312"/>
                <a:ea typeface="楷体_GB2312"/>
                <a:cs typeface="楷体_GB2312"/>
                <a:sym typeface="Wingdings" pitchFamily="2" charset="2"/>
              </a:rPr>
              <a:t>1</a:t>
            </a:r>
            <a:r>
              <a:rPr kumimoji="1" lang="zh-CN" altLang="en-US" b="1">
                <a:solidFill>
                  <a:srgbClr val="000000"/>
                </a:solidFill>
                <a:latin typeface="楷体_GB2312"/>
                <a:ea typeface="楷体_GB2312"/>
                <a:cs typeface="楷体_GB2312"/>
                <a:sym typeface="Wingdings" pitchFamily="2" charset="2"/>
              </a:rPr>
              <a:t>）</a:t>
            </a:r>
            <a:r>
              <a:rPr kumimoji="1" lang="zh-CN" altLang="en-US" b="1">
                <a:solidFill>
                  <a:srgbClr val="000000"/>
                </a:solidFill>
                <a:latin typeface="楷体_GB2312"/>
                <a:ea typeface="楷体_GB2312"/>
                <a:cs typeface="楷体_GB2312"/>
              </a:rPr>
              <a:t> </a:t>
            </a:r>
          </a:p>
        </p:txBody>
      </p:sp>
      <p:graphicFrame>
        <p:nvGraphicFramePr>
          <p:cNvPr id="105476" name="Object 83"/>
          <p:cNvGraphicFramePr>
            <a:graphicFrameLocks noChangeAspect="1"/>
          </p:cNvGraphicFramePr>
          <p:nvPr/>
        </p:nvGraphicFramePr>
        <p:xfrm>
          <a:off x="1476375" y="2284413"/>
          <a:ext cx="2994025" cy="581025"/>
        </p:xfrm>
        <a:graphic>
          <a:graphicData uri="http://schemas.openxmlformats.org/presentationml/2006/ole">
            <p:oleObj spid="_x0000_s32851" name="公式" r:id="rId3" imgW="1231366" imgH="317362" progId="Equation.3">
              <p:embed/>
            </p:oleObj>
          </a:graphicData>
        </a:graphic>
      </p:graphicFrame>
      <p:graphicFrame>
        <p:nvGraphicFramePr>
          <p:cNvPr id="105479" name="Object 84"/>
          <p:cNvGraphicFramePr>
            <a:graphicFrameLocks noChangeAspect="1"/>
          </p:cNvGraphicFramePr>
          <p:nvPr/>
        </p:nvGraphicFramePr>
        <p:xfrm>
          <a:off x="2411413" y="1995488"/>
          <a:ext cx="1250950" cy="328612"/>
        </p:xfrm>
        <a:graphic>
          <a:graphicData uri="http://schemas.openxmlformats.org/presentationml/2006/ole">
            <p:oleObj spid="_x0000_s32852" name="公式" r:id="rId4" imgW="583693" imgH="164957" progId="Equation.3">
              <p:embed/>
            </p:oleObj>
          </a:graphicData>
        </a:graphic>
      </p:graphicFrame>
      <p:graphicFrame>
        <p:nvGraphicFramePr>
          <p:cNvPr id="105487" name="Object 85"/>
          <p:cNvGraphicFramePr>
            <a:graphicFrameLocks noChangeAspect="1"/>
          </p:cNvGraphicFramePr>
          <p:nvPr/>
        </p:nvGraphicFramePr>
        <p:xfrm>
          <a:off x="1403350" y="2932113"/>
          <a:ext cx="4002088" cy="576262"/>
        </p:xfrm>
        <a:graphic>
          <a:graphicData uri="http://schemas.openxmlformats.org/presentationml/2006/ole">
            <p:oleObj spid="_x0000_s32853" name="Equation" r:id="rId5" imgW="2514600" imgH="431800" progId="Equation.DSMT4">
              <p:embed/>
            </p:oleObj>
          </a:graphicData>
        </a:graphic>
      </p:graphicFrame>
      <p:sp>
        <p:nvSpPr>
          <p:cNvPr id="105491" name="Rectangle 1043"/>
          <p:cNvSpPr>
            <a:spLocks noChangeArrowheads="1"/>
          </p:cNvSpPr>
          <p:nvPr/>
        </p:nvSpPr>
        <p:spPr bwMode="auto">
          <a:xfrm>
            <a:off x="395288" y="3489325"/>
            <a:ext cx="5472112" cy="646113"/>
          </a:xfrm>
          <a:prstGeom prst="rect">
            <a:avLst/>
          </a:prstGeom>
          <a:noFill/>
          <a:ln w="9525">
            <a:noFill/>
            <a:miter lim="800000"/>
            <a:headEnd/>
            <a:tailEnd/>
          </a:ln>
        </p:spPr>
        <p:txBody>
          <a:bodyPr>
            <a:spAutoFit/>
          </a:bodyPr>
          <a:lstStyle/>
          <a:p>
            <a:r>
              <a:rPr kumimoji="1" lang="zh-CN" altLang="en-US" b="1">
                <a:solidFill>
                  <a:srgbClr val="000000"/>
                </a:solidFill>
                <a:latin typeface="Times New Roman" pitchFamily="18" charset="0"/>
                <a:ea typeface="华文中宋"/>
                <a:cs typeface="华文中宋"/>
              </a:rPr>
              <a:t>维持低温热源温度不变，等温线不变，故依据热一律，释放的热量不变，则：</a:t>
            </a:r>
          </a:p>
        </p:txBody>
      </p:sp>
      <p:grpSp>
        <p:nvGrpSpPr>
          <p:cNvPr id="32863" name="Group 1085"/>
          <p:cNvGrpSpPr>
            <a:grpSpLocks/>
          </p:cNvGrpSpPr>
          <p:nvPr/>
        </p:nvGrpSpPr>
        <p:grpSpPr bwMode="auto">
          <a:xfrm>
            <a:off x="5854700" y="2185988"/>
            <a:ext cx="2924175" cy="1625600"/>
            <a:chOff x="3688" y="2108"/>
            <a:chExt cx="1842" cy="1365"/>
          </a:xfrm>
        </p:grpSpPr>
        <p:sp>
          <p:nvSpPr>
            <p:cNvPr id="32871" name="Text Box 55"/>
            <p:cNvSpPr txBox="1">
              <a:spLocks noChangeArrowheads="1"/>
            </p:cNvSpPr>
            <p:nvPr/>
          </p:nvSpPr>
          <p:spPr bwMode="auto">
            <a:xfrm>
              <a:off x="3688" y="2152"/>
              <a:ext cx="190" cy="271"/>
            </a:xfrm>
            <a:prstGeom prst="rect">
              <a:avLst/>
            </a:prstGeom>
            <a:noFill/>
            <a:ln w="9525">
              <a:noFill/>
              <a:miter lim="800000"/>
              <a:headEnd/>
              <a:tailEnd/>
            </a:ln>
          </p:spPr>
          <p:txBody>
            <a:bodyPr wrap="none">
              <a:spAutoFit/>
            </a:bodyPr>
            <a:lstStyle/>
            <a:p>
              <a:pPr eaLnBrk="0" hangingPunct="0"/>
              <a:r>
                <a:rPr lang="en-US" altLang="zh-CN" sz="1500" b="1" i="1">
                  <a:solidFill>
                    <a:srgbClr val="000000"/>
                  </a:solidFill>
                  <a:latin typeface="Times New Roman" pitchFamily="18" charset="0"/>
                </a:rPr>
                <a:t>P</a:t>
              </a:r>
            </a:p>
          </p:txBody>
        </p:sp>
        <p:sp>
          <p:nvSpPr>
            <p:cNvPr id="32872" name="Text Box 56"/>
            <p:cNvSpPr txBox="1">
              <a:spLocks noChangeArrowheads="1"/>
            </p:cNvSpPr>
            <p:nvPr/>
          </p:nvSpPr>
          <p:spPr bwMode="auto">
            <a:xfrm>
              <a:off x="4130" y="2661"/>
              <a:ext cx="189" cy="310"/>
            </a:xfrm>
            <a:prstGeom prst="rect">
              <a:avLst/>
            </a:prstGeom>
            <a:noFill/>
            <a:ln w="9525">
              <a:noFill/>
              <a:miter lim="800000"/>
              <a:headEnd/>
              <a:tailEnd/>
            </a:ln>
          </p:spPr>
          <p:txBody>
            <a:bodyPr wrap="none">
              <a:spAutoFit/>
            </a:bodyPr>
            <a:lstStyle/>
            <a:p>
              <a:pPr eaLnBrk="0" hangingPunct="0"/>
              <a:r>
                <a:rPr lang="en-US" altLang="zh-CN" b="1" i="1">
                  <a:solidFill>
                    <a:srgbClr val="000000"/>
                  </a:solidFill>
                  <a:latin typeface="Times New Roman" pitchFamily="18" charset="0"/>
                </a:rPr>
                <a:t>d</a:t>
              </a:r>
            </a:p>
          </p:txBody>
        </p:sp>
        <p:sp>
          <p:nvSpPr>
            <p:cNvPr id="32873" name="Rectangle 57"/>
            <p:cNvSpPr>
              <a:spLocks noChangeArrowheads="1"/>
            </p:cNvSpPr>
            <p:nvPr/>
          </p:nvSpPr>
          <p:spPr bwMode="auto">
            <a:xfrm>
              <a:off x="3916" y="2117"/>
              <a:ext cx="189" cy="310"/>
            </a:xfrm>
            <a:prstGeom prst="rect">
              <a:avLst/>
            </a:prstGeom>
            <a:noFill/>
            <a:ln w="9525">
              <a:noFill/>
              <a:miter lim="800000"/>
              <a:headEnd/>
              <a:tailEnd/>
            </a:ln>
          </p:spPr>
          <p:txBody>
            <a:bodyPr wrap="none">
              <a:spAutoFit/>
            </a:bodyPr>
            <a:lstStyle/>
            <a:p>
              <a:pPr eaLnBrk="0" hangingPunct="0"/>
              <a:r>
                <a:rPr lang="en-US" altLang="zh-CN" b="1" i="1">
                  <a:solidFill>
                    <a:srgbClr val="000000"/>
                  </a:solidFill>
                  <a:latin typeface="Times New Roman" pitchFamily="18" charset="0"/>
                </a:rPr>
                <a:t>a</a:t>
              </a:r>
            </a:p>
          </p:txBody>
        </p:sp>
        <p:sp>
          <p:nvSpPr>
            <p:cNvPr id="32874" name="Rectangle 58"/>
            <p:cNvSpPr>
              <a:spLocks noChangeArrowheads="1"/>
            </p:cNvSpPr>
            <p:nvPr/>
          </p:nvSpPr>
          <p:spPr bwMode="auto">
            <a:xfrm>
              <a:off x="4919" y="2357"/>
              <a:ext cx="189" cy="310"/>
            </a:xfrm>
            <a:prstGeom prst="rect">
              <a:avLst/>
            </a:prstGeom>
            <a:noFill/>
            <a:ln w="9525">
              <a:noFill/>
              <a:miter lim="800000"/>
              <a:headEnd/>
              <a:tailEnd/>
            </a:ln>
          </p:spPr>
          <p:txBody>
            <a:bodyPr wrap="none">
              <a:spAutoFit/>
            </a:bodyPr>
            <a:lstStyle/>
            <a:p>
              <a:pPr eaLnBrk="0" hangingPunct="0"/>
              <a:r>
                <a:rPr lang="en-US" altLang="zh-CN" b="1" i="1">
                  <a:solidFill>
                    <a:srgbClr val="000000"/>
                  </a:solidFill>
                  <a:latin typeface="Times New Roman" pitchFamily="18" charset="0"/>
                </a:rPr>
                <a:t>b</a:t>
              </a:r>
            </a:p>
          </p:txBody>
        </p:sp>
        <p:sp>
          <p:nvSpPr>
            <p:cNvPr id="32875" name="Rectangle 59"/>
            <p:cNvSpPr>
              <a:spLocks noChangeArrowheads="1"/>
            </p:cNvSpPr>
            <p:nvPr/>
          </p:nvSpPr>
          <p:spPr bwMode="auto">
            <a:xfrm>
              <a:off x="5147" y="2890"/>
              <a:ext cx="233" cy="310"/>
            </a:xfrm>
            <a:prstGeom prst="rect">
              <a:avLst/>
            </a:prstGeom>
            <a:noFill/>
            <a:ln w="9525">
              <a:noFill/>
              <a:miter lim="800000"/>
              <a:headEnd/>
              <a:tailEnd/>
            </a:ln>
          </p:spPr>
          <p:txBody>
            <a:bodyPr>
              <a:spAutoFit/>
            </a:bodyPr>
            <a:lstStyle/>
            <a:p>
              <a:pPr eaLnBrk="0" hangingPunct="0"/>
              <a:r>
                <a:rPr lang="en-US" altLang="zh-CN" b="1" i="1">
                  <a:solidFill>
                    <a:srgbClr val="000000"/>
                  </a:solidFill>
                  <a:latin typeface="Times New Roman" pitchFamily="18" charset="0"/>
                </a:rPr>
                <a:t>c</a:t>
              </a:r>
            </a:p>
          </p:txBody>
        </p:sp>
        <p:sp>
          <p:nvSpPr>
            <p:cNvPr id="32876" name="Text Box 62"/>
            <p:cNvSpPr txBox="1">
              <a:spLocks noChangeArrowheads="1"/>
            </p:cNvSpPr>
            <p:nvPr/>
          </p:nvSpPr>
          <p:spPr bwMode="auto">
            <a:xfrm>
              <a:off x="3746" y="3176"/>
              <a:ext cx="204" cy="271"/>
            </a:xfrm>
            <a:prstGeom prst="rect">
              <a:avLst/>
            </a:prstGeom>
            <a:noFill/>
            <a:ln w="9525">
              <a:noFill/>
              <a:miter lim="800000"/>
              <a:headEnd/>
              <a:tailEnd/>
            </a:ln>
          </p:spPr>
          <p:txBody>
            <a:bodyPr wrap="none">
              <a:spAutoFit/>
            </a:bodyPr>
            <a:lstStyle/>
            <a:p>
              <a:pPr eaLnBrk="0" hangingPunct="0"/>
              <a:r>
                <a:rPr lang="en-US" altLang="zh-CN" sz="1500" b="1" i="1">
                  <a:solidFill>
                    <a:srgbClr val="000000"/>
                  </a:solidFill>
                  <a:latin typeface="Times New Roman" pitchFamily="18" charset="0"/>
                </a:rPr>
                <a:t>O</a:t>
              </a:r>
            </a:p>
          </p:txBody>
        </p:sp>
        <p:sp>
          <p:nvSpPr>
            <p:cNvPr id="32877" name="Text Box 63"/>
            <p:cNvSpPr txBox="1">
              <a:spLocks noChangeArrowheads="1"/>
            </p:cNvSpPr>
            <p:nvPr/>
          </p:nvSpPr>
          <p:spPr bwMode="auto">
            <a:xfrm>
              <a:off x="3958" y="3199"/>
              <a:ext cx="237" cy="271"/>
            </a:xfrm>
            <a:prstGeom prst="rect">
              <a:avLst/>
            </a:prstGeom>
            <a:noFill/>
            <a:ln w="9525">
              <a:noFill/>
              <a:miter lim="800000"/>
              <a:headEnd/>
              <a:tailEnd/>
            </a:ln>
          </p:spPr>
          <p:txBody>
            <a:bodyPr wrap="none">
              <a:spAutoFit/>
            </a:bodyPr>
            <a:lstStyle/>
            <a:p>
              <a:pPr eaLnBrk="0" hangingPunct="0"/>
              <a:r>
                <a:rPr lang="en-US" altLang="zh-CN" sz="1500" b="1" i="1">
                  <a:solidFill>
                    <a:srgbClr val="000000"/>
                  </a:solidFill>
                  <a:latin typeface="Times New Roman" pitchFamily="18" charset="0"/>
                </a:rPr>
                <a:t>V</a:t>
              </a:r>
              <a:r>
                <a:rPr lang="en-US" altLang="zh-CN" sz="1500" b="1" baseline="-25000">
                  <a:solidFill>
                    <a:srgbClr val="000000"/>
                  </a:solidFill>
                  <a:latin typeface="Times New Roman" pitchFamily="18" charset="0"/>
                </a:rPr>
                <a:t>1</a:t>
              </a:r>
              <a:endParaRPr lang="en-US" altLang="zh-CN" sz="1500" b="1">
                <a:solidFill>
                  <a:srgbClr val="000000"/>
                </a:solidFill>
                <a:latin typeface="Times New Roman" pitchFamily="18" charset="0"/>
              </a:endParaRPr>
            </a:p>
          </p:txBody>
        </p:sp>
        <p:sp>
          <p:nvSpPr>
            <p:cNvPr id="32878" name="Text Box 64"/>
            <p:cNvSpPr txBox="1">
              <a:spLocks noChangeArrowheads="1"/>
            </p:cNvSpPr>
            <p:nvPr/>
          </p:nvSpPr>
          <p:spPr bwMode="auto">
            <a:xfrm>
              <a:off x="4245" y="3200"/>
              <a:ext cx="237" cy="271"/>
            </a:xfrm>
            <a:prstGeom prst="rect">
              <a:avLst/>
            </a:prstGeom>
            <a:noFill/>
            <a:ln w="9525">
              <a:noFill/>
              <a:miter lim="800000"/>
              <a:headEnd/>
              <a:tailEnd/>
            </a:ln>
          </p:spPr>
          <p:txBody>
            <a:bodyPr wrap="none">
              <a:spAutoFit/>
            </a:bodyPr>
            <a:lstStyle/>
            <a:p>
              <a:pPr eaLnBrk="0" hangingPunct="0"/>
              <a:r>
                <a:rPr lang="en-US" altLang="zh-CN" sz="1500" b="1" i="1">
                  <a:solidFill>
                    <a:srgbClr val="000000"/>
                  </a:solidFill>
                  <a:latin typeface="Times New Roman" pitchFamily="18" charset="0"/>
                </a:rPr>
                <a:t>V</a:t>
              </a:r>
              <a:r>
                <a:rPr lang="en-US" altLang="zh-CN" sz="1500" b="1" baseline="-25000">
                  <a:solidFill>
                    <a:srgbClr val="000000"/>
                  </a:solidFill>
                  <a:latin typeface="Times New Roman" pitchFamily="18" charset="0"/>
                </a:rPr>
                <a:t>4</a:t>
              </a:r>
              <a:endParaRPr lang="en-US" altLang="zh-CN" sz="1500" b="1">
                <a:solidFill>
                  <a:srgbClr val="000000"/>
                </a:solidFill>
                <a:latin typeface="Times New Roman" pitchFamily="18" charset="0"/>
              </a:endParaRPr>
            </a:p>
          </p:txBody>
        </p:sp>
        <p:sp>
          <p:nvSpPr>
            <p:cNvPr id="32879" name="Text Box 65"/>
            <p:cNvSpPr txBox="1">
              <a:spLocks noChangeArrowheads="1"/>
            </p:cNvSpPr>
            <p:nvPr/>
          </p:nvSpPr>
          <p:spPr bwMode="auto">
            <a:xfrm>
              <a:off x="4793" y="3202"/>
              <a:ext cx="237" cy="271"/>
            </a:xfrm>
            <a:prstGeom prst="rect">
              <a:avLst/>
            </a:prstGeom>
            <a:noFill/>
            <a:ln w="9525">
              <a:noFill/>
              <a:miter lim="800000"/>
              <a:headEnd/>
              <a:tailEnd/>
            </a:ln>
          </p:spPr>
          <p:txBody>
            <a:bodyPr wrap="none">
              <a:spAutoFit/>
            </a:bodyPr>
            <a:lstStyle/>
            <a:p>
              <a:pPr eaLnBrk="0" hangingPunct="0"/>
              <a:r>
                <a:rPr lang="en-US" altLang="zh-CN" sz="1500" b="1" i="1">
                  <a:solidFill>
                    <a:srgbClr val="000000"/>
                  </a:solidFill>
                  <a:latin typeface="Times New Roman" pitchFamily="18" charset="0"/>
                </a:rPr>
                <a:t>V</a:t>
              </a:r>
              <a:r>
                <a:rPr lang="en-US" altLang="zh-CN" sz="1500" b="1" baseline="-25000">
                  <a:solidFill>
                    <a:srgbClr val="000000"/>
                  </a:solidFill>
                  <a:latin typeface="Times New Roman" pitchFamily="18" charset="0"/>
                </a:rPr>
                <a:t>2</a:t>
              </a:r>
              <a:endParaRPr lang="en-US" altLang="zh-CN" sz="1500" b="1">
                <a:solidFill>
                  <a:srgbClr val="000000"/>
                </a:solidFill>
                <a:latin typeface="Times New Roman" pitchFamily="18" charset="0"/>
              </a:endParaRPr>
            </a:p>
          </p:txBody>
        </p:sp>
        <p:sp>
          <p:nvSpPr>
            <p:cNvPr id="32880" name="Text Box 66"/>
            <p:cNvSpPr txBox="1">
              <a:spLocks noChangeArrowheads="1"/>
            </p:cNvSpPr>
            <p:nvPr/>
          </p:nvSpPr>
          <p:spPr bwMode="auto">
            <a:xfrm>
              <a:off x="5053" y="3198"/>
              <a:ext cx="237" cy="271"/>
            </a:xfrm>
            <a:prstGeom prst="rect">
              <a:avLst/>
            </a:prstGeom>
            <a:noFill/>
            <a:ln w="9525">
              <a:noFill/>
              <a:miter lim="800000"/>
              <a:headEnd/>
              <a:tailEnd/>
            </a:ln>
          </p:spPr>
          <p:txBody>
            <a:bodyPr wrap="none">
              <a:spAutoFit/>
            </a:bodyPr>
            <a:lstStyle/>
            <a:p>
              <a:pPr eaLnBrk="0" hangingPunct="0"/>
              <a:r>
                <a:rPr lang="en-US" altLang="zh-CN" sz="1500" b="1" i="1">
                  <a:solidFill>
                    <a:srgbClr val="000000"/>
                  </a:solidFill>
                  <a:latin typeface="Times New Roman" pitchFamily="18" charset="0"/>
                </a:rPr>
                <a:t>V</a:t>
              </a:r>
              <a:r>
                <a:rPr lang="en-US" altLang="zh-CN" sz="1500" b="1" baseline="-25000">
                  <a:solidFill>
                    <a:srgbClr val="000000"/>
                  </a:solidFill>
                  <a:latin typeface="Times New Roman" pitchFamily="18" charset="0"/>
                </a:rPr>
                <a:t>3</a:t>
              </a:r>
              <a:endParaRPr lang="en-US" altLang="zh-CN" sz="1500" b="1">
                <a:solidFill>
                  <a:srgbClr val="000000"/>
                </a:solidFill>
                <a:latin typeface="Times New Roman" pitchFamily="18" charset="0"/>
              </a:endParaRPr>
            </a:p>
          </p:txBody>
        </p:sp>
        <p:sp>
          <p:nvSpPr>
            <p:cNvPr id="32881" name="Text Box 67"/>
            <p:cNvSpPr txBox="1">
              <a:spLocks noChangeArrowheads="1"/>
            </p:cNvSpPr>
            <p:nvPr/>
          </p:nvSpPr>
          <p:spPr bwMode="auto">
            <a:xfrm>
              <a:off x="5315" y="3101"/>
              <a:ext cx="215" cy="271"/>
            </a:xfrm>
            <a:prstGeom prst="rect">
              <a:avLst/>
            </a:prstGeom>
            <a:noFill/>
            <a:ln w="9525">
              <a:noFill/>
              <a:miter lim="800000"/>
              <a:headEnd/>
              <a:tailEnd/>
            </a:ln>
          </p:spPr>
          <p:txBody>
            <a:bodyPr>
              <a:spAutoFit/>
            </a:bodyPr>
            <a:lstStyle/>
            <a:p>
              <a:pPr eaLnBrk="0" hangingPunct="0"/>
              <a:r>
                <a:rPr lang="en-US" altLang="zh-CN" sz="1500" b="1" i="1">
                  <a:solidFill>
                    <a:srgbClr val="000000"/>
                  </a:solidFill>
                  <a:latin typeface="Times New Roman" pitchFamily="18" charset="0"/>
                </a:rPr>
                <a:t>V</a:t>
              </a:r>
            </a:p>
          </p:txBody>
        </p:sp>
        <p:sp>
          <p:nvSpPr>
            <p:cNvPr id="32882" name="Rectangle 68"/>
            <p:cNvSpPr>
              <a:spLocks noChangeArrowheads="1"/>
            </p:cNvSpPr>
            <p:nvPr/>
          </p:nvSpPr>
          <p:spPr bwMode="auto">
            <a:xfrm>
              <a:off x="4655" y="2260"/>
              <a:ext cx="281" cy="310"/>
            </a:xfrm>
            <a:prstGeom prst="rect">
              <a:avLst/>
            </a:prstGeom>
            <a:noFill/>
            <a:ln w="9525">
              <a:noFill/>
              <a:miter lim="800000"/>
              <a:headEnd/>
              <a:tailEnd/>
            </a:ln>
          </p:spPr>
          <p:txBody>
            <a:bodyPr>
              <a:spAutoFit/>
            </a:bodyPr>
            <a:lstStyle/>
            <a:p>
              <a:pPr eaLnBrk="0" hangingPunct="0"/>
              <a:r>
                <a:rPr lang="en-US" altLang="zh-CN" b="1" i="1">
                  <a:solidFill>
                    <a:srgbClr val="000000"/>
                  </a:solidFill>
                  <a:latin typeface="Times New Roman" pitchFamily="18" charset="0"/>
                </a:rPr>
                <a:t>T</a:t>
              </a:r>
              <a:r>
                <a:rPr lang="en-US" altLang="zh-CN" b="1" baseline="-25000">
                  <a:solidFill>
                    <a:srgbClr val="000000"/>
                  </a:solidFill>
                  <a:latin typeface="Times New Roman" pitchFamily="18" charset="0"/>
                </a:rPr>
                <a:t>1</a:t>
              </a:r>
              <a:endParaRPr lang="en-US" altLang="zh-CN" b="1">
                <a:solidFill>
                  <a:srgbClr val="000000"/>
                </a:solidFill>
                <a:latin typeface="Times New Roman" pitchFamily="18" charset="0"/>
              </a:endParaRPr>
            </a:p>
          </p:txBody>
        </p:sp>
        <p:sp>
          <p:nvSpPr>
            <p:cNvPr id="32883" name="Rectangle 69"/>
            <p:cNvSpPr>
              <a:spLocks noChangeArrowheads="1"/>
            </p:cNvSpPr>
            <p:nvPr/>
          </p:nvSpPr>
          <p:spPr bwMode="auto">
            <a:xfrm>
              <a:off x="4715" y="2922"/>
              <a:ext cx="287" cy="310"/>
            </a:xfrm>
            <a:prstGeom prst="rect">
              <a:avLst/>
            </a:prstGeom>
            <a:noFill/>
            <a:ln w="9525">
              <a:noFill/>
              <a:miter lim="800000"/>
              <a:headEnd/>
              <a:tailEnd/>
            </a:ln>
          </p:spPr>
          <p:txBody>
            <a:bodyPr>
              <a:spAutoFit/>
            </a:bodyPr>
            <a:lstStyle/>
            <a:p>
              <a:pPr eaLnBrk="0" hangingPunct="0"/>
              <a:r>
                <a:rPr lang="en-US" altLang="zh-CN" b="1" i="1">
                  <a:solidFill>
                    <a:srgbClr val="000000"/>
                  </a:solidFill>
                  <a:latin typeface="Times New Roman" pitchFamily="18" charset="0"/>
                </a:rPr>
                <a:t>T</a:t>
              </a:r>
              <a:r>
                <a:rPr lang="en-US" altLang="zh-CN" b="1" baseline="-25000">
                  <a:solidFill>
                    <a:srgbClr val="000000"/>
                  </a:solidFill>
                  <a:latin typeface="Times New Roman" pitchFamily="18" charset="0"/>
                </a:rPr>
                <a:t>2</a:t>
              </a:r>
              <a:endParaRPr lang="en-US" altLang="zh-CN" b="1">
                <a:solidFill>
                  <a:srgbClr val="000000"/>
                </a:solidFill>
                <a:latin typeface="Times New Roman" pitchFamily="18" charset="0"/>
              </a:endParaRPr>
            </a:p>
          </p:txBody>
        </p:sp>
        <p:sp>
          <p:nvSpPr>
            <p:cNvPr id="32884" name="Freeform 70"/>
            <p:cNvSpPr>
              <a:spLocks/>
            </p:cNvSpPr>
            <p:nvPr/>
          </p:nvSpPr>
          <p:spPr bwMode="auto">
            <a:xfrm>
              <a:off x="4055" y="2227"/>
              <a:ext cx="899" cy="294"/>
            </a:xfrm>
            <a:custGeom>
              <a:avLst/>
              <a:gdLst>
                <a:gd name="T0" fmla="*/ 0 w 10000"/>
                <a:gd name="T1" fmla="*/ 0 h 10000"/>
                <a:gd name="T2" fmla="*/ 1134 w 10000"/>
                <a:gd name="T3" fmla="*/ 1 h 10000"/>
                <a:gd name="T4" fmla="*/ 0 60000 65536"/>
                <a:gd name="T5" fmla="*/ 0 60000 65536"/>
                <a:gd name="T6" fmla="*/ 0 w 10000"/>
                <a:gd name="T7" fmla="*/ 0 h 10000"/>
                <a:gd name="T8" fmla="*/ 10000 w 10000"/>
                <a:gd name="T9" fmla="*/ 10000 h 10000"/>
              </a:gdLst>
              <a:ahLst/>
              <a:cxnLst>
                <a:cxn ang="T4">
                  <a:pos x="T0" y="T1"/>
                </a:cxn>
                <a:cxn ang="T5">
                  <a:pos x="T2" y="T3"/>
                </a:cxn>
              </a:cxnLst>
              <a:rect l="T6" t="T7" r="T8" b="T9"/>
              <a:pathLst>
                <a:path w="10000" h="10000">
                  <a:moveTo>
                    <a:pt x="0" y="0"/>
                  </a:moveTo>
                  <a:cubicBezTo>
                    <a:pt x="2054" y="3438"/>
                    <a:pt x="6058" y="8131"/>
                    <a:pt x="10000" y="10000"/>
                  </a:cubicBezTo>
                </a:path>
              </a:pathLst>
            </a:custGeom>
            <a:noFill/>
            <a:ln w="19050">
              <a:solidFill>
                <a:srgbClr val="C00000"/>
              </a:solidFill>
              <a:round/>
              <a:headEnd/>
              <a:tailEnd/>
            </a:ln>
          </p:spPr>
          <p:txBody>
            <a:bodyPr/>
            <a:lstStyle/>
            <a:p>
              <a:endParaRPr lang="zh-CN" altLang="en-US"/>
            </a:p>
          </p:txBody>
        </p:sp>
        <p:sp>
          <p:nvSpPr>
            <p:cNvPr id="32885" name="Freeform 71"/>
            <p:cNvSpPr>
              <a:spLocks/>
            </p:cNvSpPr>
            <p:nvPr/>
          </p:nvSpPr>
          <p:spPr bwMode="auto">
            <a:xfrm>
              <a:off x="4061" y="2227"/>
              <a:ext cx="242" cy="513"/>
            </a:xfrm>
            <a:custGeom>
              <a:avLst/>
              <a:gdLst>
                <a:gd name="T0" fmla="*/ 0 w 10000"/>
                <a:gd name="T1" fmla="*/ 0 h 10000"/>
                <a:gd name="T2" fmla="*/ 0 w 10000"/>
                <a:gd name="T3" fmla="*/ 39 h 10000"/>
                <a:gd name="T4" fmla="*/ 0 60000 65536"/>
                <a:gd name="T5" fmla="*/ 0 60000 65536"/>
                <a:gd name="T6" fmla="*/ 0 w 10000"/>
                <a:gd name="T7" fmla="*/ 0 h 10000"/>
                <a:gd name="T8" fmla="*/ 10000 w 10000"/>
                <a:gd name="T9" fmla="*/ 10000 h 10000"/>
              </a:gdLst>
              <a:ahLst/>
              <a:cxnLst>
                <a:cxn ang="T4">
                  <a:pos x="T0" y="T1"/>
                </a:cxn>
                <a:cxn ang="T5">
                  <a:pos x="T2" y="T3"/>
                </a:cxn>
              </a:cxnLst>
              <a:rect l="T6" t="T7" r="T8" b="T9"/>
              <a:pathLst>
                <a:path w="10000" h="10000">
                  <a:moveTo>
                    <a:pt x="0" y="0"/>
                  </a:moveTo>
                  <a:cubicBezTo>
                    <a:pt x="2419" y="3893"/>
                    <a:pt x="5753" y="7320"/>
                    <a:pt x="10000" y="10000"/>
                  </a:cubicBezTo>
                </a:path>
              </a:pathLst>
            </a:custGeom>
            <a:noFill/>
            <a:ln w="19050">
              <a:solidFill>
                <a:srgbClr val="00B0F0"/>
              </a:solidFill>
              <a:round/>
              <a:headEnd/>
              <a:tailEnd/>
            </a:ln>
          </p:spPr>
          <p:txBody>
            <a:bodyPr/>
            <a:lstStyle/>
            <a:p>
              <a:endParaRPr lang="zh-CN" altLang="en-US"/>
            </a:p>
          </p:txBody>
        </p:sp>
        <p:sp>
          <p:nvSpPr>
            <p:cNvPr id="32886" name="Freeform 70"/>
            <p:cNvSpPr>
              <a:spLocks/>
            </p:cNvSpPr>
            <p:nvPr/>
          </p:nvSpPr>
          <p:spPr bwMode="auto">
            <a:xfrm>
              <a:off x="4291" y="2729"/>
              <a:ext cx="899" cy="293"/>
            </a:xfrm>
            <a:custGeom>
              <a:avLst/>
              <a:gdLst>
                <a:gd name="T0" fmla="*/ 0 w 10000"/>
                <a:gd name="T1" fmla="*/ 0 h 10000"/>
                <a:gd name="T2" fmla="*/ 1134 w 10000"/>
                <a:gd name="T3" fmla="*/ 1 h 10000"/>
                <a:gd name="T4" fmla="*/ 0 60000 65536"/>
                <a:gd name="T5" fmla="*/ 0 60000 65536"/>
                <a:gd name="T6" fmla="*/ 0 w 10000"/>
                <a:gd name="T7" fmla="*/ 0 h 10000"/>
                <a:gd name="T8" fmla="*/ 10000 w 10000"/>
                <a:gd name="T9" fmla="*/ 10000 h 10000"/>
              </a:gdLst>
              <a:ahLst/>
              <a:cxnLst>
                <a:cxn ang="T4">
                  <a:pos x="T0" y="T1"/>
                </a:cxn>
                <a:cxn ang="T5">
                  <a:pos x="T2" y="T3"/>
                </a:cxn>
              </a:cxnLst>
              <a:rect l="T6" t="T7" r="T8" b="T9"/>
              <a:pathLst>
                <a:path w="10000" h="10000">
                  <a:moveTo>
                    <a:pt x="0" y="0"/>
                  </a:moveTo>
                  <a:cubicBezTo>
                    <a:pt x="2054" y="3438"/>
                    <a:pt x="6058" y="8131"/>
                    <a:pt x="10000" y="10000"/>
                  </a:cubicBezTo>
                </a:path>
              </a:pathLst>
            </a:custGeom>
            <a:noFill/>
            <a:ln w="19050">
              <a:solidFill>
                <a:srgbClr val="C00000"/>
              </a:solidFill>
              <a:round/>
              <a:headEnd/>
              <a:tailEnd/>
            </a:ln>
          </p:spPr>
          <p:txBody>
            <a:bodyPr/>
            <a:lstStyle/>
            <a:p>
              <a:endParaRPr lang="zh-CN" altLang="en-US"/>
            </a:p>
          </p:txBody>
        </p:sp>
        <p:sp>
          <p:nvSpPr>
            <p:cNvPr id="32887" name="Freeform 71"/>
            <p:cNvSpPr>
              <a:spLocks/>
            </p:cNvSpPr>
            <p:nvPr/>
          </p:nvSpPr>
          <p:spPr bwMode="auto">
            <a:xfrm>
              <a:off x="4948" y="2521"/>
              <a:ext cx="242" cy="513"/>
            </a:xfrm>
            <a:custGeom>
              <a:avLst/>
              <a:gdLst>
                <a:gd name="T0" fmla="*/ 0 w 10000"/>
                <a:gd name="T1" fmla="*/ 0 h 10000"/>
                <a:gd name="T2" fmla="*/ 0 w 10000"/>
                <a:gd name="T3" fmla="*/ 39 h 10000"/>
                <a:gd name="T4" fmla="*/ 0 60000 65536"/>
                <a:gd name="T5" fmla="*/ 0 60000 65536"/>
                <a:gd name="T6" fmla="*/ 0 w 10000"/>
                <a:gd name="T7" fmla="*/ 0 h 10000"/>
                <a:gd name="T8" fmla="*/ 10000 w 10000"/>
                <a:gd name="T9" fmla="*/ 10000 h 10000"/>
              </a:gdLst>
              <a:ahLst/>
              <a:cxnLst>
                <a:cxn ang="T4">
                  <a:pos x="T0" y="T1"/>
                </a:cxn>
                <a:cxn ang="T5">
                  <a:pos x="T2" y="T3"/>
                </a:cxn>
              </a:cxnLst>
              <a:rect l="T6" t="T7" r="T8" b="T9"/>
              <a:pathLst>
                <a:path w="10000" h="10000">
                  <a:moveTo>
                    <a:pt x="0" y="0"/>
                  </a:moveTo>
                  <a:cubicBezTo>
                    <a:pt x="2419" y="3893"/>
                    <a:pt x="5753" y="7320"/>
                    <a:pt x="10000" y="10000"/>
                  </a:cubicBezTo>
                </a:path>
              </a:pathLst>
            </a:custGeom>
            <a:noFill/>
            <a:ln w="19050">
              <a:solidFill>
                <a:srgbClr val="00B0F0"/>
              </a:solidFill>
              <a:round/>
              <a:headEnd/>
              <a:tailEnd/>
            </a:ln>
          </p:spPr>
          <p:txBody>
            <a:bodyPr/>
            <a:lstStyle/>
            <a:p>
              <a:endParaRPr lang="zh-CN" altLang="en-US"/>
            </a:p>
          </p:txBody>
        </p:sp>
        <p:cxnSp>
          <p:nvCxnSpPr>
            <p:cNvPr id="90" name="直接箭头连接符 89"/>
            <p:cNvCxnSpPr/>
            <p:nvPr/>
          </p:nvCxnSpPr>
          <p:spPr>
            <a:xfrm>
              <a:off x="4424" y="2383"/>
              <a:ext cx="75" cy="29"/>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92" name="直接箭头连接符 91"/>
            <p:cNvCxnSpPr/>
            <p:nvPr/>
          </p:nvCxnSpPr>
          <p:spPr>
            <a:xfrm>
              <a:off x="5023" y="2735"/>
              <a:ext cx="46" cy="97"/>
            </a:xfrm>
            <a:prstGeom prst="straightConnector1">
              <a:avLst/>
            </a:prstGeom>
            <a:ln w="19050">
              <a:solidFill>
                <a:srgbClr val="00B0F0"/>
              </a:solidFill>
              <a:tailEnd type="arrow"/>
            </a:ln>
          </p:spPr>
          <p:style>
            <a:lnRef idx="1">
              <a:schemeClr val="accent1"/>
            </a:lnRef>
            <a:fillRef idx="0">
              <a:schemeClr val="accent1"/>
            </a:fillRef>
            <a:effectRef idx="0">
              <a:schemeClr val="accent1"/>
            </a:effectRef>
            <a:fontRef idx="minor">
              <a:schemeClr val="tx1"/>
            </a:fontRef>
          </p:style>
        </p:cxnSp>
        <p:cxnSp>
          <p:nvCxnSpPr>
            <p:cNvPr id="94" name="直接箭头连接符 93"/>
            <p:cNvCxnSpPr/>
            <p:nvPr/>
          </p:nvCxnSpPr>
          <p:spPr>
            <a:xfrm flipH="1" flipV="1">
              <a:off x="4712" y="2901"/>
              <a:ext cx="52" cy="17"/>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96" name="直接箭头连接符 95"/>
            <p:cNvCxnSpPr/>
            <p:nvPr/>
          </p:nvCxnSpPr>
          <p:spPr>
            <a:xfrm flipH="1" flipV="1">
              <a:off x="4153" y="2475"/>
              <a:ext cx="35" cy="88"/>
            </a:xfrm>
            <a:prstGeom prst="straightConnector1">
              <a:avLst/>
            </a:prstGeom>
            <a:ln w="19050">
              <a:solidFill>
                <a:srgbClr val="00B0F0"/>
              </a:solidFill>
              <a:tailEnd type="arrow"/>
            </a:ln>
          </p:spPr>
          <p:style>
            <a:lnRef idx="1">
              <a:schemeClr val="accent1"/>
            </a:lnRef>
            <a:fillRef idx="0">
              <a:schemeClr val="accent1"/>
            </a:fillRef>
            <a:effectRef idx="0">
              <a:schemeClr val="accent1"/>
            </a:effectRef>
            <a:fontRef idx="minor">
              <a:schemeClr val="tx1"/>
            </a:fontRef>
          </p:style>
        </p:cxnSp>
        <p:cxnSp>
          <p:nvCxnSpPr>
            <p:cNvPr id="98" name="直接箭头连接符 97"/>
            <p:cNvCxnSpPr/>
            <p:nvPr/>
          </p:nvCxnSpPr>
          <p:spPr>
            <a:xfrm flipV="1">
              <a:off x="3882" y="2176"/>
              <a:ext cx="0" cy="106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02" name="直接箭头连接符 101"/>
            <p:cNvCxnSpPr/>
            <p:nvPr/>
          </p:nvCxnSpPr>
          <p:spPr>
            <a:xfrm>
              <a:off x="3877" y="3236"/>
              <a:ext cx="1509"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13" name="直接连接符 112"/>
            <p:cNvCxnSpPr/>
            <p:nvPr/>
          </p:nvCxnSpPr>
          <p:spPr>
            <a:xfrm>
              <a:off x="5184" y="3005"/>
              <a:ext cx="0" cy="225"/>
            </a:xfrm>
            <a:prstGeom prst="line">
              <a:avLst/>
            </a:prstGeom>
            <a:ln w="12700">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115" name="直接连接符 114"/>
            <p:cNvCxnSpPr/>
            <p:nvPr/>
          </p:nvCxnSpPr>
          <p:spPr>
            <a:xfrm>
              <a:off x="4937" y="2511"/>
              <a:ext cx="0" cy="732"/>
            </a:xfrm>
            <a:prstGeom prst="line">
              <a:avLst/>
            </a:prstGeom>
            <a:ln w="12700">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118" name="直接连接符 117"/>
            <p:cNvCxnSpPr/>
            <p:nvPr/>
          </p:nvCxnSpPr>
          <p:spPr>
            <a:xfrm>
              <a:off x="4297" y="2735"/>
              <a:ext cx="0" cy="501"/>
            </a:xfrm>
            <a:prstGeom prst="line">
              <a:avLst/>
            </a:prstGeom>
            <a:ln w="12700">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121" name="直接连接符 120"/>
            <p:cNvCxnSpPr/>
            <p:nvPr/>
          </p:nvCxnSpPr>
          <p:spPr>
            <a:xfrm>
              <a:off x="4049" y="2233"/>
              <a:ext cx="0" cy="1008"/>
            </a:xfrm>
            <a:prstGeom prst="line">
              <a:avLst/>
            </a:prstGeom>
            <a:ln w="12700">
              <a:solidFill>
                <a:schemeClr val="tx1"/>
              </a:solidFill>
              <a:prstDash val="lgDash"/>
            </a:ln>
          </p:spPr>
          <p:style>
            <a:lnRef idx="1">
              <a:schemeClr val="accent1"/>
            </a:lnRef>
            <a:fillRef idx="0">
              <a:schemeClr val="accent1"/>
            </a:fillRef>
            <a:effectRef idx="0">
              <a:schemeClr val="accent1"/>
            </a:effectRef>
            <a:fontRef idx="minor">
              <a:schemeClr val="tx1"/>
            </a:fontRef>
          </p:style>
        </p:cxnSp>
        <p:grpSp>
          <p:nvGrpSpPr>
            <p:cNvPr id="32898" name="组合 141"/>
            <p:cNvGrpSpPr>
              <a:grpSpLocks/>
            </p:cNvGrpSpPr>
            <p:nvPr/>
          </p:nvGrpSpPr>
          <p:grpSpPr bwMode="auto">
            <a:xfrm>
              <a:off x="4188" y="2108"/>
              <a:ext cx="359" cy="482"/>
              <a:chOff x="6063362" y="2087880"/>
              <a:chExt cx="569913" cy="765175"/>
            </a:xfrm>
          </p:grpSpPr>
          <p:sp>
            <p:nvSpPr>
              <p:cNvPr id="32902" name="Line 47"/>
              <p:cNvSpPr>
                <a:spLocks noChangeShapeType="1"/>
              </p:cNvSpPr>
              <p:nvPr/>
            </p:nvSpPr>
            <p:spPr bwMode="auto">
              <a:xfrm rot="1169993">
                <a:off x="6241162" y="2459355"/>
                <a:ext cx="392113" cy="393700"/>
              </a:xfrm>
              <a:prstGeom prst="line">
                <a:avLst/>
              </a:prstGeom>
              <a:noFill/>
              <a:ln w="19050">
                <a:solidFill>
                  <a:srgbClr val="FF00FF"/>
                </a:solidFill>
                <a:round/>
                <a:headEnd/>
                <a:tailEnd type="triangle" w="med" len="med"/>
              </a:ln>
            </p:spPr>
            <p:txBody>
              <a:bodyPr wrap="none" anchor="ctr"/>
              <a:lstStyle/>
              <a:p>
                <a:endParaRPr lang="zh-CN" altLang="en-US"/>
              </a:p>
            </p:txBody>
          </p:sp>
          <p:sp>
            <p:nvSpPr>
              <p:cNvPr id="32903" name="Text Box 61"/>
              <p:cNvSpPr txBox="1">
                <a:spLocks noChangeArrowheads="1"/>
              </p:cNvSpPr>
              <p:nvPr/>
            </p:nvSpPr>
            <p:spPr bwMode="auto">
              <a:xfrm>
                <a:off x="6063362" y="2087880"/>
                <a:ext cx="474663" cy="430887"/>
              </a:xfrm>
              <a:prstGeom prst="rect">
                <a:avLst/>
              </a:prstGeom>
              <a:noFill/>
              <a:ln w="9525">
                <a:noFill/>
                <a:miter lim="800000"/>
                <a:headEnd/>
                <a:tailEnd/>
              </a:ln>
            </p:spPr>
            <p:txBody>
              <a:bodyPr>
                <a:spAutoFit/>
              </a:bodyPr>
              <a:lstStyle/>
              <a:p>
                <a:pPr eaLnBrk="0" hangingPunct="0"/>
                <a:r>
                  <a:rPr lang="en-US" altLang="zh-CN" sz="1500" b="1" i="1">
                    <a:solidFill>
                      <a:srgbClr val="FF00FF"/>
                    </a:solidFill>
                    <a:latin typeface="Times New Roman" pitchFamily="18" charset="0"/>
                  </a:rPr>
                  <a:t>Q</a:t>
                </a:r>
                <a:r>
                  <a:rPr lang="en-US" altLang="zh-CN" sz="1500" b="1" baseline="-25000">
                    <a:solidFill>
                      <a:srgbClr val="FF00FF"/>
                    </a:solidFill>
                    <a:latin typeface="Times New Roman" pitchFamily="18" charset="0"/>
                  </a:rPr>
                  <a:t>1</a:t>
                </a:r>
                <a:endParaRPr lang="en-US" altLang="zh-CN" sz="1500" b="1">
                  <a:solidFill>
                    <a:srgbClr val="FF00FF"/>
                  </a:solidFill>
                  <a:latin typeface="Times New Roman" pitchFamily="18" charset="0"/>
                </a:endParaRPr>
              </a:p>
            </p:txBody>
          </p:sp>
        </p:grpSp>
        <p:grpSp>
          <p:nvGrpSpPr>
            <p:cNvPr id="32899" name="组合 147"/>
            <p:cNvGrpSpPr>
              <a:grpSpLocks/>
            </p:cNvGrpSpPr>
            <p:nvPr/>
          </p:nvGrpSpPr>
          <p:grpSpPr bwMode="auto">
            <a:xfrm>
              <a:off x="4478" y="2657"/>
              <a:ext cx="245" cy="546"/>
              <a:chOff x="6452300" y="3199130"/>
              <a:chExt cx="387974" cy="867597"/>
            </a:xfrm>
          </p:grpSpPr>
          <p:sp>
            <p:nvSpPr>
              <p:cNvPr id="32900" name="Line 48"/>
              <p:cNvSpPr>
                <a:spLocks noChangeShapeType="1"/>
              </p:cNvSpPr>
              <p:nvPr/>
            </p:nvSpPr>
            <p:spPr bwMode="auto">
              <a:xfrm rot="-584322">
                <a:off x="6506275" y="3199130"/>
                <a:ext cx="95250" cy="542925"/>
              </a:xfrm>
              <a:prstGeom prst="line">
                <a:avLst/>
              </a:prstGeom>
              <a:noFill/>
              <a:ln w="19050">
                <a:solidFill>
                  <a:srgbClr val="0000FF"/>
                </a:solidFill>
                <a:round/>
                <a:headEnd/>
                <a:tailEnd type="triangle" w="med" len="med"/>
              </a:ln>
            </p:spPr>
            <p:txBody>
              <a:bodyPr wrap="none" anchor="ctr"/>
              <a:lstStyle/>
              <a:p>
                <a:endParaRPr lang="zh-CN" altLang="en-US"/>
              </a:p>
            </p:txBody>
          </p:sp>
          <p:sp>
            <p:nvSpPr>
              <p:cNvPr id="32901" name="Text Box 60"/>
              <p:cNvSpPr txBox="1">
                <a:spLocks noChangeArrowheads="1"/>
              </p:cNvSpPr>
              <p:nvPr/>
            </p:nvSpPr>
            <p:spPr bwMode="auto">
              <a:xfrm>
                <a:off x="6452300" y="3635693"/>
                <a:ext cx="387974" cy="431034"/>
              </a:xfrm>
              <a:prstGeom prst="rect">
                <a:avLst/>
              </a:prstGeom>
              <a:noFill/>
              <a:ln w="9525">
                <a:noFill/>
                <a:miter lim="800000"/>
                <a:headEnd/>
                <a:tailEnd/>
              </a:ln>
            </p:spPr>
            <p:txBody>
              <a:bodyPr wrap="none">
                <a:spAutoFit/>
              </a:bodyPr>
              <a:lstStyle/>
              <a:p>
                <a:pPr eaLnBrk="0" hangingPunct="0"/>
                <a:r>
                  <a:rPr lang="en-US" altLang="zh-CN" sz="1500" b="1" i="1">
                    <a:solidFill>
                      <a:srgbClr val="0000FF"/>
                    </a:solidFill>
                    <a:latin typeface="Times New Roman" pitchFamily="18" charset="0"/>
                  </a:rPr>
                  <a:t>Q</a:t>
                </a:r>
                <a:r>
                  <a:rPr lang="en-US" altLang="zh-CN" sz="1500" b="1" baseline="-25000">
                    <a:solidFill>
                      <a:srgbClr val="0000FF"/>
                    </a:solidFill>
                    <a:latin typeface="Times New Roman" pitchFamily="18" charset="0"/>
                  </a:rPr>
                  <a:t>2</a:t>
                </a:r>
                <a:endParaRPr lang="en-US" altLang="zh-CN" sz="1500" b="1">
                  <a:solidFill>
                    <a:srgbClr val="0000FF"/>
                  </a:solidFill>
                  <a:latin typeface="Times New Roman" pitchFamily="18" charset="0"/>
                </a:endParaRPr>
              </a:p>
            </p:txBody>
          </p:sp>
        </p:grpSp>
      </p:grpSp>
      <p:graphicFrame>
        <p:nvGraphicFramePr>
          <p:cNvPr id="105534" name="Object 86"/>
          <p:cNvGraphicFramePr>
            <a:graphicFrameLocks noChangeAspect="1"/>
          </p:cNvGraphicFramePr>
          <p:nvPr/>
        </p:nvGraphicFramePr>
        <p:xfrm>
          <a:off x="1333500" y="4156075"/>
          <a:ext cx="2517775" cy="339725"/>
        </p:xfrm>
        <a:graphic>
          <a:graphicData uri="http://schemas.openxmlformats.org/presentationml/2006/ole">
            <p:oleObj spid="_x0000_s32854" name="Equation" r:id="rId6" imgW="1409700" imgH="228600" progId="Equation.DSMT4">
              <p:embed/>
            </p:oleObj>
          </a:graphicData>
        </a:graphic>
      </p:graphicFrame>
      <p:graphicFrame>
        <p:nvGraphicFramePr>
          <p:cNvPr id="105535" name="Object 87"/>
          <p:cNvGraphicFramePr>
            <a:graphicFrameLocks noChangeAspect="1"/>
          </p:cNvGraphicFramePr>
          <p:nvPr/>
        </p:nvGraphicFramePr>
        <p:xfrm>
          <a:off x="1331913" y="4562475"/>
          <a:ext cx="2903537" cy="581025"/>
        </p:xfrm>
        <a:graphic>
          <a:graphicData uri="http://schemas.openxmlformats.org/presentationml/2006/ole">
            <p:oleObj spid="_x0000_s32855" name="公式" r:id="rId7" imgW="1193282" imgH="317362" progId="Equation.3">
              <p:embed/>
            </p:oleObj>
          </a:graphicData>
        </a:graphic>
      </p:graphicFrame>
      <p:sp>
        <p:nvSpPr>
          <p:cNvPr id="105536" name="Text Box 1088"/>
          <p:cNvSpPr txBox="1">
            <a:spLocks noChangeArrowheads="1"/>
          </p:cNvSpPr>
          <p:nvPr/>
        </p:nvSpPr>
        <p:spPr bwMode="auto">
          <a:xfrm>
            <a:off x="4427538" y="4094163"/>
            <a:ext cx="720725" cy="369887"/>
          </a:xfrm>
          <a:prstGeom prst="rect">
            <a:avLst/>
          </a:prstGeom>
          <a:noFill/>
          <a:ln w="9525">
            <a:noFill/>
            <a:miter lim="800000"/>
            <a:headEnd/>
            <a:tailEnd/>
          </a:ln>
        </p:spPr>
        <p:txBody>
          <a:bodyPr>
            <a:spAutoFit/>
          </a:bodyPr>
          <a:lstStyle/>
          <a:p>
            <a:r>
              <a:rPr kumimoji="1" lang="zh-CN" altLang="en-US" b="1">
                <a:solidFill>
                  <a:srgbClr val="000000"/>
                </a:solidFill>
                <a:latin typeface="楷体_GB2312"/>
                <a:ea typeface="楷体_GB2312"/>
                <a:cs typeface="楷体_GB2312"/>
                <a:sym typeface="Wingdings" pitchFamily="2" charset="2"/>
              </a:rPr>
              <a:t>（</a:t>
            </a:r>
            <a:r>
              <a:rPr kumimoji="1" lang="en-US" altLang="zh-CN" b="1">
                <a:solidFill>
                  <a:srgbClr val="000000"/>
                </a:solidFill>
                <a:latin typeface="楷体_GB2312"/>
                <a:ea typeface="楷体_GB2312"/>
                <a:cs typeface="楷体_GB2312"/>
                <a:sym typeface="Wingdings" pitchFamily="2" charset="2"/>
              </a:rPr>
              <a:t>2</a:t>
            </a:r>
            <a:r>
              <a:rPr kumimoji="1" lang="zh-CN" altLang="en-US" b="1">
                <a:solidFill>
                  <a:srgbClr val="000000"/>
                </a:solidFill>
                <a:latin typeface="楷体_GB2312"/>
                <a:ea typeface="楷体_GB2312"/>
                <a:cs typeface="楷体_GB2312"/>
                <a:sym typeface="Wingdings" pitchFamily="2" charset="2"/>
              </a:rPr>
              <a:t>）</a:t>
            </a:r>
            <a:r>
              <a:rPr kumimoji="1" lang="zh-CN" altLang="en-US" b="1">
                <a:solidFill>
                  <a:srgbClr val="000000"/>
                </a:solidFill>
                <a:latin typeface="楷体_GB2312"/>
                <a:ea typeface="楷体_GB2312"/>
                <a:cs typeface="楷体_GB2312"/>
              </a:rPr>
              <a:t> </a:t>
            </a:r>
          </a:p>
        </p:txBody>
      </p:sp>
      <p:graphicFrame>
        <p:nvGraphicFramePr>
          <p:cNvPr id="105537" name="Object 88"/>
          <p:cNvGraphicFramePr>
            <a:graphicFrameLocks noChangeAspect="1"/>
          </p:cNvGraphicFramePr>
          <p:nvPr/>
        </p:nvGraphicFramePr>
        <p:xfrm>
          <a:off x="5219700" y="4011613"/>
          <a:ext cx="1223963" cy="595312"/>
        </p:xfrm>
        <a:graphic>
          <a:graphicData uri="http://schemas.openxmlformats.org/presentationml/2006/ole">
            <p:oleObj spid="_x0000_s32856" name="Equation" r:id="rId8" imgW="685502" imgH="444307" progId="Equation.DSMT4">
              <p:embed/>
            </p:oleObj>
          </a:graphicData>
        </a:graphic>
      </p:graphicFrame>
      <p:graphicFrame>
        <p:nvGraphicFramePr>
          <p:cNvPr id="105538" name="Object 89"/>
          <p:cNvGraphicFramePr>
            <a:graphicFrameLocks noChangeAspect="1"/>
          </p:cNvGraphicFramePr>
          <p:nvPr/>
        </p:nvGraphicFramePr>
        <p:xfrm>
          <a:off x="6516688" y="4011613"/>
          <a:ext cx="2147887" cy="576262"/>
        </p:xfrm>
        <a:graphic>
          <a:graphicData uri="http://schemas.openxmlformats.org/presentationml/2006/ole">
            <p:oleObj spid="_x0000_s32857" name="Equation" r:id="rId9" imgW="1371600" imgH="431800" progId="Equation.DSMT4">
              <p:embed/>
            </p:oleObj>
          </a:graphicData>
        </a:graphic>
      </p:graphicFrame>
      <p:grpSp>
        <p:nvGrpSpPr>
          <p:cNvPr id="32865" name="Group 1092"/>
          <p:cNvGrpSpPr>
            <a:grpSpLocks/>
          </p:cNvGrpSpPr>
          <p:nvPr/>
        </p:nvGrpSpPr>
        <p:grpSpPr bwMode="auto">
          <a:xfrm>
            <a:off x="6372225" y="1924050"/>
            <a:ext cx="1512888" cy="755650"/>
            <a:chOff x="4014" y="1616"/>
            <a:chExt cx="953" cy="635"/>
          </a:xfrm>
        </p:grpSpPr>
        <p:grpSp>
          <p:nvGrpSpPr>
            <p:cNvPr id="32866" name="Group 1084"/>
            <p:cNvGrpSpPr>
              <a:grpSpLocks/>
            </p:cNvGrpSpPr>
            <p:nvPr/>
          </p:nvGrpSpPr>
          <p:grpSpPr bwMode="auto">
            <a:xfrm>
              <a:off x="4014" y="1616"/>
              <a:ext cx="953" cy="635"/>
              <a:chOff x="4014" y="1888"/>
              <a:chExt cx="953" cy="635"/>
            </a:xfrm>
          </p:grpSpPr>
          <p:sp>
            <p:nvSpPr>
              <p:cNvPr id="32867" name="Freeform 70"/>
              <p:cNvSpPr>
                <a:spLocks/>
              </p:cNvSpPr>
              <p:nvPr/>
            </p:nvSpPr>
            <p:spPr bwMode="auto">
              <a:xfrm>
                <a:off x="4022" y="2002"/>
                <a:ext cx="899" cy="294"/>
              </a:xfrm>
              <a:custGeom>
                <a:avLst/>
                <a:gdLst>
                  <a:gd name="T0" fmla="*/ 0 w 10000"/>
                  <a:gd name="T1" fmla="*/ 0 h 10000"/>
                  <a:gd name="T2" fmla="*/ 1134 w 10000"/>
                  <a:gd name="T3" fmla="*/ 1 h 10000"/>
                  <a:gd name="T4" fmla="*/ 0 60000 65536"/>
                  <a:gd name="T5" fmla="*/ 0 60000 65536"/>
                  <a:gd name="T6" fmla="*/ 0 w 10000"/>
                  <a:gd name="T7" fmla="*/ 0 h 10000"/>
                  <a:gd name="T8" fmla="*/ 10000 w 10000"/>
                  <a:gd name="T9" fmla="*/ 10000 h 10000"/>
                </a:gdLst>
                <a:ahLst/>
                <a:cxnLst>
                  <a:cxn ang="T4">
                    <a:pos x="T0" y="T1"/>
                  </a:cxn>
                  <a:cxn ang="T5">
                    <a:pos x="T2" y="T3"/>
                  </a:cxn>
                </a:cxnLst>
                <a:rect l="T6" t="T7" r="T8" b="T9"/>
                <a:pathLst>
                  <a:path w="10000" h="10000">
                    <a:moveTo>
                      <a:pt x="0" y="0"/>
                    </a:moveTo>
                    <a:cubicBezTo>
                      <a:pt x="2054" y="3438"/>
                      <a:pt x="6058" y="8131"/>
                      <a:pt x="10000" y="10000"/>
                    </a:cubicBezTo>
                  </a:path>
                </a:pathLst>
              </a:custGeom>
              <a:noFill/>
              <a:ln w="19050">
                <a:solidFill>
                  <a:srgbClr val="C00000"/>
                </a:solidFill>
                <a:round/>
                <a:headEnd/>
                <a:tailEnd/>
              </a:ln>
            </p:spPr>
            <p:txBody>
              <a:bodyPr/>
              <a:lstStyle/>
              <a:p>
                <a:endParaRPr lang="zh-CN" altLang="en-US"/>
              </a:p>
            </p:txBody>
          </p:sp>
          <p:sp>
            <p:nvSpPr>
              <p:cNvPr id="32868" name="Line 1079"/>
              <p:cNvSpPr>
                <a:spLocks noChangeShapeType="1"/>
              </p:cNvSpPr>
              <p:nvPr/>
            </p:nvSpPr>
            <p:spPr bwMode="auto">
              <a:xfrm flipH="1" flipV="1">
                <a:off x="4014" y="1979"/>
                <a:ext cx="45" cy="226"/>
              </a:xfrm>
              <a:prstGeom prst="line">
                <a:avLst/>
              </a:prstGeom>
              <a:noFill/>
              <a:ln w="9525">
                <a:solidFill>
                  <a:schemeClr val="tx1"/>
                </a:solidFill>
                <a:round/>
                <a:headEnd/>
                <a:tailEnd type="triangle" w="med" len="med"/>
              </a:ln>
            </p:spPr>
            <p:txBody>
              <a:bodyPr/>
              <a:lstStyle/>
              <a:p>
                <a:endParaRPr lang="zh-CN" altLang="en-US"/>
              </a:p>
            </p:txBody>
          </p:sp>
          <p:sp>
            <p:nvSpPr>
              <p:cNvPr id="32869" name="Line 1080"/>
              <p:cNvSpPr>
                <a:spLocks noChangeShapeType="1"/>
              </p:cNvSpPr>
              <p:nvPr/>
            </p:nvSpPr>
            <p:spPr bwMode="auto">
              <a:xfrm flipH="1" flipV="1">
                <a:off x="4922" y="2297"/>
                <a:ext cx="45" cy="226"/>
              </a:xfrm>
              <a:prstGeom prst="line">
                <a:avLst/>
              </a:prstGeom>
              <a:noFill/>
              <a:ln w="9525">
                <a:solidFill>
                  <a:schemeClr val="tx1"/>
                </a:solidFill>
                <a:round/>
                <a:headEnd/>
                <a:tailEnd type="triangle" w="med" len="med"/>
              </a:ln>
            </p:spPr>
            <p:txBody>
              <a:bodyPr/>
              <a:lstStyle/>
              <a:p>
                <a:endParaRPr lang="zh-CN" altLang="en-US"/>
              </a:p>
            </p:txBody>
          </p:sp>
          <p:sp>
            <p:nvSpPr>
              <p:cNvPr id="32870" name="Line 1081"/>
              <p:cNvSpPr>
                <a:spLocks noChangeShapeType="1"/>
              </p:cNvSpPr>
              <p:nvPr/>
            </p:nvSpPr>
            <p:spPr bwMode="auto">
              <a:xfrm>
                <a:off x="4422" y="2024"/>
                <a:ext cx="136" cy="317"/>
              </a:xfrm>
              <a:prstGeom prst="line">
                <a:avLst/>
              </a:prstGeom>
              <a:noFill/>
              <a:ln w="25400">
                <a:solidFill>
                  <a:srgbClr val="FF00FF"/>
                </a:solidFill>
                <a:round/>
                <a:headEnd/>
                <a:tailEnd type="triangle" w="med" len="med"/>
              </a:ln>
            </p:spPr>
            <p:txBody>
              <a:bodyPr/>
              <a:lstStyle/>
              <a:p>
                <a:endParaRPr lang="zh-CN" altLang="en-US"/>
              </a:p>
            </p:txBody>
          </p:sp>
          <p:graphicFrame>
            <p:nvGraphicFramePr>
              <p:cNvPr id="32858" name="Object 90"/>
              <p:cNvGraphicFramePr>
                <a:graphicFrameLocks noChangeAspect="1"/>
              </p:cNvGraphicFramePr>
              <p:nvPr/>
            </p:nvGraphicFramePr>
            <p:xfrm>
              <a:off x="4468" y="1888"/>
              <a:ext cx="185" cy="208"/>
            </p:xfrm>
            <a:graphic>
              <a:graphicData uri="http://schemas.openxmlformats.org/presentationml/2006/ole">
                <p:oleObj spid="_x0000_s32858" name="Equation" r:id="rId10" imgW="203112" imgH="228501" progId="Equation.DSMT4">
                  <p:embed/>
                </p:oleObj>
              </a:graphicData>
            </a:graphic>
          </p:graphicFrame>
        </p:grpSp>
        <p:graphicFrame>
          <p:nvGraphicFramePr>
            <p:cNvPr id="32859" name="Object 91"/>
            <p:cNvGraphicFramePr>
              <a:graphicFrameLocks noChangeAspect="1"/>
            </p:cNvGraphicFramePr>
            <p:nvPr/>
          </p:nvGraphicFramePr>
          <p:xfrm>
            <a:off x="4604" y="1752"/>
            <a:ext cx="211" cy="253"/>
          </p:xfrm>
          <a:graphic>
            <a:graphicData uri="http://schemas.openxmlformats.org/presentationml/2006/ole">
              <p:oleObj spid="_x0000_s32859" name="Equation" r:id="rId11" imgW="190500" imgH="228600" progId="Equation.DSMT4">
                <p:embed/>
              </p:oleObj>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05475"/>
                                        </p:tgtEl>
                                        <p:attrNameLst>
                                          <p:attrName>style.visibility</p:attrName>
                                        </p:attrNameLst>
                                      </p:cBhvr>
                                      <p:to>
                                        <p:strVal val="visible"/>
                                      </p:to>
                                    </p:set>
                                    <p:animEffect transition="in" filter="checkerboard(across)">
                                      <p:cBhvr>
                                        <p:cTn id="7" dur="500"/>
                                        <p:tgtEl>
                                          <p:spTgt spid="10547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105479"/>
                                        </p:tgtEl>
                                        <p:attrNameLst>
                                          <p:attrName>style.visibility</p:attrName>
                                        </p:attrNameLst>
                                      </p:cBhvr>
                                      <p:to>
                                        <p:strVal val="visible"/>
                                      </p:to>
                                    </p:set>
                                    <p:animEffect transition="in" filter="checkerboard(across)">
                                      <p:cBhvr>
                                        <p:cTn id="12" dur="500"/>
                                        <p:tgtEl>
                                          <p:spTgt spid="10547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105476"/>
                                        </p:tgtEl>
                                        <p:attrNameLst>
                                          <p:attrName>style.visibility</p:attrName>
                                        </p:attrNameLst>
                                      </p:cBhvr>
                                      <p:to>
                                        <p:strVal val="visible"/>
                                      </p:to>
                                    </p:set>
                                    <p:animEffect transition="in" filter="checkerboard(across)">
                                      <p:cBhvr>
                                        <p:cTn id="17" dur="500"/>
                                        <p:tgtEl>
                                          <p:spTgt spid="10547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nodeType="clickEffect">
                                  <p:stCondLst>
                                    <p:cond delay="0"/>
                                  </p:stCondLst>
                                  <p:childTnLst>
                                    <p:set>
                                      <p:cBhvr>
                                        <p:cTn id="21" dur="1" fill="hold">
                                          <p:stCondLst>
                                            <p:cond delay="0"/>
                                          </p:stCondLst>
                                        </p:cTn>
                                        <p:tgtEl>
                                          <p:spTgt spid="105487"/>
                                        </p:tgtEl>
                                        <p:attrNameLst>
                                          <p:attrName>style.visibility</p:attrName>
                                        </p:attrNameLst>
                                      </p:cBhvr>
                                      <p:to>
                                        <p:strVal val="visible"/>
                                      </p:to>
                                    </p:set>
                                    <p:animEffect transition="in" filter="checkerboard(across)">
                                      <p:cBhvr>
                                        <p:cTn id="22" dur="500"/>
                                        <p:tgtEl>
                                          <p:spTgt spid="10548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05491"/>
                                        </p:tgtEl>
                                        <p:attrNameLst>
                                          <p:attrName>style.visibility</p:attrName>
                                        </p:attrNameLst>
                                      </p:cBhvr>
                                      <p:to>
                                        <p:strVal val="visible"/>
                                      </p:to>
                                    </p:set>
                                    <p:animEffect transition="in" filter="blinds(horizontal)">
                                      <p:cBhvr>
                                        <p:cTn id="27" dur="500"/>
                                        <p:tgtEl>
                                          <p:spTgt spid="10549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5" presetClass="entr" presetSubtype="10" fill="hold" nodeType="clickEffect">
                                  <p:stCondLst>
                                    <p:cond delay="0"/>
                                  </p:stCondLst>
                                  <p:childTnLst>
                                    <p:set>
                                      <p:cBhvr>
                                        <p:cTn id="31" dur="1" fill="hold">
                                          <p:stCondLst>
                                            <p:cond delay="0"/>
                                          </p:stCondLst>
                                        </p:cTn>
                                        <p:tgtEl>
                                          <p:spTgt spid="105534"/>
                                        </p:tgtEl>
                                        <p:attrNameLst>
                                          <p:attrName>style.visibility</p:attrName>
                                        </p:attrNameLst>
                                      </p:cBhvr>
                                      <p:to>
                                        <p:strVal val="visible"/>
                                      </p:to>
                                    </p:set>
                                    <p:animEffect transition="in" filter="checkerboard(across)">
                                      <p:cBhvr>
                                        <p:cTn id="32" dur="500"/>
                                        <p:tgtEl>
                                          <p:spTgt spid="105534"/>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5" presetClass="entr" presetSubtype="10" fill="hold" nodeType="clickEffect">
                                  <p:stCondLst>
                                    <p:cond delay="0"/>
                                  </p:stCondLst>
                                  <p:childTnLst>
                                    <p:set>
                                      <p:cBhvr>
                                        <p:cTn id="36" dur="1" fill="hold">
                                          <p:stCondLst>
                                            <p:cond delay="0"/>
                                          </p:stCondLst>
                                        </p:cTn>
                                        <p:tgtEl>
                                          <p:spTgt spid="105535"/>
                                        </p:tgtEl>
                                        <p:attrNameLst>
                                          <p:attrName>style.visibility</p:attrName>
                                        </p:attrNameLst>
                                      </p:cBhvr>
                                      <p:to>
                                        <p:strVal val="visible"/>
                                      </p:to>
                                    </p:set>
                                    <p:animEffect transition="in" filter="checkerboard(across)">
                                      <p:cBhvr>
                                        <p:cTn id="37" dur="500"/>
                                        <p:tgtEl>
                                          <p:spTgt spid="105535"/>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5" presetClass="entr" presetSubtype="10" fill="hold" grpId="0" nodeType="clickEffect">
                                  <p:stCondLst>
                                    <p:cond delay="0"/>
                                  </p:stCondLst>
                                  <p:childTnLst>
                                    <p:set>
                                      <p:cBhvr>
                                        <p:cTn id="41" dur="1" fill="hold">
                                          <p:stCondLst>
                                            <p:cond delay="0"/>
                                          </p:stCondLst>
                                        </p:cTn>
                                        <p:tgtEl>
                                          <p:spTgt spid="105536"/>
                                        </p:tgtEl>
                                        <p:attrNameLst>
                                          <p:attrName>style.visibility</p:attrName>
                                        </p:attrNameLst>
                                      </p:cBhvr>
                                      <p:to>
                                        <p:strVal val="visible"/>
                                      </p:to>
                                    </p:set>
                                    <p:animEffect transition="in" filter="checkerboard(across)">
                                      <p:cBhvr>
                                        <p:cTn id="42" dur="500"/>
                                        <p:tgtEl>
                                          <p:spTgt spid="105536"/>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nodeType="clickEffect">
                                  <p:stCondLst>
                                    <p:cond delay="0"/>
                                  </p:stCondLst>
                                  <p:childTnLst>
                                    <p:set>
                                      <p:cBhvr>
                                        <p:cTn id="46" dur="1" fill="hold">
                                          <p:stCondLst>
                                            <p:cond delay="0"/>
                                          </p:stCondLst>
                                        </p:cTn>
                                        <p:tgtEl>
                                          <p:spTgt spid="105537"/>
                                        </p:tgtEl>
                                        <p:attrNameLst>
                                          <p:attrName>style.visibility</p:attrName>
                                        </p:attrNameLst>
                                      </p:cBhvr>
                                      <p:to>
                                        <p:strVal val="visible"/>
                                      </p:to>
                                    </p:set>
                                    <p:animEffect transition="in" filter="blinds(horizontal)">
                                      <p:cBhvr>
                                        <p:cTn id="47" dur="500"/>
                                        <p:tgtEl>
                                          <p:spTgt spid="105537"/>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3" presetClass="entr" presetSubtype="10" fill="hold" nodeType="clickEffect">
                                  <p:stCondLst>
                                    <p:cond delay="0"/>
                                  </p:stCondLst>
                                  <p:childTnLst>
                                    <p:set>
                                      <p:cBhvr>
                                        <p:cTn id="51" dur="1" fill="hold">
                                          <p:stCondLst>
                                            <p:cond delay="0"/>
                                          </p:stCondLst>
                                        </p:cTn>
                                        <p:tgtEl>
                                          <p:spTgt spid="105538"/>
                                        </p:tgtEl>
                                        <p:attrNameLst>
                                          <p:attrName>style.visibility</p:attrName>
                                        </p:attrNameLst>
                                      </p:cBhvr>
                                      <p:to>
                                        <p:strVal val="visible"/>
                                      </p:to>
                                    </p:set>
                                    <p:animEffect transition="in" filter="blinds(horizontal)">
                                      <p:cBhvr>
                                        <p:cTn id="52" dur="500"/>
                                        <p:tgtEl>
                                          <p:spTgt spid="1055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475" grpId="0" autoUpdateAnimBg="0"/>
      <p:bldP spid="105491" grpId="0"/>
      <p:bldP spid="105536" grpId="0"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4" name="Rectangle 6"/>
          <p:cNvSpPr>
            <a:spLocks noChangeArrowheads="1"/>
          </p:cNvSpPr>
          <p:nvPr/>
        </p:nvSpPr>
        <p:spPr bwMode="auto">
          <a:xfrm>
            <a:off x="927100" y="936625"/>
            <a:ext cx="7246938" cy="842963"/>
          </a:xfrm>
          <a:prstGeom prst="rect">
            <a:avLst/>
          </a:prstGeom>
          <a:noFill/>
          <a:ln w="9525">
            <a:noFill/>
            <a:miter lim="800000"/>
            <a:headEnd/>
            <a:tailEnd/>
          </a:ln>
        </p:spPr>
        <p:txBody>
          <a:bodyPr>
            <a:spAutoFit/>
          </a:bodyPr>
          <a:lstStyle/>
          <a:p>
            <a:pPr algn="ctr">
              <a:lnSpc>
                <a:spcPct val="110000"/>
              </a:lnSpc>
            </a:pPr>
            <a:r>
              <a:rPr kumimoji="1" lang="en-US" altLang="zh-CN" sz="2800" b="1">
                <a:solidFill>
                  <a:srgbClr val="000000"/>
                </a:solidFill>
                <a:latin typeface="华文中宋"/>
                <a:ea typeface="华文中宋"/>
                <a:cs typeface="华文中宋"/>
              </a:rPr>
              <a:t>      </a:t>
            </a:r>
            <a:r>
              <a:rPr kumimoji="1" lang="zh-CN" altLang="en-US" b="1">
                <a:solidFill>
                  <a:srgbClr val="000000"/>
                </a:solidFill>
                <a:latin typeface="华文中宋"/>
                <a:ea typeface="华文中宋"/>
                <a:cs typeface="华文中宋"/>
              </a:rPr>
              <a:t>一切热力学过程都应满足能量守恒。 </a:t>
            </a:r>
          </a:p>
          <a:p>
            <a:pPr algn="ctr" eaLnBrk="0" hangingPunct="0"/>
            <a:r>
              <a:rPr kumimoji="1" lang="zh-CN" altLang="en-US" b="1">
                <a:solidFill>
                  <a:srgbClr val="000000"/>
                </a:solidFill>
                <a:latin typeface="华文中宋"/>
                <a:ea typeface="华文中宋"/>
                <a:cs typeface="华文中宋"/>
              </a:rPr>
              <a:t>但满足能量守恒的过程是否一定都能进行呢</a:t>
            </a:r>
            <a:r>
              <a:rPr kumimoji="1" lang="en-US" altLang="zh-CN" b="1">
                <a:solidFill>
                  <a:srgbClr val="000000"/>
                </a:solidFill>
                <a:latin typeface="华文中宋"/>
                <a:ea typeface="华文中宋"/>
                <a:cs typeface="华文中宋"/>
              </a:rPr>
              <a:t>?</a:t>
            </a:r>
          </a:p>
        </p:txBody>
      </p:sp>
      <p:sp>
        <p:nvSpPr>
          <p:cNvPr id="114700" name="Text Box 12"/>
          <p:cNvSpPr txBox="1">
            <a:spLocks noChangeArrowheads="1"/>
          </p:cNvSpPr>
          <p:nvPr/>
        </p:nvSpPr>
        <p:spPr bwMode="auto">
          <a:xfrm>
            <a:off x="3006725" y="1838325"/>
            <a:ext cx="2024063" cy="369888"/>
          </a:xfrm>
          <a:prstGeom prst="rect">
            <a:avLst/>
          </a:prstGeom>
          <a:noFill/>
          <a:ln w="9525">
            <a:noFill/>
            <a:miter lim="800000"/>
            <a:headEnd/>
            <a:tailEnd/>
          </a:ln>
        </p:spPr>
        <p:txBody>
          <a:bodyPr>
            <a:spAutoFit/>
          </a:bodyPr>
          <a:lstStyle/>
          <a:p>
            <a:r>
              <a:rPr lang="zh-CN" altLang="en-US" b="1">
                <a:solidFill>
                  <a:srgbClr val="000000"/>
                </a:solidFill>
                <a:latin typeface="Times New Roman" pitchFamily="18" charset="0"/>
                <a:ea typeface="华文中宋"/>
                <a:cs typeface="华文中宋"/>
              </a:rPr>
              <a:t>热机效率</a:t>
            </a:r>
          </a:p>
        </p:txBody>
      </p:sp>
      <p:graphicFrame>
        <p:nvGraphicFramePr>
          <p:cNvPr id="2" name="Object 12"/>
          <p:cNvGraphicFramePr>
            <a:graphicFrameLocks noChangeAspect="1"/>
          </p:cNvGraphicFramePr>
          <p:nvPr/>
        </p:nvGraphicFramePr>
        <p:xfrm>
          <a:off x="4427538" y="1708150"/>
          <a:ext cx="1135062" cy="550863"/>
        </p:xfrm>
        <a:graphic>
          <a:graphicData uri="http://schemas.openxmlformats.org/presentationml/2006/ole">
            <p:oleObj spid="_x0000_s33804" name="公式" r:id="rId3" imgW="685502" imgH="444307" progId="Equation.3">
              <p:embed/>
            </p:oleObj>
          </a:graphicData>
        </a:graphic>
      </p:graphicFrame>
      <p:sp>
        <p:nvSpPr>
          <p:cNvPr id="12" name="Text Box 18"/>
          <p:cNvSpPr txBox="1">
            <a:spLocks noChangeArrowheads="1"/>
          </p:cNvSpPr>
          <p:nvPr/>
        </p:nvSpPr>
        <p:spPr bwMode="auto">
          <a:xfrm>
            <a:off x="2519363" y="2266950"/>
            <a:ext cx="4429125" cy="369888"/>
          </a:xfrm>
          <a:prstGeom prst="rect">
            <a:avLst/>
          </a:prstGeom>
          <a:noFill/>
          <a:ln w="9525">
            <a:noFill/>
            <a:miter lim="800000"/>
            <a:headEnd/>
            <a:tailEnd/>
          </a:ln>
        </p:spPr>
        <p:txBody>
          <a:bodyPr>
            <a:spAutoFit/>
          </a:bodyPr>
          <a:lstStyle/>
          <a:p>
            <a:r>
              <a:rPr lang="zh-CN" altLang="en-US" b="1">
                <a:solidFill>
                  <a:srgbClr val="000000"/>
                </a:solidFill>
                <a:latin typeface="华文中宋"/>
                <a:ea typeface="华文中宋"/>
                <a:cs typeface="华文中宋"/>
              </a:rPr>
              <a:t>只从热机效率看，</a:t>
            </a:r>
            <a:r>
              <a:rPr lang="en-US" altLang="zh-CN" b="1" i="1">
                <a:solidFill>
                  <a:srgbClr val="000000"/>
                </a:solidFill>
                <a:latin typeface="华文中宋"/>
                <a:ea typeface="华文中宋"/>
                <a:cs typeface="华文中宋"/>
              </a:rPr>
              <a:t>Q</a:t>
            </a:r>
            <a:r>
              <a:rPr lang="en-US" altLang="zh-CN" b="1" baseline="-25000">
                <a:solidFill>
                  <a:srgbClr val="000000"/>
                </a:solidFill>
                <a:latin typeface="华文中宋"/>
                <a:ea typeface="华文中宋"/>
                <a:cs typeface="华文中宋"/>
              </a:rPr>
              <a:t>2 </a:t>
            </a:r>
            <a:r>
              <a:rPr lang="zh-CN" altLang="en-US" b="1">
                <a:solidFill>
                  <a:srgbClr val="000000"/>
                </a:solidFill>
                <a:latin typeface="华文中宋"/>
                <a:ea typeface="华文中宋"/>
                <a:cs typeface="华文中宋"/>
              </a:rPr>
              <a:t>似乎是一种浪费。</a:t>
            </a:r>
          </a:p>
        </p:txBody>
      </p:sp>
      <p:sp>
        <p:nvSpPr>
          <p:cNvPr id="13" name="Text Box 18"/>
          <p:cNvSpPr txBox="1">
            <a:spLocks noChangeArrowheads="1"/>
          </p:cNvSpPr>
          <p:nvPr/>
        </p:nvSpPr>
        <p:spPr bwMode="auto">
          <a:xfrm>
            <a:off x="755650" y="2695575"/>
            <a:ext cx="7423150" cy="739775"/>
          </a:xfrm>
          <a:prstGeom prst="rect">
            <a:avLst/>
          </a:prstGeom>
          <a:noFill/>
          <a:ln w="9525">
            <a:noFill/>
            <a:miter lim="800000"/>
            <a:headEnd/>
            <a:tailEnd/>
          </a:ln>
        </p:spPr>
        <p:txBody>
          <a:bodyPr>
            <a:spAutoFit/>
          </a:bodyPr>
          <a:lstStyle/>
          <a:p>
            <a:r>
              <a:rPr lang="en-US" altLang="zh-CN" sz="2400" b="1">
                <a:solidFill>
                  <a:srgbClr val="000000"/>
                </a:solidFill>
                <a:latin typeface="Times New Roman" pitchFamily="18" charset="0"/>
                <a:ea typeface="华文中宋"/>
                <a:cs typeface="华文中宋"/>
              </a:rPr>
              <a:t>         </a:t>
            </a:r>
            <a:r>
              <a:rPr lang="zh-CN" altLang="en-US" b="1">
                <a:solidFill>
                  <a:srgbClr val="000000"/>
                </a:solidFill>
                <a:latin typeface="Times New Roman" pitchFamily="18" charset="0"/>
                <a:ea typeface="华文中宋"/>
                <a:cs typeface="华文中宋"/>
              </a:rPr>
              <a:t>若</a:t>
            </a:r>
            <a:r>
              <a:rPr lang="en-US" altLang="zh-CN" b="1" i="1">
                <a:solidFill>
                  <a:srgbClr val="000000"/>
                </a:solidFill>
                <a:latin typeface="Times New Roman" pitchFamily="18" charset="0"/>
                <a:ea typeface="华文中宋"/>
                <a:cs typeface="华文中宋"/>
              </a:rPr>
              <a:t>Q</a:t>
            </a:r>
            <a:r>
              <a:rPr lang="en-US" altLang="zh-CN" b="1" baseline="-25000">
                <a:solidFill>
                  <a:srgbClr val="000000"/>
                </a:solidFill>
                <a:latin typeface="Times New Roman" pitchFamily="18" charset="0"/>
                <a:ea typeface="华文中宋"/>
                <a:cs typeface="华文中宋"/>
              </a:rPr>
              <a:t>2</a:t>
            </a:r>
            <a:r>
              <a:rPr lang="zh-CN" altLang="en-US" b="1">
                <a:solidFill>
                  <a:srgbClr val="000000"/>
                </a:solidFill>
                <a:latin typeface="Times New Roman" pitchFamily="18" charset="0"/>
                <a:ea typeface="华文中宋"/>
                <a:cs typeface="华文中宋"/>
              </a:rPr>
              <a:t>＝</a:t>
            </a:r>
            <a:r>
              <a:rPr lang="en-US" altLang="zh-CN" b="1">
                <a:solidFill>
                  <a:srgbClr val="000000"/>
                </a:solidFill>
                <a:latin typeface="Times New Roman" pitchFamily="18" charset="0"/>
                <a:ea typeface="华文中宋"/>
                <a:cs typeface="华文中宋"/>
              </a:rPr>
              <a:t>0</a:t>
            </a:r>
            <a:r>
              <a:rPr lang="zh-CN" altLang="en-US" b="1">
                <a:solidFill>
                  <a:srgbClr val="000000"/>
                </a:solidFill>
                <a:latin typeface="Times New Roman" pitchFamily="18" charset="0"/>
                <a:ea typeface="华文中宋"/>
                <a:cs typeface="华文中宋"/>
              </a:rPr>
              <a:t>，则效率为百分之百的热机是满足热力学第一定律的，但事实说明是不可能的。</a:t>
            </a:r>
          </a:p>
        </p:txBody>
      </p:sp>
      <p:sp>
        <p:nvSpPr>
          <p:cNvPr id="14" name="Text Box 19"/>
          <p:cNvSpPr txBox="1">
            <a:spLocks noChangeArrowheads="1"/>
          </p:cNvSpPr>
          <p:nvPr/>
        </p:nvSpPr>
        <p:spPr bwMode="auto">
          <a:xfrm>
            <a:off x="755650" y="3494088"/>
            <a:ext cx="7480300" cy="369887"/>
          </a:xfrm>
          <a:prstGeom prst="rect">
            <a:avLst/>
          </a:prstGeom>
          <a:noFill/>
          <a:ln w="9525">
            <a:noFill/>
            <a:miter lim="800000"/>
            <a:headEnd/>
            <a:tailEnd/>
          </a:ln>
        </p:spPr>
        <p:txBody>
          <a:bodyPr>
            <a:spAutoFit/>
          </a:bodyPr>
          <a:lstStyle/>
          <a:p>
            <a:r>
              <a:rPr lang="en-US" altLang="zh-CN" b="1">
                <a:solidFill>
                  <a:srgbClr val="000000"/>
                </a:solidFill>
                <a:latin typeface="Times New Roman" pitchFamily="18" charset="0"/>
                <a:ea typeface="华文中宋"/>
                <a:cs typeface="华文中宋"/>
              </a:rPr>
              <a:t>         </a:t>
            </a:r>
            <a:r>
              <a:rPr lang="zh-CN" altLang="en-US" b="1">
                <a:solidFill>
                  <a:srgbClr val="000000"/>
                </a:solidFill>
                <a:latin typeface="Times New Roman" pitchFamily="18" charset="0"/>
                <a:ea typeface="华文中宋"/>
                <a:cs typeface="华文中宋"/>
              </a:rPr>
              <a:t>这就意味着热运动中还有一个独立于热力学第一定律的基本规律。</a:t>
            </a:r>
            <a:endParaRPr lang="zh-CN" altLang="en-US" b="1">
              <a:solidFill>
                <a:srgbClr val="0000FF"/>
              </a:solidFill>
              <a:latin typeface="Times New Roman" pitchFamily="18" charset="0"/>
              <a:ea typeface="华文中宋"/>
              <a:cs typeface="华文中宋"/>
            </a:endParaRPr>
          </a:p>
        </p:txBody>
      </p:sp>
      <p:sp>
        <p:nvSpPr>
          <p:cNvPr id="15" name="Text Box 19"/>
          <p:cNvSpPr txBox="1">
            <a:spLocks noChangeArrowheads="1"/>
          </p:cNvSpPr>
          <p:nvPr/>
        </p:nvSpPr>
        <p:spPr bwMode="auto">
          <a:xfrm>
            <a:off x="827088" y="3922713"/>
            <a:ext cx="7416800" cy="369887"/>
          </a:xfrm>
          <a:prstGeom prst="rect">
            <a:avLst/>
          </a:prstGeom>
          <a:noFill/>
          <a:ln w="19050">
            <a:solidFill>
              <a:srgbClr val="C00000"/>
            </a:solidFill>
            <a:prstDash val="sysDot"/>
            <a:miter lim="800000"/>
            <a:headEnd/>
            <a:tailEnd/>
          </a:ln>
        </p:spPr>
        <p:txBody>
          <a:bodyPr>
            <a:spAutoFit/>
          </a:bodyPr>
          <a:lstStyle/>
          <a:p>
            <a:pPr algn="ctr"/>
            <a:r>
              <a:rPr lang="zh-CN" altLang="en-US" b="1">
                <a:solidFill>
                  <a:srgbClr val="000000"/>
                </a:solidFill>
                <a:latin typeface="Times New Roman" pitchFamily="18" charset="0"/>
                <a:ea typeface="华文中宋"/>
                <a:cs typeface="华文中宋"/>
              </a:rPr>
              <a:t>长期的实验表明：制造循环效率为</a:t>
            </a:r>
            <a:r>
              <a:rPr lang="en-US" altLang="zh-CN" b="1">
                <a:solidFill>
                  <a:srgbClr val="000000"/>
                </a:solidFill>
                <a:latin typeface="Times New Roman" pitchFamily="18" charset="0"/>
                <a:ea typeface="华文中宋"/>
                <a:cs typeface="华文中宋"/>
              </a:rPr>
              <a:t>100%</a:t>
            </a:r>
            <a:r>
              <a:rPr lang="zh-CN" altLang="en-US" b="1">
                <a:solidFill>
                  <a:srgbClr val="000000"/>
                </a:solidFill>
                <a:latin typeface="Times New Roman" pitchFamily="18" charset="0"/>
                <a:ea typeface="华文中宋"/>
                <a:cs typeface="华文中宋"/>
              </a:rPr>
              <a:t>的热机是不可能的。</a:t>
            </a:r>
            <a:endParaRPr lang="zh-CN" altLang="en-US" b="1">
              <a:solidFill>
                <a:srgbClr val="0000FF"/>
              </a:solidFill>
              <a:latin typeface="Times New Roman" pitchFamily="18" charset="0"/>
              <a:ea typeface="华文中宋"/>
              <a:cs typeface="华文中宋"/>
            </a:endParaRPr>
          </a:p>
        </p:txBody>
      </p:sp>
      <p:sp>
        <p:nvSpPr>
          <p:cNvPr id="3" name="Text Box 19"/>
          <p:cNvSpPr txBox="1">
            <a:spLocks noChangeArrowheads="1"/>
          </p:cNvSpPr>
          <p:nvPr/>
        </p:nvSpPr>
        <p:spPr bwMode="auto">
          <a:xfrm>
            <a:off x="4716463" y="4291013"/>
            <a:ext cx="2447925" cy="368300"/>
          </a:xfrm>
          <a:prstGeom prst="rect">
            <a:avLst/>
          </a:prstGeom>
          <a:noFill/>
          <a:ln w="9525">
            <a:noFill/>
            <a:miter lim="800000"/>
            <a:headEnd/>
            <a:tailEnd/>
          </a:ln>
        </p:spPr>
        <p:txBody>
          <a:bodyPr>
            <a:spAutoFit/>
          </a:bodyPr>
          <a:lstStyle/>
          <a:p>
            <a:r>
              <a:rPr lang="en-US" altLang="zh-CN" b="1">
                <a:solidFill>
                  <a:srgbClr val="000000"/>
                </a:solidFill>
                <a:latin typeface="Times New Roman" pitchFamily="18" charset="0"/>
                <a:ea typeface="华文中宋"/>
                <a:cs typeface="华文中宋"/>
              </a:rPr>
              <a:t>——</a:t>
            </a:r>
            <a:r>
              <a:rPr lang="zh-CN" altLang="en-US" b="1">
                <a:solidFill>
                  <a:srgbClr val="0000FF"/>
                </a:solidFill>
                <a:latin typeface="Times New Roman" pitchFamily="18" charset="0"/>
                <a:ea typeface="华文中宋"/>
                <a:cs typeface="华文中宋"/>
              </a:rPr>
              <a:t>热力学第二定律</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4694">
                                            <p:txEl>
                                              <p:pRg st="0" end="0"/>
                                            </p:txEl>
                                          </p:spTgt>
                                        </p:tgtEl>
                                        <p:attrNameLst>
                                          <p:attrName>style.visibility</p:attrName>
                                        </p:attrNameLst>
                                      </p:cBhvr>
                                      <p:to>
                                        <p:strVal val="visible"/>
                                      </p:to>
                                    </p:set>
                                    <p:animEffect transition="in" filter="wipe(left)">
                                      <p:cBhvr>
                                        <p:cTn id="7" dur="500"/>
                                        <p:tgtEl>
                                          <p:spTgt spid="11469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14694">
                                            <p:txEl>
                                              <p:pRg st="1" end="1"/>
                                            </p:txEl>
                                          </p:spTgt>
                                        </p:tgtEl>
                                        <p:attrNameLst>
                                          <p:attrName>style.visibility</p:attrName>
                                        </p:attrNameLst>
                                      </p:cBhvr>
                                      <p:to>
                                        <p:strVal val="visible"/>
                                      </p:to>
                                    </p:set>
                                    <p:animEffect transition="in" filter="wipe(left)">
                                      <p:cBhvr>
                                        <p:cTn id="12" dur="500"/>
                                        <p:tgtEl>
                                          <p:spTgt spid="114694">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14700">
                                            <p:txEl>
                                              <p:pRg st="0" end="0"/>
                                            </p:txEl>
                                          </p:spTgt>
                                        </p:tgtEl>
                                        <p:attrNameLst>
                                          <p:attrName>style.visibility</p:attrName>
                                        </p:attrNameLst>
                                      </p:cBhvr>
                                      <p:to>
                                        <p:strVal val="visible"/>
                                      </p:to>
                                    </p:set>
                                    <p:animEffect transition="in" filter="wipe(left)">
                                      <p:cBhvr>
                                        <p:cTn id="17" dur="500"/>
                                        <p:tgtEl>
                                          <p:spTgt spid="114700">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3" presetClass="entr" presetSubtype="16"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 calcmode="lin" valueType="num">
                                      <p:cBhvr>
                                        <p:cTn id="22" dur="500" fill="hold"/>
                                        <p:tgtEl>
                                          <p:spTgt spid="2"/>
                                        </p:tgtEl>
                                        <p:attrNameLst>
                                          <p:attrName>ppt_w</p:attrName>
                                        </p:attrNameLst>
                                      </p:cBhvr>
                                      <p:tavLst>
                                        <p:tav tm="0">
                                          <p:val>
                                            <p:fltVal val="0"/>
                                          </p:val>
                                        </p:tav>
                                        <p:tav tm="100000">
                                          <p:val>
                                            <p:strVal val="#ppt_w"/>
                                          </p:val>
                                        </p:tav>
                                      </p:tavLst>
                                    </p:anim>
                                    <p:anim calcmode="lin" valueType="num">
                                      <p:cBhvr>
                                        <p:cTn id="23" dur="500" fill="hold"/>
                                        <p:tgtEl>
                                          <p:spTgt spid="2"/>
                                        </p:tgtEl>
                                        <p:attrNameLst>
                                          <p:attrName>ppt_h</p:attrName>
                                        </p:attrNameLst>
                                      </p:cBhvr>
                                      <p:tavLst>
                                        <p:tav tm="0">
                                          <p:val>
                                            <p:fltVal val="0"/>
                                          </p:val>
                                        </p:tav>
                                        <p:tav tm="100000">
                                          <p:val>
                                            <p:strVal val="#ppt_h"/>
                                          </p:val>
                                        </p:tav>
                                      </p:tavLst>
                                    </p:anim>
                                    <p:animEffect transition="in" filter="fade">
                                      <p:cBhvr>
                                        <p:cTn id="24" dur="500"/>
                                        <p:tgtEl>
                                          <p:spTgt spid="2"/>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12">
                                            <p:txEl>
                                              <p:pRg st="0" end="0"/>
                                            </p:txEl>
                                          </p:spTgt>
                                        </p:tgtEl>
                                        <p:attrNameLst>
                                          <p:attrName>style.visibility</p:attrName>
                                        </p:attrNameLst>
                                      </p:cBhvr>
                                      <p:to>
                                        <p:strVal val="visible"/>
                                      </p:to>
                                    </p:set>
                                    <p:animEffect transition="in" filter="wipe(left)">
                                      <p:cBhvr>
                                        <p:cTn id="29" dur="500"/>
                                        <p:tgtEl>
                                          <p:spTgt spid="12">
                                            <p:txEl>
                                              <p:pRg st="0" end="0"/>
                                            </p:txEl>
                                          </p:spTgt>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13">
                                            <p:txEl>
                                              <p:pRg st="0" end="0"/>
                                            </p:txEl>
                                          </p:spTgt>
                                        </p:tgtEl>
                                        <p:attrNameLst>
                                          <p:attrName>style.visibility</p:attrName>
                                        </p:attrNameLst>
                                      </p:cBhvr>
                                      <p:to>
                                        <p:strVal val="visible"/>
                                      </p:to>
                                    </p:set>
                                    <p:animEffect transition="in" filter="wipe(left)">
                                      <p:cBhvr>
                                        <p:cTn id="34" dur="500"/>
                                        <p:tgtEl>
                                          <p:spTgt spid="13">
                                            <p:txEl>
                                              <p:pRg st="0" end="0"/>
                                            </p:txEl>
                                          </p:spTgt>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14">
                                            <p:txEl>
                                              <p:pRg st="0" end="0"/>
                                            </p:txEl>
                                          </p:spTgt>
                                        </p:tgtEl>
                                        <p:attrNameLst>
                                          <p:attrName>style.visibility</p:attrName>
                                        </p:attrNameLst>
                                      </p:cBhvr>
                                      <p:to>
                                        <p:strVal val="visible"/>
                                      </p:to>
                                    </p:set>
                                    <p:animEffect transition="in" filter="wipe(left)">
                                      <p:cBhvr>
                                        <p:cTn id="39" dur="500"/>
                                        <p:tgtEl>
                                          <p:spTgt spid="14">
                                            <p:txEl>
                                              <p:pRg st="0" end="0"/>
                                            </p:txEl>
                                          </p:spTgt>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15">
                                            <p:bg/>
                                          </p:spTgt>
                                        </p:tgtEl>
                                        <p:attrNameLst>
                                          <p:attrName>style.visibility</p:attrName>
                                        </p:attrNameLst>
                                      </p:cBhvr>
                                      <p:to>
                                        <p:strVal val="visible"/>
                                      </p:to>
                                    </p:set>
                                    <p:animEffect transition="in" filter="wipe(left)">
                                      <p:cBhvr>
                                        <p:cTn id="44" dur="500"/>
                                        <p:tgtEl>
                                          <p:spTgt spid="15">
                                            <p:bg/>
                                          </p:spTgt>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15">
                                            <p:txEl>
                                              <p:pRg st="0" end="0"/>
                                            </p:txEl>
                                          </p:spTgt>
                                        </p:tgtEl>
                                        <p:attrNameLst>
                                          <p:attrName>style.visibility</p:attrName>
                                        </p:attrNameLst>
                                      </p:cBhvr>
                                      <p:to>
                                        <p:strVal val="visible"/>
                                      </p:to>
                                    </p:set>
                                    <p:animEffect transition="in" filter="wipe(left)">
                                      <p:cBhvr>
                                        <p:cTn id="49" dur="500"/>
                                        <p:tgtEl>
                                          <p:spTgt spid="15">
                                            <p:txEl>
                                              <p:pRg st="0" end="0"/>
                                            </p:txEl>
                                          </p:spTgt>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3">
                                            <p:txEl>
                                              <p:pRg st="0" end="0"/>
                                            </p:txEl>
                                          </p:spTgt>
                                        </p:tgtEl>
                                        <p:attrNameLst>
                                          <p:attrName>style.visibility</p:attrName>
                                        </p:attrNameLst>
                                      </p:cBhvr>
                                      <p:to>
                                        <p:strVal val="visible"/>
                                      </p:to>
                                    </p:set>
                                    <p:animEffect transition="in" filter="wipe(left)">
                                      <p:cBhvr>
                                        <p:cTn id="54"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694" grpId="0" build="p"/>
      <p:bldP spid="114700" grpId="0" build="p"/>
      <p:bldP spid="12" grpId="0" build="p"/>
      <p:bldP spid="13" grpId="0" build="p"/>
      <p:bldP spid="14" grpId="0" build="p"/>
      <p:bldP spid="15" grpId="0" build="p" animBg="1"/>
      <p:bldP spid="3"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7" name="Text Box 5"/>
          <p:cNvSpPr txBox="1">
            <a:spLocks noChangeArrowheads="1"/>
          </p:cNvSpPr>
          <p:nvPr/>
        </p:nvSpPr>
        <p:spPr bwMode="auto">
          <a:xfrm>
            <a:off x="563563" y="1216025"/>
            <a:ext cx="8231187" cy="923925"/>
          </a:xfrm>
          <a:prstGeom prst="rect">
            <a:avLst/>
          </a:prstGeom>
          <a:noFill/>
          <a:ln w="9525">
            <a:noFill/>
            <a:miter lim="800000"/>
            <a:headEnd/>
            <a:tailEnd/>
          </a:ln>
        </p:spPr>
        <p:txBody>
          <a:bodyPr>
            <a:spAutoFit/>
          </a:bodyPr>
          <a:lstStyle/>
          <a:p>
            <a:r>
              <a:rPr kumimoji="1" lang="en-US" altLang="zh-CN" b="1">
                <a:solidFill>
                  <a:srgbClr val="0000FF"/>
                </a:solidFill>
                <a:latin typeface="华文中宋"/>
                <a:ea typeface="华文中宋"/>
                <a:cs typeface="华文中宋"/>
              </a:rPr>
              <a:t>1</a:t>
            </a:r>
            <a:r>
              <a:rPr kumimoji="1" lang="zh-CN" altLang="en-US" b="1">
                <a:solidFill>
                  <a:srgbClr val="0000FF"/>
                </a:solidFill>
                <a:latin typeface="华文中宋"/>
                <a:ea typeface="华文中宋"/>
                <a:cs typeface="华文中宋"/>
              </a:rPr>
              <a:t>、开尔文表述</a:t>
            </a:r>
          </a:p>
          <a:p>
            <a:r>
              <a:rPr kumimoji="1" lang="zh-CN" altLang="en-US" b="1">
                <a:solidFill>
                  <a:srgbClr val="000000"/>
                </a:solidFill>
                <a:latin typeface="华文中宋"/>
                <a:ea typeface="华文中宋"/>
                <a:cs typeface="华文中宋"/>
              </a:rPr>
              <a:t>       不可能制作一种</a:t>
            </a:r>
            <a:r>
              <a:rPr kumimoji="1" lang="zh-CN" altLang="en-US" b="1">
                <a:solidFill>
                  <a:srgbClr val="FF0000"/>
                </a:solidFill>
                <a:latin typeface="华文中宋"/>
                <a:ea typeface="华文中宋"/>
                <a:cs typeface="华文中宋"/>
              </a:rPr>
              <a:t>循环动作</a:t>
            </a:r>
            <a:r>
              <a:rPr kumimoji="1" lang="zh-CN" altLang="en-US" b="1">
                <a:solidFill>
                  <a:srgbClr val="000000"/>
                </a:solidFill>
                <a:latin typeface="华文中宋"/>
                <a:ea typeface="华文中宋"/>
                <a:cs typeface="华文中宋"/>
              </a:rPr>
              <a:t>热机，只从</a:t>
            </a:r>
            <a:r>
              <a:rPr kumimoji="1" lang="zh-CN" altLang="en-US" b="1">
                <a:solidFill>
                  <a:srgbClr val="FF0000"/>
                </a:solidFill>
                <a:latin typeface="华文中宋"/>
                <a:ea typeface="华文中宋"/>
                <a:cs typeface="华文中宋"/>
              </a:rPr>
              <a:t>单一热源</a:t>
            </a:r>
            <a:r>
              <a:rPr kumimoji="1" lang="zh-CN" altLang="en-US" b="1">
                <a:solidFill>
                  <a:srgbClr val="000000"/>
                </a:solidFill>
                <a:latin typeface="华文中宋"/>
                <a:ea typeface="华文中宋"/>
                <a:cs typeface="华文中宋"/>
              </a:rPr>
              <a:t>吸热量，使其完全变为有用功，而</a:t>
            </a:r>
            <a:r>
              <a:rPr kumimoji="1" lang="zh-CN" altLang="en-US" b="1">
                <a:solidFill>
                  <a:srgbClr val="FF0000"/>
                </a:solidFill>
                <a:latin typeface="华文中宋"/>
                <a:ea typeface="华文中宋"/>
                <a:cs typeface="华文中宋"/>
              </a:rPr>
              <a:t>不引起其他变化</a:t>
            </a:r>
            <a:r>
              <a:rPr kumimoji="1" lang="zh-CN" altLang="en-US" b="1">
                <a:solidFill>
                  <a:srgbClr val="000000"/>
                </a:solidFill>
                <a:latin typeface="华文中宋"/>
                <a:ea typeface="华文中宋"/>
                <a:cs typeface="华文中宋"/>
              </a:rPr>
              <a:t>。</a:t>
            </a:r>
          </a:p>
        </p:txBody>
      </p:sp>
      <p:sp>
        <p:nvSpPr>
          <p:cNvPr id="115730" name="Rectangle 18"/>
          <p:cNvSpPr>
            <a:spLocks noChangeArrowheads="1"/>
          </p:cNvSpPr>
          <p:nvPr/>
        </p:nvSpPr>
        <p:spPr bwMode="auto">
          <a:xfrm>
            <a:off x="1576388" y="2155825"/>
            <a:ext cx="6164262" cy="369888"/>
          </a:xfrm>
          <a:prstGeom prst="rect">
            <a:avLst/>
          </a:prstGeom>
          <a:noFill/>
          <a:ln w="9525">
            <a:noFill/>
            <a:miter lim="800000"/>
            <a:headEnd/>
            <a:tailEnd/>
          </a:ln>
        </p:spPr>
        <p:txBody>
          <a:bodyPr anchor="ctr">
            <a:spAutoFit/>
          </a:bodyPr>
          <a:lstStyle/>
          <a:p>
            <a:r>
              <a:rPr kumimoji="1" lang="zh-CN" altLang="en-US" b="1">
                <a:solidFill>
                  <a:srgbClr val="000000"/>
                </a:solidFill>
                <a:latin typeface="华文中宋"/>
                <a:ea typeface="华文中宋"/>
                <a:cs typeface="华文中宋"/>
              </a:rPr>
              <a:t>开尔文表述的另一说法是</a:t>
            </a:r>
            <a:r>
              <a:rPr kumimoji="1" lang="en-US" altLang="zh-CN" b="1">
                <a:solidFill>
                  <a:srgbClr val="000000"/>
                </a:solidFill>
                <a:latin typeface="华文中宋"/>
                <a:ea typeface="华文中宋"/>
                <a:cs typeface="华文中宋"/>
              </a:rPr>
              <a:t>:</a:t>
            </a:r>
            <a:r>
              <a:rPr kumimoji="1" lang="zh-CN" altLang="en-US" b="1" u="sng">
                <a:solidFill>
                  <a:srgbClr val="FF0000"/>
                </a:solidFill>
                <a:latin typeface="华文中宋"/>
                <a:ea typeface="华文中宋"/>
                <a:cs typeface="华文中宋"/>
              </a:rPr>
              <a:t>第二类永动机</a:t>
            </a:r>
            <a:r>
              <a:rPr kumimoji="1" lang="zh-CN" altLang="en-US" b="1">
                <a:solidFill>
                  <a:srgbClr val="FF0000"/>
                </a:solidFill>
                <a:latin typeface="华文中宋"/>
                <a:ea typeface="华文中宋"/>
                <a:cs typeface="华文中宋"/>
              </a:rPr>
              <a:t>是不可能制成的。</a:t>
            </a:r>
          </a:p>
        </p:txBody>
      </p:sp>
      <p:sp>
        <p:nvSpPr>
          <p:cNvPr id="115731" name="Text Box 19"/>
          <p:cNvSpPr txBox="1">
            <a:spLocks noChangeArrowheads="1"/>
          </p:cNvSpPr>
          <p:nvPr/>
        </p:nvSpPr>
        <p:spPr bwMode="auto">
          <a:xfrm>
            <a:off x="611188" y="2541588"/>
            <a:ext cx="7920037" cy="646112"/>
          </a:xfrm>
          <a:prstGeom prst="rect">
            <a:avLst/>
          </a:prstGeom>
          <a:noFill/>
          <a:ln w="9525">
            <a:noFill/>
            <a:miter lim="800000"/>
            <a:headEnd/>
            <a:tailEnd/>
          </a:ln>
        </p:spPr>
        <p:txBody>
          <a:bodyPr>
            <a:spAutoFit/>
          </a:bodyPr>
          <a:lstStyle/>
          <a:p>
            <a:r>
              <a:rPr kumimoji="1" lang="zh-CN" altLang="en-US" b="1">
                <a:solidFill>
                  <a:srgbClr val="000000"/>
                </a:solidFill>
                <a:latin typeface="华文中宋"/>
                <a:ea typeface="华文中宋"/>
                <a:cs typeface="华文中宋"/>
              </a:rPr>
              <a:t>第二类永动机：从单一热源吸收热量，全部用来做功而不引起其他变化，又称单热源热机。</a:t>
            </a:r>
          </a:p>
        </p:txBody>
      </p:sp>
      <p:sp>
        <p:nvSpPr>
          <p:cNvPr id="115732" name="Text Box 20"/>
          <p:cNvSpPr txBox="1">
            <a:spLocks noChangeArrowheads="1"/>
          </p:cNvSpPr>
          <p:nvPr/>
        </p:nvSpPr>
        <p:spPr bwMode="auto">
          <a:xfrm>
            <a:off x="611188" y="3205163"/>
            <a:ext cx="7786687" cy="646112"/>
          </a:xfrm>
          <a:prstGeom prst="rect">
            <a:avLst/>
          </a:prstGeom>
          <a:noFill/>
          <a:ln w="9525">
            <a:noFill/>
            <a:miter lim="800000"/>
            <a:headEnd/>
            <a:tailEnd/>
          </a:ln>
        </p:spPr>
        <p:txBody>
          <a:bodyPr>
            <a:spAutoFit/>
          </a:bodyPr>
          <a:lstStyle/>
          <a:p>
            <a:r>
              <a:rPr kumimoji="1" lang="en-US" altLang="zh-CN" b="1">
                <a:solidFill>
                  <a:srgbClr val="0000FF"/>
                </a:solidFill>
                <a:latin typeface="华文中宋"/>
                <a:ea typeface="华文中宋"/>
                <a:cs typeface="华文中宋"/>
              </a:rPr>
              <a:t>2</a:t>
            </a:r>
            <a:r>
              <a:rPr kumimoji="1" lang="zh-CN" altLang="en-US" b="1">
                <a:solidFill>
                  <a:srgbClr val="0000FF"/>
                </a:solidFill>
                <a:latin typeface="华文中宋"/>
                <a:ea typeface="华文中宋"/>
                <a:cs typeface="华文中宋"/>
              </a:rPr>
              <a:t>、克劳修斯表述</a:t>
            </a:r>
          </a:p>
          <a:p>
            <a:r>
              <a:rPr kumimoji="1" lang="zh-CN" altLang="en-US" b="1">
                <a:solidFill>
                  <a:srgbClr val="000000"/>
                </a:solidFill>
                <a:latin typeface="华文中宋"/>
                <a:ea typeface="华文中宋"/>
                <a:cs typeface="华文中宋"/>
              </a:rPr>
              <a:t>      不可能把热量自动地从低温物体传到高温物体而不产生其他影响。</a:t>
            </a:r>
          </a:p>
        </p:txBody>
      </p:sp>
      <p:sp>
        <p:nvSpPr>
          <p:cNvPr id="185352" name="Rectangle 8"/>
          <p:cNvSpPr>
            <a:spLocks noChangeArrowheads="1"/>
          </p:cNvSpPr>
          <p:nvPr/>
        </p:nvSpPr>
        <p:spPr bwMode="auto">
          <a:xfrm>
            <a:off x="684213" y="3867150"/>
            <a:ext cx="8172450" cy="369888"/>
          </a:xfrm>
          <a:prstGeom prst="rect">
            <a:avLst/>
          </a:prstGeom>
          <a:noFill/>
          <a:ln w="9525">
            <a:noFill/>
            <a:miter lim="800000"/>
            <a:headEnd/>
            <a:tailEnd/>
          </a:ln>
        </p:spPr>
        <p:txBody>
          <a:bodyPr>
            <a:spAutoFit/>
          </a:bodyPr>
          <a:lstStyle/>
          <a:p>
            <a:pPr algn="ctr"/>
            <a:r>
              <a:rPr kumimoji="1" lang="zh-CN" altLang="en-US" b="1">
                <a:solidFill>
                  <a:srgbClr val="000000"/>
                </a:solidFill>
                <a:latin typeface="Times New Roman" pitchFamily="18" charset="0"/>
                <a:ea typeface="华文中宋"/>
                <a:cs typeface="华文中宋"/>
              </a:rPr>
              <a:t>热力学第二定律还有</a:t>
            </a:r>
            <a:r>
              <a:rPr kumimoji="1" lang="en-US" altLang="zh-CN" b="1" i="1">
                <a:solidFill>
                  <a:srgbClr val="000000"/>
                </a:solidFill>
                <a:latin typeface="Times New Roman" pitchFamily="18" charset="0"/>
                <a:ea typeface="华文中宋"/>
                <a:cs typeface="华文中宋"/>
              </a:rPr>
              <a:t>N</a:t>
            </a:r>
            <a:r>
              <a:rPr kumimoji="1" lang="zh-CN" altLang="en-US" b="1">
                <a:solidFill>
                  <a:srgbClr val="000000"/>
                </a:solidFill>
                <a:latin typeface="Times New Roman" pitchFamily="18" charset="0"/>
                <a:ea typeface="华文中宋"/>
                <a:cs typeface="华文中宋"/>
              </a:rPr>
              <a:t>种表述，</a:t>
            </a:r>
            <a:r>
              <a:rPr kumimoji="1" lang="en-US" altLang="zh-CN" b="1" i="1">
                <a:solidFill>
                  <a:srgbClr val="000000"/>
                </a:solidFill>
                <a:latin typeface="Times New Roman" pitchFamily="18" charset="0"/>
                <a:ea typeface="华文中宋"/>
                <a:cs typeface="华文中宋"/>
              </a:rPr>
              <a:t>N</a:t>
            </a:r>
            <a:r>
              <a:rPr kumimoji="1" lang="zh-CN" altLang="en-US" b="1">
                <a:solidFill>
                  <a:srgbClr val="000000"/>
                </a:solidFill>
                <a:latin typeface="Times New Roman" pitchFamily="18" charset="0"/>
                <a:ea typeface="华文中宋"/>
                <a:cs typeface="华文中宋"/>
              </a:rPr>
              <a:t>等于无穷大！那么其本质是什么？</a:t>
            </a:r>
          </a:p>
        </p:txBody>
      </p:sp>
      <p:sp>
        <p:nvSpPr>
          <p:cNvPr id="2" name="Text Box 20"/>
          <p:cNvSpPr txBox="1">
            <a:spLocks noChangeArrowheads="1"/>
          </p:cNvSpPr>
          <p:nvPr/>
        </p:nvSpPr>
        <p:spPr bwMode="auto">
          <a:xfrm>
            <a:off x="611188" y="4252913"/>
            <a:ext cx="7786687" cy="646112"/>
          </a:xfrm>
          <a:prstGeom prst="rect">
            <a:avLst/>
          </a:prstGeom>
          <a:noFill/>
          <a:ln w="9525">
            <a:noFill/>
            <a:miter lim="800000"/>
            <a:headEnd/>
            <a:tailEnd/>
          </a:ln>
        </p:spPr>
        <p:txBody>
          <a:bodyPr>
            <a:spAutoFit/>
          </a:bodyPr>
          <a:lstStyle/>
          <a:p>
            <a:r>
              <a:rPr kumimoji="1" lang="en-US" altLang="zh-CN" b="1">
                <a:solidFill>
                  <a:srgbClr val="0000FF"/>
                </a:solidFill>
                <a:latin typeface="华文中宋"/>
                <a:ea typeface="华文中宋"/>
                <a:cs typeface="华文中宋"/>
              </a:rPr>
              <a:t>3</a:t>
            </a:r>
            <a:r>
              <a:rPr kumimoji="1" lang="zh-CN" altLang="en-US" b="1">
                <a:solidFill>
                  <a:srgbClr val="0000FF"/>
                </a:solidFill>
                <a:latin typeface="华文中宋"/>
                <a:ea typeface="华文中宋"/>
                <a:cs typeface="华文中宋"/>
              </a:rPr>
              <a:t>、热力学第二定律的本质：</a:t>
            </a:r>
            <a:r>
              <a:rPr kumimoji="1" lang="zh-CN" altLang="en-US" b="1">
                <a:solidFill>
                  <a:srgbClr val="000000"/>
                </a:solidFill>
                <a:latin typeface="华文中宋"/>
                <a:ea typeface="华文中宋"/>
                <a:cs typeface="华文中宋"/>
              </a:rPr>
              <a:t>自然过程具有方向性，或一切与热现象有关的实际宏观过程是不可逆的。</a:t>
            </a:r>
          </a:p>
        </p:txBody>
      </p:sp>
      <p:sp>
        <p:nvSpPr>
          <p:cNvPr id="9" name="Text Box 2"/>
          <p:cNvSpPr>
            <a:spLocks noChangeArrowheads="1"/>
          </p:cNvSpPr>
          <p:nvPr/>
        </p:nvSpPr>
        <p:spPr bwMode="auto">
          <a:xfrm>
            <a:off x="839788" y="874713"/>
            <a:ext cx="3838575" cy="400050"/>
          </a:xfrm>
          <a:prstGeom prst="homePlate">
            <a:avLst>
              <a:gd name="adj" fmla="val 49753"/>
            </a:avLst>
          </a:prstGeom>
          <a:solidFill>
            <a:srgbClr val="539A84"/>
          </a:solidFill>
          <a:ln w="9525">
            <a:noFill/>
            <a:miter lim="800000"/>
            <a:headEnd/>
            <a:tailEnd/>
          </a:ln>
        </p:spPr>
        <p:txBody>
          <a:bodyPr>
            <a:spAutoFit/>
          </a:bodyPr>
          <a:lstStyle/>
          <a:p>
            <a:pPr>
              <a:buFont typeface="Arial" charset="0"/>
              <a:buNone/>
            </a:pPr>
            <a:r>
              <a:rPr kumimoji="1" lang="zh-CN" altLang="en-US" sz="2000" b="1">
                <a:solidFill>
                  <a:srgbClr val="FFFFFF"/>
                </a:solidFill>
                <a:latin typeface="微软雅黑" pitchFamily="34" charset="-122"/>
                <a:ea typeface="微软雅黑" pitchFamily="34" charset="-122"/>
              </a:rPr>
              <a:t>一、热力学第二定律的两种表述</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15717"/>
                                        </p:tgtEl>
                                        <p:attrNameLst>
                                          <p:attrName>style.visibility</p:attrName>
                                        </p:attrNameLst>
                                      </p:cBhvr>
                                      <p:to>
                                        <p:strVal val="visible"/>
                                      </p:to>
                                    </p:set>
                                    <p:animEffect transition="in" filter="wipe(left)">
                                      <p:cBhvr>
                                        <p:cTn id="12" dur="500"/>
                                        <p:tgtEl>
                                          <p:spTgt spid="11571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15730"/>
                                        </p:tgtEl>
                                        <p:attrNameLst>
                                          <p:attrName>style.visibility</p:attrName>
                                        </p:attrNameLst>
                                      </p:cBhvr>
                                      <p:to>
                                        <p:strVal val="visible"/>
                                      </p:to>
                                    </p:set>
                                    <p:animEffect transition="in" filter="wipe(left)">
                                      <p:cBhvr>
                                        <p:cTn id="17" dur="500"/>
                                        <p:tgtEl>
                                          <p:spTgt spid="11573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15731"/>
                                        </p:tgtEl>
                                        <p:attrNameLst>
                                          <p:attrName>style.visibility</p:attrName>
                                        </p:attrNameLst>
                                      </p:cBhvr>
                                      <p:to>
                                        <p:strVal val="visible"/>
                                      </p:to>
                                    </p:set>
                                    <p:animEffect transition="in" filter="wipe(left)">
                                      <p:cBhvr>
                                        <p:cTn id="22" dur="500"/>
                                        <p:tgtEl>
                                          <p:spTgt spid="11573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15732">
                                            <p:txEl>
                                              <p:pRg st="0" end="0"/>
                                            </p:txEl>
                                          </p:spTgt>
                                        </p:tgtEl>
                                        <p:attrNameLst>
                                          <p:attrName>style.visibility</p:attrName>
                                        </p:attrNameLst>
                                      </p:cBhvr>
                                      <p:to>
                                        <p:strVal val="visible"/>
                                      </p:to>
                                    </p:set>
                                    <p:animEffect transition="in" filter="wipe(left)">
                                      <p:cBhvr>
                                        <p:cTn id="27" dur="500"/>
                                        <p:tgtEl>
                                          <p:spTgt spid="115732">
                                            <p:txEl>
                                              <p:pRg st="0" end="0"/>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15732">
                                            <p:txEl>
                                              <p:pRg st="1" end="1"/>
                                            </p:txEl>
                                          </p:spTgt>
                                        </p:tgtEl>
                                        <p:attrNameLst>
                                          <p:attrName>style.visibility</p:attrName>
                                        </p:attrNameLst>
                                      </p:cBhvr>
                                      <p:to>
                                        <p:strVal val="visible"/>
                                      </p:to>
                                    </p:set>
                                    <p:animEffect transition="in" filter="wipe(left)">
                                      <p:cBhvr>
                                        <p:cTn id="32" dur="500"/>
                                        <p:tgtEl>
                                          <p:spTgt spid="115732">
                                            <p:txEl>
                                              <p:pRg st="1" end="1"/>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85352"/>
                                        </p:tgtEl>
                                        <p:attrNameLst>
                                          <p:attrName>style.visibility</p:attrName>
                                        </p:attrNameLst>
                                      </p:cBhvr>
                                      <p:to>
                                        <p:strVal val="visible"/>
                                      </p:to>
                                    </p:set>
                                    <p:animEffect transition="in" filter="blinds(horizontal)">
                                      <p:cBhvr>
                                        <p:cTn id="37" dur="500"/>
                                        <p:tgtEl>
                                          <p:spTgt spid="185352"/>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
                                            <p:txEl>
                                              <p:pRg st="0" end="0"/>
                                            </p:txEl>
                                          </p:spTgt>
                                        </p:tgtEl>
                                        <p:attrNameLst>
                                          <p:attrName>style.visibility</p:attrName>
                                        </p:attrNameLst>
                                      </p:cBhvr>
                                      <p:to>
                                        <p:strVal val="visible"/>
                                      </p:to>
                                    </p:set>
                                    <p:animEffect transition="in" filter="wipe(left)">
                                      <p:cBhvr>
                                        <p:cTn id="42"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717" grpId="0"/>
      <p:bldP spid="115730" grpId="0" autoUpdateAnimBg="0"/>
      <p:bldP spid="115731" grpId="0" autoUpdateAnimBg="0"/>
      <p:bldP spid="115732" grpId="0" build="p"/>
      <p:bldP spid="185352" grpId="0"/>
      <p:bldP spid="2" grpId="0" build="p"/>
      <p:bldP spid="9"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4" name="Text Box 4"/>
          <p:cNvSpPr txBox="1">
            <a:spLocks noChangeArrowheads="1"/>
          </p:cNvSpPr>
          <p:nvPr/>
        </p:nvSpPr>
        <p:spPr bwMode="auto">
          <a:xfrm>
            <a:off x="107950" y="1382713"/>
            <a:ext cx="2530475" cy="396875"/>
          </a:xfrm>
          <a:prstGeom prst="rect">
            <a:avLst/>
          </a:prstGeom>
          <a:noFill/>
          <a:ln w="9525">
            <a:noFill/>
            <a:miter lim="800000"/>
            <a:headEnd/>
            <a:tailEnd/>
          </a:ln>
        </p:spPr>
        <p:txBody>
          <a:bodyPr>
            <a:spAutoFit/>
          </a:bodyPr>
          <a:lstStyle/>
          <a:p>
            <a:pPr>
              <a:lnSpc>
                <a:spcPct val="110000"/>
              </a:lnSpc>
            </a:pPr>
            <a:r>
              <a:rPr kumimoji="1" lang="en-US" altLang="zh-CN" b="1">
                <a:solidFill>
                  <a:srgbClr val="0000FF"/>
                </a:solidFill>
                <a:latin typeface="华文中宋"/>
                <a:ea typeface="华文中宋"/>
                <a:cs typeface="华文中宋"/>
              </a:rPr>
              <a:t>4</a:t>
            </a:r>
            <a:r>
              <a:rPr kumimoji="1" lang="zh-CN" altLang="en-US" b="1">
                <a:solidFill>
                  <a:srgbClr val="0000FF"/>
                </a:solidFill>
                <a:latin typeface="华文中宋"/>
                <a:ea typeface="华文中宋"/>
                <a:cs typeface="华文中宋"/>
              </a:rPr>
              <a:t>、两种表述的等价性</a:t>
            </a:r>
          </a:p>
        </p:txBody>
      </p:sp>
      <p:grpSp>
        <p:nvGrpSpPr>
          <p:cNvPr id="2" name="Group 43"/>
          <p:cNvGrpSpPr>
            <a:grpSpLocks/>
          </p:cNvGrpSpPr>
          <p:nvPr/>
        </p:nvGrpSpPr>
        <p:grpSpPr bwMode="auto">
          <a:xfrm>
            <a:off x="2665413" y="1347788"/>
            <a:ext cx="2038350" cy="1381125"/>
            <a:chOff x="2600" y="228"/>
            <a:chExt cx="1550" cy="1435"/>
          </a:xfrm>
        </p:grpSpPr>
        <p:sp>
          <p:nvSpPr>
            <p:cNvPr id="129083" name="Rectangle 47"/>
            <p:cNvSpPr>
              <a:spLocks noChangeArrowheads="1"/>
            </p:cNvSpPr>
            <p:nvPr/>
          </p:nvSpPr>
          <p:spPr bwMode="auto">
            <a:xfrm>
              <a:off x="2600" y="1327"/>
              <a:ext cx="1550" cy="336"/>
            </a:xfrm>
            <a:prstGeom prst="rect">
              <a:avLst/>
            </a:prstGeom>
            <a:noFill/>
            <a:ln w="19050">
              <a:solidFill>
                <a:srgbClr val="0070C0"/>
              </a:solidFill>
              <a:miter lim="800000"/>
              <a:headEnd/>
              <a:tailEnd/>
            </a:ln>
          </p:spPr>
          <p:txBody>
            <a:bodyPr lIns="92075" tIns="46038" rIns="92075" bIns="46038">
              <a:spAutoFit/>
            </a:bodyPr>
            <a:lstStyle/>
            <a:p>
              <a:pPr algn="ctr" eaLnBrk="0" hangingPunct="0"/>
              <a:r>
                <a:rPr kumimoji="1" lang="zh-CN" altLang="en-US" sz="1500" b="1">
                  <a:solidFill>
                    <a:srgbClr val="000000"/>
                  </a:solidFill>
                  <a:ea typeface="华文中宋"/>
                  <a:cs typeface="华文中宋"/>
                </a:rPr>
                <a:t>低温热源</a:t>
              </a:r>
              <a:r>
                <a:rPr kumimoji="1" lang="en-US" altLang="zh-CN" sz="1500" b="1" i="1">
                  <a:solidFill>
                    <a:srgbClr val="000000"/>
                  </a:solidFill>
                  <a:latin typeface="Times New Roman" pitchFamily="18" charset="0"/>
                </a:rPr>
                <a:t>T</a:t>
              </a:r>
              <a:r>
                <a:rPr kumimoji="1" lang="en-US" altLang="zh-CN" sz="1500" b="1" baseline="-25000">
                  <a:solidFill>
                    <a:srgbClr val="000000"/>
                  </a:solidFill>
                  <a:latin typeface="Times New Roman" pitchFamily="18" charset="0"/>
                </a:rPr>
                <a:t>2</a:t>
              </a:r>
              <a:endParaRPr kumimoji="1" lang="en-US" altLang="zh-CN" sz="1500" b="1" baseline="-25000">
                <a:solidFill>
                  <a:srgbClr val="000000"/>
                </a:solidFill>
              </a:endParaRPr>
            </a:p>
          </p:txBody>
        </p:sp>
        <p:grpSp>
          <p:nvGrpSpPr>
            <p:cNvPr id="129084" name="Group 48"/>
            <p:cNvGrpSpPr>
              <a:grpSpLocks/>
            </p:cNvGrpSpPr>
            <p:nvPr/>
          </p:nvGrpSpPr>
          <p:grpSpPr bwMode="auto">
            <a:xfrm>
              <a:off x="2702" y="401"/>
              <a:ext cx="878" cy="889"/>
              <a:chOff x="1487" y="2549"/>
              <a:chExt cx="878" cy="889"/>
            </a:xfrm>
          </p:grpSpPr>
          <p:sp>
            <p:nvSpPr>
              <p:cNvPr id="75" name="Oval 49"/>
              <p:cNvSpPr>
                <a:spLocks noChangeArrowheads="1"/>
              </p:cNvSpPr>
              <p:nvPr/>
            </p:nvSpPr>
            <p:spPr bwMode="auto">
              <a:xfrm>
                <a:off x="1485" y="2806"/>
                <a:ext cx="467" cy="468"/>
              </a:xfrm>
              <a:prstGeom prst="ellipse">
                <a:avLst/>
              </a:prstGeom>
              <a:solidFill>
                <a:schemeClr val="accent6">
                  <a:lumMod val="20000"/>
                  <a:lumOff val="80000"/>
                </a:schemeClr>
              </a:solidFill>
              <a:ln w="19050">
                <a:solidFill>
                  <a:srgbClr val="00B0F0"/>
                </a:solidFill>
                <a:round/>
                <a:headEnd/>
                <a:tailEnd/>
              </a:ln>
            </p:spPr>
            <p:txBody>
              <a:bodyPr wrap="none" anchor="ctr"/>
              <a:lstStyle/>
              <a:p>
                <a:pPr fontAlgn="auto">
                  <a:spcBef>
                    <a:spcPts val="0"/>
                  </a:spcBef>
                  <a:spcAft>
                    <a:spcPts val="0"/>
                  </a:spcAft>
                  <a:defRPr/>
                </a:pPr>
                <a:endParaRPr lang="zh-CN" altLang="en-US">
                  <a:solidFill>
                    <a:prstClr val="black"/>
                  </a:solidFill>
                  <a:latin typeface="+mn-lt"/>
                  <a:ea typeface="+mn-ea"/>
                </a:endParaRPr>
              </a:p>
            </p:txBody>
          </p:sp>
          <p:sp>
            <p:nvSpPr>
              <p:cNvPr id="129087" name="Text Box 52"/>
              <p:cNvSpPr txBox="1">
                <a:spLocks noChangeArrowheads="1"/>
              </p:cNvSpPr>
              <p:nvPr/>
            </p:nvSpPr>
            <p:spPr bwMode="auto">
              <a:xfrm>
                <a:off x="1791" y="2608"/>
                <a:ext cx="295" cy="336"/>
              </a:xfrm>
              <a:prstGeom prst="rect">
                <a:avLst/>
              </a:prstGeom>
              <a:noFill/>
              <a:ln w="9525">
                <a:noFill/>
                <a:miter lim="800000"/>
                <a:headEnd/>
                <a:tailEnd/>
              </a:ln>
            </p:spPr>
            <p:txBody>
              <a:bodyPr wrap="none">
                <a:spAutoFit/>
              </a:bodyPr>
              <a:lstStyle/>
              <a:p>
                <a:r>
                  <a:rPr lang="en-US" altLang="zh-CN" sz="1500" b="1" i="1">
                    <a:solidFill>
                      <a:srgbClr val="000000"/>
                    </a:solidFill>
                    <a:latin typeface="Times New Roman" pitchFamily="18" charset="0"/>
                  </a:rPr>
                  <a:t>Q</a:t>
                </a:r>
                <a:r>
                  <a:rPr lang="en-US" altLang="zh-CN" sz="1500" b="1" baseline="-25000">
                    <a:solidFill>
                      <a:srgbClr val="000000"/>
                    </a:solidFill>
                    <a:latin typeface="Times New Roman" pitchFamily="18" charset="0"/>
                  </a:rPr>
                  <a:t>1</a:t>
                </a:r>
              </a:p>
            </p:txBody>
          </p:sp>
          <p:sp>
            <p:nvSpPr>
              <p:cNvPr id="129088" name="Text Box 53"/>
              <p:cNvSpPr txBox="1">
                <a:spLocks noChangeArrowheads="1"/>
              </p:cNvSpPr>
              <p:nvPr/>
            </p:nvSpPr>
            <p:spPr bwMode="auto">
              <a:xfrm>
                <a:off x="1905" y="3102"/>
                <a:ext cx="460" cy="336"/>
              </a:xfrm>
              <a:prstGeom prst="rect">
                <a:avLst/>
              </a:prstGeom>
              <a:noFill/>
              <a:ln w="9525">
                <a:noFill/>
                <a:miter lim="800000"/>
                <a:headEnd/>
                <a:tailEnd/>
              </a:ln>
            </p:spPr>
            <p:txBody>
              <a:bodyPr wrap="none">
                <a:spAutoFit/>
              </a:bodyPr>
              <a:lstStyle/>
              <a:p>
                <a:r>
                  <a:rPr lang="en-US" altLang="zh-CN" sz="1500" b="1" i="1">
                    <a:solidFill>
                      <a:srgbClr val="000000"/>
                    </a:solidFill>
                    <a:latin typeface="Times New Roman" pitchFamily="18" charset="0"/>
                  </a:rPr>
                  <a:t>Q=W</a:t>
                </a:r>
                <a:endParaRPr lang="en-US" altLang="zh-CN" sz="1500" b="1" baseline="-25000">
                  <a:solidFill>
                    <a:srgbClr val="000000"/>
                  </a:solidFill>
                  <a:latin typeface="Times New Roman" pitchFamily="18" charset="0"/>
                </a:endParaRPr>
              </a:p>
            </p:txBody>
          </p:sp>
          <p:sp>
            <p:nvSpPr>
              <p:cNvPr id="80" name="AutoShape 54"/>
              <p:cNvSpPr>
                <a:spLocks noChangeArrowheads="1"/>
              </p:cNvSpPr>
              <p:nvPr/>
            </p:nvSpPr>
            <p:spPr bwMode="auto">
              <a:xfrm>
                <a:off x="1885" y="2966"/>
                <a:ext cx="368" cy="160"/>
              </a:xfrm>
              <a:prstGeom prst="rightArrow">
                <a:avLst>
                  <a:gd name="adj1" fmla="val 54369"/>
                  <a:gd name="adj2" fmla="val 71926"/>
                </a:avLst>
              </a:prstGeom>
              <a:solidFill>
                <a:schemeClr val="accent6">
                  <a:lumMod val="75000"/>
                </a:schemeClr>
              </a:solidFill>
              <a:ln w="9525">
                <a:solidFill>
                  <a:srgbClr val="00B0F0"/>
                </a:solidFill>
                <a:miter lim="800000"/>
                <a:headEnd/>
                <a:tailEnd/>
              </a:ln>
            </p:spPr>
            <p:txBody>
              <a:bodyPr wrap="none" anchor="ctr"/>
              <a:lstStyle/>
              <a:p>
                <a:pPr fontAlgn="auto">
                  <a:spcBef>
                    <a:spcPts val="0"/>
                  </a:spcBef>
                  <a:spcAft>
                    <a:spcPts val="0"/>
                  </a:spcAft>
                  <a:defRPr/>
                </a:pPr>
                <a:endParaRPr lang="zh-CN" altLang="en-US">
                  <a:solidFill>
                    <a:prstClr val="black"/>
                  </a:solidFill>
                  <a:latin typeface="+mn-lt"/>
                  <a:ea typeface="+mn-ea"/>
                </a:endParaRPr>
              </a:p>
            </p:txBody>
          </p:sp>
          <p:sp>
            <p:nvSpPr>
              <p:cNvPr id="81" name="Rectangle 55" descr="大纸屑"/>
              <p:cNvSpPr>
                <a:spLocks noChangeArrowheads="1"/>
              </p:cNvSpPr>
              <p:nvPr/>
            </p:nvSpPr>
            <p:spPr bwMode="auto">
              <a:xfrm>
                <a:off x="1665" y="2868"/>
                <a:ext cx="99" cy="229"/>
              </a:xfrm>
              <a:prstGeom prst="rect">
                <a:avLst/>
              </a:prstGeom>
              <a:solidFill>
                <a:schemeClr val="accent6">
                  <a:lumMod val="60000"/>
                  <a:lumOff val="40000"/>
                </a:schemeClr>
              </a:solidFill>
              <a:ln>
                <a:noFill/>
              </a:ln>
              <a:extLst/>
            </p:spPr>
            <p:txBody>
              <a:bodyPr wrap="none" anchor="ctr"/>
              <a:lstStyle/>
              <a:p>
                <a:pPr fontAlgn="auto">
                  <a:spcBef>
                    <a:spcPts val="0"/>
                  </a:spcBef>
                  <a:spcAft>
                    <a:spcPts val="0"/>
                  </a:spcAft>
                  <a:defRPr/>
                </a:pPr>
                <a:endParaRPr lang="zh-CN" altLang="en-US">
                  <a:solidFill>
                    <a:prstClr val="black"/>
                  </a:solidFill>
                  <a:latin typeface="+mn-lt"/>
                  <a:ea typeface="+mn-ea"/>
                </a:endParaRPr>
              </a:p>
            </p:txBody>
          </p:sp>
          <p:sp>
            <p:nvSpPr>
              <p:cNvPr id="83" name="Rectangle 57" descr="大纸屑"/>
              <p:cNvSpPr>
                <a:spLocks noChangeArrowheads="1"/>
              </p:cNvSpPr>
              <p:nvPr/>
            </p:nvSpPr>
            <p:spPr bwMode="auto">
              <a:xfrm>
                <a:off x="1704" y="2999"/>
                <a:ext cx="226" cy="96"/>
              </a:xfrm>
              <a:prstGeom prst="rect">
                <a:avLst/>
              </a:prstGeom>
              <a:solidFill>
                <a:schemeClr val="accent6">
                  <a:lumMod val="60000"/>
                  <a:lumOff val="40000"/>
                </a:schemeClr>
              </a:solidFill>
              <a:ln>
                <a:noFill/>
              </a:ln>
              <a:extLst/>
            </p:spPr>
            <p:txBody>
              <a:bodyPr wrap="none" anchor="ctr"/>
              <a:lstStyle/>
              <a:p>
                <a:pPr fontAlgn="auto">
                  <a:spcBef>
                    <a:spcPts val="0"/>
                  </a:spcBef>
                  <a:spcAft>
                    <a:spcPts val="0"/>
                  </a:spcAft>
                  <a:defRPr/>
                </a:pPr>
                <a:endParaRPr lang="zh-CN" altLang="en-US">
                  <a:solidFill>
                    <a:prstClr val="black"/>
                  </a:solidFill>
                  <a:latin typeface="+mn-lt"/>
                  <a:ea typeface="+mn-ea"/>
                </a:endParaRPr>
              </a:p>
            </p:txBody>
          </p:sp>
          <p:sp>
            <p:nvSpPr>
              <p:cNvPr id="84" name="AutoShape 58"/>
              <p:cNvSpPr>
                <a:spLocks noChangeArrowheads="1"/>
              </p:cNvSpPr>
              <p:nvPr/>
            </p:nvSpPr>
            <p:spPr bwMode="auto">
              <a:xfrm>
                <a:off x="1617" y="2549"/>
                <a:ext cx="183" cy="396"/>
              </a:xfrm>
              <a:prstGeom prst="downArrow">
                <a:avLst>
                  <a:gd name="adj1" fmla="val 56176"/>
                  <a:gd name="adj2" fmla="val 42065"/>
                </a:avLst>
              </a:prstGeom>
              <a:solidFill>
                <a:schemeClr val="accent6">
                  <a:lumMod val="75000"/>
                </a:schemeClr>
              </a:solidFill>
              <a:ln w="12700">
                <a:solidFill>
                  <a:srgbClr val="0070C0"/>
                </a:solidFill>
                <a:miter lim="800000"/>
                <a:headEnd/>
                <a:tailEnd/>
              </a:ln>
            </p:spPr>
            <p:txBody>
              <a:bodyPr wrap="none" anchor="ctr"/>
              <a:lstStyle/>
              <a:p>
                <a:pPr fontAlgn="auto">
                  <a:spcBef>
                    <a:spcPts val="0"/>
                  </a:spcBef>
                  <a:spcAft>
                    <a:spcPts val="0"/>
                  </a:spcAft>
                  <a:defRPr/>
                </a:pPr>
                <a:endParaRPr lang="zh-CN" altLang="en-US">
                  <a:solidFill>
                    <a:prstClr val="black"/>
                  </a:solidFill>
                  <a:latin typeface="+mn-lt"/>
                  <a:ea typeface="+mn-ea"/>
                </a:endParaRPr>
              </a:p>
            </p:txBody>
          </p:sp>
        </p:grpSp>
        <p:sp>
          <p:nvSpPr>
            <p:cNvPr id="129085" name="Rectangle 45"/>
            <p:cNvSpPr>
              <a:spLocks noChangeArrowheads="1"/>
            </p:cNvSpPr>
            <p:nvPr/>
          </p:nvSpPr>
          <p:spPr bwMode="auto">
            <a:xfrm>
              <a:off x="2601" y="228"/>
              <a:ext cx="1549" cy="336"/>
            </a:xfrm>
            <a:prstGeom prst="rect">
              <a:avLst/>
            </a:prstGeom>
            <a:solidFill>
              <a:srgbClr val="FFFFFF"/>
            </a:solidFill>
            <a:ln w="19050">
              <a:solidFill>
                <a:srgbClr val="0070C0"/>
              </a:solidFill>
              <a:miter lim="800000"/>
              <a:headEnd/>
              <a:tailEnd/>
            </a:ln>
          </p:spPr>
          <p:txBody>
            <a:bodyPr lIns="92075" tIns="46038" rIns="92075" bIns="46038">
              <a:spAutoFit/>
            </a:bodyPr>
            <a:lstStyle/>
            <a:p>
              <a:pPr algn="ctr" eaLnBrk="0" hangingPunct="0"/>
              <a:r>
                <a:rPr kumimoji="1" lang="zh-CN" altLang="en-US" sz="1500" b="1">
                  <a:solidFill>
                    <a:srgbClr val="000000"/>
                  </a:solidFill>
                  <a:latin typeface="华文中宋"/>
                  <a:ea typeface="华文中宋"/>
                  <a:cs typeface="华文中宋"/>
                </a:rPr>
                <a:t>高温热源</a:t>
              </a:r>
              <a:r>
                <a:rPr kumimoji="1" lang="en-US" altLang="zh-CN" sz="1500" b="1" i="1">
                  <a:solidFill>
                    <a:srgbClr val="000000"/>
                  </a:solidFill>
                  <a:latin typeface="华文中宋"/>
                  <a:ea typeface="华文中宋"/>
                  <a:cs typeface="华文中宋"/>
                </a:rPr>
                <a:t>T</a:t>
              </a:r>
              <a:r>
                <a:rPr kumimoji="1" lang="en-US" altLang="zh-CN" sz="1500" b="1" baseline="-25000">
                  <a:solidFill>
                    <a:srgbClr val="000000"/>
                  </a:solidFill>
                  <a:latin typeface="华文中宋"/>
                  <a:ea typeface="华文中宋"/>
                  <a:cs typeface="华文中宋"/>
                </a:rPr>
                <a:t>1</a:t>
              </a:r>
            </a:p>
          </p:txBody>
        </p:sp>
      </p:grpSp>
      <p:grpSp>
        <p:nvGrpSpPr>
          <p:cNvPr id="4" name="组合 11"/>
          <p:cNvGrpSpPr>
            <a:grpSpLocks/>
          </p:cNvGrpSpPr>
          <p:nvPr/>
        </p:nvGrpSpPr>
        <p:grpSpPr bwMode="auto">
          <a:xfrm>
            <a:off x="6516688" y="3182938"/>
            <a:ext cx="1619250" cy="1382712"/>
            <a:chOff x="5570637" y="3863664"/>
            <a:chExt cx="1954215" cy="2278430"/>
          </a:xfrm>
        </p:grpSpPr>
        <p:sp>
          <p:nvSpPr>
            <p:cNvPr id="129072" name="Rectangle 47"/>
            <p:cNvSpPr>
              <a:spLocks noChangeArrowheads="1"/>
            </p:cNvSpPr>
            <p:nvPr/>
          </p:nvSpPr>
          <p:spPr bwMode="auto">
            <a:xfrm>
              <a:off x="5570637" y="5608329"/>
              <a:ext cx="1543050" cy="533765"/>
            </a:xfrm>
            <a:prstGeom prst="rect">
              <a:avLst/>
            </a:prstGeom>
            <a:noFill/>
            <a:ln w="19050">
              <a:solidFill>
                <a:srgbClr val="0070C0"/>
              </a:solidFill>
              <a:miter lim="800000"/>
              <a:headEnd/>
              <a:tailEnd/>
            </a:ln>
          </p:spPr>
          <p:txBody>
            <a:bodyPr lIns="92075" tIns="46038" rIns="92075" bIns="46038">
              <a:spAutoFit/>
            </a:bodyPr>
            <a:lstStyle/>
            <a:p>
              <a:pPr algn="ctr" eaLnBrk="0" hangingPunct="0"/>
              <a:r>
                <a:rPr kumimoji="1" lang="zh-CN" altLang="en-US" sz="1500" b="1">
                  <a:solidFill>
                    <a:srgbClr val="000000"/>
                  </a:solidFill>
                  <a:latin typeface="Times New Roman" pitchFamily="18" charset="0"/>
                  <a:ea typeface="华文中宋"/>
                  <a:cs typeface="华文中宋"/>
                </a:rPr>
                <a:t>低温热源</a:t>
              </a:r>
              <a:r>
                <a:rPr kumimoji="1" lang="en-US" altLang="zh-CN" sz="1500" b="1" i="1">
                  <a:solidFill>
                    <a:srgbClr val="000000"/>
                  </a:solidFill>
                  <a:latin typeface="Times New Roman" pitchFamily="18" charset="0"/>
                  <a:ea typeface="华文中宋"/>
                  <a:cs typeface="华文中宋"/>
                </a:rPr>
                <a:t>T</a:t>
              </a:r>
              <a:r>
                <a:rPr kumimoji="1" lang="en-US" altLang="zh-CN" sz="1500" b="1" baseline="-25000">
                  <a:solidFill>
                    <a:srgbClr val="000000"/>
                  </a:solidFill>
                  <a:latin typeface="Times New Roman" pitchFamily="18" charset="0"/>
                  <a:ea typeface="华文中宋"/>
                  <a:cs typeface="华文中宋"/>
                </a:rPr>
                <a:t>2</a:t>
              </a:r>
            </a:p>
          </p:txBody>
        </p:sp>
        <p:grpSp>
          <p:nvGrpSpPr>
            <p:cNvPr id="129073" name="Group 48"/>
            <p:cNvGrpSpPr>
              <a:grpSpLocks/>
            </p:cNvGrpSpPr>
            <p:nvPr/>
          </p:nvGrpSpPr>
          <p:grpSpPr bwMode="auto">
            <a:xfrm>
              <a:off x="5980214" y="4138302"/>
              <a:ext cx="1544638" cy="1570038"/>
              <a:chOff x="1643" y="2549"/>
              <a:chExt cx="973" cy="989"/>
            </a:xfrm>
          </p:grpSpPr>
          <p:sp>
            <p:nvSpPr>
              <p:cNvPr id="119" name="Oval 49"/>
              <p:cNvSpPr>
                <a:spLocks noChangeArrowheads="1"/>
              </p:cNvSpPr>
              <p:nvPr/>
            </p:nvSpPr>
            <p:spPr bwMode="auto">
              <a:xfrm>
                <a:off x="1643" y="2808"/>
                <a:ext cx="467" cy="466"/>
              </a:xfrm>
              <a:prstGeom prst="ellipse">
                <a:avLst/>
              </a:prstGeom>
              <a:solidFill>
                <a:schemeClr val="accent6">
                  <a:lumMod val="20000"/>
                  <a:lumOff val="80000"/>
                </a:schemeClr>
              </a:solidFill>
              <a:ln w="19050">
                <a:solidFill>
                  <a:srgbClr val="00B0F0"/>
                </a:solidFill>
                <a:round/>
                <a:headEnd/>
                <a:tailEnd/>
              </a:ln>
            </p:spPr>
            <p:txBody>
              <a:bodyPr wrap="none" anchor="ctr"/>
              <a:lstStyle/>
              <a:p>
                <a:pPr fontAlgn="auto">
                  <a:spcBef>
                    <a:spcPts val="0"/>
                  </a:spcBef>
                  <a:spcAft>
                    <a:spcPts val="0"/>
                  </a:spcAft>
                  <a:defRPr/>
                </a:pPr>
                <a:endParaRPr lang="zh-CN" altLang="en-US">
                  <a:solidFill>
                    <a:prstClr val="black"/>
                  </a:solidFill>
                  <a:latin typeface="+mn-lt"/>
                  <a:ea typeface="+mn-ea"/>
                </a:endParaRPr>
              </a:p>
            </p:txBody>
          </p:sp>
          <p:sp>
            <p:nvSpPr>
              <p:cNvPr id="129076" name="Text Box 51"/>
              <p:cNvSpPr txBox="1">
                <a:spLocks noChangeArrowheads="1"/>
              </p:cNvSpPr>
              <p:nvPr/>
            </p:nvSpPr>
            <p:spPr bwMode="auto">
              <a:xfrm>
                <a:off x="1987" y="3228"/>
                <a:ext cx="116" cy="310"/>
              </a:xfrm>
              <a:prstGeom prst="rect">
                <a:avLst/>
              </a:prstGeom>
              <a:noFill/>
              <a:ln w="9525">
                <a:noFill/>
                <a:miter lim="800000"/>
                <a:headEnd/>
                <a:tailEnd/>
              </a:ln>
            </p:spPr>
            <p:txBody>
              <a:bodyPr wrap="none">
                <a:spAutoFit/>
              </a:bodyPr>
              <a:lstStyle/>
              <a:p>
                <a:endParaRPr lang="zh-CN" altLang="zh-CN" b="1">
                  <a:solidFill>
                    <a:srgbClr val="000000"/>
                  </a:solidFill>
                  <a:latin typeface="Times New Roman" pitchFamily="18" charset="0"/>
                </a:endParaRPr>
              </a:p>
            </p:txBody>
          </p:sp>
          <p:sp>
            <p:nvSpPr>
              <p:cNvPr id="129077" name="Text Box 52"/>
              <p:cNvSpPr txBox="1">
                <a:spLocks noChangeArrowheads="1"/>
              </p:cNvSpPr>
              <p:nvPr/>
            </p:nvSpPr>
            <p:spPr bwMode="auto">
              <a:xfrm>
                <a:off x="1957" y="2608"/>
                <a:ext cx="499" cy="336"/>
              </a:xfrm>
              <a:prstGeom prst="rect">
                <a:avLst/>
              </a:prstGeom>
              <a:noFill/>
              <a:ln w="9525">
                <a:noFill/>
                <a:miter lim="800000"/>
                <a:headEnd/>
                <a:tailEnd/>
              </a:ln>
            </p:spPr>
            <p:txBody>
              <a:bodyPr wrap="none">
                <a:spAutoFit/>
              </a:bodyPr>
              <a:lstStyle/>
              <a:p>
                <a:r>
                  <a:rPr lang="en-US" altLang="zh-CN" sz="1500" b="1" i="1">
                    <a:solidFill>
                      <a:srgbClr val="000000"/>
                    </a:solidFill>
                    <a:latin typeface="Times New Roman" pitchFamily="18" charset="0"/>
                  </a:rPr>
                  <a:t>Q</a:t>
                </a:r>
                <a:r>
                  <a:rPr lang="en-US" altLang="zh-CN" sz="1500" b="1" baseline="-25000">
                    <a:solidFill>
                      <a:srgbClr val="000000"/>
                    </a:solidFill>
                    <a:latin typeface="Times New Roman" pitchFamily="18" charset="0"/>
                  </a:rPr>
                  <a:t>1</a:t>
                </a:r>
                <a:r>
                  <a:rPr lang="en-US" altLang="zh-CN" sz="1500" b="1">
                    <a:solidFill>
                      <a:srgbClr val="000000"/>
                    </a:solidFill>
                    <a:latin typeface="Times New Roman" pitchFamily="18" charset="0"/>
                  </a:rPr>
                  <a:t>-</a:t>
                </a:r>
                <a:r>
                  <a:rPr lang="en-US" altLang="zh-CN" sz="1500" b="1" i="1">
                    <a:solidFill>
                      <a:srgbClr val="000000"/>
                    </a:solidFill>
                    <a:latin typeface="Times New Roman" pitchFamily="18" charset="0"/>
                  </a:rPr>
                  <a:t>Q</a:t>
                </a:r>
                <a:r>
                  <a:rPr lang="en-US" altLang="zh-CN" sz="1500" b="1" baseline="-25000">
                    <a:solidFill>
                      <a:srgbClr val="000000"/>
                    </a:solidFill>
                    <a:latin typeface="Times New Roman" pitchFamily="18" charset="0"/>
                  </a:rPr>
                  <a:t>2</a:t>
                </a:r>
                <a:endParaRPr lang="en-US" altLang="zh-CN" sz="1500" b="1">
                  <a:solidFill>
                    <a:srgbClr val="000000"/>
                  </a:solidFill>
                  <a:latin typeface="Times New Roman" pitchFamily="18" charset="0"/>
                </a:endParaRPr>
              </a:p>
            </p:txBody>
          </p:sp>
          <p:sp>
            <p:nvSpPr>
              <p:cNvPr id="129078" name="Text Box 53"/>
              <p:cNvSpPr txBox="1">
                <a:spLocks noChangeArrowheads="1"/>
              </p:cNvSpPr>
              <p:nvPr/>
            </p:nvSpPr>
            <p:spPr bwMode="auto">
              <a:xfrm>
                <a:off x="2345" y="2923"/>
                <a:ext cx="271" cy="336"/>
              </a:xfrm>
              <a:prstGeom prst="rect">
                <a:avLst/>
              </a:prstGeom>
              <a:noFill/>
              <a:ln w="9525">
                <a:noFill/>
                <a:miter lim="800000"/>
                <a:headEnd/>
                <a:tailEnd/>
              </a:ln>
            </p:spPr>
            <p:txBody>
              <a:bodyPr wrap="none">
                <a:spAutoFit/>
              </a:bodyPr>
              <a:lstStyle/>
              <a:p>
                <a:r>
                  <a:rPr lang="en-US" altLang="zh-CN" sz="1500" b="1" i="1">
                    <a:solidFill>
                      <a:srgbClr val="000000"/>
                    </a:solidFill>
                    <a:latin typeface="Times New Roman" pitchFamily="18" charset="0"/>
                  </a:rPr>
                  <a:t>W</a:t>
                </a:r>
                <a:endParaRPr lang="en-US" altLang="zh-CN" sz="1500" b="1" baseline="-25000">
                  <a:solidFill>
                    <a:srgbClr val="000000"/>
                  </a:solidFill>
                  <a:latin typeface="Times New Roman" pitchFamily="18" charset="0"/>
                </a:endParaRPr>
              </a:p>
            </p:txBody>
          </p:sp>
          <p:sp>
            <p:nvSpPr>
              <p:cNvPr id="124" name="AutoShape 54"/>
              <p:cNvSpPr>
                <a:spLocks noChangeArrowheads="1"/>
              </p:cNvSpPr>
              <p:nvPr/>
            </p:nvSpPr>
            <p:spPr bwMode="auto">
              <a:xfrm>
                <a:off x="2029" y="2949"/>
                <a:ext cx="368" cy="191"/>
              </a:xfrm>
              <a:prstGeom prst="rightArrow">
                <a:avLst>
                  <a:gd name="adj1" fmla="val 54369"/>
                  <a:gd name="adj2" fmla="val 71926"/>
                </a:avLst>
              </a:prstGeom>
              <a:solidFill>
                <a:schemeClr val="accent6">
                  <a:lumMod val="75000"/>
                </a:schemeClr>
              </a:solidFill>
              <a:ln w="9525">
                <a:solidFill>
                  <a:srgbClr val="00B0F0"/>
                </a:solidFill>
                <a:miter lim="800000"/>
                <a:headEnd/>
                <a:tailEnd/>
              </a:ln>
            </p:spPr>
            <p:txBody>
              <a:bodyPr wrap="none" anchor="ctr"/>
              <a:lstStyle/>
              <a:p>
                <a:pPr fontAlgn="auto">
                  <a:spcBef>
                    <a:spcPts val="0"/>
                  </a:spcBef>
                  <a:spcAft>
                    <a:spcPts val="0"/>
                  </a:spcAft>
                  <a:defRPr/>
                </a:pPr>
                <a:endParaRPr lang="zh-CN" altLang="en-US">
                  <a:solidFill>
                    <a:prstClr val="black"/>
                  </a:solidFill>
                  <a:latin typeface="+mn-lt"/>
                  <a:ea typeface="+mn-ea"/>
                </a:endParaRPr>
              </a:p>
            </p:txBody>
          </p:sp>
          <p:sp>
            <p:nvSpPr>
              <p:cNvPr id="125" name="Rectangle 55" descr="大纸屑"/>
              <p:cNvSpPr>
                <a:spLocks noChangeArrowheads="1"/>
              </p:cNvSpPr>
              <p:nvPr/>
            </p:nvSpPr>
            <p:spPr bwMode="auto">
              <a:xfrm>
                <a:off x="1798" y="2856"/>
                <a:ext cx="128" cy="252"/>
              </a:xfrm>
              <a:prstGeom prst="rect">
                <a:avLst/>
              </a:prstGeom>
              <a:solidFill>
                <a:schemeClr val="accent6">
                  <a:lumMod val="60000"/>
                  <a:lumOff val="40000"/>
                </a:schemeClr>
              </a:solidFill>
              <a:ln>
                <a:noFill/>
              </a:ln>
              <a:extLst/>
            </p:spPr>
            <p:txBody>
              <a:bodyPr wrap="none" anchor="ctr"/>
              <a:lstStyle/>
              <a:p>
                <a:pPr fontAlgn="auto">
                  <a:spcBef>
                    <a:spcPts val="0"/>
                  </a:spcBef>
                  <a:spcAft>
                    <a:spcPts val="0"/>
                  </a:spcAft>
                  <a:defRPr/>
                </a:pPr>
                <a:endParaRPr lang="zh-CN" altLang="en-US">
                  <a:solidFill>
                    <a:prstClr val="black"/>
                  </a:solidFill>
                  <a:latin typeface="+mn-lt"/>
                  <a:ea typeface="+mn-ea"/>
                </a:endParaRPr>
              </a:p>
            </p:txBody>
          </p:sp>
          <p:sp>
            <p:nvSpPr>
              <p:cNvPr id="127" name="Rectangle 57" descr="大纸屑"/>
              <p:cNvSpPr>
                <a:spLocks noChangeArrowheads="1"/>
              </p:cNvSpPr>
              <p:nvPr/>
            </p:nvSpPr>
            <p:spPr bwMode="auto">
              <a:xfrm>
                <a:off x="1874" y="2987"/>
                <a:ext cx="226" cy="120"/>
              </a:xfrm>
              <a:prstGeom prst="rect">
                <a:avLst/>
              </a:prstGeom>
              <a:solidFill>
                <a:schemeClr val="accent6">
                  <a:lumMod val="60000"/>
                  <a:lumOff val="40000"/>
                </a:schemeClr>
              </a:solidFill>
              <a:ln>
                <a:noFill/>
              </a:ln>
              <a:extLst/>
            </p:spPr>
            <p:txBody>
              <a:bodyPr wrap="none" anchor="ctr"/>
              <a:lstStyle/>
              <a:p>
                <a:pPr fontAlgn="auto">
                  <a:spcBef>
                    <a:spcPts val="0"/>
                  </a:spcBef>
                  <a:spcAft>
                    <a:spcPts val="0"/>
                  </a:spcAft>
                  <a:defRPr/>
                </a:pPr>
                <a:endParaRPr lang="zh-CN" altLang="en-US">
                  <a:solidFill>
                    <a:prstClr val="black"/>
                  </a:solidFill>
                  <a:latin typeface="+mn-lt"/>
                  <a:ea typeface="+mn-ea"/>
                </a:endParaRPr>
              </a:p>
            </p:txBody>
          </p:sp>
          <p:sp>
            <p:nvSpPr>
              <p:cNvPr id="128" name="AutoShape 58"/>
              <p:cNvSpPr>
                <a:spLocks noChangeArrowheads="1"/>
              </p:cNvSpPr>
              <p:nvPr/>
            </p:nvSpPr>
            <p:spPr bwMode="auto">
              <a:xfrm>
                <a:off x="1749" y="2549"/>
                <a:ext cx="205" cy="395"/>
              </a:xfrm>
              <a:prstGeom prst="downArrow">
                <a:avLst>
                  <a:gd name="adj1" fmla="val 56176"/>
                  <a:gd name="adj2" fmla="val 42065"/>
                </a:avLst>
              </a:prstGeom>
              <a:solidFill>
                <a:schemeClr val="accent6">
                  <a:lumMod val="75000"/>
                </a:schemeClr>
              </a:solidFill>
              <a:ln w="12700">
                <a:solidFill>
                  <a:srgbClr val="0070C0"/>
                </a:solidFill>
                <a:miter lim="800000"/>
                <a:headEnd/>
                <a:tailEnd/>
              </a:ln>
            </p:spPr>
            <p:txBody>
              <a:bodyPr wrap="none" anchor="ctr"/>
              <a:lstStyle/>
              <a:p>
                <a:pPr fontAlgn="auto">
                  <a:spcBef>
                    <a:spcPts val="0"/>
                  </a:spcBef>
                  <a:spcAft>
                    <a:spcPts val="0"/>
                  </a:spcAft>
                  <a:defRPr/>
                </a:pPr>
                <a:endParaRPr lang="zh-CN" altLang="en-US">
                  <a:solidFill>
                    <a:prstClr val="black"/>
                  </a:solidFill>
                  <a:latin typeface="+mn-lt"/>
                  <a:ea typeface="+mn-ea"/>
                </a:endParaRPr>
              </a:p>
            </p:txBody>
          </p:sp>
        </p:grpSp>
        <p:sp>
          <p:nvSpPr>
            <p:cNvPr id="129074" name="Rectangle 45"/>
            <p:cNvSpPr>
              <a:spLocks noChangeArrowheads="1"/>
            </p:cNvSpPr>
            <p:nvPr/>
          </p:nvSpPr>
          <p:spPr bwMode="auto">
            <a:xfrm>
              <a:off x="5591275" y="3863664"/>
              <a:ext cx="1527175" cy="533765"/>
            </a:xfrm>
            <a:prstGeom prst="rect">
              <a:avLst/>
            </a:prstGeom>
            <a:solidFill>
              <a:srgbClr val="FFFFFF"/>
            </a:solidFill>
            <a:ln w="19050">
              <a:solidFill>
                <a:srgbClr val="0070C0"/>
              </a:solidFill>
              <a:miter lim="800000"/>
              <a:headEnd/>
              <a:tailEnd/>
            </a:ln>
          </p:spPr>
          <p:txBody>
            <a:bodyPr lIns="92075" tIns="46038" rIns="92075" bIns="46038">
              <a:spAutoFit/>
            </a:bodyPr>
            <a:lstStyle/>
            <a:p>
              <a:pPr algn="ctr" eaLnBrk="0" hangingPunct="0"/>
              <a:r>
                <a:rPr kumimoji="1" lang="zh-CN" altLang="en-US" sz="1500" b="1">
                  <a:solidFill>
                    <a:srgbClr val="000000"/>
                  </a:solidFill>
                  <a:latin typeface="Times New Roman" pitchFamily="18" charset="0"/>
                  <a:ea typeface="华文中宋"/>
                  <a:cs typeface="华文中宋"/>
                </a:rPr>
                <a:t>高温热源</a:t>
              </a:r>
              <a:r>
                <a:rPr kumimoji="1" lang="en-US" altLang="zh-CN" sz="1500" b="1" i="1">
                  <a:solidFill>
                    <a:srgbClr val="000000"/>
                  </a:solidFill>
                  <a:latin typeface="Times New Roman" pitchFamily="18" charset="0"/>
                  <a:ea typeface="华文中宋"/>
                  <a:cs typeface="华文中宋"/>
                </a:rPr>
                <a:t>T</a:t>
              </a:r>
              <a:r>
                <a:rPr kumimoji="1" lang="en-US" altLang="zh-CN" sz="1500" b="1" baseline="-25000">
                  <a:solidFill>
                    <a:srgbClr val="000000"/>
                  </a:solidFill>
                  <a:latin typeface="Times New Roman" pitchFamily="18" charset="0"/>
                  <a:ea typeface="华文中宋"/>
                  <a:cs typeface="华文中宋"/>
                </a:rPr>
                <a:t>1</a:t>
              </a:r>
            </a:p>
          </p:txBody>
        </p:sp>
      </p:grpSp>
      <p:grpSp>
        <p:nvGrpSpPr>
          <p:cNvPr id="6" name="Group 48"/>
          <p:cNvGrpSpPr>
            <a:grpSpLocks/>
          </p:cNvGrpSpPr>
          <p:nvPr/>
        </p:nvGrpSpPr>
        <p:grpSpPr bwMode="auto">
          <a:xfrm>
            <a:off x="3870325" y="1512888"/>
            <a:ext cx="1666875" cy="933450"/>
            <a:chOff x="1458" y="2601"/>
            <a:chExt cx="1267" cy="968"/>
          </a:xfrm>
        </p:grpSpPr>
        <p:sp>
          <p:nvSpPr>
            <p:cNvPr id="130" name="Oval 49"/>
            <p:cNvSpPr>
              <a:spLocks noChangeArrowheads="1"/>
            </p:cNvSpPr>
            <p:nvPr/>
          </p:nvSpPr>
          <p:spPr bwMode="auto">
            <a:xfrm>
              <a:off x="1643" y="2825"/>
              <a:ext cx="467" cy="469"/>
            </a:xfrm>
            <a:prstGeom prst="ellipse">
              <a:avLst/>
            </a:prstGeom>
            <a:solidFill>
              <a:schemeClr val="accent6">
                <a:lumMod val="20000"/>
                <a:lumOff val="80000"/>
              </a:schemeClr>
            </a:solidFill>
            <a:ln w="19050">
              <a:solidFill>
                <a:srgbClr val="00B0F0"/>
              </a:solidFill>
              <a:round/>
              <a:headEnd/>
              <a:tailEnd/>
            </a:ln>
          </p:spPr>
          <p:txBody>
            <a:bodyPr wrap="none" anchor="ctr"/>
            <a:lstStyle/>
            <a:p>
              <a:pPr fontAlgn="auto">
                <a:spcBef>
                  <a:spcPts val="0"/>
                </a:spcBef>
                <a:spcAft>
                  <a:spcPts val="0"/>
                </a:spcAft>
                <a:defRPr/>
              </a:pPr>
              <a:endParaRPr lang="zh-CN" altLang="en-US">
                <a:solidFill>
                  <a:prstClr val="black"/>
                </a:solidFill>
                <a:latin typeface="+mn-lt"/>
                <a:ea typeface="+mn-ea"/>
              </a:endParaRPr>
            </a:p>
          </p:txBody>
        </p:sp>
        <p:sp>
          <p:nvSpPr>
            <p:cNvPr id="129064" name="Text Box 51"/>
            <p:cNvSpPr txBox="1">
              <a:spLocks noChangeArrowheads="1"/>
            </p:cNvSpPr>
            <p:nvPr/>
          </p:nvSpPr>
          <p:spPr bwMode="auto">
            <a:xfrm>
              <a:off x="1947" y="3234"/>
              <a:ext cx="295" cy="335"/>
            </a:xfrm>
            <a:prstGeom prst="rect">
              <a:avLst/>
            </a:prstGeom>
            <a:noFill/>
            <a:ln w="9525">
              <a:noFill/>
              <a:miter lim="800000"/>
              <a:headEnd/>
              <a:tailEnd/>
            </a:ln>
          </p:spPr>
          <p:txBody>
            <a:bodyPr wrap="none">
              <a:spAutoFit/>
            </a:bodyPr>
            <a:lstStyle/>
            <a:p>
              <a:r>
                <a:rPr lang="en-US" altLang="zh-CN" sz="1500" b="1" i="1">
                  <a:solidFill>
                    <a:srgbClr val="000000"/>
                  </a:solidFill>
                  <a:latin typeface="Times New Roman" pitchFamily="18" charset="0"/>
                </a:rPr>
                <a:t>Q</a:t>
              </a:r>
              <a:r>
                <a:rPr lang="en-US" altLang="zh-CN" sz="1500" b="1" baseline="-25000">
                  <a:solidFill>
                    <a:srgbClr val="000000"/>
                  </a:solidFill>
                  <a:latin typeface="Times New Roman" pitchFamily="18" charset="0"/>
                </a:rPr>
                <a:t>2</a:t>
              </a:r>
              <a:endParaRPr lang="en-US" altLang="zh-CN" sz="1500" b="1">
                <a:solidFill>
                  <a:srgbClr val="000000"/>
                </a:solidFill>
                <a:latin typeface="Times New Roman" pitchFamily="18" charset="0"/>
              </a:endParaRPr>
            </a:p>
          </p:txBody>
        </p:sp>
        <p:sp>
          <p:nvSpPr>
            <p:cNvPr id="129065" name="Text Box 52"/>
            <p:cNvSpPr txBox="1">
              <a:spLocks noChangeArrowheads="1"/>
            </p:cNvSpPr>
            <p:nvPr/>
          </p:nvSpPr>
          <p:spPr bwMode="auto">
            <a:xfrm>
              <a:off x="1940" y="2642"/>
              <a:ext cx="785" cy="335"/>
            </a:xfrm>
            <a:prstGeom prst="rect">
              <a:avLst/>
            </a:prstGeom>
            <a:noFill/>
            <a:ln w="9525">
              <a:noFill/>
              <a:miter lim="800000"/>
              <a:headEnd/>
              <a:tailEnd/>
            </a:ln>
          </p:spPr>
          <p:txBody>
            <a:bodyPr wrap="none">
              <a:spAutoFit/>
            </a:bodyPr>
            <a:lstStyle/>
            <a:p>
              <a:r>
                <a:rPr lang="en-US" altLang="zh-CN" sz="1500" b="1" i="1">
                  <a:solidFill>
                    <a:srgbClr val="000000"/>
                  </a:solidFill>
                  <a:latin typeface="Times New Roman" pitchFamily="18" charset="0"/>
                </a:rPr>
                <a:t>Q</a:t>
              </a:r>
              <a:r>
                <a:rPr lang="en-US" altLang="zh-CN" sz="1500" b="1" baseline="-25000">
                  <a:solidFill>
                    <a:srgbClr val="000000"/>
                  </a:solidFill>
                  <a:latin typeface="Times New Roman" pitchFamily="18" charset="0"/>
                </a:rPr>
                <a:t>1</a:t>
              </a:r>
              <a:r>
                <a:rPr lang="zh-CN" altLang="en-US" sz="1500" b="1">
                  <a:solidFill>
                    <a:srgbClr val="000000"/>
                  </a:solidFill>
                  <a:latin typeface="Times New Roman" pitchFamily="18" charset="0"/>
                </a:rPr>
                <a:t>＝</a:t>
              </a:r>
              <a:r>
                <a:rPr lang="en-US" altLang="zh-CN" sz="1500" b="1" i="1">
                  <a:solidFill>
                    <a:srgbClr val="000000"/>
                  </a:solidFill>
                  <a:latin typeface="Times New Roman" pitchFamily="18" charset="0"/>
                </a:rPr>
                <a:t>Q</a:t>
              </a:r>
              <a:r>
                <a:rPr lang="en-US" altLang="zh-CN" sz="1500" b="1">
                  <a:solidFill>
                    <a:srgbClr val="000000"/>
                  </a:solidFill>
                  <a:latin typeface="Times New Roman" pitchFamily="18" charset="0"/>
                </a:rPr>
                <a:t>+</a:t>
              </a:r>
              <a:r>
                <a:rPr lang="en-US" altLang="zh-CN" sz="1500" b="1" i="1">
                  <a:solidFill>
                    <a:srgbClr val="000000"/>
                  </a:solidFill>
                  <a:latin typeface="Times New Roman" pitchFamily="18" charset="0"/>
                </a:rPr>
                <a:t>Q</a:t>
              </a:r>
              <a:r>
                <a:rPr lang="en-US" altLang="zh-CN" sz="1500" b="1" baseline="-25000">
                  <a:solidFill>
                    <a:srgbClr val="000000"/>
                  </a:solidFill>
                  <a:latin typeface="Times New Roman" pitchFamily="18" charset="0"/>
                </a:rPr>
                <a:t>2</a:t>
              </a:r>
            </a:p>
          </p:txBody>
        </p:sp>
        <p:sp>
          <p:nvSpPr>
            <p:cNvPr id="134" name="Rectangle 55" descr="大纸屑"/>
            <p:cNvSpPr>
              <a:spLocks noChangeArrowheads="1"/>
            </p:cNvSpPr>
            <p:nvPr/>
          </p:nvSpPr>
          <p:spPr bwMode="auto">
            <a:xfrm>
              <a:off x="1798" y="2850"/>
              <a:ext cx="182" cy="227"/>
            </a:xfrm>
            <a:prstGeom prst="rect">
              <a:avLst/>
            </a:prstGeom>
            <a:solidFill>
              <a:schemeClr val="accent6">
                <a:lumMod val="60000"/>
                <a:lumOff val="40000"/>
              </a:schemeClr>
            </a:solidFill>
            <a:ln>
              <a:noFill/>
            </a:ln>
            <a:extLst/>
          </p:spPr>
          <p:txBody>
            <a:bodyPr wrap="none" anchor="ctr"/>
            <a:lstStyle/>
            <a:p>
              <a:pPr fontAlgn="auto">
                <a:spcBef>
                  <a:spcPts val="0"/>
                </a:spcBef>
                <a:spcAft>
                  <a:spcPts val="0"/>
                </a:spcAft>
                <a:defRPr/>
              </a:pPr>
              <a:endParaRPr lang="zh-CN" altLang="en-US">
                <a:solidFill>
                  <a:prstClr val="black"/>
                </a:solidFill>
                <a:latin typeface="+mn-lt"/>
                <a:ea typeface="+mn-ea"/>
              </a:endParaRPr>
            </a:p>
          </p:txBody>
        </p:sp>
        <p:sp>
          <p:nvSpPr>
            <p:cNvPr id="135" name="Rectangle 56" descr="大纸屑"/>
            <p:cNvSpPr>
              <a:spLocks noChangeArrowheads="1"/>
            </p:cNvSpPr>
            <p:nvPr/>
          </p:nvSpPr>
          <p:spPr bwMode="auto">
            <a:xfrm>
              <a:off x="1882" y="3022"/>
              <a:ext cx="100" cy="229"/>
            </a:xfrm>
            <a:prstGeom prst="rect">
              <a:avLst/>
            </a:prstGeom>
            <a:solidFill>
              <a:schemeClr val="accent6">
                <a:lumMod val="60000"/>
                <a:lumOff val="40000"/>
              </a:schemeClr>
            </a:solidFill>
            <a:ln>
              <a:noFill/>
            </a:ln>
            <a:extLst/>
          </p:spPr>
          <p:txBody>
            <a:bodyPr wrap="none" anchor="ctr"/>
            <a:lstStyle/>
            <a:p>
              <a:pPr fontAlgn="auto">
                <a:spcBef>
                  <a:spcPts val="0"/>
                </a:spcBef>
                <a:spcAft>
                  <a:spcPts val="0"/>
                </a:spcAft>
                <a:defRPr/>
              </a:pPr>
              <a:endParaRPr lang="zh-CN" altLang="en-US">
                <a:solidFill>
                  <a:prstClr val="black"/>
                </a:solidFill>
                <a:latin typeface="+mn-lt"/>
                <a:ea typeface="+mn-ea"/>
              </a:endParaRPr>
            </a:p>
          </p:txBody>
        </p:sp>
        <p:sp>
          <p:nvSpPr>
            <p:cNvPr id="136" name="Rectangle 57" descr="大纸屑"/>
            <p:cNvSpPr>
              <a:spLocks noChangeArrowheads="1"/>
            </p:cNvSpPr>
            <p:nvPr/>
          </p:nvSpPr>
          <p:spPr bwMode="auto">
            <a:xfrm>
              <a:off x="1653" y="3008"/>
              <a:ext cx="227" cy="94"/>
            </a:xfrm>
            <a:prstGeom prst="rect">
              <a:avLst/>
            </a:prstGeom>
            <a:solidFill>
              <a:schemeClr val="accent6">
                <a:lumMod val="60000"/>
                <a:lumOff val="40000"/>
              </a:schemeClr>
            </a:solidFill>
            <a:ln>
              <a:noFill/>
            </a:ln>
            <a:extLst/>
          </p:spPr>
          <p:txBody>
            <a:bodyPr wrap="none" anchor="ctr"/>
            <a:lstStyle/>
            <a:p>
              <a:pPr fontAlgn="auto">
                <a:spcBef>
                  <a:spcPts val="0"/>
                </a:spcBef>
                <a:spcAft>
                  <a:spcPts val="0"/>
                </a:spcAft>
                <a:defRPr/>
              </a:pPr>
              <a:endParaRPr lang="zh-CN" altLang="en-US">
                <a:solidFill>
                  <a:prstClr val="black"/>
                </a:solidFill>
                <a:latin typeface="+mn-lt"/>
                <a:ea typeface="+mn-ea"/>
              </a:endParaRPr>
            </a:p>
          </p:txBody>
        </p:sp>
        <p:sp>
          <p:nvSpPr>
            <p:cNvPr id="129069" name="AutoShape 58"/>
            <p:cNvSpPr>
              <a:spLocks noChangeArrowheads="1"/>
            </p:cNvSpPr>
            <p:nvPr/>
          </p:nvSpPr>
          <p:spPr bwMode="auto">
            <a:xfrm flipV="1">
              <a:off x="1749" y="2601"/>
              <a:ext cx="274" cy="341"/>
            </a:xfrm>
            <a:prstGeom prst="downArrow">
              <a:avLst>
                <a:gd name="adj1" fmla="val 69176"/>
                <a:gd name="adj2" fmla="val 42060"/>
              </a:avLst>
            </a:prstGeom>
            <a:solidFill>
              <a:srgbClr val="E46C0A"/>
            </a:solidFill>
            <a:ln w="12700">
              <a:solidFill>
                <a:srgbClr val="0070C0"/>
              </a:solidFill>
              <a:miter lim="800000"/>
              <a:headEnd/>
              <a:tailEnd/>
            </a:ln>
          </p:spPr>
          <p:txBody>
            <a:bodyPr rot="10800000" wrap="none" anchor="ctr"/>
            <a:lstStyle/>
            <a:p>
              <a:endParaRPr lang="zh-CN" altLang="en-US">
                <a:solidFill>
                  <a:srgbClr val="000000"/>
                </a:solidFill>
                <a:latin typeface="Calibri" pitchFamily="34" charset="0"/>
              </a:endParaRPr>
            </a:p>
          </p:txBody>
        </p:sp>
        <p:sp>
          <p:nvSpPr>
            <p:cNvPr id="138" name="AutoShape 54"/>
            <p:cNvSpPr>
              <a:spLocks noChangeArrowheads="1"/>
            </p:cNvSpPr>
            <p:nvPr/>
          </p:nvSpPr>
          <p:spPr bwMode="auto">
            <a:xfrm>
              <a:off x="1458" y="2957"/>
              <a:ext cx="368" cy="173"/>
            </a:xfrm>
            <a:prstGeom prst="rightArrow">
              <a:avLst>
                <a:gd name="adj1" fmla="val 54369"/>
                <a:gd name="adj2" fmla="val 71926"/>
              </a:avLst>
            </a:prstGeom>
            <a:solidFill>
              <a:schemeClr val="accent6">
                <a:lumMod val="75000"/>
              </a:schemeClr>
            </a:solidFill>
            <a:ln w="9525">
              <a:solidFill>
                <a:srgbClr val="00B0F0"/>
              </a:solidFill>
              <a:miter lim="800000"/>
              <a:headEnd/>
              <a:tailEnd/>
            </a:ln>
          </p:spPr>
          <p:txBody>
            <a:bodyPr wrap="none" anchor="ctr"/>
            <a:lstStyle/>
            <a:p>
              <a:pPr fontAlgn="auto">
                <a:spcBef>
                  <a:spcPts val="0"/>
                </a:spcBef>
                <a:spcAft>
                  <a:spcPts val="0"/>
                </a:spcAft>
                <a:defRPr/>
              </a:pPr>
              <a:endParaRPr lang="zh-CN" altLang="en-US">
                <a:solidFill>
                  <a:prstClr val="black"/>
                </a:solidFill>
                <a:latin typeface="+mn-lt"/>
                <a:ea typeface="+mn-ea"/>
              </a:endParaRPr>
            </a:p>
          </p:txBody>
        </p:sp>
        <p:sp>
          <p:nvSpPr>
            <p:cNvPr id="129071" name="AutoShape 50"/>
            <p:cNvSpPr>
              <a:spLocks noChangeArrowheads="1"/>
            </p:cNvSpPr>
            <p:nvPr/>
          </p:nvSpPr>
          <p:spPr bwMode="auto">
            <a:xfrm flipV="1">
              <a:off x="1839" y="3162"/>
              <a:ext cx="173" cy="321"/>
            </a:xfrm>
            <a:prstGeom prst="downArrow">
              <a:avLst>
                <a:gd name="adj1" fmla="val 49194"/>
                <a:gd name="adj2" fmla="val 49291"/>
              </a:avLst>
            </a:prstGeom>
            <a:solidFill>
              <a:srgbClr val="E46C0A"/>
            </a:solidFill>
            <a:ln w="12700">
              <a:solidFill>
                <a:srgbClr val="00B0F0"/>
              </a:solidFill>
              <a:miter lim="800000"/>
              <a:headEnd/>
              <a:tailEnd/>
            </a:ln>
          </p:spPr>
          <p:txBody>
            <a:bodyPr rot="10800000" wrap="none" anchor="ctr"/>
            <a:lstStyle/>
            <a:p>
              <a:endParaRPr lang="zh-CN" altLang="en-US">
                <a:solidFill>
                  <a:srgbClr val="000000"/>
                </a:solidFill>
                <a:latin typeface="Calibri" pitchFamily="34" charset="0"/>
              </a:endParaRPr>
            </a:p>
          </p:txBody>
        </p:sp>
      </p:grpSp>
      <p:grpSp>
        <p:nvGrpSpPr>
          <p:cNvPr id="7" name="组合 9"/>
          <p:cNvGrpSpPr>
            <a:grpSpLocks/>
          </p:cNvGrpSpPr>
          <p:nvPr/>
        </p:nvGrpSpPr>
        <p:grpSpPr bwMode="auto">
          <a:xfrm>
            <a:off x="6526213" y="1347788"/>
            <a:ext cx="1827212" cy="1382712"/>
            <a:chOff x="5517691" y="954203"/>
            <a:chExt cx="2205250" cy="2278430"/>
          </a:xfrm>
        </p:grpSpPr>
        <p:sp>
          <p:nvSpPr>
            <p:cNvPr id="129054" name="Rectangle 47"/>
            <p:cNvSpPr>
              <a:spLocks noChangeArrowheads="1"/>
            </p:cNvSpPr>
            <p:nvPr/>
          </p:nvSpPr>
          <p:spPr bwMode="auto">
            <a:xfrm>
              <a:off x="5517691" y="2698868"/>
              <a:ext cx="1543201" cy="533765"/>
            </a:xfrm>
            <a:prstGeom prst="rect">
              <a:avLst/>
            </a:prstGeom>
            <a:noFill/>
            <a:ln w="19050">
              <a:solidFill>
                <a:srgbClr val="0070C0"/>
              </a:solidFill>
              <a:miter lim="800000"/>
              <a:headEnd/>
              <a:tailEnd/>
            </a:ln>
          </p:spPr>
          <p:txBody>
            <a:bodyPr lIns="92075" tIns="46038" rIns="92075" bIns="46038">
              <a:spAutoFit/>
            </a:bodyPr>
            <a:lstStyle/>
            <a:p>
              <a:pPr algn="ctr" eaLnBrk="0" hangingPunct="0"/>
              <a:r>
                <a:rPr kumimoji="1" lang="zh-CN" altLang="en-US" sz="1500" b="1">
                  <a:solidFill>
                    <a:srgbClr val="000000"/>
                  </a:solidFill>
                  <a:latin typeface="Times New Roman" pitchFamily="18" charset="0"/>
                  <a:ea typeface="华文中宋"/>
                  <a:cs typeface="华文中宋"/>
                </a:rPr>
                <a:t>低温热源</a:t>
              </a:r>
              <a:r>
                <a:rPr kumimoji="1" lang="en-US" altLang="zh-CN" sz="1500" b="1" i="1">
                  <a:solidFill>
                    <a:srgbClr val="000000"/>
                  </a:solidFill>
                  <a:latin typeface="Times New Roman" pitchFamily="18" charset="0"/>
                  <a:ea typeface="华文中宋"/>
                  <a:cs typeface="华文中宋"/>
                </a:rPr>
                <a:t>T</a:t>
              </a:r>
              <a:r>
                <a:rPr kumimoji="1" lang="en-US" altLang="zh-CN" sz="1500" b="1" baseline="-25000">
                  <a:solidFill>
                    <a:srgbClr val="000000"/>
                  </a:solidFill>
                  <a:latin typeface="Times New Roman" pitchFamily="18" charset="0"/>
                  <a:ea typeface="华文中宋"/>
                  <a:cs typeface="华文中宋"/>
                </a:rPr>
                <a:t>2</a:t>
              </a:r>
            </a:p>
          </p:txBody>
        </p:sp>
        <p:grpSp>
          <p:nvGrpSpPr>
            <p:cNvPr id="129055" name="Group 48"/>
            <p:cNvGrpSpPr>
              <a:grpSpLocks/>
            </p:cNvGrpSpPr>
            <p:nvPr/>
          </p:nvGrpSpPr>
          <p:grpSpPr bwMode="auto">
            <a:xfrm>
              <a:off x="6021141" y="1311391"/>
              <a:ext cx="1701800" cy="1538288"/>
              <a:chOff x="1619" y="2601"/>
              <a:chExt cx="1072" cy="969"/>
            </a:xfrm>
          </p:grpSpPr>
          <p:sp>
            <p:nvSpPr>
              <p:cNvPr id="142" name="Oval 49"/>
              <p:cNvSpPr>
                <a:spLocks noChangeArrowheads="1"/>
              </p:cNvSpPr>
              <p:nvPr/>
            </p:nvSpPr>
            <p:spPr bwMode="auto">
              <a:xfrm>
                <a:off x="1619" y="2827"/>
                <a:ext cx="467" cy="465"/>
              </a:xfrm>
              <a:prstGeom prst="ellipse">
                <a:avLst/>
              </a:prstGeom>
              <a:solidFill>
                <a:schemeClr val="accent6">
                  <a:lumMod val="20000"/>
                  <a:lumOff val="80000"/>
                </a:schemeClr>
              </a:solidFill>
              <a:ln w="19050">
                <a:solidFill>
                  <a:srgbClr val="00B0F0"/>
                </a:solidFill>
                <a:round/>
                <a:headEnd/>
                <a:tailEnd/>
              </a:ln>
            </p:spPr>
            <p:txBody>
              <a:bodyPr wrap="none" anchor="ctr"/>
              <a:lstStyle/>
              <a:p>
                <a:pPr fontAlgn="auto">
                  <a:spcBef>
                    <a:spcPts val="0"/>
                  </a:spcBef>
                  <a:spcAft>
                    <a:spcPts val="0"/>
                  </a:spcAft>
                  <a:defRPr/>
                </a:pPr>
                <a:endParaRPr lang="zh-CN" altLang="en-US">
                  <a:solidFill>
                    <a:prstClr val="black"/>
                  </a:solidFill>
                  <a:latin typeface="+mn-lt"/>
                  <a:ea typeface="+mn-ea"/>
                </a:endParaRPr>
              </a:p>
            </p:txBody>
          </p:sp>
          <p:sp>
            <p:nvSpPr>
              <p:cNvPr id="129058" name="Text Box 51"/>
              <p:cNvSpPr txBox="1">
                <a:spLocks noChangeArrowheads="1"/>
              </p:cNvSpPr>
              <p:nvPr/>
            </p:nvSpPr>
            <p:spPr bwMode="auto">
              <a:xfrm>
                <a:off x="1947" y="3234"/>
                <a:ext cx="295" cy="336"/>
              </a:xfrm>
              <a:prstGeom prst="rect">
                <a:avLst/>
              </a:prstGeom>
              <a:noFill/>
              <a:ln w="9525">
                <a:noFill/>
                <a:miter lim="800000"/>
                <a:headEnd/>
                <a:tailEnd/>
              </a:ln>
            </p:spPr>
            <p:txBody>
              <a:bodyPr wrap="none">
                <a:spAutoFit/>
              </a:bodyPr>
              <a:lstStyle/>
              <a:p>
                <a:r>
                  <a:rPr lang="en-US" altLang="zh-CN" sz="1500" b="1" i="1">
                    <a:solidFill>
                      <a:srgbClr val="000000"/>
                    </a:solidFill>
                    <a:latin typeface="Times New Roman" pitchFamily="18" charset="0"/>
                  </a:rPr>
                  <a:t>Q</a:t>
                </a:r>
                <a:r>
                  <a:rPr lang="en-US" altLang="zh-CN" sz="1500" b="1" baseline="-25000">
                    <a:solidFill>
                      <a:srgbClr val="000000"/>
                    </a:solidFill>
                    <a:latin typeface="Times New Roman" pitchFamily="18" charset="0"/>
                  </a:rPr>
                  <a:t>2</a:t>
                </a:r>
                <a:endParaRPr lang="en-US" altLang="zh-CN" sz="1500" b="1">
                  <a:solidFill>
                    <a:srgbClr val="000000"/>
                  </a:solidFill>
                  <a:latin typeface="Times New Roman" pitchFamily="18" charset="0"/>
                </a:endParaRPr>
              </a:p>
            </p:txBody>
          </p:sp>
          <p:sp>
            <p:nvSpPr>
              <p:cNvPr id="129059" name="Text Box 52"/>
              <p:cNvSpPr txBox="1">
                <a:spLocks noChangeArrowheads="1"/>
              </p:cNvSpPr>
              <p:nvPr/>
            </p:nvSpPr>
            <p:spPr bwMode="auto">
              <a:xfrm>
                <a:off x="1940" y="2642"/>
                <a:ext cx="751" cy="336"/>
              </a:xfrm>
              <a:prstGeom prst="rect">
                <a:avLst/>
              </a:prstGeom>
              <a:noFill/>
              <a:ln w="9525">
                <a:noFill/>
                <a:miter lim="800000"/>
                <a:headEnd/>
                <a:tailEnd/>
              </a:ln>
            </p:spPr>
            <p:txBody>
              <a:bodyPr wrap="none">
                <a:spAutoFit/>
              </a:bodyPr>
              <a:lstStyle/>
              <a:p>
                <a:r>
                  <a:rPr lang="en-US" altLang="zh-CN" sz="1500" b="1" i="1">
                    <a:solidFill>
                      <a:srgbClr val="000000"/>
                    </a:solidFill>
                    <a:latin typeface="Times New Roman" pitchFamily="18" charset="0"/>
                  </a:rPr>
                  <a:t>Q</a:t>
                </a:r>
                <a:r>
                  <a:rPr lang="en-US" altLang="zh-CN" sz="1500" b="1" baseline="-25000">
                    <a:solidFill>
                      <a:srgbClr val="000000"/>
                    </a:solidFill>
                    <a:latin typeface="Times New Roman" pitchFamily="18" charset="0"/>
                  </a:rPr>
                  <a:t>2</a:t>
                </a:r>
                <a:r>
                  <a:rPr lang="zh-CN" altLang="en-US" sz="1500" b="1">
                    <a:solidFill>
                      <a:srgbClr val="000000"/>
                    </a:solidFill>
                    <a:latin typeface="Times New Roman" pitchFamily="18" charset="0"/>
                  </a:rPr>
                  <a:t>＝</a:t>
                </a:r>
                <a:r>
                  <a:rPr lang="en-US" altLang="zh-CN" sz="1500" b="1" i="1">
                    <a:solidFill>
                      <a:srgbClr val="000000"/>
                    </a:solidFill>
                    <a:latin typeface="Times New Roman" pitchFamily="18" charset="0"/>
                  </a:rPr>
                  <a:t>Q</a:t>
                </a:r>
                <a:r>
                  <a:rPr lang="en-US" altLang="zh-CN" sz="1500" b="1" baseline="-25000">
                    <a:solidFill>
                      <a:srgbClr val="000000"/>
                    </a:solidFill>
                    <a:latin typeface="Times New Roman" pitchFamily="18" charset="0"/>
                  </a:rPr>
                  <a:t>1</a:t>
                </a:r>
                <a:r>
                  <a:rPr lang="en-US" altLang="zh-CN" sz="1500" b="1">
                    <a:solidFill>
                      <a:srgbClr val="000000"/>
                    </a:solidFill>
                    <a:latin typeface="Times New Roman" pitchFamily="18" charset="0"/>
                  </a:rPr>
                  <a:t>-</a:t>
                </a:r>
                <a:r>
                  <a:rPr lang="en-US" altLang="zh-CN" sz="1500" b="1" i="1">
                    <a:solidFill>
                      <a:srgbClr val="000000"/>
                    </a:solidFill>
                    <a:latin typeface="Times New Roman" pitchFamily="18" charset="0"/>
                  </a:rPr>
                  <a:t>Q</a:t>
                </a:r>
                <a:endParaRPr lang="en-US" altLang="zh-CN" sz="1500" b="1" baseline="-25000">
                  <a:solidFill>
                    <a:srgbClr val="000000"/>
                  </a:solidFill>
                  <a:latin typeface="Times New Roman" pitchFamily="18" charset="0"/>
                </a:endParaRPr>
              </a:p>
            </p:txBody>
          </p:sp>
          <p:sp>
            <p:nvSpPr>
              <p:cNvPr id="147" name="Rectangle 56" descr="大纸屑"/>
              <p:cNvSpPr>
                <a:spLocks noChangeArrowheads="1"/>
              </p:cNvSpPr>
              <p:nvPr/>
            </p:nvSpPr>
            <p:spPr bwMode="auto">
              <a:xfrm>
                <a:off x="1793" y="2852"/>
                <a:ext cx="112" cy="400"/>
              </a:xfrm>
              <a:prstGeom prst="rect">
                <a:avLst/>
              </a:prstGeom>
              <a:solidFill>
                <a:schemeClr val="accent6">
                  <a:lumMod val="60000"/>
                  <a:lumOff val="40000"/>
                </a:schemeClr>
              </a:solidFill>
              <a:ln>
                <a:noFill/>
              </a:ln>
              <a:extLst/>
            </p:spPr>
            <p:txBody>
              <a:bodyPr wrap="none" anchor="ctr"/>
              <a:lstStyle/>
              <a:p>
                <a:pPr fontAlgn="auto">
                  <a:spcBef>
                    <a:spcPts val="0"/>
                  </a:spcBef>
                  <a:spcAft>
                    <a:spcPts val="0"/>
                  </a:spcAft>
                  <a:defRPr/>
                </a:pPr>
                <a:endParaRPr lang="zh-CN" altLang="en-US">
                  <a:solidFill>
                    <a:prstClr val="black"/>
                  </a:solidFill>
                  <a:latin typeface="+mn-lt"/>
                  <a:ea typeface="+mn-ea"/>
                </a:endParaRPr>
              </a:p>
            </p:txBody>
          </p:sp>
          <p:sp>
            <p:nvSpPr>
              <p:cNvPr id="129061" name="AutoShape 58"/>
              <p:cNvSpPr>
                <a:spLocks noChangeArrowheads="1"/>
              </p:cNvSpPr>
              <p:nvPr/>
            </p:nvSpPr>
            <p:spPr bwMode="auto">
              <a:xfrm flipV="1">
                <a:off x="1756" y="2602"/>
                <a:ext cx="186" cy="339"/>
              </a:xfrm>
              <a:prstGeom prst="downArrow">
                <a:avLst>
                  <a:gd name="adj1" fmla="val 56176"/>
                  <a:gd name="adj2" fmla="val 42071"/>
                </a:avLst>
              </a:prstGeom>
              <a:solidFill>
                <a:srgbClr val="E46C0A"/>
              </a:solidFill>
              <a:ln w="12700">
                <a:solidFill>
                  <a:srgbClr val="0070C0"/>
                </a:solidFill>
                <a:miter lim="800000"/>
                <a:headEnd/>
                <a:tailEnd/>
              </a:ln>
            </p:spPr>
            <p:txBody>
              <a:bodyPr rot="10800000" wrap="none" anchor="ctr"/>
              <a:lstStyle/>
              <a:p>
                <a:endParaRPr lang="zh-CN" altLang="en-US">
                  <a:solidFill>
                    <a:srgbClr val="000000"/>
                  </a:solidFill>
                  <a:latin typeface="Calibri" pitchFamily="34" charset="0"/>
                </a:endParaRPr>
              </a:p>
            </p:txBody>
          </p:sp>
          <p:sp>
            <p:nvSpPr>
              <p:cNvPr id="129062" name="AutoShape 50"/>
              <p:cNvSpPr>
                <a:spLocks noChangeArrowheads="1"/>
              </p:cNvSpPr>
              <p:nvPr/>
            </p:nvSpPr>
            <p:spPr bwMode="auto">
              <a:xfrm flipV="1">
                <a:off x="1774" y="3164"/>
                <a:ext cx="174" cy="321"/>
              </a:xfrm>
              <a:prstGeom prst="downArrow">
                <a:avLst>
                  <a:gd name="adj1" fmla="val 60296"/>
                  <a:gd name="adj2" fmla="val 60384"/>
                </a:avLst>
              </a:prstGeom>
              <a:solidFill>
                <a:srgbClr val="E46C0A"/>
              </a:solidFill>
              <a:ln w="12700">
                <a:solidFill>
                  <a:srgbClr val="00B0F0"/>
                </a:solidFill>
                <a:miter lim="800000"/>
                <a:headEnd/>
                <a:tailEnd/>
              </a:ln>
            </p:spPr>
            <p:txBody>
              <a:bodyPr rot="10800000" wrap="none" anchor="ctr"/>
              <a:lstStyle/>
              <a:p>
                <a:endParaRPr lang="zh-CN" altLang="en-US">
                  <a:solidFill>
                    <a:srgbClr val="000000"/>
                  </a:solidFill>
                  <a:latin typeface="Calibri" pitchFamily="34" charset="0"/>
                </a:endParaRPr>
              </a:p>
            </p:txBody>
          </p:sp>
        </p:grpSp>
        <p:sp>
          <p:nvSpPr>
            <p:cNvPr id="129056" name="Rectangle 45"/>
            <p:cNvSpPr>
              <a:spLocks noChangeArrowheads="1"/>
            </p:cNvSpPr>
            <p:nvPr/>
          </p:nvSpPr>
          <p:spPr bwMode="auto">
            <a:xfrm>
              <a:off x="5538332" y="954203"/>
              <a:ext cx="1527326" cy="533765"/>
            </a:xfrm>
            <a:prstGeom prst="rect">
              <a:avLst/>
            </a:prstGeom>
            <a:solidFill>
              <a:srgbClr val="FFFFFF"/>
            </a:solidFill>
            <a:ln w="19050">
              <a:solidFill>
                <a:srgbClr val="0070C0"/>
              </a:solidFill>
              <a:miter lim="800000"/>
              <a:headEnd/>
              <a:tailEnd/>
            </a:ln>
          </p:spPr>
          <p:txBody>
            <a:bodyPr lIns="92075" tIns="46038" rIns="92075" bIns="46038">
              <a:spAutoFit/>
            </a:bodyPr>
            <a:lstStyle/>
            <a:p>
              <a:pPr algn="ctr" eaLnBrk="0" hangingPunct="0"/>
              <a:r>
                <a:rPr kumimoji="1" lang="zh-CN" altLang="en-US" sz="1500" b="1">
                  <a:solidFill>
                    <a:srgbClr val="000000"/>
                  </a:solidFill>
                  <a:latin typeface="Times New Roman" pitchFamily="18" charset="0"/>
                  <a:ea typeface="华文中宋"/>
                  <a:cs typeface="华文中宋"/>
                </a:rPr>
                <a:t>高温热源</a:t>
              </a:r>
              <a:r>
                <a:rPr kumimoji="1" lang="en-US" altLang="zh-CN" sz="1500" b="1" i="1">
                  <a:solidFill>
                    <a:srgbClr val="000000"/>
                  </a:solidFill>
                  <a:latin typeface="Times New Roman" pitchFamily="18" charset="0"/>
                  <a:ea typeface="华文中宋"/>
                  <a:cs typeface="华文中宋"/>
                </a:rPr>
                <a:t>T</a:t>
              </a:r>
              <a:r>
                <a:rPr kumimoji="1" lang="en-US" altLang="zh-CN" sz="1500" b="1" baseline="-25000">
                  <a:solidFill>
                    <a:srgbClr val="000000"/>
                  </a:solidFill>
                  <a:latin typeface="Times New Roman" pitchFamily="18" charset="0"/>
                  <a:ea typeface="华文中宋"/>
                  <a:cs typeface="华文中宋"/>
                </a:rPr>
                <a:t>1</a:t>
              </a:r>
            </a:p>
          </p:txBody>
        </p:sp>
      </p:grpSp>
      <p:grpSp>
        <p:nvGrpSpPr>
          <p:cNvPr id="9" name="组合 10"/>
          <p:cNvGrpSpPr>
            <a:grpSpLocks/>
          </p:cNvGrpSpPr>
          <p:nvPr/>
        </p:nvGrpSpPr>
        <p:grpSpPr bwMode="auto">
          <a:xfrm>
            <a:off x="2627313" y="3182938"/>
            <a:ext cx="2038350" cy="1382712"/>
            <a:chOff x="1338000" y="3873091"/>
            <a:chExt cx="2460624" cy="2278430"/>
          </a:xfrm>
        </p:grpSpPr>
        <p:sp>
          <p:nvSpPr>
            <p:cNvPr id="129045" name="Rectangle 47"/>
            <p:cNvSpPr>
              <a:spLocks noChangeArrowheads="1"/>
            </p:cNvSpPr>
            <p:nvPr/>
          </p:nvSpPr>
          <p:spPr bwMode="auto">
            <a:xfrm>
              <a:off x="1338000" y="5617756"/>
              <a:ext cx="2460624" cy="533765"/>
            </a:xfrm>
            <a:prstGeom prst="rect">
              <a:avLst/>
            </a:prstGeom>
            <a:noFill/>
            <a:ln w="19050">
              <a:solidFill>
                <a:srgbClr val="0070C0"/>
              </a:solidFill>
              <a:miter lim="800000"/>
              <a:headEnd/>
              <a:tailEnd/>
            </a:ln>
          </p:spPr>
          <p:txBody>
            <a:bodyPr lIns="92075" tIns="46038" rIns="92075" bIns="46038">
              <a:spAutoFit/>
            </a:bodyPr>
            <a:lstStyle/>
            <a:p>
              <a:pPr algn="ctr" eaLnBrk="0" hangingPunct="0"/>
              <a:r>
                <a:rPr kumimoji="1" lang="zh-CN" altLang="en-US" sz="1500" b="1">
                  <a:solidFill>
                    <a:srgbClr val="000000"/>
                  </a:solidFill>
                  <a:latin typeface="华文中宋"/>
                  <a:ea typeface="华文中宋"/>
                  <a:cs typeface="华文中宋"/>
                </a:rPr>
                <a:t>低温热源</a:t>
              </a:r>
              <a:r>
                <a:rPr kumimoji="1" lang="en-US" altLang="zh-CN" sz="1500" b="1" i="1">
                  <a:solidFill>
                    <a:srgbClr val="000000"/>
                  </a:solidFill>
                  <a:latin typeface="Times New Roman" pitchFamily="18" charset="0"/>
                  <a:ea typeface="华文中宋"/>
                  <a:cs typeface="华文中宋"/>
                </a:rPr>
                <a:t>T</a:t>
              </a:r>
              <a:r>
                <a:rPr kumimoji="1" lang="en-US" altLang="zh-CN" sz="1500" b="1" baseline="-25000">
                  <a:solidFill>
                    <a:srgbClr val="000000"/>
                  </a:solidFill>
                  <a:latin typeface="Times New Roman" pitchFamily="18" charset="0"/>
                  <a:ea typeface="华文中宋"/>
                  <a:cs typeface="华文中宋"/>
                </a:rPr>
                <a:t>2</a:t>
              </a:r>
            </a:p>
          </p:txBody>
        </p:sp>
        <p:sp>
          <p:nvSpPr>
            <p:cNvPr id="129046" name="Rectangle 45"/>
            <p:cNvSpPr>
              <a:spLocks noChangeArrowheads="1"/>
            </p:cNvSpPr>
            <p:nvPr/>
          </p:nvSpPr>
          <p:spPr bwMode="auto">
            <a:xfrm>
              <a:off x="1339588" y="3873091"/>
              <a:ext cx="2459036" cy="533765"/>
            </a:xfrm>
            <a:prstGeom prst="rect">
              <a:avLst/>
            </a:prstGeom>
            <a:solidFill>
              <a:srgbClr val="FFFFFF"/>
            </a:solidFill>
            <a:ln w="19050">
              <a:solidFill>
                <a:srgbClr val="0070C0"/>
              </a:solidFill>
              <a:miter lim="800000"/>
              <a:headEnd/>
              <a:tailEnd/>
            </a:ln>
          </p:spPr>
          <p:txBody>
            <a:bodyPr lIns="92075" tIns="46038" rIns="92075" bIns="46038">
              <a:spAutoFit/>
            </a:bodyPr>
            <a:lstStyle/>
            <a:p>
              <a:pPr algn="ctr" eaLnBrk="0" hangingPunct="0"/>
              <a:r>
                <a:rPr kumimoji="1" lang="zh-CN" altLang="en-US" sz="1500" b="1">
                  <a:solidFill>
                    <a:srgbClr val="000000"/>
                  </a:solidFill>
                  <a:ea typeface="华文中宋"/>
                  <a:cs typeface="华文中宋"/>
                </a:rPr>
                <a:t>高温热源</a:t>
              </a:r>
              <a:r>
                <a:rPr kumimoji="1" lang="en-US" altLang="zh-CN" sz="1500" b="1" i="1">
                  <a:solidFill>
                    <a:srgbClr val="000000"/>
                  </a:solidFill>
                  <a:latin typeface="Times New Roman" pitchFamily="18" charset="0"/>
                </a:rPr>
                <a:t>T</a:t>
              </a:r>
              <a:r>
                <a:rPr kumimoji="1" lang="en-US" altLang="zh-CN" sz="1500" b="1" baseline="-25000">
                  <a:solidFill>
                    <a:srgbClr val="000000"/>
                  </a:solidFill>
                  <a:latin typeface="Times New Roman" pitchFamily="18" charset="0"/>
                </a:rPr>
                <a:t>1</a:t>
              </a:r>
            </a:p>
          </p:txBody>
        </p:sp>
        <p:grpSp>
          <p:nvGrpSpPr>
            <p:cNvPr id="129047" name="Group 48"/>
            <p:cNvGrpSpPr>
              <a:grpSpLocks/>
            </p:cNvGrpSpPr>
            <p:nvPr/>
          </p:nvGrpSpPr>
          <p:grpSpPr bwMode="auto">
            <a:xfrm>
              <a:off x="1505704" y="4243127"/>
              <a:ext cx="977900" cy="1497013"/>
              <a:chOff x="1619" y="2601"/>
              <a:chExt cx="616" cy="943"/>
            </a:xfrm>
          </p:grpSpPr>
          <p:sp>
            <p:nvSpPr>
              <p:cNvPr id="169" name="Oval 49"/>
              <p:cNvSpPr>
                <a:spLocks noChangeArrowheads="1"/>
              </p:cNvSpPr>
              <p:nvPr/>
            </p:nvSpPr>
            <p:spPr bwMode="auto">
              <a:xfrm>
                <a:off x="1621" y="2824"/>
                <a:ext cx="466" cy="468"/>
              </a:xfrm>
              <a:prstGeom prst="ellipse">
                <a:avLst/>
              </a:prstGeom>
              <a:solidFill>
                <a:schemeClr val="accent6">
                  <a:lumMod val="20000"/>
                  <a:lumOff val="80000"/>
                </a:schemeClr>
              </a:solidFill>
              <a:ln w="19050">
                <a:solidFill>
                  <a:srgbClr val="00B0F0"/>
                </a:solidFill>
                <a:round/>
                <a:headEnd/>
                <a:tailEnd/>
              </a:ln>
            </p:spPr>
            <p:txBody>
              <a:bodyPr wrap="none" anchor="ctr"/>
              <a:lstStyle/>
              <a:p>
                <a:pPr fontAlgn="auto">
                  <a:spcBef>
                    <a:spcPts val="0"/>
                  </a:spcBef>
                  <a:spcAft>
                    <a:spcPts val="0"/>
                  </a:spcAft>
                  <a:defRPr/>
                </a:pPr>
                <a:endParaRPr lang="zh-CN" altLang="en-US">
                  <a:solidFill>
                    <a:prstClr val="black"/>
                  </a:solidFill>
                  <a:latin typeface="+mn-lt"/>
                  <a:ea typeface="+mn-ea"/>
                </a:endParaRPr>
              </a:p>
            </p:txBody>
          </p:sp>
          <p:sp>
            <p:nvSpPr>
              <p:cNvPr id="129049" name="Text Box 51"/>
              <p:cNvSpPr txBox="1">
                <a:spLocks noChangeArrowheads="1"/>
              </p:cNvSpPr>
              <p:nvPr/>
            </p:nvSpPr>
            <p:spPr bwMode="auto">
              <a:xfrm>
                <a:off x="1947" y="3234"/>
                <a:ext cx="270" cy="310"/>
              </a:xfrm>
              <a:prstGeom prst="rect">
                <a:avLst/>
              </a:prstGeom>
              <a:noFill/>
              <a:ln w="9525">
                <a:noFill/>
                <a:miter lim="800000"/>
                <a:headEnd/>
                <a:tailEnd/>
              </a:ln>
            </p:spPr>
            <p:txBody>
              <a:bodyPr wrap="none">
                <a:spAutoFit/>
              </a:bodyPr>
              <a:lstStyle/>
              <a:p>
                <a:r>
                  <a:rPr lang="en-US" altLang="zh-CN" b="1" i="1">
                    <a:solidFill>
                      <a:srgbClr val="000000"/>
                    </a:solidFill>
                    <a:latin typeface="Times New Roman" pitchFamily="18" charset="0"/>
                  </a:rPr>
                  <a:t>Q</a:t>
                </a:r>
                <a:r>
                  <a:rPr lang="en-US" altLang="zh-CN" b="1" baseline="-25000">
                    <a:solidFill>
                      <a:srgbClr val="000000"/>
                    </a:solidFill>
                    <a:latin typeface="Times New Roman" pitchFamily="18" charset="0"/>
                  </a:rPr>
                  <a:t>2</a:t>
                </a:r>
                <a:endParaRPr lang="en-US" altLang="zh-CN" b="1">
                  <a:solidFill>
                    <a:srgbClr val="000000"/>
                  </a:solidFill>
                  <a:latin typeface="Times New Roman" pitchFamily="18" charset="0"/>
                </a:endParaRPr>
              </a:p>
            </p:txBody>
          </p:sp>
          <p:sp>
            <p:nvSpPr>
              <p:cNvPr id="129050" name="Text Box 52"/>
              <p:cNvSpPr txBox="1">
                <a:spLocks noChangeArrowheads="1"/>
              </p:cNvSpPr>
              <p:nvPr/>
            </p:nvSpPr>
            <p:spPr bwMode="auto">
              <a:xfrm>
                <a:off x="1940" y="2642"/>
                <a:ext cx="295" cy="336"/>
              </a:xfrm>
              <a:prstGeom prst="rect">
                <a:avLst/>
              </a:prstGeom>
              <a:noFill/>
              <a:ln w="9525">
                <a:noFill/>
                <a:miter lim="800000"/>
                <a:headEnd/>
                <a:tailEnd/>
              </a:ln>
            </p:spPr>
            <p:txBody>
              <a:bodyPr wrap="none">
                <a:spAutoFit/>
              </a:bodyPr>
              <a:lstStyle/>
              <a:p>
                <a:r>
                  <a:rPr lang="en-US" altLang="zh-CN" sz="1500" b="1" i="1">
                    <a:solidFill>
                      <a:srgbClr val="000000"/>
                    </a:solidFill>
                    <a:latin typeface="Times New Roman" pitchFamily="18" charset="0"/>
                  </a:rPr>
                  <a:t>Q</a:t>
                </a:r>
                <a:r>
                  <a:rPr lang="en-US" altLang="zh-CN" sz="1500" b="1" baseline="-25000">
                    <a:solidFill>
                      <a:srgbClr val="000000"/>
                    </a:solidFill>
                    <a:latin typeface="Times New Roman" pitchFamily="18" charset="0"/>
                  </a:rPr>
                  <a:t>2</a:t>
                </a:r>
              </a:p>
            </p:txBody>
          </p:sp>
          <p:sp>
            <p:nvSpPr>
              <p:cNvPr id="172" name="Rectangle 56" descr="大纸屑"/>
              <p:cNvSpPr>
                <a:spLocks noChangeArrowheads="1"/>
              </p:cNvSpPr>
              <p:nvPr/>
            </p:nvSpPr>
            <p:spPr bwMode="auto">
              <a:xfrm>
                <a:off x="1793" y="2851"/>
                <a:ext cx="112" cy="402"/>
              </a:xfrm>
              <a:prstGeom prst="rect">
                <a:avLst/>
              </a:prstGeom>
              <a:solidFill>
                <a:schemeClr val="accent6">
                  <a:lumMod val="60000"/>
                  <a:lumOff val="40000"/>
                </a:schemeClr>
              </a:solidFill>
              <a:ln>
                <a:noFill/>
              </a:ln>
              <a:extLst/>
            </p:spPr>
            <p:txBody>
              <a:bodyPr wrap="none" anchor="ctr"/>
              <a:lstStyle/>
              <a:p>
                <a:pPr fontAlgn="auto">
                  <a:spcBef>
                    <a:spcPts val="0"/>
                  </a:spcBef>
                  <a:spcAft>
                    <a:spcPts val="0"/>
                  </a:spcAft>
                  <a:defRPr/>
                </a:pPr>
                <a:endParaRPr lang="zh-CN" altLang="en-US">
                  <a:solidFill>
                    <a:prstClr val="black"/>
                  </a:solidFill>
                  <a:latin typeface="+mn-lt"/>
                  <a:ea typeface="+mn-ea"/>
                </a:endParaRPr>
              </a:p>
            </p:txBody>
          </p:sp>
          <p:sp>
            <p:nvSpPr>
              <p:cNvPr id="129052" name="AutoShape 58"/>
              <p:cNvSpPr>
                <a:spLocks noChangeArrowheads="1"/>
              </p:cNvSpPr>
              <p:nvPr/>
            </p:nvSpPr>
            <p:spPr bwMode="auto">
              <a:xfrm flipV="1">
                <a:off x="1756" y="2600"/>
                <a:ext cx="186" cy="341"/>
              </a:xfrm>
              <a:prstGeom prst="downArrow">
                <a:avLst>
                  <a:gd name="adj1" fmla="val 56176"/>
                  <a:gd name="adj2" fmla="val 42065"/>
                </a:avLst>
              </a:prstGeom>
              <a:solidFill>
                <a:srgbClr val="E46C0A"/>
              </a:solidFill>
              <a:ln w="12700">
                <a:solidFill>
                  <a:srgbClr val="0070C0"/>
                </a:solidFill>
                <a:miter lim="800000"/>
                <a:headEnd/>
                <a:tailEnd/>
              </a:ln>
            </p:spPr>
            <p:txBody>
              <a:bodyPr rot="10800000" wrap="none" anchor="ctr"/>
              <a:lstStyle/>
              <a:p>
                <a:endParaRPr lang="zh-CN" altLang="en-US">
                  <a:solidFill>
                    <a:srgbClr val="000000"/>
                  </a:solidFill>
                  <a:latin typeface="Calibri" pitchFamily="34" charset="0"/>
                </a:endParaRPr>
              </a:p>
            </p:txBody>
          </p:sp>
          <p:sp>
            <p:nvSpPr>
              <p:cNvPr id="129053" name="AutoShape 50"/>
              <p:cNvSpPr>
                <a:spLocks noChangeArrowheads="1"/>
              </p:cNvSpPr>
              <p:nvPr/>
            </p:nvSpPr>
            <p:spPr bwMode="auto">
              <a:xfrm flipV="1">
                <a:off x="1774" y="3162"/>
                <a:ext cx="174" cy="323"/>
              </a:xfrm>
              <a:prstGeom prst="downArrow">
                <a:avLst>
                  <a:gd name="adj1" fmla="val 60296"/>
                  <a:gd name="adj2" fmla="val 60382"/>
                </a:avLst>
              </a:prstGeom>
              <a:solidFill>
                <a:srgbClr val="E46C0A"/>
              </a:solidFill>
              <a:ln w="12700">
                <a:solidFill>
                  <a:srgbClr val="00B0F0"/>
                </a:solidFill>
                <a:miter lim="800000"/>
                <a:headEnd/>
                <a:tailEnd/>
              </a:ln>
            </p:spPr>
            <p:txBody>
              <a:bodyPr rot="10800000" wrap="none" anchor="ctr"/>
              <a:lstStyle/>
              <a:p>
                <a:endParaRPr lang="zh-CN" altLang="en-US">
                  <a:solidFill>
                    <a:srgbClr val="000000"/>
                  </a:solidFill>
                  <a:latin typeface="Calibri" pitchFamily="34" charset="0"/>
                </a:endParaRPr>
              </a:p>
            </p:txBody>
          </p:sp>
        </p:grpSp>
      </p:grpSp>
      <p:grpSp>
        <p:nvGrpSpPr>
          <p:cNvPr id="11" name="Group 48"/>
          <p:cNvGrpSpPr>
            <a:grpSpLocks/>
          </p:cNvGrpSpPr>
          <p:nvPr/>
        </p:nvGrpSpPr>
        <p:grpSpPr bwMode="auto">
          <a:xfrm>
            <a:off x="3951288" y="3344863"/>
            <a:ext cx="1279525" cy="960437"/>
            <a:chOff x="1643" y="2549"/>
            <a:chExt cx="973" cy="997"/>
          </a:xfrm>
        </p:grpSpPr>
        <p:sp>
          <p:nvSpPr>
            <p:cNvPr id="177" name="Oval 49"/>
            <p:cNvSpPr>
              <a:spLocks noChangeArrowheads="1"/>
            </p:cNvSpPr>
            <p:nvPr/>
          </p:nvSpPr>
          <p:spPr bwMode="auto">
            <a:xfrm>
              <a:off x="1643" y="2806"/>
              <a:ext cx="467" cy="468"/>
            </a:xfrm>
            <a:prstGeom prst="ellipse">
              <a:avLst/>
            </a:prstGeom>
            <a:solidFill>
              <a:schemeClr val="accent6">
                <a:lumMod val="20000"/>
                <a:lumOff val="80000"/>
              </a:schemeClr>
            </a:solidFill>
            <a:ln w="19050">
              <a:solidFill>
                <a:srgbClr val="00B0F0"/>
              </a:solidFill>
              <a:round/>
              <a:headEnd/>
              <a:tailEnd/>
            </a:ln>
          </p:spPr>
          <p:txBody>
            <a:bodyPr wrap="none" anchor="ctr"/>
            <a:lstStyle/>
            <a:p>
              <a:pPr fontAlgn="auto">
                <a:spcBef>
                  <a:spcPts val="0"/>
                </a:spcBef>
                <a:spcAft>
                  <a:spcPts val="0"/>
                </a:spcAft>
                <a:defRPr/>
              </a:pPr>
              <a:endParaRPr lang="zh-CN" altLang="en-US">
                <a:solidFill>
                  <a:prstClr val="black"/>
                </a:solidFill>
                <a:latin typeface="+mn-lt"/>
                <a:ea typeface="+mn-ea"/>
              </a:endParaRPr>
            </a:p>
          </p:txBody>
        </p:sp>
        <p:sp>
          <p:nvSpPr>
            <p:cNvPr id="129036" name="Text Box 51"/>
            <p:cNvSpPr txBox="1">
              <a:spLocks noChangeArrowheads="1"/>
            </p:cNvSpPr>
            <p:nvPr/>
          </p:nvSpPr>
          <p:spPr bwMode="auto">
            <a:xfrm>
              <a:off x="1951" y="3210"/>
              <a:ext cx="295" cy="336"/>
            </a:xfrm>
            <a:prstGeom prst="rect">
              <a:avLst/>
            </a:prstGeom>
            <a:noFill/>
            <a:ln w="9525">
              <a:noFill/>
              <a:miter lim="800000"/>
              <a:headEnd/>
              <a:tailEnd/>
            </a:ln>
          </p:spPr>
          <p:txBody>
            <a:bodyPr wrap="none">
              <a:spAutoFit/>
            </a:bodyPr>
            <a:lstStyle/>
            <a:p>
              <a:r>
                <a:rPr lang="en-US" altLang="zh-CN" sz="1500" b="1" i="1">
                  <a:solidFill>
                    <a:srgbClr val="000000"/>
                  </a:solidFill>
                  <a:latin typeface="Times New Roman" pitchFamily="18" charset="0"/>
                </a:rPr>
                <a:t>Q</a:t>
              </a:r>
              <a:r>
                <a:rPr lang="en-US" altLang="zh-CN" sz="1500" b="1" baseline="-25000">
                  <a:solidFill>
                    <a:srgbClr val="000000"/>
                  </a:solidFill>
                  <a:latin typeface="Times New Roman" pitchFamily="18" charset="0"/>
                </a:rPr>
                <a:t>2</a:t>
              </a:r>
              <a:endParaRPr lang="en-US" altLang="zh-CN" sz="1500" b="1">
                <a:solidFill>
                  <a:srgbClr val="000000"/>
                </a:solidFill>
                <a:latin typeface="Times New Roman" pitchFamily="18" charset="0"/>
              </a:endParaRPr>
            </a:p>
          </p:txBody>
        </p:sp>
        <p:sp>
          <p:nvSpPr>
            <p:cNvPr id="129037" name="Text Box 52"/>
            <p:cNvSpPr txBox="1">
              <a:spLocks noChangeArrowheads="1"/>
            </p:cNvSpPr>
            <p:nvPr/>
          </p:nvSpPr>
          <p:spPr bwMode="auto">
            <a:xfrm>
              <a:off x="1957" y="2608"/>
              <a:ext cx="295" cy="336"/>
            </a:xfrm>
            <a:prstGeom prst="rect">
              <a:avLst/>
            </a:prstGeom>
            <a:noFill/>
            <a:ln w="9525">
              <a:noFill/>
              <a:miter lim="800000"/>
              <a:headEnd/>
              <a:tailEnd/>
            </a:ln>
          </p:spPr>
          <p:txBody>
            <a:bodyPr wrap="none">
              <a:spAutoFit/>
            </a:bodyPr>
            <a:lstStyle/>
            <a:p>
              <a:r>
                <a:rPr lang="en-US" altLang="zh-CN" sz="1500" b="1" i="1">
                  <a:solidFill>
                    <a:srgbClr val="000000"/>
                  </a:solidFill>
                  <a:latin typeface="Times New Roman" pitchFamily="18" charset="0"/>
                </a:rPr>
                <a:t>Q</a:t>
              </a:r>
              <a:r>
                <a:rPr lang="en-US" altLang="zh-CN" sz="1500" b="1" baseline="-25000">
                  <a:solidFill>
                    <a:srgbClr val="000000"/>
                  </a:solidFill>
                  <a:latin typeface="Times New Roman" pitchFamily="18" charset="0"/>
                </a:rPr>
                <a:t>1</a:t>
              </a:r>
            </a:p>
          </p:txBody>
        </p:sp>
        <p:sp>
          <p:nvSpPr>
            <p:cNvPr id="129038" name="Text Box 53"/>
            <p:cNvSpPr txBox="1">
              <a:spLocks noChangeArrowheads="1"/>
            </p:cNvSpPr>
            <p:nvPr/>
          </p:nvSpPr>
          <p:spPr bwMode="auto">
            <a:xfrm>
              <a:off x="2345" y="2923"/>
              <a:ext cx="271" cy="336"/>
            </a:xfrm>
            <a:prstGeom prst="rect">
              <a:avLst/>
            </a:prstGeom>
            <a:noFill/>
            <a:ln w="9525">
              <a:noFill/>
              <a:miter lim="800000"/>
              <a:headEnd/>
              <a:tailEnd/>
            </a:ln>
          </p:spPr>
          <p:txBody>
            <a:bodyPr wrap="none">
              <a:spAutoFit/>
            </a:bodyPr>
            <a:lstStyle/>
            <a:p>
              <a:r>
                <a:rPr lang="en-US" altLang="zh-CN" sz="1500" b="1" i="1">
                  <a:solidFill>
                    <a:srgbClr val="000000"/>
                  </a:solidFill>
                  <a:latin typeface="Times New Roman" pitchFamily="18" charset="0"/>
                </a:rPr>
                <a:t>W</a:t>
              </a:r>
              <a:endParaRPr lang="en-US" altLang="zh-CN" sz="1500" b="1" baseline="-25000">
                <a:solidFill>
                  <a:srgbClr val="000000"/>
                </a:solidFill>
                <a:latin typeface="Times New Roman" pitchFamily="18" charset="0"/>
              </a:endParaRPr>
            </a:p>
          </p:txBody>
        </p:sp>
        <p:sp>
          <p:nvSpPr>
            <p:cNvPr id="182" name="AutoShape 54"/>
            <p:cNvSpPr>
              <a:spLocks noChangeArrowheads="1"/>
            </p:cNvSpPr>
            <p:nvPr/>
          </p:nvSpPr>
          <p:spPr bwMode="auto">
            <a:xfrm>
              <a:off x="2029" y="2949"/>
              <a:ext cx="368" cy="170"/>
            </a:xfrm>
            <a:prstGeom prst="rightArrow">
              <a:avLst>
                <a:gd name="adj1" fmla="val 54369"/>
                <a:gd name="adj2" fmla="val 71926"/>
              </a:avLst>
            </a:prstGeom>
            <a:solidFill>
              <a:schemeClr val="accent6">
                <a:lumMod val="75000"/>
              </a:schemeClr>
            </a:solidFill>
            <a:ln w="9525">
              <a:solidFill>
                <a:srgbClr val="00B0F0"/>
              </a:solidFill>
              <a:miter lim="800000"/>
              <a:headEnd/>
              <a:tailEnd/>
            </a:ln>
          </p:spPr>
          <p:txBody>
            <a:bodyPr wrap="none" anchor="ctr"/>
            <a:lstStyle/>
            <a:p>
              <a:pPr fontAlgn="auto">
                <a:spcBef>
                  <a:spcPts val="0"/>
                </a:spcBef>
                <a:spcAft>
                  <a:spcPts val="0"/>
                </a:spcAft>
                <a:defRPr/>
              </a:pPr>
              <a:endParaRPr lang="zh-CN" altLang="en-US">
                <a:solidFill>
                  <a:prstClr val="black"/>
                </a:solidFill>
                <a:latin typeface="+mn-lt"/>
                <a:ea typeface="+mn-ea"/>
              </a:endParaRPr>
            </a:p>
          </p:txBody>
        </p:sp>
        <p:sp>
          <p:nvSpPr>
            <p:cNvPr id="183" name="Rectangle 55" descr="大纸屑"/>
            <p:cNvSpPr>
              <a:spLocks noChangeArrowheads="1"/>
            </p:cNvSpPr>
            <p:nvPr/>
          </p:nvSpPr>
          <p:spPr bwMode="auto">
            <a:xfrm>
              <a:off x="1798" y="2806"/>
              <a:ext cx="157" cy="227"/>
            </a:xfrm>
            <a:prstGeom prst="rect">
              <a:avLst/>
            </a:prstGeom>
            <a:solidFill>
              <a:schemeClr val="accent6">
                <a:lumMod val="60000"/>
                <a:lumOff val="40000"/>
              </a:schemeClr>
            </a:solidFill>
            <a:ln>
              <a:noFill/>
            </a:ln>
            <a:extLst/>
          </p:spPr>
          <p:txBody>
            <a:bodyPr wrap="none" anchor="ctr"/>
            <a:lstStyle/>
            <a:p>
              <a:pPr fontAlgn="auto">
                <a:spcBef>
                  <a:spcPts val="0"/>
                </a:spcBef>
                <a:spcAft>
                  <a:spcPts val="0"/>
                </a:spcAft>
                <a:defRPr/>
              </a:pPr>
              <a:endParaRPr lang="zh-CN" altLang="en-US">
                <a:solidFill>
                  <a:prstClr val="black"/>
                </a:solidFill>
                <a:latin typeface="+mn-lt"/>
                <a:ea typeface="+mn-ea"/>
              </a:endParaRPr>
            </a:p>
          </p:txBody>
        </p:sp>
        <p:sp>
          <p:nvSpPr>
            <p:cNvPr id="184" name="Rectangle 56" descr="大纸屑"/>
            <p:cNvSpPr>
              <a:spLocks noChangeArrowheads="1"/>
            </p:cNvSpPr>
            <p:nvPr/>
          </p:nvSpPr>
          <p:spPr bwMode="auto">
            <a:xfrm>
              <a:off x="1798" y="3035"/>
              <a:ext cx="111" cy="227"/>
            </a:xfrm>
            <a:prstGeom prst="rect">
              <a:avLst/>
            </a:prstGeom>
            <a:solidFill>
              <a:schemeClr val="accent6">
                <a:lumMod val="60000"/>
                <a:lumOff val="40000"/>
              </a:schemeClr>
            </a:solidFill>
            <a:ln>
              <a:noFill/>
            </a:ln>
            <a:extLst/>
          </p:spPr>
          <p:txBody>
            <a:bodyPr wrap="none" anchor="ctr"/>
            <a:lstStyle/>
            <a:p>
              <a:pPr fontAlgn="auto">
                <a:spcBef>
                  <a:spcPts val="0"/>
                </a:spcBef>
                <a:spcAft>
                  <a:spcPts val="0"/>
                </a:spcAft>
                <a:defRPr/>
              </a:pPr>
              <a:endParaRPr lang="zh-CN" altLang="en-US">
                <a:solidFill>
                  <a:prstClr val="black"/>
                </a:solidFill>
                <a:latin typeface="+mn-lt"/>
                <a:ea typeface="+mn-ea"/>
              </a:endParaRPr>
            </a:p>
          </p:txBody>
        </p:sp>
        <p:sp>
          <p:nvSpPr>
            <p:cNvPr id="185" name="Rectangle 57" descr="大纸屑"/>
            <p:cNvSpPr>
              <a:spLocks noChangeArrowheads="1"/>
            </p:cNvSpPr>
            <p:nvPr/>
          </p:nvSpPr>
          <p:spPr bwMode="auto">
            <a:xfrm>
              <a:off x="1872" y="2987"/>
              <a:ext cx="226" cy="120"/>
            </a:xfrm>
            <a:prstGeom prst="rect">
              <a:avLst/>
            </a:prstGeom>
            <a:solidFill>
              <a:schemeClr val="accent6">
                <a:lumMod val="60000"/>
                <a:lumOff val="40000"/>
              </a:schemeClr>
            </a:solidFill>
            <a:ln>
              <a:noFill/>
            </a:ln>
            <a:extLst/>
          </p:spPr>
          <p:txBody>
            <a:bodyPr wrap="none" anchor="ctr"/>
            <a:lstStyle/>
            <a:p>
              <a:pPr fontAlgn="auto">
                <a:spcBef>
                  <a:spcPts val="0"/>
                </a:spcBef>
                <a:spcAft>
                  <a:spcPts val="0"/>
                </a:spcAft>
                <a:defRPr/>
              </a:pPr>
              <a:endParaRPr lang="zh-CN" altLang="en-US">
                <a:solidFill>
                  <a:prstClr val="black"/>
                </a:solidFill>
                <a:latin typeface="+mn-lt"/>
                <a:ea typeface="+mn-ea"/>
              </a:endParaRPr>
            </a:p>
          </p:txBody>
        </p:sp>
        <p:sp>
          <p:nvSpPr>
            <p:cNvPr id="186" name="AutoShape 58"/>
            <p:cNvSpPr>
              <a:spLocks noChangeArrowheads="1"/>
            </p:cNvSpPr>
            <p:nvPr/>
          </p:nvSpPr>
          <p:spPr bwMode="auto">
            <a:xfrm>
              <a:off x="1749" y="2549"/>
              <a:ext cx="251" cy="396"/>
            </a:xfrm>
            <a:prstGeom prst="downArrow">
              <a:avLst>
                <a:gd name="adj1" fmla="val 75103"/>
                <a:gd name="adj2" fmla="val 42065"/>
              </a:avLst>
            </a:prstGeom>
            <a:solidFill>
              <a:schemeClr val="accent6">
                <a:lumMod val="75000"/>
              </a:schemeClr>
            </a:solidFill>
            <a:ln w="12700">
              <a:solidFill>
                <a:srgbClr val="0070C0"/>
              </a:solidFill>
              <a:miter lim="800000"/>
              <a:headEnd/>
              <a:tailEnd/>
            </a:ln>
          </p:spPr>
          <p:txBody>
            <a:bodyPr wrap="none" anchor="ctr"/>
            <a:lstStyle/>
            <a:p>
              <a:pPr fontAlgn="auto">
                <a:spcBef>
                  <a:spcPts val="0"/>
                </a:spcBef>
                <a:spcAft>
                  <a:spcPts val="0"/>
                </a:spcAft>
                <a:defRPr/>
              </a:pPr>
              <a:endParaRPr lang="zh-CN" altLang="en-US">
                <a:solidFill>
                  <a:prstClr val="black"/>
                </a:solidFill>
                <a:latin typeface="+mn-lt"/>
                <a:ea typeface="+mn-ea"/>
              </a:endParaRPr>
            </a:p>
          </p:txBody>
        </p:sp>
        <p:sp>
          <p:nvSpPr>
            <p:cNvPr id="178" name="AutoShape 50"/>
            <p:cNvSpPr>
              <a:spLocks noChangeArrowheads="1"/>
            </p:cNvSpPr>
            <p:nvPr/>
          </p:nvSpPr>
          <p:spPr bwMode="auto">
            <a:xfrm>
              <a:off x="1740" y="3155"/>
              <a:ext cx="204" cy="323"/>
            </a:xfrm>
            <a:prstGeom prst="downArrow">
              <a:avLst>
                <a:gd name="adj1" fmla="val 54745"/>
                <a:gd name="adj2" fmla="val 60384"/>
              </a:avLst>
            </a:prstGeom>
            <a:solidFill>
              <a:schemeClr val="accent6">
                <a:lumMod val="75000"/>
              </a:schemeClr>
            </a:solidFill>
            <a:ln w="12700">
              <a:solidFill>
                <a:srgbClr val="00B0F0"/>
              </a:solidFill>
              <a:miter lim="800000"/>
              <a:headEnd/>
              <a:tailEnd/>
            </a:ln>
          </p:spPr>
          <p:txBody>
            <a:bodyPr wrap="none" anchor="ctr"/>
            <a:lstStyle/>
            <a:p>
              <a:pPr fontAlgn="auto">
                <a:spcBef>
                  <a:spcPts val="0"/>
                </a:spcBef>
                <a:spcAft>
                  <a:spcPts val="0"/>
                </a:spcAft>
                <a:defRPr/>
              </a:pPr>
              <a:endParaRPr lang="zh-CN" altLang="en-US">
                <a:solidFill>
                  <a:prstClr val="black"/>
                </a:solidFill>
                <a:latin typeface="+mn-lt"/>
                <a:ea typeface="+mn-ea"/>
              </a:endParaRPr>
            </a:p>
          </p:txBody>
        </p:sp>
      </p:grpSp>
      <p:sp>
        <p:nvSpPr>
          <p:cNvPr id="186436" name="Rectangle 68"/>
          <p:cNvSpPr>
            <a:spLocks noChangeArrowheads="1"/>
          </p:cNvSpPr>
          <p:nvPr/>
        </p:nvSpPr>
        <p:spPr bwMode="auto">
          <a:xfrm>
            <a:off x="395288" y="844550"/>
            <a:ext cx="8172450" cy="647700"/>
          </a:xfrm>
          <a:prstGeom prst="rect">
            <a:avLst/>
          </a:prstGeom>
          <a:noFill/>
          <a:ln w="9525">
            <a:noFill/>
            <a:miter lim="800000"/>
            <a:headEnd/>
            <a:tailEnd/>
          </a:ln>
        </p:spPr>
        <p:txBody>
          <a:bodyPr>
            <a:spAutoFit/>
          </a:bodyPr>
          <a:lstStyle/>
          <a:p>
            <a:r>
              <a:rPr kumimoji="1" lang="zh-CN" altLang="en-US" b="1">
                <a:solidFill>
                  <a:srgbClr val="000000"/>
                </a:solidFill>
                <a:latin typeface="Times New Roman" pitchFamily="18" charset="0"/>
                <a:ea typeface="华文中宋"/>
                <a:cs typeface="华文中宋"/>
              </a:rPr>
              <a:t>        每种表述都是从不同的方面（角度）去揭示热力学第二定律的本质，它们是等价的。</a:t>
            </a:r>
          </a:p>
        </p:txBody>
      </p:sp>
      <p:sp>
        <p:nvSpPr>
          <p:cNvPr id="186437" name="AutoShape 69"/>
          <p:cNvSpPr>
            <a:spLocks noChangeArrowheads="1"/>
          </p:cNvSpPr>
          <p:nvPr/>
        </p:nvSpPr>
        <p:spPr bwMode="auto">
          <a:xfrm>
            <a:off x="5580063" y="1781175"/>
            <a:ext cx="717550" cy="217488"/>
          </a:xfrm>
          <a:prstGeom prst="rightArrow">
            <a:avLst>
              <a:gd name="adj1" fmla="val 50000"/>
              <a:gd name="adj2" fmla="val 60410"/>
            </a:avLst>
          </a:prstGeom>
          <a:solidFill>
            <a:schemeClr val="accent1"/>
          </a:solidFill>
          <a:ln w="9525">
            <a:solidFill>
              <a:schemeClr val="tx1"/>
            </a:solidFill>
            <a:miter lim="800000"/>
            <a:headEnd/>
            <a:tailEnd/>
          </a:ln>
        </p:spPr>
        <p:txBody>
          <a:bodyPr wrap="none" anchor="ctr"/>
          <a:lstStyle/>
          <a:p>
            <a:endParaRPr kumimoji="1" lang="zh-CN" altLang="en-US" sz="2400" b="1">
              <a:solidFill>
                <a:srgbClr val="000000"/>
              </a:solidFill>
              <a:latin typeface="Times New Roman" pitchFamily="18" charset="0"/>
              <a:ea typeface="华文中宋"/>
              <a:cs typeface="华文中宋"/>
            </a:endParaRPr>
          </a:p>
        </p:txBody>
      </p:sp>
      <p:sp>
        <p:nvSpPr>
          <p:cNvPr id="186438" name="AutoShape 70"/>
          <p:cNvSpPr>
            <a:spLocks noChangeArrowheads="1"/>
          </p:cNvSpPr>
          <p:nvPr/>
        </p:nvSpPr>
        <p:spPr bwMode="auto">
          <a:xfrm>
            <a:off x="5580063" y="3617913"/>
            <a:ext cx="717550" cy="217487"/>
          </a:xfrm>
          <a:prstGeom prst="rightArrow">
            <a:avLst>
              <a:gd name="adj1" fmla="val 50000"/>
              <a:gd name="adj2" fmla="val 60410"/>
            </a:avLst>
          </a:prstGeom>
          <a:solidFill>
            <a:schemeClr val="accent1"/>
          </a:solidFill>
          <a:ln w="9525">
            <a:solidFill>
              <a:schemeClr val="tx1"/>
            </a:solidFill>
            <a:miter lim="800000"/>
            <a:headEnd/>
            <a:tailEnd/>
          </a:ln>
        </p:spPr>
        <p:txBody>
          <a:bodyPr wrap="none" anchor="ctr"/>
          <a:lstStyle/>
          <a:p>
            <a:endParaRPr kumimoji="1" lang="zh-CN" altLang="en-US" sz="2400" b="1">
              <a:solidFill>
                <a:srgbClr val="000000"/>
              </a:solidFill>
              <a:latin typeface="Times New Roman" pitchFamily="18" charset="0"/>
              <a:ea typeface="华文中宋"/>
              <a:cs typeface="华文中宋"/>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86436"/>
                                        </p:tgtEl>
                                        <p:attrNameLst>
                                          <p:attrName>style.visibility</p:attrName>
                                        </p:attrNameLst>
                                      </p:cBhvr>
                                      <p:to>
                                        <p:strVal val="visible"/>
                                      </p:to>
                                    </p:set>
                                    <p:animEffect transition="in" filter="blinds(horizontal)">
                                      <p:cBhvr>
                                        <p:cTn id="7" dur="500"/>
                                        <p:tgtEl>
                                          <p:spTgt spid="18643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84324">
                                            <p:txEl>
                                              <p:pRg st="0" end="0"/>
                                            </p:txEl>
                                          </p:spTgt>
                                        </p:tgtEl>
                                        <p:attrNameLst>
                                          <p:attrName>style.visibility</p:attrName>
                                        </p:attrNameLst>
                                      </p:cBhvr>
                                      <p:to>
                                        <p:strVal val="visible"/>
                                      </p:to>
                                    </p:set>
                                    <p:animEffect transition="in" filter="wipe(left)">
                                      <p:cBhvr>
                                        <p:cTn id="12" dur="500"/>
                                        <p:tgtEl>
                                          <p:spTgt spid="184324">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5" presetClass="entr" presetSubtype="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p:cTn id="17" dur="500" decel="50000" fill="hold">
                                          <p:stCondLst>
                                            <p:cond delay="0"/>
                                          </p:stCondLst>
                                        </p:cTn>
                                        <p:tgtEl>
                                          <p:spTgt spid="2"/>
                                        </p:tgtEl>
                                        <p:attrNameLst>
                                          <p:attrName>style.rotation</p:attrName>
                                        </p:attrNameLst>
                                      </p:cBhvr>
                                      <p:tavLst>
                                        <p:tav tm="0">
                                          <p:val>
                                            <p:fltVal val="-90"/>
                                          </p:val>
                                        </p:tav>
                                        <p:tav tm="100000">
                                          <p:val>
                                            <p:fltVal val="0"/>
                                          </p:val>
                                        </p:tav>
                                      </p:tavLst>
                                    </p:anim>
                                    <p:anim calcmode="lin" valueType="num">
                                      <p:cBhvr>
                                        <p:cTn id="18" dur="500" decel="50000" fill="hold">
                                          <p:stCondLst>
                                            <p:cond delay="0"/>
                                          </p:stCondLst>
                                        </p:cTn>
                                        <p:tgtEl>
                                          <p:spTgt spid="2"/>
                                        </p:tgtEl>
                                        <p:attrNameLst>
                                          <p:attrName>ppt_w</p:attrName>
                                        </p:attrNameLst>
                                      </p:cBhvr>
                                      <p:tavLst>
                                        <p:tav tm="0">
                                          <p:val>
                                            <p:strVal val="#ppt_w"/>
                                          </p:val>
                                        </p:tav>
                                        <p:tav tm="100000">
                                          <p:val>
                                            <p:strVal val="#ppt_w*.05"/>
                                          </p:val>
                                        </p:tav>
                                      </p:tavLst>
                                    </p:anim>
                                    <p:anim calcmode="lin" valueType="num">
                                      <p:cBhvr>
                                        <p:cTn id="19" dur="500" accel="50000" fill="hold">
                                          <p:stCondLst>
                                            <p:cond delay="500"/>
                                          </p:stCondLst>
                                        </p:cTn>
                                        <p:tgtEl>
                                          <p:spTgt spid="2"/>
                                        </p:tgtEl>
                                        <p:attrNameLst>
                                          <p:attrName>ppt_w</p:attrName>
                                        </p:attrNameLst>
                                      </p:cBhvr>
                                      <p:tavLst>
                                        <p:tav tm="0">
                                          <p:val>
                                            <p:strVal val="#ppt_w*.05"/>
                                          </p:val>
                                        </p:tav>
                                        <p:tav tm="100000">
                                          <p:val>
                                            <p:strVal val="#ppt_w"/>
                                          </p:val>
                                        </p:tav>
                                      </p:tavLst>
                                    </p:anim>
                                    <p:anim calcmode="lin" valueType="num">
                                      <p:cBhvr>
                                        <p:cTn id="20" dur="1000" fill="hold"/>
                                        <p:tgtEl>
                                          <p:spTgt spid="2"/>
                                        </p:tgtEl>
                                        <p:attrNameLst>
                                          <p:attrName>ppt_h</p:attrName>
                                        </p:attrNameLst>
                                      </p:cBhvr>
                                      <p:tavLst>
                                        <p:tav tm="0">
                                          <p:val>
                                            <p:strVal val="#ppt_h"/>
                                          </p:val>
                                        </p:tav>
                                        <p:tav tm="100000">
                                          <p:val>
                                            <p:strVal val="#ppt_h"/>
                                          </p:val>
                                        </p:tav>
                                      </p:tavLst>
                                    </p:anim>
                                    <p:anim calcmode="lin" valueType="num">
                                      <p:cBhvr>
                                        <p:cTn id="21" dur="500" decel="50000" fill="hold">
                                          <p:stCondLst>
                                            <p:cond delay="0"/>
                                          </p:stCondLst>
                                        </p:cTn>
                                        <p:tgtEl>
                                          <p:spTgt spid="2"/>
                                        </p:tgtEl>
                                        <p:attrNameLst>
                                          <p:attrName>ppt_x</p:attrName>
                                        </p:attrNameLst>
                                      </p:cBhvr>
                                      <p:tavLst>
                                        <p:tav tm="0">
                                          <p:val>
                                            <p:strVal val="#ppt_x+.4"/>
                                          </p:val>
                                        </p:tav>
                                        <p:tav tm="100000">
                                          <p:val>
                                            <p:strVal val="#ppt_x"/>
                                          </p:val>
                                        </p:tav>
                                      </p:tavLst>
                                    </p:anim>
                                    <p:anim calcmode="lin" valueType="num">
                                      <p:cBhvr>
                                        <p:cTn id="22" dur="500" decel="50000" fill="hold">
                                          <p:stCondLst>
                                            <p:cond delay="0"/>
                                          </p:stCondLst>
                                        </p:cTn>
                                        <p:tgtEl>
                                          <p:spTgt spid="2"/>
                                        </p:tgtEl>
                                        <p:attrNameLst>
                                          <p:attrName>ppt_y</p:attrName>
                                        </p:attrNameLst>
                                      </p:cBhvr>
                                      <p:tavLst>
                                        <p:tav tm="0">
                                          <p:val>
                                            <p:strVal val="#ppt_y-.2"/>
                                          </p:val>
                                        </p:tav>
                                        <p:tav tm="100000">
                                          <p:val>
                                            <p:strVal val="#ppt_y+.1"/>
                                          </p:val>
                                        </p:tav>
                                      </p:tavLst>
                                    </p:anim>
                                    <p:anim calcmode="lin" valueType="num">
                                      <p:cBhvr>
                                        <p:cTn id="23" dur="500" accel="50000" fill="hold">
                                          <p:stCondLst>
                                            <p:cond delay="500"/>
                                          </p:stCondLst>
                                        </p:cTn>
                                        <p:tgtEl>
                                          <p:spTgt spid="2"/>
                                        </p:tgtEl>
                                        <p:attrNameLst>
                                          <p:attrName>ppt_y</p:attrName>
                                        </p:attrNameLst>
                                      </p:cBhvr>
                                      <p:tavLst>
                                        <p:tav tm="0">
                                          <p:val>
                                            <p:strVal val="#ppt_y+.1"/>
                                          </p:val>
                                        </p:tav>
                                        <p:tav tm="100000">
                                          <p:val>
                                            <p:strVal val="#ppt_y"/>
                                          </p:val>
                                        </p:tav>
                                      </p:tavLst>
                                    </p:anim>
                                    <p:animEffect transition="in" filter="fade">
                                      <p:cBhvr>
                                        <p:cTn id="24" dur="1000" decel="50000">
                                          <p:stCondLst>
                                            <p:cond delay="0"/>
                                          </p:stCondLst>
                                        </p:cTn>
                                        <p:tgtEl>
                                          <p:spTgt spid="2"/>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31" presetClass="entr" presetSubtype="0" fill="hold" nodeType="clickEffect">
                                  <p:stCondLst>
                                    <p:cond delay="0"/>
                                  </p:stCondLst>
                                  <p:childTnLst>
                                    <p:set>
                                      <p:cBhvr>
                                        <p:cTn id="28" dur="1" fill="hold">
                                          <p:stCondLst>
                                            <p:cond delay="0"/>
                                          </p:stCondLst>
                                        </p:cTn>
                                        <p:tgtEl>
                                          <p:spTgt spid="6"/>
                                        </p:tgtEl>
                                        <p:attrNameLst>
                                          <p:attrName>style.visibility</p:attrName>
                                        </p:attrNameLst>
                                      </p:cBhvr>
                                      <p:to>
                                        <p:strVal val="visible"/>
                                      </p:to>
                                    </p:set>
                                    <p:anim calcmode="lin" valueType="num">
                                      <p:cBhvr>
                                        <p:cTn id="29" dur="1000" fill="hold"/>
                                        <p:tgtEl>
                                          <p:spTgt spid="6"/>
                                        </p:tgtEl>
                                        <p:attrNameLst>
                                          <p:attrName>ppt_w</p:attrName>
                                        </p:attrNameLst>
                                      </p:cBhvr>
                                      <p:tavLst>
                                        <p:tav tm="0">
                                          <p:val>
                                            <p:fltVal val="0"/>
                                          </p:val>
                                        </p:tav>
                                        <p:tav tm="100000">
                                          <p:val>
                                            <p:strVal val="#ppt_w"/>
                                          </p:val>
                                        </p:tav>
                                      </p:tavLst>
                                    </p:anim>
                                    <p:anim calcmode="lin" valueType="num">
                                      <p:cBhvr>
                                        <p:cTn id="30" dur="1000" fill="hold"/>
                                        <p:tgtEl>
                                          <p:spTgt spid="6"/>
                                        </p:tgtEl>
                                        <p:attrNameLst>
                                          <p:attrName>ppt_h</p:attrName>
                                        </p:attrNameLst>
                                      </p:cBhvr>
                                      <p:tavLst>
                                        <p:tav tm="0">
                                          <p:val>
                                            <p:fltVal val="0"/>
                                          </p:val>
                                        </p:tav>
                                        <p:tav tm="100000">
                                          <p:val>
                                            <p:strVal val="#ppt_h"/>
                                          </p:val>
                                        </p:tav>
                                      </p:tavLst>
                                    </p:anim>
                                    <p:anim calcmode="lin" valueType="num">
                                      <p:cBhvr>
                                        <p:cTn id="31" dur="1000" fill="hold"/>
                                        <p:tgtEl>
                                          <p:spTgt spid="6"/>
                                        </p:tgtEl>
                                        <p:attrNameLst>
                                          <p:attrName>style.rotation</p:attrName>
                                        </p:attrNameLst>
                                      </p:cBhvr>
                                      <p:tavLst>
                                        <p:tav tm="0">
                                          <p:val>
                                            <p:fltVal val="90"/>
                                          </p:val>
                                        </p:tav>
                                        <p:tav tm="100000">
                                          <p:val>
                                            <p:fltVal val="0"/>
                                          </p:val>
                                        </p:tav>
                                      </p:tavLst>
                                    </p:anim>
                                    <p:animEffect transition="in" filter="fade">
                                      <p:cBhvr>
                                        <p:cTn id="32" dur="1000"/>
                                        <p:tgtEl>
                                          <p:spTgt spid="6"/>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86437"/>
                                        </p:tgtEl>
                                        <p:attrNameLst>
                                          <p:attrName>style.visibility</p:attrName>
                                        </p:attrNameLst>
                                      </p:cBhvr>
                                      <p:to>
                                        <p:strVal val="visible"/>
                                      </p:to>
                                    </p:set>
                                    <p:animEffect transition="in" filter="blinds(horizontal)">
                                      <p:cBhvr>
                                        <p:cTn id="37" dur="500"/>
                                        <p:tgtEl>
                                          <p:spTgt spid="186437"/>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53" presetClass="entr" presetSubtype="16" fill="hold" nodeType="clickEffect">
                                  <p:stCondLst>
                                    <p:cond delay="0"/>
                                  </p:stCondLst>
                                  <p:childTnLst>
                                    <p:set>
                                      <p:cBhvr>
                                        <p:cTn id="41" dur="1" fill="hold">
                                          <p:stCondLst>
                                            <p:cond delay="0"/>
                                          </p:stCondLst>
                                        </p:cTn>
                                        <p:tgtEl>
                                          <p:spTgt spid="7"/>
                                        </p:tgtEl>
                                        <p:attrNameLst>
                                          <p:attrName>style.visibility</p:attrName>
                                        </p:attrNameLst>
                                      </p:cBhvr>
                                      <p:to>
                                        <p:strVal val="visible"/>
                                      </p:to>
                                    </p:set>
                                    <p:anim calcmode="lin" valueType="num">
                                      <p:cBhvr>
                                        <p:cTn id="42" dur="500" fill="hold"/>
                                        <p:tgtEl>
                                          <p:spTgt spid="7"/>
                                        </p:tgtEl>
                                        <p:attrNameLst>
                                          <p:attrName>ppt_w</p:attrName>
                                        </p:attrNameLst>
                                      </p:cBhvr>
                                      <p:tavLst>
                                        <p:tav tm="0">
                                          <p:val>
                                            <p:fltVal val="0"/>
                                          </p:val>
                                        </p:tav>
                                        <p:tav tm="100000">
                                          <p:val>
                                            <p:strVal val="#ppt_w"/>
                                          </p:val>
                                        </p:tav>
                                      </p:tavLst>
                                    </p:anim>
                                    <p:anim calcmode="lin" valueType="num">
                                      <p:cBhvr>
                                        <p:cTn id="43" dur="500" fill="hold"/>
                                        <p:tgtEl>
                                          <p:spTgt spid="7"/>
                                        </p:tgtEl>
                                        <p:attrNameLst>
                                          <p:attrName>ppt_h</p:attrName>
                                        </p:attrNameLst>
                                      </p:cBhvr>
                                      <p:tavLst>
                                        <p:tav tm="0">
                                          <p:val>
                                            <p:fltVal val="0"/>
                                          </p:val>
                                        </p:tav>
                                        <p:tav tm="100000">
                                          <p:val>
                                            <p:strVal val="#ppt_h"/>
                                          </p:val>
                                        </p:tav>
                                      </p:tavLst>
                                    </p:anim>
                                    <p:animEffect transition="in" filter="fade">
                                      <p:cBhvr>
                                        <p:cTn id="44" dur="500"/>
                                        <p:tgtEl>
                                          <p:spTgt spid="7"/>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53" presetClass="entr" presetSubtype="16" fill="hold" nodeType="clickEffect">
                                  <p:stCondLst>
                                    <p:cond delay="0"/>
                                  </p:stCondLst>
                                  <p:childTnLst>
                                    <p:set>
                                      <p:cBhvr>
                                        <p:cTn id="48" dur="1" fill="hold">
                                          <p:stCondLst>
                                            <p:cond delay="0"/>
                                          </p:stCondLst>
                                        </p:cTn>
                                        <p:tgtEl>
                                          <p:spTgt spid="9"/>
                                        </p:tgtEl>
                                        <p:attrNameLst>
                                          <p:attrName>style.visibility</p:attrName>
                                        </p:attrNameLst>
                                      </p:cBhvr>
                                      <p:to>
                                        <p:strVal val="visible"/>
                                      </p:to>
                                    </p:set>
                                    <p:anim calcmode="lin" valueType="num">
                                      <p:cBhvr>
                                        <p:cTn id="49" dur="500" fill="hold"/>
                                        <p:tgtEl>
                                          <p:spTgt spid="9"/>
                                        </p:tgtEl>
                                        <p:attrNameLst>
                                          <p:attrName>ppt_w</p:attrName>
                                        </p:attrNameLst>
                                      </p:cBhvr>
                                      <p:tavLst>
                                        <p:tav tm="0">
                                          <p:val>
                                            <p:fltVal val="0"/>
                                          </p:val>
                                        </p:tav>
                                        <p:tav tm="100000">
                                          <p:val>
                                            <p:strVal val="#ppt_w"/>
                                          </p:val>
                                        </p:tav>
                                      </p:tavLst>
                                    </p:anim>
                                    <p:anim calcmode="lin" valueType="num">
                                      <p:cBhvr>
                                        <p:cTn id="50" dur="500" fill="hold"/>
                                        <p:tgtEl>
                                          <p:spTgt spid="9"/>
                                        </p:tgtEl>
                                        <p:attrNameLst>
                                          <p:attrName>ppt_h</p:attrName>
                                        </p:attrNameLst>
                                      </p:cBhvr>
                                      <p:tavLst>
                                        <p:tav tm="0">
                                          <p:val>
                                            <p:fltVal val="0"/>
                                          </p:val>
                                        </p:tav>
                                        <p:tav tm="100000">
                                          <p:val>
                                            <p:strVal val="#ppt_h"/>
                                          </p:val>
                                        </p:tav>
                                      </p:tavLst>
                                    </p:anim>
                                    <p:animEffect transition="in" filter="fade">
                                      <p:cBhvr>
                                        <p:cTn id="51" dur="500"/>
                                        <p:tgtEl>
                                          <p:spTgt spid="9"/>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31" presetClass="entr" presetSubtype="0" fill="hold" nodeType="clickEffect">
                                  <p:stCondLst>
                                    <p:cond delay="0"/>
                                  </p:stCondLst>
                                  <p:childTnLst>
                                    <p:set>
                                      <p:cBhvr>
                                        <p:cTn id="55" dur="1" fill="hold">
                                          <p:stCondLst>
                                            <p:cond delay="0"/>
                                          </p:stCondLst>
                                        </p:cTn>
                                        <p:tgtEl>
                                          <p:spTgt spid="11"/>
                                        </p:tgtEl>
                                        <p:attrNameLst>
                                          <p:attrName>style.visibility</p:attrName>
                                        </p:attrNameLst>
                                      </p:cBhvr>
                                      <p:to>
                                        <p:strVal val="visible"/>
                                      </p:to>
                                    </p:set>
                                    <p:anim calcmode="lin" valueType="num">
                                      <p:cBhvr>
                                        <p:cTn id="56" dur="1000" fill="hold"/>
                                        <p:tgtEl>
                                          <p:spTgt spid="11"/>
                                        </p:tgtEl>
                                        <p:attrNameLst>
                                          <p:attrName>ppt_w</p:attrName>
                                        </p:attrNameLst>
                                      </p:cBhvr>
                                      <p:tavLst>
                                        <p:tav tm="0">
                                          <p:val>
                                            <p:fltVal val="0"/>
                                          </p:val>
                                        </p:tav>
                                        <p:tav tm="100000">
                                          <p:val>
                                            <p:strVal val="#ppt_w"/>
                                          </p:val>
                                        </p:tav>
                                      </p:tavLst>
                                    </p:anim>
                                    <p:anim calcmode="lin" valueType="num">
                                      <p:cBhvr>
                                        <p:cTn id="57" dur="1000" fill="hold"/>
                                        <p:tgtEl>
                                          <p:spTgt spid="11"/>
                                        </p:tgtEl>
                                        <p:attrNameLst>
                                          <p:attrName>ppt_h</p:attrName>
                                        </p:attrNameLst>
                                      </p:cBhvr>
                                      <p:tavLst>
                                        <p:tav tm="0">
                                          <p:val>
                                            <p:fltVal val="0"/>
                                          </p:val>
                                        </p:tav>
                                        <p:tav tm="100000">
                                          <p:val>
                                            <p:strVal val="#ppt_h"/>
                                          </p:val>
                                        </p:tav>
                                      </p:tavLst>
                                    </p:anim>
                                    <p:anim calcmode="lin" valueType="num">
                                      <p:cBhvr>
                                        <p:cTn id="58" dur="1000" fill="hold"/>
                                        <p:tgtEl>
                                          <p:spTgt spid="11"/>
                                        </p:tgtEl>
                                        <p:attrNameLst>
                                          <p:attrName>style.rotation</p:attrName>
                                        </p:attrNameLst>
                                      </p:cBhvr>
                                      <p:tavLst>
                                        <p:tav tm="0">
                                          <p:val>
                                            <p:fltVal val="90"/>
                                          </p:val>
                                        </p:tav>
                                        <p:tav tm="100000">
                                          <p:val>
                                            <p:fltVal val="0"/>
                                          </p:val>
                                        </p:tav>
                                      </p:tavLst>
                                    </p:anim>
                                    <p:animEffect transition="in" filter="fade">
                                      <p:cBhvr>
                                        <p:cTn id="59" dur="1000"/>
                                        <p:tgtEl>
                                          <p:spTgt spid="11"/>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3" presetClass="entr" presetSubtype="10" fill="hold" grpId="0" nodeType="clickEffect">
                                  <p:stCondLst>
                                    <p:cond delay="0"/>
                                  </p:stCondLst>
                                  <p:childTnLst>
                                    <p:set>
                                      <p:cBhvr>
                                        <p:cTn id="63" dur="1" fill="hold">
                                          <p:stCondLst>
                                            <p:cond delay="0"/>
                                          </p:stCondLst>
                                        </p:cTn>
                                        <p:tgtEl>
                                          <p:spTgt spid="186438"/>
                                        </p:tgtEl>
                                        <p:attrNameLst>
                                          <p:attrName>style.visibility</p:attrName>
                                        </p:attrNameLst>
                                      </p:cBhvr>
                                      <p:to>
                                        <p:strVal val="visible"/>
                                      </p:to>
                                    </p:set>
                                    <p:animEffect transition="in" filter="blinds(horizontal)">
                                      <p:cBhvr>
                                        <p:cTn id="64" dur="500"/>
                                        <p:tgtEl>
                                          <p:spTgt spid="186438"/>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31" presetClass="entr" presetSubtype="0" fill="hold" nodeType="clickEffect">
                                  <p:stCondLst>
                                    <p:cond delay="0"/>
                                  </p:stCondLst>
                                  <p:childTnLst>
                                    <p:set>
                                      <p:cBhvr>
                                        <p:cTn id="68" dur="1" fill="hold">
                                          <p:stCondLst>
                                            <p:cond delay="0"/>
                                          </p:stCondLst>
                                        </p:cTn>
                                        <p:tgtEl>
                                          <p:spTgt spid="4"/>
                                        </p:tgtEl>
                                        <p:attrNameLst>
                                          <p:attrName>style.visibility</p:attrName>
                                        </p:attrNameLst>
                                      </p:cBhvr>
                                      <p:to>
                                        <p:strVal val="visible"/>
                                      </p:to>
                                    </p:set>
                                    <p:anim calcmode="lin" valueType="num">
                                      <p:cBhvr>
                                        <p:cTn id="69" dur="1000" fill="hold"/>
                                        <p:tgtEl>
                                          <p:spTgt spid="4"/>
                                        </p:tgtEl>
                                        <p:attrNameLst>
                                          <p:attrName>ppt_w</p:attrName>
                                        </p:attrNameLst>
                                      </p:cBhvr>
                                      <p:tavLst>
                                        <p:tav tm="0">
                                          <p:val>
                                            <p:fltVal val="0"/>
                                          </p:val>
                                        </p:tav>
                                        <p:tav tm="100000">
                                          <p:val>
                                            <p:strVal val="#ppt_w"/>
                                          </p:val>
                                        </p:tav>
                                      </p:tavLst>
                                    </p:anim>
                                    <p:anim calcmode="lin" valueType="num">
                                      <p:cBhvr>
                                        <p:cTn id="70" dur="1000" fill="hold"/>
                                        <p:tgtEl>
                                          <p:spTgt spid="4"/>
                                        </p:tgtEl>
                                        <p:attrNameLst>
                                          <p:attrName>ppt_h</p:attrName>
                                        </p:attrNameLst>
                                      </p:cBhvr>
                                      <p:tavLst>
                                        <p:tav tm="0">
                                          <p:val>
                                            <p:fltVal val="0"/>
                                          </p:val>
                                        </p:tav>
                                        <p:tav tm="100000">
                                          <p:val>
                                            <p:strVal val="#ppt_h"/>
                                          </p:val>
                                        </p:tav>
                                      </p:tavLst>
                                    </p:anim>
                                    <p:anim calcmode="lin" valueType="num">
                                      <p:cBhvr>
                                        <p:cTn id="71" dur="1000" fill="hold"/>
                                        <p:tgtEl>
                                          <p:spTgt spid="4"/>
                                        </p:tgtEl>
                                        <p:attrNameLst>
                                          <p:attrName>style.rotation</p:attrName>
                                        </p:attrNameLst>
                                      </p:cBhvr>
                                      <p:tavLst>
                                        <p:tav tm="0">
                                          <p:val>
                                            <p:fltVal val="90"/>
                                          </p:val>
                                        </p:tav>
                                        <p:tav tm="100000">
                                          <p:val>
                                            <p:fltVal val="0"/>
                                          </p:val>
                                        </p:tav>
                                      </p:tavLst>
                                    </p:anim>
                                    <p:animEffect transition="in" filter="fade">
                                      <p:cBhvr>
                                        <p:cTn id="72"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24" grpId="0" build="p"/>
      <p:bldP spid="186436" grpId="0"/>
      <p:bldP spid="186437" grpId="0" animBg="1"/>
      <p:bldP spid="186438"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5"/>
          <p:cNvSpPr>
            <a:spLocks noChangeArrowheads="1"/>
          </p:cNvSpPr>
          <p:nvPr/>
        </p:nvSpPr>
        <p:spPr bwMode="auto">
          <a:xfrm>
            <a:off x="3803650" y="862013"/>
            <a:ext cx="5089525" cy="701675"/>
          </a:xfrm>
          <a:prstGeom prst="rect">
            <a:avLst/>
          </a:prstGeom>
          <a:noFill/>
          <a:ln w="9525">
            <a:noFill/>
            <a:miter lim="800000"/>
            <a:headEnd/>
            <a:tailEnd/>
          </a:ln>
        </p:spPr>
        <p:txBody>
          <a:bodyPr>
            <a:spAutoFit/>
          </a:bodyPr>
          <a:lstStyle/>
          <a:p>
            <a:pPr algn="ctr" eaLnBrk="0" hangingPunct="0">
              <a:lnSpc>
                <a:spcPct val="110000"/>
              </a:lnSpc>
            </a:pPr>
            <a:r>
              <a:rPr lang="zh-CN" altLang="en-US" b="1">
                <a:solidFill>
                  <a:srgbClr val="0000FF"/>
                </a:solidFill>
                <a:latin typeface="Times New Roman" pitchFamily="18" charset="0"/>
                <a:ea typeface="华文中宋"/>
                <a:cs typeface="华文中宋"/>
              </a:rPr>
              <a:t>自然过程：孤立系统自动进行的过程。</a:t>
            </a:r>
          </a:p>
          <a:p>
            <a:pPr algn="ctr" eaLnBrk="0" hangingPunct="0">
              <a:lnSpc>
                <a:spcPct val="110000"/>
              </a:lnSpc>
            </a:pPr>
            <a:r>
              <a:rPr lang="zh-CN" altLang="en-US" b="1">
                <a:solidFill>
                  <a:srgbClr val="0000FF"/>
                </a:solidFill>
                <a:latin typeface="Times New Roman" pitchFamily="18" charset="0"/>
                <a:ea typeface="华文中宋"/>
                <a:cs typeface="华文中宋"/>
              </a:rPr>
              <a:t>热二律表明自然过程具有方向性。</a:t>
            </a:r>
          </a:p>
        </p:txBody>
      </p:sp>
      <p:sp>
        <p:nvSpPr>
          <p:cNvPr id="110" name="Text Box 54"/>
          <p:cNvSpPr txBox="1">
            <a:spLocks noChangeArrowheads="1"/>
          </p:cNvSpPr>
          <p:nvPr/>
        </p:nvSpPr>
        <p:spPr bwMode="auto">
          <a:xfrm>
            <a:off x="827088" y="1293813"/>
            <a:ext cx="3735387" cy="376237"/>
          </a:xfrm>
          <a:prstGeom prst="rect">
            <a:avLst/>
          </a:prstGeom>
          <a:noFill/>
          <a:ln w="9525">
            <a:noFill/>
            <a:miter lim="800000"/>
            <a:headEnd/>
            <a:tailEnd/>
          </a:ln>
        </p:spPr>
        <p:txBody>
          <a:bodyPr>
            <a:spAutoFit/>
          </a:bodyPr>
          <a:lstStyle/>
          <a:p>
            <a:pPr>
              <a:lnSpc>
                <a:spcPct val="110000"/>
              </a:lnSpc>
              <a:buFont typeface="Arial" charset="0"/>
              <a:buChar char="•"/>
            </a:pPr>
            <a:r>
              <a:rPr kumimoji="1" lang="en-US" altLang="zh-CN" b="1">
                <a:solidFill>
                  <a:srgbClr val="C00000"/>
                </a:solidFill>
                <a:latin typeface="华文中宋"/>
                <a:ea typeface="华文中宋"/>
                <a:cs typeface="华文中宋"/>
              </a:rPr>
              <a:t>  </a:t>
            </a:r>
            <a:r>
              <a:rPr kumimoji="1" lang="zh-CN" altLang="en-US" b="1">
                <a:solidFill>
                  <a:srgbClr val="C00000"/>
                </a:solidFill>
                <a:latin typeface="华文中宋"/>
                <a:ea typeface="华文中宋"/>
                <a:cs typeface="华文中宋"/>
              </a:rPr>
              <a:t>功热转换的方向性</a:t>
            </a:r>
          </a:p>
        </p:txBody>
      </p:sp>
      <p:sp>
        <p:nvSpPr>
          <p:cNvPr id="139" name="Text Box 52"/>
          <p:cNvSpPr txBox="1">
            <a:spLocks noChangeArrowheads="1"/>
          </p:cNvSpPr>
          <p:nvPr/>
        </p:nvSpPr>
        <p:spPr bwMode="auto">
          <a:xfrm>
            <a:off x="827088" y="1684338"/>
            <a:ext cx="7416800" cy="461962"/>
          </a:xfrm>
          <a:prstGeom prst="rect">
            <a:avLst/>
          </a:prstGeom>
          <a:solidFill>
            <a:schemeClr val="bg1"/>
          </a:solidFill>
          <a:ln w="9525">
            <a:noFill/>
            <a:miter lim="800000"/>
            <a:headEnd/>
            <a:tailEnd/>
          </a:ln>
        </p:spPr>
        <p:txBody>
          <a:bodyPr>
            <a:spAutoFit/>
          </a:bodyPr>
          <a:lstStyle/>
          <a:p>
            <a:r>
              <a:rPr kumimoji="1" lang="en-US" altLang="zh-CN" sz="2400" b="1">
                <a:solidFill>
                  <a:srgbClr val="000000"/>
                </a:solidFill>
                <a:latin typeface="华文中宋"/>
                <a:ea typeface="华文中宋"/>
                <a:cs typeface="华文中宋"/>
              </a:rPr>
              <a:t>      </a:t>
            </a:r>
            <a:r>
              <a:rPr kumimoji="1" lang="zh-CN" altLang="en-US" b="1">
                <a:solidFill>
                  <a:srgbClr val="000000"/>
                </a:solidFill>
                <a:latin typeface="华文中宋"/>
                <a:ea typeface="华文中宋"/>
                <a:cs typeface="华文中宋"/>
              </a:rPr>
              <a:t>功 </a:t>
            </a:r>
            <a:r>
              <a:rPr kumimoji="1" lang="zh-CN" altLang="en-US" b="1">
                <a:solidFill>
                  <a:srgbClr val="000000"/>
                </a:solidFill>
                <a:latin typeface="华文中宋"/>
                <a:ea typeface="华文中宋"/>
                <a:cs typeface="华文中宋"/>
                <a:sym typeface="Symbol" pitchFamily="18" charset="2"/>
              </a:rPr>
              <a:t></a:t>
            </a:r>
            <a:r>
              <a:rPr kumimoji="1" lang="zh-CN" altLang="en-US" b="1">
                <a:solidFill>
                  <a:srgbClr val="000000"/>
                </a:solidFill>
                <a:latin typeface="华文中宋"/>
                <a:ea typeface="华文中宋"/>
                <a:cs typeface="华文中宋"/>
              </a:rPr>
              <a:t> 热 可</a:t>
            </a:r>
            <a:r>
              <a:rPr kumimoji="1" lang="zh-CN" altLang="en-US" b="1" u="sng">
                <a:solidFill>
                  <a:srgbClr val="0000FF"/>
                </a:solidFill>
                <a:latin typeface="华文中宋"/>
                <a:ea typeface="华文中宋"/>
                <a:cs typeface="华文中宋"/>
              </a:rPr>
              <a:t>自动</a:t>
            </a:r>
            <a:r>
              <a:rPr kumimoji="1" lang="zh-CN" altLang="en-US" b="1">
                <a:solidFill>
                  <a:srgbClr val="000000"/>
                </a:solidFill>
                <a:latin typeface="华文中宋"/>
                <a:ea typeface="华文中宋"/>
                <a:cs typeface="华文中宋"/>
              </a:rPr>
              <a:t>进行。例如阻尼振动，机械能转变为热能。 </a:t>
            </a:r>
          </a:p>
        </p:txBody>
      </p:sp>
      <p:sp>
        <p:nvSpPr>
          <p:cNvPr id="140" name="Text Box 54"/>
          <p:cNvSpPr txBox="1">
            <a:spLocks noChangeArrowheads="1"/>
          </p:cNvSpPr>
          <p:nvPr/>
        </p:nvSpPr>
        <p:spPr bwMode="auto">
          <a:xfrm>
            <a:off x="900113" y="2211388"/>
            <a:ext cx="3735387" cy="369887"/>
          </a:xfrm>
          <a:prstGeom prst="rect">
            <a:avLst/>
          </a:prstGeom>
          <a:noFill/>
          <a:ln w="9525">
            <a:noFill/>
            <a:miter lim="800000"/>
            <a:headEnd/>
            <a:tailEnd/>
          </a:ln>
        </p:spPr>
        <p:txBody>
          <a:bodyPr>
            <a:spAutoFit/>
          </a:bodyPr>
          <a:lstStyle/>
          <a:p>
            <a:pPr>
              <a:buFontTx/>
              <a:buChar char="•"/>
            </a:pPr>
            <a:r>
              <a:rPr kumimoji="1" lang="en-US" altLang="zh-CN" b="1">
                <a:solidFill>
                  <a:srgbClr val="C00000"/>
                </a:solidFill>
                <a:latin typeface="华文中宋"/>
                <a:ea typeface="华文中宋"/>
                <a:cs typeface="华文中宋"/>
              </a:rPr>
              <a:t> </a:t>
            </a:r>
            <a:r>
              <a:rPr kumimoji="1" lang="zh-CN" altLang="en-US" b="1">
                <a:solidFill>
                  <a:srgbClr val="C00000"/>
                </a:solidFill>
                <a:latin typeface="华文中宋"/>
                <a:ea typeface="华文中宋"/>
                <a:cs typeface="华文中宋"/>
              </a:rPr>
              <a:t>热传导的方向性</a:t>
            </a:r>
            <a:endParaRPr kumimoji="1" lang="zh-CN" altLang="en-US">
              <a:solidFill>
                <a:srgbClr val="C00000"/>
              </a:solidFill>
              <a:latin typeface="华文中宋"/>
              <a:ea typeface="华文中宋"/>
              <a:cs typeface="华文中宋"/>
            </a:endParaRPr>
          </a:p>
        </p:txBody>
      </p:sp>
      <p:sp>
        <p:nvSpPr>
          <p:cNvPr id="38" name="Text Box 55"/>
          <p:cNvSpPr txBox="1">
            <a:spLocks noChangeArrowheads="1"/>
          </p:cNvSpPr>
          <p:nvPr/>
        </p:nvSpPr>
        <p:spPr bwMode="auto">
          <a:xfrm>
            <a:off x="1476375" y="2589213"/>
            <a:ext cx="5964238" cy="376237"/>
          </a:xfrm>
          <a:prstGeom prst="rect">
            <a:avLst/>
          </a:prstGeom>
          <a:solidFill>
            <a:schemeClr val="bg1"/>
          </a:solidFill>
          <a:ln w="9525">
            <a:noFill/>
            <a:miter lim="800000"/>
            <a:headEnd/>
            <a:tailEnd/>
          </a:ln>
        </p:spPr>
        <p:txBody>
          <a:bodyPr>
            <a:spAutoFit/>
          </a:bodyPr>
          <a:lstStyle/>
          <a:p>
            <a:pPr>
              <a:lnSpc>
                <a:spcPct val="110000"/>
              </a:lnSpc>
            </a:pPr>
            <a:r>
              <a:rPr kumimoji="1" lang="zh-CN" altLang="en-US" b="1">
                <a:solidFill>
                  <a:srgbClr val="000000"/>
                </a:solidFill>
                <a:latin typeface="华文中宋"/>
                <a:ea typeface="华文中宋"/>
                <a:cs typeface="华文中宋"/>
              </a:rPr>
              <a:t>热量可以从高温</a:t>
            </a:r>
            <a:r>
              <a:rPr kumimoji="1" lang="zh-CN" altLang="en-US" b="1" u="sng">
                <a:solidFill>
                  <a:srgbClr val="0000FF"/>
                </a:solidFill>
                <a:latin typeface="华文中宋"/>
                <a:ea typeface="华文中宋"/>
                <a:cs typeface="华文中宋"/>
              </a:rPr>
              <a:t>自动</a:t>
            </a:r>
            <a:r>
              <a:rPr kumimoji="1" lang="zh-CN" altLang="en-US" b="1">
                <a:solidFill>
                  <a:srgbClr val="000000"/>
                </a:solidFill>
                <a:latin typeface="华文中宋"/>
                <a:ea typeface="华文中宋"/>
                <a:cs typeface="华文中宋"/>
              </a:rPr>
              <a:t>传递到低温区域</a:t>
            </a:r>
          </a:p>
        </p:txBody>
      </p:sp>
      <p:sp>
        <p:nvSpPr>
          <p:cNvPr id="39" name="Text Box 4"/>
          <p:cNvSpPr txBox="1">
            <a:spLocks noChangeArrowheads="1"/>
          </p:cNvSpPr>
          <p:nvPr/>
        </p:nvSpPr>
        <p:spPr bwMode="auto">
          <a:xfrm>
            <a:off x="877888" y="3021013"/>
            <a:ext cx="4995862" cy="369887"/>
          </a:xfrm>
          <a:prstGeom prst="rect">
            <a:avLst/>
          </a:prstGeom>
          <a:noFill/>
          <a:ln w="9525">
            <a:noFill/>
            <a:miter lim="800000"/>
            <a:headEnd/>
            <a:tailEnd/>
          </a:ln>
        </p:spPr>
        <p:txBody>
          <a:bodyPr>
            <a:spAutoFit/>
          </a:bodyPr>
          <a:lstStyle/>
          <a:p>
            <a:pPr>
              <a:buFontTx/>
              <a:buChar char="•"/>
            </a:pPr>
            <a:r>
              <a:rPr kumimoji="1" lang="en-US" altLang="zh-CN" b="1">
                <a:solidFill>
                  <a:srgbClr val="C00000"/>
                </a:solidFill>
                <a:latin typeface="华文中宋"/>
                <a:ea typeface="华文中宋"/>
                <a:cs typeface="华文中宋"/>
              </a:rPr>
              <a:t> </a:t>
            </a:r>
            <a:r>
              <a:rPr kumimoji="1" lang="zh-CN" altLang="en-US" b="1">
                <a:solidFill>
                  <a:srgbClr val="C00000"/>
                </a:solidFill>
                <a:latin typeface="华文中宋"/>
                <a:ea typeface="华文中宋"/>
                <a:cs typeface="华文中宋"/>
              </a:rPr>
              <a:t>气体自由膨胀的方向性</a:t>
            </a:r>
            <a:endParaRPr kumimoji="1" lang="zh-CN" altLang="en-US">
              <a:solidFill>
                <a:srgbClr val="C00000"/>
              </a:solidFill>
              <a:latin typeface="华文中宋"/>
              <a:ea typeface="华文中宋"/>
              <a:cs typeface="华文中宋"/>
            </a:endParaRPr>
          </a:p>
        </p:txBody>
      </p:sp>
      <p:grpSp>
        <p:nvGrpSpPr>
          <p:cNvPr id="2" name="Group 19"/>
          <p:cNvGrpSpPr>
            <a:grpSpLocks/>
          </p:cNvGrpSpPr>
          <p:nvPr/>
        </p:nvGrpSpPr>
        <p:grpSpPr bwMode="auto">
          <a:xfrm>
            <a:off x="1979613" y="3387725"/>
            <a:ext cx="1709737" cy="747713"/>
            <a:chOff x="1463" y="1305"/>
            <a:chExt cx="1077" cy="628"/>
          </a:xfrm>
        </p:grpSpPr>
        <p:grpSp>
          <p:nvGrpSpPr>
            <p:cNvPr id="130062" name="Group 9"/>
            <p:cNvGrpSpPr>
              <a:grpSpLocks/>
            </p:cNvGrpSpPr>
            <p:nvPr/>
          </p:nvGrpSpPr>
          <p:grpSpPr bwMode="auto">
            <a:xfrm>
              <a:off x="1463" y="1395"/>
              <a:ext cx="1077" cy="538"/>
              <a:chOff x="981" y="2869"/>
              <a:chExt cx="1077" cy="538"/>
            </a:xfrm>
          </p:grpSpPr>
          <p:sp>
            <p:nvSpPr>
              <p:cNvPr id="130065" name="Rectangle 10" descr="宽上对角线"/>
              <p:cNvSpPr>
                <a:spLocks noChangeArrowheads="1"/>
              </p:cNvSpPr>
              <p:nvPr/>
            </p:nvSpPr>
            <p:spPr bwMode="auto">
              <a:xfrm>
                <a:off x="981" y="2869"/>
                <a:ext cx="1077" cy="538"/>
              </a:xfrm>
              <a:prstGeom prst="rect">
                <a:avLst/>
              </a:prstGeom>
              <a:pattFill prst="wdUpDiag">
                <a:fgClr>
                  <a:schemeClr val="tx1"/>
                </a:fgClr>
                <a:bgClr>
                  <a:schemeClr val="bg1"/>
                </a:bgClr>
              </a:pattFill>
              <a:ln w="9525">
                <a:solidFill>
                  <a:schemeClr val="tx1"/>
                </a:solidFill>
                <a:miter lim="800000"/>
                <a:headEnd/>
                <a:tailEnd/>
              </a:ln>
            </p:spPr>
            <p:txBody>
              <a:bodyPr wrap="none" anchor="ctr"/>
              <a:lstStyle/>
              <a:p>
                <a:endParaRPr lang="zh-CN" altLang="zh-CN">
                  <a:solidFill>
                    <a:srgbClr val="000000"/>
                  </a:solidFill>
                  <a:latin typeface="Times New Roman" pitchFamily="18" charset="0"/>
                </a:endParaRPr>
              </a:p>
            </p:txBody>
          </p:sp>
          <p:sp>
            <p:nvSpPr>
              <p:cNvPr id="130066" name="Rectangle 11" descr="大纸屑"/>
              <p:cNvSpPr>
                <a:spLocks noChangeArrowheads="1"/>
              </p:cNvSpPr>
              <p:nvPr/>
            </p:nvSpPr>
            <p:spPr bwMode="auto">
              <a:xfrm>
                <a:off x="1019" y="2910"/>
                <a:ext cx="482" cy="457"/>
              </a:xfrm>
              <a:prstGeom prst="rect">
                <a:avLst/>
              </a:prstGeom>
              <a:pattFill prst="lgConfetti">
                <a:fgClr>
                  <a:srgbClr val="FF0000"/>
                </a:fgClr>
                <a:bgClr>
                  <a:schemeClr val="bg1"/>
                </a:bgClr>
              </a:pattFill>
              <a:ln w="9525">
                <a:solidFill>
                  <a:schemeClr val="tx1"/>
                </a:solidFill>
                <a:miter lim="800000"/>
                <a:headEnd/>
                <a:tailEnd/>
              </a:ln>
            </p:spPr>
            <p:txBody>
              <a:bodyPr wrap="none" anchor="ctr"/>
              <a:lstStyle/>
              <a:p>
                <a:endParaRPr lang="zh-CN" altLang="zh-CN">
                  <a:solidFill>
                    <a:srgbClr val="000000"/>
                  </a:solidFill>
                  <a:latin typeface="Times New Roman" pitchFamily="18" charset="0"/>
                </a:endParaRPr>
              </a:p>
            </p:txBody>
          </p:sp>
          <p:sp>
            <p:nvSpPr>
              <p:cNvPr id="130067" name="Rectangle 12"/>
              <p:cNvSpPr>
                <a:spLocks noChangeArrowheads="1"/>
              </p:cNvSpPr>
              <p:nvPr/>
            </p:nvSpPr>
            <p:spPr bwMode="auto">
              <a:xfrm>
                <a:off x="1507" y="2907"/>
                <a:ext cx="511" cy="460"/>
              </a:xfrm>
              <a:prstGeom prst="rect">
                <a:avLst/>
              </a:prstGeom>
              <a:solidFill>
                <a:schemeClr val="bg1"/>
              </a:solidFill>
              <a:ln w="9525">
                <a:solidFill>
                  <a:schemeClr val="tx1"/>
                </a:solidFill>
                <a:miter lim="800000"/>
                <a:headEnd/>
                <a:tailEnd/>
              </a:ln>
            </p:spPr>
            <p:txBody>
              <a:bodyPr wrap="none" anchor="ctr"/>
              <a:lstStyle/>
              <a:p>
                <a:endParaRPr lang="zh-CN" altLang="zh-CN">
                  <a:solidFill>
                    <a:srgbClr val="000000"/>
                  </a:solidFill>
                  <a:latin typeface="Times New Roman" pitchFamily="18" charset="0"/>
                </a:endParaRPr>
              </a:p>
            </p:txBody>
          </p:sp>
        </p:grpSp>
        <p:sp>
          <p:nvSpPr>
            <p:cNvPr id="130063" name="Line 17"/>
            <p:cNvSpPr>
              <a:spLocks noChangeShapeType="1"/>
            </p:cNvSpPr>
            <p:nvPr/>
          </p:nvSpPr>
          <p:spPr bwMode="auto">
            <a:xfrm flipV="1">
              <a:off x="2001" y="1334"/>
              <a:ext cx="0" cy="567"/>
            </a:xfrm>
            <a:prstGeom prst="line">
              <a:avLst/>
            </a:prstGeom>
            <a:noFill/>
            <a:ln w="28575">
              <a:solidFill>
                <a:schemeClr val="tx1"/>
              </a:solidFill>
              <a:round/>
              <a:headEnd/>
              <a:tailEnd/>
            </a:ln>
          </p:spPr>
          <p:txBody>
            <a:bodyPr/>
            <a:lstStyle/>
            <a:p>
              <a:endParaRPr lang="zh-CN" altLang="en-US"/>
            </a:p>
          </p:txBody>
        </p:sp>
        <p:sp>
          <p:nvSpPr>
            <p:cNvPr id="130064" name="Rectangle 18"/>
            <p:cNvSpPr>
              <a:spLocks noChangeArrowheads="1"/>
            </p:cNvSpPr>
            <p:nvPr/>
          </p:nvSpPr>
          <p:spPr bwMode="auto">
            <a:xfrm>
              <a:off x="1944" y="1305"/>
              <a:ext cx="113" cy="29"/>
            </a:xfrm>
            <a:prstGeom prst="rect">
              <a:avLst/>
            </a:prstGeom>
            <a:solidFill>
              <a:schemeClr val="accent1"/>
            </a:solidFill>
            <a:ln w="9525">
              <a:solidFill>
                <a:schemeClr val="tx1"/>
              </a:solidFill>
              <a:miter lim="800000"/>
              <a:headEnd/>
              <a:tailEnd/>
            </a:ln>
          </p:spPr>
          <p:txBody>
            <a:bodyPr wrap="none" anchor="ctr"/>
            <a:lstStyle/>
            <a:p>
              <a:endParaRPr lang="zh-CN" altLang="zh-CN">
                <a:solidFill>
                  <a:srgbClr val="000000"/>
                </a:solidFill>
                <a:latin typeface="Times New Roman" pitchFamily="18" charset="0"/>
              </a:endParaRPr>
            </a:p>
          </p:txBody>
        </p:sp>
      </p:grpSp>
      <p:grpSp>
        <p:nvGrpSpPr>
          <p:cNvPr id="6" name="Group 20"/>
          <p:cNvGrpSpPr>
            <a:grpSpLocks/>
          </p:cNvGrpSpPr>
          <p:nvPr/>
        </p:nvGrpSpPr>
        <p:grpSpPr bwMode="auto">
          <a:xfrm>
            <a:off x="5599113" y="3503613"/>
            <a:ext cx="1709737" cy="641350"/>
            <a:chOff x="3334" y="3181"/>
            <a:chExt cx="1077" cy="538"/>
          </a:xfrm>
        </p:grpSpPr>
        <p:sp>
          <p:nvSpPr>
            <p:cNvPr id="130060" name="Rectangle 21" descr="宽上对角线"/>
            <p:cNvSpPr>
              <a:spLocks noChangeArrowheads="1"/>
            </p:cNvSpPr>
            <p:nvPr/>
          </p:nvSpPr>
          <p:spPr bwMode="auto">
            <a:xfrm>
              <a:off x="3334" y="3181"/>
              <a:ext cx="1077" cy="538"/>
            </a:xfrm>
            <a:prstGeom prst="rect">
              <a:avLst/>
            </a:prstGeom>
            <a:pattFill prst="wdUpDiag">
              <a:fgClr>
                <a:schemeClr val="tx1"/>
              </a:fgClr>
              <a:bgClr>
                <a:schemeClr val="bg1"/>
              </a:bgClr>
            </a:pattFill>
            <a:ln w="9525">
              <a:solidFill>
                <a:schemeClr val="tx1"/>
              </a:solidFill>
              <a:miter lim="800000"/>
              <a:headEnd/>
              <a:tailEnd/>
            </a:ln>
          </p:spPr>
          <p:txBody>
            <a:bodyPr wrap="none" anchor="ctr"/>
            <a:lstStyle/>
            <a:p>
              <a:endParaRPr lang="zh-CN" altLang="zh-CN">
                <a:solidFill>
                  <a:srgbClr val="000000"/>
                </a:solidFill>
                <a:latin typeface="Times New Roman" pitchFamily="18" charset="0"/>
              </a:endParaRPr>
            </a:p>
          </p:txBody>
        </p:sp>
        <p:sp>
          <p:nvSpPr>
            <p:cNvPr id="130061" name="Rectangle 22" descr="小纸屑"/>
            <p:cNvSpPr>
              <a:spLocks noChangeArrowheads="1"/>
            </p:cNvSpPr>
            <p:nvPr/>
          </p:nvSpPr>
          <p:spPr bwMode="auto">
            <a:xfrm>
              <a:off x="3378" y="3222"/>
              <a:ext cx="993" cy="459"/>
            </a:xfrm>
            <a:prstGeom prst="rect">
              <a:avLst/>
            </a:prstGeom>
            <a:pattFill prst="smConfetti">
              <a:fgClr>
                <a:srgbClr val="FF0000"/>
              </a:fgClr>
              <a:bgClr>
                <a:schemeClr val="bg1"/>
              </a:bgClr>
            </a:pattFill>
            <a:ln w="9525">
              <a:solidFill>
                <a:schemeClr val="tx1"/>
              </a:solidFill>
              <a:miter lim="800000"/>
              <a:headEnd/>
              <a:tailEnd/>
            </a:ln>
          </p:spPr>
          <p:txBody>
            <a:bodyPr wrap="none" anchor="ctr"/>
            <a:lstStyle/>
            <a:p>
              <a:endParaRPr lang="zh-CN" altLang="zh-CN">
                <a:solidFill>
                  <a:srgbClr val="000000"/>
                </a:solidFill>
                <a:latin typeface="Times New Roman" pitchFamily="18" charset="0"/>
              </a:endParaRPr>
            </a:p>
          </p:txBody>
        </p:sp>
      </p:grpSp>
      <p:sp>
        <p:nvSpPr>
          <p:cNvPr id="119831" name="Text Box 23"/>
          <p:cNvSpPr txBox="1">
            <a:spLocks noChangeArrowheads="1"/>
          </p:cNvSpPr>
          <p:nvPr/>
        </p:nvSpPr>
        <p:spPr bwMode="auto">
          <a:xfrm>
            <a:off x="755650" y="4198938"/>
            <a:ext cx="7488238" cy="369887"/>
          </a:xfrm>
          <a:prstGeom prst="rect">
            <a:avLst/>
          </a:prstGeom>
          <a:noFill/>
          <a:ln w="9525">
            <a:noFill/>
            <a:miter lim="800000"/>
            <a:headEnd/>
            <a:tailEnd/>
          </a:ln>
        </p:spPr>
        <p:txBody>
          <a:bodyPr>
            <a:spAutoFit/>
          </a:bodyPr>
          <a:lstStyle/>
          <a:p>
            <a:r>
              <a:rPr kumimoji="1" lang="en-US" altLang="zh-CN" b="1">
                <a:solidFill>
                  <a:srgbClr val="000000"/>
                </a:solidFill>
                <a:latin typeface="华文中宋"/>
                <a:ea typeface="华文中宋"/>
                <a:cs typeface="华文中宋"/>
              </a:rPr>
              <a:t>      </a:t>
            </a:r>
            <a:r>
              <a:rPr kumimoji="1" lang="zh-CN" altLang="en-US" b="1">
                <a:solidFill>
                  <a:srgbClr val="000000"/>
                </a:solidFill>
                <a:latin typeface="华文中宋"/>
                <a:ea typeface="华文中宋"/>
                <a:cs typeface="华文中宋"/>
              </a:rPr>
              <a:t>气体自由膨胀是可以</a:t>
            </a:r>
            <a:r>
              <a:rPr kumimoji="1" lang="zh-CN" altLang="en-US" b="1" u="sng">
                <a:solidFill>
                  <a:srgbClr val="0000FF"/>
                </a:solidFill>
                <a:latin typeface="华文中宋"/>
                <a:ea typeface="华文中宋"/>
                <a:cs typeface="华文中宋"/>
              </a:rPr>
              <a:t>自动</a:t>
            </a:r>
            <a:r>
              <a:rPr kumimoji="1" lang="zh-CN" altLang="en-US" b="1">
                <a:solidFill>
                  <a:srgbClr val="000000"/>
                </a:solidFill>
                <a:latin typeface="华文中宋"/>
                <a:ea typeface="华文中宋"/>
                <a:cs typeface="华文中宋"/>
              </a:rPr>
              <a:t>进行的</a:t>
            </a:r>
            <a:r>
              <a:rPr kumimoji="1" lang="en-US" altLang="zh-CN" b="1">
                <a:solidFill>
                  <a:srgbClr val="000000"/>
                </a:solidFill>
                <a:latin typeface="华文中宋"/>
                <a:ea typeface="华文中宋"/>
                <a:cs typeface="华文中宋"/>
              </a:rPr>
              <a:t>,</a:t>
            </a:r>
            <a:r>
              <a:rPr kumimoji="1" lang="zh-CN" altLang="en-US" b="1">
                <a:solidFill>
                  <a:srgbClr val="000000"/>
                </a:solidFill>
                <a:latin typeface="华文中宋"/>
                <a:ea typeface="华文中宋"/>
                <a:cs typeface="华文中宋"/>
              </a:rPr>
              <a:t>但自动收缩的过程谁也没有见到过。</a:t>
            </a:r>
          </a:p>
        </p:txBody>
      </p:sp>
      <p:sp>
        <p:nvSpPr>
          <p:cNvPr id="198735" name="Line 79"/>
          <p:cNvSpPr>
            <a:spLocks noChangeShapeType="1"/>
          </p:cNvSpPr>
          <p:nvPr/>
        </p:nvSpPr>
        <p:spPr bwMode="auto">
          <a:xfrm>
            <a:off x="3781425" y="3821113"/>
            <a:ext cx="1727200" cy="0"/>
          </a:xfrm>
          <a:prstGeom prst="line">
            <a:avLst/>
          </a:prstGeom>
          <a:noFill/>
          <a:ln w="38100">
            <a:solidFill>
              <a:schemeClr val="tx1"/>
            </a:solidFill>
            <a:round/>
            <a:headEnd/>
            <a:tailEnd type="stealth" w="lg" len="lg"/>
          </a:ln>
        </p:spPr>
        <p:txBody>
          <a:bodyPr/>
          <a:lstStyle/>
          <a:p>
            <a:endParaRPr lang="zh-CN" altLang="en-US"/>
          </a:p>
        </p:txBody>
      </p:sp>
      <p:sp>
        <p:nvSpPr>
          <p:cNvPr id="21" name="Text Box 2"/>
          <p:cNvSpPr>
            <a:spLocks noChangeArrowheads="1"/>
          </p:cNvSpPr>
          <p:nvPr/>
        </p:nvSpPr>
        <p:spPr bwMode="auto">
          <a:xfrm>
            <a:off x="839788" y="874713"/>
            <a:ext cx="2941637" cy="400050"/>
          </a:xfrm>
          <a:prstGeom prst="homePlate">
            <a:avLst>
              <a:gd name="adj" fmla="val 49770"/>
            </a:avLst>
          </a:prstGeom>
          <a:solidFill>
            <a:srgbClr val="539A84"/>
          </a:solidFill>
          <a:ln w="9525">
            <a:noFill/>
            <a:miter lim="800000"/>
            <a:headEnd/>
            <a:tailEnd/>
          </a:ln>
        </p:spPr>
        <p:txBody>
          <a:bodyPr>
            <a:spAutoFit/>
          </a:bodyPr>
          <a:lstStyle/>
          <a:p>
            <a:pPr>
              <a:buFont typeface="Arial" charset="0"/>
              <a:buNone/>
            </a:pPr>
            <a:r>
              <a:rPr kumimoji="1" lang="zh-CN" altLang="en-US" sz="2000" b="1">
                <a:solidFill>
                  <a:srgbClr val="FFFFFF"/>
                </a:solidFill>
                <a:latin typeface="微软雅黑" pitchFamily="34" charset="-122"/>
                <a:ea typeface="微软雅黑" pitchFamily="34" charset="-122"/>
              </a:rPr>
              <a:t>二、自然过程的方向性</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wipe(left)">
                                      <p:cBhvr>
                                        <p:cTn id="7" dur="500"/>
                                        <p:tgtEl>
                                          <p:spTgt spid="2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10"/>
                                        </p:tgtEl>
                                        <p:attrNameLst>
                                          <p:attrName>style.visibility</p:attrName>
                                        </p:attrNameLst>
                                      </p:cBhvr>
                                      <p:to>
                                        <p:strVal val="visible"/>
                                      </p:to>
                                    </p:set>
                                    <p:animEffect transition="in" filter="wipe(left)">
                                      <p:cBhvr>
                                        <p:cTn id="17" dur="500"/>
                                        <p:tgtEl>
                                          <p:spTgt spid="11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39"/>
                                        </p:tgtEl>
                                        <p:attrNameLst>
                                          <p:attrName>style.visibility</p:attrName>
                                        </p:attrNameLst>
                                      </p:cBhvr>
                                      <p:to>
                                        <p:strVal val="visible"/>
                                      </p:to>
                                    </p:set>
                                    <p:animEffect transition="in" filter="wipe(left)">
                                      <p:cBhvr>
                                        <p:cTn id="22" dur="500"/>
                                        <p:tgtEl>
                                          <p:spTgt spid="13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40"/>
                                        </p:tgtEl>
                                        <p:attrNameLst>
                                          <p:attrName>style.visibility</p:attrName>
                                        </p:attrNameLst>
                                      </p:cBhvr>
                                      <p:to>
                                        <p:strVal val="visible"/>
                                      </p:to>
                                    </p:set>
                                    <p:animEffect transition="in" filter="wipe(left)">
                                      <p:cBhvr>
                                        <p:cTn id="27" dur="500"/>
                                        <p:tgtEl>
                                          <p:spTgt spid="140"/>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8"/>
                                        </p:tgtEl>
                                        <p:attrNameLst>
                                          <p:attrName>style.visibility</p:attrName>
                                        </p:attrNameLst>
                                      </p:cBhvr>
                                      <p:to>
                                        <p:strVal val="visible"/>
                                      </p:to>
                                    </p:set>
                                    <p:animEffect transition="in" filter="wipe(left)">
                                      <p:cBhvr>
                                        <p:cTn id="32" dur="500"/>
                                        <p:tgtEl>
                                          <p:spTgt spid="38"/>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39"/>
                                        </p:tgtEl>
                                        <p:attrNameLst>
                                          <p:attrName>style.visibility</p:attrName>
                                        </p:attrNameLst>
                                      </p:cBhvr>
                                      <p:to>
                                        <p:strVal val="visible"/>
                                      </p:to>
                                    </p:set>
                                    <p:animEffect transition="in" filter="wipe(left)">
                                      <p:cBhvr>
                                        <p:cTn id="37" dur="500"/>
                                        <p:tgtEl>
                                          <p:spTgt spid="39"/>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2"/>
                                        </p:tgtEl>
                                        <p:attrNameLst>
                                          <p:attrName>style.visibility</p:attrName>
                                        </p:attrNameLst>
                                      </p:cBhvr>
                                      <p:to>
                                        <p:strVal val="visible"/>
                                      </p:to>
                                    </p:set>
                                    <p:animEffect transition="in" filter="wipe(left)">
                                      <p:cBhvr>
                                        <p:cTn id="42" dur="500"/>
                                        <p:tgtEl>
                                          <p:spTgt spid="2"/>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198735"/>
                                        </p:tgtEl>
                                        <p:attrNameLst>
                                          <p:attrName>style.visibility</p:attrName>
                                        </p:attrNameLst>
                                      </p:cBhvr>
                                      <p:to>
                                        <p:strVal val="visible"/>
                                      </p:to>
                                    </p:set>
                                    <p:animEffect transition="in" filter="blinds(horizontal)">
                                      <p:cBhvr>
                                        <p:cTn id="47" dur="500"/>
                                        <p:tgtEl>
                                          <p:spTgt spid="198735"/>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6"/>
                                        </p:tgtEl>
                                        <p:attrNameLst>
                                          <p:attrName>style.visibility</p:attrName>
                                        </p:attrNameLst>
                                      </p:cBhvr>
                                      <p:to>
                                        <p:strVal val="visible"/>
                                      </p:to>
                                    </p:set>
                                    <p:animEffect transition="in" filter="wipe(left)">
                                      <p:cBhvr>
                                        <p:cTn id="52" dur="500"/>
                                        <p:tgtEl>
                                          <p:spTgt spid="6"/>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19831"/>
                                        </p:tgtEl>
                                        <p:attrNameLst>
                                          <p:attrName>style.visibility</p:attrName>
                                        </p:attrNameLst>
                                      </p:cBhvr>
                                      <p:to>
                                        <p:strVal val="visible"/>
                                      </p:to>
                                    </p:set>
                                    <p:animEffect transition="in" filter="wipe(left)">
                                      <p:cBhvr>
                                        <p:cTn id="57" dur="500"/>
                                        <p:tgtEl>
                                          <p:spTgt spid="1198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10" grpId="0"/>
      <p:bldP spid="139" grpId="0" animBg="1" autoUpdateAnimBg="0"/>
      <p:bldP spid="140" grpId="0"/>
      <p:bldP spid="38" grpId="0" animBg="1"/>
      <p:bldP spid="39" grpId="0" autoUpdateAnimBg="0"/>
      <p:bldP spid="119831" grpId="0" autoUpdateAnimBg="0"/>
      <p:bldP spid="198735" grpId="0" animBg="1"/>
      <p:bldP spid="21"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32" name="Text Box 24"/>
          <p:cNvSpPr txBox="1">
            <a:spLocks noChangeArrowheads="1"/>
          </p:cNvSpPr>
          <p:nvPr/>
        </p:nvSpPr>
        <p:spPr bwMode="auto">
          <a:xfrm>
            <a:off x="539750" y="906463"/>
            <a:ext cx="7943850" cy="369887"/>
          </a:xfrm>
          <a:prstGeom prst="rect">
            <a:avLst/>
          </a:prstGeom>
          <a:noFill/>
          <a:ln w="9525">
            <a:noFill/>
            <a:miter lim="800000"/>
            <a:headEnd/>
            <a:tailEnd/>
          </a:ln>
        </p:spPr>
        <p:txBody>
          <a:bodyPr>
            <a:spAutoFit/>
          </a:bodyPr>
          <a:lstStyle/>
          <a:p>
            <a:pPr marL="457200" indent="-457200" eaLnBrk="0" hangingPunct="0">
              <a:buFontTx/>
              <a:buChar char="•"/>
            </a:pPr>
            <a:r>
              <a:rPr kumimoji="1" lang="zh-CN" altLang="en-US" b="1">
                <a:solidFill>
                  <a:srgbClr val="C00000"/>
                </a:solidFill>
                <a:latin typeface="华文中宋"/>
                <a:ea typeface="华文中宋"/>
                <a:cs typeface="华文中宋"/>
              </a:rPr>
              <a:t>扩散的方向性         </a:t>
            </a:r>
            <a:r>
              <a:rPr lang="zh-CN" altLang="en-US" b="1">
                <a:solidFill>
                  <a:srgbClr val="000000"/>
                </a:solidFill>
                <a:latin typeface="华文中宋"/>
                <a:ea typeface="华文中宋"/>
                <a:cs typeface="华文中宋"/>
              </a:rPr>
              <a:t>不同气体</a:t>
            </a:r>
            <a:r>
              <a:rPr lang="zh-CN" altLang="en-US" b="1" u="sng">
                <a:solidFill>
                  <a:srgbClr val="0000FF"/>
                </a:solidFill>
                <a:latin typeface="华文中宋"/>
                <a:ea typeface="华文中宋"/>
                <a:cs typeface="华文中宋"/>
              </a:rPr>
              <a:t>自发</a:t>
            </a:r>
            <a:r>
              <a:rPr lang="zh-CN" altLang="en-US" b="1">
                <a:solidFill>
                  <a:srgbClr val="000000"/>
                </a:solidFill>
                <a:latin typeface="华文中宋"/>
                <a:ea typeface="华文中宋"/>
                <a:cs typeface="华文中宋"/>
              </a:rPr>
              <a:t>地混合，不能自动分离。</a:t>
            </a:r>
            <a:endParaRPr kumimoji="1" lang="zh-CN" altLang="en-US" b="1">
              <a:solidFill>
                <a:srgbClr val="000000"/>
              </a:solidFill>
              <a:latin typeface="华文中宋"/>
              <a:ea typeface="华文中宋"/>
              <a:cs typeface="华文中宋"/>
            </a:endParaRPr>
          </a:p>
        </p:txBody>
      </p:sp>
      <p:sp>
        <p:nvSpPr>
          <p:cNvPr id="119833" name="Text Box 25"/>
          <p:cNvSpPr txBox="1">
            <a:spLocks noChangeArrowheads="1"/>
          </p:cNvSpPr>
          <p:nvPr/>
        </p:nvSpPr>
        <p:spPr bwMode="auto">
          <a:xfrm>
            <a:off x="539750" y="1258888"/>
            <a:ext cx="7993063" cy="646112"/>
          </a:xfrm>
          <a:prstGeom prst="rect">
            <a:avLst/>
          </a:prstGeom>
          <a:noFill/>
          <a:ln w="9525">
            <a:noFill/>
            <a:miter lim="800000"/>
            <a:headEnd/>
            <a:tailEnd/>
          </a:ln>
        </p:spPr>
        <p:txBody>
          <a:bodyPr>
            <a:spAutoFit/>
          </a:bodyPr>
          <a:lstStyle/>
          <a:p>
            <a:pPr eaLnBrk="0" hangingPunct="0"/>
            <a:r>
              <a:rPr kumimoji="1" lang="en-US" altLang="zh-CN" b="1">
                <a:solidFill>
                  <a:srgbClr val="0000FF"/>
                </a:solidFill>
                <a:latin typeface="华文中宋"/>
                <a:ea typeface="华文中宋"/>
                <a:cs typeface="华文中宋"/>
              </a:rPr>
              <a:t>      </a:t>
            </a:r>
            <a:r>
              <a:rPr kumimoji="1" lang="zh-CN" altLang="en-US" b="1">
                <a:solidFill>
                  <a:srgbClr val="0000FF"/>
                </a:solidFill>
                <a:latin typeface="华文中宋"/>
                <a:ea typeface="华文中宋"/>
                <a:cs typeface="华文中宋"/>
              </a:rPr>
              <a:t>一切与热现象有关的自然过程都</a:t>
            </a:r>
            <a:r>
              <a:rPr lang="zh-CN" altLang="en-US" b="1">
                <a:solidFill>
                  <a:srgbClr val="0000FF"/>
                </a:solidFill>
                <a:latin typeface="华文中宋"/>
                <a:ea typeface="华文中宋"/>
                <a:cs typeface="华文中宋"/>
              </a:rPr>
              <a:t>是按一定方向进行的</a:t>
            </a:r>
            <a:r>
              <a:rPr kumimoji="1" lang="en-US" altLang="zh-CN" b="1">
                <a:solidFill>
                  <a:srgbClr val="0000FF"/>
                </a:solidFill>
                <a:latin typeface="华文中宋"/>
                <a:ea typeface="华文中宋"/>
                <a:cs typeface="华文中宋"/>
              </a:rPr>
              <a:t>, </a:t>
            </a:r>
            <a:r>
              <a:rPr lang="zh-CN" altLang="en-US" b="1">
                <a:solidFill>
                  <a:srgbClr val="0000FF"/>
                </a:solidFill>
                <a:latin typeface="华文中宋"/>
                <a:ea typeface="华文中宋"/>
                <a:cs typeface="华文中宋"/>
              </a:rPr>
              <a:t>反方向的逆过程不可能自动地进行。</a:t>
            </a:r>
          </a:p>
        </p:txBody>
      </p:sp>
      <p:sp>
        <p:nvSpPr>
          <p:cNvPr id="332805" name="Text Box 5"/>
          <p:cNvSpPr txBox="1">
            <a:spLocks noChangeArrowheads="1"/>
          </p:cNvSpPr>
          <p:nvPr/>
        </p:nvSpPr>
        <p:spPr bwMode="auto">
          <a:xfrm>
            <a:off x="684213" y="2274888"/>
            <a:ext cx="7554912" cy="368300"/>
          </a:xfrm>
          <a:prstGeom prst="rect">
            <a:avLst/>
          </a:prstGeom>
          <a:noFill/>
          <a:ln w="9525">
            <a:noFill/>
            <a:miter lim="800000"/>
            <a:headEnd/>
            <a:tailEnd/>
          </a:ln>
        </p:spPr>
        <p:txBody>
          <a:bodyPr>
            <a:spAutoFit/>
          </a:bodyPr>
          <a:lstStyle/>
          <a:p>
            <a:r>
              <a:rPr kumimoji="1" lang="en-US" altLang="zh-CN" b="1">
                <a:solidFill>
                  <a:srgbClr val="000000"/>
                </a:solidFill>
                <a:latin typeface="华文中宋"/>
                <a:ea typeface="华文中宋"/>
                <a:cs typeface="华文中宋"/>
              </a:rPr>
              <a:t>      </a:t>
            </a:r>
            <a:r>
              <a:rPr kumimoji="1" lang="zh-CN" altLang="en-US" b="1">
                <a:solidFill>
                  <a:srgbClr val="000000"/>
                </a:solidFill>
                <a:latin typeface="华文中宋"/>
                <a:ea typeface="华文中宋"/>
                <a:cs typeface="华文中宋"/>
              </a:rPr>
              <a:t>为分析自然过程的</a:t>
            </a:r>
            <a:r>
              <a:rPr lang="zh-CN" altLang="en-US" b="1">
                <a:solidFill>
                  <a:srgbClr val="000000"/>
                </a:solidFill>
                <a:latin typeface="华文中宋"/>
                <a:ea typeface="华文中宋"/>
                <a:cs typeface="华文中宋"/>
              </a:rPr>
              <a:t>方向性，引入可逆过程与不可逆过程的概念。</a:t>
            </a:r>
          </a:p>
        </p:txBody>
      </p:sp>
      <p:sp>
        <p:nvSpPr>
          <p:cNvPr id="332806" name="Text Box 6"/>
          <p:cNvSpPr txBox="1">
            <a:spLocks noChangeArrowheads="1"/>
          </p:cNvSpPr>
          <p:nvPr/>
        </p:nvSpPr>
        <p:spPr bwMode="auto">
          <a:xfrm>
            <a:off x="468313" y="2625725"/>
            <a:ext cx="8015287" cy="985838"/>
          </a:xfrm>
          <a:prstGeom prst="rect">
            <a:avLst/>
          </a:prstGeom>
          <a:noFill/>
          <a:ln w="9525">
            <a:noFill/>
            <a:miter lim="800000"/>
            <a:headEnd/>
            <a:tailEnd/>
          </a:ln>
        </p:spPr>
        <p:txBody>
          <a:bodyPr>
            <a:spAutoFit/>
          </a:bodyPr>
          <a:lstStyle/>
          <a:p>
            <a:pPr>
              <a:lnSpc>
                <a:spcPct val="110000"/>
              </a:lnSpc>
            </a:pPr>
            <a:r>
              <a:rPr kumimoji="1" lang="en-US" altLang="zh-CN" b="1">
                <a:solidFill>
                  <a:srgbClr val="0000FF"/>
                </a:solidFill>
                <a:latin typeface="华文中宋"/>
                <a:ea typeface="华文中宋"/>
                <a:cs typeface="华文中宋"/>
              </a:rPr>
              <a:t>1</a:t>
            </a:r>
            <a:r>
              <a:rPr kumimoji="1" lang="zh-CN" altLang="en-US" b="1">
                <a:solidFill>
                  <a:srgbClr val="0000FF"/>
                </a:solidFill>
                <a:latin typeface="华文中宋"/>
                <a:ea typeface="华文中宋"/>
                <a:cs typeface="华文中宋"/>
              </a:rPr>
              <a:t>、可逆过程</a:t>
            </a:r>
          </a:p>
          <a:p>
            <a:pPr>
              <a:lnSpc>
                <a:spcPct val="110000"/>
              </a:lnSpc>
            </a:pPr>
            <a:r>
              <a:rPr kumimoji="1" lang="zh-CN" altLang="en-US" b="1">
                <a:solidFill>
                  <a:srgbClr val="000000"/>
                </a:solidFill>
                <a:latin typeface="华文中宋"/>
                <a:ea typeface="华文中宋"/>
                <a:cs typeface="华文中宋"/>
              </a:rPr>
              <a:t>       系统由某一状态经历某一过程达到另一状态，如果存在另一过程，它能使系统和外界同时复原，这样的过程就是可逆过程。</a:t>
            </a:r>
          </a:p>
        </p:txBody>
      </p:sp>
      <p:sp>
        <p:nvSpPr>
          <p:cNvPr id="332807" name="Text Box 7"/>
          <p:cNvSpPr txBox="1">
            <a:spLocks noChangeArrowheads="1"/>
          </p:cNvSpPr>
          <p:nvPr/>
        </p:nvSpPr>
        <p:spPr bwMode="auto">
          <a:xfrm>
            <a:off x="2051050" y="3643313"/>
            <a:ext cx="4410075" cy="368300"/>
          </a:xfrm>
          <a:prstGeom prst="rect">
            <a:avLst/>
          </a:prstGeom>
          <a:noFill/>
          <a:ln w="9525">
            <a:noFill/>
            <a:miter lim="800000"/>
            <a:headEnd/>
            <a:tailEnd/>
          </a:ln>
        </p:spPr>
        <p:txBody>
          <a:bodyPr>
            <a:spAutoFit/>
          </a:bodyPr>
          <a:lstStyle/>
          <a:p>
            <a:r>
              <a:rPr kumimoji="1" lang="zh-CN" altLang="en-US" b="1">
                <a:solidFill>
                  <a:srgbClr val="000000"/>
                </a:solidFill>
                <a:latin typeface="华文中宋"/>
                <a:ea typeface="华文中宋"/>
                <a:cs typeface="华文中宋"/>
              </a:rPr>
              <a:t>可逆过程是理想过程</a:t>
            </a:r>
          </a:p>
        </p:txBody>
      </p:sp>
      <p:sp>
        <p:nvSpPr>
          <p:cNvPr id="332808" name="Text Box 8"/>
          <p:cNvSpPr txBox="1">
            <a:spLocks noChangeArrowheads="1"/>
          </p:cNvSpPr>
          <p:nvPr/>
        </p:nvSpPr>
        <p:spPr bwMode="auto">
          <a:xfrm>
            <a:off x="4498975" y="3643313"/>
            <a:ext cx="2305050" cy="368300"/>
          </a:xfrm>
          <a:prstGeom prst="rect">
            <a:avLst/>
          </a:prstGeom>
          <a:noFill/>
          <a:ln w="12700">
            <a:solidFill>
              <a:srgbClr val="00B0F0"/>
            </a:solidFill>
            <a:miter lim="800000"/>
            <a:headEnd/>
            <a:tailEnd/>
          </a:ln>
        </p:spPr>
        <p:txBody>
          <a:bodyPr>
            <a:spAutoFit/>
          </a:bodyPr>
          <a:lstStyle/>
          <a:p>
            <a:pPr algn="ctr"/>
            <a:r>
              <a:rPr kumimoji="1" lang="zh-CN" altLang="en-US" b="1">
                <a:solidFill>
                  <a:srgbClr val="0000FF"/>
                </a:solidFill>
                <a:latin typeface="华文中宋"/>
                <a:ea typeface="华文中宋"/>
                <a:cs typeface="华文中宋"/>
              </a:rPr>
              <a:t>无耗散 </a:t>
            </a:r>
            <a:r>
              <a:rPr kumimoji="1" lang="en-US" altLang="zh-CN" b="1">
                <a:solidFill>
                  <a:srgbClr val="0000FF"/>
                </a:solidFill>
                <a:latin typeface="华文中宋"/>
                <a:ea typeface="华文中宋"/>
                <a:cs typeface="华文中宋"/>
              </a:rPr>
              <a:t>+ </a:t>
            </a:r>
            <a:r>
              <a:rPr kumimoji="1" lang="zh-CN" altLang="en-US" b="1">
                <a:solidFill>
                  <a:srgbClr val="0000FF"/>
                </a:solidFill>
                <a:latin typeface="华文中宋"/>
                <a:ea typeface="华文中宋"/>
                <a:cs typeface="华文中宋"/>
              </a:rPr>
              <a:t>准静态</a:t>
            </a:r>
          </a:p>
        </p:txBody>
      </p:sp>
      <p:sp>
        <p:nvSpPr>
          <p:cNvPr id="332809" name="Rectangle 9"/>
          <p:cNvSpPr>
            <a:spLocks noChangeArrowheads="1"/>
          </p:cNvSpPr>
          <p:nvPr/>
        </p:nvSpPr>
        <p:spPr bwMode="auto">
          <a:xfrm>
            <a:off x="539750" y="4084638"/>
            <a:ext cx="7993063" cy="646112"/>
          </a:xfrm>
          <a:prstGeom prst="rect">
            <a:avLst/>
          </a:prstGeom>
          <a:noFill/>
          <a:ln w="9525">
            <a:noFill/>
            <a:miter lim="800000"/>
            <a:headEnd/>
            <a:tailEnd/>
          </a:ln>
        </p:spPr>
        <p:txBody>
          <a:bodyPr>
            <a:spAutoFit/>
          </a:bodyPr>
          <a:lstStyle/>
          <a:p>
            <a:r>
              <a:rPr kumimoji="1" lang="zh-CN" altLang="en-US" b="1">
                <a:solidFill>
                  <a:srgbClr val="000000"/>
                </a:solidFill>
                <a:latin typeface="华文中宋"/>
                <a:ea typeface="华文中宋"/>
                <a:cs typeface="华文中宋"/>
              </a:rPr>
              <a:t>       可逆过程必然可以沿原路径的反向进行</a:t>
            </a:r>
            <a:r>
              <a:rPr kumimoji="1" lang="en-US" altLang="zh-CN" b="1">
                <a:solidFill>
                  <a:srgbClr val="000000"/>
                </a:solidFill>
                <a:latin typeface="华文中宋"/>
                <a:ea typeface="华文中宋"/>
                <a:cs typeface="华文中宋"/>
              </a:rPr>
              <a:t>,</a:t>
            </a:r>
            <a:r>
              <a:rPr kumimoji="1" lang="zh-CN" altLang="en-US" b="1">
                <a:solidFill>
                  <a:srgbClr val="000000"/>
                </a:solidFill>
                <a:latin typeface="华文中宋"/>
                <a:ea typeface="华文中宋"/>
                <a:cs typeface="华文中宋"/>
              </a:rPr>
              <a:t>系统和外界的变化可以完全被消除的过程。</a:t>
            </a:r>
          </a:p>
        </p:txBody>
      </p:sp>
      <p:sp>
        <p:nvSpPr>
          <p:cNvPr id="10" name="Text Box 2"/>
          <p:cNvSpPr>
            <a:spLocks noChangeArrowheads="1"/>
          </p:cNvSpPr>
          <p:nvPr/>
        </p:nvSpPr>
        <p:spPr bwMode="auto">
          <a:xfrm>
            <a:off x="839788" y="1884363"/>
            <a:ext cx="3516312" cy="400050"/>
          </a:xfrm>
          <a:prstGeom prst="homePlate">
            <a:avLst>
              <a:gd name="adj" fmla="val 49768"/>
            </a:avLst>
          </a:prstGeom>
          <a:solidFill>
            <a:srgbClr val="539A84"/>
          </a:solidFill>
          <a:ln w="9525">
            <a:noFill/>
            <a:miter lim="800000"/>
            <a:headEnd/>
            <a:tailEnd/>
          </a:ln>
        </p:spPr>
        <p:txBody>
          <a:bodyPr>
            <a:spAutoFit/>
          </a:bodyPr>
          <a:lstStyle/>
          <a:p>
            <a:pPr>
              <a:buFont typeface="Arial" charset="0"/>
              <a:buNone/>
            </a:pPr>
            <a:r>
              <a:rPr kumimoji="1" lang="zh-CN" altLang="en-US" sz="2000" b="1">
                <a:solidFill>
                  <a:srgbClr val="FFFFFF"/>
                </a:solidFill>
                <a:latin typeface="微软雅黑" pitchFamily="34" charset="-122"/>
                <a:ea typeface="微软雅黑" pitchFamily="34" charset="-122"/>
              </a:rPr>
              <a:t> 三、可逆过程和不可逆过程</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9832">
                                            <p:txEl>
                                              <p:pRg st="0" end="0"/>
                                            </p:txEl>
                                          </p:spTgt>
                                        </p:tgtEl>
                                        <p:attrNameLst>
                                          <p:attrName>style.visibility</p:attrName>
                                        </p:attrNameLst>
                                      </p:cBhvr>
                                      <p:to>
                                        <p:strVal val="visible"/>
                                      </p:to>
                                    </p:set>
                                    <p:animEffect transition="in" filter="wipe(left)">
                                      <p:cBhvr>
                                        <p:cTn id="7" dur="500"/>
                                        <p:tgtEl>
                                          <p:spTgt spid="11983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19833"/>
                                        </p:tgtEl>
                                        <p:attrNameLst>
                                          <p:attrName>style.visibility</p:attrName>
                                        </p:attrNameLst>
                                      </p:cBhvr>
                                      <p:to>
                                        <p:strVal val="visible"/>
                                      </p:to>
                                    </p:set>
                                    <p:animEffect transition="in" filter="wipe(left)">
                                      <p:cBhvr>
                                        <p:cTn id="12" dur="500"/>
                                        <p:tgtEl>
                                          <p:spTgt spid="11983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left)">
                                      <p:cBhvr>
                                        <p:cTn id="17" dur="500"/>
                                        <p:tgtEl>
                                          <p:spTgt spid="1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32805"/>
                                        </p:tgtEl>
                                        <p:attrNameLst>
                                          <p:attrName>style.visibility</p:attrName>
                                        </p:attrNameLst>
                                      </p:cBhvr>
                                      <p:to>
                                        <p:strVal val="visible"/>
                                      </p:to>
                                    </p:set>
                                    <p:animEffect transition="in" filter="wipe(left)">
                                      <p:cBhvr>
                                        <p:cTn id="22" dur="500"/>
                                        <p:tgtEl>
                                          <p:spTgt spid="33280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32806">
                                            <p:txEl>
                                              <p:pRg st="0" end="0"/>
                                            </p:txEl>
                                          </p:spTgt>
                                        </p:tgtEl>
                                        <p:attrNameLst>
                                          <p:attrName>style.visibility</p:attrName>
                                        </p:attrNameLst>
                                      </p:cBhvr>
                                      <p:to>
                                        <p:strVal val="visible"/>
                                      </p:to>
                                    </p:set>
                                    <p:animEffect transition="in" filter="wipe(left)">
                                      <p:cBhvr>
                                        <p:cTn id="27" dur="500"/>
                                        <p:tgtEl>
                                          <p:spTgt spid="332806">
                                            <p:txEl>
                                              <p:pRg st="0" end="0"/>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32806">
                                            <p:txEl>
                                              <p:pRg st="1" end="1"/>
                                            </p:txEl>
                                          </p:spTgt>
                                        </p:tgtEl>
                                        <p:attrNameLst>
                                          <p:attrName>style.visibility</p:attrName>
                                        </p:attrNameLst>
                                      </p:cBhvr>
                                      <p:to>
                                        <p:strVal val="visible"/>
                                      </p:to>
                                    </p:set>
                                    <p:animEffect transition="in" filter="wipe(left)">
                                      <p:cBhvr>
                                        <p:cTn id="32" dur="500"/>
                                        <p:tgtEl>
                                          <p:spTgt spid="332806">
                                            <p:txEl>
                                              <p:pRg st="1" end="1"/>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332807"/>
                                        </p:tgtEl>
                                        <p:attrNameLst>
                                          <p:attrName>style.visibility</p:attrName>
                                        </p:attrNameLst>
                                      </p:cBhvr>
                                      <p:to>
                                        <p:strVal val="visible"/>
                                      </p:to>
                                    </p:set>
                                    <p:animEffect transition="in" filter="wipe(left)">
                                      <p:cBhvr>
                                        <p:cTn id="37" dur="500"/>
                                        <p:tgtEl>
                                          <p:spTgt spid="332807"/>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332808"/>
                                        </p:tgtEl>
                                        <p:attrNameLst>
                                          <p:attrName>style.visibility</p:attrName>
                                        </p:attrNameLst>
                                      </p:cBhvr>
                                      <p:to>
                                        <p:strVal val="visible"/>
                                      </p:to>
                                    </p:set>
                                    <p:animEffect transition="in" filter="wipe(left)">
                                      <p:cBhvr>
                                        <p:cTn id="42" dur="500"/>
                                        <p:tgtEl>
                                          <p:spTgt spid="332808"/>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332809"/>
                                        </p:tgtEl>
                                        <p:attrNameLst>
                                          <p:attrName>style.visibility</p:attrName>
                                        </p:attrNameLst>
                                      </p:cBhvr>
                                      <p:to>
                                        <p:strVal val="visible"/>
                                      </p:to>
                                    </p:set>
                                    <p:animEffect transition="in" filter="wipe(left)">
                                      <p:cBhvr>
                                        <p:cTn id="47" dur="500"/>
                                        <p:tgtEl>
                                          <p:spTgt spid="3328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832" grpId="0" build="p"/>
      <p:bldP spid="119833" grpId="0"/>
      <p:bldP spid="332805" grpId="0"/>
      <p:bldP spid="332806" grpId="0" build="p" autoUpdateAnimBg="0"/>
      <p:bldP spid="332807" grpId="0"/>
      <p:bldP spid="332808" grpId="0" animBg="1" autoUpdateAnimBg="0"/>
      <p:bldP spid="332809" grpId="0" autoUpdateAnimBg="0"/>
      <p:bldP spid="10"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52" name="Text Box 20"/>
          <p:cNvSpPr txBox="1">
            <a:spLocks noChangeArrowheads="1"/>
          </p:cNvSpPr>
          <p:nvPr/>
        </p:nvSpPr>
        <p:spPr bwMode="auto">
          <a:xfrm>
            <a:off x="539750" y="790575"/>
            <a:ext cx="7672388" cy="701675"/>
          </a:xfrm>
          <a:prstGeom prst="rect">
            <a:avLst/>
          </a:prstGeom>
          <a:noFill/>
          <a:ln w="9525">
            <a:noFill/>
            <a:miter lim="800000"/>
            <a:headEnd/>
            <a:tailEnd/>
          </a:ln>
        </p:spPr>
        <p:txBody>
          <a:bodyPr>
            <a:spAutoFit/>
          </a:bodyPr>
          <a:lstStyle/>
          <a:p>
            <a:pPr>
              <a:lnSpc>
                <a:spcPct val="110000"/>
              </a:lnSpc>
            </a:pPr>
            <a:r>
              <a:rPr kumimoji="1" lang="en-US" altLang="zh-CN" b="1">
                <a:solidFill>
                  <a:srgbClr val="0000FF"/>
                </a:solidFill>
                <a:latin typeface="华文中宋"/>
                <a:ea typeface="华文中宋"/>
                <a:cs typeface="华文中宋"/>
              </a:rPr>
              <a:t>2</a:t>
            </a:r>
            <a:r>
              <a:rPr kumimoji="1" lang="zh-CN" altLang="en-US" b="1">
                <a:solidFill>
                  <a:srgbClr val="0000FF"/>
                </a:solidFill>
                <a:latin typeface="华文中宋"/>
                <a:ea typeface="华文中宋"/>
                <a:cs typeface="华文中宋"/>
              </a:rPr>
              <a:t>、不可逆过程</a:t>
            </a:r>
          </a:p>
          <a:p>
            <a:pPr>
              <a:lnSpc>
                <a:spcPct val="110000"/>
              </a:lnSpc>
            </a:pPr>
            <a:r>
              <a:rPr kumimoji="1" lang="zh-CN" altLang="en-US" b="1">
                <a:solidFill>
                  <a:srgbClr val="000000"/>
                </a:solidFill>
                <a:latin typeface="华文中宋"/>
                <a:ea typeface="华文中宋"/>
                <a:cs typeface="华文中宋"/>
              </a:rPr>
              <a:t>      用任何方法都不能使系统和外界同时恢复原状态的过程。</a:t>
            </a:r>
          </a:p>
        </p:txBody>
      </p:sp>
      <p:sp>
        <p:nvSpPr>
          <p:cNvPr id="120853" name="Text Box 21"/>
          <p:cNvSpPr txBox="1">
            <a:spLocks noChangeArrowheads="1"/>
          </p:cNvSpPr>
          <p:nvPr/>
        </p:nvSpPr>
        <p:spPr bwMode="auto">
          <a:xfrm>
            <a:off x="539750" y="1482725"/>
            <a:ext cx="8248650" cy="368300"/>
          </a:xfrm>
          <a:prstGeom prst="rect">
            <a:avLst/>
          </a:prstGeom>
          <a:noFill/>
          <a:ln w="9525">
            <a:noFill/>
            <a:miter lim="800000"/>
            <a:headEnd/>
            <a:tailEnd/>
          </a:ln>
        </p:spPr>
        <p:txBody>
          <a:bodyPr>
            <a:spAutoFit/>
          </a:bodyPr>
          <a:lstStyle/>
          <a:p>
            <a:pPr marL="457200" indent="-457200"/>
            <a:r>
              <a:rPr kumimoji="1" lang="en-US" altLang="zh-CN" b="1">
                <a:solidFill>
                  <a:srgbClr val="C00000"/>
                </a:solidFill>
                <a:latin typeface="华文中宋"/>
                <a:ea typeface="华文中宋"/>
                <a:cs typeface="华文中宋"/>
              </a:rPr>
              <a:t>(1) </a:t>
            </a:r>
            <a:r>
              <a:rPr kumimoji="1" lang="zh-CN" altLang="en-US" b="1">
                <a:solidFill>
                  <a:srgbClr val="C00000"/>
                </a:solidFill>
                <a:latin typeface="华文中宋"/>
                <a:ea typeface="华文中宋"/>
                <a:cs typeface="华文中宋"/>
              </a:rPr>
              <a:t>与热现象有关的一切实际宏观过程都是不可逆的</a:t>
            </a:r>
          </a:p>
        </p:txBody>
      </p:sp>
      <p:sp>
        <p:nvSpPr>
          <p:cNvPr id="120854" name="Text Box 22"/>
          <p:cNvSpPr txBox="1">
            <a:spLocks noChangeArrowheads="1"/>
          </p:cNvSpPr>
          <p:nvPr/>
        </p:nvSpPr>
        <p:spPr bwMode="auto">
          <a:xfrm>
            <a:off x="684213" y="1914525"/>
            <a:ext cx="8280400" cy="369888"/>
          </a:xfrm>
          <a:prstGeom prst="rect">
            <a:avLst/>
          </a:prstGeom>
          <a:noFill/>
          <a:ln w="9525">
            <a:noFill/>
            <a:miter lim="800000"/>
            <a:headEnd/>
            <a:tailEnd/>
          </a:ln>
        </p:spPr>
        <p:txBody>
          <a:bodyPr>
            <a:spAutoFit/>
          </a:bodyPr>
          <a:lstStyle/>
          <a:p>
            <a:pPr algn="just" eaLnBrk="0" hangingPunct="0">
              <a:buFont typeface="Monotype Sorts"/>
              <a:buNone/>
            </a:pPr>
            <a:r>
              <a:rPr kumimoji="1" lang="en-US" altLang="zh-CN" b="1">
                <a:solidFill>
                  <a:srgbClr val="000000"/>
                </a:solidFill>
                <a:latin typeface="华文中宋"/>
                <a:ea typeface="华文中宋"/>
                <a:cs typeface="华文中宋"/>
              </a:rPr>
              <a:t>      </a:t>
            </a:r>
            <a:r>
              <a:rPr kumimoji="1" lang="zh-CN" altLang="en-US" b="1">
                <a:solidFill>
                  <a:srgbClr val="000000"/>
                </a:solidFill>
                <a:latin typeface="华文中宋"/>
                <a:ea typeface="华文中宋"/>
                <a:cs typeface="华文中宋"/>
              </a:rPr>
              <a:t>因为，实际宏观过程都涉及热功转换、热传导和非平衡态向平衡态的转化。</a:t>
            </a:r>
          </a:p>
        </p:txBody>
      </p:sp>
      <p:sp>
        <p:nvSpPr>
          <p:cNvPr id="15" name="Text Box 23"/>
          <p:cNvSpPr txBox="1">
            <a:spLocks noChangeArrowheads="1"/>
          </p:cNvSpPr>
          <p:nvPr/>
        </p:nvSpPr>
        <p:spPr bwMode="auto">
          <a:xfrm>
            <a:off x="1547813" y="2247900"/>
            <a:ext cx="3330575" cy="369888"/>
          </a:xfrm>
          <a:prstGeom prst="rect">
            <a:avLst/>
          </a:prstGeom>
          <a:noFill/>
          <a:ln w="9525">
            <a:noFill/>
            <a:miter lim="800000"/>
            <a:headEnd/>
            <a:tailEnd/>
          </a:ln>
        </p:spPr>
        <p:txBody>
          <a:bodyPr>
            <a:spAutoFit/>
          </a:bodyPr>
          <a:lstStyle/>
          <a:p>
            <a:r>
              <a:rPr kumimoji="1" lang="zh-CN" altLang="en-US" b="1">
                <a:solidFill>
                  <a:srgbClr val="000000"/>
                </a:solidFill>
                <a:latin typeface="华文中宋"/>
                <a:ea typeface="华文中宋"/>
                <a:cs typeface="华文中宋"/>
              </a:rPr>
              <a:t>生命过程就是不可逆的</a:t>
            </a:r>
            <a:r>
              <a:rPr kumimoji="1" lang="en-US" altLang="zh-CN" b="1">
                <a:solidFill>
                  <a:srgbClr val="000000"/>
                </a:solidFill>
                <a:latin typeface="华文中宋"/>
                <a:ea typeface="华文中宋"/>
                <a:cs typeface="华文中宋"/>
              </a:rPr>
              <a:t>:</a:t>
            </a:r>
          </a:p>
        </p:txBody>
      </p:sp>
      <p:sp>
        <p:nvSpPr>
          <p:cNvPr id="16" name="Text Box 24"/>
          <p:cNvSpPr txBox="1">
            <a:spLocks noChangeArrowheads="1"/>
          </p:cNvSpPr>
          <p:nvPr/>
        </p:nvSpPr>
        <p:spPr bwMode="auto">
          <a:xfrm>
            <a:off x="2106613" y="2617788"/>
            <a:ext cx="2536825" cy="396875"/>
          </a:xfrm>
          <a:prstGeom prst="rect">
            <a:avLst/>
          </a:prstGeom>
          <a:noFill/>
          <a:ln w="9525">
            <a:noFill/>
            <a:miter lim="800000"/>
            <a:headEnd/>
            <a:tailEnd/>
          </a:ln>
        </p:spPr>
        <p:txBody>
          <a:bodyPr>
            <a:spAutoFit/>
          </a:bodyPr>
          <a:lstStyle/>
          <a:p>
            <a:pPr>
              <a:lnSpc>
                <a:spcPct val="110000"/>
              </a:lnSpc>
            </a:pPr>
            <a:r>
              <a:rPr kumimoji="1" lang="en-US" altLang="zh-CN" b="1">
                <a:solidFill>
                  <a:srgbClr val="000000"/>
                </a:solidFill>
                <a:latin typeface="华文中宋"/>
                <a:ea typeface="华文中宋"/>
                <a:cs typeface="华文中宋"/>
              </a:rPr>
              <a:t> </a:t>
            </a:r>
            <a:r>
              <a:rPr kumimoji="1" lang="zh-CN" altLang="en-US" b="1">
                <a:solidFill>
                  <a:srgbClr val="0000FF"/>
                </a:solidFill>
                <a:latin typeface="华文中宋"/>
                <a:ea typeface="华文中宋"/>
                <a:cs typeface="华文中宋"/>
              </a:rPr>
              <a:t>出生 </a:t>
            </a:r>
            <a:r>
              <a:rPr kumimoji="1" lang="zh-CN" altLang="en-US" b="1">
                <a:solidFill>
                  <a:srgbClr val="00B0F0"/>
                </a:solidFill>
                <a:latin typeface="华文中宋"/>
                <a:ea typeface="华文中宋"/>
                <a:cs typeface="华文中宋"/>
                <a:sym typeface="Symbol" pitchFamily="18" charset="2"/>
              </a:rPr>
              <a:t></a:t>
            </a:r>
            <a:r>
              <a:rPr kumimoji="1" lang="zh-CN" altLang="en-US" b="1">
                <a:solidFill>
                  <a:srgbClr val="000000"/>
                </a:solidFill>
                <a:latin typeface="华文中宋"/>
                <a:ea typeface="华文中宋"/>
                <a:cs typeface="华文中宋"/>
                <a:sym typeface="Symbol" pitchFamily="18" charset="2"/>
              </a:rPr>
              <a:t> </a:t>
            </a:r>
            <a:r>
              <a:rPr kumimoji="1" lang="zh-CN" altLang="en-US" b="1">
                <a:solidFill>
                  <a:srgbClr val="FF00FF"/>
                </a:solidFill>
                <a:latin typeface="华文中宋"/>
                <a:ea typeface="华文中宋"/>
                <a:cs typeface="华文中宋"/>
              </a:rPr>
              <a:t>童年 </a:t>
            </a:r>
            <a:r>
              <a:rPr kumimoji="1" lang="zh-CN" altLang="en-US" b="1">
                <a:solidFill>
                  <a:srgbClr val="00B0F0"/>
                </a:solidFill>
                <a:latin typeface="华文中宋"/>
                <a:ea typeface="华文中宋"/>
                <a:cs typeface="华文中宋"/>
                <a:sym typeface="Symbol" pitchFamily="18" charset="2"/>
              </a:rPr>
              <a:t></a:t>
            </a:r>
            <a:r>
              <a:rPr kumimoji="1" lang="zh-CN" altLang="en-US" b="1">
                <a:solidFill>
                  <a:srgbClr val="000000"/>
                </a:solidFill>
                <a:latin typeface="华文中宋"/>
                <a:ea typeface="华文中宋"/>
                <a:cs typeface="华文中宋"/>
                <a:sym typeface="Symbol" pitchFamily="18" charset="2"/>
              </a:rPr>
              <a:t> </a:t>
            </a:r>
            <a:r>
              <a:rPr kumimoji="1" lang="zh-CN" altLang="en-US" b="1">
                <a:solidFill>
                  <a:srgbClr val="FF0000"/>
                </a:solidFill>
                <a:latin typeface="华文中宋"/>
                <a:ea typeface="华文中宋"/>
                <a:cs typeface="华文中宋"/>
              </a:rPr>
              <a:t>少年</a:t>
            </a:r>
            <a:endParaRPr kumimoji="1" lang="zh-CN" altLang="en-US" b="1">
              <a:solidFill>
                <a:srgbClr val="000000"/>
              </a:solidFill>
              <a:latin typeface="华文中宋"/>
              <a:ea typeface="华文中宋"/>
              <a:cs typeface="华文中宋"/>
            </a:endParaRPr>
          </a:p>
        </p:txBody>
      </p:sp>
      <p:sp>
        <p:nvSpPr>
          <p:cNvPr id="19" name="Rectangle 27"/>
          <p:cNvSpPr>
            <a:spLocks noChangeArrowheads="1"/>
          </p:cNvSpPr>
          <p:nvPr/>
        </p:nvSpPr>
        <p:spPr bwMode="auto">
          <a:xfrm>
            <a:off x="2987675" y="3057525"/>
            <a:ext cx="2808288" cy="396875"/>
          </a:xfrm>
          <a:prstGeom prst="rect">
            <a:avLst/>
          </a:prstGeom>
          <a:noFill/>
          <a:ln w="9525">
            <a:noFill/>
            <a:miter lim="800000"/>
            <a:headEnd/>
            <a:tailEnd/>
          </a:ln>
        </p:spPr>
        <p:txBody>
          <a:bodyPr>
            <a:spAutoFit/>
          </a:bodyPr>
          <a:lstStyle/>
          <a:p>
            <a:pPr>
              <a:lnSpc>
                <a:spcPct val="110000"/>
              </a:lnSpc>
            </a:pPr>
            <a:r>
              <a:rPr kumimoji="1" lang="en-US" altLang="zh-CN" b="1">
                <a:solidFill>
                  <a:srgbClr val="00B0F0"/>
                </a:solidFill>
                <a:latin typeface="华文中宋"/>
                <a:ea typeface="华文中宋"/>
                <a:cs typeface="华文中宋"/>
                <a:sym typeface="Symbol" pitchFamily="18" charset="2"/>
              </a:rPr>
              <a:t></a:t>
            </a:r>
            <a:r>
              <a:rPr kumimoji="1" lang="en-US" altLang="zh-CN" b="1">
                <a:solidFill>
                  <a:srgbClr val="000000"/>
                </a:solidFill>
                <a:latin typeface="华文中宋"/>
                <a:ea typeface="华文中宋"/>
                <a:cs typeface="华文中宋"/>
                <a:sym typeface="Symbol" pitchFamily="18" charset="2"/>
              </a:rPr>
              <a:t> </a:t>
            </a:r>
            <a:r>
              <a:rPr kumimoji="1" lang="zh-CN" altLang="en-US" b="1">
                <a:solidFill>
                  <a:srgbClr val="00CC00"/>
                </a:solidFill>
                <a:latin typeface="华文中宋"/>
                <a:ea typeface="华文中宋"/>
                <a:cs typeface="华文中宋"/>
              </a:rPr>
              <a:t>青年 </a:t>
            </a:r>
            <a:r>
              <a:rPr kumimoji="1" lang="zh-CN" altLang="en-US" b="1">
                <a:solidFill>
                  <a:srgbClr val="00B0F0"/>
                </a:solidFill>
                <a:latin typeface="华文中宋"/>
                <a:ea typeface="华文中宋"/>
                <a:cs typeface="华文中宋"/>
                <a:sym typeface="Symbol" pitchFamily="18" charset="2"/>
              </a:rPr>
              <a:t></a:t>
            </a:r>
            <a:r>
              <a:rPr kumimoji="1" lang="zh-CN" altLang="en-US" b="1">
                <a:solidFill>
                  <a:srgbClr val="000000"/>
                </a:solidFill>
                <a:latin typeface="华文中宋"/>
                <a:ea typeface="华文中宋"/>
                <a:cs typeface="华文中宋"/>
                <a:sym typeface="Symbol" pitchFamily="18" charset="2"/>
              </a:rPr>
              <a:t> </a:t>
            </a:r>
            <a:r>
              <a:rPr kumimoji="1" lang="zh-CN" altLang="en-US" b="1">
                <a:solidFill>
                  <a:srgbClr val="0000FF"/>
                </a:solidFill>
                <a:latin typeface="华文中宋"/>
                <a:ea typeface="华文中宋"/>
                <a:cs typeface="华文中宋"/>
              </a:rPr>
              <a:t>中年 </a:t>
            </a:r>
            <a:r>
              <a:rPr kumimoji="1" lang="zh-CN" altLang="en-US" b="1">
                <a:solidFill>
                  <a:srgbClr val="00B0F0"/>
                </a:solidFill>
                <a:latin typeface="华文中宋"/>
                <a:ea typeface="华文中宋"/>
                <a:cs typeface="华文中宋"/>
                <a:sym typeface="Symbol" pitchFamily="18" charset="2"/>
              </a:rPr>
              <a:t></a:t>
            </a:r>
            <a:r>
              <a:rPr kumimoji="1" lang="zh-CN" altLang="en-US" b="1">
                <a:solidFill>
                  <a:srgbClr val="000000"/>
                </a:solidFill>
                <a:latin typeface="华文中宋"/>
                <a:ea typeface="华文中宋"/>
                <a:cs typeface="华文中宋"/>
                <a:sym typeface="Symbol" pitchFamily="18" charset="2"/>
              </a:rPr>
              <a:t> </a:t>
            </a:r>
            <a:r>
              <a:rPr kumimoji="1" lang="zh-CN" altLang="en-US" b="1">
                <a:solidFill>
                  <a:srgbClr val="000000"/>
                </a:solidFill>
                <a:latin typeface="华文中宋"/>
                <a:ea typeface="华文中宋"/>
                <a:cs typeface="华文中宋"/>
              </a:rPr>
              <a:t>老年</a:t>
            </a:r>
            <a:endParaRPr kumimoji="1" lang="zh-CN" altLang="en-US" b="1">
              <a:solidFill>
                <a:srgbClr val="00CC00"/>
              </a:solidFill>
              <a:latin typeface="华文中宋"/>
              <a:ea typeface="华文中宋"/>
              <a:cs typeface="华文中宋"/>
            </a:endParaRPr>
          </a:p>
        </p:txBody>
      </p:sp>
      <p:sp>
        <p:nvSpPr>
          <p:cNvPr id="22" name="Text Box 30"/>
          <p:cNvSpPr txBox="1">
            <a:spLocks noChangeArrowheads="1"/>
          </p:cNvSpPr>
          <p:nvPr/>
        </p:nvSpPr>
        <p:spPr bwMode="auto">
          <a:xfrm>
            <a:off x="2051050" y="3598863"/>
            <a:ext cx="4938713" cy="923925"/>
          </a:xfrm>
          <a:prstGeom prst="rect">
            <a:avLst/>
          </a:prstGeom>
          <a:solidFill>
            <a:srgbClr val="EBF1DE"/>
          </a:solidFill>
          <a:ln w="9525">
            <a:noFill/>
            <a:miter lim="800000"/>
            <a:headEnd/>
            <a:tailEnd/>
          </a:ln>
        </p:spPr>
        <p:txBody>
          <a:bodyPr>
            <a:spAutoFit/>
          </a:bodyPr>
          <a:lstStyle/>
          <a:p>
            <a:r>
              <a:rPr kumimoji="1" lang="en-US" altLang="zh-CN" b="1">
                <a:solidFill>
                  <a:srgbClr val="FF00FF"/>
                </a:solidFill>
                <a:latin typeface="华文中宋"/>
                <a:ea typeface="华文中宋"/>
                <a:cs typeface="华文中宋"/>
              </a:rPr>
              <a:t>“</a:t>
            </a:r>
            <a:r>
              <a:rPr kumimoji="1" lang="zh-CN" altLang="en-US" b="1" i="1">
                <a:solidFill>
                  <a:srgbClr val="FF00FF"/>
                </a:solidFill>
                <a:latin typeface="华文中宋"/>
                <a:ea typeface="华文中宋"/>
                <a:cs typeface="华文中宋"/>
              </a:rPr>
              <a:t>今天的你我</a:t>
            </a:r>
          </a:p>
          <a:p>
            <a:r>
              <a:rPr kumimoji="1" lang="zh-CN" altLang="en-US" b="1" i="1">
                <a:solidFill>
                  <a:srgbClr val="FF00FF"/>
                </a:solidFill>
                <a:latin typeface="华文中宋"/>
                <a:ea typeface="华文中宋"/>
                <a:cs typeface="华文中宋"/>
              </a:rPr>
              <a:t>              怎能重复</a:t>
            </a:r>
          </a:p>
          <a:p>
            <a:r>
              <a:rPr kumimoji="1" lang="zh-CN" altLang="en-US" b="1" i="1">
                <a:solidFill>
                  <a:srgbClr val="FF00FF"/>
                </a:solidFill>
                <a:latin typeface="华文中宋"/>
                <a:ea typeface="华文中宋"/>
                <a:cs typeface="华文中宋"/>
              </a:rPr>
              <a:t>                     昨天的故事 </a:t>
            </a:r>
            <a:r>
              <a:rPr kumimoji="1" lang="en-US" altLang="zh-CN" b="1">
                <a:solidFill>
                  <a:srgbClr val="FF00FF"/>
                </a:solidFill>
                <a:latin typeface="华文中宋"/>
                <a:ea typeface="华文中宋"/>
                <a:cs typeface="华文中宋"/>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0852">
                                            <p:txEl>
                                              <p:pRg st="0" end="0"/>
                                            </p:txEl>
                                          </p:spTgt>
                                        </p:tgtEl>
                                        <p:attrNameLst>
                                          <p:attrName>style.visibility</p:attrName>
                                        </p:attrNameLst>
                                      </p:cBhvr>
                                      <p:to>
                                        <p:strVal val="visible"/>
                                      </p:to>
                                    </p:set>
                                    <p:animEffect transition="in" filter="wipe(left)">
                                      <p:cBhvr>
                                        <p:cTn id="7" dur="500"/>
                                        <p:tgtEl>
                                          <p:spTgt spid="12085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0852">
                                            <p:txEl>
                                              <p:pRg st="1" end="1"/>
                                            </p:txEl>
                                          </p:spTgt>
                                        </p:tgtEl>
                                        <p:attrNameLst>
                                          <p:attrName>style.visibility</p:attrName>
                                        </p:attrNameLst>
                                      </p:cBhvr>
                                      <p:to>
                                        <p:strVal val="visible"/>
                                      </p:to>
                                    </p:set>
                                    <p:animEffect transition="in" filter="wipe(left)">
                                      <p:cBhvr>
                                        <p:cTn id="12" dur="500"/>
                                        <p:tgtEl>
                                          <p:spTgt spid="120852">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20853">
                                            <p:txEl>
                                              <p:pRg st="0" end="0"/>
                                            </p:txEl>
                                          </p:spTgt>
                                        </p:tgtEl>
                                        <p:attrNameLst>
                                          <p:attrName>style.visibility</p:attrName>
                                        </p:attrNameLst>
                                      </p:cBhvr>
                                      <p:to>
                                        <p:strVal val="visible"/>
                                      </p:to>
                                    </p:set>
                                    <p:animEffect transition="in" filter="wipe(left)">
                                      <p:cBhvr>
                                        <p:cTn id="17" dur="500"/>
                                        <p:tgtEl>
                                          <p:spTgt spid="120853">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20854">
                                            <p:txEl>
                                              <p:pRg st="0" end="0"/>
                                            </p:txEl>
                                          </p:spTgt>
                                        </p:tgtEl>
                                        <p:attrNameLst>
                                          <p:attrName>style.visibility</p:attrName>
                                        </p:attrNameLst>
                                      </p:cBhvr>
                                      <p:to>
                                        <p:strVal val="visible"/>
                                      </p:to>
                                    </p:set>
                                    <p:animEffect transition="in" filter="wipe(left)">
                                      <p:cBhvr>
                                        <p:cTn id="22" dur="500"/>
                                        <p:tgtEl>
                                          <p:spTgt spid="120854">
                                            <p:txEl>
                                              <p:pRg st="0" end="0"/>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wipe(left)">
                                      <p:cBhvr>
                                        <p:cTn id="27" dur="500"/>
                                        <p:tgtEl>
                                          <p:spTgt spid="1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wipe(left)">
                                      <p:cBhvr>
                                        <p:cTn id="32" dur="500"/>
                                        <p:tgtEl>
                                          <p:spTgt spid="16"/>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9"/>
                                        </p:tgtEl>
                                        <p:attrNameLst>
                                          <p:attrName>style.visibility</p:attrName>
                                        </p:attrNameLst>
                                      </p:cBhvr>
                                      <p:to>
                                        <p:strVal val="visible"/>
                                      </p:to>
                                    </p:set>
                                    <p:animEffect transition="in" filter="wipe(left)">
                                      <p:cBhvr>
                                        <p:cTn id="37" dur="500"/>
                                        <p:tgtEl>
                                          <p:spTgt spid="19"/>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5" presetClass="entr" presetSubtype="0" fill="hold" grpId="0" nodeType="click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fade">
                                      <p:cBhvr>
                                        <p:cTn id="42" dur="2000"/>
                                        <p:tgtEl>
                                          <p:spTgt spid="22"/>
                                        </p:tgtEl>
                                      </p:cBhvr>
                                    </p:animEffect>
                                    <p:anim calcmode="lin" valueType="num">
                                      <p:cBhvr>
                                        <p:cTn id="43" dur="2000" fill="hold"/>
                                        <p:tgtEl>
                                          <p:spTgt spid="22"/>
                                        </p:tgtEl>
                                        <p:attrNameLst>
                                          <p:attrName>style.rotation</p:attrName>
                                        </p:attrNameLst>
                                      </p:cBhvr>
                                      <p:tavLst>
                                        <p:tav tm="0">
                                          <p:val>
                                            <p:fltVal val="720"/>
                                          </p:val>
                                        </p:tav>
                                        <p:tav tm="100000">
                                          <p:val>
                                            <p:fltVal val="0"/>
                                          </p:val>
                                        </p:tav>
                                      </p:tavLst>
                                    </p:anim>
                                    <p:anim calcmode="lin" valueType="num">
                                      <p:cBhvr>
                                        <p:cTn id="44" dur="2000" fill="hold"/>
                                        <p:tgtEl>
                                          <p:spTgt spid="22"/>
                                        </p:tgtEl>
                                        <p:attrNameLst>
                                          <p:attrName>ppt_h</p:attrName>
                                        </p:attrNameLst>
                                      </p:cBhvr>
                                      <p:tavLst>
                                        <p:tav tm="0">
                                          <p:val>
                                            <p:fltVal val="0"/>
                                          </p:val>
                                        </p:tav>
                                        <p:tav tm="100000">
                                          <p:val>
                                            <p:strVal val="#ppt_h"/>
                                          </p:val>
                                        </p:tav>
                                      </p:tavLst>
                                    </p:anim>
                                    <p:anim calcmode="lin" valueType="num">
                                      <p:cBhvr>
                                        <p:cTn id="45" dur="2000" fill="hold"/>
                                        <p:tgtEl>
                                          <p:spTgt spid="22"/>
                                        </p:tgtEl>
                                        <p:attrNameLst>
                                          <p:attrName>ppt_w</p:attrName>
                                        </p:attrNameLst>
                                      </p:cBhvr>
                                      <p:tavLst>
                                        <p:tav tm="0">
                                          <p:val>
                                            <p:fltVal val="0"/>
                                          </p:val>
                                        </p:tav>
                                        <p:tav tm="100000">
                                          <p:val>
                                            <p:strVal val="#ppt_w"/>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852" grpId="0" build="p"/>
      <p:bldP spid="120853" grpId="0" build="p"/>
      <p:bldP spid="120854" grpId="0" build="p"/>
      <p:bldP spid="15" grpId="0" autoUpdateAnimBg="0"/>
      <p:bldP spid="16" grpId="0" autoUpdateAnimBg="0"/>
      <p:bldP spid="19" grpId="0"/>
      <p:bldP spid="22"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32" name="Text Box 16"/>
          <p:cNvSpPr txBox="1">
            <a:spLocks noChangeArrowheads="1"/>
          </p:cNvSpPr>
          <p:nvPr/>
        </p:nvSpPr>
        <p:spPr bwMode="auto">
          <a:xfrm>
            <a:off x="611188" y="806450"/>
            <a:ext cx="3024187" cy="396875"/>
          </a:xfrm>
          <a:prstGeom prst="rect">
            <a:avLst/>
          </a:prstGeom>
          <a:noFill/>
          <a:ln w="9525">
            <a:noFill/>
            <a:miter lim="800000"/>
            <a:headEnd/>
            <a:tailEnd/>
          </a:ln>
        </p:spPr>
        <p:txBody>
          <a:bodyPr>
            <a:spAutoFit/>
          </a:bodyPr>
          <a:lstStyle/>
          <a:p>
            <a:pPr eaLnBrk="0" hangingPunct="0">
              <a:lnSpc>
                <a:spcPct val="110000"/>
              </a:lnSpc>
            </a:pPr>
            <a:r>
              <a:rPr kumimoji="1" lang="en-US" altLang="zh-CN" b="1">
                <a:solidFill>
                  <a:srgbClr val="A50021"/>
                </a:solidFill>
                <a:latin typeface="华文中宋"/>
                <a:ea typeface="华文中宋"/>
                <a:cs typeface="华文中宋"/>
              </a:rPr>
              <a:t>(2) </a:t>
            </a:r>
            <a:r>
              <a:rPr kumimoji="1" lang="zh-CN" altLang="en-US" b="1">
                <a:solidFill>
                  <a:srgbClr val="A50021"/>
                </a:solidFill>
                <a:latin typeface="华文中宋"/>
                <a:ea typeface="华文中宋"/>
                <a:cs typeface="华文中宋"/>
              </a:rPr>
              <a:t>不可逆过程是相互依存</a:t>
            </a:r>
          </a:p>
        </p:txBody>
      </p:sp>
      <p:sp>
        <p:nvSpPr>
          <p:cNvPr id="45" name="Rectangle 17"/>
          <p:cNvSpPr>
            <a:spLocks noChangeArrowheads="1"/>
          </p:cNvSpPr>
          <p:nvPr/>
        </p:nvSpPr>
        <p:spPr bwMode="auto">
          <a:xfrm>
            <a:off x="2555875" y="904875"/>
            <a:ext cx="5545138" cy="701675"/>
          </a:xfrm>
          <a:prstGeom prst="rect">
            <a:avLst/>
          </a:prstGeom>
          <a:noFill/>
          <a:ln w="9525">
            <a:noFill/>
            <a:miter lim="800000"/>
            <a:headEnd/>
            <a:tailEnd/>
          </a:ln>
        </p:spPr>
        <p:txBody>
          <a:bodyPr anchor="ctr">
            <a:spAutoFit/>
          </a:bodyPr>
          <a:lstStyle/>
          <a:p>
            <a:pPr algn="ctr" eaLnBrk="0" hangingPunct="0">
              <a:lnSpc>
                <a:spcPct val="110000"/>
              </a:lnSpc>
            </a:pPr>
            <a:r>
              <a:rPr kumimoji="1" lang="zh-CN" altLang="en-US" b="1">
                <a:solidFill>
                  <a:srgbClr val="000000"/>
                </a:solidFill>
                <a:latin typeface="华文中宋"/>
                <a:ea typeface="华文中宋"/>
                <a:cs typeface="华文中宋"/>
              </a:rPr>
              <a:t>一种不可逆过程的存在</a:t>
            </a:r>
            <a:r>
              <a:rPr kumimoji="1" lang="en-US" altLang="zh-CN" b="1">
                <a:solidFill>
                  <a:srgbClr val="000000"/>
                </a:solidFill>
                <a:latin typeface="华文中宋"/>
                <a:ea typeface="华文中宋"/>
                <a:cs typeface="华文中宋"/>
              </a:rPr>
              <a:t>(</a:t>
            </a:r>
            <a:r>
              <a:rPr kumimoji="1" lang="zh-CN" altLang="en-US" b="1">
                <a:solidFill>
                  <a:srgbClr val="000000"/>
                </a:solidFill>
                <a:latin typeface="华文中宋"/>
                <a:ea typeface="华文中宋"/>
                <a:cs typeface="华文中宋"/>
              </a:rPr>
              <a:t>或消失</a:t>
            </a:r>
            <a:r>
              <a:rPr kumimoji="1" lang="en-US" altLang="zh-CN" b="1">
                <a:solidFill>
                  <a:srgbClr val="000000"/>
                </a:solidFill>
                <a:latin typeface="华文中宋"/>
                <a:ea typeface="华文中宋"/>
                <a:cs typeface="华文中宋"/>
              </a:rPr>
              <a:t>)</a:t>
            </a:r>
            <a:r>
              <a:rPr kumimoji="1" lang="zh-CN" altLang="en-US" b="1">
                <a:solidFill>
                  <a:srgbClr val="000000"/>
                </a:solidFill>
                <a:latin typeface="华文中宋"/>
                <a:ea typeface="华文中宋"/>
                <a:cs typeface="华文中宋"/>
              </a:rPr>
              <a:t>， </a:t>
            </a:r>
          </a:p>
          <a:p>
            <a:pPr algn="ctr" eaLnBrk="0" hangingPunct="0">
              <a:lnSpc>
                <a:spcPct val="110000"/>
              </a:lnSpc>
            </a:pPr>
            <a:r>
              <a:rPr kumimoji="1" lang="zh-CN" altLang="en-US" b="1">
                <a:solidFill>
                  <a:srgbClr val="000000"/>
                </a:solidFill>
                <a:latin typeface="华文中宋"/>
                <a:ea typeface="华文中宋"/>
                <a:cs typeface="华文中宋"/>
              </a:rPr>
              <a:t>则另一不可逆过程也存在</a:t>
            </a:r>
            <a:r>
              <a:rPr kumimoji="1" lang="en-US" altLang="zh-CN" b="1">
                <a:solidFill>
                  <a:srgbClr val="000000"/>
                </a:solidFill>
                <a:latin typeface="华文中宋"/>
                <a:ea typeface="华文中宋"/>
                <a:cs typeface="华文中宋"/>
              </a:rPr>
              <a:t>(</a:t>
            </a:r>
            <a:r>
              <a:rPr kumimoji="1" lang="zh-CN" altLang="en-US" b="1">
                <a:solidFill>
                  <a:srgbClr val="000000"/>
                </a:solidFill>
                <a:latin typeface="华文中宋"/>
                <a:ea typeface="华文中宋"/>
                <a:cs typeface="华文中宋"/>
              </a:rPr>
              <a:t>或消失</a:t>
            </a:r>
            <a:r>
              <a:rPr kumimoji="1" lang="en-US" altLang="zh-CN" b="1">
                <a:solidFill>
                  <a:srgbClr val="000000"/>
                </a:solidFill>
                <a:latin typeface="华文中宋"/>
                <a:ea typeface="华文中宋"/>
                <a:cs typeface="华文中宋"/>
              </a:rPr>
              <a:t>) </a:t>
            </a:r>
          </a:p>
        </p:txBody>
      </p:sp>
      <p:sp>
        <p:nvSpPr>
          <p:cNvPr id="10" name="Text Box 132"/>
          <p:cNvSpPr txBox="1">
            <a:spLocks noChangeArrowheads="1"/>
          </p:cNvSpPr>
          <p:nvPr/>
        </p:nvSpPr>
        <p:spPr bwMode="auto">
          <a:xfrm>
            <a:off x="1457325" y="1620838"/>
            <a:ext cx="5922963" cy="369887"/>
          </a:xfrm>
          <a:prstGeom prst="rect">
            <a:avLst/>
          </a:prstGeom>
          <a:noFill/>
          <a:ln w="9525">
            <a:noFill/>
            <a:miter lim="800000"/>
            <a:headEnd/>
            <a:tailEnd/>
          </a:ln>
        </p:spPr>
        <p:txBody>
          <a:bodyPr>
            <a:spAutoFit/>
          </a:bodyPr>
          <a:lstStyle/>
          <a:p>
            <a:pPr algn="ctr"/>
            <a:r>
              <a:rPr kumimoji="1" lang="zh-CN" altLang="en-US" b="1">
                <a:solidFill>
                  <a:srgbClr val="000000"/>
                </a:solidFill>
                <a:latin typeface="华文中宋"/>
                <a:ea typeface="华文中宋"/>
                <a:cs typeface="华文中宋"/>
              </a:rPr>
              <a:t>因此</a:t>
            </a:r>
            <a:r>
              <a:rPr kumimoji="1" lang="en-US" altLang="zh-CN" b="1">
                <a:solidFill>
                  <a:srgbClr val="000000"/>
                </a:solidFill>
                <a:latin typeface="华文中宋"/>
                <a:ea typeface="华文中宋"/>
                <a:cs typeface="华文中宋"/>
              </a:rPr>
              <a:t>, </a:t>
            </a:r>
            <a:r>
              <a:rPr kumimoji="1" lang="zh-CN" altLang="en-US" b="1">
                <a:solidFill>
                  <a:srgbClr val="000000"/>
                </a:solidFill>
                <a:latin typeface="华文中宋"/>
                <a:ea typeface="华文中宋"/>
                <a:cs typeface="华文中宋"/>
              </a:rPr>
              <a:t>热力学第二定律有</a:t>
            </a:r>
            <a:r>
              <a:rPr kumimoji="1" lang="en-US" altLang="zh-CN" b="1" i="1">
                <a:solidFill>
                  <a:srgbClr val="000000"/>
                </a:solidFill>
                <a:latin typeface="Times New Roman" pitchFamily="18" charset="0"/>
                <a:ea typeface="华文中宋"/>
                <a:cs typeface="Times New Roman" pitchFamily="18" charset="0"/>
              </a:rPr>
              <a:t>N</a:t>
            </a:r>
            <a:r>
              <a:rPr kumimoji="1" lang="zh-CN" altLang="en-US" b="1">
                <a:solidFill>
                  <a:srgbClr val="000000"/>
                </a:solidFill>
                <a:latin typeface="华文中宋"/>
                <a:ea typeface="华文中宋"/>
                <a:cs typeface="华文中宋"/>
              </a:rPr>
              <a:t>种表述！</a:t>
            </a:r>
          </a:p>
        </p:txBody>
      </p:sp>
      <p:sp>
        <p:nvSpPr>
          <p:cNvPr id="11" name="Text Box 133"/>
          <p:cNvSpPr txBox="1">
            <a:spLocks noChangeArrowheads="1"/>
          </p:cNvSpPr>
          <p:nvPr/>
        </p:nvSpPr>
        <p:spPr bwMode="auto">
          <a:xfrm>
            <a:off x="611188" y="2822575"/>
            <a:ext cx="5065712" cy="396875"/>
          </a:xfrm>
          <a:prstGeom prst="rect">
            <a:avLst/>
          </a:prstGeom>
          <a:noFill/>
          <a:ln w="9525">
            <a:noFill/>
            <a:miter lim="800000"/>
            <a:headEnd/>
            <a:tailEnd/>
          </a:ln>
        </p:spPr>
        <p:txBody>
          <a:bodyPr>
            <a:spAutoFit/>
          </a:bodyPr>
          <a:lstStyle/>
          <a:p>
            <a:pPr eaLnBrk="0" hangingPunct="0">
              <a:lnSpc>
                <a:spcPct val="110000"/>
              </a:lnSpc>
            </a:pPr>
            <a:r>
              <a:rPr kumimoji="1" lang="en-US" altLang="zh-CN" b="1">
                <a:solidFill>
                  <a:srgbClr val="A50021"/>
                </a:solidFill>
                <a:latin typeface="华文中宋"/>
                <a:ea typeface="华文中宋"/>
                <a:cs typeface="华文中宋"/>
              </a:rPr>
              <a:t>(3)</a:t>
            </a:r>
            <a:r>
              <a:rPr kumimoji="1" lang="zh-CN" altLang="en-US" b="1">
                <a:solidFill>
                  <a:srgbClr val="A50021"/>
                </a:solidFill>
                <a:latin typeface="华文中宋"/>
                <a:ea typeface="华文中宋"/>
                <a:cs typeface="华文中宋"/>
              </a:rPr>
              <a:t>自然过程都</a:t>
            </a:r>
            <a:r>
              <a:rPr lang="zh-CN" altLang="en-US" b="1">
                <a:solidFill>
                  <a:srgbClr val="A50021"/>
                </a:solidFill>
                <a:latin typeface="华文中宋"/>
                <a:ea typeface="华文中宋"/>
                <a:cs typeface="华文中宋"/>
              </a:rPr>
              <a:t>是不可逆过程</a:t>
            </a:r>
          </a:p>
        </p:txBody>
      </p:sp>
      <p:sp>
        <p:nvSpPr>
          <p:cNvPr id="12" name="Text Box 134"/>
          <p:cNvSpPr txBox="1">
            <a:spLocks noChangeArrowheads="1"/>
          </p:cNvSpPr>
          <p:nvPr/>
        </p:nvSpPr>
        <p:spPr bwMode="auto">
          <a:xfrm>
            <a:off x="828675" y="3209925"/>
            <a:ext cx="7775575" cy="369888"/>
          </a:xfrm>
          <a:prstGeom prst="rect">
            <a:avLst/>
          </a:prstGeom>
          <a:noFill/>
          <a:ln w="9525">
            <a:noFill/>
            <a:miter lim="800000"/>
            <a:headEnd/>
            <a:tailEnd/>
          </a:ln>
        </p:spPr>
        <p:txBody>
          <a:bodyPr>
            <a:spAutoFit/>
          </a:bodyPr>
          <a:lstStyle/>
          <a:p>
            <a:pPr eaLnBrk="0" hangingPunct="0"/>
            <a:r>
              <a:rPr lang="zh-CN" altLang="en-US" b="1">
                <a:solidFill>
                  <a:srgbClr val="000000"/>
                </a:solidFill>
                <a:latin typeface="华文中宋"/>
                <a:ea typeface="华文中宋"/>
                <a:cs typeface="华文中宋"/>
              </a:rPr>
              <a:t>在孤立系统</a:t>
            </a:r>
            <a:r>
              <a:rPr kumimoji="1" lang="zh-CN" altLang="en-US" b="1">
                <a:solidFill>
                  <a:srgbClr val="000000"/>
                </a:solidFill>
                <a:latin typeface="华文中宋"/>
                <a:ea typeface="华文中宋"/>
                <a:cs typeface="华文中宋"/>
              </a:rPr>
              <a:t>中，不可逆过程与</a:t>
            </a:r>
            <a:r>
              <a:rPr lang="zh-CN" altLang="en-US" b="1">
                <a:solidFill>
                  <a:srgbClr val="000000"/>
                </a:solidFill>
                <a:latin typeface="华文中宋"/>
                <a:ea typeface="华文中宋"/>
                <a:cs typeface="华文中宋"/>
              </a:rPr>
              <a:t>自然过程的方向性，</a:t>
            </a:r>
            <a:r>
              <a:rPr kumimoji="1" lang="zh-CN" altLang="en-US" b="1">
                <a:solidFill>
                  <a:srgbClr val="000000"/>
                </a:solidFill>
                <a:latin typeface="华文中宋"/>
                <a:ea typeface="华文中宋"/>
                <a:cs typeface="华文中宋"/>
              </a:rPr>
              <a:t>两种说法完全是等同的。</a:t>
            </a:r>
          </a:p>
        </p:txBody>
      </p:sp>
      <p:sp>
        <p:nvSpPr>
          <p:cNvPr id="13" name="Text Box 135"/>
          <p:cNvSpPr txBox="1">
            <a:spLocks noChangeArrowheads="1"/>
          </p:cNvSpPr>
          <p:nvPr/>
        </p:nvSpPr>
        <p:spPr bwMode="auto">
          <a:xfrm>
            <a:off x="827088" y="2079625"/>
            <a:ext cx="7451725" cy="646113"/>
          </a:xfrm>
          <a:prstGeom prst="rect">
            <a:avLst/>
          </a:prstGeom>
          <a:noFill/>
          <a:ln w="19050">
            <a:solidFill>
              <a:srgbClr val="FF0000"/>
            </a:solidFill>
            <a:prstDash val="dashDot"/>
            <a:miter lim="800000"/>
            <a:headEnd/>
            <a:tailEnd/>
          </a:ln>
        </p:spPr>
        <p:txBody>
          <a:bodyPr>
            <a:spAutoFit/>
          </a:bodyPr>
          <a:lstStyle/>
          <a:p>
            <a:r>
              <a:rPr lang="en-US" altLang="zh-CN" b="1">
                <a:solidFill>
                  <a:srgbClr val="0000FF"/>
                </a:solidFill>
                <a:latin typeface="华文中宋"/>
                <a:ea typeface="华文中宋"/>
                <a:cs typeface="华文中宋"/>
              </a:rPr>
              <a:t>      </a:t>
            </a:r>
            <a:r>
              <a:rPr lang="zh-CN" altLang="en-US" b="1">
                <a:solidFill>
                  <a:srgbClr val="0000FF"/>
                </a:solidFill>
                <a:latin typeface="华文中宋"/>
                <a:ea typeface="华文中宋"/>
                <a:cs typeface="华文中宋"/>
              </a:rPr>
              <a:t>各种宏观过程的方向性的</a:t>
            </a:r>
            <a:r>
              <a:rPr kumimoji="1" lang="zh-CN" altLang="en-US" b="1">
                <a:solidFill>
                  <a:srgbClr val="0000FF"/>
                </a:solidFill>
                <a:latin typeface="华文中宋"/>
                <a:ea typeface="华文中宋"/>
                <a:cs typeface="华文中宋"/>
              </a:rPr>
              <a:t>相互依存，</a:t>
            </a:r>
            <a:r>
              <a:rPr lang="zh-CN" altLang="en-US" b="1">
                <a:solidFill>
                  <a:srgbClr val="0000FF"/>
                </a:solidFill>
                <a:latin typeface="华文中宋"/>
                <a:ea typeface="华文中宋"/>
                <a:cs typeface="华文中宋"/>
              </a:rPr>
              <a:t>说明宏观过程的进行遵从共同的规律。</a:t>
            </a:r>
          </a:p>
        </p:txBody>
      </p:sp>
      <p:sp>
        <p:nvSpPr>
          <p:cNvPr id="14" name="Text Box 135"/>
          <p:cNvSpPr txBox="1">
            <a:spLocks noChangeArrowheads="1"/>
          </p:cNvSpPr>
          <p:nvPr/>
        </p:nvSpPr>
        <p:spPr bwMode="auto">
          <a:xfrm>
            <a:off x="5768975" y="2417763"/>
            <a:ext cx="2509838" cy="369887"/>
          </a:xfrm>
          <a:prstGeom prst="rect">
            <a:avLst/>
          </a:prstGeom>
          <a:noFill/>
          <a:ln w="9525">
            <a:noFill/>
            <a:miter lim="800000"/>
            <a:headEnd/>
            <a:tailEnd/>
          </a:ln>
        </p:spPr>
        <p:txBody>
          <a:bodyPr>
            <a:spAutoFit/>
          </a:bodyPr>
          <a:lstStyle/>
          <a:p>
            <a:r>
              <a:rPr lang="en-US" altLang="zh-CN" b="1">
                <a:solidFill>
                  <a:srgbClr val="0000FF"/>
                </a:solidFill>
                <a:latin typeface="华文中宋"/>
                <a:ea typeface="华文中宋"/>
                <a:cs typeface="华文中宋"/>
              </a:rPr>
              <a:t>——</a:t>
            </a:r>
            <a:r>
              <a:rPr lang="zh-CN" altLang="en-US" b="1">
                <a:solidFill>
                  <a:srgbClr val="0000FF"/>
                </a:solidFill>
                <a:latin typeface="华文中宋"/>
                <a:ea typeface="华文中宋"/>
                <a:cs typeface="华文中宋"/>
              </a:rPr>
              <a:t>热力学第二定律。</a:t>
            </a:r>
          </a:p>
        </p:txBody>
      </p:sp>
      <p:sp>
        <p:nvSpPr>
          <p:cNvPr id="2" name="Text Box 132"/>
          <p:cNvSpPr txBox="1">
            <a:spLocks noChangeArrowheads="1"/>
          </p:cNvSpPr>
          <p:nvPr/>
        </p:nvSpPr>
        <p:spPr bwMode="auto">
          <a:xfrm>
            <a:off x="684213" y="3651250"/>
            <a:ext cx="7848600" cy="923925"/>
          </a:xfrm>
          <a:prstGeom prst="rect">
            <a:avLst/>
          </a:prstGeom>
          <a:noFill/>
          <a:ln w="19050" cap="rnd">
            <a:solidFill>
              <a:srgbClr val="6666FF"/>
            </a:solidFill>
            <a:prstDash val="sysDash"/>
            <a:round/>
            <a:headEnd/>
            <a:tailEnd/>
          </a:ln>
        </p:spPr>
        <p:txBody>
          <a:bodyPr>
            <a:spAutoFit/>
          </a:bodyPr>
          <a:lstStyle/>
          <a:p>
            <a:r>
              <a:rPr kumimoji="1" lang="zh-CN" altLang="en-US" b="1">
                <a:solidFill>
                  <a:srgbClr val="FF0000"/>
                </a:solidFill>
                <a:latin typeface="华文中宋"/>
                <a:ea typeface="华文中宋"/>
                <a:cs typeface="华文中宋"/>
              </a:rPr>
              <a:t>思考：</a:t>
            </a:r>
          </a:p>
          <a:p>
            <a:r>
              <a:rPr kumimoji="1" lang="zh-CN" altLang="en-US" b="1">
                <a:solidFill>
                  <a:srgbClr val="000000"/>
                </a:solidFill>
                <a:latin typeface="华文中宋"/>
                <a:ea typeface="华文中宋"/>
                <a:cs typeface="华文中宋"/>
              </a:rPr>
              <a:t>        热力学第二定律表明了自然过程具有方向性、不可逆性，</a:t>
            </a:r>
            <a:r>
              <a:rPr kumimoji="1" lang="zh-CN" altLang="en-US" b="1">
                <a:solidFill>
                  <a:srgbClr val="FF0000"/>
                </a:solidFill>
                <a:latin typeface="华文中宋"/>
                <a:ea typeface="华文中宋"/>
                <a:cs typeface="华文中宋"/>
              </a:rPr>
              <a:t>那么自然过程或不可逆过程的方向是朝什么方向进行的呢？</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88432"/>
                                        </p:tgtEl>
                                        <p:attrNameLst>
                                          <p:attrName>style.visibility</p:attrName>
                                        </p:attrNameLst>
                                      </p:cBhvr>
                                      <p:to>
                                        <p:strVal val="visible"/>
                                      </p:to>
                                    </p:set>
                                    <p:animEffect transition="in" filter="wipe(left)">
                                      <p:cBhvr>
                                        <p:cTn id="7" dur="500"/>
                                        <p:tgtEl>
                                          <p:spTgt spid="18843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5"/>
                                        </p:tgtEl>
                                        <p:attrNameLst>
                                          <p:attrName>style.visibility</p:attrName>
                                        </p:attrNameLst>
                                      </p:cBhvr>
                                      <p:to>
                                        <p:strVal val="visible"/>
                                      </p:to>
                                    </p:set>
                                    <p:animEffect transition="in" filter="wipe(left)">
                                      <p:cBhvr>
                                        <p:cTn id="12" dur="500"/>
                                        <p:tgtEl>
                                          <p:spTgt spid="4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
                                            <p:txEl>
                                              <p:pRg st="0" end="0"/>
                                            </p:txEl>
                                          </p:spTgt>
                                        </p:tgtEl>
                                        <p:attrNameLst>
                                          <p:attrName>style.visibility</p:attrName>
                                        </p:attrNameLst>
                                      </p:cBhvr>
                                      <p:to>
                                        <p:strVal val="visible"/>
                                      </p:to>
                                    </p:set>
                                    <p:animEffect transition="in" filter="wipe(left)">
                                      <p:cBhvr>
                                        <p:cTn id="17" dur="500"/>
                                        <p:tgtEl>
                                          <p:spTgt spid="10">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wipe(left)">
                                      <p:cBhvr>
                                        <p:cTn id="22" dur="500"/>
                                        <p:tgtEl>
                                          <p:spTgt spid="1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wipe(left)">
                                      <p:cBhvr>
                                        <p:cTn id="27" dur="500"/>
                                        <p:tgtEl>
                                          <p:spTgt spid="1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wipe(left)">
                                      <p:cBhvr>
                                        <p:cTn id="32" dur="500"/>
                                        <p:tgtEl>
                                          <p:spTgt spid="11"/>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wipe(left)">
                                      <p:cBhvr>
                                        <p:cTn id="37" dur="500"/>
                                        <p:tgtEl>
                                          <p:spTgt spid="12"/>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
                                            <p:bg/>
                                          </p:spTgt>
                                        </p:tgtEl>
                                        <p:attrNameLst>
                                          <p:attrName>style.visibility</p:attrName>
                                        </p:attrNameLst>
                                      </p:cBhvr>
                                      <p:to>
                                        <p:strVal val="visible"/>
                                      </p:to>
                                    </p:set>
                                    <p:animEffect transition="in" filter="wipe(left)">
                                      <p:cBhvr>
                                        <p:cTn id="42" dur="500"/>
                                        <p:tgtEl>
                                          <p:spTgt spid="2">
                                            <p:bg/>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
                                            <p:txEl>
                                              <p:pRg st="0" end="0"/>
                                            </p:txEl>
                                          </p:spTgt>
                                        </p:tgtEl>
                                        <p:attrNameLst>
                                          <p:attrName>style.visibility</p:attrName>
                                        </p:attrNameLst>
                                      </p:cBhvr>
                                      <p:to>
                                        <p:strVal val="visible"/>
                                      </p:to>
                                    </p:set>
                                    <p:animEffect transition="in" filter="wipe(left)">
                                      <p:cBhvr>
                                        <p:cTn id="47" dur="500"/>
                                        <p:tgtEl>
                                          <p:spTgt spid="2">
                                            <p:txEl>
                                              <p:pRg st="0" end="0"/>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2">
                                            <p:txEl>
                                              <p:pRg st="1" end="1"/>
                                            </p:txEl>
                                          </p:spTgt>
                                        </p:tgtEl>
                                        <p:attrNameLst>
                                          <p:attrName>style.visibility</p:attrName>
                                        </p:attrNameLst>
                                      </p:cBhvr>
                                      <p:to>
                                        <p:strVal val="visible"/>
                                      </p:to>
                                    </p:set>
                                    <p:animEffect transition="in" filter="wipe(left)">
                                      <p:cBhvr>
                                        <p:cTn id="52"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8432" grpId="0"/>
      <p:bldP spid="45" grpId="0"/>
      <p:bldP spid="10" grpId="0" build="p"/>
      <p:bldP spid="11" grpId="0"/>
      <p:bldP spid="12" grpId="0"/>
      <p:bldP spid="13" grpId="0" animBg="1"/>
      <p:bldP spid="14" grpId="0"/>
      <p:bldP spid="2" grpId="0" build="p"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2" name="Text Box 2"/>
          <p:cNvSpPr txBox="1">
            <a:spLocks noChangeArrowheads="1"/>
          </p:cNvSpPr>
          <p:nvPr/>
        </p:nvSpPr>
        <p:spPr bwMode="auto">
          <a:xfrm>
            <a:off x="539750" y="2139950"/>
            <a:ext cx="8353425" cy="2225675"/>
          </a:xfrm>
          <a:prstGeom prst="rect">
            <a:avLst/>
          </a:prstGeom>
          <a:noFill/>
          <a:ln w="9525">
            <a:noFill/>
            <a:miter lim="800000"/>
            <a:headEnd/>
            <a:tailEnd/>
          </a:ln>
        </p:spPr>
        <p:txBody>
          <a:bodyPr>
            <a:spAutoFit/>
          </a:bodyPr>
          <a:lstStyle/>
          <a:p>
            <a:pPr eaLnBrk="0" hangingPunct="0">
              <a:lnSpc>
                <a:spcPct val="110000"/>
              </a:lnSpc>
            </a:pPr>
            <a:r>
              <a:rPr lang="zh-CN" altLang="en-US" b="1">
                <a:solidFill>
                  <a:srgbClr val="0000FF"/>
                </a:solidFill>
                <a:latin typeface="华文中宋"/>
                <a:ea typeface="华文中宋"/>
                <a:cs typeface="华文中宋"/>
              </a:rPr>
              <a:t>例 “理想气体和单一热源接触作等温膨胀时，吸收的热量全部用来对外作功．”对此说法，有如下几种评论，哪种是正确的？    （         ）</a:t>
            </a:r>
            <a:r>
              <a:rPr lang="en-US" altLang="zh-CN" b="1">
                <a:solidFill>
                  <a:srgbClr val="0000FF"/>
                </a:solidFill>
                <a:latin typeface="华文中宋"/>
                <a:ea typeface="华文中宋"/>
                <a:cs typeface="华文中宋"/>
              </a:rPr>
              <a:t>          </a:t>
            </a:r>
            <a:r>
              <a:rPr lang="zh-CN" altLang="en-US" b="1">
                <a:solidFill>
                  <a:srgbClr val="0000FF"/>
                </a:solidFill>
                <a:latin typeface="华文中宋"/>
                <a:ea typeface="华文中宋"/>
                <a:cs typeface="华文中宋"/>
              </a:rPr>
              <a:t>            </a:t>
            </a:r>
          </a:p>
          <a:p>
            <a:pPr eaLnBrk="0" hangingPunct="0">
              <a:lnSpc>
                <a:spcPct val="110000"/>
              </a:lnSpc>
            </a:pPr>
            <a:r>
              <a:rPr lang="en-US" altLang="zh-CN" b="1">
                <a:solidFill>
                  <a:srgbClr val="0000FF"/>
                </a:solidFill>
                <a:latin typeface="Times New Roman" pitchFamily="18" charset="0"/>
                <a:ea typeface="华文中宋"/>
                <a:cs typeface="Times New Roman" pitchFamily="18" charset="0"/>
              </a:rPr>
              <a:t>(A) </a:t>
            </a:r>
            <a:r>
              <a:rPr lang="zh-CN" altLang="en-US" b="1">
                <a:solidFill>
                  <a:srgbClr val="0000FF"/>
                </a:solidFill>
                <a:latin typeface="华文中宋"/>
                <a:ea typeface="华文中宋"/>
                <a:cs typeface="华文中宋"/>
              </a:rPr>
              <a:t>不违反热力学第一定律，但违反热力学第二定律．            </a:t>
            </a:r>
          </a:p>
          <a:p>
            <a:pPr eaLnBrk="0" hangingPunct="0">
              <a:lnSpc>
                <a:spcPct val="110000"/>
              </a:lnSpc>
            </a:pPr>
            <a:r>
              <a:rPr lang="en-US" altLang="zh-CN" b="1">
                <a:solidFill>
                  <a:srgbClr val="0000FF"/>
                </a:solidFill>
                <a:latin typeface="Times New Roman" pitchFamily="18" charset="0"/>
                <a:ea typeface="华文中宋"/>
                <a:cs typeface="华文中宋"/>
              </a:rPr>
              <a:t>(B) </a:t>
            </a:r>
            <a:r>
              <a:rPr lang="zh-CN" altLang="en-US" b="1">
                <a:solidFill>
                  <a:srgbClr val="0000FF"/>
                </a:solidFill>
                <a:latin typeface="华文中宋"/>
                <a:ea typeface="华文中宋"/>
                <a:cs typeface="华文中宋"/>
              </a:rPr>
              <a:t>不违反热力学第二定律，但违反热力学第一定律．            </a:t>
            </a:r>
          </a:p>
          <a:p>
            <a:pPr eaLnBrk="0" hangingPunct="0">
              <a:lnSpc>
                <a:spcPct val="110000"/>
              </a:lnSpc>
            </a:pPr>
            <a:r>
              <a:rPr lang="en-US" altLang="zh-CN" b="1">
                <a:solidFill>
                  <a:srgbClr val="0000FF"/>
                </a:solidFill>
                <a:latin typeface="Times New Roman" pitchFamily="18" charset="0"/>
                <a:ea typeface="华文中宋"/>
                <a:cs typeface="华文中宋"/>
              </a:rPr>
              <a:t>(C) </a:t>
            </a:r>
            <a:r>
              <a:rPr lang="zh-CN" altLang="en-US" b="1">
                <a:solidFill>
                  <a:srgbClr val="0000FF"/>
                </a:solidFill>
                <a:latin typeface="华文中宋"/>
                <a:ea typeface="华文中宋"/>
                <a:cs typeface="华文中宋"/>
              </a:rPr>
              <a:t>不违反热力学第一定律，也不违反热力学第二定律          </a:t>
            </a:r>
            <a:endParaRPr lang="en-US" altLang="zh-CN" b="1">
              <a:solidFill>
                <a:srgbClr val="0000FF"/>
              </a:solidFill>
              <a:latin typeface="华文中宋"/>
              <a:ea typeface="华文中宋"/>
              <a:cs typeface="华文中宋"/>
            </a:endParaRPr>
          </a:p>
          <a:p>
            <a:pPr eaLnBrk="0" hangingPunct="0">
              <a:lnSpc>
                <a:spcPct val="110000"/>
              </a:lnSpc>
            </a:pPr>
            <a:r>
              <a:rPr lang="en-US" altLang="zh-CN" b="1">
                <a:solidFill>
                  <a:srgbClr val="0000FF"/>
                </a:solidFill>
                <a:latin typeface="Times New Roman" pitchFamily="18" charset="0"/>
                <a:ea typeface="华文中宋"/>
                <a:cs typeface="华文中宋"/>
              </a:rPr>
              <a:t>(D) </a:t>
            </a:r>
            <a:r>
              <a:rPr lang="zh-CN" altLang="en-US" b="1">
                <a:solidFill>
                  <a:srgbClr val="0000FF"/>
                </a:solidFill>
                <a:latin typeface="华文中宋"/>
                <a:ea typeface="华文中宋"/>
                <a:cs typeface="华文中宋"/>
              </a:rPr>
              <a:t>违反热力学第一定律，也违反热力学第二定律．</a:t>
            </a:r>
          </a:p>
          <a:p>
            <a:pPr eaLnBrk="0" hangingPunct="0">
              <a:lnSpc>
                <a:spcPct val="110000"/>
              </a:lnSpc>
            </a:pPr>
            <a:r>
              <a:rPr lang="zh-CN" altLang="en-US" b="1">
                <a:solidFill>
                  <a:srgbClr val="0000FF"/>
                </a:solidFill>
                <a:latin typeface="华文中宋"/>
                <a:ea typeface="华文中宋"/>
                <a:cs typeface="华文中宋"/>
              </a:rPr>
              <a:t>                              </a:t>
            </a:r>
            <a:endParaRPr lang="en-US" altLang="zh-CN" b="1">
              <a:solidFill>
                <a:srgbClr val="0000FF"/>
              </a:solidFill>
              <a:latin typeface="华文中宋"/>
              <a:ea typeface="华文中宋"/>
              <a:cs typeface="华文中宋"/>
            </a:endParaRPr>
          </a:p>
        </p:txBody>
      </p:sp>
      <p:sp>
        <p:nvSpPr>
          <p:cNvPr id="353283" name="Rectangle 3"/>
          <p:cNvSpPr>
            <a:spLocks noChangeArrowheads="1"/>
          </p:cNvSpPr>
          <p:nvPr/>
        </p:nvSpPr>
        <p:spPr bwMode="auto">
          <a:xfrm>
            <a:off x="5867400" y="2439988"/>
            <a:ext cx="409575" cy="376237"/>
          </a:xfrm>
          <a:prstGeom prst="rect">
            <a:avLst/>
          </a:prstGeom>
          <a:noFill/>
          <a:ln w="9525">
            <a:noFill/>
            <a:miter lim="800000"/>
            <a:headEnd/>
            <a:tailEnd/>
          </a:ln>
        </p:spPr>
        <p:txBody>
          <a:bodyPr>
            <a:spAutoFit/>
          </a:bodyPr>
          <a:lstStyle/>
          <a:p>
            <a:pPr eaLnBrk="0" hangingPunct="0">
              <a:lnSpc>
                <a:spcPct val="110000"/>
              </a:lnSpc>
            </a:pPr>
            <a:r>
              <a:rPr lang="en-US" altLang="zh-CN" b="1">
                <a:solidFill>
                  <a:srgbClr val="FF3300"/>
                </a:solidFill>
                <a:latin typeface="Times New Roman" pitchFamily="18" charset="0"/>
                <a:ea typeface="华文中宋"/>
                <a:cs typeface="Times New Roman" pitchFamily="18" charset="0"/>
              </a:rPr>
              <a:t>C</a:t>
            </a:r>
          </a:p>
        </p:txBody>
      </p:sp>
      <p:sp>
        <p:nvSpPr>
          <p:cNvPr id="10" name="Text Box 132"/>
          <p:cNvSpPr txBox="1">
            <a:spLocks noChangeArrowheads="1"/>
          </p:cNvSpPr>
          <p:nvPr/>
        </p:nvSpPr>
        <p:spPr bwMode="auto">
          <a:xfrm>
            <a:off x="468313" y="1058863"/>
            <a:ext cx="7848600" cy="923925"/>
          </a:xfrm>
          <a:prstGeom prst="rect">
            <a:avLst/>
          </a:prstGeom>
          <a:noFill/>
          <a:ln w="9525">
            <a:noFill/>
            <a:miter lim="800000"/>
            <a:headEnd/>
            <a:tailEnd/>
          </a:ln>
        </p:spPr>
        <p:txBody>
          <a:bodyPr>
            <a:spAutoFit/>
          </a:bodyPr>
          <a:lstStyle/>
          <a:p>
            <a:r>
              <a:rPr kumimoji="1" lang="zh-CN" altLang="en-US" b="1">
                <a:solidFill>
                  <a:srgbClr val="FF0000"/>
                </a:solidFill>
                <a:latin typeface="华文中宋"/>
                <a:ea typeface="华文中宋"/>
                <a:cs typeface="华文中宋"/>
              </a:rPr>
              <a:t>回答：讨论仍将继续</a:t>
            </a:r>
          </a:p>
          <a:p>
            <a:r>
              <a:rPr kumimoji="1" lang="zh-CN" altLang="en-US" b="1">
                <a:solidFill>
                  <a:srgbClr val="000000"/>
                </a:solidFill>
                <a:latin typeface="华文中宋"/>
                <a:ea typeface="华文中宋"/>
                <a:cs typeface="华文中宋"/>
              </a:rPr>
              <a:t>        宏观上：从非平衡态向平衡态进行（第七节）</a:t>
            </a:r>
          </a:p>
          <a:p>
            <a:r>
              <a:rPr kumimoji="1" lang="zh-CN" altLang="en-US" b="1">
                <a:solidFill>
                  <a:srgbClr val="000000"/>
                </a:solidFill>
                <a:latin typeface="华文中宋"/>
                <a:ea typeface="华文中宋"/>
                <a:cs typeface="华文中宋"/>
              </a:rPr>
              <a:t>        微观上：从相对有序向完全无序进行（第八节）</a:t>
            </a:r>
            <a:endParaRPr kumimoji="1" lang="zh-CN" altLang="en-US" b="1">
              <a:solidFill>
                <a:srgbClr val="FF0000"/>
              </a:solidFill>
              <a:latin typeface="华文中宋"/>
              <a:ea typeface="华文中宋"/>
              <a:cs typeface="华文中宋"/>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wipe(left)">
                                      <p:cBhvr>
                                        <p:cTn id="7" dur="500"/>
                                        <p:tgtEl>
                                          <p:spTgt spid="10">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
                                            <p:txEl>
                                              <p:pRg st="1" end="1"/>
                                            </p:txEl>
                                          </p:spTgt>
                                        </p:tgtEl>
                                        <p:attrNameLst>
                                          <p:attrName>style.visibility</p:attrName>
                                        </p:attrNameLst>
                                      </p:cBhvr>
                                      <p:to>
                                        <p:strVal val="visible"/>
                                      </p:to>
                                    </p:set>
                                    <p:animEffect transition="in" filter="wipe(left)">
                                      <p:cBhvr>
                                        <p:cTn id="12" dur="500"/>
                                        <p:tgtEl>
                                          <p:spTgt spid="10">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
                                            <p:txEl>
                                              <p:pRg st="2" end="2"/>
                                            </p:txEl>
                                          </p:spTgt>
                                        </p:tgtEl>
                                        <p:attrNameLst>
                                          <p:attrName>style.visibility</p:attrName>
                                        </p:attrNameLst>
                                      </p:cBhvr>
                                      <p:to>
                                        <p:strVal val="visible"/>
                                      </p:to>
                                    </p:set>
                                    <p:animEffect transition="in" filter="wipe(left)">
                                      <p:cBhvr>
                                        <p:cTn id="17" dur="500"/>
                                        <p:tgtEl>
                                          <p:spTgt spid="10">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53282"/>
                                        </p:tgtEl>
                                        <p:attrNameLst>
                                          <p:attrName>style.visibility</p:attrName>
                                        </p:attrNameLst>
                                      </p:cBhvr>
                                      <p:to>
                                        <p:strVal val="visible"/>
                                      </p:to>
                                    </p:set>
                                    <p:animEffect transition="in" filter="wipe(left)">
                                      <p:cBhvr>
                                        <p:cTn id="22" dur="500"/>
                                        <p:tgtEl>
                                          <p:spTgt spid="35328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1" presetClass="entr" presetSubtype="0" fill="hold" grpId="0" nodeType="clickEffect">
                                  <p:stCondLst>
                                    <p:cond delay="0"/>
                                  </p:stCondLst>
                                  <p:childTnLst>
                                    <p:set>
                                      <p:cBhvr>
                                        <p:cTn id="26" dur="1" fill="hold">
                                          <p:stCondLst>
                                            <p:cond delay="0"/>
                                          </p:stCondLst>
                                        </p:cTn>
                                        <p:tgtEl>
                                          <p:spTgt spid="353283"/>
                                        </p:tgtEl>
                                        <p:attrNameLst>
                                          <p:attrName>style.visibility</p:attrName>
                                        </p:attrNameLst>
                                      </p:cBhvr>
                                      <p:to>
                                        <p:strVal val="visible"/>
                                      </p:to>
                                    </p:set>
                                    <p:anim calcmode="lin" valueType="num">
                                      <p:cBhvr>
                                        <p:cTn id="27" dur="1000" fill="hold"/>
                                        <p:tgtEl>
                                          <p:spTgt spid="353283"/>
                                        </p:tgtEl>
                                        <p:attrNameLst>
                                          <p:attrName>ppt_w</p:attrName>
                                        </p:attrNameLst>
                                      </p:cBhvr>
                                      <p:tavLst>
                                        <p:tav tm="0">
                                          <p:val>
                                            <p:fltVal val="0"/>
                                          </p:val>
                                        </p:tav>
                                        <p:tav tm="100000">
                                          <p:val>
                                            <p:strVal val="#ppt_w"/>
                                          </p:val>
                                        </p:tav>
                                      </p:tavLst>
                                    </p:anim>
                                    <p:anim calcmode="lin" valueType="num">
                                      <p:cBhvr>
                                        <p:cTn id="28" dur="1000" fill="hold"/>
                                        <p:tgtEl>
                                          <p:spTgt spid="353283"/>
                                        </p:tgtEl>
                                        <p:attrNameLst>
                                          <p:attrName>ppt_h</p:attrName>
                                        </p:attrNameLst>
                                      </p:cBhvr>
                                      <p:tavLst>
                                        <p:tav tm="0">
                                          <p:val>
                                            <p:fltVal val="0"/>
                                          </p:val>
                                        </p:tav>
                                        <p:tav tm="100000">
                                          <p:val>
                                            <p:strVal val="#ppt_h"/>
                                          </p:val>
                                        </p:tav>
                                      </p:tavLst>
                                    </p:anim>
                                    <p:anim calcmode="lin" valueType="num">
                                      <p:cBhvr>
                                        <p:cTn id="29" dur="1000" fill="hold"/>
                                        <p:tgtEl>
                                          <p:spTgt spid="353283"/>
                                        </p:tgtEl>
                                        <p:attrNameLst>
                                          <p:attrName>style.rotation</p:attrName>
                                        </p:attrNameLst>
                                      </p:cBhvr>
                                      <p:tavLst>
                                        <p:tav tm="0">
                                          <p:val>
                                            <p:fltVal val="90"/>
                                          </p:val>
                                        </p:tav>
                                        <p:tav tm="100000">
                                          <p:val>
                                            <p:fltVal val="0"/>
                                          </p:val>
                                        </p:tav>
                                      </p:tavLst>
                                    </p:anim>
                                    <p:animEffect transition="in" filter="fade">
                                      <p:cBhvr>
                                        <p:cTn id="30" dur="1000"/>
                                        <p:tgtEl>
                                          <p:spTgt spid="3532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3282" grpId="0"/>
      <p:bldP spid="353283" grpId="0"/>
      <p:bldP spid="10"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62" name="Text Box 2"/>
          <p:cNvSpPr txBox="1">
            <a:spLocks noChangeArrowheads="1"/>
          </p:cNvSpPr>
          <p:nvPr/>
        </p:nvSpPr>
        <p:spPr bwMode="auto">
          <a:xfrm>
            <a:off x="644525" y="1084263"/>
            <a:ext cx="8248650" cy="1616075"/>
          </a:xfrm>
          <a:prstGeom prst="rect">
            <a:avLst/>
          </a:prstGeom>
          <a:noFill/>
          <a:ln w="9525">
            <a:noFill/>
            <a:miter lim="800000"/>
            <a:headEnd/>
            <a:tailEnd/>
          </a:ln>
        </p:spPr>
        <p:txBody>
          <a:bodyPr>
            <a:spAutoFit/>
          </a:bodyPr>
          <a:lstStyle/>
          <a:p>
            <a:pPr eaLnBrk="0" hangingPunct="0">
              <a:lnSpc>
                <a:spcPct val="110000"/>
              </a:lnSpc>
            </a:pPr>
            <a:r>
              <a:rPr lang="zh-CN" altLang="en-US" sz="1500" b="1">
                <a:solidFill>
                  <a:srgbClr val="0000FF"/>
                </a:solidFill>
                <a:latin typeface="华文中宋"/>
                <a:ea typeface="华文中宋"/>
                <a:cs typeface="华文中宋"/>
              </a:rPr>
              <a:t>例   关于热功转换和热量传递过程，有下面一些叙述</a:t>
            </a:r>
            <a:r>
              <a:rPr lang="en-US" altLang="zh-CN" sz="1500" b="1">
                <a:solidFill>
                  <a:srgbClr val="0000FF"/>
                </a:solidFill>
                <a:latin typeface="华文中宋"/>
                <a:ea typeface="华文中宋"/>
                <a:cs typeface="华文中宋"/>
              </a:rPr>
              <a:t>:</a:t>
            </a:r>
          </a:p>
          <a:p>
            <a:pPr eaLnBrk="0" hangingPunct="0">
              <a:lnSpc>
                <a:spcPct val="110000"/>
              </a:lnSpc>
            </a:pPr>
            <a:r>
              <a:rPr lang="en-US" altLang="zh-CN" sz="1500" b="1">
                <a:solidFill>
                  <a:srgbClr val="0000FF"/>
                </a:solidFill>
                <a:latin typeface="华文中宋"/>
                <a:ea typeface="华文中宋"/>
                <a:cs typeface="华文中宋"/>
              </a:rPr>
              <a:t>      (1) </a:t>
            </a:r>
            <a:r>
              <a:rPr lang="zh-CN" altLang="en-US" sz="1500" b="1">
                <a:solidFill>
                  <a:srgbClr val="0000FF"/>
                </a:solidFill>
                <a:latin typeface="华文中宋"/>
                <a:ea typeface="华文中宋"/>
                <a:cs typeface="华文中宋"/>
              </a:rPr>
              <a:t>功可以完全变为热量，而热量不能完全变为功；   </a:t>
            </a:r>
            <a:r>
              <a:rPr lang="en-US" altLang="zh-CN" sz="1500" b="1">
                <a:solidFill>
                  <a:srgbClr val="0000FF"/>
                </a:solidFill>
                <a:latin typeface="华文中宋"/>
                <a:ea typeface="华文中宋"/>
                <a:cs typeface="华文中宋"/>
              </a:rPr>
              <a:t>(2) </a:t>
            </a:r>
            <a:r>
              <a:rPr lang="zh-CN" altLang="en-US" sz="1500" b="1">
                <a:solidFill>
                  <a:srgbClr val="0000FF"/>
                </a:solidFill>
                <a:latin typeface="华文中宋"/>
                <a:ea typeface="华文中宋"/>
                <a:cs typeface="华文中宋"/>
              </a:rPr>
              <a:t>一切热机的效率都只能够小于</a:t>
            </a:r>
            <a:r>
              <a:rPr lang="en-US" altLang="zh-CN" sz="1500" b="1">
                <a:solidFill>
                  <a:srgbClr val="0000FF"/>
                </a:solidFill>
                <a:latin typeface="华文中宋"/>
                <a:ea typeface="华文中宋"/>
                <a:cs typeface="华文中宋"/>
              </a:rPr>
              <a:t>1</a:t>
            </a:r>
            <a:r>
              <a:rPr lang="zh-CN" altLang="en-US" sz="1500" b="1">
                <a:solidFill>
                  <a:srgbClr val="0000FF"/>
                </a:solidFill>
                <a:latin typeface="华文中宋"/>
                <a:ea typeface="华文中宋"/>
                <a:cs typeface="华文中宋"/>
              </a:rPr>
              <a:t>；                          </a:t>
            </a:r>
          </a:p>
          <a:p>
            <a:pPr eaLnBrk="0" hangingPunct="0">
              <a:lnSpc>
                <a:spcPct val="110000"/>
              </a:lnSpc>
            </a:pPr>
            <a:r>
              <a:rPr lang="zh-CN" altLang="en-US" sz="1500" b="1">
                <a:solidFill>
                  <a:srgbClr val="0000FF"/>
                </a:solidFill>
                <a:latin typeface="华文中宋"/>
                <a:ea typeface="华文中宋"/>
                <a:cs typeface="华文中宋"/>
              </a:rPr>
              <a:t>      </a:t>
            </a:r>
            <a:r>
              <a:rPr lang="en-US" altLang="zh-CN" sz="1500" b="1">
                <a:solidFill>
                  <a:srgbClr val="0000FF"/>
                </a:solidFill>
                <a:latin typeface="华文中宋"/>
                <a:ea typeface="华文中宋"/>
                <a:cs typeface="华文中宋"/>
              </a:rPr>
              <a:t>(3) </a:t>
            </a:r>
            <a:r>
              <a:rPr lang="zh-CN" altLang="en-US" sz="1500" b="1">
                <a:solidFill>
                  <a:srgbClr val="0000FF"/>
                </a:solidFill>
                <a:latin typeface="华文中宋"/>
                <a:ea typeface="华文中宋"/>
                <a:cs typeface="华文中宋"/>
              </a:rPr>
              <a:t>热量不能从低温物体向高温物体传递；   </a:t>
            </a:r>
            <a:r>
              <a:rPr lang="en-US" altLang="zh-CN" sz="1500" b="1">
                <a:solidFill>
                  <a:srgbClr val="0000FF"/>
                </a:solidFill>
                <a:latin typeface="华文中宋"/>
                <a:ea typeface="华文中宋"/>
                <a:cs typeface="华文中宋"/>
              </a:rPr>
              <a:t>(4) </a:t>
            </a:r>
            <a:r>
              <a:rPr lang="zh-CN" altLang="en-US" sz="1500" b="1">
                <a:solidFill>
                  <a:srgbClr val="0000FF"/>
                </a:solidFill>
                <a:latin typeface="华文中宋"/>
                <a:ea typeface="华文中宋"/>
                <a:cs typeface="华文中宋"/>
              </a:rPr>
              <a:t>热量从高温物体向低温物体传递是不可逆的                </a:t>
            </a:r>
          </a:p>
          <a:p>
            <a:pPr eaLnBrk="0" hangingPunct="0">
              <a:lnSpc>
                <a:spcPct val="110000"/>
              </a:lnSpc>
            </a:pPr>
            <a:r>
              <a:rPr lang="zh-CN" altLang="en-US" sz="1500" b="1">
                <a:solidFill>
                  <a:srgbClr val="0000FF"/>
                </a:solidFill>
                <a:latin typeface="华文中宋"/>
                <a:ea typeface="华文中宋"/>
                <a:cs typeface="华文中宋"/>
              </a:rPr>
              <a:t>      以上这些叙述    （         ）</a:t>
            </a:r>
            <a:r>
              <a:rPr lang="en-US" altLang="zh-CN" sz="1500" b="1">
                <a:solidFill>
                  <a:srgbClr val="0000FF"/>
                </a:solidFill>
                <a:latin typeface="华文中宋"/>
                <a:ea typeface="华文中宋"/>
                <a:cs typeface="华文中宋"/>
              </a:rPr>
              <a:t>                                 </a:t>
            </a:r>
          </a:p>
          <a:p>
            <a:pPr eaLnBrk="0" hangingPunct="0">
              <a:lnSpc>
                <a:spcPct val="110000"/>
              </a:lnSpc>
            </a:pPr>
            <a:r>
              <a:rPr lang="en-US" altLang="zh-CN" sz="1500" b="1">
                <a:solidFill>
                  <a:srgbClr val="0000FF"/>
                </a:solidFill>
                <a:latin typeface="华文中宋"/>
                <a:ea typeface="华文中宋"/>
                <a:cs typeface="华文中宋"/>
              </a:rPr>
              <a:t>      (A) </a:t>
            </a:r>
            <a:r>
              <a:rPr lang="zh-CN" altLang="en-US" sz="1500" b="1">
                <a:solidFill>
                  <a:srgbClr val="0000FF"/>
                </a:solidFill>
                <a:latin typeface="华文中宋"/>
                <a:ea typeface="华文中宋"/>
                <a:cs typeface="华文中宋"/>
              </a:rPr>
              <a:t>只有</a:t>
            </a:r>
            <a:r>
              <a:rPr lang="en-US" altLang="zh-CN" sz="1500" b="1">
                <a:solidFill>
                  <a:srgbClr val="0000FF"/>
                </a:solidFill>
                <a:latin typeface="华文中宋"/>
                <a:ea typeface="华文中宋"/>
                <a:cs typeface="华文中宋"/>
              </a:rPr>
              <a:t>(2)</a:t>
            </a:r>
            <a:r>
              <a:rPr lang="zh-CN" altLang="en-US" sz="1500" b="1">
                <a:solidFill>
                  <a:srgbClr val="0000FF"/>
                </a:solidFill>
                <a:latin typeface="华文中宋"/>
                <a:ea typeface="华文中宋"/>
                <a:cs typeface="华文中宋"/>
              </a:rPr>
              <a:t>、</a:t>
            </a:r>
            <a:r>
              <a:rPr lang="en-US" altLang="zh-CN" sz="1500" b="1">
                <a:solidFill>
                  <a:srgbClr val="0000FF"/>
                </a:solidFill>
                <a:latin typeface="华文中宋"/>
                <a:ea typeface="华文中宋"/>
                <a:cs typeface="华文中宋"/>
              </a:rPr>
              <a:t>(4)</a:t>
            </a:r>
            <a:r>
              <a:rPr lang="zh-CN" altLang="en-US" sz="1500" b="1">
                <a:solidFill>
                  <a:srgbClr val="0000FF"/>
                </a:solidFill>
                <a:latin typeface="华文中宋"/>
                <a:ea typeface="华文中宋"/>
                <a:cs typeface="华文中宋"/>
              </a:rPr>
              <a:t>正确；        </a:t>
            </a:r>
            <a:r>
              <a:rPr lang="en-US" altLang="zh-CN" sz="1500" b="1">
                <a:solidFill>
                  <a:srgbClr val="0000FF"/>
                </a:solidFill>
                <a:latin typeface="华文中宋"/>
                <a:ea typeface="华文中宋"/>
                <a:cs typeface="华文中宋"/>
              </a:rPr>
              <a:t>(B) </a:t>
            </a:r>
            <a:r>
              <a:rPr lang="zh-CN" altLang="en-US" sz="1500" b="1">
                <a:solidFill>
                  <a:srgbClr val="0000FF"/>
                </a:solidFill>
                <a:latin typeface="华文中宋"/>
                <a:ea typeface="华文中宋"/>
                <a:cs typeface="华文中宋"/>
              </a:rPr>
              <a:t>只有</a:t>
            </a:r>
            <a:r>
              <a:rPr lang="en-US" altLang="zh-CN" sz="1500" b="1">
                <a:solidFill>
                  <a:srgbClr val="0000FF"/>
                </a:solidFill>
                <a:latin typeface="华文中宋"/>
                <a:ea typeface="华文中宋"/>
                <a:cs typeface="华文中宋"/>
              </a:rPr>
              <a:t>(2)</a:t>
            </a:r>
            <a:r>
              <a:rPr lang="zh-CN" altLang="en-US" sz="1500" b="1">
                <a:solidFill>
                  <a:srgbClr val="0000FF"/>
                </a:solidFill>
                <a:latin typeface="华文中宋"/>
                <a:ea typeface="华文中宋"/>
                <a:cs typeface="华文中宋"/>
              </a:rPr>
              <a:t>、</a:t>
            </a:r>
            <a:r>
              <a:rPr lang="en-US" altLang="zh-CN" sz="1500" b="1">
                <a:solidFill>
                  <a:srgbClr val="0000FF"/>
                </a:solidFill>
                <a:latin typeface="华文中宋"/>
                <a:ea typeface="华文中宋"/>
                <a:cs typeface="华文中宋"/>
              </a:rPr>
              <a:t>(3) </a:t>
            </a:r>
            <a:r>
              <a:rPr lang="zh-CN" altLang="en-US" sz="1500" b="1">
                <a:solidFill>
                  <a:srgbClr val="0000FF"/>
                </a:solidFill>
                <a:latin typeface="华文中宋"/>
                <a:ea typeface="华文中宋"/>
                <a:cs typeface="华文中宋"/>
              </a:rPr>
              <a:t>、</a:t>
            </a:r>
            <a:r>
              <a:rPr lang="en-US" altLang="zh-CN" sz="1500" b="1">
                <a:solidFill>
                  <a:srgbClr val="0000FF"/>
                </a:solidFill>
                <a:latin typeface="华文中宋"/>
                <a:ea typeface="华文中宋"/>
                <a:cs typeface="华文中宋"/>
              </a:rPr>
              <a:t>(4)</a:t>
            </a:r>
            <a:r>
              <a:rPr lang="zh-CN" altLang="en-US" sz="1500" b="1">
                <a:solidFill>
                  <a:srgbClr val="0000FF"/>
                </a:solidFill>
                <a:latin typeface="华文中宋"/>
                <a:ea typeface="华文中宋"/>
                <a:cs typeface="华文中宋"/>
              </a:rPr>
              <a:t>正确；                        </a:t>
            </a:r>
          </a:p>
          <a:p>
            <a:pPr eaLnBrk="0" hangingPunct="0">
              <a:lnSpc>
                <a:spcPct val="110000"/>
              </a:lnSpc>
            </a:pPr>
            <a:r>
              <a:rPr lang="zh-CN" altLang="en-US" sz="1500" b="1">
                <a:solidFill>
                  <a:srgbClr val="0000FF"/>
                </a:solidFill>
                <a:latin typeface="华文中宋"/>
                <a:ea typeface="华文中宋"/>
                <a:cs typeface="华文中宋"/>
              </a:rPr>
              <a:t>      </a:t>
            </a:r>
            <a:r>
              <a:rPr lang="en-US" altLang="zh-CN" sz="1500" b="1">
                <a:solidFill>
                  <a:srgbClr val="0000FF"/>
                </a:solidFill>
                <a:latin typeface="华文中宋"/>
                <a:ea typeface="华文中宋"/>
                <a:cs typeface="华文中宋"/>
              </a:rPr>
              <a:t>(C) </a:t>
            </a:r>
            <a:r>
              <a:rPr lang="zh-CN" altLang="en-US" sz="1500" b="1">
                <a:solidFill>
                  <a:srgbClr val="0000FF"/>
                </a:solidFill>
                <a:latin typeface="华文中宋"/>
                <a:ea typeface="华文中宋"/>
                <a:cs typeface="华文中宋"/>
              </a:rPr>
              <a:t>只有</a:t>
            </a:r>
            <a:r>
              <a:rPr lang="en-US" altLang="zh-CN" sz="1500" b="1">
                <a:solidFill>
                  <a:srgbClr val="0000FF"/>
                </a:solidFill>
                <a:latin typeface="华文中宋"/>
                <a:ea typeface="华文中宋"/>
                <a:cs typeface="华文中宋"/>
              </a:rPr>
              <a:t>(1)</a:t>
            </a:r>
            <a:r>
              <a:rPr lang="zh-CN" altLang="en-US" sz="1500" b="1">
                <a:solidFill>
                  <a:srgbClr val="0000FF"/>
                </a:solidFill>
                <a:latin typeface="华文中宋"/>
                <a:ea typeface="华文中宋"/>
                <a:cs typeface="华文中宋"/>
              </a:rPr>
              <a:t>、</a:t>
            </a:r>
            <a:r>
              <a:rPr lang="en-US" altLang="zh-CN" sz="1500" b="1">
                <a:solidFill>
                  <a:srgbClr val="0000FF"/>
                </a:solidFill>
                <a:latin typeface="华文中宋"/>
                <a:ea typeface="华文中宋"/>
                <a:cs typeface="华文中宋"/>
              </a:rPr>
              <a:t>(3) </a:t>
            </a:r>
            <a:r>
              <a:rPr lang="zh-CN" altLang="en-US" sz="1500" b="1">
                <a:solidFill>
                  <a:srgbClr val="0000FF"/>
                </a:solidFill>
                <a:latin typeface="华文中宋"/>
                <a:ea typeface="华文中宋"/>
                <a:cs typeface="华文中宋"/>
              </a:rPr>
              <a:t>、</a:t>
            </a:r>
            <a:r>
              <a:rPr lang="en-US" altLang="zh-CN" sz="1500" b="1">
                <a:solidFill>
                  <a:srgbClr val="0000FF"/>
                </a:solidFill>
                <a:latin typeface="华文中宋"/>
                <a:ea typeface="华文中宋"/>
                <a:cs typeface="华文中宋"/>
              </a:rPr>
              <a:t>(4)</a:t>
            </a:r>
            <a:r>
              <a:rPr lang="zh-CN" altLang="en-US" sz="1500" b="1">
                <a:solidFill>
                  <a:srgbClr val="0000FF"/>
                </a:solidFill>
                <a:latin typeface="华文中宋"/>
                <a:ea typeface="华文中宋"/>
                <a:cs typeface="华文中宋"/>
              </a:rPr>
              <a:t>正确；</a:t>
            </a:r>
            <a:r>
              <a:rPr lang="en-US" altLang="zh-CN" sz="1500" b="1">
                <a:solidFill>
                  <a:srgbClr val="0000FF"/>
                </a:solidFill>
                <a:latin typeface="华文中宋"/>
                <a:ea typeface="华文中宋"/>
                <a:cs typeface="华文中宋"/>
              </a:rPr>
              <a:t>(D) </a:t>
            </a:r>
            <a:r>
              <a:rPr lang="zh-CN" altLang="en-US" sz="1500" b="1">
                <a:solidFill>
                  <a:srgbClr val="0000FF"/>
                </a:solidFill>
                <a:latin typeface="华文中宋"/>
                <a:ea typeface="华文中宋"/>
                <a:cs typeface="华文中宋"/>
              </a:rPr>
              <a:t>全部正确．</a:t>
            </a:r>
          </a:p>
        </p:txBody>
      </p:sp>
      <p:sp>
        <p:nvSpPr>
          <p:cNvPr id="348163" name="Rectangle 3"/>
          <p:cNvSpPr>
            <a:spLocks noChangeArrowheads="1"/>
          </p:cNvSpPr>
          <p:nvPr/>
        </p:nvSpPr>
        <p:spPr bwMode="auto">
          <a:xfrm>
            <a:off x="2770188" y="1817688"/>
            <a:ext cx="392112" cy="376237"/>
          </a:xfrm>
          <a:prstGeom prst="rect">
            <a:avLst/>
          </a:prstGeom>
          <a:noFill/>
          <a:ln w="9525">
            <a:noFill/>
            <a:miter lim="800000"/>
            <a:headEnd/>
            <a:tailEnd/>
          </a:ln>
        </p:spPr>
        <p:txBody>
          <a:bodyPr>
            <a:spAutoFit/>
          </a:bodyPr>
          <a:lstStyle/>
          <a:p>
            <a:pPr algn="ctr" eaLnBrk="0" hangingPunct="0">
              <a:lnSpc>
                <a:spcPct val="110000"/>
              </a:lnSpc>
            </a:pPr>
            <a:r>
              <a:rPr lang="en-US" altLang="zh-CN" b="1">
                <a:solidFill>
                  <a:srgbClr val="FF3300"/>
                </a:solidFill>
                <a:latin typeface="华文中宋"/>
                <a:ea typeface="华文中宋"/>
                <a:cs typeface="华文中宋"/>
              </a:rPr>
              <a:t>A</a:t>
            </a:r>
          </a:p>
        </p:txBody>
      </p:sp>
      <p:sp>
        <p:nvSpPr>
          <p:cNvPr id="265218" name="Text Box 2"/>
          <p:cNvSpPr txBox="1">
            <a:spLocks noChangeArrowheads="1"/>
          </p:cNvSpPr>
          <p:nvPr/>
        </p:nvSpPr>
        <p:spPr bwMode="auto">
          <a:xfrm>
            <a:off x="622300" y="2827338"/>
            <a:ext cx="8270875" cy="1616075"/>
          </a:xfrm>
          <a:prstGeom prst="rect">
            <a:avLst/>
          </a:prstGeom>
          <a:noFill/>
          <a:ln w="9525">
            <a:noFill/>
            <a:miter lim="800000"/>
            <a:headEnd/>
            <a:tailEnd/>
          </a:ln>
        </p:spPr>
        <p:txBody>
          <a:bodyPr>
            <a:spAutoFit/>
          </a:bodyPr>
          <a:lstStyle/>
          <a:p>
            <a:pPr marL="457200" indent="-457200" eaLnBrk="0" hangingPunct="0">
              <a:lnSpc>
                <a:spcPct val="110000"/>
              </a:lnSpc>
            </a:pPr>
            <a:r>
              <a:rPr lang="zh-CN" altLang="en-US" sz="1500" b="1">
                <a:solidFill>
                  <a:srgbClr val="0000FF"/>
                </a:solidFill>
                <a:latin typeface="华文中宋"/>
                <a:ea typeface="华文中宋"/>
                <a:cs typeface="华文中宋"/>
              </a:rPr>
              <a:t>例   关于可逆过程和不可逆过程的判断：</a:t>
            </a:r>
          </a:p>
          <a:p>
            <a:pPr marL="457200" indent="-457200" eaLnBrk="0" hangingPunct="0">
              <a:lnSpc>
                <a:spcPct val="110000"/>
              </a:lnSpc>
            </a:pPr>
            <a:r>
              <a:rPr lang="zh-CN" altLang="en-US" sz="1500" b="1">
                <a:solidFill>
                  <a:srgbClr val="0000FF"/>
                </a:solidFill>
                <a:latin typeface="华文中宋"/>
                <a:ea typeface="华文中宋"/>
                <a:cs typeface="华文中宋"/>
              </a:rPr>
              <a:t>        </a:t>
            </a:r>
            <a:r>
              <a:rPr lang="en-US" altLang="zh-CN" sz="1500" b="1">
                <a:solidFill>
                  <a:srgbClr val="0000FF"/>
                </a:solidFill>
                <a:latin typeface="华文中宋"/>
                <a:ea typeface="华文中宋"/>
                <a:cs typeface="华文中宋"/>
              </a:rPr>
              <a:t>(1) </a:t>
            </a:r>
            <a:r>
              <a:rPr lang="zh-CN" altLang="en-US" sz="1500" b="1">
                <a:solidFill>
                  <a:srgbClr val="0000FF"/>
                </a:solidFill>
                <a:latin typeface="华文中宋"/>
                <a:ea typeface="华文中宋"/>
                <a:cs typeface="华文中宋"/>
              </a:rPr>
              <a:t>可逆热力学过程一定是准静态过程；             </a:t>
            </a:r>
            <a:r>
              <a:rPr lang="en-US" altLang="zh-CN" sz="1500" b="1">
                <a:solidFill>
                  <a:srgbClr val="0000FF"/>
                </a:solidFill>
                <a:latin typeface="华文中宋"/>
                <a:ea typeface="华文中宋"/>
                <a:cs typeface="华文中宋"/>
              </a:rPr>
              <a:t>(2) </a:t>
            </a:r>
            <a:r>
              <a:rPr lang="zh-CN" altLang="en-US" sz="1500" b="1">
                <a:solidFill>
                  <a:srgbClr val="0000FF"/>
                </a:solidFill>
                <a:latin typeface="华文中宋"/>
                <a:ea typeface="华文中宋"/>
                <a:cs typeface="华文中宋"/>
              </a:rPr>
              <a:t>准静态过程一定是可逆过程；</a:t>
            </a:r>
          </a:p>
          <a:p>
            <a:pPr marL="457200" indent="-457200" eaLnBrk="0" hangingPunct="0">
              <a:lnSpc>
                <a:spcPct val="110000"/>
              </a:lnSpc>
            </a:pPr>
            <a:r>
              <a:rPr lang="zh-CN" altLang="en-US" sz="1500" b="1">
                <a:solidFill>
                  <a:srgbClr val="0000FF"/>
                </a:solidFill>
                <a:latin typeface="华文中宋"/>
                <a:ea typeface="华文中宋"/>
                <a:cs typeface="华文中宋"/>
              </a:rPr>
              <a:t>        </a:t>
            </a:r>
            <a:r>
              <a:rPr lang="en-US" altLang="zh-CN" sz="1500" b="1">
                <a:solidFill>
                  <a:srgbClr val="0000FF"/>
                </a:solidFill>
                <a:latin typeface="华文中宋"/>
                <a:ea typeface="华文中宋"/>
                <a:cs typeface="华文中宋"/>
              </a:rPr>
              <a:t>(3) </a:t>
            </a:r>
            <a:r>
              <a:rPr lang="zh-CN" altLang="en-US" sz="1500" b="1">
                <a:solidFill>
                  <a:srgbClr val="0000FF"/>
                </a:solidFill>
                <a:latin typeface="华文中宋"/>
                <a:ea typeface="华文中宋"/>
                <a:cs typeface="华文中宋"/>
              </a:rPr>
              <a:t>不可逆过程就是不能向相反方向进行的过程； </a:t>
            </a:r>
            <a:r>
              <a:rPr lang="en-US" altLang="zh-CN" sz="1500" b="1">
                <a:solidFill>
                  <a:srgbClr val="0000FF"/>
                </a:solidFill>
                <a:latin typeface="华文中宋"/>
                <a:ea typeface="华文中宋"/>
                <a:cs typeface="华文中宋"/>
              </a:rPr>
              <a:t>(4) </a:t>
            </a:r>
            <a:r>
              <a:rPr lang="zh-CN" altLang="en-US" sz="1500" b="1">
                <a:solidFill>
                  <a:srgbClr val="0000FF"/>
                </a:solidFill>
                <a:latin typeface="华文中宋"/>
                <a:ea typeface="华文中宋"/>
                <a:cs typeface="华文中宋"/>
              </a:rPr>
              <a:t>凡有摩擦的过程</a:t>
            </a:r>
            <a:r>
              <a:rPr lang="en-US" altLang="zh-CN" sz="1500" b="1">
                <a:solidFill>
                  <a:srgbClr val="0000FF"/>
                </a:solidFill>
                <a:latin typeface="华文中宋"/>
                <a:ea typeface="华文中宋"/>
                <a:cs typeface="华文中宋"/>
              </a:rPr>
              <a:t>,</a:t>
            </a:r>
            <a:r>
              <a:rPr lang="zh-CN" altLang="en-US" sz="1500" b="1">
                <a:solidFill>
                  <a:srgbClr val="0000FF"/>
                </a:solidFill>
                <a:latin typeface="华文中宋"/>
                <a:ea typeface="华文中宋"/>
                <a:cs typeface="华文中宋"/>
              </a:rPr>
              <a:t>一定是不可逆过程；</a:t>
            </a:r>
          </a:p>
          <a:p>
            <a:pPr marL="457200" indent="-457200" eaLnBrk="0" hangingPunct="0">
              <a:lnSpc>
                <a:spcPct val="110000"/>
              </a:lnSpc>
            </a:pPr>
            <a:r>
              <a:rPr lang="zh-CN" altLang="en-US" sz="1500" b="1">
                <a:solidFill>
                  <a:srgbClr val="0000FF"/>
                </a:solidFill>
                <a:latin typeface="华文中宋"/>
                <a:ea typeface="华文中宋"/>
                <a:cs typeface="华文中宋"/>
              </a:rPr>
              <a:t>    以上四种判断，其中正确的是  （         ）</a:t>
            </a:r>
            <a:r>
              <a:rPr lang="en-US" altLang="zh-CN" sz="1500" b="1">
                <a:solidFill>
                  <a:srgbClr val="0000FF"/>
                </a:solidFill>
                <a:latin typeface="华文中宋"/>
                <a:ea typeface="华文中宋"/>
                <a:cs typeface="华文中宋"/>
              </a:rPr>
              <a:t> </a:t>
            </a:r>
          </a:p>
          <a:p>
            <a:pPr marL="457200" indent="-457200" eaLnBrk="0" hangingPunct="0">
              <a:lnSpc>
                <a:spcPct val="110000"/>
              </a:lnSpc>
            </a:pPr>
            <a:r>
              <a:rPr lang="en-US" altLang="zh-CN" sz="1500" b="1">
                <a:solidFill>
                  <a:srgbClr val="0000FF"/>
                </a:solidFill>
                <a:latin typeface="华文中宋"/>
                <a:ea typeface="华文中宋"/>
                <a:cs typeface="华文中宋"/>
              </a:rPr>
              <a:t>            (A)  (1)</a:t>
            </a:r>
            <a:r>
              <a:rPr lang="zh-CN" altLang="en-US" sz="1500" b="1">
                <a:solidFill>
                  <a:srgbClr val="0000FF"/>
                </a:solidFill>
                <a:latin typeface="华文中宋"/>
                <a:ea typeface="华文中宋"/>
                <a:cs typeface="华文中宋"/>
              </a:rPr>
              <a:t>、</a:t>
            </a:r>
            <a:r>
              <a:rPr lang="en-US" altLang="zh-CN" sz="1500" b="1">
                <a:solidFill>
                  <a:srgbClr val="0000FF"/>
                </a:solidFill>
                <a:latin typeface="华文中宋"/>
                <a:ea typeface="华文中宋"/>
                <a:cs typeface="华文中宋"/>
              </a:rPr>
              <a:t>(2)</a:t>
            </a:r>
            <a:r>
              <a:rPr lang="zh-CN" altLang="en-US" sz="1500" b="1">
                <a:solidFill>
                  <a:srgbClr val="0000FF"/>
                </a:solidFill>
                <a:latin typeface="华文中宋"/>
                <a:ea typeface="华文中宋"/>
                <a:cs typeface="华文中宋"/>
              </a:rPr>
              <a:t>、</a:t>
            </a:r>
            <a:r>
              <a:rPr lang="en-US" altLang="zh-CN" sz="1500" b="1">
                <a:solidFill>
                  <a:srgbClr val="0000FF"/>
                </a:solidFill>
                <a:latin typeface="华文中宋"/>
                <a:ea typeface="华文中宋"/>
                <a:cs typeface="华文中宋"/>
              </a:rPr>
              <a:t>(3)</a:t>
            </a:r>
            <a:r>
              <a:rPr lang="zh-CN" altLang="en-US" sz="1500" b="1">
                <a:solidFill>
                  <a:srgbClr val="0000FF"/>
                </a:solidFill>
                <a:latin typeface="华文中宋"/>
                <a:ea typeface="华文中宋"/>
                <a:cs typeface="华文中宋"/>
              </a:rPr>
              <a:t>；      </a:t>
            </a:r>
            <a:r>
              <a:rPr lang="en-US" altLang="zh-CN" sz="1500" b="1">
                <a:solidFill>
                  <a:srgbClr val="0000FF"/>
                </a:solidFill>
                <a:latin typeface="华文中宋"/>
                <a:ea typeface="华文中宋"/>
                <a:cs typeface="华文中宋"/>
              </a:rPr>
              <a:t>(B)  (1)</a:t>
            </a:r>
            <a:r>
              <a:rPr lang="zh-CN" altLang="en-US" sz="1500" b="1">
                <a:solidFill>
                  <a:srgbClr val="0000FF"/>
                </a:solidFill>
                <a:latin typeface="华文中宋"/>
                <a:ea typeface="华文中宋"/>
                <a:cs typeface="华文中宋"/>
              </a:rPr>
              <a:t>、</a:t>
            </a:r>
            <a:r>
              <a:rPr lang="en-US" altLang="zh-CN" sz="1500" b="1">
                <a:solidFill>
                  <a:srgbClr val="0000FF"/>
                </a:solidFill>
                <a:latin typeface="华文中宋"/>
                <a:ea typeface="华文中宋"/>
                <a:cs typeface="华文中宋"/>
              </a:rPr>
              <a:t>(2)</a:t>
            </a:r>
            <a:r>
              <a:rPr lang="zh-CN" altLang="en-US" sz="1500" b="1">
                <a:solidFill>
                  <a:srgbClr val="0000FF"/>
                </a:solidFill>
                <a:latin typeface="华文中宋"/>
                <a:ea typeface="华文中宋"/>
                <a:cs typeface="华文中宋"/>
              </a:rPr>
              <a:t>、</a:t>
            </a:r>
            <a:r>
              <a:rPr lang="en-US" altLang="zh-CN" sz="1500" b="1">
                <a:solidFill>
                  <a:srgbClr val="0000FF"/>
                </a:solidFill>
                <a:latin typeface="华文中宋"/>
                <a:ea typeface="华文中宋"/>
                <a:cs typeface="华文中宋"/>
              </a:rPr>
              <a:t>(4)</a:t>
            </a:r>
            <a:r>
              <a:rPr lang="zh-CN" altLang="en-US" sz="1500" b="1">
                <a:solidFill>
                  <a:srgbClr val="0000FF"/>
                </a:solidFill>
                <a:latin typeface="华文中宋"/>
                <a:ea typeface="华文中宋"/>
                <a:cs typeface="华文中宋"/>
              </a:rPr>
              <a:t>． </a:t>
            </a:r>
          </a:p>
          <a:p>
            <a:pPr marL="457200" indent="-457200" eaLnBrk="0" hangingPunct="0">
              <a:lnSpc>
                <a:spcPct val="110000"/>
              </a:lnSpc>
            </a:pPr>
            <a:r>
              <a:rPr lang="zh-CN" altLang="en-US" sz="1500" b="1">
                <a:solidFill>
                  <a:srgbClr val="0000FF"/>
                </a:solidFill>
                <a:latin typeface="华文中宋"/>
                <a:ea typeface="华文中宋"/>
                <a:cs typeface="华文中宋"/>
              </a:rPr>
              <a:t>            </a:t>
            </a:r>
            <a:r>
              <a:rPr lang="en-US" altLang="zh-CN" sz="1500" b="1">
                <a:solidFill>
                  <a:srgbClr val="0000FF"/>
                </a:solidFill>
                <a:latin typeface="华文中宋"/>
                <a:ea typeface="华文中宋"/>
                <a:cs typeface="华文中宋"/>
              </a:rPr>
              <a:t>(C)  (2)</a:t>
            </a:r>
            <a:r>
              <a:rPr lang="zh-CN" altLang="en-US" sz="1500" b="1">
                <a:solidFill>
                  <a:srgbClr val="0000FF"/>
                </a:solidFill>
                <a:latin typeface="华文中宋"/>
                <a:ea typeface="华文中宋"/>
                <a:cs typeface="华文中宋"/>
              </a:rPr>
              <a:t>、</a:t>
            </a:r>
            <a:r>
              <a:rPr lang="en-US" altLang="zh-CN" sz="1500" b="1">
                <a:solidFill>
                  <a:srgbClr val="0000FF"/>
                </a:solidFill>
                <a:latin typeface="华文中宋"/>
                <a:ea typeface="华文中宋"/>
                <a:cs typeface="华文中宋"/>
              </a:rPr>
              <a:t>(4)</a:t>
            </a:r>
            <a:r>
              <a:rPr lang="zh-CN" altLang="en-US" sz="1500" b="1">
                <a:solidFill>
                  <a:srgbClr val="0000FF"/>
                </a:solidFill>
                <a:latin typeface="华文中宋"/>
                <a:ea typeface="华文中宋"/>
                <a:cs typeface="华文中宋"/>
              </a:rPr>
              <a:t>；             </a:t>
            </a:r>
            <a:r>
              <a:rPr lang="en-US" altLang="zh-CN" sz="1500" b="1">
                <a:solidFill>
                  <a:srgbClr val="0000FF"/>
                </a:solidFill>
                <a:latin typeface="华文中宋"/>
                <a:ea typeface="华文中宋"/>
                <a:cs typeface="华文中宋"/>
              </a:rPr>
              <a:t>(D)  (1)</a:t>
            </a:r>
            <a:r>
              <a:rPr lang="zh-CN" altLang="en-US" sz="1500" b="1">
                <a:solidFill>
                  <a:srgbClr val="0000FF"/>
                </a:solidFill>
                <a:latin typeface="华文中宋"/>
                <a:ea typeface="华文中宋"/>
                <a:cs typeface="华文中宋"/>
              </a:rPr>
              <a:t>、</a:t>
            </a:r>
            <a:r>
              <a:rPr lang="en-US" altLang="zh-CN" sz="1500" b="1">
                <a:solidFill>
                  <a:srgbClr val="0000FF"/>
                </a:solidFill>
                <a:latin typeface="华文中宋"/>
                <a:ea typeface="华文中宋"/>
                <a:cs typeface="华文中宋"/>
              </a:rPr>
              <a:t>(4)</a:t>
            </a:r>
            <a:r>
              <a:rPr lang="zh-CN" altLang="en-US" sz="1500" b="1">
                <a:solidFill>
                  <a:srgbClr val="0000FF"/>
                </a:solidFill>
                <a:latin typeface="华文中宋"/>
                <a:ea typeface="华文中宋"/>
                <a:cs typeface="华文中宋"/>
              </a:rPr>
              <a:t>．</a:t>
            </a:r>
          </a:p>
        </p:txBody>
      </p:sp>
      <p:sp>
        <p:nvSpPr>
          <p:cNvPr id="265219" name="Rectangle 3"/>
          <p:cNvSpPr>
            <a:spLocks noChangeArrowheads="1"/>
          </p:cNvSpPr>
          <p:nvPr/>
        </p:nvSpPr>
        <p:spPr bwMode="auto">
          <a:xfrm>
            <a:off x="3841750" y="3546475"/>
            <a:ext cx="428625" cy="368300"/>
          </a:xfrm>
          <a:prstGeom prst="rect">
            <a:avLst/>
          </a:prstGeom>
          <a:noFill/>
          <a:ln w="9525">
            <a:noFill/>
            <a:miter lim="800000"/>
            <a:headEnd/>
            <a:tailEnd/>
          </a:ln>
        </p:spPr>
        <p:txBody>
          <a:bodyPr>
            <a:spAutoFit/>
          </a:bodyPr>
          <a:lstStyle/>
          <a:p>
            <a:pPr eaLnBrk="0" hangingPunct="0"/>
            <a:r>
              <a:rPr lang="en-US" altLang="zh-CN" b="1">
                <a:solidFill>
                  <a:srgbClr val="FF3300"/>
                </a:solidFill>
                <a:latin typeface="华文中宋"/>
                <a:ea typeface="华文中宋"/>
                <a:cs typeface="华文中宋"/>
              </a:rPr>
              <a:t>D</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48162"/>
                                        </p:tgtEl>
                                        <p:attrNameLst>
                                          <p:attrName>style.visibility</p:attrName>
                                        </p:attrNameLst>
                                      </p:cBhvr>
                                      <p:to>
                                        <p:strVal val="visible"/>
                                      </p:to>
                                    </p:set>
                                    <p:animEffect transition="in" filter="wipe(left)">
                                      <p:cBhvr>
                                        <p:cTn id="7" dur="500"/>
                                        <p:tgtEl>
                                          <p:spTgt spid="34816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348163"/>
                                        </p:tgtEl>
                                        <p:attrNameLst>
                                          <p:attrName>style.visibility</p:attrName>
                                        </p:attrNameLst>
                                      </p:cBhvr>
                                      <p:to>
                                        <p:strVal val="visible"/>
                                      </p:to>
                                    </p:set>
                                    <p:animEffect transition="in" filter="fade">
                                      <p:cBhvr>
                                        <p:cTn id="12" dur="1000"/>
                                        <p:tgtEl>
                                          <p:spTgt spid="348163"/>
                                        </p:tgtEl>
                                      </p:cBhvr>
                                    </p:animEffect>
                                    <p:anim calcmode="lin" valueType="num">
                                      <p:cBhvr>
                                        <p:cTn id="13" dur="1000" fill="hold"/>
                                        <p:tgtEl>
                                          <p:spTgt spid="348163"/>
                                        </p:tgtEl>
                                        <p:attrNameLst>
                                          <p:attrName>ppt_x</p:attrName>
                                        </p:attrNameLst>
                                      </p:cBhvr>
                                      <p:tavLst>
                                        <p:tav tm="0">
                                          <p:val>
                                            <p:strVal val="#ppt_x"/>
                                          </p:val>
                                        </p:tav>
                                        <p:tav tm="100000">
                                          <p:val>
                                            <p:strVal val="#ppt_x"/>
                                          </p:val>
                                        </p:tav>
                                      </p:tavLst>
                                    </p:anim>
                                    <p:anim calcmode="lin" valueType="num">
                                      <p:cBhvr>
                                        <p:cTn id="14" dur="1000" fill="hold"/>
                                        <p:tgtEl>
                                          <p:spTgt spid="348163"/>
                                        </p:tgtEl>
                                        <p:attrNameLst>
                                          <p:attrName>ppt_y</p:attrName>
                                        </p:attrNameLst>
                                      </p:cBhvr>
                                      <p:tavLst>
                                        <p:tav tm="0">
                                          <p:val>
                                            <p:strVal val="#ppt_y+.1"/>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265218"/>
                                        </p:tgtEl>
                                        <p:attrNameLst>
                                          <p:attrName>style.visibility</p:attrName>
                                        </p:attrNameLst>
                                      </p:cBhvr>
                                      <p:to>
                                        <p:strVal val="visible"/>
                                      </p:to>
                                    </p:set>
                                    <p:animEffect transition="in" filter="wipe(left)">
                                      <p:cBhvr>
                                        <p:cTn id="19" dur="500"/>
                                        <p:tgtEl>
                                          <p:spTgt spid="265218"/>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265219"/>
                                        </p:tgtEl>
                                        <p:attrNameLst>
                                          <p:attrName>style.visibility</p:attrName>
                                        </p:attrNameLst>
                                      </p:cBhvr>
                                      <p:to>
                                        <p:strVal val="visible"/>
                                      </p:to>
                                    </p:set>
                                    <p:animEffect transition="in" filter="wipe(left)">
                                      <p:cBhvr>
                                        <p:cTn id="24" dur="500"/>
                                        <p:tgtEl>
                                          <p:spTgt spid="2652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62" grpId="0"/>
      <p:bldP spid="348163" grpId="0"/>
      <p:bldP spid="265218" grpId="0"/>
      <p:bldP spid="265219"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Text Box 2"/>
          <p:cNvSpPr txBox="1">
            <a:spLocks noChangeArrowheads="1"/>
          </p:cNvSpPr>
          <p:nvPr/>
        </p:nvSpPr>
        <p:spPr bwMode="auto">
          <a:xfrm>
            <a:off x="468313" y="842963"/>
            <a:ext cx="7902575" cy="369887"/>
          </a:xfrm>
          <a:prstGeom prst="rect">
            <a:avLst/>
          </a:prstGeom>
          <a:noFill/>
          <a:ln w="9525">
            <a:noFill/>
            <a:miter lim="800000"/>
            <a:headEnd/>
            <a:tailEnd/>
          </a:ln>
        </p:spPr>
        <p:txBody>
          <a:bodyPr>
            <a:spAutoFit/>
          </a:bodyPr>
          <a:lstStyle/>
          <a:p>
            <a:pPr>
              <a:spcBef>
                <a:spcPct val="50000"/>
              </a:spcBef>
            </a:pPr>
            <a:r>
              <a:rPr kumimoji="1" lang="zh-CN" altLang="en-US" b="1">
                <a:solidFill>
                  <a:srgbClr val="0000FF"/>
                </a:solidFill>
                <a:latin typeface="Times New Roman" pitchFamily="18" charset="0"/>
                <a:ea typeface="华文中宋"/>
                <a:cs typeface="华文中宋"/>
              </a:rPr>
              <a:t>例  试证明在 </a:t>
            </a:r>
            <a:r>
              <a:rPr kumimoji="1" lang="en-US" altLang="zh-CN" b="1" i="1">
                <a:solidFill>
                  <a:srgbClr val="0000FF"/>
                </a:solidFill>
                <a:latin typeface="Times New Roman" pitchFamily="18" charset="0"/>
                <a:ea typeface="华文中宋"/>
                <a:cs typeface="华文中宋"/>
              </a:rPr>
              <a:t>p</a:t>
            </a:r>
            <a:r>
              <a:rPr kumimoji="1" lang="en-US" altLang="zh-CN" b="1" i="1">
                <a:solidFill>
                  <a:srgbClr val="0000FF"/>
                </a:solidFill>
                <a:latin typeface="Times New Roman" pitchFamily="18" charset="0"/>
                <a:ea typeface="华文中宋"/>
                <a:cs typeface="华文中宋"/>
                <a:sym typeface="Symbol" pitchFamily="18" charset="2"/>
              </a:rPr>
              <a:t></a:t>
            </a:r>
            <a:r>
              <a:rPr kumimoji="1" lang="en-US" altLang="zh-CN" b="1" i="1">
                <a:solidFill>
                  <a:srgbClr val="0000FF"/>
                </a:solidFill>
                <a:latin typeface="Times New Roman" pitchFamily="18" charset="0"/>
                <a:ea typeface="华文中宋"/>
                <a:cs typeface="华文中宋"/>
              </a:rPr>
              <a:t>V</a:t>
            </a:r>
            <a:r>
              <a:rPr kumimoji="1" lang="zh-CN" altLang="en-US" b="1">
                <a:solidFill>
                  <a:srgbClr val="0000FF"/>
                </a:solidFill>
                <a:latin typeface="Times New Roman" pitchFamily="18" charset="0"/>
                <a:ea typeface="华文中宋"/>
                <a:cs typeface="华文中宋"/>
              </a:rPr>
              <a:t>图上任意物质的一条等温线和一条绝热线不能有两个交点。</a:t>
            </a:r>
          </a:p>
        </p:txBody>
      </p:sp>
      <p:sp>
        <p:nvSpPr>
          <p:cNvPr id="185347" name="Text Box 3"/>
          <p:cNvSpPr txBox="1">
            <a:spLocks noChangeArrowheads="1"/>
          </p:cNvSpPr>
          <p:nvPr/>
        </p:nvSpPr>
        <p:spPr bwMode="auto">
          <a:xfrm>
            <a:off x="1077913" y="1201738"/>
            <a:ext cx="901700" cy="369887"/>
          </a:xfrm>
          <a:prstGeom prst="rect">
            <a:avLst/>
          </a:prstGeom>
          <a:noFill/>
          <a:ln w="9525">
            <a:noFill/>
            <a:miter lim="800000"/>
            <a:headEnd/>
            <a:tailEnd/>
          </a:ln>
        </p:spPr>
        <p:txBody>
          <a:bodyPr>
            <a:spAutoFit/>
          </a:bodyPr>
          <a:lstStyle/>
          <a:p>
            <a:pPr>
              <a:spcBef>
                <a:spcPct val="50000"/>
              </a:spcBef>
            </a:pPr>
            <a:r>
              <a:rPr kumimoji="1" lang="zh-CN" altLang="en-US" b="1">
                <a:solidFill>
                  <a:srgbClr val="C00000"/>
                </a:solidFill>
                <a:latin typeface="Times New Roman" pitchFamily="18" charset="0"/>
                <a:ea typeface="华文中宋"/>
                <a:cs typeface="华文中宋"/>
              </a:rPr>
              <a:t>证：</a:t>
            </a:r>
          </a:p>
        </p:txBody>
      </p:sp>
      <p:sp>
        <p:nvSpPr>
          <p:cNvPr id="185348" name="Text Box 4"/>
          <p:cNvSpPr txBox="1">
            <a:spLocks noChangeArrowheads="1"/>
          </p:cNvSpPr>
          <p:nvPr/>
        </p:nvSpPr>
        <p:spPr bwMode="auto">
          <a:xfrm>
            <a:off x="1925638" y="1204913"/>
            <a:ext cx="2127250" cy="369887"/>
          </a:xfrm>
          <a:prstGeom prst="rect">
            <a:avLst/>
          </a:prstGeom>
          <a:noFill/>
          <a:ln w="9525">
            <a:noFill/>
            <a:miter lim="800000"/>
            <a:headEnd/>
            <a:tailEnd/>
          </a:ln>
        </p:spPr>
        <p:txBody>
          <a:bodyPr>
            <a:spAutoFit/>
          </a:bodyPr>
          <a:lstStyle/>
          <a:p>
            <a:pPr>
              <a:spcBef>
                <a:spcPct val="50000"/>
              </a:spcBef>
            </a:pPr>
            <a:r>
              <a:rPr kumimoji="1" lang="zh-CN" altLang="en-US" b="1">
                <a:solidFill>
                  <a:srgbClr val="C00000"/>
                </a:solidFill>
                <a:latin typeface="Times New Roman" pitchFamily="18" charset="0"/>
                <a:ea typeface="华文中宋"/>
                <a:cs typeface="华文中宋"/>
              </a:rPr>
              <a:t>用反证法</a:t>
            </a:r>
          </a:p>
        </p:txBody>
      </p:sp>
      <p:sp>
        <p:nvSpPr>
          <p:cNvPr id="185349" name="Text Box 5"/>
          <p:cNvSpPr txBox="1">
            <a:spLocks noChangeArrowheads="1"/>
          </p:cNvSpPr>
          <p:nvPr/>
        </p:nvSpPr>
        <p:spPr bwMode="auto">
          <a:xfrm>
            <a:off x="1296988" y="1916113"/>
            <a:ext cx="3384550" cy="369887"/>
          </a:xfrm>
          <a:prstGeom prst="rect">
            <a:avLst/>
          </a:prstGeom>
          <a:noFill/>
          <a:ln w="9525">
            <a:noFill/>
            <a:miter lim="800000"/>
            <a:headEnd/>
            <a:tailEnd/>
          </a:ln>
        </p:spPr>
        <p:txBody>
          <a:bodyPr>
            <a:spAutoFit/>
          </a:bodyPr>
          <a:lstStyle/>
          <a:p>
            <a:pPr>
              <a:spcBef>
                <a:spcPct val="50000"/>
              </a:spcBef>
            </a:pPr>
            <a:r>
              <a:rPr kumimoji="1" lang="zh-CN" altLang="en-US" b="1">
                <a:solidFill>
                  <a:srgbClr val="000000"/>
                </a:solidFill>
                <a:latin typeface="Times New Roman" pitchFamily="18" charset="0"/>
                <a:ea typeface="华文中宋"/>
                <a:cs typeface="华文中宋"/>
              </a:rPr>
              <a:t>设等温线和绝热线能相交两次。</a:t>
            </a:r>
          </a:p>
        </p:txBody>
      </p:sp>
      <p:grpSp>
        <p:nvGrpSpPr>
          <p:cNvPr id="2" name="组合 4"/>
          <p:cNvGrpSpPr>
            <a:grpSpLocks/>
          </p:cNvGrpSpPr>
          <p:nvPr/>
        </p:nvGrpSpPr>
        <p:grpSpPr bwMode="auto">
          <a:xfrm>
            <a:off x="4927600" y="1492250"/>
            <a:ext cx="2087563" cy="1338263"/>
            <a:chOff x="2125172" y="3061874"/>
            <a:chExt cx="2088609" cy="1786676"/>
          </a:xfrm>
        </p:grpSpPr>
        <p:sp>
          <p:nvSpPr>
            <p:cNvPr id="136210" name="Text Box 14"/>
            <p:cNvSpPr txBox="1">
              <a:spLocks noChangeArrowheads="1"/>
            </p:cNvSpPr>
            <p:nvPr/>
          </p:nvSpPr>
          <p:spPr bwMode="auto">
            <a:xfrm>
              <a:off x="2453148" y="4063706"/>
              <a:ext cx="959356" cy="431002"/>
            </a:xfrm>
            <a:prstGeom prst="rect">
              <a:avLst/>
            </a:prstGeom>
            <a:noFill/>
            <a:ln w="9525">
              <a:noFill/>
              <a:miter lim="800000"/>
              <a:headEnd/>
              <a:tailEnd/>
            </a:ln>
          </p:spPr>
          <p:txBody>
            <a:bodyPr>
              <a:spAutoFit/>
            </a:bodyPr>
            <a:lstStyle/>
            <a:p>
              <a:pPr>
                <a:spcBef>
                  <a:spcPct val="50000"/>
                </a:spcBef>
              </a:pPr>
              <a:r>
                <a:rPr kumimoji="1" lang="zh-CN" altLang="en-US" sz="1500" b="1">
                  <a:solidFill>
                    <a:srgbClr val="0000FF"/>
                  </a:solidFill>
                  <a:latin typeface="Times New Roman" pitchFamily="18" charset="0"/>
                </a:rPr>
                <a:t>绝热线</a:t>
              </a:r>
            </a:p>
          </p:txBody>
        </p:sp>
        <p:sp>
          <p:nvSpPr>
            <p:cNvPr id="136211" name="Text Box 17"/>
            <p:cNvSpPr txBox="1">
              <a:spLocks noChangeArrowheads="1"/>
            </p:cNvSpPr>
            <p:nvPr/>
          </p:nvSpPr>
          <p:spPr bwMode="auto">
            <a:xfrm>
              <a:off x="2812904" y="3150815"/>
              <a:ext cx="938683" cy="431002"/>
            </a:xfrm>
            <a:prstGeom prst="rect">
              <a:avLst/>
            </a:prstGeom>
            <a:noFill/>
            <a:ln w="9525">
              <a:noFill/>
              <a:miter lim="800000"/>
              <a:headEnd/>
              <a:tailEnd/>
            </a:ln>
          </p:spPr>
          <p:txBody>
            <a:bodyPr>
              <a:spAutoFit/>
            </a:bodyPr>
            <a:lstStyle/>
            <a:p>
              <a:pPr>
                <a:spcBef>
                  <a:spcPct val="50000"/>
                </a:spcBef>
              </a:pPr>
              <a:r>
                <a:rPr kumimoji="1" lang="zh-CN" altLang="en-US" sz="1500" b="1">
                  <a:solidFill>
                    <a:srgbClr val="FF3300"/>
                  </a:solidFill>
                  <a:latin typeface="Times New Roman" pitchFamily="18" charset="0"/>
                </a:rPr>
                <a:t>等温线</a:t>
              </a:r>
            </a:p>
          </p:txBody>
        </p:sp>
        <p:sp>
          <p:nvSpPr>
            <p:cNvPr id="136212" name="Text Box 55"/>
            <p:cNvSpPr txBox="1">
              <a:spLocks noChangeArrowheads="1"/>
            </p:cNvSpPr>
            <p:nvPr/>
          </p:nvSpPr>
          <p:spPr bwMode="auto">
            <a:xfrm>
              <a:off x="2125172" y="3061874"/>
              <a:ext cx="280987" cy="431002"/>
            </a:xfrm>
            <a:prstGeom prst="rect">
              <a:avLst/>
            </a:prstGeom>
            <a:noFill/>
            <a:ln w="9525">
              <a:noFill/>
              <a:miter lim="800000"/>
              <a:headEnd/>
              <a:tailEnd/>
            </a:ln>
          </p:spPr>
          <p:txBody>
            <a:bodyPr wrap="none">
              <a:spAutoFit/>
            </a:bodyPr>
            <a:lstStyle/>
            <a:p>
              <a:pPr eaLnBrk="0" hangingPunct="0"/>
              <a:r>
                <a:rPr lang="en-US" altLang="zh-CN" sz="1500" b="1" i="1">
                  <a:solidFill>
                    <a:srgbClr val="000000"/>
                  </a:solidFill>
                  <a:latin typeface="Times New Roman" pitchFamily="18" charset="0"/>
                </a:rPr>
                <a:t>p</a:t>
              </a:r>
            </a:p>
          </p:txBody>
        </p:sp>
        <p:sp>
          <p:nvSpPr>
            <p:cNvPr id="136213" name="Text Box 62"/>
            <p:cNvSpPr txBox="1">
              <a:spLocks noChangeArrowheads="1"/>
            </p:cNvSpPr>
            <p:nvPr/>
          </p:nvSpPr>
          <p:spPr bwMode="auto">
            <a:xfrm>
              <a:off x="2207763" y="4384877"/>
              <a:ext cx="324291" cy="431002"/>
            </a:xfrm>
            <a:prstGeom prst="rect">
              <a:avLst/>
            </a:prstGeom>
            <a:noFill/>
            <a:ln w="9525">
              <a:noFill/>
              <a:miter lim="800000"/>
              <a:headEnd/>
              <a:tailEnd/>
            </a:ln>
          </p:spPr>
          <p:txBody>
            <a:bodyPr wrap="none">
              <a:spAutoFit/>
            </a:bodyPr>
            <a:lstStyle/>
            <a:p>
              <a:pPr eaLnBrk="0" hangingPunct="0"/>
              <a:r>
                <a:rPr lang="en-US" altLang="zh-CN" sz="1500" b="1" i="1">
                  <a:solidFill>
                    <a:srgbClr val="000000"/>
                  </a:solidFill>
                  <a:latin typeface="Times New Roman" pitchFamily="18" charset="0"/>
                </a:rPr>
                <a:t>O</a:t>
              </a:r>
            </a:p>
          </p:txBody>
        </p:sp>
        <p:sp>
          <p:nvSpPr>
            <p:cNvPr id="136214" name="Text Box 67"/>
            <p:cNvSpPr txBox="1">
              <a:spLocks noChangeArrowheads="1"/>
            </p:cNvSpPr>
            <p:nvPr/>
          </p:nvSpPr>
          <p:spPr bwMode="auto">
            <a:xfrm>
              <a:off x="3860248" y="4417548"/>
              <a:ext cx="340687" cy="431002"/>
            </a:xfrm>
            <a:prstGeom prst="rect">
              <a:avLst/>
            </a:prstGeom>
            <a:noFill/>
            <a:ln w="9525">
              <a:noFill/>
              <a:miter lim="800000"/>
              <a:headEnd/>
              <a:tailEnd/>
            </a:ln>
          </p:spPr>
          <p:txBody>
            <a:bodyPr>
              <a:spAutoFit/>
            </a:bodyPr>
            <a:lstStyle/>
            <a:p>
              <a:pPr eaLnBrk="0" hangingPunct="0"/>
              <a:r>
                <a:rPr lang="en-US" altLang="zh-CN" sz="1500" b="1" i="1">
                  <a:solidFill>
                    <a:srgbClr val="000000"/>
                  </a:solidFill>
                  <a:latin typeface="Times New Roman" pitchFamily="18" charset="0"/>
                </a:rPr>
                <a:t>V</a:t>
              </a:r>
            </a:p>
          </p:txBody>
        </p:sp>
        <p:sp>
          <p:nvSpPr>
            <p:cNvPr id="136215" name="Freeform 71"/>
            <p:cNvSpPr>
              <a:spLocks/>
            </p:cNvSpPr>
            <p:nvPr/>
          </p:nvSpPr>
          <p:spPr bwMode="auto">
            <a:xfrm>
              <a:off x="2780907" y="3182188"/>
              <a:ext cx="1291472" cy="1022167"/>
            </a:xfrm>
            <a:custGeom>
              <a:avLst/>
              <a:gdLst>
                <a:gd name="T0" fmla="*/ 0 w 9443"/>
                <a:gd name="T1" fmla="*/ 0 h 8805"/>
                <a:gd name="T2" fmla="*/ 2147483647 w 9443"/>
                <a:gd name="T3" fmla="*/ 2147483647 h 8805"/>
                <a:gd name="T4" fmla="*/ 0 60000 65536"/>
                <a:gd name="T5" fmla="*/ 0 60000 65536"/>
                <a:gd name="T6" fmla="*/ 0 w 9443"/>
                <a:gd name="T7" fmla="*/ 0 h 8805"/>
                <a:gd name="T8" fmla="*/ 9443 w 9443"/>
                <a:gd name="T9" fmla="*/ 8805 h 8805"/>
              </a:gdLst>
              <a:ahLst/>
              <a:cxnLst>
                <a:cxn ang="T4">
                  <a:pos x="T0" y="T1"/>
                </a:cxn>
                <a:cxn ang="T5">
                  <a:pos x="T2" y="T3"/>
                </a:cxn>
              </a:cxnLst>
              <a:rect l="T6" t="T7" r="T8" b="T9"/>
              <a:pathLst>
                <a:path w="9443" h="8805">
                  <a:moveTo>
                    <a:pt x="0" y="0"/>
                  </a:moveTo>
                  <a:cubicBezTo>
                    <a:pt x="815" y="7240"/>
                    <a:pt x="3935" y="9124"/>
                    <a:pt x="9443" y="8763"/>
                  </a:cubicBezTo>
                </a:path>
              </a:pathLst>
            </a:custGeom>
            <a:noFill/>
            <a:ln w="19050">
              <a:solidFill>
                <a:srgbClr val="00B0F0"/>
              </a:solidFill>
              <a:round/>
              <a:headEnd/>
              <a:tailEnd/>
            </a:ln>
          </p:spPr>
          <p:txBody>
            <a:bodyPr/>
            <a:lstStyle/>
            <a:p>
              <a:endParaRPr lang="zh-CN" altLang="en-US"/>
            </a:p>
          </p:txBody>
        </p:sp>
        <p:sp>
          <p:nvSpPr>
            <p:cNvPr id="136216" name="Freeform 70"/>
            <p:cNvSpPr>
              <a:spLocks/>
            </p:cNvSpPr>
            <p:nvPr/>
          </p:nvSpPr>
          <p:spPr bwMode="auto">
            <a:xfrm>
              <a:off x="2724742" y="3241999"/>
              <a:ext cx="1309931" cy="1084905"/>
            </a:xfrm>
            <a:custGeom>
              <a:avLst/>
              <a:gdLst>
                <a:gd name="T0" fmla="*/ 0 w 10000"/>
                <a:gd name="T1" fmla="*/ 0 h 10000"/>
                <a:gd name="T2" fmla="*/ 2147483647 w 10000"/>
                <a:gd name="T3" fmla="*/ 2147483647 h 10000"/>
                <a:gd name="T4" fmla="*/ 0 60000 65536"/>
                <a:gd name="T5" fmla="*/ 0 60000 65536"/>
                <a:gd name="T6" fmla="*/ 0 w 10000"/>
                <a:gd name="T7" fmla="*/ 0 h 10000"/>
                <a:gd name="T8" fmla="*/ 10000 w 10000"/>
                <a:gd name="T9" fmla="*/ 10000 h 10000"/>
              </a:gdLst>
              <a:ahLst/>
              <a:cxnLst>
                <a:cxn ang="T4">
                  <a:pos x="T0" y="T1"/>
                </a:cxn>
                <a:cxn ang="T5">
                  <a:pos x="T2" y="T3"/>
                </a:cxn>
              </a:cxnLst>
              <a:rect l="T6" t="T7" r="T8" b="T9"/>
              <a:pathLst>
                <a:path w="10000" h="10000">
                  <a:moveTo>
                    <a:pt x="0" y="0"/>
                  </a:moveTo>
                  <a:cubicBezTo>
                    <a:pt x="2054" y="3438"/>
                    <a:pt x="6058" y="8131"/>
                    <a:pt x="10000" y="10000"/>
                  </a:cubicBezTo>
                </a:path>
              </a:pathLst>
            </a:custGeom>
            <a:noFill/>
            <a:ln w="19050">
              <a:solidFill>
                <a:srgbClr val="C00000"/>
              </a:solidFill>
              <a:round/>
              <a:headEnd/>
              <a:tailEnd/>
            </a:ln>
          </p:spPr>
          <p:txBody>
            <a:bodyPr/>
            <a:lstStyle/>
            <a:p>
              <a:endParaRPr lang="zh-CN" altLang="en-US"/>
            </a:p>
          </p:txBody>
        </p:sp>
        <p:cxnSp>
          <p:nvCxnSpPr>
            <p:cNvPr id="48" name="直接箭头连接符 47"/>
            <p:cNvCxnSpPr/>
            <p:nvPr/>
          </p:nvCxnSpPr>
          <p:spPr bwMode="auto">
            <a:xfrm flipV="1">
              <a:off x="2423772" y="3129696"/>
              <a:ext cx="0" cy="135007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9" name="直接箭头连接符 48"/>
            <p:cNvCxnSpPr/>
            <p:nvPr/>
          </p:nvCxnSpPr>
          <p:spPr bwMode="auto">
            <a:xfrm>
              <a:off x="2415831" y="4479770"/>
              <a:ext cx="179795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grpSp>
        <p:nvGrpSpPr>
          <p:cNvPr id="3" name="组合 73"/>
          <p:cNvGrpSpPr>
            <a:grpSpLocks/>
          </p:cNvGrpSpPr>
          <p:nvPr/>
        </p:nvGrpSpPr>
        <p:grpSpPr bwMode="auto">
          <a:xfrm>
            <a:off x="5811838" y="2065338"/>
            <a:ext cx="393700" cy="128587"/>
            <a:chOff x="3113268" y="3554054"/>
            <a:chExt cx="393503" cy="169533"/>
          </a:xfrm>
        </p:grpSpPr>
        <p:cxnSp>
          <p:nvCxnSpPr>
            <p:cNvPr id="75" name="直接箭头连接符 74"/>
            <p:cNvCxnSpPr/>
            <p:nvPr/>
          </p:nvCxnSpPr>
          <p:spPr bwMode="auto">
            <a:xfrm>
              <a:off x="3113268" y="3581262"/>
              <a:ext cx="139630" cy="142325"/>
            </a:xfrm>
            <a:prstGeom prst="straightConnector1">
              <a:avLst/>
            </a:prstGeom>
            <a:ln w="19050">
              <a:solidFill>
                <a:srgbClr val="00B0F0"/>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6" name="直接箭头连接符 75"/>
            <p:cNvCxnSpPr/>
            <p:nvPr/>
          </p:nvCxnSpPr>
          <p:spPr bwMode="auto">
            <a:xfrm flipH="1" flipV="1">
              <a:off x="3363967" y="3554054"/>
              <a:ext cx="142804" cy="113022"/>
            </a:xfrm>
            <a:prstGeom prst="straightConnector1">
              <a:avLst/>
            </a:prstGeom>
            <a:ln w="19050">
              <a:solidFill>
                <a:srgbClr val="C00000"/>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4" name="组合 76"/>
          <p:cNvGrpSpPr>
            <a:grpSpLocks/>
          </p:cNvGrpSpPr>
          <p:nvPr/>
        </p:nvGrpSpPr>
        <p:grpSpPr bwMode="auto">
          <a:xfrm>
            <a:off x="5969000" y="1722438"/>
            <a:ext cx="773113" cy="379412"/>
            <a:chOff x="3271102" y="3095724"/>
            <a:chExt cx="772997" cy="505315"/>
          </a:xfrm>
        </p:grpSpPr>
        <p:sp>
          <p:nvSpPr>
            <p:cNvPr id="136206" name="Text Box 20"/>
            <p:cNvSpPr txBox="1">
              <a:spLocks noChangeArrowheads="1"/>
            </p:cNvSpPr>
            <p:nvPr/>
          </p:nvSpPr>
          <p:spPr bwMode="auto">
            <a:xfrm>
              <a:off x="3690139" y="3095724"/>
              <a:ext cx="353960" cy="430403"/>
            </a:xfrm>
            <a:prstGeom prst="rect">
              <a:avLst/>
            </a:prstGeom>
            <a:noFill/>
            <a:ln w="9525">
              <a:noFill/>
              <a:miter lim="800000"/>
              <a:headEnd/>
              <a:tailEnd/>
            </a:ln>
          </p:spPr>
          <p:txBody>
            <a:bodyPr>
              <a:spAutoFit/>
            </a:bodyPr>
            <a:lstStyle/>
            <a:p>
              <a:pPr>
                <a:spcBef>
                  <a:spcPct val="50000"/>
                </a:spcBef>
              </a:pPr>
              <a:r>
                <a:rPr kumimoji="1" lang="en-US" altLang="zh-CN" sz="1500" b="1" i="1">
                  <a:solidFill>
                    <a:srgbClr val="000000"/>
                  </a:solidFill>
                  <a:latin typeface="Times New Roman" pitchFamily="18" charset="0"/>
                </a:rPr>
                <a:t>Q</a:t>
              </a:r>
            </a:p>
          </p:txBody>
        </p:sp>
        <p:cxnSp>
          <p:nvCxnSpPr>
            <p:cNvPr id="79" name="直接箭头连接符 78"/>
            <p:cNvCxnSpPr/>
            <p:nvPr/>
          </p:nvCxnSpPr>
          <p:spPr>
            <a:xfrm flipH="1">
              <a:off x="3271102" y="3290239"/>
              <a:ext cx="480941" cy="310800"/>
            </a:xfrm>
            <a:prstGeom prst="straightConnector1">
              <a:avLst/>
            </a:prstGeom>
            <a:ln w="19050">
              <a:solidFill>
                <a:srgbClr val="0000FF"/>
              </a:solidFill>
              <a:tailEnd type="arrow"/>
            </a:ln>
          </p:spPr>
          <p:style>
            <a:lnRef idx="1">
              <a:schemeClr val="accent1"/>
            </a:lnRef>
            <a:fillRef idx="0">
              <a:schemeClr val="accent1"/>
            </a:fillRef>
            <a:effectRef idx="0">
              <a:schemeClr val="accent1"/>
            </a:effectRef>
            <a:fontRef idx="minor">
              <a:schemeClr val="tx1"/>
            </a:fontRef>
          </p:style>
        </p:cxnSp>
      </p:grpSp>
      <p:grpSp>
        <p:nvGrpSpPr>
          <p:cNvPr id="5" name="组合 79"/>
          <p:cNvGrpSpPr>
            <a:grpSpLocks/>
          </p:cNvGrpSpPr>
          <p:nvPr/>
        </p:nvGrpSpPr>
        <p:grpSpPr bwMode="auto">
          <a:xfrm>
            <a:off x="6224588" y="2017713"/>
            <a:ext cx="1300162" cy="322262"/>
            <a:chOff x="3525625" y="3491101"/>
            <a:chExt cx="1300006" cy="429595"/>
          </a:xfrm>
        </p:grpSpPr>
        <p:sp>
          <p:nvSpPr>
            <p:cNvPr id="136204" name="Rectangle 58"/>
            <p:cNvSpPr>
              <a:spLocks noChangeArrowheads="1"/>
            </p:cNvSpPr>
            <p:nvPr/>
          </p:nvSpPr>
          <p:spPr bwMode="auto">
            <a:xfrm>
              <a:off x="4220820" y="3491101"/>
              <a:ext cx="604811" cy="429595"/>
            </a:xfrm>
            <a:prstGeom prst="rect">
              <a:avLst/>
            </a:prstGeom>
            <a:noFill/>
            <a:ln w="9525">
              <a:noFill/>
              <a:miter lim="800000"/>
              <a:headEnd/>
              <a:tailEnd/>
            </a:ln>
          </p:spPr>
          <p:txBody>
            <a:bodyPr wrap="none">
              <a:spAutoFit/>
            </a:bodyPr>
            <a:lstStyle/>
            <a:p>
              <a:pPr eaLnBrk="0" hangingPunct="0"/>
              <a:r>
                <a:rPr lang="en-US" altLang="zh-CN" sz="1500" b="1" i="1">
                  <a:solidFill>
                    <a:srgbClr val="000000"/>
                  </a:solidFill>
                  <a:latin typeface="Times New Roman" pitchFamily="18" charset="0"/>
                </a:rPr>
                <a:t>W=Q</a:t>
              </a:r>
            </a:p>
          </p:txBody>
        </p:sp>
        <p:cxnSp>
          <p:nvCxnSpPr>
            <p:cNvPr id="82" name="直接箭头连接符 81"/>
            <p:cNvCxnSpPr/>
            <p:nvPr/>
          </p:nvCxnSpPr>
          <p:spPr>
            <a:xfrm flipV="1">
              <a:off x="3525625" y="3696375"/>
              <a:ext cx="679368" cy="93114"/>
            </a:xfrm>
            <a:prstGeom prst="straightConnector1">
              <a:avLst/>
            </a:prstGeom>
            <a:ln w="19050">
              <a:solidFill>
                <a:srgbClr val="0000FF"/>
              </a:solidFill>
              <a:tailEnd type="arrow"/>
            </a:ln>
          </p:spPr>
          <p:style>
            <a:lnRef idx="1">
              <a:schemeClr val="accent1"/>
            </a:lnRef>
            <a:fillRef idx="0">
              <a:schemeClr val="accent1"/>
            </a:fillRef>
            <a:effectRef idx="0">
              <a:schemeClr val="accent1"/>
            </a:effectRef>
            <a:fontRef idx="minor">
              <a:schemeClr val="tx1"/>
            </a:fontRef>
          </p:style>
        </p:cxnSp>
      </p:grpSp>
      <p:sp>
        <p:nvSpPr>
          <p:cNvPr id="83" name="Text Box 24"/>
          <p:cNvSpPr txBox="1">
            <a:spLocks noChangeArrowheads="1"/>
          </p:cNvSpPr>
          <p:nvPr/>
        </p:nvSpPr>
        <p:spPr bwMode="auto">
          <a:xfrm>
            <a:off x="1317625" y="2787650"/>
            <a:ext cx="3175000" cy="369888"/>
          </a:xfrm>
          <a:prstGeom prst="rect">
            <a:avLst/>
          </a:prstGeom>
          <a:noFill/>
          <a:ln w="9525">
            <a:noFill/>
            <a:miter lim="800000"/>
            <a:headEnd/>
            <a:tailEnd/>
          </a:ln>
        </p:spPr>
        <p:txBody>
          <a:bodyPr>
            <a:spAutoFit/>
          </a:bodyPr>
          <a:lstStyle/>
          <a:p>
            <a:r>
              <a:rPr kumimoji="1" lang="zh-CN" altLang="en-US" b="1">
                <a:solidFill>
                  <a:srgbClr val="000000"/>
                </a:solidFill>
                <a:latin typeface="Times New Roman" pitchFamily="18" charset="0"/>
                <a:ea typeface="华文中宋"/>
                <a:cs typeface="华文中宋"/>
              </a:rPr>
              <a:t>则可构成一个单热源热机</a:t>
            </a:r>
          </a:p>
        </p:txBody>
      </p:sp>
      <p:sp>
        <p:nvSpPr>
          <p:cNvPr id="84" name="Text Box 24"/>
          <p:cNvSpPr txBox="1">
            <a:spLocks noChangeArrowheads="1"/>
          </p:cNvSpPr>
          <p:nvPr/>
        </p:nvSpPr>
        <p:spPr bwMode="auto">
          <a:xfrm>
            <a:off x="1763713" y="3219450"/>
            <a:ext cx="6072187" cy="369888"/>
          </a:xfrm>
          <a:prstGeom prst="rect">
            <a:avLst/>
          </a:prstGeom>
          <a:noFill/>
          <a:ln w="9525">
            <a:noFill/>
            <a:miter lim="800000"/>
            <a:headEnd/>
            <a:tailEnd/>
          </a:ln>
        </p:spPr>
        <p:txBody>
          <a:bodyPr>
            <a:spAutoFit/>
          </a:bodyPr>
          <a:lstStyle/>
          <a:p>
            <a:r>
              <a:rPr kumimoji="1" lang="zh-CN" altLang="en-US" b="1">
                <a:solidFill>
                  <a:srgbClr val="000000"/>
                </a:solidFill>
                <a:latin typeface="Times New Roman" pitchFamily="18" charset="0"/>
                <a:ea typeface="华文中宋"/>
                <a:cs typeface="华文中宋"/>
              </a:rPr>
              <a:t>从而违反热力学第二定律的开氏表述</a:t>
            </a:r>
          </a:p>
        </p:txBody>
      </p:sp>
      <p:sp>
        <p:nvSpPr>
          <p:cNvPr id="85" name="Text Box 24"/>
          <p:cNvSpPr txBox="1">
            <a:spLocks noChangeArrowheads="1"/>
          </p:cNvSpPr>
          <p:nvPr/>
        </p:nvSpPr>
        <p:spPr bwMode="auto">
          <a:xfrm>
            <a:off x="1266825" y="3795713"/>
            <a:ext cx="3160713" cy="369887"/>
          </a:xfrm>
          <a:prstGeom prst="rect">
            <a:avLst/>
          </a:prstGeom>
          <a:noFill/>
          <a:ln w="9525">
            <a:noFill/>
            <a:miter lim="800000"/>
            <a:headEnd/>
            <a:tailEnd/>
          </a:ln>
        </p:spPr>
        <p:txBody>
          <a:bodyPr>
            <a:spAutoFit/>
          </a:bodyPr>
          <a:lstStyle/>
          <a:p>
            <a:r>
              <a:rPr kumimoji="1" lang="zh-CN" altLang="en-US" b="1">
                <a:solidFill>
                  <a:srgbClr val="000000"/>
                </a:solidFill>
                <a:latin typeface="Times New Roman" pitchFamily="18" charset="0"/>
                <a:ea typeface="华文中宋"/>
                <a:cs typeface="华文中宋"/>
              </a:rPr>
              <a:t>故假设不成立。</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85346"/>
                                        </p:tgtEl>
                                        <p:attrNameLst>
                                          <p:attrName>style.visibility</p:attrName>
                                        </p:attrNameLst>
                                      </p:cBhvr>
                                      <p:to>
                                        <p:strVal val="visible"/>
                                      </p:to>
                                    </p:set>
                                    <p:animEffect transition="in" filter="wipe(left)">
                                      <p:cBhvr>
                                        <p:cTn id="7" dur="500"/>
                                        <p:tgtEl>
                                          <p:spTgt spid="18534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85347"/>
                                        </p:tgtEl>
                                        <p:attrNameLst>
                                          <p:attrName>style.visibility</p:attrName>
                                        </p:attrNameLst>
                                      </p:cBhvr>
                                      <p:to>
                                        <p:strVal val="visible"/>
                                      </p:to>
                                    </p:set>
                                    <p:animEffect transition="in" filter="wipe(left)">
                                      <p:cBhvr>
                                        <p:cTn id="12" dur="500"/>
                                        <p:tgtEl>
                                          <p:spTgt spid="18534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85348"/>
                                        </p:tgtEl>
                                        <p:attrNameLst>
                                          <p:attrName>style.visibility</p:attrName>
                                        </p:attrNameLst>
                                      </p:cBhvr>
                                      <p:to>
                                        <p:strVal val="visible"/>
                                      </p:to>
                                    </p:set>
                                    <p:animEffect transition="in" filter="wipe(left)">
                                      <p:cBhvr>
                                        <p:cTn id="17" dur="500"/>
                                        <p:tgtEl>
                                          <p:spTgt spid="18534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85349"/>
                                        </p:tgtEl>
                                        <p:attrNameLst>
                                          <p:attrName>style.visibility</p:attrName>
                                        </p:attrNameLst>
                                      </p:cBhvr>
                                      <p:to>
                                        <p:strVal val="visible"/>
                                      </p:to>
                                    </p:set>
                                    <p:animEffect transition="in" filter="wipe(left)">
                                      <p:cBhvr>
                                        <p:cTn id="22" dur="500"/>
                                        <p:tgtEl>
                                          <p:spTgt spid="18534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53" presetClass="entr" presetSubtype="16"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 calcmode="lin" valueType="num">
                                      <p:cBhvr>
                                        <p:cTn id="27" dur="500" fill="hold"/>
                                        <p:tgtEl>
                                          <p:spTgt spid="2"/>
                                        </p:tgtEl>
                                        <p:attrNameLst>
                                          <p:attrName>ppt_w</p:attrName>
                                        </p:attrNameLst>
                                      </p:cBhvr>
                                      <p:tavLst>
                                        <p:tav tm="0">
                                          <p:val>
                                            <p:fltVal val="0"/>
                                          </p:val>
                                        </p:tav>
                                        <p:tav tm="100000">
                                          <p:val>
                                            <p:strVal val="#ppt_w"/>
                                          </p:val>
                                        </p:tav>
                                      </p:tavLst>
                                    </p:anim>
                                    <p:anim calcmode="lin" valueType="num">
                                      <p:cBhvr>
                                        <p:cTn id="28" dur="500" fill="hold"/>
                                        <p:tgtEl>
                                          <p:spTgt spid="2"/>
                                        </p:tgtEl>
                                        <p:attrNameLst>
                                          <p:attrName>ppt_h</p:attrName>
                                        </p:attrNameLst>
                                      </p:cBhvr>
                                      <p:tavLst>
                                        <p:tav tm="0">
                                          <p:val>
                                            <p:fltVal val="0"/>
                                          </p:val>
                                        </p:tav>
                                        <p:tav tm="100000">
                                          <p:val>
                                            <p:strVal val="#ppt_h"/>
                                          </p:val>
                                        </p:tav>
                                      </p:tavLst>
                                    </p:anim>
                                    <p:animEffect transition="in" filter="fade">
                                      <p:cBhvr>
                                        <p:cTn id="29" dur="500"/>
                                        <p:tgtEl>
                                          <p:spTgt spid="2"/>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53" presetClass="entr" presetSubtype="16" fill="hold" nodeType="clickEffect">
                                  <p:stCondLst>
                                    <p:cond delay="0"/>
                                  </p:stCondLst>
                                  <p:childTnLst>
                                    <p:set>
                                      <p:cBhvr>
                                        <p:cTn id="33" dur="1" fill="hold">
                                          <p:stCondLst>
                                            <p:cond delay="0"/>
                                          </p:stCondLst>
                                        </p:cTn>
                                        <p:tgtEl>
                                          <p:spTgt spid="3"/>
                                        </p:tgtEl>
                                        <p:attrNameLst>
                                          <p:attrName>style.visibility</p:attrName>
                                        </p:attrNameLst>
                                      </p:cBhvr>
                                      <p:to>
                                        <p:strVal val="visible"/>
                                      </p:to>
                                    </p:set>
                                    <p:anim calcmode="lin" valueType="num">
                                      <p:cBhvr>
                                        <p:cTn id="34" dur="500" fill="hold"/>
                                        <p:tgtEl>
                                          <p:spTgt spid="3"/>
                                        </p:tgtEl>
                                        <p:attrNameLst>
                                          <p:attrName>ppt_w</p:attrName>
                                        </p:attrNameLst>
                                      </p:cBhvr>
                                      <p:tavLst>
                                        <p:tav tm="0">
                                          <p:val>
                                            <p:fltVal val="0"/>
                                          </p:val>
                                        </p:tav>
                                        <p:tav tm="100000">
                                          <p:val>
                                            <p:strVal val="#ppt_w"/>
                                          </p:val>
                                        </p:tav>
                                      </p:tavLst>
                                    </p:anim>
                                    <p:anim calcmode="lin" valueType="num">
                                      <p:cBhvr>
                                        <p:cTn id="35" dur="500" fill="hold"/>
                                        <p:tgtEl>
                                          <p:spTgt spid="3"/>
                                        </p:tgtEl>
                                        <p:attrNameLst>
                                          <p:attrName>ppt_h</p:attrName>
                                        </p:attrNameLst>
                                      </p:cBhvr>
                                      <p:tavLst>
                                        <p:tav tm="0">
                                          <p:val>
                                            <p:fltVal val="0"/>
                                          </p:val>
                                        </p:tav>
                                        <p:tav tm="100000">
                                          <p:val>
                                            <p:strVal val="#ppt_h"/>
                                          </p:val>
                                        </p:tav>
                                      </p:tavLst>
                                    </p:anim>
                                    <p:animEffect transition="in" filter="fade">
                                      <p:cBhvr>
                                        <p:cTn id="36" dur="500"/>
                                        <p:tgtEl>
                                          <p:spTgt spid="3"/>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53" presetClass="entr" presetSubtype="16" fill="hold" nodeType="clickEffect">
                                  <p:stCondLst>
                                    <p:cond delay="0"/>
                                  </p:stCondLst>
                                  <p:childTnLst>
                                    <p:set>
                                      <p:cBhvr>
                                        <p:cTn id="40" dur="1" fill="hold">
                                          <p:stCondLst>
                                            <p:cond delay="0"/>
                                          </p:stCondLst>
                                        </p:cTn>
                                        <p:tgtEl>
                                          <p:spTgt spid="4"/>
                                        </p:tgtEl>
                                        <p:attrNameLst>
                                          <p:attrName>style.visibility</p:attrName>
                                        </p:attrNameLst>
                                      </p:cBhvr>
                                      <p:to>
                                        <p:strVal val="visible"/>
                                      </p:to>
                                    </p:set>
                                    <p:anim calcmode="lin" valueType="num">
                                      <p:cBhvr>
                                        <p:cTn id="41" dur="500" fill="hold"/>
                                        <p:tgtEl>
                                          <p:spTgt spid="4"/>
                                        </p:tgtEl>
                                        <p:attrNameLst>
                                          <p:attrName>ppt_w</p:attrName>
                                        </p:attrNameLst>
                                      </p:cBhvr>
                                      <p:tavLst>
                                        <p:tav tm="0">
                                          <p:val>
                                            <p:fltVal val="0"/>
                                          </p:val>
                                        </p:tav>
                                        <p:tav tm="100000">
                                          <p:val>
                                            <p:strVal val="#ppt_w"/>
                                          </p:val>
                                        </p:tav>
                                      </p:tavLst>
                                    </p:anim>
                                    <p:anim calcmode="lin" valueType="num">
                                      <p:cBhvr>
                                        <p:cTn id="42" dur="500" fill="hold"/>
                                        <p:tgtEl>
                                          <p:spTgt spid="4"/>
                                        </p:tgtEl>
                                        <p:attrNameLst>
                                          <p:attrName>ppt_h</p:attrName>
                                        </p:attrNameLst>
                                      </p:cBhvr>
                                      <p:tavLst>
                                        <p:tav tm="0">
                                          <p:val>
                                            <p:fltVal val="0"/>
                                          </p:val>
                                        </p:tav>
                                        <p:tav tm="100000">
                                          <p:val>
                                            <p:strVal val="#ppt_h"/>
                                          </p:val>
                                        </p:tav>
                                      </p:tavLst>
                                    </p:anim>
                                    <p:animEffect transition="in" filter="fade">
                                      <p:cBhvr>
                                        <p:cTn id="43" dur="500"/>
                                        <p:tgtEl>
                                          <p:spTgt spid="4"/>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53" presetClass="entr" presetSubtype="16" fill="hold" nodeType="clickEffect">
                                  <p:stCondLst>
                                    <p:cond delay="0"/>
                                  </p:stCondLst>
                                  <p:childTnLst>
                                    <p:set>
                                      <p:cBhvr>
                                        <p:cTn id="47" dur="1" fill="hold">
                                          <p:stCondLst>
                                            <p:cond delay="0"/>
                                          </p:stCondLst>
                                        </p:cTn>
                                        <p:tgtEl>
                                          <p:spTgt spid="5"/>
                                        </p:tgtEl>
                                        <p:attrNameLst>
                                          <p:attrName>style.visibility</p:attrName>
                                        </p:attrNameLst>
                                      </p:cBhvr>
                                      <p:to>
                                        <p:strVal val="visible"/>
                                      </p:to>
                                    </p:set>
                                    <p:anim calcmode="lin" valueType="num">
                                      <p:cBhvr>
                                        <p:cTn id="48" dur="500" fill="hold"/>
                                        <p:tgtEl>
                                          <p:spTgt spid="5"/>
                                        </p:tgtEl>
                                        <p:attrNameLst>
                                          <p:attrName>ppt_w</p:attrName>
                                        </p:attrNameLst>
                                      </p:cBhvr>
                                      <p:tavLst>
                                        <p:tav tm="0">
                                          <p:val>
                                            <p:fltVal val="0"/>
                                          </p:val>
                                        </p:tav>
                                        <p:tav tm="100000">
                                          <p:val>
                                            <p:strVal val="#ppt_w"/>
                                          </p:val>
                                        </p:tav>
                                      </p:tavLst>
                                    </p:anim>
                                    <p:anim calcmode="lin" valueType="num">
                                      <p:cBhvr>
                                        <p:cTn id="49" dur="500" fill="hold"/>
                                        <p:tgtEl>
                                          <p:spTgt spid="5"/>
                                        </p:tgtEl>
                                        <p:attrNameLst>
                                          <p:attrName>ppt_h</p:attrName>
                                        </p:attrNameLst>
                                      </p:cBhvr>
                                      <p:tavLst>
                                        <p:tav tm="0">
                                          <p:val>
                                            <p:fltVal val="0"/>
                                          </p:val>
                                        </p:tav>
                                        <p:tav tm="100000">
                                          <p:val>
                                            <p:strVal val="#ppt_h"/>
                                          </p:val>
                                        </p:tav>
                                      </p:tavLst>
                                    </p:anim>
                                    <p:animEffect transition="in" filter="fade">
                                      <p:cBhvr>
                                        <p:cTn id="50" dur="500"/>
                                        <p:tgtEl>
                                          <p:spTgt spid="5"/>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83"/>
                                        </p:tgtEl>
                                        <p:attrNameLst>
                                          <p:attrName>style.visibility</p:attrName>
                                        </p:attrNameLst>
                                      </p:cBhvr>
                                      <p:to>
                                        <p:strVal val="visible"/>
                                      </p:to>
                                    </p:set>
                                    <p:animEffect transition="in" filter="wipe(left)">
                                      <p:cBhvr>
                                        <p:cTn id="55" dur="500"/>
                                        <p:tgtEl>
                                          <p:spTgt spid="83"/>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8" fill="hold" grpId="0" nodeType="clickEffect">
                                  <p:stCondLst>
                                    <p:cond delay="0"/>
                                  </p:stCondLst>
                                  <p:childTnLst>
                                    <p:set>
                                      <p:cBhvr>
                                        <p:cTn id="59" dur="1" fill="hold">
                                          <p:stCondLst>
                                            <p:cond delay="0"/>
                                          </p:stCondLst>
                                        </p:cTn>
                                        <p:tgtEl>
                                          <p:spTgt spid="84"/>
                                        </p:tgtEl>
                                        <p:attrNameLst>
                                          <p:attrName>style.visibility</p:attrName>
                                        </p:attrNameLst>
                                      </p:cBhvr>
                                      <p:to>
                                        <p:strVal val="visible"/>
                                      </p:to>
                                    </p:set>
                                    <p:animEffect transition="in" filter="wipe(left)">
                                      <p:cBhvr>
                                        <p:cTn id="60" dur="500"/>
                                        <p:tgtEl>
                                          <p:spTgt spid="84"/>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22" presetClass="entr" presetSubtype="8" fill="hold" grpId="0" nodeType="clickEffect">
                                  <p:stCondLst>
                                    <p:cond delay="0"/>
                                  </p:stCondLst>
                                  <p:childTnLst>
                                    <p:set>
                                      <p:cBhvr>
                                        <p:cTn id="64" dur="1" fill="hold">
                                          <p:stCondLst>
                                            <p:cond delay="0"/>
                                          </p:stCondLst>
                                        </p:cTn>
                                        <p:tgtEl>
                                          <p:spTgt spid="85"/>
                                        </p:tgtEl>
                                        <p:attrNameLst>
                                          <p:attrName>style.visibility</p:attrName>
                                        </p:attrNameLst>
                                      </p:cBhvr>
                                      <p:to>
                                        <p:strVal val="visible"/>
                                      </p:to>
                                    </p:set>
                                    <p:animEffect transition="in" filter="wipe(left)">
                                      <p:cBhvr>
                                        <p:cTn id="65" dur="500"/>
                                        <p:tgtEl>
                                          <p:spTgt spid="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5346" grpId="0"/>
      <p:bldP spid="185347" grpId="0"/>
      <p:bldP spid="185348" grpId="0"/>
      <p:bldP spid="185349" grpId="0"/>
      <p:bldP spid="83" grpId="0"/>
      <p:bldP spid="84" grpId="0"/>
      <p:bldP spid="85"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7" name="Text Box 5"/>
          <p:cNvSpPr txBox="1">
            <a:spLocks noChangeArrowheads="1"/>
          </p:cNvSpPr>
          <p:nvPr/>
        </p:nvSpPr>
        <p:spPr bwMode="auto">
          <a:xfrm>
            <a:off x="381000" y="2357438"/>
            <a:ext cx="8153400" cy="646112"/>
          </a:xfrm>
          <a:prstGeom prst="rect">
            <a:avLst/>
          </a:prstGeom>
          <a:noFill/>
          <a:ln w="9525">
            <a:noFill/>
            <a:miter lim="800000"/>
            <a:headEnd/>
            <a:tailEnd/>
          </a:ln>
        </p:spPr>
        <p:txBody>
          <a:bodyPr>
            <a:spAutoFit/>
          </a:bodyPr>
          <a:lstStyle/>
          <a:p>
            <a:pPr eaLnBrk="0" hangingPunct="0"/>
            <a:r>
              <a:rPr lang="en-US" altLang="zh-CN" b="1">
                <a:solidFill>
                  <a:srgbClr val="000000"/>
                </a:solidFill>
                <a:latin typeface="华文中宋"/>
                <a:ea typeface="华文中宋"/>
                <a:cs typeface="华文中宋"/>
              </a:rPr>
              <a:t> </a:t>
            </a:r>
            <a:r>
              <a:rPr lang="zh-CN" altLang="en-US" b="1">
                <a:solidFill>
                  <a:srgbClr val="C0504D"/>
                </a:solidFill>
                <a:latin typeface="华文中宋"/>
                <a:ea typeface="华文中宋"/>
                <a:cs typeface="华文中宋"/>
              </a:rPr>
              <a:t>１、工作于相同高、低温热源之间的任何可逆机的效率与工作物质无关，它只决定于高、低温热源的温度</a:t>
            </a:r>
          </a:p>
        </p:txBody>
      </p:sp>
      <p:graphicFrame>
        <p:nvGraphicFramePr>
          <p:cNvPr id="64518" name="Object 26"/>
          <p:cNvGraphicFramePr>
            <a:graphicFrameLocks noChangeAspect="1"/>
          </p:cNvGraphicFramePr>
          <p:nvPr/>
        </p:nvGraphicFramePr>
        <p:xfrm>
          <a:off x="3492500" y="2776538"/>
          <a:ext cx="1571625" cy="587375"/>
        </p:xfrm>
        <a:graphic>
          <a:graphicData uri="http://schemas.openxmlformats.org/presentationml/2006/ole">
            <p:oleObj spid="_x0000_s34842" name="公式" r:id="rId3" imgW="634449" imgH="317225" progId="Equation.3">
              <p:embed/>
            </p:oleObj>
          </a:graphicData>
        </a:graphic>
      </p:graphicFrame>
      <p:sp>
        <p:nvSpPr>
          <p:cNvPr id="64519" name="Text Box 7"/>
          <p:cNvSpPr txBox="1">
            <a:spLocks noChangeArrowheads="1"/>
          </p:cNvSpPr>
          <p:nvPr/>
        </p:nvSpPr>
        <p:spPr bwMode="auto">
          <a:xfrm>
            <a:off x="468313" y="3282950"/>
            <a:ext cx="8064500" cy="368300"/>
          </a:xfrm>
          <a:prstGeom prst="rect">
            <a:avLst/>
          </a:prstGeom>
          <a:noFill/>
          <a:ln w="9525">
            <a:noFill/>
            <a:miter lim="800000"/>
            <a:headEnd/>
            <a:tailEnd/>
          </a:ln>
        </p:spPr>
        <p:txBody>
          <a:bodyPr>
            <a:spAutoFit/>
          </a:bodyPr>
          <a:lstStyle/>
          <a:p>
            <a:pPr eaLnBrk="0" hangingPunct="0"/>
            <a:r>
              <a:rPr lang="zh-CN" altLang="en-US" b="1">
                <a:solidFill>
                  <a:srgbClr val="C0504D"/>
                </a:solidFill>
                <a:latin typeface="华文中宋"/>
                <a:ea typeface="华文中宋"/>
                <a:cs typeface="华文中宋"/>
              </a:rPr>
              <a:t>２、在相同的高、低温热源工作的一切不可逆机的效率不可能高于可逆机</a:t>
            </a:r>
            <a:endParaRPr lang="zh-CN" altLang="en-US" b="1">
              <a:solidFill>
                <a:srgbClr val="000000"/>
              </a:solidFill>
              <a:latin typeface="华文中宋"/>
              <a:ea typeface="华文中宋"/>
              <a:cs typeface="华文中宋"/>
            </a:endParaRPr>
          </a:p>
        </p:txBody>
      </p:sp>
      <p:graphicFrame>
        <p:nvGraphicFramePr>
          <p:cNvPr id="64520" name="Object 27"/>
          <p:cNvGraphicFramePr>
            <a:graphicFrameLocks noChangeAspect="1"/>
          </p:cNvGraphicFramePr>
          <p:nvPr/>
        </p:nvGraphicFramePr>
        <p:xfrm>
          <a:off x="3419475" y="3598863"/>
          <a:ext cx="1800225" cy="571500"/>
        </p:xfrm>
        <a:graphic>
          <a:graphicData uri="http://schemas.openxmlformats.org/presentationml/2006/ole">
            <p:oleObj spid="_x0000_s34843" name="公式" r:id="rId4" imgW="698197" imgH="317362" progId="Equation.3">
              <p:embed/>
            </p:oleObj>
          </a:graphicData>
        </a:graphic>
      </p:graphicFrame>
      <p:sp>
        <p:nvSpPr>
          <p:cNvPr id="9" name="Rectangle 11"/>
          <p:cNvSpPr>
            <a:spLocks noChangeArrowheads="1"/>
          </p:cNvSpPr>
          <p:nvPr/>
        </p:nvSpPr>
        <p:spPr bwMode="auto">
          <a:xfrm>
            <a:off x="900113" y="1285875"/>
            <a:ext cx="7462837" cy="376238"/>
          </a:xfrm>
          <a:prstGeom prst="rect">
            <a:avLst/>
          </a:prstGeom>
          <a:noFill/>
          <a:ln w="9525">
            <a:noFill/>
            <a:miter lim="800000"/>
            <a:headEnd/>
            <a:tailEnd/>
          </a:ln>
        </p:spPr>
        <p:txBody>
          <a:bodyPr>
            <a:spAutoFit/>
          </a:bodyPr>
          <a:lstStyle/>
          <a:p>
            <a:pPr eaLnBrk="0" hangingPunct="0">
              <a:lnSpc>
                <a:spcPct val="110000"/>
              </a:lnSpc>
            </a:pPr>
            <a:r>
              <a:rPr lang="zh-CN" altLang="en-US" b="1">
                <a:solidFill>
                  <a:srgbClr val="000000"/>
                </a:solidFill>
                <a:latin typeface="华文中宋"/>
                <a:ea typeface="华文中宋"/>
                <a:cs typeface="华文中宋"/>
              </a:rPr>
              <a:t>循环可分为：可逆循环和不可逆循环</a:t>
            </a:r>
          </a:p>
        </p:txBody>
      </p:sp>
      <p:sp>
        <p:nvSpPr>
          <p:cNvPr id="12" name="Rectangle 11"/>
          <p:cNvSpPr>
            <a:spLocks noChangeArrowheads="1"/>
          </p:cNvSpPr>
          <p:nvPr/>
        </p:nvSpPr>
        <p:spPr bwMode="auto">
          <a:xfrm>
            <a:off x="900113" y="1609725"/>
            <a:ext cx="6715125" cy="376238"/>
          </a:xfrm>
          <a:prstGeom prst="rect">
            <a:avLst/>
          </a:prstGeom>
          <a:noFill/>
          <a:ln w="9525">
            <a:noFill/>
            <a:miter lim="800000"/>
            <a:headEnd/>
            <a:tailEnd/>
          </a:ln>
        </p:spPr>
        <p:txBody>
          <a:bodyPr>
            <a:spAutoFit/>
          </a:bodyPr>
          <a:lstStyle/>
          <a:p>
            <a:pPr eaLnBrk="0" hangingPunct="0">
              <a:lnSpc>
                <a:spcPct val="110000"/>
              </a:lnSpc>
            </a:pPr>
            <a:r>
              <a:rPr lang="zh-CN" altLang="en-US" b="1">
                <a:solidFill>
                  <a:srgbClr val="000000"/>
                </a:solidFill>
                <a:latin typeface="华文中宋"/>
                <a:ea typeface="华文中宋"/>
                <a:cs typeface="华文中宋"/>
              </a:rPr>
              <a:t>热机可分为：可逆热机和不可逆热机</a:t>
            </a:r>
          </a:p>
        </p:txBody>
      </p:sp>
      <p:sp>
        <p:nvSpPr>
          <p:cNvPr id="64532" name="Rectangle 20"/>
          <p:cNvSpPr>
            <a:spLocks noChangeArrowheads="1"/>
          </p:cNvSpPr>
          <p:nvPr/>
        </p:nvSpPr>
        <p:spPr bwMode="auto">
          <a:xfrm>
            <a:off x="884238" y="1985963"/>
            <a:ext cx="6280150" cy="369887"/>
          </a:xfrm>
          <a:prstGeom prst="rect">
            <a:avLst/>
          </a:prstGeom>
          <a:noFill/>
          <a:ln w="9525">
            <a:noFill/>
            <a:miter lim="800000"/>
            <a:headEnd/>
            <a:tailEnd/>
          </a:ln>
        </p:spPr>
        <p:txBody>
          <a:bodyPr>
            <a:spAutoFit/>
          </a:bodyPr>
          <a:lstStyle/>
          <a:p>
            <a:r>
              <a:rPr lang="zh-CN" altLang="en-US" b="1">
                <a:solidFill>
                  <a:srgbClr val="000000"/>
                </a:solidFill>
                <a:latin typeface="Times New Roman" pitchFamily="18" charset="0"/>
                <a:ea typeface="华文中宋"/>
                <a:cs typeface="华文中宋"/>
              </a:rPr>
              <a:t>卡诺循环是可逆循环，卡诺热机是可逆热机。</a:t>
            </a:r>
          </a:p>
        </p:txBody>
      </p:sp>
      <p:graphicFrame>
        <p:nvGraphicFramePr>
          <p:cNvPr id="64533" name="Object 28"/>
          <p:cNvGraphicFramePr>
            <a:graphicFrameLocks noChangeAspect="1"/>
          </p:cNvGraphicFramePr>
          <p:nvPr/>
        </p:nvGraphicFramePr>
        <p:xfrm>
          <a:off x="5219700" y="4084638"/>
          <a:ext cx="2255838" cy="571500"/>
        </p:xfrm>
        <a:graphic>
          <a:graphicData uri="http://schemas.openxmlformats.org/presentationml/2006/ole">
            <p:oleObj spid="_x0000_s34844" name="公式" r:id="rId5" imgW="875920" imgH="317362" progId="Equation.3">
              <p:embed/>
            </p:oleObj>
          </a:graphicData>
        </a:graphic>
      </p:graphicFrame>
      <p:sp>
        <p:nvSpPr>
          <p:cNvPr id="2" name="Rectangle 11"/>
          <p:cNvSpPr>
            <a:spLocks noChangeArrowheads="1"/>
          </p:cNvSpPr>
          <p:nvPr/>
        </p:nvSpPr>
        <p:spPr bwMode="auto">
          <a:xfrm>
            <a:off x="611188" y="4191000"/>
            <a:ext cx="4465637" cy="396875"/>
          </a:xfrm>
          <a:prstGeom prst="rect">
            <a:avLst/>
          </a:prstGeom>
          <a:noFill/>
          <a:ln w="9525">
            <a:noFill/>
            <a:miter lim="800000"/>
            <a:headEnd/>
            <a:tailEnd/>
          </a:ln>
        </p:spPr>
        <p:txBody>
          <a:bodyPr>
            <a:spAutoFit/>
          </a:bodyPr>
          <a:lstStyle/>
          <a:p>
            <a:pPr eaLnBrk="0" hangingPunct="0">
              <a:lnSpc>
                <a:spcPct val="110000"/>
              </a:lnSpc>
            </a:pPr>
            <a:r>
              <a:rPr lang="zh-CN" altLang="en-US" b="1">
                <a:solidFill>
                  <a:srgbClr val="000000"/>
                </a:solidFill>
                <a:latin typeface="华文中宋"/>
                <a:ea typeface="华文中宋"/>
                <a:cs typeface="华文中宋"/>
              </a:rPr>
              <a:t>任意工作于两个热源之间的热机的效率：</a:t>
            </a:r>
          </a:p>
        </p:txBody>
      </p:sp>
      <p:sp>
        <p:nvSpPr>
          <p:cNvPr id="13" name="Text Box 2"/>
          <p:cNvSpPr>
            <a:spLocks noChangeArrowheads="1"/>
          </p:cNvSpPr>
          <p:nvPr/>
        </p:nvSpPr>
        <p:spPr bwMode="auto">
          <a:xfrm>
            <a:off x="839788" y="874713"/>
            <a:ext cx="1931987" cy="401637"/>
          </a:xfrm>
          <a:prstGeom prst="homePlate">
            <a:avLst>
              <a:gd name="adj" fmla="val 49573"/>
            </a:avLst>
          </a:prstGeom>
          <a:solidFill>
            <a:srgbClr val="539A84"/>
          </a:solidFill>
          <a:ln w="9525">
            <a:noFill/>
            <a:miter lim="800000"/>
            <a:headEnd/>
            <a:tailEnd/>
          </a:ln>
        </p:spPr>
        <p:txBody>
          <a:bodyPr>
            <a:spAutoFit/>
          </a:bodyPr>
          <a:lstStyle/>
          <a:p>
            <a:pPr>
              <a:buFont typeface="Arial" charset="0"/>
              <a:buNone/>
            </a:pPr>
            <a:r>
              <a:rPr kumimoji="1" lang="zh-CN" altLang="en-US" sz="2000" b="1">
                <a:solidFill>
                  <a:srgbClr val="FFFFFF"/>
                </a:solidFill>
                <a:latin typeface="微软雅黑" pitchFamily="34" charset="-122"/>
                <a:ea typeface="微软雅黑" pitchFamily="34" charset="-122"/>
              </a:rPr>
              <a:t>一、卡诺定理</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left)">
                                      <p:cBhvr>
                                        <p:cTn id="12" dur="500"/>
                                        <p:tgtEl>
                                          <p:spTgt spid="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wipe(left)">
                                      <p:cBhvr>
                                        <p:cTn id="17" dur="500"/>
                                        <p:tgtEl>
                                          <p:spTgt spid="1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64532"/>
                                        </p:tgtEl>
                                        <p:attrNameLst>
                                          <p:attrName>style.visibility</p:attrName>
                                        </p:attrNameLst>
                                      </p:cBhvr>
                                      <p:to>
                                        <p:strVal val="visible"/>
                                      </p:to>
                                    </p:set>
                                    <p:animEffect transition="in" filter="blinds(horizontal)">
                                      <p:cBhvr>
                                        <p:cTn id="22" dur="500"/>
                                        <p:tgtEl>
                                          <p:spTgt spid="6453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64517"/>
                                        </p:tgtEl>
                                        <p:attrNameLst>
                                          <p:attrName>style.visibility</p:attrName>
                                        </p:attrNameLst>
                                      </p:cBhvr>
                                      <p:to>
                                        <p:strVal val="visible"/>
                                      </p:to>
                                    </p:set>
                                    <p:animEffect transition="in" filter="box(in)">
                                      <p:cBhvr>
                                        <p:cTn id="27" dur="500"/>
                                        <p:tgtEl>
                                          <p:spTgt spid="6451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nodeType="clickEffect">
                                  <p:stCondLst>
                                    <p:cond delay="0"/>
                                  </p:stCondLst>
                                  <p:childTnLst>
                                    <p:set>
                                      <p:cBhvr>
                                        <p:cTn id="31" dur="1" fill="hold">
                                          <p:stCondLst>
                                            <p:cond delay="0"/>
                                          </p:stCondLst>
                                        </p:cTn>
                                        <p:tgtEl>
                                          <p:spTgt spid="64518"/>
                                        </p:tgtEl>
                                        <p:attrNameLst>
                                          <p:attrName>style.visibility</p:attrName>
                                        </p:attrNameLst>
                                      </p:cBhvr>
                                      <p:to>
                                        <p:strVal val="visible"/>
                                      </p:to>
                                    </p:set>
                                    <p:animEffect transition="in" filter="box(in)">
                                      <p:cBhvr>
                                        <p:cTn id="32" dur="500"/>
                                        <p:tgtEl>
                                          <p:spTgt spid="64518"/>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16" fill="hold" grpId="0" nodeType="clickEffect">
                                  <p:stCondLst>
                                    <p:cond delay="0"/>
                                  </p:stCondLst>
                                  <p:childTnLst>
                                    <p:set>
                                      <p:cBhvr>
                                        <p:cTn id="36" dur="1" fill="hold">
                                          <p:stCondLst>
                                            <p:cond delay="0"/>
                                          </p:stCondLst>
                                        </p:cTn>
                                        <p:tgtEl>
                                          <p:spTgt spid="64519"/>
                                        </p:tgtEl>
                                        <p:attrNameLst>
                                          <p:attrName>style.visibility</p:attrName>
                                        </p:attrNameLst>
                                      </p:cBhvr>
                                      <p:to>
                                        <p:strVal val="visible"/>
                                      </p:to>
                                    </p:set>
                                    <p:animEffect transition="in" filter="box(in)">
                                      <p:cBhvr>
                                        <p:cTn id="37" dur="500"/>
                                        <p:tgtEl>
                                          <p:spTgt spid="64519"/>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4" presetClass="entr" presetSubtype="16" fill="hold" nodeType="clickEffect">
                                  <p:stCondLst>
                                    <p:cond delay="0"/>
                                  </p:stCondLst>
                                  <p:childTnLst>
                                    <p:set>
                                      <p:cBhvr>
                                        <p:cTn id="41" dur="1" fill="hold">
                                          <p:stCondLst>
                                            <p:cond delay="0"/>
                                          </p:stCondLst>
                                        </p:cTn>
                                        <p:tgtEl>
                                          <p:spTgt spid="64520"/>
                                        </p:tgtEl>
                                        <p:attrNameLst>
                                          <p:attrName>style.visibility</p:attrName>
                                        </p:attrNameLst>
                                      </p:cBhvr>
                                      <p:to>
                                        <p:strVal val="visible"/>
                                      </p:to>
                                    </p:set>
                                    <p:animEffect transition="in" filter="box(in)">
                                      <p:cBhvr>
                                        <p:cTn id="42" dur="500"/>
                                        <p:tgtEl>
                                          <p:spTgt spid="64520"/>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
                                        </p:tgtEl>
                                        <p:attrNameLst>
                                          <p:attrName>style.visibility</p:attrName>
                                        </p:attrNameLst>
                                      </p:cBhvr>
                                      <p:to>
                                        <p:strVal val="visible"/>
                                      </p:to>
                                    </p:set>
                                    <p:animEffect transition="in" filter="wipe(left)">
                                      <p:cBhvr>
                                        <p:cTn id="47" dur="500"/>
                                        <p:tgtEl>
                                          <p:spTgt spid="2"/>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4" presetClass="entr" presetSubtype="16" fill="hold" nodeType="clickEffect">
                                  <p:stCondLst>
                                    <p:cond delay="0"/>
                                  </p:stCondLst>
                                  <p:childTnLst>
                                    <p:set>
                                      <p:cBhvr>
                                        <p:cTn id="51" dur="1" fill="hold">
                                          <p:stCondLst>
                                            <p:cond delay="0"/>
                                          </p:stCondLst>
                                        </p:cTn>
                                        <p:tgtEl>
                                          <p:spTgt spid="64533"/>
                                        </p:tgtEl>
                                        <p:attrNameLst>
                                          <p:attrName>style.visibility</p:attrName>
                                        </p:attrNameLst>
                                      </p:cBhvr>
                                      <p:to>
                                        <p:strVal val="visible"/>
                                      </p:to>
                                    </p:set>
                                    <p:animEffect transition="in" filter="box(in)">
                                      <p:cBhvr>
                                        <p:cTn id="52" dur="500"/>
                                        <p:tgtEl>
                                          <p:spTgt spid="645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17" grpId="0" autoUpdateAnimBg="0"/>
      <p:bldP spid="64519" grpId="0" autoUpdateAnimBg="0"/>
      <p:bldP spid="9" grpId="0"/>
      <p:bldP spid="12" grpId="0"/>
      <p:bldP spid="64532" grpId="0"/>
      <p:bldP spid="2" grpId="0"/>
      <p:bldP spid="13"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4" name="Text Box 4"/>
          <p:cNvSpPr txBox="1">
            <a:spLocks noChangeArrowheads="1"/>
          </p:cNvSpPr>
          <p:nvPr/>
        </p:nvSpPr>
        <p:spPr bwMode="auto">
          <a:xfrm>
            <a:off x="381000" y="1333500"/>
            <a:ext cx="7359650" cy="368300"/>
          </a:xfrm>
          <a:prstGeom prst="rect">
            <a:avLst/>
          </a:prstGeom>
          <a:noFill/>
          <a:ln w="9525">
            <a:noFill/>
            <a:miter lim="800000"/>
            <a:headEnd/>
            <a:tailEnd/>
          </a:ln>
        </p:spPr>
        <p:txBody>
          <a:bodyPr>
            <a:spAutoFit/>
          </a:bodyPr>
          <a:lstStyle/>
          <a:p>
            <a:pPr eaLnBrk="0" hangingPunct="0"/>
            <a:r>
              <a:rPr lang="zh-CN" altLang="en-US" b="1">
                <a:solidFill>
                  <a:srgbClr val="FF0000"/>
                </a:solidFill>
                <a:latin typeface="黑体" pitchFamily="49" charset="-122"/>
                <a:ea typeface="华文中宋"/>
                <a:cs typeface="华文中宋"/>
              </a:rPr>
              <a:t>对于工作于两个热源之间的热机，</a:t>
            </a:r>
            <a:r>
              <a:rPr lang="zh-CN" altLang="en-US" b="1">
                <a:solidFill>
                  <a:srgbClr val="000000"/>
                </a:solidFill>
                <a:latin typeface="Times New Roman" pitchFamily="18" charset="0"/>
                <a:ea typeface="华文中宋"/>
                <a:cs typeface="华文中宋"/>
              </a:rPr>
              <a:t>由卡诺定理</a:t>
            </a:r>
            <a:r>
              <a:rPr lang="zh-CN" altLang="en-US" b="1">
                <a:solidFill>
                  <a:srgbClr val="000000"/>
                </a:solidFill>
                <a:latin typeface="黑体" pitchFamily="49" charset="-122"/>
                <a:ea typeface="华文中宋"/>
                <a:cs typeface="华文中宋"/>
              </a:rPr>
              <a:t>：</a:t>
            </a:r>
          </a:p>
        </p:txBody>
      </p:sp>
      <p:graphicFrame>
        <p:nvGraphicFramePr>
          <p:cNvPr id="66565" name="Object 65"/>
          <p:cNvGraphicFramePr>
            <a:graphicFrameLocks noChangeAspect="1"/>
          </p:cNvGraphicFramePr>
          <p:nvPr/>
        </p:nvGraphicFramePr>
        <p:xfrm>
          <a:off x="1476375" y="1708150"/>
          <a:ext cx="3843338" cy="598488"/>
        </p:xfrm>
        <a:graphic>
          <a:graphicData uri="http://schemas.openxmlformats.org/presentationml/2006/ole">
            <p:oleObj spid="_x0000_s35905" name="公式" r:id="rId3" imgW="1332921" imgH="317362" progId="Equation.3">
              <p:embed/>
            </p:oleObj>
          </a:graphicData>
        </a:graphic>
      </p:graphicFrame>
      <p:sp>
        <p:nvSpPr>
          <p:cNvPr id="66572" name="Text Box 12"/>
          <p:cNvSpPr txBox="1">
            <a:spLocks noChangeArrowheads="1"/>
          </p:cNvSpPr>
          <p:nvPr/>
        </p:nvSpPr>
        <p:spPr bwMode="auto">
          <a:xfrm>
            <a:off x="2724150" y="4398963"/>
            <a:ext cx="2424113" cy="369887"/>
          </a:xfrm>
          <a:prstGeom prst="rect">
            <a:avLst/>
          </a:prstGeom>
          <a:noFill/>
          <a:ln w="9525">
            <a:noFill/>
            <a:miter lim="800000"/>
            <a:headEnd/>
            <a:tailEnd/>
          </a:ln>
        </p:spPr>
        <p:txBody>
          <a:bodyPr>
            <a:spAutoFit/>
          </a:bodyPr>
          <a:lstStyle/>
          <a:p>
            <a:pPr eaLnBrk="0" hangingPunct="0"/>
            <a:r>
              <a:rPr lang="zh-CN" altLang="en-US" b="1">
                <a:solidFill>
                  <a:srgbClr val="0066FF"/>
                </a:solidFill>
                <a:latin typeface="华文中宋"/>
                <a:ea typeface="华文中宋"/>
                <a:cs typeface="华文中宋"/>
              </a:rPr>
              <a:t>称为克劳修斯不等式</a:t>
            </a:r>
          </a:p>
        </p:txBody>
      </p:sp>
      <p:graphicFrame>
        <p:nvGraphicFramePr>
          <p:cNvPr id="66580" name="Object 66"/>
          <p:cNvGraphicFramePr>
            <a:graphicFrameLocks noChangeAspect="1"/>
          </p:cNvGraphicFramePr>
          <p:nvPr/>
        </p:nvGraphicFramePr>
        <p:xfrm>
          <a:off x="5724525" y="1708150"/>
          <a:ext cx="1354138" cy="625475"/>
        </p:xfrm>
        <a:graphic>
          <a:graphicData uri="http://schemas.openxmlformats.org/presentationml/2006/ole">
            <p:oleObj spid="_x0000_s35906" name="公式" r:id="rId4" imgW="583693" imgH="317225" progId="Equation.3">
              <p:embed/>
            </p:oleObj>
          </a:graphicData>
        </a:graphic>
      </p:graphicFrame>
      <p:sp>
        <p:nvSpPr>
          <p:cNvPr id="12" name="Rectangle 26"/>
          <p:cNvSpPr>
            <a:spLocks noChangeArrowheads="1"/>
          </p:cNvSpPr>
          <p:nvPr/>
        </p:nvSpPr>
        <p:spPr bwMode="auto">
          <a:xfrm>
            <a:off x="723900" y="2386013"/>
            <a:ext cx="5395913" cy="396875"/>
          </a:xfrm>
          <a:prstGeom prst="rect">
            <a:avLst/>
          </a:prstGeom>
          <a:noFill/>
          <a:ln w="9525">
            <a:noFill/>
            <a:miter lim="800000"/>
            <a:headEnd/>
            <a:tailEnd/>
          </a:ln>
        </p:spPr>
        <p:txBody>
          <a:bodyPr>
            <a:spAutoFit/>
          </a:bodyPr>
          <a:lstStyle/>
          <a:p>
            <a:pPr eaLnBrk="0" hangingPunct="0">
              <a:lnSpc>
                <a:spcPct val="110000"/>
              </a:lnSpc>
            </a:pPr>
            <a:r>
              <a:rPr lang="zh-CN" altLang="en-US" b="1">
                <a:solidFill>
                  <a:srgbClr val="000000"/>
                </a:solidFill>
                <a:latin typeface="Times New Roman" pitchFamily="18" charset="0"/>
                <a:ea typeface="华文中宋"/>
                <a:cs typeface="华文中宋"/>
              </a:rPr>
              <a:t>对热量</a:t>
            </a:r>
            <a:r>
              <a:rPr lang="en-US" altLang="zh-CN" b="1" i="1">
                <a:solidFill>
                  <a:srgbClr val="000000"/>
                </a:solidFill>
                <a:latin typeface="Times New Roman" pitchFamily="18" charset="0"/>
                <a:ea typeface="华文中宋"/>
                <a:cs typeface="华文中宋"/>
              </a:rPr>
              <a:t>Q </a:t>
            </a:r>
            <a:r>
              <a:rPr lang="zh-CN" altLang="en-US" b="1">
                <a:solidFill>
                  <a:srgbClr val="000000"/>
                </a:solidFill>
                <a:latin typeface="Times New Roman" pitchFamily="18" charset="0"/>
                <a:ea typeface="华文中宋"/>
                <a:cs typeface="华文中宋"/>
              </a:rPr>
              <a:t>仍用热力学第一定律中的符号规定，则有</a:t>
            </a:r>
          </a:p>
        </p:txBody>
      </p:sp>
      <p:graphicFrame>
        <p:nvGraphicFramePr>
          <p:cNvPr id="66582" name="Object 67"/>
          <p:cNvGraphicFramePr>
            <a:graphicFrameLocks noChangeAspect="1"/>
          </p:cNvGraphicFramePr>
          <p:nvPr/>
        </p:nvGraphicFramePr>
        <p:xfrm>
          <a:off x="6084888" y="2232025"/>
          <a:ext cx="1382712" cy="627063"/>
        </p:xfrm>
        <a:graphic>
          <a:graphicData uri="http://schemas.openxmlformats.org/presentationml/2006/ole">
            <p:oleObj spid="_x0000_s35907" name="公式" r:id="rId5" imgW="596641" imgH="317362" progId="Equation.3">
              <p:embed/>
            </p:oleObj>
          </a:graphicData>
        </a:graphic>
      </p:graphicFrame>
      <p:sp>
        <p:nvSpPr>
          <p:cNvPr id="66583" name="Text Box 23"/>
          <p:cNvSpPr txBox="1">
            <a:spLocks noChangeArrowheads="1"/>
          </p:cNvSpPr>
          <p:nvPr/>
        </p:nvSpPr>
        <p:spPr bwMode="auto">
          <a:xfrm>
            <a:off x="468313" y="2706688"/>
            <a:ext cx="3887787" cy="369887"/>
          </a:xfrm>
          <a:prstGeom prst="rect">
            <a:avLst/>
          </a:prstGeom>
          <a:noFill/>
          <a:ln w="9525">
            <a:noFill/>
            <a:miter lim="800000"/>
            <a:headEnd/>
            <a:tailEnd/>
          </a:ln>
        </p:spPr>
        <p:txBody>
          <a:bodyPr>
            <a:spAutoFit/>
          </a:bodyPr>
          <a:lstStyle/>
          <a:p>
            <a:pPr eaLnBrk="0" hangingPunct="0"/>
            <a:r>
              <a:rPr lang="zh-CN" altLang="en-US" b="1">
                <a:solidFill>
                  <a:srgbClr val="FF0000"/>
                </a:solidFill>
                <a:latin typeface="黑体" pitchFamily="49" charset="-122"/>
                <a:ea typeface="华文中宋"/>
                <a:cs typeface="华文中宋"/>
              </a:rPr>
              <a:t>对于任意的热机：</a:t>
            </a:r>
          </a:p>
        </p:txBody>
      </p:sp>
      <p:grpSp>
        <p:nvGrpSpPr>
          <p:cNvPr id="2" name="Group 119"/>
          <p:cNvGrpSpPr>
            <a:grpSpLocks/>
          </p:cNvGrpSpPr>
          <p:nvPr/>
        </p:nvGrpSpPr>
        <p:grpSpPr bwMode="auto">
          <a:xfrm>
            <a:off x="5435600" y="2803525"/>
            <a:ext cx="2967038" cy="1846263"/>
            <a:chOff x="3243" y="657"/>
            <a:chExt cx="1869" cy="1551"/>
          </a:xfrm>
        </p:grpSpPr>
        <p:sp>
          <p:nvSpPr>
            <p:cNvPr id="67595" name="Line 36"/>
            <p:cNvSpPr>
              <a:spLocks noChangeShapeType="1"/>
            </p:cNvSpPr>
            <p:nvPr/>
          </p:nvSpPr>
          <p:spPr bwMode="auto">
            <a:xfrm>
              <a:off x="3433" y="1963"/>
              <a:ext cx="1531" cy="0"/>
            </a:xfrm>
            <a:prstGeom prst="line">
              <a:avLst/>
            </a:prstGeom>
            <a:noFill/>
            <a:ln w="9525">
              <a:solidFill>
                <a:srgbClr val="00B0F0"/>
              </a:solidFill>
              <a:round/>
              <a:headEnd/>
              <a:tailEnd type="triangle" w="med" len="med"/>
            </a:ln>
            <a:extLst/>
          </p:spPr>
          <p:txBody>
            <a:bodyPr/>
            <a:lstStyle/>
            <a:p>
              <a:pPr fontAlgn="auto">
                <a:spcBef>
                  <a:spcPts val="0"/>
                </a:spcBef>
                <a:spcAft>
                  <a:spcPts val="0"/>
                </a:spcAft>
                <a:defRPr/>
              </a:pPr>
              <a:endParaRPr lang="zh-CN" altLang="en-US" sz="2000">
                <a:ln>
                  <a:solidFill>
                    <a:srgbClr val="00B0F0"/>
                  </a:solidFill>
                </a:ln>
                <a:solidFill>
                  <a:prstClr val="black"/>
                </a:solidFill>
                <a:latin typeface="+mn-lt"/>
                <a:ea typeface="+mn-ea"/>
              </a:endParaRPr>
            </a:p>
          </p:txBody>
        </p:sp>
        <p:sp>
          <p:nvSpPr>
            <p:cNvPr id="35920" name="Line 37"/>
            <p:cNvSpPr>
              <a:spLocks noChangeShapeType="1"/>
            </p:cNvSpPr>
            <p:nvPr/>
          </p:nvSpPr>
          <p:spPr bwMode="auto">
            <a:xfrm flipV="1">
              <a:off x="3427" y="737"/>
              <a:ext cx="6" cy="1225"/>
            </a:xfrm>
            <a:prstGeom prst="line">
              <a:avLst/>
            </a:prstGeom>
            <a:noFill/>
            <a:ln w="9525">
              <a:solidFill>
                <a:srgbClr val="00B0F0"/>
              </a:solidFill>
              <a:round/>
              <a:headEnd/>
              <a:tailEnd type="triangle" w="med" len="med"/>
            </a:ln>
          </p:spPr>
          <p:txBody>
            <a:bodyPr/>
            <a:lstStyle/>
            <a:p>
              <a:endParaRPr lang="zh-CN" altLang="en-US"/>
            </a:p>
          </p:txBody>
        </p:sp>
        <p:sp>
          <p:nvSpPr>
            <p:cNvPr id="35921" name="Text Box 67"/>
            <p:cNvSpPr txBox="1">
              <a:spLocks noChangeArrowheads="1"/>
            </p:cNvSpPr>
            <p:nvPr/>
          </p:nvSpPr>
          <p:spPr bwMode="auto">
            <a:xfrm>
              <a:off x="3334" y="1913"/>
              <a:ext cx="177" cy="271"/>
            </a:xfrm>
            <a:prstGeom prst="rect">
              <a:avLst/>
            </a:prstGeom>
            <a:noFill/>
            <a:ln w="9525">
              <a:noFill/>
              <a:miter lim="800000"/>
              <a:headEnd/>
              <a:tailEnd/>
            </a:ln>
          </p:spPr>
          <p:txBody>
            <a:bodyPr wrap="none">
              <a:spAutoFit/>
            </a:bodyPr>
            <a:lstStyle/>
            <a:p>
              <a:r>
                <a:rPr lang="en-US" altLang="zh-CN" sz="1500" b="1" i="1">
                  <a:solidFill>
                    <a:srgbClr val="000000"/>
                  </a:solidFill>
                  <a:latin typeface="Times New Roman" pitchFamily="18" charset="0"/>
                </a:rPr>
                <a:t>0</a:t>
              </a:r>
            </a:p>
          </p:txBody>
        </p:sp>
        <p:sp>
          <p:nvSpPr>
            <p:cNvPr id="35922" name="Text Box 68"/>
            <p:cNvSpPr txBox="1">
              <a:spLocks noChangeArrowheads="1"/>
            </p:cNvSpPr>
            <p:nvPr/>
          </p:nvSpPr>
          <p:spPr bwMode="auto">
            <a:xfrm>
              <a:off x="4694" y="1937"/>
              <a:ext cx="197" cy="271"/>
            </a:xfrm>
            <a:prstGeom prst="rect">
              <a:avLst/>
            </a:prstGeom>
            <a:noFill/>
            <a:ln w="9525">
              <a:noFill/>
              <a:miter lim="800000"/>
              <a:headEnd/>
              <a:tailEnd/>
            </a:ln>
          </p:spPr>
          <p:txBody>
            <a:bodyPr wrap="none">
              <a:spAutoFit/>
            </a:bodyPr>
            <a:lstStyle/>
            <a:p>
              <a:r>
                <a:rPr lang="en-US" altLang="zh-CN" sz="1500" b="1" i="1">
                  <a:solidFill>
                    <a:srgbClr val="000000"/>
                  </a:solidFill>
                  <a:latin typeface="Times New Roman" pitchFamily="18" charset="0"/>
                </a:rPr>
                <a:t>V</a:t>
              </a:r>
            </a:p>
          </p:txBody>
        </p:sp>
        <p:sp>
          <p:nvSpPr>
            <p:cNvPr id="35923" name="Text Box 69"/>
            <p:cNvSpPr txBox="1">
              <a:spLocks noChangeArrowheads="1"/>
            </p:cNvSpPr>
            <p:nvPr/>
          </p:nvSpPr>
          <p:spPr bwMode="auto">
            <a:xfrm>
              <a:off x="3243" y="679"/>
              <a:ext cx="177" cy="271"/>
            </a:xfrm>
            <a:prstGeom prst="rect">
              <a:avLst/>
            </a:prstGeom>
            <a:noFill/>
            <a:ln w="9525">
              <a:noFill/>
              <a:miter lim="800000"/>
              <a:headEnd/>
              <a:tailEnd/>
            </a:ln>
          </p:spPr>
          <p:txBody>
            <a:bodyPr wrap="none">
              <a:spAutoFit/>
            </a:bodyPr>
            <a:lstStyle/>
            <a:p>
              <a:r>
                <a:rPr lang="en-US" altLang="zh-CN" sz="1500" b="1" i="1">
                  <a:solidFill>
                    <a:srgbClr val="000000"/>
                  </a:solidFill>
                  <a:latin typeface="Times New Roman" pitchFamily="18" charset="0"/>
                </a:rPr>
                <a:t>p</a:t>
              </a:r>
            </a:p>
          </p:txBody>
        </p:sp>
        <p:sp>
          <p:nvSpPr>
            <p:cNvPr id="35924" name="Text Box 70"/>
            <p:cNvSpPr txBox="1">
              <a:spLocks noChangeArrowheads="1"/>
            </p:cNvSpPr>
            <p:nvPr/>
          </p:nvSpPr>
          <p:spPr bwMode="auto">
            <a:xfrm>
              <a:off x="3432" y="1420"/>
              <a:ext cx="197" cy="271"/>
            </a:xfrm>
            <a:prstGeom prst="rect">
              <a:avLst/>
            </a:prstGeom>
            <a:noFill/>
            <a:ln w="9525">
              <a:noFill/>
              <a:miter lim="800000"/>
              <a:headEnd/>
              <a:tailEnd/>
            </a:ln>
          </p:spPr>
          <p:txBody>
            <a:bodyPr wrap="none">
              <a:spAutoFit/>
            </a:bodyPr>
            <a:lstStyle/>
            <a:p>
              <a:r>
                <a:rPr lang="en-US" altLang="zh-CN" sz="1500" b="1" i="1">
                  <a:solidFill>
                    <a:srgbClr val="000000"/>
                  </a:solidFill>
                  <a:latin typeface="Times New Roman" pitchFamily="18" charset="0"/>
                </a:rPr>
                <a:t>A</a:t>
              </a:r>
            </a:p>
          </p:txBody>
        </p:sp>
        <p:sp>
          <p:nvSpPr>
            <p:cNvPr id="35925" name="Text Box 71"/>
            <p:cNvSpPr txBox="1">
              <a:spLocks noChangeArrowheads="1"/>
            </p:cNvSpPr>
            <p:nvPr/>
          </p:nvSpPr>
          <p:spPr bwMode="auto">
            <a:xfrm>
              <a:off x="4915" y="783"/>
              <a:ext cx="197" cy="271"/>
            </a:xfrm>
            <a:prstGeom prst="rect">
              <a:avLst/>
            </a:prstGeom>
            <a:noFill/>
            <a:ln w="9525">
              <a:noFill/>
              <a:miter lim="800000"/>
              <a:headEnd/>
              <a:tailEnd/>
            </a:ln>
          </p:spPr>
          <p:txBody>
            <a:bodyPr wrap="none">
              <a:spAutoFit/>
            </a:bodyPr>
            <a:lstStyle/>
            <a:p>
              <a:r>
                <a:rPr lang="en-US" altLang="zh-CN" sz="1500" b="1" i="1">
                  <a:solidFill>
                    <a:srgbClr val="000000"/>
                  </a:solidFill>
                  <a:latin typeface="Times New Roman" pitchFamily="18" charset="0"/>
                </a:rPr>
                <a:t>B</a:t>
              </a:r>
            </a:p>
          </p:txBody>
        </p:sp>
        <p:sp>
          <p:nvSpPr>
            <p:cNvPr id="35926" name="Text Box 72"/>
            <p:cNvSpPr txBox="1">
              <a:spLocks noChangeArrowheads="1"/>
            </p:cNvSpPr>
            <p:nvPr/>
          </p:nvSpPr>
          <p:spPr bwMode="auto">
            <a:xfrm>
              <a:off x="3816" y="657"/>
              <a:ext cx="208" cy="271"/>
            </a:xfrm>
            <a:prstGeom prst="rect">
              <a:avLst/>
            </a:prstGeom>
            <a:noFill/>
            <a:ln w="9525">
              <a:noFill/>
              <a:miter lim="800000"/>
              <a:headEnd/>
              <a:tailEnd/>
            </a:ln>
          </p:spPr>
          <p:txBody>
            <a:bodyPr wrap="none">
              <a:spAutoFit/>
            </a:bodyPr>
            <a:lstStyle/>
            <a:p>
              <a:r>
                <a:rPr lang="en-US" altLang="zh-CN" sz="1500" b="1" i="1">
                  <a:solidFill>
                    <a:srgbClr val="000000"/>
                  </a:solidFill>
                  <a:latin typeface="Times New Roman" pitchFamily="18" charset="0"/>
                </a:rPr>
                <a:t>T</a:t>
              </a:r>
              <a:r>
                <a:rPr lang="en-US" altLang="zh-CN" sz="1500" b="1" i="1" baseline="-25000">
                  <a:solidFill>
                    <a:srgbClr val="000000"/>
                  </a:solidFill>
                  <a:latin typeface="Times New Roman" pitchFamily="18" charset="0"/>
                </a:rPr>
                <a:t>i</a:t>
              </a:r>
              <a:endParaRPr lang="en-US" altLang="zh-CN" sz="1500" b="1" i="1">
                <a:solidFill>
                  <a:srgbClr val="000000"/>
                </a:solidFill>
                <a:latin typeface="Times New Roman" pitchFamily="18" charset="0"/>
              </a:endParaRPr>
            </a:p>
          </p:txBody>
        </p:sp>
        <p:sp>
          <p:nvSpPr>
            <p:cNvPr id="35927" name="Text Box 73"/>
            <p:cNvSpPr txBox="1">
              <a:spLocks noChangeArrowheads="1"/>
            </p:cNvSpPr>
            <p:nvPr/>
          </p:nvSpPr>
          <p:spPr bwMode="auto">
            <a:xfrm>
              <a:off x="4411" y="1565"/>
              <a:ext cx="295" cy="271"/>
            </a:xfrm>
            <a:prstGeom prst="rect">
              <a:avLst/>
            </a:prstGeom>
            <a:noFill/>
            <a:ln w="9525">
              <a:noFill/>
              <a:miter lim="800000"/>
              <a:headEnd/>
              <a:tailEnd/>
            </a:ln>
          </p:spPr>
          <p:txBody>
            <a:bodyPr wrap="none">
              <a:spAutoFit/>
            </a:bodyPr>
            <a:lstStyle/>
            <a:p>
              <a:r>
                <a:rPr lang="en-US" altLang="zh-CN" sz="1500" b="1" i="1">
                  <a:solidFill>
                    <a:srgbClr val="000000"/>
                  </a:solidFill>
                  <a:latin typeface="Times New Roman" pitchFamily="18" charset="0"/>
                </a:rPr>
                <a:t>T</a:t>
              </a:r>
              <a:r>
                <a:rPr lang="en-US" altLang="zh-CN" sz="1500" b="1" i="1" baseline="-25000">
                  <a:solidFill>
                    <a:srgbClr val="000000"/>
                  </a:solidFill>
                  <a:latin typeface="Times New Roman" pitchFamily="18" charset="0"/>
                </a:rPr>
                <a:t>i</a:t>
              </a:r>
              <a:r>
                <a:rPr lang="en-US" altLang="zh-CN" sz="1500" b="1" baseline="-25000">
                  <a:solidFill>
                    <a:srgbClr val="000000"/>
                  </a:solidFill>
                  <a:latin typeface="Times New Roman" pitchFamily="18" charset="0"/>
                </a:rPr>
                <a:t>+1</a:t>
              </a:r>
              <a:endParaRPr lang="en-US" altLang="zh-CN" sz="1500" b="1">
                <a:solidFill>
                  <a:srgbClr val="000000"/>
                </a:solidFill>
                <a:latin typeface="Times New Roman" pitchFamily="18" charset="0"/>
              </a:endParaRPr>
            </a:p>
          </p:txBody>
        </p:sp>
        <p:grpSp>
          <p:nvGrpSpPr>
            <p:cNvPr id="35928" name="Group 118"/>
            <p:cNvGrpSpPr>
              <a:grpSpLocks/>
            </p:cNvGrpSpPr>
            <p:nvPr/>
          </p:nvGrpSpPr>
          <p:grpSpPr bwMode="auto">
            <a:xfrm>
              <a:off x="3589" y="799"/>
              <a:ext cx="1461" cy="946"/>
              <a:chOff x="3532" y="2359"/>
              <a:chExt cx="1461" cy="946"/>
            </a:xfrm>
          </p:grpSpPr>
          <p:sp>
            <p:nvSpPr>
              <p:cNvPr id="67605" name="Freeform 99"/>
              <p:cNvSpPr>
                <a:spLocks/>
              </p:cNvSpPr>
              <p:nvPr/>
            </p:nvSpPr>
            <p:spPr bwMode="auto">
              <a:xfrm>
                <a:off x="3986" y="2377"/>
                <a:ext cx="466" cy="860"/>
              </a:xfrm>
              <a:custGeom>
                <a:avLst/>
                <a:gdLst>
                  <a:gd name="T0" fmla="*/ 210 w 466"/>
                  <a:gd name="T1" fmla="*/ 236 h 859"/>
                  <a:gd name="T2" fmla="*/ 13 w 466"/>
                  <a:gd name="T3" fmla="*/ 40 h 859"/>
                  <a:gd name="T4" fmla="*/ 134 w 466"/>
                  <a:gd name="T5" fmla="*/ 478 h 859"/>
                  <a:gd name="T6" fmla="*/ 419 w 466"/>
                  <a:gd name="T7" fmla="*/ 832 h 859"/>
                  <a:gd name="T8" fmla="*/ 419 w 466"/>
                  <a:gd name="T9" fmla="*/ 638 h 859"/>
                  <a:gd name="T10" fmla="*/ 0 60000 65536"/>
                  <a:gd name="T11" fmla="*/ 0 60000 65536"/>
                  <a:gd name="T12" fmla="*/ 0 60000 65536"/>
                  <a:gd name="T13" fmla="*/ 0 60000 65536"/>
                  <a:gd name="T14" fmla="*/ 0 60000 65536"/>
                  <a:gd name="T15" fmla="*/ 0 w 466"/>
                  <a:gd name="T16" fmla="*/ 0 h 859"/>
                  <a:gd name="T17" fmla="*/ 466 w 466"/>
                  <a:gd name="T18" fmla="*/ 859 h 859"/>
                </a:gdLst>
                <a:ahLst/>
                <a:cxnLst>
                  <a:cxn ang="T10">
                    <a:pos x="T0" y="T1"/>
                  </a:cxn>
                  <a:cxn ang="T11">
                    <a:pos x="T2" y="T3"/>
                  </a:cxn>
                  <a:cxn ang="T12">
                    <a:pos x="T4" y="T5"/>
                  </a:cxn>
                  <a:cxn ang="T13">
                    <a:pos x="T6" y="T7"/>
                  </a:cxn>
                  <a:cxn ang="T14">
                    <a:pos x="T8" y="T9"/>
                  </a:cxn>
                </a:cxnLst>
                <a:rect l="T15" t="T16" r="T17" b="T18"/>
                <a:pathLst>
                  <a:path w="466" h="859">
                    <a:moveTo>
                      <a:pt x="210" y="236"/>
                    </a:moveTo>
                    <a:cubicBezTo>
                      <a:pt x="120" y="122"/>
                      <a:pt x="26" y="0"/>
                      <a:pt x="13" y="40"/>
                    </a:cubicBezTo>
                    <a:cubicBezTo>
                      <a:pt x="0" y="80"/>
                      <a:pt x="66" y="346"/>
                      <a:pt x="134" y="478"/>
                    </a:cubicBezTo>
                    <a:cubicBezTo>
                      <a:pt x="202" y="610"/>
                      <a:pt x="372" y="805"/>
                      <a:pt x="419" y="832"/>
                    </a:cubicBezTo>
                    <a:cubicBezTo>
                      <a:pt x="466" y="859"/>
                      <a:pt x="419" y="678"/>
                      <a:pt x="419" y="638"/>
                    </a:cubicBezTo>
                  </a:path>
                </a:pathLst>
              </a:custGeom>
              <a:pattFill prst="lgConfetti">
                <a:fgClr>
                  <a:schemeClr val="accent1">
                    <a:lumMod val="40000"/>
                    <a:lumOff val="60000"/>
                  </a:schemeClr>
                </a:fgClr>
                <a:bgClr>
                  <a:schemeClr val="bg1"/>
                </a:bgClr>
              </a:pattFill>
              <a:ln w="19050">
                <a:solidFill>
                  <a:srgbClr val="FF00FF"/>
                </a:solidFill>
                <a:round/>
                <a:headEnd/>
                <a:tailEnd/>
              </a:ln>
            </p:spPr>
            <p:txBody>
              <a:bodyPr/>
              <a:lstStyle/>
              <a:p>
                <a:pPr fontAlgn="auto">
                  <a:spcBef>
                    <a:spcPts val="0"/>
                  </a:spcBef>
                  <a:spcAft>
                    <a:spcPts val="0"/>
                  </a:spcAft>
                  <a:defRPr/>
                </a:pPr>
                <a:endParaRPr lang="zh-CN" altLang="en-US" sz="2000">
                  <a:solidFill>
                    <a:prstClr val="black"/>
                  </a:solidFill>
                  <a:latin typeface="+mn-lt"/>
                  <a:ea typeface="+mn-ea"/>
                </a:endParaRPr>
              </a:p>
            </p:txBody>
          </p:sp>
          <p:sp>
            <p:nvSpPr>
              <p:cNvPr id="35930" name="Freeform 106"/>
              <p:cNvSpPr>
                <a:spLocks/>
              </p:cNvSpPr>
              <p:nvPr/>
            </p:nvSpPr>
            <p:spPr bwMode="auto">
              <a:xfrm>
                <a:off x="3532" y="2443"/>
                <a:ext cx="1461" cy="780"/>
              </a:xfrm>
              <a:custGeom>
                <a:avLst/>
                <a:gdLst>
                  <a:gd name="T0" fmla="*/ 19 w 1461"/>
                  <a:gd name="T1" fmla="*/ 525 h 780"/>
                  <a:gd name="T2" fmla="*/ 530 w 1461"/>
                  <a:gd name="T3" fmla="*/ 71 h 780"/>
                  <a:gd name="T4" fmla="*/ 1352 w 1461"/>
                  <a:gd name="T5" fmla="*/ 100 h 780"/>
                  <a:gd name="T6" fmla="*/ 1182 w 1461"/>
                  <a:gd name="T7" fmla="*/ 553 h 780"/>
                  <a:gd name="T8" fmla="*/ 416 w 1461"/>
                  <a:gd name="T9" fmla="*/ 780 h 780"/>
                  <a:gd name="T10" fmla="*/ 19 w 1461"/>
                  <a:gd name="T11" fmla="*/ 525 h 780"/>
                  <a:gd name="T12" fmla="*/ 0 60000 65536"/>
                  <a:gd name="T13" fmla="*/ 0 60000 65536"/>
                  <a:gd name="T14" fmla="*/ 0 60000 65536"/>
                  <a:gd name="T15" fmla="*/ 0 60000 65536"/>
                  <a:gd name="T16" fmla="*/ 0 60000 65536"/>
                  <a:gd name="T17" fmla="*/ 0 60000 65536"/>
                  <a:gd name="T18" fmla="*/ 0 w 1461"/>
                  <a:gd name="T19" fmla="*/ 0 h 780"/>
                  <a:gd name="T20" fmla="*/ 1461 w 1461"/>
                  <a:gd name="T21" fmla="*/ 780 h 780"/>
                </a:gdLst>
                <a:ahLst/>
                <a:cxnLst>
                  <a:cxn ang="T12">
                    <a:pos x="T0" y="T1"/>
                  </a:cxn>
                  <a:cxn ang="T13">
                    <a:pos x="T2" y="T3"/>
                  </a:cxn>
                  <a:cxn ang="T14">
                    <a:pos x="T4" y="T5"/>
                  </a:cxn>
                  <a:cxn ang="T15">
                    <a:pos x="T6" y="T7"/>
                  </a:cxn>
                  <a:cxn ang="T16">
                    <a:pos x="T8" y="T9"/>
                  </a:cxn>
                  <a:cxn ang="T17">
                    <a:pos x="T10" y="T11"/>
                  </a:cxn>
                </a:cxnLst>
                <a:rect l="T18" t="T19" r="T20" b="T21"/>
                <a:pathLst>
                  <a:path w="1461" h="780">
                    <a:moveTo>
                      <a:pt x="19" y="525"/>
                    </a:moveTo>
                    <a:cubicBezTo>
                      <a:pt x="38" y="407"/>
                      <a:pt x="308" y="142"/>
                      <a:pt x="530" y="71"/>
                    </a:cubicBezTo>
                    <a:cubicBezTo>
                      <a:pt x="752" y="0"/>
                      <a:pt x="1243" y="20"/>
                      <a:pt x="1352" y="100"/>
                    </a:cubicBezTo>
                    <a:cubicBezTo>
                      <a:pt x="1461" y="180"/>
                      <a:pt x="1338" y="440"/>
                      <a:pt x="1182" y="553"/>
                    </a:cubicBezTo>
                    <a:cubicBezTo>
                      <a:pt x="1026" y="666"/>
                      <a:pt x="610" y="780"/>
                      <a:pt x="416" y="780"/>
                    </a:cubicBezTo>
                    <a:cubicBezTo>
                      <a:pt x="222" y="780"/>
                      <a:pt x="0" y="643"/>
                      <a:pt x="19" y="525"/>
                    </a:cubicBezTo>
                    <a:close/>
                  </a:path>
                </a:pathLst>
              </a:custGeom>
              <a:noFill/>
              <a:ln w="19050">
                <a:solidFill>
                  <a:srgbClr val="A50021"/>
                </a:solidFill>
                <a:round/>
                <a:headEnd/>
                <a:tailEnd/>
              </a:ln>
            </p:spPr>
            <p:txBody>
              <a:bodyPr/>
              <a:lstStyle/>
              <a:p>
                <a:endParaRPr lang="zh-CN" altLang="en-US"/>
              </a:p>
            </p:txBody>
          </p:sp>
          <p:sp>
            <p:nvSpPr>
              <p:cNvPr id="35931" name="Freeform 107"/>
              <p:cNvSpPr>
                <a:spLocks/>
              </p:cNvSpPr>
              <p:nvPr/>
            </p:nvSpPr>
            <p:spPr bwMode="auto">
              <a:xfrm>
                <a:off x="4159" y="2374"/>
                <a:ext cx="427" cy="814"/>
              </a:xfrm>
              <a:custGeom>
                <a:avLst/>
                <a:gdLst>
                  <a:gd name="T0" fmla="*/ 190 w 427"/>
                  <a:gd name="T1" fmla="*/ 197 h 814"/>
                  <a:gd name="T2" fmla="*/ 16 w 427"/>
                  <a:gd name="T3" fmla="*/ 33 h 814"/>
                  <a:gd name="T4" fmla="*/ 91 w 427"/>
                  <a:gd name="T5" fmla="*/ 394 h 814"/>
                  <a:gd name="T6" fmla="*/ 378 w 427"/>
                  <a:gd name="T7" fmla="*/ 781 h 814"/>
                  <a:gd name="T8" fmla="*/ 386 w 427"/>
                  <a:gd name="T9" fmla="*/ 590 h 814"/>
                  <a:gd name="T10" fmla="*/ 0 60000 65536"/>
                  <a:gd name="T11" fmla="*/ 0 60000 65536"/>
                  <a:gd name="T12" fmla="*/ 0 60000 65536"/>
                  <a:gd name="T13" fmla="*/ 0 60000 65536"/>
                  <a:gd name="T14" fmla="*/ 0 60000 65536"/>
                  <a:gd name="T15" fmla="*/ 0 w 427"/>
                  <a:gd name="T16" fmla="*/ 0 h 814"/>
                  <a:gd name="T17" fmla="*/ 427 w 427"/>
                  <a:gd name="T18" fmla="*/ 814 h 814"/>
                </a:gdLst>
                <a:ahLst/>
                <a:cxnLst>
                  <a:cxn ang="T10">
                    <a:pos x="T0" y="T1"/>
                  </a:cxn>
                  <a:cxn ang="T11">
                    <a:pos x="T2" y="T3"/>
                  </a:cxn>
                  <a:cxn ang="T12">
                    <a:pos x="T4" y="T5"/>
                  </a:cxn>
                  <a:cxn ang="T13">
                    <a:pos x="T6" y="T7"/>
                  </a:cxn>
                  <a:cxn ang="T14">
                    <a:pos x="T8" y="T9"/>
                  </a:cxn>
                </a:cxnLst>
                <a:rect l="T15" t="T16" r="T17" b="T18"/>
                <a:pathLst>
                  <a:path w="427" h="814">
                    <a:moveTo>
                      <a:pt x="190" y="197"/>
                    </a:moveTo>
                    <a:cubicBezTo>
                      <a:pt x="161" y="170"/>
                      <a:pt x="32" y="0"/>
                      <a:pt x="16" y="33"/>
                    </a:cubicBezTo>
                    <a:cubicBezTo>
                      <a:pt x="0" y="66"/>
                      <a:pt x="31" y="269"/>
                      <a:pt x="91" y="394"/>
                    </a:cubicBezTo>
                    <a:cubicBezTo>
                      <a:pt x="151" y="519"/>
                      <a:pt x="329" y="748"/>
                      <a:pt x="378" y="781"/>
                    </a:cubicBezTo>
                    <a:cubicBezTo>
                      <a:pt x="427" y="814"/>
                      <a:pt x="384" y="630"/>
                      <a:pt x="386" y="590"/>
                    </a:cubicBezTo>
                  </a:path>
                </a:pathLst>
              </a:custGeom>
              <a:noFill/>
              <a:ln w="9525">
                <a:solidFill>
                  <a:schemeClr val="tx1"/>
                </a:solidFill>
                <a:round/>
                <a:headEnd/>
                <a:tailEnd/>
              </a:ln>
            </p:spPr>
            <p:txBody>
              <a:bodyPr/>
              <a:lstStyle/>
              <a:p>
                <a:endParaRPr lang="zh-CN" altLang="en-US"/>
              </a:p>
            </p:txBody>
          </p:sp>
          <p:sp>
            <p:nvSpPr>
              <p:cNvPr id="35932" name="Freeform 108"/>
              <p:cNvSpPr>
                <a:spLocks/>
              </p:cNvSpPr>
              <p:nvPr/>
            </p:nvSpPr>
            <p:spPr bwMode="auto">
              <a:xfrm>
                <a:off x="4309" y="2359"/>
                <a:ext cx="385" cy="765"/>
              </a:xfrm>
              <a:custGeom>
                <a:avLst/>
                <a:gdLst>
                  <a:gd name="T0" fmla="*/ 172 w 385"/>
                  <a:gd name="T1" fmla="*/ 184 h 765"/>
                  <a:gd name="T2" fmla="*/ 14 w 385"/>
                  <a:gd name="T3" fmla="*/ 31 h 765"/>
                  <a:gd name="T4" fmla="*/ 87 w 385"/>
                  <a:gd name="T5" fmla="*/ 368 h 765"/>
                  <a:gd name="T6" fmla="*/ 343 w 385"/>
                  <a:gd name="T7" fmla="*/ 734 h 765"/>
                  <a:gd name="T8" fmla="*/ 343 w 385"/>
                  <a:gd name="T9" fmla="*/ 551 h 765"/>
                  <a:gd name="T10" fmla="*/ 0 60000 65536"/>
                  <a:gd name="T11" fmla="*/ 0 60000 65536"/>
                  <a:gd name="T12" fmla="*/ 0 60000 65536"/>
                  <a:gd name="T13" fmla="*/ 0 60000 65536"/>
                  <a:gd name="T14" fmla="*/ 0 60000 65536"/>
                  <a:gd name="T15" fmla="*/ 0 w 385"/>
                  <a:gd name="T16" fmla="*/ 0 h 765"/>
                  <a:gd name="T17" fmla="*/ 385 w 385"/>
                  <a:gd name="T18" fmla="*/ 765 h 765"/>
                </a:gdLst>
                <a:ahLst/>
                <a:cxnLst>
                  <a:cxn ang="T10">
                    <a:pos x="T0" y="T1"/>
                  </a:cxn>
                  <a:cxn ang="T11">
                    <a:pos x="T2" y="T3"/>
                  </a:cxn>
                  <a:cxn ang="T12">
                    <a:pos x="T4" y="T5"/>
                  </a:cxn>
                  <a:cxn ang="T13">
                    <a:pos x="T6" y="T7"/>
                  </a:cxn>
                  <a:cxn ang="T14">
                    <a:pos x="T8" y="T9"/>
                  </a:cxn>
                </a:cxnLst>
                <a:rect l="T15" t="T16" r="T17" b="T18"/>
                <a:pathLst>
                  <a:path w="385" h="765">
                    <a:moveTo>
                      <a:pt x="172" y="184"/>
                    </a:moveTo>
                    <a:cubicBezTo>
                      <a:pt x="146" y="159"/>
                      <a:pt x="28" y="0"/>
                      <a:pt x="14" y="31"/>
                    </a:cubicBezTo>
                    <a:cubicBezTo>
                      <a:pt x="0" y="62"/>
                      <a:pt x="32" y="251"/>
                      <a:pt x="87" y="368"/>
                    </a:cubicBezTo>
                    <a:cubicBezTo>
                      <a:pt x="142" y="485"/>
                      <a:pt x="300" y="704"/>
                      <a:pt x="343" y="734"/>
                    </a:cubicBezTo>
                    <a:cubicBezTo>
                      <a:pt x="385" y="765"/>
                      <a:pt x="364" y="658"/>
                      <a:pt x="343" y="551"/>
                    </a:cubicBezTo>
                  </a:path>
                </a:pathLst>
              </a:custGeom>
              <a:noFill/>
              <a:ln w="9525">
                <a:solidFill>
                  <a:schemeClr val="tx1"/>
                </a:solidFill>
                <a:round/>
                <a:headEnd/>
                <a:tailEnd/>
              </a:ln>
            </p:spPr>
            <p:txBody>
              <a:bodyPr/>
              <a:lstStyle/>
              <a:p>
                <a:endParaRPr lang="zh-CN" altLang="en-US"/>
              </a:p>
            </p:txBody>
          </p:sp>
          <p:sp>
            <p:nvSpPr>
              <p:cNvPr id="35933" name="Freeform 109"/>
              <p:cNvSpPr>
                <a:spLocks/>
              </p:cNvSpPr>
              <p:nvPr/>
            </p:nvSpPr>
            <p:spPr bwMode="auto">
              <a:xfrm>
                <a:off x="4452" y="2383"/>
                <a:ext cx="339" cy="675"/>
              </a:xfrm>
              <a:custGeom>
                <a:avLst/>
                <a:gdLst>
                  <a:gd name="T0" fmla="*/ 158 w 339"/>
                  <a:gd name="T1" fmla="*/ 153 h 675"/>
                  <a:gd name="T2" fmla="*/ 13 w 339"/>
                  <a:gd name="T3" fmla="*/ 29 h 675"/>
                  <a:gd name="T4" fmla="*/ 79 w 339"/>
                  <a:gd name="T5" fmla="*/ 330 h 675"/>
                  <a:gd name="T6" fmla="*/ 299 w 339"/>
                  <a:gd name="T7" fmla="*/ 645 h 675"/>
                  <a:gd name="T8" fmla="*/ 317 w 339"/>
                  <a:gd name="T9" fmla="*/ 507 h 675"/>
                  <a:gd name="T10" fmla="*/ 0 60000 65536"/>
                  <a:gd name="T11" fmla="*/ 0 60000 65536"/>
                  <a:gd name="T12" fmla="*/ 0 60000 65536"/>
                  <a:gd name="T13" fmla="*/ 0 60000 65536"/>
                  <a:gd name="T14" fmla="*/ 0 60000 65536"/>
                  <a:gd name="T15" fmla="*/ 0 w 339"/>
                  <a:gd name="T16" fmla="*/ 0 h 675"/>
                  <a:gd name="T17" fmla="*/ 339 w 339"/>
                  <a:gd name="T18" fmla="*/ 675 h 675"/>
                </a:gdLst>
                <a:ahLst/>
                <a:cxnLst>
                  <a:cxn ang="T10">
                    <a:pos x="T0" y="T1"/>
                  </a:cxn>
                  <a:cxn ang="T11">
                    <a:pos x="T2" y="T3"/>
                  </a:cxn>
                  <a:cxn ang="T12">
                    <a:pos x="T4" y="T5"/>
                  </a:cxn>
                  <a:cxn ang="T13">
                    <a:pos x="T6" y="T7"/>
                  </a:cxn>
                  <a:cxn ang="T14">
                    <a:pos x="T8" y="T9"/>
                  </a:cxn>
                </a:cxnLst>
                <a:rect l="T15" t="T16" r="T17" b="T18"/>
                <a:pathLst>
                  <a:path w="339" h="675">
                    <a:moveTo>
                      <a:pt x="158" y="153"/>
                    </a:moveTo>
                    <a:cubicBezTo>
                      <a:pt x="134" y="132"/>
                      <a:pt x="26" y="0"/>
                      <a:pt x="13" y="29"/>
                    </a:cubicBezTo>
                    <a:cubicBezTo>
                      <a:pt x="0" y="58"/>
                      <a:pt x="31" y="227"/>
                      <a:pt x="79" y="330"/>
                    </a:cubicBezTo>
                    <a:cubicBezTo>
                      <a:pt x="127" y="433"/>
                      <a:pt x="259" y="615"/>
                      <a:pt x="299" y="645"/>
                    </a:cubicBezTo>
                    <a:cubicBezTo>
                      <a:pt x="339" y="675"/>
                      <a:pt x="313" y="536"/>
                      <a:pt x="317" y="507"/>
                    </a:cubicBezTo>
                  </a:path>
                </a:pathLst>
              </a:custGeom>
              <a:noFill/>
              <a:ln w="9525">
                <a:solidFill>
                  <a:schemeClr val="tx1"/>
                </a:solidFill>
                <a:round/>
                <a:headEnd/>
                <a:tailEnd/>
              </a:ln>
            </p:spPr>
            <p:txBody>
              <a:bodyPr/>
              <a:lstStyle/>
              <a:p>
                <a:endParaRPr lang="zh-CN" altLang="en-US"/>
              </a:p>
            </p:txBody>
          </p:sp>
          <p:sp>
            <p:nvSpPr>
              <p:cNvPr id="35934" name="Freeform 110"/>
              <p:cNvSpPr>
                <a:spLocks/>
              </p:cNvSpPr>
              <p:nvPr/>
            </p:nvSpPr>
            <p:spPr bwMode="auto">
              <a:xfrm>
                <a:off x="4587" y="2404"/>
                <a:ext cx="281" cy="579"/>
              </a:xfrm>
              <a:custGeom>
                <a:avLst/>
                <a:gdLst>
                  <a:gd name="T0" fmla="*/ 125 w 281"/>
                  <a:gd name="T1" fmla="*/ 122 h 579"/>
                  <a:gd name="T2" fmla="*/ 10 w 281"/>
                  <a:gd name="T3" fmla="*/ 25 h 579"/>
                  <a:gd name="T4" fmla="*/ 65 w 281"/>
                  <a:gd name="T5" fmla="*/ 273 h 579"/>
                  <a:gd name="T6" fmla="*/ 249 w 281"/>
                  <a:gd name="T7" fmla="*/ 562 h 579"/>
                  <a:gd name="T8" fmla="*/ 255 w 281"/>
                  <a:gd name="T9" fmla="*/ 378 h 579"/>
                  <a:gd name="T10" fmla="*/ 0 60000 65536"/>
                  <a:gd name="T11" fmla="*/ 0 60000 65536"/>
                  <a:gd name="T12" fmla="*/ 0 60000 65536"/>
                  <a:gd name="T13" fmla="*/ 0 60000 65536"/>
                  <a:gd name="T14" fmla="*/ 0 60000 65536"/>
                  <a:gd name="T15" fmla="*/ 0 w 281"/>
                  <a:gd name="T16" fmla="*/ 0 h 579"/>
                  <a:gd name="T17" fmla="*/ 281 w 281"/>
                  <a:gd name="T18" fmla="*/ 579 h 579"/>
                </a:gdLst>
                <a:ahLst/>
                <a:cxnLst>
                  <a:cxn ang="T10">
                    <a:pos x="T0" y="T1"/>
                  </a:cxn>
                  <a:cxn ang="T11">
                    <a:pos x="T2" y="T3"/>
                  </a:cxn>
                  <a:cxn ang="T12">
                    <a:pos x="T4" y="T5"/>
                  </a:cxn>
                  <a:cxn ang="T13">
                    <a:pos x="T6" y="T7"/>
                  </a:cxn>
                  <a:cxn ang="T14">
                    <a:pos x="T8" y="T9"/>
                  </a:cxn>
                </a:cxnLst>
                <a:rect l="T15" t="T16" r="T17" b="T18"/>
                <a:pathLst>
                  <a:path w="281" h="579">
                    <a:moveTo>
                      <a:pt x="125" y="122"/>
                    </a:moveTo>
                    <a:cubicBezTo>
                      <a:pt x="106" y="106"/>
                      <a:pt x="20" y="0"/>
                      <a:pt x="10" y="25"/>
                    </a:cubicBezTo>
                    <a:cubicBezTo>
                      <a:pt x="0" y="50"/>
                      <a:pt x="25" y="184"/>
                      <a:pt x="65" y="273"/>
                    </a:cubicBezTo>
                    <a:cubicBezTo>
                      <a:pt x="105" y="362"/>
                      <a:pt x="217" y="545"/>
                      <a:pt x="249" y="562"/>
                    </a:cubicBezTo>
                    <a:cubicBezTo>
                      <a:pt x="281" y="579"/>
                      <a:pt x="254" y="416"/>
                      <a:pt x="255" y="378"/>
                    </a:cubicBezTo>
                  </a:path>
                </a:pathLst>
              </a:custGeom>
              <a:noFill/>
              <a:ln w="9525">
                <a:solidFill>
                  <a:schemeClr val="tx1"/>
                </a:solidFill>
                <a:round/>
                <a:headEnd/>
                <a:tailEnd/>
              </a:ln>
            </p:spPr>
            <p:txBody>
              <a:bodyPr/>
              <a:lstStyle/>
              <a:p>
                <a:endParaRPr lang="zh-CN" altLang="en-US"/>
              </a:p>
            </p:txBody>
          </p:sp>
          <p:sp>
            <p:nvSpPr>
              <p:cNvPr id="35935" name="Freeform 111"/>
              <p:cNvSpPr>
                <a:spLocks/>
              </p:cNvSpPr>
              <p:nvPr/>
            </p:nvSpPr>
            <p:spPr bwMode="auto">
              <a:xfrm>
                <a:off x="4692" y="2414"/>
                <a:ext cx="246" cy="463"/>
              </a:xfrm>
              <a:custGeom>
                <a:avLst/>
                <a:gdLst>
                  <a:gd name="T0" fmla="*/ 127 w 246"/>
                  <a:gd name="T1" fmla="*/ 135 h 463"/>
                  <a:gd name="T2" fmla="*/ 10 w 246"/>
                  <a:gd name="T3" fmla="*/ 19 h 463"/>
                  <a:gd name="T4" fmla="*/ 70 w 246"/>
                  <a:gd name="T5" fmla="*/ 249 h 463"/>
                  <a:gd name="T6" fmla="*/ 224 w 246"/>
                  <a:gd name="T7" fmla="*/ 460 h 463"/>
                  <a:gd name="T8" fmla="*/ 201 w 246"/>
                  <a:gd name="T9" fmla="*/ 266 h 463"/>
                  <a:gd name="T10" fmla="*/ 104 w 246"/>
                  <a:gd name="T11" fmla="*/ 95 h 463"/>
                  <a:gd name="T12" fmla="*/ 0 60000 65536"/>
                  <a:gd name="T13" fmla="*/ 0 60000 65536"/>
                  <a:gd name="T14" fmla="*/ 0 60000 65536"/>
                  <a:gd name="T15" fmla="*/ 0 60000 65536"/>
                  <a:gd name="T16" fmla="*/ 0 60000 65536"/>
                  <a:gd name="T17" fmla="*/ 0 60000 65536"/>
                  <a:gd name="T18" fmla="*/ 0 w 246"/>
                  <a:gd name="T19" fmla="*/ 0 h 463"/>
                  <a:gd name="T20" fmla="*/ 246 w 246"/>
                  <a:gd name="T21" fmla="*/ 463 h 463"/>
                </a:gdLst>
                <a:ahLst/>
                <a:cxnLst>
                  <a:cxn ang="T12">
                    <a:pos x="T0" y="T1"/>
                  </a:cxn>
                  <a:cxn ang="T13">
                    <a:pos x="T2" y="T3"/>
                  </a:cxn>
                  <a:cxn ang="T14">
                    <a:pos x="T4" y="T5"/>
                  </a:cxn>
                  <a:cxn ang="T15">
                    <a:pos x="T6" y="T7"/>
                  </a:cxn>
                  <a:cxn ang="T16">
                    <a:pos x="T8" y="T9"/>
                  </a:cxn>
                  <a:cxn ang="T17">
                    <a:pos x="T10" y="T11"/>
                  </a:cxn>
                </a:cxnLst>
                <a:rect l="T18" t="T19" r="T20" b="T21"/>
                <a:pathLst>
                  <a:path w="246" h="463">
                    <a:moveTo>
                      <a:pt x="127" y="135"/>
                    </a:moveTo>
                    <a:cubicBezTo>
                      <a:pt x="109" y="116"/>
                      <a:pt x="20" y="0"/>
                      <a:pt x="10" y="19"/>
                    </a:cubicBezTo>
                    <a:cubicBezTo>
                      <a:pt x="0" y="38"/>
                      <a:pt x="34" y="176"/>
                      <a:pt x="70" y="249"/>
                    </a:cubicBezTo>
                    <a:cubicBezTo>
                      <a:pt x="106" y="322"/>
                      <a:pt x="202" y="457"/>
                      <a:pt x="224" y="460"/>
                    </a:cubicBezTo>
                    <a:cubicBezTo>
                      <a:pt x="246" y="463"/>
                      <a:pt x="221" y="327"/>
                      <a:pt x="201" y="266"/>
                    </a:cubicBezTo>
                    <a:cubicBezTo>
                      <a:pt x="181" y="205"/>
                      <a:pt x="124" y="131"/>
                      <a:pt x="104" y="95"/>
                    </a:cubicBezTo>
                  </a:path>
                </a:pathLst>
              </a:custGeom>
              <a:noFill/>
              <a:ln w="9525">
                <a:solidFill>
                  <a:schemeClr val="tx1"/>
                </a:solidFill>
                <a:round/>
                <a:headEnd/>
                <a:tailEnd/>
              </a:ln>
            </p:spPr>
            <p:txBody>
              <a:bodyPr/>
              <a:lstStyle/>
              <a:p>
                <a:endParaRPr lang="zh-CN" altLang="en-US"/>
              </a:p>
            </p:txBody>
          </p:sp>
          <p:sp>
            <p:nvSpPr>
              <p:cNvPr id="35936" name="Freeform 112"/>
              <p:cNvSpPr>
                <a:spLocks/>
              </p:cNvSpPr>
              <p:nvPr/>
            </p:nvSpPr>
            <p:spPr bwMode="auto">
              <a:xfrm>
                <a:off x="3874" y="2474"/>
                <a:ext cx="447" cy="818"/>
              </a:xfrm>
              <a:custGeom>
                <a:avLst/>
                <a:gdLst>
                  <a:gd name="T0" fmla="*/ 186 w 447"/>
                  <a:gd name="T1" fmla="*/ 203 h 818"/>
                  <a:gd name="T2" fmla="*/ 13 w 447"/>
                  <a:gd name="T3" fmla="*/ 41 h 818"/>
                  <a:gd name="T4" fmla="*/ 107 w 447"/>
                  <a:gd name="T5" fmla="*/ 452 h 818"/>
                  <a:gd name="T6" fmla="*/ 401 w 447"/>
                  <a:gd name="T7" fmla="*/ 794 h 818"/>
                  <a:gd name="T8" fmla="*/ 382 w 447"/>
                  <a:gd name="T9" fmla="*/ 596 h 818"/>
                  <a:gd name="T10" fmla="*/ 0 60000 65536"/>
                  <a:gd name="T11" fmla="*/ 0 60000 65536"/>
                  <a:gd name="T12" fmla="*/ 0 60000 65536"/>
                  <a:gd name="T13" fmla="*/ 0 60000 65536"/>
                  <a:gd name="T14" fmla="*/ 0 60000 65536"/>
                  <a:gd name="T15" fmla="*/ 0 w 447"/>
                  <a:gd name="T16" fmla="*/ 0 h 818"/>
                  <a:gd name="T17" fmla="*/ 447 w 447"/>
                  <a:gd name="T18" fmla="*/ 818 h 818"/>
                </a:gdLst>
                <a:ahLst/>
                <a:cxnLst>
                  <a:cxn ang="T10">
                    <a:pos x="T0" y="T1"/>
                  </a:cxn>
                  <a:cxn ang="T11">
                    <a:pos x="T2" y="T3"/>
                  </a:cxn>
                  <a:cxn ang="T12">
                    <a:pos x="T4" y="T5"/>
                  </a:cxn>
                  <a:cxn ang="T13">
                    <a:pos x="T6" y="T7"/>
                  </a:cxn>
                  <a:cxn ang="T14">
                    <a:pos x="T8" y="T9"/>
                  </a:cxn>
                </a:cxnLst>
                <a:rect l="T15" t="T16" r="T17" b="T18"/>
                <a:pathLst>
                  <a:path w="447" h="818">
                    <a:moveTo>
                      <a:pt x="186" y="203"/>
                    </a:moveTo>
                    <a:cubicBezTo>
                      <a:pt x="157" y="176"/>
                      <a:pt x="26" y="0"/>
                      <a:pt x="13" y="41"/>
                    </a:cubicBezTo>
                    <a:cubicBezTo>
                      <a:pt x="0" y="82"/>
                      <a:pt x="42" y="326"/>
                      <a:pt x="107" y="452"/>
                    </a:cubicBezTo>
                    <a:cubicBezTo>
                      <a:pt x="172" y="578"/>
                      <a:pt x="355" y="770"/>
                      <a:pt x="401" y="794"/>
                    </a:cubicBezTo>
                    <a:cubicBezTo>
                      <a:pt x="447" y="818"/>
                      <a:pt x="386" y="637"/>
                      <a:pt x="382" y="596"/>
                    </a:cubicBezTo>
                  </a:path>
                </a:pathLst>
              </a:custGeom>
              <a:noFill/>
              <a:ln w="9525">
                <a:solidFill>
                  <a:schemeClr val="tx1"/>
                </a:solidFill>
                <a:round/>
                <a:headEnd/>
                <a:tailEnd/>
              </a:ln>
            </p:spPr>
            <p:txBody>
              <a:bodyPr/>
              <a:lstStyle/>
              <a:p>
                <a:endParaRPr lang="zh-CN" altLang="en-US"/>
              </a:p>
            </p:txBody>
          </p:sp>
          <p:sp>
            <p:nvSpPr>
              <p:cNvPr id="35937" name="Freeform 113"/>
              <p:cNvSpPr>
                <a:spLocks/>
              </p:cNvSpPr>
              <p:nvPr/>
            </p:nvSpPr>
            <p:spPr bwMode="auto">
              <a:xfrm>
                <a:off x="3763" y="2583"/>
                <a:ext cx="390" cy="722"/>
              </a:xfrm>
              <a:custGeom>
                <a:avLst/>
                <a:gdLst>
                  <a:gd name="T0" fmla="*/ 155 w 390"/>
                  <a:gd name="T1" fmla="*/ 149 h 722"/>
                  <a:gd name="T2" fmla="*/ 10 w 390"/>
                  <a:gd name="T3" fmla="*/ 47 h 722"/>
                  <a:gd name="T4" fmla="*/ 95 w 390"/>
                  <a:gd name="T5" fmla="*/ 429 h 722"/>
                  <a:gd name="T6" fmla="*/ 346 w 390"/>
                  <a:gd name="T7" fmla="*/ 703 h 722"/>
                  <a:gd name="T8" fmla="*/ 360 w 390"/>
                  <a:gd name="T9" fmla="*/ 542 h 722"/>
                  <a:gd name="T10" fmla="*/ 0 60000 65536"/>
                  <a:gd name="T11" fmla="*/ 0 60000 65536"/>
                  <a:gd name="T12" fmla="*/ 0 60000 65536"/>
                  <a:gd name="T13" fmla="*/ 0 60000 65536"/>
                  <a:gd name="T14" fmla="*/ 0 60000 65536"/>
                  <a:gd name="T15" fmla="*/ 0 w 390"/>
                  <a:gd name="T16" fmla="*/ 0 h 722"/>
                  <a:gd name="T17" fmla="*/ 390 w 390"/>
                  <a:gd name="T18" fmla="*/ 722 h 722"/>
                </a:gdLst>
                <a:ahLst/>
                <a:cxnLst>
                  <a:cxn ang="T10">
                    <a:pos x="T0" y="T1"/>
                  </a:cxn>
                  <a:cxn ang="T11">
                    <a:pos x="T2" y="T3"/>
                  </a:cxn>
                  <a:cxn ang="T12">
                    <a:pos x="T4" y="T5"/>
                  </a:cxn>
                  <a:cxn ang="T13">
                    <a:pos x="T6" y="T7"/>
                  </a:cxn>
                  <a:cxn ang="T14">
                    <a:pos x="T8" y="T9"/>
                  </a:cxn>
                </a:cxnLst>
                <a:rect l="T15" t="T16" r="T17" b="T18"/>
                <a:pathLst>
                  <a:path w="390" h="722">
                    <a:moveTo>
                      <a:pt x="155" y="149"/>
                    </a:moveTo>
                    <a:cubicBezTo>
                      <a:pt x="130" y="132"/>
                      <a:pt x="20" y="0"/>
                      <a:pt x="10" y="47"/>
                    </a:cubicBezTo>
                    <a:cubicBezTo>
                      <a:pt x="0" y="94"/>
                      <a:pt x="39" y="320"/>
                      <a:pt x="95" y="429"/>
                    </a:cubicBezTo>
                    <a:cubicBezTo>
                      <a:pt x="151" y="538"/>
                      <a:pt x="302" y="684"/>
                      <a:pt x="346" y="703"/>
                    </a:cubicBezTo>
                    <a:cubicBezTo>
                      <a:pt x="390" y="722"/>
                      <a:pt x="357" y="576"/>
                      <a:pt x="360" y="542"/>
                    </a:cubicBezTo>
                  </a:path>
                </a:pathLst>
              </a:custGeom>
              <a:noFill/>
              <a:ln w="9525">
                <a:solidFill>
                  <a:schemeClr val="tx1"/>
                </a:solidFill>
                <a:round/>
                <a:headEnd/>
                <a:tailEnd/>
              </a:ln>
            </p:spPr>
            <p:txBody>
              <a:bodyPr/>
              <a:lstStyle/>
              <a:p>
                <a:endParaRPr lang="zh-CN" altLang="en-US"/>
              </a:p>
            </p:txBody>
          </p:sp>
          <p:sp>
            <p:nvSpPr>
              <p:cNvPr id="35938" name="Freeform 114"/>
              <p:cNvSpPr>
                <a:spLocks/>
              </p:cNvSpPr>
              <p:nvPr/>
            </p:nvSpPr>
            <p:spPr bwMode="auto">
              <a:xfrm>
                <a:off x="3637" y="2670"/>
                <a:ext cx="349" cy="635"/>
              </a:xfrm>
              <a:custGeom>
                <a:avLst/>
                <a:gdLst>
                  <a:gd name="T0" fmla="*/ 153 w 349"/>
                  <a:gd name="T1" fmla="*/ 111 h 635"/>
                  <a:gd name="T2" fmla="*/ 13 w 349"/>
                  <a:gd name="T3" fmla="*/ 41 h 635"/>
                  <a:gd name="T4" fmla="*/ 76 w 349"/>
                  <a:gd name="T5" fmla="*/ 360 h 635"/>
                  <a:gd name="T6" fmla="*/ 287 w 349"/>
                  <a:gd name="T7" fmla="*/ 611 h 635"/>
                  <a:gd name="T8" fmla="*/ 349 w 349"/>
                  <a:gd name="T9" fmla="*/ 504 h 635"/>
                  <a:gd name="T10" fmla="*/ 0 60000 65536"/>
                  <a:gd name="T11" fmla="*/ 0 60000 65536"/>
                  <a:gd name="T12" fmla="*/ 0 60000 65536"/>
                  <a:gd name="T13" fmla="*/ 0 60000 65536"/>
                  <a:gd name="T14" fmla="*/ 0 60000 65536"/>
                  <a:gd name="T15" fmla="*/ 0 w 349"/>
                  <a:gd name="T16" fmla="*/ 0 h 635"/>
                  <a:gd name="T17" fmla="*/ 349 w 349"/>
                  <a:gd name="T18" fmla="*/ 635 h 635"/>
                </a:gdLst>
                <a:ahLst/>
                <a:cxnLst>
                  <a:cxn ang="T10">
                    <a:pos x="T0" y="T1"/>
                  </a:cxn>
                  <a:cxn ang="T11">
                    <a:pos x="T2" y="T3"/>
                  </a:cxn>
                  <a:cxn ang="T12">
                    <a:pos x="T4" y="T5"/>
                  </a:cxn>
                  <a:cxn ang="T13">
                    <a:pos x="T6" y="T7"/>
                  </a:cxn>
                  <a:cxn ang="T14">
                    <a:pos x="T8" y="T9"/>
                  </a:cxn>
                </a:cxnLst>
                <a:rect l="T15" t="T16" r="T17" b="T18"/>
                <a:pathLst>
                  <a:path w="349" h="635">
                    <a:moveTo>
                      <a:pt x="153" y="111"/>
                    </a:moveTo>
                    <a:cubicBezTo>
                      <a:pt x="130" y="99"/>
                      <a:pt x="26" y="0"/>
                      <a:pt x="13" y="41"/>
                    </a:cubicBezTo>
                    <a:cubicBezTo>
                      <a:pt x="0" y="82"/>
                      <a:pt x="30" y="265"/>
                      <a:pt x="76" y="360"/>
                    </a:cubicBezTo>
                    <a:cubicBezTo>
                      <a:pt x="122" y="455"/>
                      <a:pt x="242" y="587"/>
                      <a:pt x="287" y="611"/>
                    </a:cubicBezTo>
                    <a:cubicBezTo>
                      <a:pt x="332" y="635"/>
                      <a:pt x="336" y="526"/>
                      <a:pt x="349" y="504"/>
                    </a:cubicBezTo>
                  </a:path>
                </a:pathLst>
              </a:custGeom>
              <a:noFill/>
              <a:ln w="9525">
                <a:solidFill>
                  <a:schemeClr val="tx1"/>
                </a:solidFill>
                <a:round/>
                <a:headEnd/>
                <a:tailEnd/>
              </a:ln>
            </p:spPr>
            <p:txBody>
              <a:bodyPr/>
              <a:lstStyle/>
              <a:p>
                <a:endParaRPr lang="zh-CN" altLang="en-US"/>
              </a:p>
            </p:txBody>
          </p:sp>
          <p:sp>
            <p:nvSpPr>
              <p:cNvPr id="35939" name="Freeform 115"/>
              <p:cNvSpPr>
                <a:spLocks/>
              </p:cNvSpPr>
              <p:nvPr/>
            </p:nvSpPr>
            <p:spPr bwMode="auto">
              <a:xfrm>
                <a:off x="3549" y="2803"/>
                <a:ext cx="245" cy="481"/>
              </a:xfrm>
              <a:custGeom>
                <a:avLst/>
                <a:gdLst>
                  <a:gd name="T0" fmla="*/ 119 w 245"/>
                  <a:gd name="T1" fmla="*/ 99 h 481"/>
                  <a:gd name="T2" fmla="*/ 10 w 245"/>
                  <a:gd name="T3" fmla="*/ 26 h 481"/>
                  <a:gd name="T4" fmla="*/ 61 w 245"/>
                  <a:gd name="T5" fmla="*/ 254 h 481"/>
                  <a:gd name="T6" fmla="*/ 209 w 245"/>
                  <a:gd name="T7" fmla="*/ 465 h 481"/>
                  <a:gd name="T8" fmla="*/ 245 w 245"/>
                  <a:gd name="T9" fmla="*/ 350 h 481"/>
                  <a:gd name="T10" fmla="*/ 0 60000 65536"/>
                  <a:gd name="T11" fmla="*/ 0 60000 65536"/>
                  <a:gd name="T12" fmla="*/ 0 60000 65536"/>
                  <a:gd name="T13" fmla="*/ 0 60000 65536"/>
                  <a:gd name="T14" fmla="*/ 0 60000 65536"/>
                  <a:gd name="T15" fmla="*/ 0 w 245"/>
                  <a:gd name="T16" fmla="*/ 0 h 481"/>
                  <a:gd name="T17" fmla="*/ 245 w 245"/>
                  <a:gd name="T18" fmla="*/ 481 h 481"/>
                </a:gdLst>
                <a:ahLst/>
                <a:cxnLst>
                  <a:cxn ang="T10">
                    <a:pos x="T0" y="T1"/>
                  </a:cxn>
                  <a:cxn ang="T11">
                    <a:pos x="T2" y="T3"/>
                  </a:cxn>
                  <a:cxn ang="T12">
                    <a:pos x="T4" y="T5"/>
                  </a:cxn>
                  <a:cxn ang="T13">
                    <a:pos x="T6" y="T7"/>
                  </a:cxn>
                  <a:cxn ang="T14">
                    <a:pos x="T8" y="T9"/>
                  </a:cxn>
                </a:cxnLst>
                <a:rect l="T15" t="T16" r="T17" b="T18"/>
                <a:pathLst>
                  <a:path w="245" h="481">
                    <a:moveTo>
                      <a:pt x="119" y="99"/>
                    </a:moveTo>
                    <a:cubicBezTo>
                      <a:pt x="101" y="87"/>
                      <a:pt x="20" y="0"/>
                      <a:pt x="10" y="26"/>
                    </a:cubicBezTo>
                    <a:cubicBezTo>
                      <a:pt x="0" y="52"/>
                      <a:pt x="28" y="181"/>
                      <a:pt x="61" y="254"/>
                    </a:cubicBezTo>
                    <a:cubicBezTo>
                      <a:pt x="94" y="327"/>
                      <a:pt x="178" y="449"/>
                      <a:pt x="209" y="465"/>
                    </a:cubicBezTo>
                    <a:cubicBezTo>
                      <a:pt x="240" y="481"/>
                      <a:pt x="238" y="374"/>
                      <a:pt x="245" y="350"/>
                    </a:cubicBezTo>
                  </a:path>
                </a:pathLst>
              </a:custGeom>
              <a:noFill/>
              <a:ln w="9525">
                <a:solidFill>
                  <a:schemeClr val="tx1"/>
                </a:solidFill>
                <a:round/>
                <a:headEnd/>
                <a:tailEnd/>
              </a:ln>
            </p:spPr>
            <p:txBody>
              <a:bodyPr/>
              <a:lstStyle/>
              <a:p>
                <a:endParaRPr lang="zh-CN" altLang="en-US"/>
              </a:p>
            </p:txBody>
          </p:sp>
          <p:sp>
            <p:nvSpPr>
              <p:cNvPr id="35940" name="Freeform 116"/>
              <p:cNvSpPr>
                <a:spLocks/>
              </p:cNvSpPr>
              <p:nvPr/>
            </p:nvSpPr>
            <p:spPr bwMode="auto">
              <a:xfrm>
                <a:off x="4048" y="2670"/>
                <a:ext cx="227" cy="397"/>
              </a:xfrm>
              <a:custGeom>
                <a:avLst/>
                <a:gdLst>
                  <a:gd name="T0" fmla="*/ 0 w 227"/>
                  <a:gd name="T1" fmla="*/ 0 h 397"/>
                  <a:gd name="T2" fmla="*/ 85 w 227"/>
                  <a:gd name="T3" fmla="*/ 199 h 397"/>
                  <a:gd name="T4" fmla="*/ 227 w 227"/>
                  <a:gd name="T5" fmla="*/ 397 h 397"/>
                  <a:gd name="T6" fmla="*/ 0 60000 65536"/>
                  <a:gd name="T7" fmla="*/ 0 60000 65536"/>
                  <a:gd name="T8" fmla="*/ 0 60000 65536"/>
                  <a:gd name="T9" fmla="*/ 0 w 227"/>
                  <a:gd name="T10" fmla="*/ 0 h 397"/>
                  <a:gd name="T11" fmla="*/ 227 w 227"/>
                  <a:gd name="T12" fmla="*/ 397 h 397"/>
                </a:gdLst>
                <a:ahLst/>
                <a:cxnLst>
                  <a:cxn ang="T6">
                    <a:pos x="T0" y="T1"/>
                  </a:cxn>
                  <a:cxn ang="T7">
                    <a:pos x="T2" y="T3"/>
                  </a:cxn>
                  <a:cxn ang="T8">
                    <a:pos x="T4" y="T5"/>
                  </a:cxn>
                </a:cxnLst>
                <a:rect l="T9" t="T10" r="T11" b="T12"/>
                <a:pathLst>
                  <a:path w="227" h="397">
                    <a:moveTo>
                      <a:pt x="0" y="0"/>
                    </a:moveTo>
                    <a:cubicBezTo>
                      <a:pt x="23" y="66"/>
                      <a:pt x="47" y="133"/>
                      <a:pt x="85" y="199"/>
                    </a:cubicBezTo>
                    <a:cubicBezTo>
                      <a:pt x="123" y="265"/>
                      <a:pt x="175" y="331"/>
                      <a:pt x="227" y="397"/>
                    </a:cubicBezTo>
                  </a:path>
                </a:pathLst>
              </a:custGeom>
              <a:noFill/>
              <a:ln w="19050">
                <a:solidFill>
                  <a:srgbClr val="00B0F0"/>
                </a:solidFill>
                <a:round/>
                <a:headEnd/>
                <a:tailEnd/>
              </a:ln>
            </p:spPr>
            <p:txBody>
              <a:bodyPr/>
              <a:lstStyle/>
              <a:p>
                <a:endParaRPr lang="zh-CN" altLang="en-US"/>
              </a:p>
            </p:txBody>
          </p:sp>
          <p:sp>
            <p:nvSpPr>
              <p:cNvPr id="35941" name="Freeform 117"/>
              <p:cNvSpPr>
                <a:spLocks/>
              </p:cNvSpPr>
              <p:nvPr/>
            </p:nvSpPr>
            <p:spPr bwMode="auto">
              <a:xfrm>
                <a:off x="4192" y="2589"/>
                <a:ext cx="219" cy="415"/>
              </a:xfrm>
              <a:custGeom>
                <a:avLst/>
                <a:gdLst>
                  <a:gd name="T0" fmla="*/ 0 w 219"/>
                  <a:gd name="T1" fmla="*/ 0 h 415"/>
                  <a:gd name="T2" fmla="*/ 72 w 219"/>
                  <a:gd name="T3" fmla="*/ 206 h 415"/>
                  <a:gd name="T4" fmla="*/ 219 w 219"/>
                  <a:gd name="T5" fmla="*/ 415 h 415"/>
                  <a:gd name="T6" fmla="*/ 0 60000 65536"/>
                  <a:gd name="T7" fmla="*/ 0 60000 65536"/>
                  <a:gd name="T8" fmla="*/ 0 60000 65536"/>
                  <a:gd name="T9" fmla="*/ 0 w 219"/>
                  <a:gd name="T10" fmla="*/ 0 h 415"/>
                  <a:gd name="T11" fmla="*/ 219 w 219"/>
                  <a:gd name="T12" fmla="*/ 415 h 415"/>
                </a:gdLst>
                <a:ahLst/>
                <a:cxnLst>
                  <a:cxn ang="T6">
                    <a:pos x="T0" y="T1"/>
                  </a:cxn>
                  <a:cxn ang="T7">
                    <a:pos x="T2" y="T3"/>
                  </a:cxn>
                  <a:cxn ang="T8">
                    <a:pos x="T4" y="T5"/>
                  </a:cxn>
                </a:cxnLst>
                <a:rect l="T9" t="T10" r="T11" b="T12"/>
                <a:pathLst>
                  <a:path w="219" h="415">
                    <a:moveTo>
                      <a:pt x="0" y="0"/>
                    </a:moveTo>
                    <a:cubicBezTo>
                      <a:pt x="11" y="34"/>
                      <a:pt x="35" y="137"/>
                      <a:pt x="72" y="206"/>
                    </a:cubicBezTo>
                    <a:cubicBezTo>
                      <a:pt x="109" y="275"/>
                      <a:pt x="189" y="372"/>
                      <a:pt x="219" y="415"/>
                    </a:cubicBezTo>
                  </a:path>
                </a:pathLst>
              </a:custGeom>
              <a:noFill/>
              <a:ln w="19050">
                <a:solidFill>
                  <a:srgbClr val="00B0F0"/>
                </a:solidFill>
                <a:round/>
                <a:headEnd/>
                <a:tailEnd/>
              </a:ln>
            </p:spPr>
            <p:txBody>
              <a:bodyPr/>
              <a:lstStyle/>
              <a:p>
                <a:endParaRPr lang="zh-CN" altLang="en-US"/>
              </a:p>
            </p:txBody>
          </p:sp>
        </p:grpSp>
      </p:grpSp>
      <p:graphicFrame>
        <p:nvGraphicFramePr>
          <p:cNvPr id="136312" name="Object 68"/>
          <p:cNvGraphicFramePr>
            <a:graphicFrameLocks noChangeAspect="1"/>
          </p:cNvGraphicFramePr>
          <p:nvPr/>
        </p:nvGraphicFramePr>
        <p:xfrm>
          <a:off x="3405188" y="2932113"/>
          <a:ext cx="1887537" cy="603250"/>
        </p:xfrm>
        <a:graphic>
          <a:graphicData uri="http://schemas.openxmlformats.org/presentationml/2006/ole">
            <p:oleObj spid="_x0000_s35908" name="Equation" r:id="rId6" imgW="977900" imgH="431800" progId="Equation.DSMT4">
              <p:embed/>
            </p:oleObj>
          </a:graphicData>
        </a:graphic>
      </p:graphicFrame>
      <p:sp>
        <p:nvSpPr>
          <p:cNvPr id="136313" name="Text Box 121"/>
          <p:cNvSpPr txBox="1">
            <a:spLocks noChangeArrowheads="1"/>
          </p:cNvSpPr>
          <p:nvPr/>
        </p:nvSpPr>
        <p:spPr bwMode="auto">
          <a:xfrm>
            <a:off x="692150" y="3032125"/>
            <a:ext cx="3240088" cy="374650"/>
          </a:xfrm>
          <a:prstGeom prst="rect">
            <a:avLst/>
          </a:prstGeom>
          <a:noFill/>
          <a:ln w="9525">
            <a:noFill/>
            <a:miter lim="800000"/>
            <a:headEnd/>
            <a:tailEnd/>
          </a:ln>
        </p:spPr>
        <p:txBody>
          <a:bodyPr>
            <a:spAutoFit/>
          </a:bodyPr>
          <a:lstStyle/>
          <a:p>
            <a:pPr eaLnBrk="0" hangingPunct="0">
              <a:lnSpc>
                <a:spcPct val="110000"/>
              </a:lnSpc>
            </a:pPr>
            <a:r>
              <a:rPr lang="zh-CN" altLang="en-US" b="1">
                <a:solidFill>
                  <a:srgbClr val="000000"/>
                </a:solidFill>
                <a:latin typeface="Times New Roman" pitchFamily="18" charset="0"/>
                <a:ea typeface="华文中宋"/>
                <a:cs typeface="华文中宋"/>
              </a:rPr>
              <a:t>第</a:t>
            </a:r>
            <a:r>
              <a:rPr lang="en-US" altLang="zh-CN" b="1" i="1">
                <a:solidFill>
                  <a:srgbClr val="000000"/>
                </a:solidFill>
                <a:latin typeface="Times New Roman" pitchFamily="18" charset="0"/>
                <a:ea typeface="华文中宋"/>
                <a:cs typeface="华文中宋"/>
              </a:rPr>
              <a:t>i</a:t>
            </a:r>
            <a:r>
              <a:rPr lang="zh-CN" altLang="en-US" b="1">
                <a:solidFill>
                  <a:srgbClr val="000000"/>
                </a:solidFill>
                <a:latin typeface="Times New Roman" pitchFamily="18" charset="0"/>
                <a:ea typeface="华文中宋"/>
                <a:cs typeface="华文中宋"/>
              </a:rPr>
              <a:t>个卡诺循环有</a:t>
            </a:r>
          </a:p>
        </p:txBody>
      </p:sp>
      <p:graphicFrame>
        <p:nvGraphicFramePr>
          <p:cNvPr id="136314" name="Object 69"/>
          <p:cNvGraphicFramePr>
            <a:graphicFrameLocks noChangeAspect="1"/>
          </p:cNvGraphicFramePr>
          <p:nvPr/>
        </p:nvGraphicFramePr>
        <p:xfrm>
          <a:off x="1320800" y="3676650"/>
          <a:ext cx="1198563" cy="650875"/>
        </p:xfrm>
        <a:graphic>
          <a:graphicData uri="http://schemas.openxmlformats.org/presentationml/2006/ole">
            <p:oleObj spid="_x0000_s35909" name="Equation" r:id="rId7" imgW="698197" imgH="444307" progId="Equation.DSMT4">
              <p:embed/>
            </p:oleObj>
          </a:graphicData>
        </a:graphic>
      </p:graphicFrame>
      <p:graphicFrame>
        <p:nvGraphicFramePr>
          <p:cNvPr id="136315" name="Object 70"/>
          <p:cNvGraphicFramePr>
            <a:graphicFrameLocks noChangeAspect="1"/>
          </p:cNvGraphicFramePr>
          <p:nvPr/>
        </p:nvGraphicFramePr>
        <p:xfrm>
          <a:off x="2841625" y="3679825"/>
          <a:ext cx="2413000" cy="595313"/>
        </p:xfrm>
        <a:graphic>
          <a:graphicData uri="http://schemas.openxmlformats.org/presentationml/2006/ole">
            <p:oleObj spid="_x0000_s35910" name="Equation" r:id="rId8" imgW="1485255" imgH="444307" progId="Equation.DSMT4">
              <p:embed/>
            </p:oleObj>
          </a:graphicData>
        </a:graphic>
      </p:graphicFrame>
      <p:graphicFrame>
        <p:nvGraphicFramePr>
          <p:cNvPr id="136316" name="Object 71"/>
          <p:cNvGraphicFramePr>
            <a:graphicFrameLocks noChangeAspect="1"/>
          </p:cNvGraphicFramePr>
          <p:nvPr/>
        </p:nvGraphicFramePr>
        <p:xfrm>
          <a:off x="1878013" y="4383088"/>
          <a:ext cx="893762" cy="492125"/>
        </p:xfrm>
        <a:graphic>
          <a:graphicData uri="http://schemas.openxmlformats.org/presentationml/2006/ole">
            <p:oleObj spid="_x0000_s35911" name="Equation" r:id="rId9" imgW="609336" imgH="393529" progId="Equation.DSMT4">
              <p:embed/>
            </p:oleObj>
          </a:graphicData>
        </a:graphic>
      </p:graphicFrame>
      <p:sp>
        <p:nvSpPr>
          <p:cNvPr id="40" name="Text Box 2"/>
          <p:cNvSpPr>
            <a:spLocks noChangeArrowheads="1"/>
          </p:cNvSpPr>
          <p:nvPr/>
        </p:nvSpPr>
        <p:spPr bwMode="auto">
          <a:xfrm>
            <a:off x="839788" y="874713"/>
            <a:ext cx="2652712" cy="401637"/>
          </a:xfrm>
          <a:prstGeom prst="homePlate">
            <a:avLst>
              <a:gd name="adj" fmla="val 49566"/>
            </a:avLst>
          </a:prstGeom>
          <a:solidFill>
            <a:srgbClr val="539A84"/>
          </a:solidFill>
          <a:ln w="9525">
            <a:noFill/>
            <a:miter lim="800000"/>
            <a:headEnd/>
            <a:tailEnd/>
          </a:ln>
        </p:spPr>
        <p:txBody>
          <a:bodyPr>
            <a:spAutoFit/>
          </a:bodyPr>
          <a:lstStyle/>
          <a:p>
            <a:pPr>
              <a:buFont typeface="Arial" charset="0"/>
              <a:buNone/>
            </a:pPr>
            <a:r>
              <a:rPr kumimoji="1" lang="zh-CN" altLang="en-US" sz="2000" b="1">
                <a:solidFill>
                  <a:srgbClr val="FFFFFF"/>
                </a:solidFill>
                <a:latin typeface="微软雅黑" pitchFamily="34" charset="-122"/>
                <a:ea typeface="微软雅黑" pitchFamily="34" charset="-122"/>
              </a:rPr>
              <a:t>二、克劳修斯不等式</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wipe(left)">
                                      <p:cBhvr>
                                        <p:cTn id="7" dur="500"/>
                                        <p:tgtEl>
                                          <p:spTgt spid="4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66564"/>
                                        </p:tgtEl>
                                        <p:attrNameLst>
                                          <p:attrName>style.visibility</p:attrName>
                                        </p:attrNameLst>
                                      </p:cBhvr>
                                      <p:to>
                                        <p:strVal val="visible"/>
                                      </p:to>
                                    </p:set>
                                    <p:animEffect transition="in" filter="box(in)">
                                      <p:cBhvr>
                                        <p:cTn id="12" dur="500"/>
                                        <p:tgtEl>
                                          <p:spTgt spid="6656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66565"/>
                                        </p:tgtEl>
                                        <p:attrNameLst>
                                          <p:attrName>style.visibility</p:attrName>
                                        </p:attrNameLst>
                                      </p:cBhvr>
                                      <p:to>
                                        <p:strVal val="visible"/>
                                      </p:to>
                                    </p:set>
                                    <p:animEffect transition="in" filter="box(in)">
                                      <p:cBhvr>
                                        <p:cTn id="17" dur="500"/>
                                        <p:tgtEl>
                                          <p:spTgt spid="6656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66580"/>
                                        </p:tgtEl>
                                        <p:attrNameLst>
                                          <p:attrName>style.visibility</p:attrName>
                                        </p:attrNameLst>
                                      </p:cBhvr>
                                      <p:to>
                                        <p:strVal val="visible"/>
                                      </p:to>
                                    </p:set>
                                    <p:animEffect transition="in" filter="blinds(horizontal)">
                                      <p:cBhvr>
                                        <p:cTn id="22" dur="500"/>
                                        <p:tgtEl>
                                          <p:spTgt spid="6658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wipe(left)">
                                      <p:cBhvr>
                                        <p:cTn id="27" dur="500"/>
                                        <p:tgtEl>
                                          <p:spTgt spid="1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66582"/>
                                        </p:tgtEl>
                                        <p:attrNameLst>
                                          <p:attrName>style.visibility</p:attrName>
                                        </p:attrNameLst>
                                      </p:cBhvr>
                                      <p:to>
                                        <p:strVal val="visible"/>
                                      </p:to>
                                    </p:set>
                                    <p:animEffect transition="in" filter="blinds(horizontal)">
                                      <p:cBhvr>
                                        <p:cTn id="32" dur="500"/>
                                        <p:tgtEl>
                                          <p:spTgt spid="66582"/>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16" fill="hold" grpId="0" nodeType="clickEffect">
                                  <p:stCondLst>
                                    <p:cond delay="0"/>
                                  </p:stCondLst>
                                  <p:childTnLst>
                                    <p:set>
                                      <p:cBhvr>
                                        <p:cTn id="36" dur="1" fill="hold">
                                          <p:stCondLst>
                                            <p:cond delay="0"/>
                                          </p:stCondLst>
                                        </p:cTn>
                                        <p:tgtEl>
                                          <p:spTgt spid="66583"/>
                                        </p:tgtEl>
                                        <p:attrNameLst>
                                          <p:attrName>style.visibility</p:attrName>
                                        </p:attrNameLst>
                                      </p:cBhvr>
                                      <p:to>
                                        <p:strVal val="visible"/>
                                      </p:to>
                                    </p:set>
                                    <p:animEffect transition="in" filter="box(in)">
                                      <p:cBhvr>
                                        <p:cTn id="37" dur="500"/>
                                        <p:tgtEl>
                                          <p:spTgt spid="66583"/>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3" presetClass="entr" presetSubtype="16" fill="hold" nodeType="clickEffect">
                                  <p:stCondLst>
                                    <p:cond delay="0"/>
                                  </p:stCondLst>
                                  <p:childTnLst>
                                    <p:set>
                                      <p:cBhvr>
                                        <p:cTn id="41" dur="1" fill="hold">
                                          <p:stCondLst>
                                            <p:cond delay="0"/>
                                          </p:stCondLst>
                                        </p:cTn>
                                        <p:tgtEl>
                                          <p:spTgt spid="2"/>
                                        </p:tgtEl>
                                        <p:attrNameLst>
                                          <p:attrName>style.visibility</p:attrName>
                                        </p:attrNameLst>
                                      </p:cBhvr>
                                      <p:to>
                                        <p:strVal val="visible"/>
                                      </p:to>
                                    </p:set>
                                    <p:anim calcmode="lin" valueType="num">
                                      <p:cBhvr>
                                        <p:cTn id="42" dur="500" fill="hold"/>
                                        <p:tgtEl>
                                          <p:spTgt spid="2"/>
                                        </p:tgtEl>
                                        <p:attrNameLst>
                                          <p:attrName>ppt_w</p:attrName>
                                        </p:attrNameLst>
                                      </p:cBhvr>
                                      <p:tavLst>
                                        <p:tav tm="0">
                                          <p:val>
                                            <p:fltVal val="0"/>
                                          </p:val>
                                        </p:tav>
                                        <p:tav tm="100000">
                                          <p:val>
                                            <p:strVal val="#ppt_w"/>
                                          </p:val>
                                        </p:tav>
                                      </p:tavLst>
                                    </p:anim>
                                    <p:anim calcmode="lin" valueType="num">
                                      <p:cBhvr>
                                        <p:cTn id="43" dur="500" fill="hold"/>
                                        <p:tgtEl>
                                          <p:spTgt spid="2"/>
                                        </p:tgtEl>
                                        <p:attrNameLst>
                                          <p:attrName>ppt_h</p:attrName>
                                        </p:attrNameLst>
                                      </p:cBhvr>
                                      <p:tavLst>
                                        <p:tav tm="0">
                                          <p:val>
                                            <p:fltVal val="0"/>
                                          </p:val>
                                        </p:tav>
                                        <p:tav tm="100000">
                                          <p:val>
                                            <p:strVal val="#ppt_h"/>
                                          </p:val>
                                        </p:tav>
                                      </p:tavLst>
                                    </p:anim>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136313"/>
                                        </p:tgtEl>
                                        <p:attrNameLst>
                                          <p:attrName>style.visibility</p:attrName>
                                        </p:attrNameLst>
                                      </p:cBhvr>
                                      <p:to>
                                        <p:strVal val="visible"/>
                                      </p:to>
                                    </p:set>
                                    <p:animEffect transition="in" filter="wipe(left)">
                                      <p:cBhvr>
                                        <p:cTn id="48" dur="500"/>
                                        <p:tgtEl>
                                          <p:spTgt spid="136313"/>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8" fill="hold" nodeType="clickEffect">
                                  <p:stCondLst>
                                    <p:cond delay="0"/>
                                  </p:stCondLst>
                                  <p:childTnLst>
                                    <p:set>
                                      <p:cBhvr>
                                        <p:cTn id="52" dur="1" fill="hold">
                                          <p:stCondLst>
                                            <p:cond delay="0"/>
                                          </p:stCondLst>
                                        </p:cTn>
                                        <p:tgtEl>
                                          <p:spTgt spid="136312"/>
                                        </p:tgtEl>
                                        <p:attrNameLst>
                                          <p:attrName>style.visibility</p:attrName>
                                        </p:attrNameLst>
                                      </p:cBhvr>
                                      <p:to>
                                        <p:strVal val="visible"/>
                                      </p:to>
                                    </p:set>
                                    <p:animEffect transition="in" filter="wipe(left)">
                                      <p:cBhvr>
                                        <p:cTn id="53" dur="500"/>
                                        <p:tgtEl>
                                          <p:spTgt spid="136312"/>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2" presetClass="entr" presetSubtype="8" fill="hold" nodeType="clickEffect">
                                  <p:stCondLst>
                                    <p:cond delay="0"/>
                                  </p:stCondLst>
                                  <p:childTnLst>
                                    <p:set>
                                      <p:cBhvr>
                                        <p:cTn id="57" dur="1" fill="hold">
                                          <p:stCondLst>
                                            <p:cond delay="0"/>
                                          </p:stCondLst>
                                        </p:cTn>
                                        <p:tgtEl>
                                          <p:spTgt spid="136314"/>
                                        </p:tgtEl>
                                        <p:attrNameLst>
                                          <p:attrName>style.visibility</p:attrName>
                                        </p:attrNameLst>
                                      </p:cBhvr>
                                      <p:to>
                                        <p:strVal val="visible"/>
                                      </p:to>
                                    </p:set>
                                    <p:animEffect transition="in" filter="wipe(left)">
                                      <p:cBhvr>
                                        <p:cTn id="58" dur="500"/>
                                        <p:tgtEl>
                                          <p:spTgt spid="136314"/>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22" presetClass="entr" presetSubtype="8" fill="hold" nodeType="clickEffect">
                                  <p:stCondLst>
                                    <p:cond delay="0"/>
                                  </p:stCondLst>
                                  <p:childTnLst>
                                    <p:set>
                                      <p:cBhvr>
                                        <p:cTn id="62" dur="1" fill="hold">
                                          <p:stCondLst>
                                            <p:cond delay="0"/>
                                          </p:stCondLst>
                                        </p:cTn>
                                        <p:tgtEl>
                                          <p:spTgt spid="136315"/>
                                        </p:tgtEl>
                                        <p:attrNameLst>
                                          <p:attrName>style.visibility</p:attrName>
                                        </p:attrNameLst>
                                      </p:cBhvr>
                                      <p:to>
                                        <p:strVal val="visible"/>
                                      </p:to>
                                    </p:set>
                                    <p:animEffect transition="in" filter="wipe(left)">
                                      <p:cBhvr>
                                        <p:cTn id="63" dur="500"/>
                                        <p:tgtEl>
                                          <p:spTgt spid="136315"/>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22" presetClass="entr" presetSubtype="8" fill="hold" nodeType="clickEffect">
                                  <p:stCondLst>
                                    <p:cond delay="0"/>
                                  </p:stCondLst>
                                  <p:childTnLst>
                                    <p:set>
                                      <p:cBhvr>
                                        <p:cTn id="67" dur="1" fill="hold">
                                          <p:stCondLst>
                                            <p:cond delay="0"/>
                                          </p:stCondLst>
                                        </p:cTn>
                                        <p:tgtEl>
                                          <p:spTgt spid="136316"/>
                                        </p:tgtEl>
                                        <p:attrNameLst>
                                          <p:attrName>style.visibility</p:attrName>
                                        </p:attrNameLst>
                                      </p:cBhvr>
                                      <p:to>
                                        <p:strVal val="visible"/>
                                      </p:to>
                                    </p:set>
                                    <p:animEffect transition="in" filter="wipe(left)">
                                      <p:cBhvr>
                                        <p:cTn id="68" dur="500"/>
                                        <p:tgtEl>
                                          <p:spTgt spid="136316"/>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3" presetClass="entr" presetSubtype="10" fill="hold" grpId="0" nodeType="clickEffect">
                                  <p:stCondLst>
                                    <p:cond delay="0"/>
                                  </p:stCondLst>
                                  <p:childTnLst>
                                    <p:set>
                                      <p:cBhvr>
                                        <p:cTn id="72" dur="1" fill="hold">
                                          <p:stCondLst>
                                            <p:cond delay="0"/>
                                          </p:stCondLst>
                                        </p:cTn>
                                        <p:tgtEl>
                                          <p:spTgt spid="66572"/>
                                        </p:tgtEl>
                                        <p:attrNameLst>
                                          <p:attrName>style.visibility</p:attrName>
                                        </p:attrNameLst>
                                      </p:cBhvr>
                                      <p:to>
                                        <p:strVal val="visible"/>
                                      </p:to>
                                    </p:set>
                                    <p:animEffect transition="in" filter="blinds(horizontal)">
                                      <p:cBhvr>
                                        <p:cTn id="73" dur="500"/>
                                        <p:tgtEl>
                                          <p:spTgt spid="665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64" grpId="0" autoUpdateAnimBg="0"/>
      <p:bldP spid="66572" grpId="0"/>
      <p:bldP spid="12" grpId="0"/>
      <p:bldP spid="66583" grpId="0" autoUpdateAnimBg="0"/>
      <p:bldP spid="136313" grpId="0"/>
      <p:bldP spid="40"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61"/>
          <p:cNvGrpSpPr>
            <a:grpSpLocks/>
          </p:cNvGrpSpPr>
          <p:nvPr/>
        </p:nvGrpSpPr>
        <p:grpSpPr bwMode="auto">
          <a:xfrm>
            <a:off x="1403350" y="2049463"/>
            <a:ext cx="2705100" cy="593725"/>
            <a:chOff x="884" y="577"/>
            <a:chExt cx="1704" cy="374"/>
          </a:xfrm>
        </p:grpSpPr>
        <p:sp>
          <p:nvSpPr>
            <p:cNvPr id="43218" name="Text Box 3"/>
            <p:cNvSpPr txBox="1">
              <a:spLocks noChangeArrowheads="1"/>
            </p:cNvSpPr>
            <p:nvPr/>
          </p:nvSpPr>
          <p:spPr bwMode="auto">
            <a:xfrm>
              <a:off x="884" y="622"/>
              <a:ext cx="998" cy="233"/>
            </a:xfrm>
            <a:prstGeom prst="rect">
              <a:avLst/>
            </a:prstGeom>
            <a:noFill/>
            <a:ln w="9525">
              <a:noFill/>
              <a:miter lim="800000"/>
              <a:headEnd/>
              <a:tailEnd/>
            </a:ln>
          </p:spPr>
          <p:txBody>
            <a:bodyPr>
              <a:spAutoFit/>
            </a:bodyPr>
            <a:lstStyle/>
            <a:p>
              <a:pPr eaLnBrk="0" hangingPunct="0"/>
              <a:r>
                <a:rPr lang="zh-CN" altLang="en-US" b="1">
                  <a:solidFill>
                    <a:srgbClr val="FF0000"/>
                  </a:solidFill>
                  <a:latin typeface="Times New Roman" pitchFamily="18" charset="0"/>
                  <a:ea typeface="华文中宋"/>
                  <a:cs typeface="华文中宋"/>
                </a:rPr>
                <a:t>任意可逆循环</a:t>
              </a:r>
            </a:p>
          </p:txBody>
        </p:sp>
        <p:graphicFrame>
          <p:nvGraphicFramePr>
            <p:cNvPr id="43186" name="Object 178"/>
            <p:cNvGraphicFramePr>
              <a:graphicFrameLocks noChangeAspect="1"/>
            </p:cNvGraphicFramePr>
            <p:nvPr/>
          </p:nvGraphicFramePr>
          <p:xfrm>
            <a:off x="1973" y="577"/>
            <a:ext cx="615" cy="374"/>
          </p:xfrm>
          <a:graphic>
            <a:graphicData uri="http://schemas.openxmlformats.org/presentationml/2006/ole">
              <p:oleObj spid="_x0000_s43186" name="公式" r:id="rId3" imgW="444307" imgH="291973" progId="Equation.3">
                <p:embed/>
              </p:oleObj>
            </a:graphicData>
          </a:graphic>
        </p:graphicFrame>
      </p:grpSp>
      <p:graphicFrame>
        <p:nvGraphicFramePr>
          <p:cNvPr id="6" name="Object 179"/>
          <p:cNvGraphicFramePr>
            <a:graphicFrameLocks noChangeAspect="1"/>
          </p:cNvGraphicFramePr>
          <p:nvPr/>
        </p:nvGraphicFramePr>
        <p:xfrm>
          <a:off x="323850" y="2716213"/>
          <a:ext cx="3311525" cy="598487"/>
        </p:xfrm>
        <a:graphic>
          <a:graphicData uri="http://schemas.openxmlformats.org/presentationml/2006/ole">
            <p:oleObj spid="_x0000_s43187" name="Equation" r:id="rId4" imgW="2768400" imgH="393480" progId="Equation.DSMT4">
              <p:embed/>
            </p:oleObj>
          </a:graphicData>
        </a:graphic>
      </p:graphicFrame>
      <p:grpSp>
        <p:nvGrpSpPr>
          <p:cNvPr id="7" name="Group 63"/>
          <p:cNvGrpSpPr>
            <a:grpSpLocks/>
          </p:cNvGrpSpPr>
          <p:nvPr/>
        </p:nvGrpSpPr>
        <p:grpSpPr bwMode="auto">
          <a:xfrm>
            <a:off x="1619250" y="1092200"/>
            <a:ext cx="2811463" cy="668338"/>
            <a:chOff x="1111" y="1021"/>
            <a:chExt cx="1644" cy="421"/>
          </a:xfrm>
        </p:grpSpPr>
        <p:graphicFrame>
          <p:nvGraphicFramePr>
            <p:cNvPr id="43188" name="Object 180"/>
            <p:cNvGraphicFramePr>
              <a:graphicFrameLocks noChangeAspect="1"/>
            </p:cNvGraphicFramePr>
            <p:nvPr/>
          </p:nvGraphicFramePr>
          <p:xfrm>
            <a:off x="1911" y="1021"/>
            <a:ext cx="844" cy="421"/>
          </p:xfrm>
          <a:graphic>
            <a:graphicData uri="http://schemas.openxmlformats.org/presentationml/2006/ole">
              <p:oleObj spid="_x0000_s43188" name="Equation" r:id="rId5" imgW="609336" imgH="317362" progId="Equation.DSMT4">
                <p:embed/>
              </p:oleObj>
            </a:graphicData>
          </a:graphic>
        </p:graphicFrame>
        <p:sp>
          <p:nvSpPr>
            <p:cNvPr id="43217" name="Text Box 28"/>
            <p:cNvSpPr txBox="1">
              <a:spLocks noChangeArrowheads="1"/>
            </p:cNvSpPr>
            <p:nvPr/>
          </p:nvSpPr>
          <p:spPr bwMode="auto">
            <a:xfrm>
              <a:off x="1111" y="1170"/>
              <a:ext cx="975" cy="233"/>
            </a:xfrm>
            <a:prstGeom prst="rect">
              <a:avLst/>
            </a:prstGeom>
            <a:noFill/>
            <a:ln w="9525">
              <a:noFill/>
              <a:miter lim="800000"/>
              <a:headEnd/>
              <a:tailEnd/>
            </a:ln>
          </p:spPr>
          <p:txBody>
            <a:bodyPr>
              <a:spAutoFit/>
            </a:bodyPr>
            <a:lstStyle/>
            <a:p>
              <a:pPr eaLnBrk="0" hangingPunct="0"/>
              <a:r>
                <a:rPr lang="zh-CN" altLang="en-US" b="1">
                  <a:solidFill>
                    <a:srgbClr val="FF0000"/>
                  </a:solidFill>
                  <a:latin typeface="Times New Roman" pitchFamily="18" charset="0"/>
                  <a:ea typeface="华文中宋"/>
                  <a:cs typeface="华文中宋"/>
                </a:rPr>
                <a:t>保守力做功</a:t>
              </a:r>
            </a:p>
          </p:txBody>
        </p:sp>
      </p:grpSp>
      <p:grpSp>
        <p:nvGrpSpPr>
          <p:cNvPr id="10" name="Group 64"/>
          <p:cNvGrpSpPr>
            <a:grpSpLocks/>
          </p:cNvGrpSpPr>
          <p:nvPr/>
        </p:nvGrpSpPr>
        <p:grpSpPr bwMode="auto">
          <a:xfrm>
            <a:off x="4608513" y="1239838"/>
            <a:ext cx="3203575" cy="369887"/>
            <a:chOff x="3061" y="1100"/>
            <a:chExt cx="2699" cy="233"/>
          </a:xfrm>
        </p:grpSpPr>
        <p:sp>
          <p:nvSpPr>
            <p:cNvPr id="43215" name="Text Box 18"/>
            <p:cNvSpPr txBox="1">
              <a:spLocks noChangeArrowheads="1"/>
            </p:cNvSpPr>
            <p:nvPr/>
          </p:nvSpPr>
          <p:spPr bwMode="auto">
            <a:xfrm>
              <a:off x="3787" y="1100"/>
              <a:ext cx="1973" cy="233"/>
            </a:xfrm>
            <a:prstGeom prst="rect">
              <a:avLst/>
            </a:prstGeom>
            <a:noFill/>
            <a:ln w="9525">
              <a:noFill/>
              <a:miter lim="800000"/>
              <a:headEnd/>
              <a:tailEnd/>
            </a:ln>
          </p:spPr>
          <p:txBody>
            <a:bodyPr>
              <a:spAutoFit/>
            </a:bodyPr>
            <a:lstStyle/>
            <a:p>
              <a:r>
                <a:rPr lang="zh-CN" altLang="en-US" b="1">
                  <a:latin typeface="华文中宋"/>
                  <a:ea typeface="华文中宋"/>
                  <a:cs typeface="华文中宋"/>
                </a:rPr>
                <a:t>势</a:t>
              </a:r>
              <a:r>
                <a:rPr kumimoji="1" lang="zh-CN" altLang="en-US" b="1">
                  <a:latin typeface="华文中宋"/>
                  <a:ea typeface="华文中宋"/>
                  <a:cs typeface="华文中宋"/>
                </a:rPr>
                <a:t>能</a:t>
              </a:r>
              <a:r>
                <a:rPr kumimoji="1" lang="en-US" altLang="zh-CN" b="1" i="1">
                  <a:latin typeface="Times New Roman" pitchFamily="18" charset="0"/>
                  <a:ea typeface="华文中宋"/>
                  <a:cs typeface="Times New Roman" pitchFamily="18" charset="0"/>
                </a:rPr>
                <a:t>E</a:t>
              </a:r>
              <a:r>
                <a:rPr kumimoji="1" lang="en-US" altLang="zh-CN" b="1" baseline="-25000">
                  <a:latin typeface="Times New Roman" pitchFamily="18" charset="0"/>
                  <a:ea typeface="华文中宋"/>
                  <a:cs typeface="Times New Roman" pitchFamily="18" charset="0"/>
                </a:rPr>
                <a:t>P</a:t>
              </a:r>
              <a:r>
                <a:rPr kumimoji="1" lang="zh-CN" altLang="en-US" b="1">
                  <a:latin typeface="华文中宋"/>
                  <a:ea typeface="华文中宋"/>
                  <a:cs typeface="华文中宋"/>
                </a:rPr>
                <a:t>（</a:t>
              </a:r>
              <a:r>
                <a:rPr lang="zh-CN" altLang="en-US" b="1">
                  <a:latin typeface="华文中宋"/>
                  <a:ea typeface="华文中宋"/>
                  <a:cs typeface="华文中宋"/>
                </a:rPr>
                <a:t>位置决定）</a:t>
              </a:r>
            </a:p>
          </p:txBody>
        </p:sp>
        <p:sp>
          <p:nvSpPr>
            <p:cNvPr id="43216" name="Line 29"/>
            <p:cNvSpPr>
              <a:spLocks noChangeShapeType="1"/>
            </p:cNvSpPr>
            <p:nvPr/>
          </p:nvSpPr>
          <p:spPr bwMode="auto">
            <a:xfrm>
              <a:off x="3061" y="1236"/>
              <a:ext cx="681" cy="0"/>
            </a:xfrm>
            <a:prstGeom prst="line">
              <a:avLst/>
            </a:prstGeom>
            <a:noFill/>
            <a:ln w="38100">
              <a:solidFill>
                <a:schemeClr val="tx1"/>
              </a:solidFill>
              <a:round/>
              <a:headEnd/>
              <a:tailEnd type="stealth" w="lg" len="lg"/>
            </a:ln>
          </p:spPr>
          <p:txBody>
            <a:bodyPr/>
            <a:lstStyle/>
            <a:p>
              <a:endParaRPr lang="zh-CN" altLang="en-US"/>
            </a:p>
          </p:txBody>
        </p:sp>
      </p:grpSp>
      <p:sp>
        <p:nvSpPr>
          <p:cNvPr id="13" name="Rectangle 34"/>
          <p:cNvSpPr>
            <a:spLocks noChangeArrowheads="1"/>
          </p:cNvSpPr>
          <p:nvPr/>
        </p:nvSpPr>
        <p:spPr bwMode="auto">
          <a:xfrm>
            <a:off x="261938" y="3287713"/>
            <a:ext cx="8640762" cy="368300"/>
          </a:xfrm>
          <a:prstGeom prst="rect">
            <a:avLst/>
          </a:prstGeom>
          <a:noFill/>
          <a:ln w="9525">
            <a:noFill/>
            <a:miter lim="800000"/>
            <a:headEnd/>
            <a:tailEnd/>
          </a:ln>
        </p:spPr>
        <p:txBody>
          <a:bodyPr>
            <a:spAutoFit/>
          </a:bodyPr>
          <a:lstStyle/>
          <a:p>
            <a:r>
              <a:rPr lang="zh-CN" altLang="en-US">
                <a:latin typeface="华文中宋"/>
                <a:ea typeface="华文中宋"/>
                <a:cs typeface="华文中宋"/>
              </a:rPr>
              <a:t>（</a:t>
            </a:r>
            <a:r>
              <a:rPr lang="en-US" altLang="zh-CN">
                <a:latin typeface="华文中宋"/>
                <a:ea typeface="华文中宋"/>
                <a:cs typeface="华文中宋"/>
              </a:rPr>
              <a:t>1</a:t>
            </a:r>
            <a:r>
              <a:rPr lang="zh-CN" altLang="en-US">
                <a:latin typeface="华文中宋"/>
                <a:ea typeface="华文中宋"/>
                <a:cs typeface="华文中宋"/>
              </a:rPr>
              <a:t>） 熵是系统状态的单值函数。热力学系统的任一个平衡态都有一个熵值与之对应。</a:t>
            </a:r>
          </a:p>
        </p:txBody>
      </p:sp>
      <p:grpSp>
        <p:nvGrpSpPr>
          <p:cNvPr id="14" name="Group 65"/>
          <p:cNvGrpSpPr>
            <a:grpSpLocks/>
          </p:cNvGrpSpPr>
          <p:nvPr/>
        </p:nvGrpSpPr>
        <p:grpSpPr bwMode="auto">
          <a:xfrm>
            <a:off x="3779838" y="2643188"/>
            <a:ext cx="5113337" cy="655637"/>
            <a:chOff x="1121" y="2069"/>
            <a:chExt cx="3909" cy="526"/>
          </a:xfrm>
        </p:grpSpPr>
        <p:sp>
          <p:nvSpPr>
            <p:cNvPr id="43213" name="Rectangle 32"/>
            <p:cNvSpPr>
              <a:spLocks noChangeArrowheads="1"/>
            </p:cNvSpPr>
            <p:nvPr/>
          </p:nvSpPr>
          <p:spPr bwMode="auto">
            <a:xfrm>
              <a:off x="1121" y="2174"/>
              <a:ext cx="975" cy="272"/>
            </a:xfrm>
            <a:prstGeom prst="rect">
              <a:avLst/>
            </a:prstGeom>
            <a:noFill/>
            <a:ln w="19050" cap="rnd">
              <a:solidFill>
                <a:srgbClr val="FF0000"/>
              </a:solidFill>
              <a:prstDash val="dashDot"/>
              <a:miter lim="800000"/>
              <a:headEnd/>
              <a:tailEnd/>
            </a:ln>
          </p:spPr>
          <p:txBody>
            <a:bodyPr>
              <a:spAutoFit/>
            </a:bodyPr>
            <a:lstStyle/>
            <a:p>
              <a:pPr algn="ctr"/>
              <a:r>
                <a:rPr lang="zh-CN" altLang="en-US" sz="1600" b="1">
                  <a:solidFill>
                    <a:srgbClr val="FF0000"/>
                  </a:solidFill>
                  <a:latin typeface="华文中宋"/>
                  <a:ea typeface="华文中宋"/>
                  <a:cs typeface="华文中宋"/>
                </a:rPr>
                <a:t>克劳修斯熵</a:t>
              </a:r>
            </a:p>
          </p:txBody>
        </p:sp>
        <p:graphicFrame>
          <p:nvGraphicFramePr>
            <p:cNvPr id="43189" name="Object 181"/>
            <p:cNvGraphicFramePr>
              <a:graphicFrameLocks noChangeAspect="1"/>
            </p:cNvGraphicFramePr>
            <p:nvPr/>
          </p:nvGraphicFramePr>
          <p:xfrm>
            <a:off x="2064" y="2069"/>
            <a:ext cx="1134" cy="526"/>
          </p:xfrm>
          <a:graphic>
            <a:graphicData uri="http://schemas.openxmlformats.org/presentationml/2006/ole">
              <p:oleObj spid="_x0000_s43189" name="Equation" r:id="rId6" imgW="876240" imgH="406080" progId="Equation.DSMT4">
                <p:embed/>
              </p:oleObj>
            </a:graphicData>
          </a:graphic>
        </p:graphicFrame>
        <p:sp>
          <p:nvSpPr>
            <p:cNvPr id="43214" name="Rectangle 42"/>
            <p:cNvSpPr>
              <a:spLocks noChangeArrowheads="1"/>
            </p:cNvSpPr>
            <p:nvPr/>
          </p:nvSpPr>
          <p:spPr bwMode="auto">
            <a:xfrm>
              <a:off x="3213" y="2190"/>
              <a:ext cx="1817" cy="272"/>
            </a:xfrm>
            <a:prstGeom prst="rect">
              <a:avLst/>
            </a:prstGeom>
            <a:noFill/>
            <a:ln w="19050" cap="rnd">
              <a:solidFill>
                <a:srgbClr val="FF0000"/>
              </a:solidFill>
              <a:prstDash val="dashDot"/>
              <a:miter lim="800000"/>
              <a:headEnd/>
              <a:tailEnd/>
            </a:ln>
          </p:spPr>
          <p:txBody>
            <a:bodyPr>
              <a:spAutoFit/>
            </a:bodyPr>
            <a:lstStyle/>
            <a:p>
              <a:pPr algn="ctr"/>
              <a:r>
                <a:rPr lang="zh-CN" altLang="en-US" sz="1600">
                  <a:solidFill>
                    <a:srgbClr val="FF0000"/>
                  </a:solidFill>
                  <a:latin typeface="华文中宋"/>
                  <a:ea typeface="华文中宋"/>
                  <a:cs typeface="华文中宋"/>
                </a:rPr>
                <a:t>（</a:t>
              </a:r>
              <a:r>
                <a:rPr lang="en-US" altLang="zh-CN" sz="1600">
                  <a:solidFill>
                    <a:srgbClr val="FF0000"/>
                  </a:solidFill>
                  <a:latin typeface="华文中宋"/>
                  <a:ea typeface="华文中宋"/>
                  <a:cs typeface="华文中宋"/>
                </a:rPr>
                <a:t>1865</a:t>
              </a:r>
              <a:r>
                <a:rPr lang="zh-CN" altLang="en-US" sz="1600">
                  <a:solidFill>
                    <a:srgbClr val="FF0000"/>
                  </a:solidFill>
                  <a:latin typeface="华文中宋"/>
                  <a:ea typeface="华文中宋"/>
                  <a:cs typeface="华文中宋"/>
                </a:rPr>
                <a:t>年克劳修斯提出）</a:t>
              </a:r>
            </a:p>
          </p:txBody>
        </p:sp>
      </p:grpSp>
      <p:graphicFrame>
        <p:nvGraphicFramePr>
          <p:cNvPr id="18" name="Object 182"/>
          <p:cNvGraphicFramePr>
            <a:graphicFrameLocks noChangeAspect="1"/>
          </p:cNvGraphicFramePr>
          <p:nvPr/>
        </p:nvGraphicFramePr>
        <p:xfrm>
          <a:off x="1601788" y="3678238"/>
          <a:ext cx="6642100" cy="549275"/>
        </p:xfrm>
        <a:graphic>
          <a:graphicData uri="http://schemas.openxmlformats.org/presentationml/2006/ole">
            <p:oleObj spid="_x0000_s43190" name="Equation" r:id="rId7" imgW="3593880" imgH="406080" progId="Equation.DSMT4">
              <p:embed/>
            </p:oleObj>
          </a:graphicData>
        </a:graphic>
      </p:graphicFrame>
      <p:sp>
        <p:nvSpPr>
          <p:cNvPr id="21" name="Line 55"/>
          <p:cNvSpPr>
            <a:spLocks noChangeShapeType="1"/>
          </p:cNvSpPr>
          <p:nvPr/>
        </p:nvSpPr>
        <p:spPr bwMode="auto">
          <a:xfrm flipV="1">
            <a:off x="3132138" y="4011613"/>
            <a:ext cx="0" cy="360362"/>
          </a:xfrm>
          <a:prstGeom prst="line">
            <a:avLst/>
          </a:prstGeom>
          <a:noFill/>
          <a:ln w="25400">
            <a:solidFill>
              <a:schemeClr val="tx1"/>
            </a:solidFill>
            <a:round/>
            <a:headEnd/>
            <a:tailEnd type="stealth" w="lg" len="lg"/>
          </a:ln>
        </p:spPr>
        <p:txBody>
          <a:bodyPr>
            <a:spAutoFit/>
          </a:bodyPr>
          <a:lstStyle/>
          <a:p>
            <a:endParaRPr lang="zh-CN" altLang="en-US"/>
          </a:p>
        </p:txBody>
      </p:sp>
      <p:grpSp>
        <p:nvGrpSpPr>
          <p:cNvPr id="40" name="组合 39"/>
          <p:cNvGrpSpPr>
            <a:grpSpLocks/>
          </p:cNvGrpSpPr>
          <p:nvPr/>
        </p:nvGrpSpPr>
        <p:grpSpPr bwMode="auto">
          <a:xfrm>
            <a:off x="4492625" y="4289425"/>
            <a:ext cx="1951038" cy="423863"/>
            <a:chOff x="4139654" y="4371950"/>
            <a:chExt cx="2160538" cy="556435"/>
          </a:xfrm>
        </p:grpSpPr>
        <p:graphicFrame>
          <p:nvGraphicFramePr>
            <p:cNvPr id="43191" name="Object 183"/>
            <p:cNvGraphicFramePr>
              <a:graphicFrameLocks noChangeAspect="1"/>
            </p:cNvGraphicFramePr>
            <p:nvPr/>
          </p:nvGraphicFramePr>
          <p:xfrm>
            <a:off x="5148064" y="4690220"/>
            <a:ext cx="969747" cy="238165"/>
          </p:xfrm>
          <a:graphic>
            <a:graphicData uri="http://schemas.openxmlformats.org/presentationml/2006/ole">
              <p:oleObj spid="_x0000_s43191" name="Equation" r:id="rId8" imgW="723272" imgH="177646" progId="Equation.DSMT4">
                <p:embed/>
              </p:oleObj>
            </a:graphicData>
          </a:graphic>
        </p:graphicFrame>
        <p:sp>
          <p:nvSpPr>
            <p:cNvPr id="43212" name="Rectangle 52"/>
            <p:cNvSpPr>
              <a:spLocks noChangeArrowheads="1"/>
            </p:cNvSpPr>
            <p:nvPr/>
          </p:nvSpPr>
          <p:spPr bwMode="auto">
            <a:xfrm>
              <a:off x="4139654" y="4371950"/>
              <a:ext cx="2160538" cy="545402"/>
            </a:xfrm>
            <a:prstGeom prst="rect">
              <a:avLst/>
            </a:prstGeom>
            <a:noFill/>
            <a:ln w="19050">
              <a:solidFill>
                <a:srgbClr val="0000FF"/>
              </a:solidFill>
              <a:miter lim="800000"/>
              <a:headEnd/>
              <a:tailEnd/>
            </a:ln>
          </p:spPr>
          <p:txBody>
            <a:bodyPr anchor="ctr">
              <a:spAutoFit/>
            </a:bodyPr>
            <a:lstStyle/>
            <a:p>
              <a:endParaRPr lang="zh-CN" altLang="en-US">
                <a:latin typeface="Calibri" pitchFamily="34" charset="0"/>
              </a:endParaRPr>
            </a:p>
          </p:txBody>
        </p:sp>
      </p:grpSp>
      <p:grpSp>
        <p:nvGrpSpPr>
          <p:cNvPr id="39" name="组合 38"/>
          <p:cNvGrpSpPr>
            <a:grpSpLocks/>
          </p:cNvGrpSpPr>
          <p:nvPr/>
        </p:nvGrpSpPr>
        <p:grpSpPr bwMode="auto">
          <a:xfrm>
            <a:off x="4421188" y="4011613"/>
            <a:ext cx="2016125" cy="738187"/>
            <a:chOff x="4067076" y="4010495"/>
            <a:chExt cx="2233117" cy="965709"/>
          </a:xfrm>
        </p:grpSpPr>
        <p:graphicFrame>
          <p:nvGraphicFramePr>
            <p:cNvPr id="43192" name="Object 184"/>
            <p:cNvGraphicFramePr>
              <a:graphicFrameLocks noChangeAspect="1"/>
            </p:cNvGraphicFramePr>
            <p:nvPr/>
          </p:nvGraphicFramePr>
          <p:xfrm>
            <a:off x="5148065" y="4405288"/>
            <a:ext cx="1152128" cy="314423"/>
          </p:xfrm>
          <a:graphic>
            <a:graphicData uri="http://schemas.openxmlformats.org/presentationml/2006/ole">
              <p:oleObj spid="_x0000_s43192" name="Equation" r:id="rId9" imgW="838200" imgH="228600" progId="Equation.DSMT4">
                <p:embed/>
              </p:oleObj>
            </a:graphicData>
          </a:graphic>
        </p:graphicFrame>
        <p:sp>
          <p:nvSpPr>
            <p:cNvPr id="43210" name="Rectangle 48"/>
            <p:cNvSpPr>
              <a:spLocks noChangeArrowheads="1"/>
            </p:cNvSpPr>
            <p:nvPr/>
          </p:nvSpPr>
          <p:spPr bwMode="auto">
            <a:xfrm>
              <a:off x="4067076" y="4371950"/>
              <a:ext cx="1708149" cy="604254"/>
            </a:xfrm>
            <a:prstGeom prst="rect">
              <a:avLst/>
            </a:prstGeom>
            <a:noFill/>
            <a:ln w="9525">
              <a:noFill/>
              <a:miter lim="800000"/>
              <a:headEnd/>
              <a:tailEnd/>
            </a:ln>
          </p:spPr>
          <p:txBody>
            <a:bodyPr>
              <a:spAutoFit/>
            </a:bodyPr>
            <a:lstStyle/>
            <a:p>
              <a:r>
                <a:rPr lang="zh-CN" altLang="en-US" sz="1200">
                  <a:latin typeface="华文中宋"/>
                  <a:ea typeface="华文中宋"/>
                  <a:cs typeface="华文中宋"/>
                </a:rPr>
                <a:t>内能定义：</a:t>
              </a:r>
            </a:p>
            <a:p>
              <a:r>
                <a:rPr lang="zh-CN" altLang="en-US" sz="1200">
                  <a:latin typeface="华文中宋"/>
                  <a:ea typeface="华文中宋"/>
                  <a:cs typeface="华文中宋"/>
                </a:rPr>
                <a:t>状态方程：</a:t>
              </a:r>
            </a:p>
          </p:txBody>
        </p:sp>
        <p:sp>
          <p:nvSpPr>
            <p:cNvPr id="43211" name="Line 57"/>
            <p:cNvSpPr>
              <a:spLocks noChangeShapeType="1"/>
            </p:cNvSpPr>
            <p:nvPr/>
          </p:nvSpPr>
          <p:spPr bwMode="auto">
            <a:xfrm flipV="1">
              <a:off x="5075138" y="4010495"/>
              <a:ext cx="0" cy="360000"/>
            </a:xfrm>
            <a:prstGeom prst="line">
              <a:avLst/>
            </a:prstGeom>
            <a:noFill/>
            <a:ln w="25400">
              <a:solidFill>
                <a:schemeClr val="tx1"/>
              </a:solidFill>
              <a:round/>
              <a:headEnd/>
              <a:tailEnd type="stealth" w="lg" len="lg"/>
            </a:ln>
          </p:spPr>
          <p:txBody>
            <a:bodyPr>
              <a:spAutoFit/>
            </a:bodyPr>
            <a:lstStyle/>
            <a:p>
              <a:endParaRPr lang="zh-CN" altLang="en-US"/>
            </a:p>
          </p:txBody>
        </p:sp>
      </p:grpSp>
      <p:grpSp>
        <p:nvGrpSpPr>
          <p:cNvPr id="32" name="Group 62"/>
          <p:cNvGrpSpPr>
            <a:grpSpLocks/>
          </p:cNvGrpSpPr>
          <p:nvPr/>
        </p:nvGrpSpPr>
        <p:grpSpPr bwMode="auto">
          <a:xfrm>
            <a:off x="4572000" y="2039938"/>
            <a:ext cx="3240088" cy="369887"/>
            <a:chOff x="3061" y="557"/>
            <a:chExt cx="2449" cy="233"/>
          </a:xfrm>
        </p:grpSpPr>
        <p:sp>
          <p:nvSpPr>
            <p:cNvPr id="43208" name="Text Box 30"/>
            <p:cNvSpPr txBox="1">
              <a:spLocks noChangeArrowheads="1"/>
            </p:cNvSpPr>
            <p:nvPr/>
          </p:nvSpPr>
          <p:spPr bwMode="auto">
            <a:xfrm>
              <a:off x="3787" y="557"/>
              <a:ext cx="1723" cy="233"/>
            </a:xfrm>
            <a:prstGeom prst="rect">
              <a:avLst/>
            </a:prstGeom>
            <a:noFill/>
            <a:ln w="9525">
              <a:noFill/>
              <a:miter lim="800000"/>
              <a:headEnd/>
              <a:tailEnd/>
            </a:ln>
          </p:spPr>
          <p:txBody>
            <a:bodyPr>
              <a:spAutoFit/>
            </a:bodyPr>
            <a:lstStyle/>
            <a:p>
              <a:r>
                <a:rPr lang="zh-CN" altLang="en-US" b="1">
                  <a:latin typeface="华文中宋"/>
                  <a:ea typeface="华文中宋"/>
                  <a:cs typeface="华文中宋"/>
                </a:rPr>
                <a:t>熵</a:t>
              </a:r>
              <a:r>
                <a:rPr lang="en-US" altLang="zh-CN" b="1" i="1">
                  <a:latin typeface="Times New Roman" pitchFamily="18" charset="0"/>
                  <a:ea typeface="华文中宋"/>
                  <a:cs typeface="Times New Roman" pitchFamily="18" charset="0"/>
                </a:rPr>
                <a:t>S</a:t>
              </a:r>
              <a:r>
                <a:rPr lang="zh-CN" altLang="en-US" b="1">
                  <a:latin typeface="华文中宋"/>
                  <a:ea typeface="华文中宋"/>
                  <a:cs typeface="华文中宋"/>
                </a:rPr>
                <a:t>（状态决定）</a:t>
              </a:r>
            </a:p>
          </p:txBody>
        </p:sp>
        <p:sp>
          <p:nvSpPr>
            <p:cNvPr id="43209" name="Line 60"/>
            <p:cNvSpPr>
              <a:spLocks noChangeShapeType="1"/>
            </p:cNvSpPr>
            <p:nvPr/>
          </p:nvSpPr>
          <p:spPr bwMode="auto">
            <a:xfrm>
              <a:off x="3061" y="709"/>
              <a:ext cx="681" cy="0"/>
            </a:xfrm>
            <a:prstGeom prst="line">
              <a:avLst/>
            </a:prstGeom>
            <a:noFill/>
            <a:ln w="38100">
              <a:solidFill>
                <a:schemeClr val="tx1"/>
              </a:solidFill>
              <a:round/>
              <a:headEnd/>
              <a:tailEnd type="stealth" w="lg" len="lg"/>
            </a:ln>
          </p:spPr>
          <p:txBody>
            <a:bodyPr/>
            <a:lstStyle/>
            <a:p>
              <a:endParaRPr lang="zh-CN" altLang="en-US"/>
            </a:p>
          </p:txBody>
        </p:sp>
      </p:grpSp>
      <p:sp>
        <p:nvSpPr>
          <p:cNvPr id="35" name="Text Box 2"/>
          <p:cNvSpPr>
            <a:spLocks noChangeArrowheads="1"/>
          </p:cNvSpPr>
          <p:nvPr/>
        </p:nvSpPr>
        <p:spPr bwMode="auto">
          <a:xfrm>
            <a:off x="836613" y="874713"/>
            <a:ext cx="2076450" cy="401637"/>
          </a:xfrm>
          <a:prstGeom prst="homePlate">
            <a:avLst>
              <a:gd name="adj" fmla="val 49569"/>
            </a:avLst>
          </a:prstGeom>
          <a:solidFill>
            <a:srgbClr val="539A84"/>
          </a:solidFill>
          <a:ln w="9525">
            <a:noFill/>
            <a:miter lim="800000"/>
            <a:headEnd/>
            <a:tailEnd/>
          </a:ln>
        </p:spPr>
        <p:txBody>
          <a:bodyPr>
            <a:spAutoFit/>
          </a:bodyPr>
          <a:lstStyle/>
          <a:p>
            <a:pPr>
              <a:buFont typeface="Arial" charset="0"/>
              <a:buNone/>
            </a:pPr>
            <a:r>
              <a:rPr kumimoji="1" lang="zh-CN" altLang="en-US" sz="2000" b="1">
                <a:solidFill>
                  <a:srgbClr val="FFFFFF"/>
                </a:solidFill>
                <a:latin typeface="微软雅黑" pitchFamily="34" charset="-122"/>
                <a:ea typeface="微软雅黑" pitchFamily="34" charset="-122"/>
              </a:rPr>
              <a:t>三、克劳修斯熵</a:t>
            </a:r>
          </a:p>
        </p:txBody>
      </p:sp>
      <p:grpSp>
        <p:nvGrpSpPr>
          <p:cNvPr id="38" name="组合 37"/>
          <p:cNvGrpSpPr>
            <a:grpSpLocks/>
          </p:cNvGrpSpPr>
          <p:nvPr/>
        </p:nvGrpSpPr>
        <p:grpSpPr bwMode="auto">
          <a:xfrm>
            <a:off x="1763713" y="4371975"/>
            <a:ext cx="2160587" cy="395288"/>
            <a:chOff x="1475656" y="4660800"/>
            <a:chExt cx="2592288" cy="503238"/>
          </a:xfrm>
        </p:grpSpPr>
        <p:sp>
          <p:nvSpPr>
            <p:cNvPr id="43205" name="Rectangle 51"/>
            <p:cNvSpPr>
              <a:spLocks noChangeArrowheads="1"/>
            </p:cNvSpPr>
            <p:nvPr/>
          </p:nvSpPr>
          <p:spPr bwMode="auto">
            <a:xfrm>
              <a:off x="1475656" y="4660800"/>
              <a:ext cx="2592288" cy="503238"/>
            </a:xfrm>
            <a:prstGeom prst="rect">
              <a:avLst/>
            </a:prstGeom>
            <a:noFill/>
            <a:ln w="19050">
              <a:solidFill>
                <a:srgbClr val="0000FF"/>
              </a:solidFill>
              <a:miter lim="800000"/>
              <a:headEnd/>
              <a:tailEnd/>
            </a:ln>
          </p:spPr>
          <p:txBody>
            <a:bodyPr anchor="ctr">
              <a:spAutoFit/>
            </a:bodyPr>
            <a:lstStyle/>
            <a:p>
              <a:endParaRPr lang="zh-CN" altLang="en-US">
                <a:latin typeface="Calibri" pitchFamily="34" charset="0"/>
              </a:endParaRPr>
            </a:p>
          </p:txBody>
        </p:sp>
        <p:grpSp>
          <p:nvGrpSpPr>
            <p:cNvPr id="43206" name="组合 36"/>
            <p:cNvGrpSpPr>
              <a:grpSpLocks/>
            </p:cNvGrpSpPr>
            <p:nvPr/>
          </p:nvGrpSpPr>
          <p:grpSpPr bwMode="auto">
            <a:xfrm>
              <a:off x="1562065" y="4706725"/>
              <a:ext cx="2433871" cy="386365"/>
              <a:chOff x="1706081" y="4706725"/>
              <a:chExt cx="2433871" cy="386365"/>
            </a:xfrm>
          </p:grpSpPr>
          <p:sp>
            <p:nvSpPr>
              <p:cNvPr id="43207" name="Rectangle 45"/>
              <p:cNvSpPr>
                <a:spLocks noChangeArrowheads="1"/>
              </p:cNvSpPr>
              <p:nvPr/>
            </p:nvSpPr>
            <p:spPr bwMode="auto">
              <a:xfrm>
                <a:off x="1706081" y="4706725"/>
                <a:ext cx="950507" cy="372237"/>
              </a:xfrm>
              <a:prstGeom prst="rect">
                <a:avLst/>
              </a:prstGeom>
              <a:noFill/>
              <a:ln w="9525">
                <a:noFill/>
                <a:miter lim="800000"/>
                <a:headEnd/>
                <a:tailEnd/>
              </a:ln>
            </p:spPr>
            <p:txBody>
              <a:bodyPr>
                <a:spAutoFit/>
              </a:bodyPr>
              <a:lstStyle/>
              <a:p>
                <a:r>
                  <a:rPr lang="zh-CN" altLang="en-US" sz="1300">
                    <a:latin typeface="华文中宋"/>
                    <a:ea typeface="华文中宋"/>
                    <a:cs typeface="华文中宋"/>
                  </a:rPr>
                  <a:t>热一律：</a:t>
                </a:r>
              </a:p>
            </p:txBody>
          </p:sp>
          <p:graphicFrame>
            <p:nvGraphicFramePr>
              <p:cNvPr id="43193" name="Object 185"/>
              <p:cNvGraphicFramePr>
                <a:graphicFrameLocks noChangeAspect="1"/>
              </p:cNvGraphicFramePr>
              <p:nvPr/>
            </p:nvGraphicFramePr>
            <p:xfrm>
              <a:off x="2524921" y="4790335"/>
              <a:ext cx="1615031" cy="302755"/>
            </p:xfrm>
            <a:graphic>
              <a:graphicData uri="http://schemas.openxmlformats.org/presentationml/2006/ole">
                <p:oleObj spid="_x0000_s43193" name="Equation" r:id="rId10" imgW="965200" imgH="203200" progId="Equation.DSMT4">
                  <p:embed/>
                </p:oleObj>
              </a:graphicData>
            </a:graphic>
          </p:graphicFrame>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wipe(left)">
                                      <p:cBhvr>
                                        <p:cTn id="7" dur="500"/>
                                        <p:tgtEl>
                                          <p:spTgt spid="3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linds(horizontal)">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blinds(horizontal)">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blinds(horizontal)">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2"/>
                                        </p:tgtEl>
                                        <p:attrNameLst>
                                          <p:attrName>style.visibility</p:attrName>
                                        </p:attrNameLst>
                                      </p:cBhvr>
                                      <p:to>
                                        <p:strVal val="visible"/>
                                      </p:to>
                                    </p:set>
                                    <p:animEffect transition="in" filter="blinds(horizontal)">
                                      <p:cBhvr>
                                        <p:cTn id="27" dur="500"/>
                                        <p:tgtEl>
                                          <p:spTgt spid="32"/>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box(in)">
                                      <p:cBhvr>
                                        <p:cTn id="32" dur="500"/>
                                        <p:tgtEl>
                                          <p:spTgt spid="6"/>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blinds(horizontal)">
                                      <p:cBhvr>
                                        <p:cTn id="37" dur="500"/>
                                        <p:tgtEl>
                                          <p:spTgt spid="14"/>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blinds(horizontal)">
                                      <p:cBhvr>
                                        <p:cTn id="42" dur="500"/>
                                        <p:tgtEl>
                                          <p:spTgt spid="13"/>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blinds(horizontal)">
                                      <p:cBhvr>
                                        <p:cTn id="47" dur="5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grpId="0" nodeType="click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wipe(down)">
                                      <p:cBhvr>
                                        <p:cTn id="52" dur="500"/>
                                        <p:tgtEl>
                                          <p:spTgt spid="21"/>
                                        </p:tgtEl>
                                      </p:cBhvr>
                                    </p:animEffect>
                                  </p:childTnLst>
                                </p:cTn>
                              </p:par>
                              <p:par>
                                <p:cTn id="53" presetID="22" presetClass="entr" presetSubtype="4" fill="hold" nodeType="withEffect">
                                  <p:stCondLst>
                                    <p:cond delay="0"/>
                                  </p:stCondLst>
                                  <p:childTnLst>
                                    <p:set>
                                      <p:cBhvr>
                                        <p:cTn id="54" dur="1" fill="hold">
                                          <p:stCondLst>
                                            <p:cond delay="0"/>
                                          </p:stCondLst>
                                        </p:cTn>
                                        <p:tgtEl>
                                          <p:spTgt spid="38"/>
                                        </p:tgtEl>
                                        <p:attrNameLst>
                                          <p:attrName>style.visibility</p:attrName>
                                        </p:attrNameLst>
                                      </p:cBhvr>
                                      <p:to>
                                        <p:strVal val="visible"/>
                                      </p:to>
                                    </p:set>
                                    <p:animEffect transition="in" filter="wipe(down)">
                                      <p:cBhvr>
                                        <p:cTn id="55" dur="500"/>
                                        <p:tgtEl>
                                          <p:spTgt spid="38"/>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4" fill="hold" nodeType="clickEffect">
                                  <p:stCondLst>
                                    <p:cond delay="0"/>
                                  </p:stCondLst>
                                  <p:childTnLst>
                                    <p:set>
                                      <p:cBhvr>
                                        <p:cTn id="59" dur="1" fill="hold">
                                          <p:stCondLst>
                                            <p:cond delay="0"/>
                                          </p:stCondLst>
                                        </p:cTn>
                                        <p:tgtEl>
                                          <p:spTgt spid="39"/>
                                        </p:tgtEl>
                                        <p:attrNameLst>
                                          <p:attrName>style.visibility</p:attrName>
                                        </p:attrNameLst>
                                      </p:cBhvr>
                                      <p:to>
                                        <p:strVal val="visible"/>
                                      </p:to>
                                    </p:set>
                                    <p:animEffect transition="in" filter="wipe(down)">
                                      <p:cBhvr>
                                        <p:cTn id="60" dur="500"/>
                                        <p:tgtEl>
                                          <p:spTgt spid="39"/>
                                        </p:tgtEl>
                                      </p:cBhvr>
                                    </p:animEffect>
                                  </p:childTnLst>
                                </p:cTn>
                              </p:par>
                              <p:par>
                                <p:cTn id="61" presetID="22" presetClass="entr" presetSubtype="4" fill="hold" nodeType="withEffect">
                                  <p:stCondLst>
                                    <p:cond delay="0"/>
                                  </p:stCondLst>
                                  <p:childTnLst>
                                    <p:set>
                                      <p:cBhvr>
                                        <p:cTn id="62" dur="1" fill="hold">
                                          <p:stCondLst>
                                            <p:cond delay="0"/>
                                          </p:stCondLst>
                                        </p:cTn>
                                        <p:tgtEl>
                                          <p:spTgt spid="40"/>
                                        </p:tgtEl>
                                        <p:attrNameLst>
                                          <p:attrName>style.visibility</p:attrName>
                                        </p:attrNameLst>
                                      </p:cBhvr>
                                      <p:to>
                                        <p:strVal val="visible"/>
                                      </p:to>
                                    </p:set>
                                    <p:animEffect transition="in" filter="wipe(down)">
                                      <p:cBhvr>
                                        <p:cTn id="63"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21" grpId="0" animBg="1"/>
      <p:bldP spid="35"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4"/>
          <p:cNvSpPr txBox="1">
            <a:spLocks noChangeArrowheads="1"/>
          </p:cNvSpPr>
          <p:nvPr/>
        </p:nvSpPr>
        <p:spPr bwMode="auto">
          <a:xfrm>
            <a:off x="611188" y="2417763"/>
            <a:ext cx="7754937" cy="369887"/>
          </a:xfrm>
          <a:prstGeom prst="rect">
            <a:avLst/>
          </a:prstGeom>
          <a:noFill/>
          <a:ln w="9525">
            <a:noFill/>
            <a:miter lim="800000"/>
            <a:headEnd/>
            <a:tailEnd/>
          </a:ln>
        </p:spPr>
        <p:txBody>
          <a:bodyPr>
            <a:spAutoFit/>
          </a:bodyPr>
          <a:lstStyle/>
          <a:p>
            <a:r>
              <a:rPr kumimoji="1" lang="zh-CN" altLang="en-US" b="1">
                <a:solidFill>
                  <a:srgbClr val="000000"/>
                </a:solidFill>
                <a:latin typeface="华文中宋"/>
                <a:ea typeface="华文中宋"/>
                <a:cs typeface="华文中宋"/>
              </a:rPr>
              <a:t>（</a:t>
            </a:r>
            <a:r>
              <a:rPr kumimoji="1" lang="en-US" altLang="zh-CN" b="1">
                <a:solidFill>
                  <a:srgbClr val="000000"/>
                </a:solidFill>
                <a:latin typeface="华文中宋"/>
                <a:ea typeface="华文中宋"/>
                <a:cs typeface="华文中宋"/>
              </a:rPr>
              <a:t>3</a:t>
            </a:r>
            <a:r>
              <a:rPr kumimoji="1" lang="zh-CN" altLang="en-US" b="1">
                <a:solidFill>
                  <a:srgbClr val="000000"/>
                </a:solidFill>
                <a:latin typeface="华文中宋"/>
                <a:ea typeface="华文中宋"/>
                <a:cs typeface="华文中宋"/>
              </a:rPr>
              <a:t>）</a:t>
            </a:r>
            <a:r>
              <a:rPr kumimoji="1" lang="zh-CN" altLang="en-US" b="1">
                <a:solidFill>
                  <a:srgbClr val="000000"/>
                </a:solidFill>
                <a:latin typeface="Times New Roman" pitchFamily="18" charset="0"/>
                <a:ea typeface="华文中宋"/>
                <a:cs typeface="华文中宋"/>
              </a:rPr>
              <a:t>熵变</a:t>
            </a:r>
            <a:r>
              <a:rPr kumimoji="1" lang="zh-CN" altLang="zh-CN" b="1">
                <a:solidFill>
                  <a:srgbClr val="000000"/>
                </a:solidFill>
                <a:latin typeface="Times New Roman" pitchFamily="18" charset="0"/>
                <a:ea typeface="华文中宋"/>
                <a:cs typeface="华文中宋"/>
              </a:rPr>
              <a:t>△</a:t>
            </a:r>
            <a:r>
              <a:rPr kumimoji="1" lang="en-US" altLang="zh-CN" b="1" i="1">
                <a:solidFill>
                  <a:srgbClr val="000000"/>
                </a:solidFill>
                <a:latin typeface="Times New Roman" pitchFamily="18" charset="0"/>
                <a:ea typeface="华文中宋"/>
                <a:cs typeface="华文中宋"/>
              </a:rPr>
              <a:t>S</a:t>
            </a:r>
            <a:r>
              <a:rPr kumimoji="1" lang="zh-CN" altLang="en-US" b="1">
                <a:solidFill>
                  <a:srgbClr val="000000"/>
                </a:solidFill>
                <a:latin typeface="Times New Roman" pitchFamily="18" charset="0"/>
                <a:ea typeface="华文中宋"/>
                <a:cs typeface="华文中宋"/>
              </a:rPr>
              <a:t>只取决于始末两平衡态，与过程无关。</a:t>
            </a:r>
          </a:p>
        </p:txBody>
      </p:sp>
      <p:graphicFrame>
        <p:nvGraphicFramePr>
          <p:cNvPr id="3" name="Object 38"/>
          <p:cNvGraphicFramePr>
            <a:graphicFrameLocks noChangeAspect="1"/>
          </p:cNvGraphicFramePr>
          <p:nvPr/>
        </p:nvGraphicFramePr>
        <p:xfrm>
          <a:off x="2987675" y="2657475"/>
          <a:ext cx="2952750" cy="561975"/>
        </p:xfrm>
        <a:graphic>
          <a:graphicData uri="http://schemas.openxmlformats.org/presentationml/2006/ole">
            <p:oleObj spid="_x0000_s36902" name="公式" r:id="rId4" imgW="1600200" imgH="406400" progId="Equation.3">
              <p:embed/>
            </p:oleObj>
          </a:graphicData>
        </a:graphic>
      </p:graphicFrame>
      <p:sp>
        <p:nvSpPr>
          <p:cNvPr id="11" name="Text Box 5"/>
          <p:cNvSpPr txBox="1">
            <a:spLocks noChangeArrowheads="1"/>
          </p:cNvSpPr>
          <p:nvPr/>
        </p:nvSpPr>
        <p:spPr bwMode="auto">
          <a:xfrm>
            <a:off x="755650" y="3149600"/>
            <a:ext cx="7361238" cy="646113"/>
          </a:xfrm>
          <a:prstGeom prst="rect">
            <a:avLst/>
          </a:prstGeom>
          <a:noFill/>
          <a:ln w="9525">
            <a:noFill/>
            <a:miter lim="800000"/>
            <a:headEnd/>
            <a:tailEnd/>
          </a:ln>
        </p:spPr>
        <p:txBody>
          <a:bodyPr>
            <a:spAutoFit/>
          </a:bodyPr>
          <a:lstStyle/>
          <a:p>
            <a:r>
              <a:rPr kumimoji="1" lang="en-US" altLang="zh-CN" b="1">
                <a:solidFill>
                  <a:srgbClr val="000000"/>
                </a:solidFill>
                <a:latin typeface="Times New Roman" pitchFamily="18" charset="0"/>
                <a:ea typeface="华文中宋"/>
                <a:cs typeface="华文中宋"/>
              </a:rPr>
              <a:t>       </a:t>
            </a:r>
            <a:r>
              <a:rPr kumimoji="1" lang="zh-CN" altLang="en-US" b="1">
                <a:solidFill>
                  <a:srgbClr val="000000"/>
                </a:solidFill>
                <a:latin typeface="Times New Roman" pitchFamily="18" charset="0"/>
                <a:ea typeface="华文中宋"/>
                <a:cs typeface="华文中宋"/>
              </a:rPr>
              <a:t>上述定义源自可逆过程，如果系统从平衡态</a:t>
            </a:r>
            <a:r>
              <a:rPr kumimoji="1" lang="en-US" altLang="zh-CN" b="1" i="1">
                <a:solidFill>
                  <a:srgbClr val="000000"/>
                </a:solidFill>
                <a:latin typeface="Times New Roman" pitchFamily="18" charset="0"/>
                <a:ea typeface="华文中宋"/>
                <a:cs typeface="华文中宋"/>
              </a:rPr>
              <a:t>A</a:t>
            </a:r>
            <a:r>
              <a:rPr kumimoji="1" lang="zh-CN" altLang="en-US" b="1">
                <a:solidFill>
                  <a:srgbClr val="000000"/>
                </a:solidFill>
                <a:latin typeface="Times New Roman" pitchFamily="18" charset="0"/>
                <a:ea typeface="华文中宋"/>
                <a:cs typeface="华文中宋"/>
              </a:rPr>
              <a:t>经一</a:t>
            </a:r>
            <a:r>
              <a:rPr kumimoji="1" lang="zh-CN" altLang="en-US" b="1">
                <a:solidFill>
                  <a:srgbClr val="FF0000"/>
                </a:solidFill>
                <a:latin typeface="Times New Roman" pitchFamily="18" charset="0"/>
                <a:ea typeface="华文中宋"/>
                <a:cs typeface="华文中宋"/>
              </a:rPr>
              <a:t>不</a:t>
            </a:r>
            <a:r>
              <a:rPr lang="zh-CN" altLang="en-US" b="1">
                <a:solidFill>
                  <a:srgbClr val="FF0000"/>
                </a:solidFill>
                <a:latin typeface="Times New Roman" pitchFamily="18" charset="0"/>
                <a:ea typeface="华文中宋"/>
                <a:cs typeface="华文中宋"/>
              </a:rPr>
              <a:t>可逆</a:t>
            </a:r>
            <a:r>
              <a:rPr kumimoji="1" lang="zh-CN" altLang="en-US" b="1">
                <a:solidFill>
                  <a:srgbClr val="FF0000"/>
                </a:solidFill>
                <a:latin typeface="Times New Roman" pitchFamily="18" charset="0"/>
                <a:ea typeface="华文中宋"/>
                <a:cs typeface="华文中宋"/>
              </a:rPr>
              <a:t>过程</a:t>
            </a:r>
            <a:r>
              <a:rPr kumimoji="1" lang="zh-CN" altLang="en-US" b="1">
                <a:solidFill>
                  <a:srgbClr val="000000"/>
                </a:solidFill>
                <a:latin typeface="Times New Roman" pitchFamily="18" charset="0"/>
                <a:ea typeface="华文中宋"/>
                <a:cs typeface="华文中宋"/>
              </a:rPr>
              <a:t>到达另一平衡态</a:t>
            </a:r>
            <a:r>
              <a:rPr kumimoji="1" lang="en-US" altLang="zh-CN" b="1" i="1">
                <a:solidFill>
                  <a:srgbClr val="000000"/>
                </a:solidFill>
                <a:latin typeface="Times New Roman" pitchFamily="18" charset="0"/>
                <a:ea typeface="华文中宋"/>
                <a:cs typeface="华文中宋"/>
              </a:rPr>
              <a:t>B</a:t>
            </a:r>
            <a:r>
              <a:rPr kumimoji="1" lang="zh-CN" altLang="en-US" b="1">
                <a:solidFill>
                  <a:srgbClr val="000000"/>
                </a:solidFill>
                <a:latin typeface="Times New Roman" pitchFamily="18" charset="0"/>
                <a:ea typeface="华文中宋"/>
                <a:cs typeface="华文中宋"/>
              </a:rPr>
              <a:t>，其熵变</a:t>
            </a:r>
            <a:r>
              <a:rPr kumimoji="1" lang="zh-CN" altLang="zh-CN" b="1">
                <a:solidFill>
                  <a:srgbClr val="3333FF"/>
                </a:solidFill>
                <a:latin typeface="Times New Roman" pitchFamily="18" charset="0"/>
                <a:ea typeface="华文中宋"/>
                <a:cs typeface="华文中宋"/>
              </a:rPr>
              <a:t>△</a:t>
            </a:r>
            <a:r>
              <a:rPr kumimoji="1" lang="en-US" altLang="zh-CN" b="1" i="1">
                <a:solidFill>
                  <a:srgbClr val="3333FF"/>
                </a:solidFill>
                <a:latin typeface="Times New Roman" pitchFamily="18" charset="0"/>
                <a:ea typeface="华文中宋"/>
                <a:cs typeface="华文中宋"/>
              </a:rPr>
              <a:t>S</a:t>
            </a:r>
            <a:r>
              <a:rPr kumimoji="1" lang="zh-CN" altLang="en-US" b="1">
                <a:solidFill>
                  <a:srgbClr val="000000"/>
                </a:solidFill>
                <a:latin typeface="Times New Roman" pitchFamily="18" charset="0"/>
                <a:ea typeface="华文中宋"/>
                <a:cs typeface="华文中宋"/>
              </a:rPr>
              <a:t>的积分</a:t>
            </a:r>
            <a:r>
              <a:rPr kumimoji="1" lang="zh-CN" altLang="en-US" b="1">
                <a:solidFill>
                  <a:srgbClr val="FF3300"/>
                </a:solidFill>
                <a:latin typeface="Times New Roman" pitchFamily="18" charset="0"/>
                <a:ea typeface="华文中宋"/>
                <a:cs typeface="华文中宋"/>
              </a:rPr>
              <a:t>必须沿可逆过程</a:t>
            </a:r>
            <a:r>
              <a:rPr kumimoji="1" lang="zh-CN" altLang="en-US" b="1">
                <a:solidFill>
                  <a:srgbClr val="000000"/>
                </a:solidFill>
                <a:latin typeface="Times New Roman" pitchFamily="18" charset="0"/>
                <a:ea typeface="华文中宋"/>
                <a:cs typeface="华文中宋"/>
              </a:rPr>
              <a:t>来进行计算。</a:t>
            </a:r>
          </a:p>
        </p:txBody>
      </p:sp>
      <p:sp>
        <p:nvSpPr>
          <p:cNvPr id="12" name="Text Box 9"/>
          <p:cNvSpPr txBox="1">
            <a:spLocks noChangeArrowheads="1"/>
          </p:cNvSpPr>
          <p:nvPr/>
        </p:nvSpPr>
        <p:spPr bwMode="auto">
          <a:xfrm>
            <a:off x="611188" y="3760788"/>
            <a:ext cx="4319587" cy="369887"/>
          </a:xfrm>
          <a:prstGeom prst="rect">
            <a:avLst/>
          </a:prstGeom>
          <a:noFill/>
          <a:ln w="9525">
            <a:noFill/>
            <a:miter lim="800000"/>
            <a:headEnd/>
            <a:tailEnd/>
          </a:ln>
        </p:spPr>
        <p:txBody>
          <a:bodyPr>
            <a:spAutoFit/>
          </a:bodyPr>
          <a:lstStyle/>
          <a:p>
            <a:r>
              <a:rPr kumimoji="1" lang="zh-CN" altLang="en-US" b="1">
                <a:solidFill>
                  <a:srgbClr val="000000"/>
                </a:solidFill>
                <a:latin typeface="华文中宋"/>
                <a:ea typeface="华文中宋"/>
                <a:cs typeface="华文中宋"/>
              </a:rPr>
              <a:t>（</a:t>
            </a:r>
            <a:r>
              <a:rPr kumimoji="1" lang="en-US" altLang="zh-CN" b="1">
                <a:solidFill>
                  <a:srgbClr val="000000"/>
                </a:solidFill>
                <a:latin typeface="华文中宋"/>
                <a:ea typeface="华文中宋"/>
                <a:cs typeface="华文中宋"/>
              </a:rPr>
              <a:t>4</a:t>
            </a:r>
            <a:r>
              <a:rPr kumimoji="1" lang="zh-CN" altLang="en-US" b="1">
                <a:solidFill>
                  <a:srgbClr val="000000"/>
                </a:solidFill>
                <a:latin typeface="华文中宋"/>
                <a:ea typeface="华文中宋"/>
                <a:cs typeface="华文中宋"/>
              </a:rPr>
              <a:t>） 熵值具有可加性。</a:t>
            </a:r>
          </a:p>
        </p:txBody>
      </p:sp>
      <p:sp>
        <p:nvSpPr>
          <p:cNvPr id="13" name="Text Box 9"/>
          <p:cNvSpPr txBox="1">
            <a:spLocks noChangeArrowheads="1"/>
          </p:cNvSpPr>
          <p:nvPr/>
        </p:nvSpPr>
        <p:spPr bwMode="auto">
          <a:xfrm>
            <a:off x="3419475" y="4151313"/>
            <a:ext cx="1878013" cy="369887"/>
          </a:xfrm>
          <a:prstGeom prst="rect">
            <a:avLst/>
          </a:prstGeom>
          <a:noFill/>
          <a:ln w="9525">
            <a:noFill/>
            <a:miter lim="800000"/>
            <a:headEnd/>
            <a:tailEnd/>
          </a:ln>
        </p:spPr>
        <p:txBody>
          <a:bodyPr>
            <a:spAutoFit/>
          </a:bodyPr>
          <a:lstStyle/>
          <a:p>
            <a:pPr algn="ctr"/>
            <a:r>
              <a:rPr kumimoji="1" lang="en-US" altLang="zh-CN" b="1" i="1">
                <a:solidFill>
                  <a:srgbClr val="000000"/>
                </a:solidFill>
                <a:latin typeface="Times New Roman" pitchFamily="18" charset="0"/>
              </a:rPr>
              <a:t>S</a:t>
            </a:r>
            <a:r>
              <a:rPr kumimoji="1" lang="en-US" altLang="zh-CN" b="1">
                <a:solidFill>
                  <a:srgbClr val="000000"/>
                </a:solidFill>
                <a:latin typeface="Times New Roman" pitchFamily="18" charset="0"/>
              </a:rPr>
              <a:t>=</a:t>
            </a:r>
            <a:r>
              <a:rPr kumimoji="1" lang="en-US" altLang="zh-CN" b="1" i="1">
                <a:solidFill>
                  <a:srgbClr val="000000"/>
                </a:solidFill>
                <a:latin typeface="Times New Roman" pitchFamily="18" charset="0"/>
              </a:rPr>
              <a:t>S</a:t>
            </a:r>
            <a:r>
              <a:rPr kumimoji="1" lang="en-US" altLang="zh-CN" b="1" baseline="-25000">
                <a:solidFill>
                  <a:srgbClr val="000000"/>
                </a:solidFill>
                <a:latin typeface="Times New Roman" pitchFamily="18" charset="0"/>
              </a:rPr>
              <a:t>1</a:t>
            </a:r>
            <a:r>
              <a:rPr kumimoji="1" lang="en-US" altLang="zh-CN" b="1">
                <a:solidFill>
                  <a:srgbClr val="000000"/>
                </a:solidFill>
                <a:latin typeface="Times New Roman" pitchFamily="18" charset="0"/>
              </a:rPr>
              <a:t>+</a:t>
            </a:r>
            <a:r>
              <a:rPr kumimoji="1" lang="en-US" altLang="zh-CN" b="1" i="1">
                <a:solidFill>
                  <a:srgbClr val="000000"/>
                </a:solidFill>
                <a:latin typeface="Times New Roman" pitchFamily="18" charset="0"/>
              </a:rPr>
              <a:t>S</a:t>
            </a:r>
            <a:r>
              <a:rPr kumimoji="1" lang="en-US" altLang="zh-CN" b="1" baseline="-25000">
                <a:solidFill>
                  <a:srgbClr val="000000"/>
                </a:solidFill>
                <a:latin typeface="Times New Roman" pitchFamily="18" charset="0"/>
              </a:rPr>
              <a:t>2</a:t>
            </a:r>
            <a:endParaRPr kumimoji="1" lang="en-US" altLang="zh-CN" b="1">
              <a:solidFill>
                <a:srgbClr val="000000"/>
              </a:solidFill>
              <a:latin typeface="Times New Roman" pitchFamily="18" charset="0"/>
            </a:endParaRPr>
          </a:p>
        </p:txBody>
      </p:sp>
      <p:sp>
        <p:nvSpPr>
          <p:cNvPr id="199689" name="Text Box 9"/>
          <p:cNvSpPr txBox="1">
            <a:spLocks noChangeArrowheads="1"/>
          </p:cNvSpPr>
          <p:nvPr/>
        </p:nvSpPr>
        <p:spPr bwMode="auto">
          <a:xfrm>
            <a:off x="611188" y="1495425"/>
            <a:ext cx="6019800" cy="368300"/>
          </a:xfrm>
          <a:prstGeom prst="rect">
            <a:avLst/>
          </a:prstGeom>
          <a:noFill/>
          <a:ln w="9525">
            <a:noFill/>
            <a:miter lim="800000"/>
            <a:headEnd/>
            <a:tailEnd/>
          </a:ln>
        </p:spPr>
        <p:txBody>
          <a:bodyPr>
            <a:spAutoFit/>
          </a:bodyPr>
          <a:lstStyle/>
          <a:p>
            <a:r>
              <a:rPr kumimoji="1" lang="zh-CN" altLang="en-US" b="1">
                <a:solidFill>
                  <a:srgbClr val="000000"/>
                </a:solidFill>
                <a:latin typeface="华文中宋"/>
                <a:ea typeface="华文中宋"/>
                <a:cs typeface="华文中宋"/>
              </a:rPr>
              <a:t>（</a:t>
            </a:r>
            <a:r>
              <a:rPr kumimoji="1" lang="en-US" altLang="zh-CN" b="1">
                <a:solidFill>
                  <a:srgbClr val="000000"/>
                </a:solidFill>
                <a:latin typeface="华文中宋"/>
                <a:ea typeface="华文中宋"/>
                <a:cs typeface="华文中宋"/>
              </a:rPr>
              <a:t>2</a:t>
            </a:r>
            <a:r>
              <a:rPr kumimoji="1" lang="zh-CN" altLang="en-US" b="1">
                <a:solidFill>
                  <a:srgbClr val="000000"/>
                </a:solidFill>
                <a:latin typeface="华文中宋"/>
                <a:ea typeface="华文中宋"/>
                <a:cs typeface="华文中宋"/>
              </a:rPr>
              <a:t>）和势能一样熵也是一个相对量。</a:t>
            </a:r>
          </a:p>
        </p:txBody>
      </p:sp>
      <p:sp>
        <p:nvSpPr>
          <p:cNvPr id="199690" name="Text Box 10"/>
          <p:cNvSpPr txBox="1">
            <a:spLocks noChangeArrowheads="1"/>
          </p:cNvSpPr>
          <p:nvPr/>
        </p:nvSpPr>
        <p:spPr bwMode="auto">
          <a:xfrm>
            <a:off x="5292725" y="1963738"/>
            <a:ext cx="1181100" cy="369887"/>
          </a:xfrm>
          <a:prstGeom prst="rect">
            <a:avLst/>
          </a:prstGeom>
          <a:noFill/>
          <a:ln w="9525">
            <a:noFill/>
            <a:miter lim="800000"/>
            <a:headEnd/>
            <a:tailEnd/>
          </a:ln>
        </p:spPr>
        <p:txBody>
          <a:bodyPr wrap="none">
            <a:spAutoFit/>
          </a:bodyPr>
          <a:lstStyle/>
          <a:p>
            <a:r>
              <a:rPr kumimoji="1" lang="zh-CN" altLang="en-US" b="1">
                <a:solidFill>
                  <a:srgbClr val="000000"/>
                </a:solidFill>
                <a:latin typeface="华文中宋"/>
                <a:ea typeface="华文中宋"/>
                <a:cs typeface="华文中宋"/>
              </a:rPr>
              <a:t>元过程： </a:t>
            </a:r>
          </a:p>
        </p:txBody>
      </p:sp>
      <p:graphicFrame>
        <p:nvGraphicFramePr>
          <p:cNvPr id="199691" name="Object 39"/>
          <p:cNvGraphicFramePr>
            <a:graphicFrameLocks noChangeAspect="1"/>
          </p:cNvGraphicFramePr>
          <p:nvPr/>
        </p:nvGraphicFramePr>
        <p:xfrm>
          <a:off x="6659563" y="1855788"/>
          <a:ext cx="995362" cy="550862"/>
        </p:xfrm>
        <a:graphic>
          <a:graphicData uri="http://schemas.openxmlformats.org/presentationml/2006/ole">
            <p:oleObj spid="_x0000_s36903" name="公式" r:id="rId5" imgW="418918" imgH="291973" progId="Equation.3">
              <p:embed/>
            </p:oleObj>
          </a:graphicData>
        </a:graphic>
      </p:graphicFrame>
      <p:graphicFrame>
        <p:nvGraphicFramePr>
          <p:cNvPr id="199692" name="Object 40"/>
          <p:cNvGraphicFramePr>
            <a:graphicFrameLocks noChangeAspect="1"/>
          </p:cNvGraphicFramePr>
          <p:nvPr/>
        </p:nvGraphicFramePr>
        <p:xfrm>
          <a:off x="3636963" y="1801813"/>
          <a:ext cx="1511300" cy="625475"/>
        </p:xfrm>
        <a:graphic>
          <a:graphicData uri="http://schemas.openxmlformats.org/presentationml/2006/ole">
            <p:oleObj spid="_x0000_s36904" name="公式" r:id="rId6" imgW="596900" imgH="330200" progId="Equation.3">
              <p:embed/>
            </p:oleObj>
          </a:graphicData>
        </a:graphic>
      </p:graphicFrame>
      <p:sp>
        <p:nvSpPr>
          <p:cNvPr id="199693" name="Rectangle 13"/>
          <p:cNvSpPr>
            <a:spLocks noChangeArrowheads="1"/>
          </p:cNvSpPr>
          <p:nvPr/>
        </p:nvSpPr>
        <p:spPr bwMode="auto">
          <a:xfrm>
            <a:off x="1187450" y="1951038"/>
            <a:ext cx="2622550" cy="369887"/>
          </a:xfrm>
          <a:prstGeom prst="rect">
            <a:avLst/>
          </a:prstGeom>
          <a:noFill/>
          <a:ln w="9525">
            <a:noFill/>
            <a:miter lim="800000"/>
            <a:headEnd/>
            <a:tailEnd/>
          </a:ln>
        </p:spPr>
        <p:txBody>
          <a:bodyPr>
            <a:spAutoFit/>
          </a:bodyPr>
          <a:lstStyle/>
          <a:p>
            <a:r>
              <a:rPr kumimoji="1" lang="zh-CN" altLang="en-US" b="1">
                <a:solidFill>
                  <a:srgbClr val="000000"/>
                </a:solidFill>
                <a:latin typeface="华文中宋"/>
                <a:ea typeface="华文中宋"/>
                <a:cs typeface="华文中宋"/>
              </a:rPr>
              <a:t>一般只考虑熵变：</a:t>
            </a:r>
          </a:p>
        </p:txBody>
      </p:sp>
      <p:graphicFrame>
        <p:nvGraphicFramePr>
          <p:cNvPr id="7" name="Object 41"/>
          <p:cNvGraphicFramePr>
            <a:graphicFrameLocks noChangeAspect="1"/>
          </p:cNvGraphicFramePr>
          <p:nvPr/>
        </p:nvGraphicFramePr>
        <p:xfrm>
          <a:off x="2051050" y="976313"/>
          <a:ext cx="4535488" cy="442912"/>
        </p:xfrm>
        <a:graphic>
          <a:graphicData uri="http://schemas.openxmlformats.org/presentationml/2006/ole">
            <p:oleObj spid="_x0000_s36905" name="公式" r:id="rId7" imgW="1498600" imgH="190500" progId="Equation.3">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99689">
                                            <p:txEl>
                                              <p:pRg st="0" end="0"/>
                                            </p:txEl>
                                          </p:spTgt>
                                        </p:tgtEl>
                                        <p:attrNameLst>
                                          <p:attrName>style.visibility</p:attrName>
                                        </p:attrNameLst>
                                      </p:cBhvr>
                                      <p:to>
                                        <p:strVal val="visible"/>
                                      </p:to>
                                    </p:set>
                                    <p:animEffect transition="in" filter="box(out)">
                                      <p:cBhvr>
                                        <p:cTn id="12" dur="500"/>
                                        <p:tgtEl>
                                          <p:spTgt spid="199689">
                                            <p:txEl>
                                              <p:pRg st="0" end="0"/>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199692"/>
                                        </p:tgtEl>
                                        <p:attrNameLst>
                                          <p:attrName>style.visibility</p:attrName>
                                        </p:attrNameLst>
                                      </p:cBhvr>
                                      <p:to>
                                        <p:strVal val="visible"/>
                                      </p:to>
                                    </p:set>
                                    <p:animEffect transition="in" filter="blinds(horizontal)">
                                      <p:cBhvr>
                                        <p:cTn id="17" dur="500"/>
                                        <p:tgtEl>
                                          <p:spTgt spid="199692"/>
                                        </p:tgtEl>
                                      </p:cBhvr>
                                    </p:animEffect>
                                  </p:childTnLst>
                                </p:cTn>
                              </p:par>
                              <p:par>
                                <p:cTn id="18" presetID="3" presetClass="entr" presetSubtype="10" fill="hold" grpId="0" nodeType="withEffect">
                                  <p:stCondLst>
                                    <p:cond delay="0"/>
                                  </p:stCondLst>
                                  <p:childTnLst>
                                    <p:set>
                                      <p:cBhvr>
                                        <p:cTn id="19" dur="1" fill="hold">
                                          <p:stCondLst>
                                            <p:cond delay="0"/>
                                          </p:stCondLst>
                                        </p:cTn>
                                        <p:tgtEl>
                                          <p:spTgt spid="199693"/>
                                        </p:tgtEl>
                                        <p:attrNameLst>
                                          <p:attrName>style.visibility</p:attrName>
                                        </p:attrNameLst>
                                      </p:cBhvr>
                                      <p:to>
                                        <p:strVal val="visible"/>
                                      </p:to>
                                    </p:set>
                                    <p:animEffect transition="in" filter="blinds(horizontal)">
                                      <p:cBhvr>
                                        <p:cTn id="20" dur="500"/>
                                        <p:tgtEl>
                                          <p:spTgt spid="199693"/>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199690"/>
                                        </p:tgtEl>
                                        <p:attrNameLst>
                                          <p:attrName>style.visibility</p:attrName>
                                        </p:attrNameLst>
                                      </p:cBhvr>
                                      <p:to>
                                        <p:strVal val="visible"/>
                                      </p:to>
                                    </p:set>
                                    <p:animEffect transition="in" filter="blinds(horizontal)">
                                      <p:cBhvr>
                                        <p:cTn id="25" dur="500"/>
                                        <p:tgtEl>
                                          <p:spTgt spid="199690"/>
                                        </p:tgtEl>
                                      </p:cBhvr>
                                    </p:animEffect>
                                  </p:childTnLst>
                                </p:cTn>
                              </p:par>
                              <p:par>
                                <p:cTn id="26" presetID="3" presetClass="entr" presetSubtype="10" fill="hold" nodeType="withEffect">
                                  <p:stCondLst>
                                    <p:cond delay="0"/>
                                  </p:stCondLst>
                                  <p:childTnLst>
                                    <p:set>
                                      <p:cBhvr>
                                        <p:cTn id="27" dur="1" fill="hold">
                                          <p:stCondLst>
                                            <p:cond delay="0"/>
                                          </p:stCondLst>
                                        </p:cTn>
                                        <p:tgtEl>
                                          <p:spTgt spid="199691"/>
                                        </p:tgtEl>
                                        <p:attrNameLst>
                                          <p:attrName>style.visibility</p:attrName>
                                        </p:attrNameLst>
                                      </p:cBhvr>
                                      <p:to>
                                        <p:strVal val="visible"/>
                                      </p:to>
                                    </p:set>
                                    <p:animEffect transition="in" filter="blinds(horizontal)">
                                      <p:cBhvr>
                                        <p:cTn id="28" dur="500"/>
                                        <p:tgtEl>
                                          <p:spTgt spid="199691"/>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6"/>
                                        </p:tgtEl>
                                        <p:attrNameLst>
                                          <p:attrName>style.visibility</p:attrName>
                                        </p:attrNameLst>
                                      </p:cBhvr>
                                      <p:to>
                                        <p:strVal val="visible"/>
                                      </p:to>
                                    </p:set>
                                    <p:animEffect transition="in" filter="wipe(left)">
                                      <p:cBhvr>
                                        <p:cTn id="33" dur="500"/>
                                        <p:tgtEl>
                                          <p:spTgt spid="6"/>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nodeType="clickEffect">
                                  <p:stCondLst>
                                    <p:cond delay="0"/>
                                  </p:stCondLst>
                                  <p:childTnLst>
                                    <p:set>
                                      <p:cBhvr>
                                        <p:cTn id="37" dur="1" fill="hold">
                                          <p:stCondLst>
                                            <p:cond delay="0"/>
                                          </p:stCondLst>
                                        </p:cTn>
                                        <p:tgtEl>
                                          <p:spTgt spid="3"/>
                                        </p:tgtEl>
                                        <p:attrNameLst>
                                          <p:attrName>style.visibility</p:attrName>
                                        </p:attrNameLst>
                                      </p:cBhvr>
                                      <p:to>
                                        <p:strVal val="visible"/>
                                      </p:to>
                                    </p:set>
                                    <p:animEffect transition="in" filter="wipe(left)">
                                      <p:cBhvr>
                                        <p:cTn id="38" dur="500"/>
                                        <p:tgtEl>
                                          <p:spTgt spid="3"/>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11"/>
                                        </p:tgtEl>
                                        <p:attrNameLst>
                                          <p:attrName>style.visibility</p:attrName>
                                        </p:attrNameLst>
                                      </p:cBhvr>
                                      <p:to>
                                        <p:strVal val="visible"/>
                                      </p:to>
                                    </p:set>
                                    <p:animEffect transition="in" filter="wipe(left)">
                                      <p:cBhvr>
                                        <p:cTn id="43" dur="500"/>
                                        <p:tgtEl>
                                          <p:spTgt spid="11"/>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12"/>
                                        </p:tgtEl>
                                        <p:attrNameLst>
                                          <p:attrName>style.visibility</p:attrName>
                                        </p:attrNameLst>
                                      </p:cBhvr>
                                      <p:to>
                                        <p:strVal val="visible"/>
                                      </p:to>
                                    </p:set>
                                    <p:animEffect transition="in" filter="wipe(left)">
                                      <p:cBhvr>
                                        <p:cTn id="48" dur="500"/>
                                        <p:tgtEl>
                                          <p:spTgt spid="12"/>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13"/>
                                        </p:tgtEl>
                                        <p:attrNameLst>
                                          <p:attrName>style.visibility</p:attrName>
                                        </p:attrNameLst>
                                      </p:cBhvr>
                                      <p:to>
                                        <p:strVal val="visible"/>
                                      </p:to>
                                    </p:set>
                                    <p:animEffect transition="in" filter="wipe(left)">
                                      <p:cBhvr>
                                        <p:cTn id="53"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1" grpId="0"/>
      <p:bldP spid="12" grpId="0"/>
      <p:bldP spid="13" grpId="0"/>
      <p:bldP spid="199689" grpId="0" build="p" autoUpdateAnimBg="0"/>
      <p:bldP spid="199690" grpId="0"/>
      <p:bldP spid="199693"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61" name="Text Box 25"/>
          <p:cNvSpPr txBox="1">
            <a:spLocks noChangeArrowheads="1"/>
          </p:cNvSpPr>
          <p:nvPr/>
        </p:nvSpPr>
        <p:spPr bwMode="auto">
          <a:xfrm>
            <a:off x="684213" y="1311275"/>
            <a:ext cx="2230437" cy="396875"/>
          </a:xfrm>
          <a:prstGeom prst="rect">
            <a:avLst/>
          </a:prstGeom>
          <a:noFill/>
          <a:ln w="9525">
            <a:noFill/>
            <a:miter lim="800000"/>
            <a:headEnd/>
            <a:tailEnd/>
          </a:ln>
        </p:spPr>
        <p:txBody>
          <a:bodyPr>
            <a:spAutoFit/>
          </a:bodyPr>
          <a:lstStyle/>
          <a:p>
            <a:pPr eaLnBrk="0" hangingPunct="0">
              <a:lnSpc>
                <a:spcPct val="110000"/>
              </a:lnSpc>
            </a:pPr>
            <a:r>
              <a:rPr lang="en-US" altLang="zh-CN" b="1">
                <a:solidFill>
                  <a:srgbClr val="0000FF"/>
                </a:solidFill>
                <a:latin typeface="华文中宋"/>
                <a:ea typeface="华文中宋"/>
                <a:cs typeface="华文中宋"/>
              </a:rPr>
              <a:t>1</a:t>
            </a:r>
            <a:r>
              <a:rPr lang="zh-CN" altLang="en-US" b="1">
                <a:solidFill>
                  <a:srgbClr val="0000FF"/>
                </a:solidFill>
                <a:latin typeface="华文中宋"/>
                <a:ea typeface="华文中宋"/>
                <a:cs typeface="华文中宋"/>
              </a:rPr>
              <a:t>、不可逆过程</a:t>
            </a:r>
            <a:r>
              <a:rPr lang="zh-CN" altLang="en-US" b="1">
                <a:solidFill>
                  <a:srgbClr val="000000"/>
                </a:solidFill>
                <a:latin typeface="华文中宋"/>
                <a:ea typeface="华文中宋"/>
                <a:cs typeface="华文中宋"/>
              </a:rPr>
              <a:t>  </a:t>
            </a:r>
          </a:p>
        </p:txBody>
      </p:sp>
      <p:grpSp>
        <p:nvGrpSpPr>
          <p:cNvPr id="2" name="组合 36"/>
          <p:cNvGrpSpPr>
            <a:grpSpLocks/>
          </p:cNvGrpSpPr>
          <p:nvPr/>
        </p:nvGrpSpPr>
        <p:grpSpPr bwMode="auto">
          <a:xfrm>
            <a:off x="6319838" y="1112838"/>
            <a:ext cx="2716212" cy="1458912"/>
            <a:chOff x="5270502" y="2213284"/>
            <a:chExt cx="2716541" cy="1943622"/>
          </a:xfrm>
        </p:grpSpPr>
        <p:sp>
          <p:nvSpPr>
            <p:cNvPr id="37966" name="Line 10"/>
            <p:cNvSpPr>
              <a:spLocks noChangeShapeType="1"/>
            </p:cNvSpPr>
            <p:nvPr/>
          </p:nvSpPr>
          <p:spPr bwMode="auto">
            <a:xfrm>
              <a:off x="5584827" y="3772881"/>
              <a:ext cx="2375277" cy="0"/>
            </a:xfrm>
            <a:prstGeom prst="line">
              <a:avLst/>
            </a:prstGeom>
            <a:noFill/>
            <a:ln w="9525">
              <a:solidFill>
                <a:srgbClr val="0070C0"/>
              </a:solidFill>
              <a:round/>
              <a:headEnd/>
              <a:tailEnd type="arrow" w="med" len="med"/>
            </a:ln>
          </p:spPr>
          <p:txBody>
            <a:bodyPr/>
            <a:lstStyle/>
            <a:p>
              <a:endParaRPr lang="zh-CN" altLang="en-US"/>
            </a:p>
          </p:txBody>
        </p:sp>
        <p:sp>
          <p:nvSpPr>
            <p:cNvPr id="37967" name="Line 11"/>
            <p:cNvSpPr>
              <a:spLocks noChangeShapeType="1"/>
            </p:cNvSpPr>
            <p:nvPr/>
          </p:nvSpPr>
          <p:spPr bwMode="auto">
            <a:xfrm flipV="1">
              <a:off x="5584827" y="2237391"/>
              <a:ext cx="0" cy="1535490"/>
            </a:xfrm>
            <a:prstGeom prst="line">
              <a:avLst/>
            </a:prstGeom>
            <a:noFill/>
            <a:ln w="9525">
              <a:solidFill>
                <a:srgbClr val="00B0F0"/>
              </a:solidFill>
              <a:round/>
              <a:headEnd/>
              <a:tailEnd type="arrow" w="med" len="med"/>
            </a:ln>
          </p:spPr>
          <p:txBody>
            <a:bodyPr/>
            <a:lstStyle/>
            <a:p>
              <a:endParaRPr lang="zh-CN" altLang="en-US"/>
            </a:p>
          </p:txBody>
        </p:sp>
        <p:sp>
          <p:nvSpPr>
            <p:cNvPr id="37968" name="Text Box 12"/>
            <p:cNvSpPr txBox="1">
              <a:spLocks noChangeArrowheads="1"/>
            </p:cNvSpPr>
            <p:nvPr/>
          </p:nvSpPr>
          <p:spPr bwMode="auto">
            <a:xfrm>
              <a:off x="5300660" y="2213284"/>
              <a:ext cx="280762" cy="430641"/>
            </a:xfrm>
            <a:prstGeom prst="rect">
              <a:avLst/>
            </a:prstGeom>
            <a:noFill/>
            <a:ln w="9525">
              <a:noFill/>
              <a:miter lim="800000"/>
              <a:headEnd/>
              <a:tailEnd/>
            </a:ln>
          </p:spPr>
          <p:txBody>
            <a:bodyPr wrap="none">
              <a:spAutoFit/>
            </a:bodyPr>
            <a:lstStyle/>
            <a:p>
              <a:pPr eaLnBrk="0" hangingPunct="0"/>
              <a:r>
                <a:rPr lang="en-US" altLang="zh-CN" sz="1500" b="1" i="1">
                  <a:solidFill>
                    <a:srgbClr val="000000"/>
                  </a:solidFill>
                  <a:latin typeface="Times New Roman" pitchFamily="18" charset="0"/>
                </a:rPr>
                <a:t>p</a:t>
              </a:r>
            </a:p>
          </p:txBody>
        </p:sp>
        <p:sp>
          <p:nvSpPr>
            <p:cNvPr id="37969" name="Text Box 13"/>
            <p:cNvSpPr txBox="1">
              <a:spLocks noChangeArrowheads="1"/>
            </p:cNvSpPr>
            <p:nvPr/>
          </p:nvSpPr>
          <p:spPr bwMode="auto">
            <a:xfrm>
              <a:off x="7483147" y="3726265"/>
              <a:ext cx="376914" cy="430641"/>
            </a:xfrm>
            <a:prstGeom prst="rect">
              <a:avLst/>
            </a:prstGeom>
            <a:noFill/>
            <a:ln w="9525">
              <a:noFill/>
              <a:miter lim="800000"/>
              <a:headEnd/>
              <a:tailEnd/>
            </a:ln>
          </p:spPr>
          <p:txBody>
            <a:bodyPr wrap="none">
              <a:spAutoFit/>
            </a:bodyPr>
            <a:lstStyle/>
            <a:p>
              <a:pPr eaLnBrk="0" hangingPunct="0"/>
              <a:r>
                <a:rPr lang="zh-CN" altLang="en-US" sz="1500" b="1" i="1">
                  <a:solidFill>
                    <a:srgbClr val="000000"/>
                  </a:solidFill>
                  <a:latin typeface="Times New Roman" pitchFamily="18" charset="0"/>
                </a:rPr>
                <a:t>Ｖ</a:t>
              </a:r>
            </a:p>
          </p:txBody>
        </p:sp>
        <p:sp>
          <p:nvSpPr>
            <p:cNvPr id="37970" name="Text Box 14"/>
            <p:cNvSpPr txBox="1">
              <a:spLocks noChangeArrowheads="1"/>
            </p:cNvSpPr>
            <p:nvPr/>
          </p:nvSpPr>
          <p:spPr bwMode="auto">
            <a:xfrm>
              <a:off x="5270502" y="3637360"/>
              <a:ext cx="324032" cy="430641"/>
            </a:xfrm>
            <a:prstGeom prst="rect">
              <a:avLst/>
            </a:prstGeom>
            <a:noFill/>
            <a:ln w="9525">
              <a:noFill/>
              <a:miter lim="800000"/>
              <a:headEnd/>
              <a:tailEnd/>
            </a:ln>
          </p:spPr>
          <p:txBody>
            <a:bodyPr wrap="none">
              <a:spAutoFit/>
            </a:bodyPr>
            <a:lstStyle/>
            <a:p>
              <a:pPr eaLnBrk="0" hangingPunct="0"/>
              <a:r>
                <a:rPr lang="en-US" altLang="zh-CN" sz="1500" b="1" i="1">
                  <a:solidFill>
                    <a:srgbClr val="000000"/>
                  </a:solidFill>
                  <a:latin typeface="Times New Roman" pitchFamily="18" charset="0"/>
                </a:rPr>
                <a:t>O</a:t>
              </a:r>
            </a:p>
          </p:txBody>
        </p:sp>
        <p:sp>
          <p:nvSpPr>
            <p:cNvPr id="37971" name="Text Box 15"/>
            <p:cNvSpPr txBox="1">
              <a:spLocks noChangeArrowheads="1"/>
            </p:cNvSpPr>
            <p:nvPr/>
          </p:nvSpPr>
          <p:spPr bwMode="auto">
            <a:xfrm>
              <a:off x="5719698" y="3051536"/>
              <a:ext cx="376914" cy="430641"/>
            </a:xfrm>
            <a:prstGeom prst="rect">
              <a:avLst/>
            </a:prstGeom>
            <a:noFill/>
            <a:ln w="9525">
              <a:noFill/>
              <a:miter lim="800000"/>
              <a:headEnd/>
              <a:tailEnd/>
            </a:ln>
          </p:spPr>
          <p:txBody>
            <a:bodyPr wrap="none">
              <a:spAutoFit/>
            </a:bodyPr>
            <a:lstStyle/>
            <a:p>
              <a:pPr eaLnBrk="0" hangingPunct="0"/>
              <a:r>
                <a:rPr lang="zh-CN" altLang="en-US" sz="1500" b="1">
                  <a:solidFill>
                    <a:srgbClr val="000000"/>
                  </a:solidFill>
                  <a:latin typeface="Times New Roman" pitchFamily="18" charset="0"/>
                </a:rPr>
                <a:t>Ａ</a:t>
              </a:r>
            </a:p>
          </p:txBody>
        </p:sp>
        <p:sp>
          <p:nvSpPr>
            <p:cNvPr id="37972" name="Text Box 16"/>
            <p:cNvSpPr txBox="1">
              <a:spLocks noChangeArrowheads="1"/>
            </p:cNvSpPr>
            <p:nvPr/>
          </p:nvSpPr>
          <p:spPr bwMode="auto">
            <a:xfrm>
              <a:off x="7610129" y="2365693"/>
              <a:ext cx="376914" cy="430641"/>
            </a:xfrm>
            <a:prstGeom prst="rect">
              <a:avLst/>
            </a:prstGeom>
            <a:noFill/>
            <a:ln w="9525">
              <a:noFill/>
              <a:miter lim="800000"/>
              <a:headEnd/>
              <a:tailEnd/>
            </a:ln>
          </p:spPr>
          <p:txBody>
            <a:bodyPr wrap="none">
              <a:spAutoFit/>
            </a:bodyPr>
            <a:lstStyle/>
            <a:p>
              <a:pPr eaLnBrk="0" hangingPunct="0"/>
              <a:r>
                <a:rPr lang="zh-CN" altLang="en-US" sz="1500" b="1">
                  <a:solidFill>
                    <a:srgbClr val="000000"/>
                  </a:solidFill>
                  <a:latin typeface="Times New Roman" pitchFamily="18" charset="0"/>
                </a:rPr>
                <a:t>Ｂ</a:t>
              </a:r>
            </a:p>
          </p:txBody>
        </p:sp>
        <p:sp>
          <p:nvSpPr>
            <p:cNvPr id="37973" name="Text Box 17"/>
            <p:cNvSpPr txBox="1">
              <a:spLocks noChangeArrowheads="1"/>
            </p:cNvSpPr>
            <p:nvPr/>
          </p:nvSpPr>
          <p:spPr bwMode="auto">
            <a:xfrm>
              <a:off x="6781577" y="2381569"/>
              <a:ext cx="450783" cy="430641"/>
            </a:xfrm>
            <a:prstGeom prst="rect">
              <a:avLst/>
            </a:prstGeom>
            <a:noFill/>
            <a:ln w="9525">
              <a:noFill/>
              <a:miter lim="800000"/>
              <a:headEnd/>
              <a:tailEnd/>
            </a:ln>
          </p:spPr>
          <p:txBody>
            <a:bodyPr>
              <a:spAutoFit/>
            </a:bodyPr>
            <a:lstStyle/>
            <a:p>
              <a:pPr eaLnBrk="0" hangingPunct="0"/>
              <a:r>
                <a:rPr lang="zh-CN" altLang="en-US" sz="1500" b="1">
                  <a:solidFill>
                    <a:srgbClr val="000000"/>
                  </a:solidFill>
                  <a:latin typeface="Times New Roman" pitchFamily="18" charset="0"/>
                </a:rPr>
                <a:t>Ｉ</a:t>
              </a:r>
            </a:p>
          </p:txBody>
        </p:sp>
        <p:sp>
          <p:nvSpPr>
            <p:cNvPr id="37974" name="Text Box 18"/>
            <p:cNvSpPr txBox="1">
              <a:spLocks noChangeArrowheads="1"/>
            </p:cNvSpPr>
            <p:nvPr/>
          </p:nvSpPr>
          <p:spPr bwMode="auto">
            <a:xfrm>
              <a:off x="7008556" y="2881662"/>
              <a:ext cx="335248" cy="430641"/>
            </a:xfrm>
            <a:prstGeom prst="rect">
              <a:avLst/>
            </a:prstGeom>
            <a:noFill/>
            <a:ln w="9525">
              <a:noFill/>
              <a:miter lim="800000"/>
              <a:headEnd/>
              <a:tailEnd/>
            </a:ln>
          </p:spPr>
          <p:txBody>
            <a:bodyPr wrap="none">
              <a:spAutoFit/>
            </a:bodyPr>
            <a:lstStyle/>
            <a:p>
              <a:pPr eaLnBrk="0" hangingPunct="0"/>
              <a:r>
                <a:rPr lang="en-US" altLang="zh-CN" sz="1500" b="1">
                  <a:solidFill>
                    <a:srgbClr val="000000"/>
                  </a:solidFill>
                  <a:latin typeface="Times New Roman" pitchFamily="18" charset="0"/>
                </a:rPr>
                <a:t>II</a:t>
              </a:r>
            </a:p>
          </p:txBody>
        </p:sp>
        <p:sp>
          <p:nvSpPr>
            <p:cNvPr id="37975" name="Freeform 19"/>
            <p:cNvSpPr>
              <a:spLocks/>
            </p:cNvSpPr>
            <p:nvPr/>
          </p:nvSpPr>
          <p:spPr bwMode="auto">
            <a:xfrm>
              <a:off x="6121876" y="2350513"/>
              <a:ext cx="1498863" cy="838986"/>
            </a:xfrm>
            <a:custGeom>
              <a:avLst/>
              <a:gdLst>
                <a:gd name="T0" fmla="*/ 0 w 1008"/>
                <a:gd name="T1" fmla="*/ 2147483647 h 800"/>
                <a:gd name="T2" fmla="*/ 2147483647 w 1008"/>
                <a:gd name="T3" fmla="*/ 2147483647 h 800"/>
                <a:gd name="T4" fmla="*/ 2147483647 w 1008"/>
                <a:gd name="T5" fmla="*/ 2147483647 h 800"/>
                <a:gd name="T6" fmla="*/ 2147483647 w 1008"/>
                <a:gd name="T7" fmla="*/ 2147483647 h 800"/>
                <a:gd name="T8" fmla="*/ 0 60000 65536"/>
                <a:gd name="T9" fmla="*/ 0 60000 65536"/>
                <a:gd name="T10" fmla="*/ 0 60000 65536"/>
                <a:gd name="T11" fmla="*/ 0 60000 65536"/>
                <a:gd name="T12" fmla="*/ 0 w 1008"/>
                <a:gd name="T13" fmla="*/ 0 h 800"/>
                <a:gd name="T14" fmla="*/ 1008 w 1008"/>
                <a:gd name="T15" fmla="*/ 800 h 800"/>
              </a:gdLst>
              <a:ahLst/>
              <a:cxnLst>
                <a:cxn ang="T8">
                  <a:pos x="T0" y="T1"/>
                </a:cxn>
                <a:cxn ang="T9">
                  <a:pos x="T2" y="T3"/>
                </a:cxn>
                <a:cxn ang="T10">
                  <a:pos x="T4" y="T5"/>
                </a:cxn>
                <a:cxn ang="T11">
                  <a:pos x="T6" y="T7"/>
                </a:cxn>
              </a:cxnLst>
              <a:rect l="T12" t="T13" r="T14" b="T15"/>
              <a:pathLst>
                <a:path w="1008" h="800">
                  <a:moveTo>
                    <a:pt x="0" y="800"/>
                  </a:moveTo>
                  <a:cubicBezTo>
                    <a:pt x="40" y="624"/>
                    <a:pt x="80" y="448"/>
                    <a:pt x="192" y="320"/>
                  </a:cubicBezTo>
                  <a:cubicBezTo>
                    <a:pt x="304" y="192"/>
                    <a:pt x="536" y="64"/>
                    <a:pt x="672" y="32"/>
                  </a:cubicBezTo>
                  <a:cubicBezTo>
                    <a:pt x="808" y="0"/>
                    <a:pt x="908" y="64"/>
                    <a:pt x="1008" y="128"/>
                  </a:cubicBezTo>
                </a:path>
              </a:pathLst>
            </a:custGeom>
            <a:noFill/>
            <a:ln w="19050">
              <a:solidFill>
                <a:srgbClr val="3333FF"/>
              </a:solidFill>
              <a:prstDash val="dash"/>
              <a:round/>
              <a:headEnd/>
              <a:tailEnd/>
            </a:ln>
          </p:spPr>
          <p:txBody>
            <a:bodyPr/>
            <a:lstStyle/>
            <a:p>
              <a:endParaRPr lang="zh-CN" altLang="en-US"/>
            </a:p>
          </p:txBody>
        </p:sp>
        <p:sp>
          <p:nvSpPr>
            <p:cNvPr id="37976" name="Freeform 20"/>
            <p:cNvSpPr>
              <a:spLocks/>
            </p:cNvSpPr>
            <p:nvPr/>
          </p:nvSpPr>
          <p:spPr bwMode="auto">
            <a:xfrm>
              <a:off x="6140730" y="2482487"/>
              <a:ext cx="1527143" cy="848413"/>
            </a:xfrm>
            <a:custGeom>
              <a:avLst/>
              <a:gdLst>
                <a:gd name="T0" fmla="*/ 0 w 1008"/>
                <a:gd name="T1" fmla="*/ 2147483647 h 792"/>
                <a:gd name="T2" fmla="*/ 2147483647 w 1008"/>
                <a:gd name="T3" fmla="*/ 2147483647 h 792"/>
                <a:gd name="T4" fmla="*/ 2147483647 w 1008"/>
                <a:gd name="T5" fmla="*/ 2147483647 h 792"/>
                <a:gd name="T6" fmla="*/ 2147483647 w 1008"/>
                <a:gd name="T7" fmla="*/ 0 h 792"/>
                <a:gd name="T8" fmla="*/ 0 60000 65536"/>
                <a:gd name="T9" fmla="*/ 0 60000 65536"/>
                <a:gd name="T10" fmla="*/ 0 60000 65536"/>
                <a:gd name="T11" fmla="*/ 0 60000 65536"/>
                <a:gd name="T12" fmla="*/ 0 w 1008"/>
                <a:gd name="T13" fmla="*/ 0 h 792"/>
                <a:gd name="T14" fmla="*/ 1008 w 1008"/>
                <a:gd name="T15" fmla="*/ 792 h 792"/>
              </a:gdLst>
              <a:ahLst/>
              <a:cxnLst>
                <a:cxn ang="T8">
                  <a:pos x="T0" y="T1"/>
                </a:cxn>
                <a:cxn ang="T9">
                  <a:pos x="T2" y="T3"/>
                </a:cxn>
                <a:cxn ang="T10">
                  <a:pos x="T4" y="T5"/>
                </a:cxn>
                <a:cxn ang="T11">
                  <a:pos x="T6" y="T7"/>
                </a:cxn>
              </a:cxnLst>
              <a:rect l="T12" t="T13" r="T14" b="T15"/>
              <a:pathLst>
                <a:path w="1008" h="792">
                  <a:moveTo>
                    <a:pt x="0" y="672"/>
                  </a:moveTo>
                  <a:cubicBezTo>
                    <a:pt x="144" y="732"/>
                    <a:pt x="288" y="792"/>
                    <a:pt x="432" y="768"/>
                  </a:cubicBezTo>
                  <a:cubicBezTo>
                    <a:pt x="576" y="744"/>
                    <a:pt x="768" y="656"/>
                    <a:pt x="864" y="528"/>
                  </a:cubicBezTo>
                  <a:cubicBezTo>
                    <a:pt x="960" y="400"/>
                    <a:pt x="984" y="200"/>
                    <a:pt x="1008" y="0"/>
                  </a:cubicBezTo>
                </a:path>
              </a:pathLst>
            </a:custGeom>
            <a:noFill/>
            <a:ln w="19050">
              <a:solidFill>
                <a:srgbClr val="00B0F0"/>
              </a:solidFill>
              <a:round/>
              <a:headEnd/>
              <a:tailEnd/>
            </a:ln>
          </p:spPr>
          <p:txBody>
            <a:bodyPr/>
            <a:lstStyle/>
            <a:p>
              <a:endParaRPr lang="zh-CN" altLang="en-US"/>
            </a:p>
          </p:txBody>
        </p:sp>
        <p:sp>
          <p:nvSpPr>
            <p:cNvPr id="37977" name="Freeform 21"/>
            <p:cNvSpPr>
              <a:spLocks/>
            </p:cNvSpPr>
            <p:nvPr/>
          </p:nvSpPr>
          <p:spPr bwMode="auto">
            <a:xfrm>
              <a:off x="6770709" y="2435354"/>
              <a:ext cx="143020" cy="52278"/>
            </a:xfrm>
            <a:custGeom>
              <a:avLst/>
              <a:gdLst>
                <a:gd name="T0" fmla="*/ 0 w 192"/>
                <a:gd name="T1" fmla="*/ 2147483647 h 144"/>
                <a:gd name="T2" fmla="*/ 2147483647 w 192"/>
                <a:gd name="T3" fmla="*/ 0 h 144"/>
                <a:gd name="T4" fmla="*/ 0 60000 65536"/>
                <a:gd name="T5" fmla="*/ 0 60000 65536"/>
                <a:gd name="T6" fmla="*/ 0 w 192"/>
                <a:gd name="T7" fmla="*/ 0 h 144"/>
                <a:gd name="T8" fmla="*/ 192 w 192"/>
                <a:gd name="T9" fmla="*/ 144 h 144"/>
              </a:gdLst>
              <a:ahLst/>
              <a:cxnLst>
                <a:cxn ang="T4">
                  <a:pos x="T0" y="T1"/>
                </a:cxn>
                <a:cxn ang="T5">
                  <a:pos x="T2" y="T3"/>
                </a:cxn>
              </a:cxnLst>
              <a:rect l="T6" t="T7" r="T8" b="T9"/>
              <a:pathLst>
                <a:path w="192" h="144">
                  <a:moveTo>
                    <a:pt x="0" y="144"/>
                  </a:moveTo>
                  <a:cubicBezTo>
                    <a:pt x="0" y="144"/>
                    <a:pt x="96" y="72"/>
                    <a:pt x="192" y="0"/>
                  </a:cubicBezTo>
                </a:path>
              </a:pathLst>
            </a:custGeom>
            <a:noFill/>
            <a:ln w="19050">
              <a:solidFill>
                <a:srgbClr val="0000FF"/>
              </a:solidFill>
              <a:prstDash val="sysDash"/>
              <a:round/>
              <a:headEnd/>
              <a:tailEnd type="arrow" w="med" len="med"/>
            </a:ln>
          </p:spPr>
          <p:txBody>
            <a:bodyPr/>
            <a:lstStyle/>
            <a:p>
              <a:endParaRPr lang="zh-CN" altLang="en-US"/>
            </a:p>
          </p:txBody>
        </p:sp>
        <p:sp>
          <p:nvSpPr>
            <p:cNvPr id="37978" name="Text Box 22"/>
            <p:cNvSpPr txBox="1">
              <a:spLocks noChangeArrowheads="1"/>
            </p:cNvSpPr>
            <p:nvPr/>
          </p:nvSpPr>
          <p:spPr bwMode="auto">
            <a:xfrm>
              <a:off x="5727634" y="2237097"/>
              <a:ext cx="761520" cy="430641"/>
            </a:xfrm>
            <a:prstGeom prst="rect">
              <a:avLst/>
            </a:prstGeom>
            <a:noFill/>
            <a:ln w="9525">
              <a:noFill/>
              <a:miter lim="800000"/>
              <a:headEnd/>
              <a:tailEnd/>
            </a:ln>
          </p:spPr>
          <p:txBody>
            <a:bodyPr wrap="none">
              <a:spAutoFit/>
            </a:bodyPr>
            <a:lstStyle/>
            <a:p>
              <a:pPr eaLnBrk="0" hangingPunct="0"/>
              <a:r>
                <a:rPr lang="zh-CN" altLang="en-US" sz="1500" b="1">
                  <a:solidFill>
                    <a:srgbClr val="0000FF"/>
                  </a:solidFill>
                  <a:latin typeface="Times New Roman" pitchFamily="18" charset="0"/>
                </a:rPr>
                <a:t>不可逆</a:t>
              </a:r>
            </a:p>
          </p:txBody>
        </p:sp>
        <p:sp>
          <p:nvSpPr>
            <p:cNvPr id="37979" name="Text Box 23"/>
            <p:cNvSpPr txBox="1">
              <a:spLocks noChangeArrowheads="1"/>
            </p:cNvSpPr>
            <p:nvPr/>
          </p:nvSpPr>
          <p:spPr bwMode="auto">
            <a:xfrm>
              <a:off x="6856178" y="3281736"/>
              <a:ext cx="569218" cy="430641"/>
            </a:xfrm>
            <a:prstGeom prst="rect">
              <a:avLst/>
            </a:prstGeom>
            <a:noFill/>
            <a:ln w="9525">
              <a:noFill/>
              <a:miter lim="800000"/>
              <a:headEnd/>
              <a:tailEnd/>
            </a:ln>
          </p:spPr>
          <p:txBody>
            <a:bodyPr wrap="none">
              <a:spAutoFit/>
            </a:bodyPr>
            <a:lstStyle/>
            <a:p>
              <a:pPr eaLnBrk="0" hangingPunct="0"/>
              <a:r>
                <a:rPr lang="zh-CN" altLang="en-US" sz="1500" b="1">
                  <a:solidFill>
                    <a:srgbClr val="FF0000"/>
                  </a:solidFill>
                  <a:latin typeface="Times New Roman" pitchFamily="18" charset="0"/>
                </a:rPr>
                <a:t>可逆</a:t>
              </a:r>
            </a:p>
          </p:txBody>
        </p:sp>
        <p:sp>
          <p:nvSpPr>
            <p:cNvPr id="37980" name="Line 24"/>
            <p:cNvSpPr>
              <a:spLocks noChangeShapeType="1"/>
            </p:cNvSpPr>
            <p:nvPr/>
          </p:nvSpPr>
          <p:spPr bwMode="auto">
            <a:xfrm flipH="1">
              <a:off x="6980235" y="3198925"/>
              <a:ext cx="216297" cy="70817"/>
            </a:xfrm>
            <a:prstGeom prst="line">
              <a:avLst/>
            </a:prstGeom>
            <a:noFill/>
            <a:ln w="19050">
              <a:solidFill>
                <a:srgbClr val="00B0F0"/>
              </a:solidFill>
              <a:round/>
              <a:headEnd/>
              <a:tailEnd type="arrow" w="med" len="med"/>
            </a:ln>
          </p:spPr>
          <p:txBody>
            <a:bodyPr/>
            <a:lstStyle/>
            <a:p>
              <a:endParaRPr lang="zh-CN" altLang="en-US"/>
            </a:p>
          </p:txBody>
        </p:sp>
        <p:sp>
          <p:nvSpPr>
            <p:cNvPr id="37981" name="Oval 34"/>
            <p:cNvSpPr>
              <a:spLocks noChangeArrowheads="1"/>
            </p:cNvSpPr>
            <p:nvPr/>
          </p:nvSpPr>
          <p:spPr bwMode="auto">
            <a:xfrm>
              <a:off x="6080127" y="3142643"/>
              <a:ext cx="90488" cy="90488"/>
            </a:xfrm>
            <a:prstGeom prst="ellipse">
              <a:avLst/>
            </a:prstGeom>
            <a:solidFill>
              <a:srgbClr val="66FFFF"/>
            </a:solidFill>
            <a:ln w="9525">
              <a:solidFill>
                <a:schemeClr val="tx1"/>
              </a:solidFill>
              <a:round/>
              <a:headEnd/>
              <a:tailEnd/>
            </a:ln>
          </p:spPr>
          <p:txBody>
            <a:bodyPr wrap="none" anchor="ctr"/>
            <a:lstStyle/>
            <a:p>
              <a:endParaRPr lang="zh-CN" altLang="zh-CN">
                <a:solidFill>
                  <a:srgbClr val="000000"/>
                </a:solidFill>
                <a:latin typeface="Times New Roman" pitchFamily="18" charset="0"/>
              </a:endParaRPr>
            </a:p>
          </p:txBody>
        </p:sp>
        <p:sp>
          <p:nvSpPr>
            <p:cNvPr id="37982" name="Oval 35"/>
            <p:cNvSpPr>
              <a:spLocks noChangeArrowheads="1"/>
            </p:cNvSpPr>
            <p:nvPr/>
          </p:nvSpPr>
          <p:spPr bwMode="auto">
            <a:xfrm>
              <a:off x="7610477" y="2448063"/>
              <a:ext cx="90488" cy="90488"/>
            </a:xfrm>
            <a:prstGeom prst="ellipse">
              <a:avLst/>
            </a:prstGeom>
            <a:solidFill>
              <a:srgbClr val="66FFFF"/>
            </a:solidFill>
            <a:ln w="9525">
              <a:solidFill>
                <a:schemeClr val="tx1"/>
              </a:solidFill>
              <a:round/>
              <a:headEnd/>
              <a:tailEnd/>
            </a:ln>
          </p:spPr>
          <p:txBody>
            <a:bodyPr wrap="none" anchor="ctr"/>
            <a:lstStyle/>
            <a:p>
              <a:endParaRPr lang="zh-CN" altLang="zh-CN">
                <a:solidFill>
                  <a:srgbClr val="000000"/>
                </a:solidFill>
                <a:latin typeface="Times New Roman" pitchFamily="18" charset="0"/>
              </a:endParaRPr>
            </a:p>
          </p:txBody>
        </p:sp>
      </p:grpSp>
      <p:graphicFrame>
        <p:nvGraphicFramePr>
          <p:cNvPr id="6" name="Object 62"/>
          <p:cNvGraphicFramePr>
            <a:graphicFrameLocks noChangeAspect="1"/>
          </p:cNvGraphicFramePr>
          <p:nvPr/>
        </p:nvGraphicFramePr>
        <p:xfrm>
          <a:off x="2262188" y="1492250"/>
          <a:ext cx="3810000" cy="550863"/>
        </p:xfrm>
        <a:graphic>
          <a:graphicData uri="http://schemas.openxmlformats.org/presentationml/2006/ole">
            <p:oleObj spid="_x0000_s37950" name="公式" r:id="rId3" imgW="2108200" imgH="406400" progId="Equation.3">
              <p:embed/>
            </p:oleObj>
          </a:graphicData>
        </a:graphic>
      </p:graphicFrame>
      <p:graphicFrame>
        <p:nvGraphicFramePr>
          <p:cNvPr id="37" name="Object 63"/>
          <p:cNvGraphicFramePr>
            <a:graphicFrameLocks noChangeAspect="1"/>
          </p:cNvGraphicFramePr>
          <p:nvPr/>
        </p:nvGraphicFramePr>
        <p:xfrm>
          <a:off x="2695575" y="2076450"/>
          <a:ext cx="2640013" cy="549275"/>
        </p:xfrm>
        <a:graphic>
          <a:graphicData uri="http://schemas.openxmlformats.org/presentationml/2006/ole">
            <p:oleObj spid="_x0000_s37951" name="公式" r:id="rId4" imgW="1459866" imgH="406224" progId="Equation.3">
              <p:embed/>
            </p:oleObj>
          </a:graphicData>
        </a:graphic>
      </p:graphicFrame>
      <p:graphicFrame>
        <p:nvGraphicFramePr>
          <p:cNvPr id="38" name="Object 64"/>
          <p:cNvGraphicFramePr>
            <a:graphicFrameLocks noChangeAspect="1"/>
          </p:cNvGraphicFramePr>
          <p:nvPr/>
        </p:nvGraphicFramePr>
        <p:xfrm>
          <a:off x="2703513" y="2679700"/>
          <a:ext cx="2778125" cy="549275"/>
        </p:xfrm>
        <a:graphic>
          <a:graphicData uri="http://schemas.openxmlformats.org/presentationml/2006/ole">
            <p:oleObj spid="_x0000_s37952" name="Equation" r:id="rId5" imgW="1536033" imgH="406224" progId="Equation.3">
              <p:embed/>
            </p:oleObj>
          </a:graphicData>
        </a:graphic>
      </p:graphicFrame>
      <p:sp>
        <p:nvSpPr>
          <p:cNvPr id="41" name="Rectangle 42"/>
          <p:cNvSpPr>
            <a:spLocks noChangeArrowheads="1"/>
          </p:cNvSpPr>
          <p:nvPr/>
        </p:nvSpPr>
        <p:spPr bwMode="auto">
          <a:xfrm>
            <a:off x="5441950" y="2751138"/>
            <a:ext cx="2874963" cy="396875"/>
          </a:xfrm>
          <a:prstGeom prst="rect">
            <a:avLst/>
          </a:prstGeom>
          <a:noFill/>
          <a:ln w="9525">
            <a:noFill/>
            <a:miter lim="800000"/>
            <a:headEnd/>
            <a:tailEnd/>
          </a:ln>
        </p:spPr>
        <p:txBody>
          <a:bodyPr>
            <a:spAutoFit/>
          </a:bodyPr>
          <a:lstStyle/>
          <a:p>
            <a:pPr eaLnBrk="0" hangingPunct="0">
              <a:lnSpc>
                <a:spcPct val="110000"/>
              </a:lnSpc>
            </a:pPr>
            <a:r>
              <a:rPr lang="en-US" altLang="zh-CN" b="1">
                <a:solidFill>
                  <a:srgbClr val="0000FF"/>
                </a:solidFill>
                <a:latin typeface="Times New Roman" pitchFamily="18" charset="0"/>
                <a:ea typeface="华文中宋"/>
                <a:cs typeface="华文中宋"/>
              </a:rPr>
              <a:t>= </a:t>
            </a:r>
            <a:r>
              <a:rPr lang="en-US" altLang="zh-CN" b="1" i="1">
                <a:solidFill>
                  <a:srgbClr val="0000FF"/>
                </a:solidFill>
                <a:latin typeface="Times New Roman" pitchFamily="18" charset="0"/>
                <a:ea typeface="华文中宋"/>
                <a:cs typeface="华文中宋"/>
              </a:rPr>
              <a:t>S</a:t>
            </a:r>
            <a:r>
              <a:rPr lang="en-US" altLang="zh-CN" b="1" baseline="-25000">
                <a:solidFill>
                  <a:srgbClr val="0000FF"/>
                </a:solidFill>
                <a:latin typeface="Times New Roman" pitchFamily="18" charset="0"/>
                <a:ea typeface="华文中宋"/>
                <a:cs typeface="华文中宋"/>
              </a:rPr>
              <a:t>B</a:t>
            </a:r>
            <a:r>
              <a:rPr lang="en-US" altLang="zh-CN" b="1">
                <a:solidFill>
                  <a:srgbClr val="0000FF"/>
                </a:solidFill>
                <a:latin typeface="Times New Roman" pitchFamily="18" charset="0"/>
                <a:ea typeface="华文中宋"/>
                <a:cs typeface="华文中宋"/>
              </a:rPr>
              <a:t> -</a:t>
            </a:r>
            <a:r>
              <a:rPr lang="en-US" altLang="zh-CN" b="1" i="1">
                <a:solidFill>
                  <a:srgbClr val="0000FF"/>
                </a:solidFill>
                <a:latin typeface="Times New Roman" pitchFamily="18" charset="0"/>
                <a:ea typeface="华文中宋"/>
                <a:cs typeface="华文中宋"/>
              </a:rPr>
              <a:t>S</a:t>
            </a:r>
            <a:r>
              <a:rPr lang="en-US" altLang="zh-CN" b="1" baseline="-25000">
                <a:solidFill>
                  <a:srgbClr val="0000FF"/>
                </a:solidFill>
                <a:latin typeface="Times New Roman" pitchFamily="18" charset="0"/>
                <a:ea typeface="华文中宋"/>
                <a:cs typeface="华文中宋"/>
              </a:rPr>
              <a:t>A</a:t>
            </a:r>
            <a:r>
              <a:rPr lang="en-US" altLang="zh-CN" b="1">
                <a:solidFill>
                  <a:srgbClr val="0000FF"/>
                </a:solidFill>
                <a:latin typeface="Times New Roman" pitchFamily="18" charset="0"/>
                <a:ea typeface="华文中宋"/>
                <a:cs typeface="华文中宋"/>
              </a:rPr>
              <a:t>   </a:t>
            </a:r>
            <a:r>
              <a:rPr lang="zh-CN" altLang="en-US" b="1">
                <a:solidFill>
                  <a:srgbClr val="0000FF"/>
                </a:solidFill>
                <a:latin typeface="Times New Roman" pitchFamily="18" charset="0"/>
                <a:ea typeface="华文中宋"/>
                <a:cs typeface="华文中宋"/>
              </a:rPr>
              <a:t>为熵变</a:t>
            </a:r>
            <a:endParaRPr kumimoji="1" lang="zh-CN" altLang="en-US" b="1">
              <a:solidFill>
                <a:srgbClr val="0000FF"/>
              </a:solidFill>
              <a:latin typeface="Times New Roman" pitchFamily="18" charset="0"/>
              <a:ea typeface="华文中宋"/>
              <a:cs typeface="华文中宋"/>
            </a:endParaRPr>
          </a:p>
        </p:txBody>
      </p:sp>
      <p:graphicFrame>
        <p:nvGraphicFramePr>
          <p:cNvPr id="7" name="Object 65"/>
          <p:cNvGraphicFramePr>
            <a:graphicFrameLocks noChangeAspect="1"/>
          </p:cNvGraphicFramePr>
          <p:nvPr/>
        </p:nvGraphicFramePr>
        <p:xfrm>
          <a:off x="3365500" y="3148013"/>
          <a:ext cx="2003425" cy="593725"/>
        </p:xfrm>
        <a:graphic>
          <a:graphicData uri="http://schemas.openxmlformats.org/presentationml/2006/ole">
            <p:oleObj spid="_x0000_s37953" name="公式" r:id="rId6" imgW="1028254" imgH="406224" progId="Equation.3">
              <p:embed/>
            </p:oleObj>
          </a:graphicData>
        </a:graphic>
      </p:graphicFrame>
      <p:grpSp>
        <p:nvGrpSpPr>
          <p:cNvPr id="3" name="Group 10"/>
          <p:cNvGrpSpPr>
            <a:grpSpLocks/>
          </p:cNvGrpSpPr>
          <p:nvPr/>
        </p:nvGrpSpPr>
        <p:grpSpPr bwMode="auto">
          <a:xfrm>
            <a:off x="3203575" y="3741738"/>
            <a:ext cx="727075" cy="365125"/>
            <a:chOff x="1657" y="2451"/>
            <a:chExt cx="458" cy="306"/>
          </a:xfrm>
        </p:grpSpPr>
        <p:sp>
          <p:nvSpPr>
            <p:cNvPr id="37964" name="Text Box 11"/>
            <p:cNvSpPr txBox="1">
              <a:spLocks noChangeArrowheads="1"/>
            </p:cNvSpPr>
            <p:nvPr/>
          </p:nvSpPr>
          <p:spPr bwMode="auto">
            <a:xfrm>
              <a:off x="1657" y="2482"/>
              <a:ext cx="436" cy="275"/>
            </a:xfrm>
            <a:prstGeom prst="rect">
              <a:avLst/>
            </a:prstGeom>
            <a:noFill/>
            <a:ln w="9525">
              <a:noFill/>
              <a:miter lim="800000"/>
              <a:headEnd/>
              <a:tailEnd/>
            </a:ln>
          </p:spPr>
          <p:txBody>
            <a:bodyPr>
              <a:spAutoFit/>
            </a:bodyPr>
            <a:lstStyle/>
            <a:p>
              <a:pPr eaLnBrk="0" hangingPunct="0">
                <a:lnSpc>
                  <a:spcPct val="110000"/>
                </a:lnSpc>
              </a:pPr>
              <a:r>
                <a:rPr lang="zh-CN" altLang="en-US" sz="1500" b="1">
                  <a:solidFill>
                    <a:srgbClr val="000000"/>
                  </a:solidFill>
                  <a:latin typeface="Times New Roman" pitchFamily="18" charset="0"/>
                  <a:ea typeface="华文中宋"/>
                  <a:cs typeface="华文中宋"/>
                </a:rPr>
                <a:t>熵变</a:t>
              </a:r>
              <a:endParaRPr lang="zh-CN" altLang="en-US" sz="1500" b="1">
                <a:solidFill>
                  <a:srgbClr val="FF00FF"/>
                </a:solidFill>
                <a:latin typeface="Times New Roman" pitchFamily="18" charset="0"/>
                <a:ea typeface="华文中宋"/>
                <a:cs typeface="华文中宋"/>
              </a:endParaRPr>
            </a:p>
          </p:txBody>
        </p:sp>
        <p:sp>
          <p:nvSpPr>
            <p:cNvPr id="37965" name="Line 12"/>
            <p:cNvSpPr>
              <a:spLocks noChangeShapeType="1"/>
            </p:cNvSpPr>
            <p:nvPr/>
          </p:nvSpPr>
          <p:spPr bwMode="auto">
            <a:xfrm>
              <a:off x="1718" y="2451"/>
              <a:ext cx="397" cy="0"/>
            </a:xfrm>
            <a:prstGeom prst="line">
              <a:avLst/>
            </a:prstGeom>
            <a:noFill/>
            <a:ln w="19050">
              <a:solidFill>
                <a:srgbClr val="FF0000"/>
              </a:solidFill>
              <a:round/>
              <a:headEnd/>
              <a:tailEnd/>
            </a:ln>
          </p:spPr>
          <p:txBody>
            <a:bodyPr>
              <a:spAutoFit/>
            </a:bodyPr>
            <a:lstStyle/>
            <a:p>
              <a:endParaRPr lang="zh-CN" altLang="en-US"/>
            </a:p>
          </p:txBody>
        </p:sp>
      </p:grpSp>
      <p:grpSp>
        <p:nvGrpSpPr>
          <p:cNvPr id="4" name="Group 13"/>
          <p:cNvGrpSpPr>
            <a:grpSpLocks/>
          </p:cNvGrpSpPr>
          <p:nvPr/>
        </p:nvGrpSpPr>
        <p:grpSpPr bwMode="auto">
          <a:xfrm>
            <a:off x="4144963" y="3741738"/>
            <a:ext cx="2216150" cy="357187"/>
            <a:chOff x="2220" y="2531"/>
            <a:chExt cx="1396" cy="300"/>
          </a:xfrm>
        </p:grpSpPr>
        <p:sp>
          <p:nvSpPr>
            <p:cNvPr id="37962" name="Text Box 14"/>
            <p:cNvSpPr txBox="1">
              <a:spLocks noChangeArrowheads="1"/>
            </p:cNvSpPr>
            <p:nvPr/>
          </p:nvSpPr>
          <p:spPr bwMode="auto">
            <a:xfrm>
              <a:off x="2220" y="2556"/>
              <a:ext cx="1396" cy="275"/>
            </a:xfrm>
            <a:prstGeom prst="rect">
              <a:avLst/>
            </a:prstGeom>
            <a:noFill/>
            <a:ln w="9525">
              <a:noFill/>
              <a:miter lim="800000"/>
              <a:headEnd/>
              <a:tailEnd/>
            </a:ln>
          </p:spPr>
          <p:txBody>
            <a:bodyPr>
              <a:spAutoFit/>
            </a:bodyPr>
            <a:lstStyle/>
            <a:p>
              <a:pPr eaLnBrk="0" hangingPunct="0">
                <a:lnSpc>
                  <a:spcPct val="110000"/>
                </a:lnSpc>
              </a:pPr>
              <a:r>
                <a:rPr lang="zh-CN" altLang="en-US" sz="1500" b="1">
                  <a:solidFill>
                    <a:srgbClr val="000000"/>
                  </a:solidFill>
                  <a:latin typeface="Times New Roman" pitchFamily="18" charset="0"/>
                  <a:ea typeface="华文中宋"/>
                  <a:cs typeface="华文中宋"/>
                </a:rPr>
                <a:t>不可逆过程的积分</a:t>
              </a:r>
            </a:p>
          </p:txBody>
        </p:sp>
        <p:sp>
          <p:nvSpPr>
            <p:cNvPr id="37963" name="Line 15"/>
            <p:cNvSpPr>
              <a:spLocks noChangeShapeType="1"/>
            </p:cNvSpPr>
            <p:nvPr/>
          </p:nvSpPr>
          <p:spPr bwMode="auto">
            <a:xfrm>
              <a:off x="2256" y="2531"/>
              <a:ext cx="595" cy="0"/>
            </a:xfrm>
            <a:prstGeom prst="line">
              <a:avLst/>
            </a:prstGeom>
            <a:noFill/>
            <a:ln w="19050">
              <a:solidFill>
                <a:srgbClr val="00B0F0"/>
              </a:solidFill>
              <a:round/>
              <a:headEnd/>
              <a:tailEnd/>
            </a:ln>
          </p:spPr>
          <p:txBody>
            <a:bodyPr>
              <a:spAutoFit/>
            </a:bodyPr>
            <a:lstStyle/>
            <a:p>
              <a:endParaRPr lang="zh-CN" altLang="en-US"/>
            </a:p>
          </p:txBody>
        </p:sp>
      </p:grpSp>
      <p:sp>
        <p:nvSpPr>
          <p:cNvPr id="12" name="Text Box 16"/>
          <p:cNvSpPr txBox="1">
            <a:spLocks noChangeArrowheads="1"/>
          </p:cNvSpPr>
          <p:nvPr/>
        </p:nvSpPr>
        <p:spPr bwMode="auto">
          <a:xfrm>
            <a:off x="1979613" y="4114800"/>
            <a:ext cx="2447925" cy="396875"/>
          </a:xfrm>
          <a:prstGeom prst="rect">
            <a:avLst/>
          </a:prstGeom>
          <a:noFill/>
          <a:ln w="9525">
            <a:noFill/>
            <a:miter lim="800000"/>
            <a:headEnd/>
            <a:tailEnd/>
          </a:ln>
        </p:spPr>
        <p:txBody>
          <a:bodyPr>
            <a:spAutoFit/>
          </a:bodyPr>
          <a:lstStyle/>
          <a:p>
            <a:pPr eaLnBrk="0" hangingPunct="0">
              <a:lnSpc>
                <a:spcPct val="110000"/>
              </a:lnSpc>
            </a:pPr>
            <a:r>
              <a:rPr lang="zh-CN" altLang="en-US" b="1">
                <a:solidFill>
                  <a:srgbClr val="FF0000"/>
                </a:solidFill>
                <a:latin typeface="Times New Roman" pitchFamily="18" charset="0"/>
                <a:ea typeface="华文中宋"/>
                <a:cs typeface="华文中宋"/>
              </a:rPr>
              <a:t>对于微小不可逆过程</a:t>
            </a:r>
          </a:p>
        </p:txBody>
      </p:sp>
      <p:graphicFrame>
        <p:nvGraphicFramePr>
          <p:cNvPr id="13" name="Object 66"/>
          <p:cNvGraphicFramePr>
            <a:graphicFrameLocks noChangeAspect="1"/>
          </p:cNvGraphicFramePr>
          <p:nvPr/>
        </p:nvGraphicFramePr>
        <p:xfrm>
          <a:off x="4360863" y="4011613"/>
          <a:ext cx="1584325" cy="584200"/>
        </p:xfrm>
        <a:graphic>
          <a:graphicData uri="http://schemas.openxmlformats.org/presentationml/2006/ole">
            <p:oleObj spid="_x0000_s37954" name="公式" r:id="rId7" imgW="825142" imgH="406224" progId="Equation.3">
              <p:embed/>
            </p:oleObj>
          </a:graphicData>
        </a:graphic>
      </p:graphicFrame>
      <p:sp>
        <p:nvSpPr>
          <p:cNvPr id="35" name="Text Box 2"/>
          <p:cNvSpPr>
            <a:spLocks noChangeArrowheads="1"/>
          </p:cNvSpPr>
          <p:nvPr/>
        </p:nvSpPr>
        <p:spPr bwMode="auto">
          <a:xfrm>
            <a:off x="836613" y="874713"/>
            <a:ext cx="2076450" cy="401637"/>
          </a:xfrm>
          <a:prstGeom prst="homePlate">
            <a:avLst>
              <a:gd name="adj" fmla="val 49569"/>
            </a:avLst>
          </a:prstGeom>
          <a:solidFill>
            <a:srgbClr val="539A84"/>
          </a:solidFill>
          <a:ln w="9525">
            <a:noFill/>
            <a:miter lim="800000"/>
            <a:headEnd/>
            <a:tailEnd/>
          </a:ln>
        </p:spPr>
        <p:txBody>
          <a:bodyPr>
            <a:spAutoFit/>
          </a:bodyPr>
          <a:lstStyle/>
          <a:p>
            <a:pPr>
              <a:buFont typeface="Arial" charset="0"/>
              <a:buNone/>
            </a:pPr>
            <a:r>
              <a:rPr kumimoji="1" lang="zh-CN" altLang="en-US" sz="2000" b="1">
                <a:solidFill>
                  <a:srgbClr val="FFFFFF"/>
                </a:solidFill>
                <a:latin typeface="微软雅黑" pitchFamily="34" charset="-122"/>
                <a:ea typeface="微软雅黑" pitchFamily="34" charset="-122"/>
              </a:rPr>
              <a:t>四、熵增加原理</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wipe(left)">
                                      <p:cBhvr>
                                        <p:cTn id="7" dur="500"/>
                                        <p:tgtEl>
                                          <p:spTgt spid="3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42361"/>
                                        </p:tgtEl>
                                        <p:attrNameLst>
                                          <p:attrName>style.visibility</p:attrName>
                                        </p:attrNameLst>
                                      </p:cBhvr>
                                      <p:to>
                                        <p:strVal val="visible"/>
                                      </p:to>
                                    </p:set>
                                    <p:animEffect transition="in" filter="wipe(left)">
                                      <p:cBhvr>
                                        <p:cTn id="12" dur="500"/>
                                        <p:tgtEl>
                                          <p:spTgt spid="142361"/>
                                        </p:tgtEl>
                                      </p:cBhvr>
                                    </p:animEffect>
                                  </p:childTnLst>
                                </p:cTn>
                              </p:par>
                            </p:childTnLst>
                          </p:cTn>
                        </p:par>
                      </p:childTnLst>
                    </p:cTn>
                  </p:par>
                  <p:par>
                    <p:cTn id="13" fill="hold">
                      <p:stCondLst>
                        <p:cond delay="indefinite"/>
                      </p:stCondLst>
                      <p:childTnLst>
                        <p:par>
                          <p:cTn id="14" fill="hold">
                            <p:stCondLst>
                              <p:cond delay="0"/>
                            </p:stCondLst>
                            <p:childTnLst>
                              <p:par>
                                <p:cTn id="15" presetID="23" presetClass="entr" presetSubtype="16"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p:cTn id="17" dur="500" fill="hold"/>
                                        <p:tgtEl>
                                          <p:spTgt spid="2"/>
                                        </p:tgtEl>
                                        <p:attrNameLst>
                                          <p:attrName>ppt_w</p:attrName>
                                        </p:attrNameLst>
                                      </p:cBhvr>
                                      <p:tavLst>
                                        <p:tav tm="0">
                                          <p:val>
                                            <p:fltVal val="0"/>
                                          </p:val>
                                        </p:tav>
                                        <p:tav tm="100000">
                                          <p:val>
                                            <p:strVal val="#ppt_w"/>
                                          </p:val>
                                        </p:tav>
                                      </p:tavLst>
                                    </p:anim>
                                    <p:anim calcmode="lin" valueType="num">
                                      <p:cBhvr>
                                        <p:cTn id="18" dur="500" fill="hold"/>
                                        <p:tgtEl>
                                          <p:spTgt spid="2"/>
                                        </p:tgtEl>
                                        <p:attrNameLst>
                                          <p:attrName>ppt_h</p:attrName>
                                        </p:attrNameLst>
                                      </p:cBhvr>
                                      <p:tavLst>
                                        <p:tav tm="0">
                                          <p:val>
                                            <p:fltVal val="0"/>
                                          </p:val>
                                        </p:tav>
                                        <p:tav tm="100000">
                                          <p:val>
                                            <p:strVal val="#ppt_h"/>
                                          </p:val>
                                        </p:tav>
                                      </p:tavLst>
                                    </p:anim>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wipe(left)">
                                      <p:cBhvr>
                                        <p:cTn id="23" dur="500"/>
                                        <p:tgtEl>
                                          <p:spTgt spid="6"/>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37"/>
                                        </p:tgtEl>
                                        <p:attrNameLst>
                                          <p:attrName>style.visibility</p:attrName>
                                        </p:attrNameLst>
                                      </p:cBhvr>
                                      <p:to>
                                        <p:strVal val="visible"/>
                                      </p:to>
                                    </p:set>
                                    <p:animEffect transition="in" filter="wipe(left)">
                                      <p:cBhvr>
                                        <p:cTn id="28" dur="500"/>
                                        <p:tgtEl>
                                          <p:spTgt spid="37"/>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38"/>
                                        </p:tgtEl>
                                        <p:attrNameLst>
                                          <p:attrName>style.visibility</p:attrName>
                                        </p:attrNameLst>
                                      </p:cBhvr>
                                      <p:to>
                                        <p:strVal val="visible"/>
                                      </p:to>
                                    </p:set>
                                    <p:animEffect transition="in" filter="wipe(left)">
                                      <p:cBhvr>
                                        <p:cTn id="33" dur="500"/>
                                        <p:tgtEl>
                                          <p:spTgt spid="38"/>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41"/>
                                        </p:tgtEl>
                                        <p:attrNameLst>
                                          <p:attrName>style.visibility</p:attrName>
                                        </p:attrNameLst>
                                      </p:cBhvr>
                                      <p:to>
                                        <p:strVal val="visible"/>
                                      </p:to>
                                    </p:set>
                                    <p:animEffect transition="in" filter="wipe(left)">
                                      <p:cBhvr>
                                        <p:cTn id="38" dur="500"/>
                                        <p:tgtEl>
                                          <p:spTgt spid="41"/>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nodeType="clickEffect">
                                  <p:stCondLst>
                                    <p:cond delay="0"/>
                                  </p:stCondLst>
                                  <p:childTnLst>
                                    <p:set>
                                      <p:cBhvr>
                                        <p:cTn id="42" dur="1" fill="hold">
                                          <p:stCondLst>
                                            <p:cond delay="0"/>
                                          </p:stCondLst>
                                        </p:cTn>
                                        <p:tgtEl>
                                          <p:spTgt spid="7"/>
                                        </p:tgtEl>
                                        <p:attrNameLst>
                                          <p:attrName>style.visibility</p:attrName>
                                        </p:attrNameLst>
                                      </p:cBhvr>
                                      <p:to>
                                        <p:strVal val="visible"/>
                                      </p:to>
                                    </p:set>
                                    <p:animEffect transition="in" filter="wipe(left)">
                                      <p:cBhvr>
                                        <p:cTn id="43" dur="500"/>
                                        <p:tgtEl>
                                          <p:spTgt spid="7"/>
                                        </p:tgtEl>
                                      </p:cBhvr>
                                    </p:animEffect>
                                  </p:childTnLst>
                                </p:cTn>
                              </p:par>
                            </p:childTnLst>
                          </p:cTn>
                        </p:par>
                      </p:childTnLst>
                    </p:cTn>
                  </p:par>
                  <p:par>
                    <p:cTn id="44" fill="hold">
                      <p:stCondLst>
                        <p:cond delay="indefinite"/>
                      </p:stCondLst>
                      <p:childTnLst>
                        <p:par>
                          <p:cTn id="45" fill="hold">
                            <p:stCondLst>
                              <p:cond delay="0"/>
                            </p:stCondLst>
                            <p:childTnLst>
                              <p:par>
                                <p:cTn id="46" presetID="23" presetClass="entr" presetSubtype="16" fill="hold" nodeType="clickEffect">
                                  <p:stCondLst>
                                    <p:cond delay="0"/>
                                  </p:stCondLst>
                                  <p:childTnLst>
                                    <p:set>
                                      <p:cBhvr>
                                        <p:cTn id="47" dur="1" fill="hold">
                                          <p:stCondLst>
                                            <p:cond delay="0"/>
                                          </p:stCondLst>
                                        </p:cTn>
                                        <p:tgtEl>
                                          <p:spTgt spid="3"/>
                                        </p:tgtEl>
                                        <p:attrNameLst>
                                          <p:attrName>style.visibility</p:attrName>
                                        </p:attrNameLst>
                                      </p:cBhvr>
                                      <p:to>
                                        <p:strVal val="visible"/>
                                      </p:to>
                                    </p:set>
                                    <p:anim calcmode="lin" valueType="num">
                                      <p:cBhvr>
                                        <p:cTn id="48" dur="500" fill="hold"/>
                                        <p:tgtEl>
                                          <p:spTgt spid="3"/>
                                        </p:tgtEl>
                                        <p:attrNameLst>
                                          <p:attrName>ppt_w</p:attrName>
                                        </p:attrNameLst>
                                      </p:cBhvr>
                                      <p:tavLst>
                                        <p:tav tm="0">
                                          <p:val>
                                            <p:fltVal val="0"/>
                                          </p:val>
                                        </p:tav>
                                        <p:tav tm="100000">
                                          <p:val>
                                            <p:strVal val="#ppt_w"/>
                                          </p:val>
                                        </p:tav>
                                      </p:tavLst>
                                    </p:anim>
                                    <p:anim calcmode="lin" valueType="num">
                                      <p:cBhvr>
                                        <p:cTn id="49" dur="500" fill="hold"/>
                                        <p:tgtEl>
                                          <p:spTgt spid="3"/>
                                        </p:tgtEl>
                                        <p:attrNameLst>
                                          <p:attrName>ppt_h</p:attrName>
                                        </p:attrNameLst>
                                      </p:cBhvr>
                                      <p:tavLst>
                                        <p:tav tm="0">
                                          <p:val>
                                            <p:fltVal val="0"/>
                                          </p:val>
                                        </p:tav>
                                        <p:tav tm="100000">
                                          <p:val>
                                            <p:strVal val="#ppt_h"/>
                                          </p:val>
                                        </p:tav>
                                      </p:tavLst>
                                    </p:anim>
                                  </p:childTnLst>
                                </p:cTn>
                              </p:par>
                            </p:childTnLst>
                          </p:cTn>
                        </p:par>
                      </p:childTnLst>
                    </p:cTn>
                  </p:par>
                  <p:par>
                    <p:cTn id="50" fill="hold">
                      <p:stCondLst>
                        <p:cond delay="indefinite"/>
                      </p:stCondLst>
                      <p:childTnLst>
                        <p:par>
                          <p:cTn id="51" fill="hold">
                            <p:stCondLst>
                              <p:cond delay="0"/>
                            </p:stCondLst>
                            <p:childTnLst>
                              <p:par>
                                <p:cTn id="52" presetID="23" presetClass="entr" presetSubtype="16" fill="hold" nodeType="clickEffect">
                                  <p:stCondLst>
                                    <p:cond delay="0"/>
                                  </p:stCondLst>
                                  <p:childTnLst>
                                    <p:set>
                                      <p:cBhvr>
                                        <p:cTn id="53" dur="1" fill="hold">
                                          <p:stCondLst>
                                            <p:cond delay="0"/>
                                          </p:stCondLst>
                                        </p:cTn>
                                        <p:tgtEl>
                                          <p:spTgt spid="4"/>
                                        </p:tgtEl>
                                        <p:attrNameLst>
                                          <p:attrName>style.visibility</p:attrName>
                                        </p:attrNameLst>
                                      </p:cBhvr>
                                      <p:to>
                                        <p:strVal val="visible"/>
                                      </p:to>
                                    </p:set>
                                    <p:anim calcmode="lin" valueType="num">
                                      <p:cBhvr>
                                        <p:cTn id="54" dur="500" fill="hold"/>
                                        <p:tgtEl>
                                          <p:spTgt spid="4"/>
                                        </p:tgtEl>
                                        <p:attrNameLst>
                                          <p:attrName>ppt_w</p:attrName>
                                        </p:attrNameLst>
                                      </p:cBhvr>
                                      <p:tavLst>
                                        <p:tav tm="0">
                                          <p:val>
                                            <p:fltVal val="0"/>
                                          </p:val>
                                        </p:tav>
                                        <p:tav tm="100000">
                                          <p:val>
                                            <p:strVal val="#ppt_w"/>
                                          </p:val>
                                        </p:tav>
                                      </p:tavLst>
                                    </p:anim>
                                    <p:anim calcmode="lin" valueType="num">
                                      <p:cBhvr>
                                        <p:cTn id="55" dur="500" fill="hold"/>
                                        <p:tgtEl>
                                          <p:spTgt spid="4"/>
                                        </p:tgtEl>
                                        <p:attrNameLst>
                                          <p:attrName>ppt_h</p:attrName>
                                        </p:attrNameLst>
                                      </p:cBhvr>
                                      <p:tavLst>
                                        <p:tav tm="0">
                                          <p:val>
                                            <p:fltVal val="0"/>
                                          </p:val>
                                        </p:tav>
                                        <p:tav tm="100000">
                                          <p:val>
                                            <p:strVal val="#ppt_h"/>
                                          </p:val>
                                        </p:tav>
                                      </p:tavLst>
                                    </p:anim>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grpId="0" nodeType="clickEffect">
                                  <p:stCondLst>
                                    <p:cond delay="0"/>
                                  </p:stCondLst>
                                  <p:childTnLst>
                                    <p:set>
                                      <p:cBhvr>
                                        <p:cTn id="59" dur="1" fill="hold">
                                          <p:stCondLst>
                                            <p:cond delay="0"/>
                                          </p:stCondLst>
                                        </p:cTn>
                                        <p:tgtEl>
                                          <p:spTgt spid="12"/>
                                        </p:tgtEl>
                                        <p:attrNameLst>
                                          <p:attrName>style.visibility</p:attrName>
                                        </p:attrNameLst>
                                      </p:cBhvr>
                                      <p:to>
                                        <p:strVal val="visible"/>
                                      </p:to>
                                    </p:set>
                                    <p:animEffect transition="in" filter="wipe(left)">
                                      <p:cBhvr>
                                        <p:cTn id="60" dur="500"/>
                                        <p:tgtEl>
                                          <p:spTgt spid="12"/>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nodeType="clickEffect">
                                  <p:stCondLst>
                                    <p:cond delay="0"/>
                                  </p:stCondLst>
                                  <p:childTnLst>
                                    <p:set>
                                      <p:cBhvr>
                                        <p:cTn id="64" dur="1" fill="hold">
                                          <p:stCondLst>
                                            <p:cond delay="0"/>
                                          </p:stCondLst>
                                        </p:cTn>
                                        <p:tgtEl>
                                          <p:spTgt spid="13"/>
                                        </p:tgtEl>
                                        <p:attrNameLst>
                                          <p:attrName>style.visibility</p:attrName>
                                        </p:attrNameLst>
                                      </p:cBhvr>
                                      <p:to>
                                        <p:strVal val="visible"/>
                                      </p:to>
                                    </p:set>
                                    <p:animEffect transition="in" filter="wipe(left)">
                                      <p:cBhvr>
                                        <p:cTn id="65"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361" grpId="0"/>
      <p:bldP spid="41" grpId="0"/>
      <p:bldP spid="12" grpId="0"/>
      <p:bldP spid="35"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 Box 20"/>
          <p:cNvSpPr txBox="1">
            <a:spLocks noChangeArrowheads="1"/>
          </p:cNvSpPr>
          <p:nvPr/>
        </p:nvSpPr>
        <p:spPr bwMode="auto">
          <a:xfrm>
            <a:off x="684213" y="828675"/>
            <a:ext cx="2509837" cy="374650"/>
          </a:xfrm>
          <a:prstGeom prst="rect">
            <a:avLst/>
          </a:prstGeom>
          <a:noFill/>
          <a:ln w="9525">
            <a:noFill/>
            <a:miter lim="800000"/>
            <a:headEnd/>
            <a:tailEnd/>
          </a:ln>
        </p:spPr>
        <p:txBody>
          <a:bodyPr>
            <a:spAutoFit/>
          </a:bodyPr>
          <a:lstStyle/>
          <a:p>
            <a:pPr>
              <a:lnSpc>
                <a:spcPct val="110000"/>
              </a:lnSpc>
            </a:pPr>
            <a:r>
              <a:rPr kumimoji="1" lang="en-US" altLang="zh-CN" b="1">
                <a:solidFill>
                  <a:srgbClr val="0000FF"/>
                </a:solidFill>
                <a:latin typeface="华文中宋"/>
                <a:ea typeface="华文中宋"/>
                <a:cs typeface="华文中宋"/>
              </a:rPr>
              <a:t>2</a:t>
            </a:r>
            <a:r>
              <a:rPr kumimoji="1" lang="zh-CN" altLang="en-US" b="1">
                <a:solidFill>
                  <a:srgbClr val="0000FF"/>
                </a:solidFill>
                <a:latin typeface="华文中宋"/>
                <a:ea typeface="华文中宋"/>
                <a:cs typeface="华文中宋"/>
              </a:rPr>
              <a:t>、</a:t>
            </a:r>
            <a:r>
              <a:rPr lang="zh-CN" altLang="en-US" b="1">
                <a:solidFill>
                  <a:srgbClr val="0000FF"/>
                </a:solidFill>
                <a:latin typeface="华文中宋"/>
                <a:ea typeface="华文中宋"/>
                <a:cs typeface="华文中宋"/>
              </a:rPr>
              <a:t>熵增加原理</a:t>
            </a:r>
            <a:endParaRPr kumimoji="1" lang="zh-CN" altLang="en-US" b="1">
              <a:solidFill>
                <a:srgbClr val="0000FF"/>
              </a:solidFill>
              <a:latin typeface="华文中宋"/>
              <a:ea typeface="华文中宋"/>
              <a:cs typeface="华文中宋"/>
            </a:endParaRPr>
          </a:p>
        </p:txBody>
      </p:sp>
      <p:graphicFrame>
        <p:nvGraphicFramePr>
          <p:cNvPr id="15" name="Object 35"/>
          <p:cNvGraphicFramePr>
            <a:graphicFrameLocks noChangeAspect="1"/>
          </p:cNvGraphicFramePr>
          <p:nvPr/>
        </p:nvGraphicFramePr>
        <p:xfrm>
          <a:off x="4202113" y="1203325"/>
          <a:ext cx="1739900" cy="563563"/>
        </p:xfrm>
        <a:graphic>
          <a:graphicData uri="http://schemas.openxmlformats.org/presentationml/2006/ole">
            <p:oleObj spid="_x0000_s38947" name="公式" r:id="rId3" imgW="939392" imgH="406224" progId="Equation.3">
              <p:embed/>
            </p:oleObj>
          </a:graphicData>
        </a:graphic>
      </p:graphicFrame>
      <p:graphicFrame>
        <p:nvGraphicFramePr>
          <p:cNvPr id="49" name="Object 36"/>
          <p:cNvGraphicFramePr>
            <a:graphicFrameLocks noChangeAspect="1"/>
          </p:cNvGraphicFramePr>
          <p:nvPr/>
        </p:nvGraphicFramePr>
        <p:xfrm>
          <a:off x="4130675" y="1852613"/>
          <a:ext cx="1984375" cy="587375"/>
        </p:xfrm>
        <a:graphic>
          <a:graphicData uri="http://schemas.openxmlformats.org/presentationml/2006/ole">
            <p:oleObj spid="_x0000_s38948" name="公式" r:id="rId4" imgW="1028254" imgH="406224" progId="Equation.3">
              <p:embed/>
            </p:oleObj>
          </a:graphicData>
        </a:graphic>
      </p:graphicFrame>
      <p:sp>
        <p:nvSpPr>
          <p:cNvPr id="21" name="Text Box 28"/>
          <p:cNvSpPr txBox="1">
            <a:spLocks noChangeArrowheads="1"/>
          </p:cNvSpPr>
          <p:nvPr/>
        </p:nvSpPr>
        <p:spPr bwMode="auto">
          <a:xfrm>
            <a:off x="684213" y="2373313"/>
            <a:ext cx="8208962" cy="703262"/>
          </a:xfrm>
          <a:prstGeom prst="rect">
            <a:avLst/>
          </a:prstGeom>
          <a:noFill/>
          <a:ln w="9525">
            <a:noFill/>
            <a:miter lim="800000"/>
            <a:headEnd/>
            <a:tailEnd/>
          </a:ln>
        </p:spPr>
        <p:txBody>
          <a:bodyPr>
            <a:spAutoFit/>
          </a:bodyPr>
          <a:lstStyle/>
          <a:p>
            <a:pPr eaLnBrk="0" hangingPunct="0">
              <a:lnSpc>
                <a:spcPct val="110000"/>
              </a:lnSpc>
            </a:pPr>
            <a:r>
              <a:rPr lang="en-US" altLang="zh-CN" b="1">
                <a:solidFill>
                  <a:srgbClr val="000000"/>
                </a:solidFill>
                <a:latin typeface="Times New Roman" pitchFamily="18" charset="0"/>
                <a:ea typeface="华文中宋"/>
                <a:cs typeface="华文中宋"/>
              </a:rPr>
              <a:t>        </a:t>
            </a:r>
            <a:r>
              <a:rPr lang="zh-CN" altLang="en-US" b="1">
                <a:solidFill>
                  <a:srgbClr val="000000"/>
                </a:solidFill>
                <a:latin typeface="Times New Roman" pitchFamily="18" charset="0"/>
                <a:ea typeface="华文中宋"/>
                <a:cs typeface="华文中宋"/>
              </a:rPr>
              <a:t>对于孤立系统，系统与外界无热量交换，在任一微小过程（不论是否可逆）中</a:t>
            </a:r>
            <a:r>
              <a:rPr lang="en-US" altLang="zh-CN" b="1">
                <a:solidFill>
                  <a:srgbClr val="000000"/>
                </a:solidFill>
                <a:latin typeface="Times New Roman" pitchFamily="18" charset="0"/>
                <a:ea typeface="华文中宋"/>
                <a:cs typeface="华文中宋"/>
              </a:rPr>
              <a:t>d</a:t>
            </a:r>
            <a:r>
              <a:rPr lang="en-US" altLang="zh-CN" b="1" i="1">
                <a:solidFill>
                  <a:srgbClr val="000000"/>
                </a:solidFill>
                <a:latin typeface="Times New Roman" pitchFamily="18" charset="0"/>
                <a:ea typeface="华文中宋"/>
                <a:cs typeface="华文中宋"/>
              </a:rPr>
              <a:t>Q</a:t>
            </a:r>
            <a:r>
              <a:rPr lang="en-US" altLang="zh-CN" b="1">
                <a:solidFill>
                  <a:srgbClr val="000000"/>
                </a:solidFill>
                <a:latin typeface="Times New Roman" pitchFamily="18" charset="0"/>
                <a:ea typeface="华文中宋"/>
                <a:cs typeface="华文中宋"/>
              </a:rPr>
              <a:t>=0</a:t>
            </a:r>
            <a:r>
              <a:rPr lang="zh-CN" altLang="en-US" b="1">
                <a:solidFill>
                  <a:srgbClr val="000000"/>
                </a:solidFill>
                <a:latin typeface="Times New Roman" pitchFamily="18" charset="0"/>
                <a:ea typeface="华文中宋"/>
                <a:cs typeface="华文中宋"/>
              </a:rPr>
              <a:t>，因此 </a:t>
            </a:r>
          </a:p>
        </p:txBody>
      </p:sp>
      <p:graphicFrame>
        <p:nvGraphicFramePr>
          <p:cNvPr id="3" name="Object 37"/>
          <p:cNvGraphicFramePr>
            <a:graphicFrameLocks noChangeAspect="1"/>
          </p:cNvGraphicFramePr>
          <p:nvPr/>
        </p:nvGraphicFramePr>
        <p:xfrm>
          <a:off x="3843338" y="2795588"/>
          <a:ext cx="1089025" cy="341312"/>
        </p:xfrm>
        <a:graphic>
          <a:graphicData uri="http://schemas.openxmlformats.org/presentationml/2006/ole">
            <p:oleObj spid="_x0000_s38949" name="公式" r:id="rId5" imgW="330200" imgH="139700" progId="Equation.3">
              <p:embed/>
            </p:oleObj>
          </a:graphicData>
        </a:graphic>
      </p:graphicFrame>
      <p:sp>
        <p:nvSpPr>
          <p:cNvPr id="22" name="Rectangle 4"/>
          <p:cNvSpPr>
            <a:spLocks noChangeArrowheads="1"/>
          </p:cNvSpPr>
          <p:nvPr/>
        </p:nvSpPr>
        <p:spPr bwMode="auto">
          <a:xfrm>
            <a:off x="684213" y="3327400"/>
            <a:ext cx="8208962" cy="646113"/>
          </a:xfrm>
          <a:prstGeom prst="rect">
            <a:avLst/>
          </a:prstGeom>
          <a:noFill/>
          <a:ln w="19050">
            <a:solidFill>
              <a:srgbClr val="C00000"/>
            </a:solidFill>
            <a:prstDash val="dashDot"/>
            <a:miter lim="800000"/>
            <a:headEnd/>
            <a:tailEnd/>
          </a:ln>
        </p:spPr>
        <p:txBody>
          <a:bodyPr>
            <a:spAutoFit/>
          </a:bodyPr>
          <a:lstStyle/>
          <a:p>
            <a:pPr eaLnBrk="0" hangingPunct="0"/>
            <a:r>
              <a:rPr lang="en-US" altLang="zh-CN" b="1">
                <a:solidFill>
                  <a:srgbClr val="0000FF"/>
                </a:solidFill>
                <a:latin typeface="华文中宋"/>
                <a:ea typeface="华文中宋"/>
                <a:cs typeface="华文中宋"/>
              </a:rPr>
              <a:t>      </a:t>
            </a:r>
            <a:r>
              <a:rPr lang="zh-CN" altLang="en-US" b="1">
                <a:solidFill>
                  <a:srgbClr val="0000FF"/>
                </a:solidFill>
                <a:latin typeface="华文中宋"/>
                <a:ea typeface="华文中宋"/>
                <a:cs typeface="华文中宋"/>
              </a:rPr>
              <a:t>在孤立系统中所发生的一切不可逆过程的熵总是增加；可逆过程熵不变。</a:t>
            </a:r>
          </a:p>
          <a:p>
            <a:pPr algn="ctr" eaLnBrk="0" hangingPunct="0"/>
            <a:r>
              <a:rPr lang="zh-CN" altLang="en-US" b="1">
                <a:solidFill>
                  <a:srgbClr val="FF0000"/>
                </a:solidFill>
                <a:latin typeface="华文中宋"/>
                <a:ea typeface="华文中宋"/>
                <a:cs typeface="华文中宋"/>
              </a:rPr>
              <a:t>── 熵增加原理</a:t>
            </a:r>
          </a:p>
        </p:txBody>
      </p:sp>
      <p:sp>
        <p:nvSpPr>
          <p:cNvPr id="2" name="Text Box 20"/>
          <p:cNvSpPr txBox="1">
            <a:spLocks noChangeArrowheads="1"/>
          </p:cNvSpPr>
          <p:nvPr/>
        </p:nvSpPr>
        <p:spPr bwMode="auto">
          <a:xfrm>
            <a:off x="2268538" y="1265238"/>
            <a:ext cx="1582737" cy="396875"/>
          </a:xfrm>
          <a:prstGeom prst="rect">
            <a:avLst/>
          </a:prstGeom>
          <a:noFill/>
          <a:ln w="9525">
            <a:noFill/>
            <a:miter lim="800000"/>
            <a:headEnd/>
            <a:tailEnd/>
          </a:ln>
        </p:spPr>
        <p:txBody>
          <a:bodyPr>
            <a:spAutoFit/>
          </a:bodyPr>
          <a:lstStyle/>
          <a:p>
            <a:pPr>
              <a:lnSpc>
                <a:spcPct val="110000"/>
              </a:lnSpc>
            </a:pPr>
            <a:r>
              <a:rPr lang="zh-CN" altLang="en-US" b="1">
                <a:solidFill>
                  <a:srgbClr val="0000FF"/>
                </a:solidFill>
                <a:latin typeface="华文中宋"/>
                <a:ea typeface="华文中宋"/>
                <a:cs typeface="华文中宋"/>
              </a:rPr>
              <a:t>可逆过程：</a:t>
            </a:r>
            <a:endParaRPr kumimoji="1" lang="zh-CN" altLang="en-US" b="1">
              <a:solidFill>
                <a:srgbClr val="0000FF"/>
              </a:solidFill>
              <a:latin typeface="华文中宋"/>
              <a:ea typeface="华文中宋"/>
              <a:cs typeface="华文中宋"/>
            </a:endParaRPr>
          </a:p>
        </p:txBody>
      </p:sp>
      <p:sp>
        <p:nvSpPr>
          <p:cNvPr id="4" name="Text Box 20"/>
          <p:cNvSpPr txBox="1">
            <a:spLocks noChangeArrowheads="1"/>
          </p:cNvSpPr>
          <p:nvPr/>
        </p:nvSpPr>
        <p:spPr bwMode="auto">
          <a:xfrm>
            <a:off x="2124075" y="1914525"/>
            <a:ext cx="1727200" cy="396875"/>
          </a:xfrm>
          <a:prstGeom prst="rect">
            <a:avLst/>
          </a:prstGeom>
          <a:noFill/>
          <a:ln w="9525">
            <a:noFill/>
            <a:miter lim="800000"/>
            <a:headEnd/>
            <a:tailEnd/>
          </a:ln>
        </p:spPr>
        <p:txBody>
          <a:bodyPr>
            <a:spAutoFit/>
          </a:bodyPr>
          <a:lstStyle/>
          <a:p>
            <a:pPr>
              <a:lnSpc>
                <a:spcPct val="110000"/>
              </a:lnSpc>
            </a:pPr>
            <a:r>
              <a:rPr lang="zh-CN" altLang="en-US" b="1">
                <a:solidFill>
                  <a:srgbClr val="0000FF"/>
                </a:solidFill>
                <a:latin typeface="华文中宋"/>
                <a:ea typeface="华文中宋"/>
                <a:cs typeface="华文中宋"/>
              </a:rPr>
              <a:t>不可逆过程：</a:t>
            </a:r>
            <a:endParaRPr kumimoji="1" lang="zh-CN" altLang="en-US" b="1">
              <a:solidFill>
                <a:srgbClr val="0000FF"/>
              </a:solidFill>
              <a:latin typeface="华文中宋"/>
              <a:ea typeface="华文中宋"/>
              <a:cs typeface="华文中宋"/>
            </a:endParaRPr>
          </a:p>
        </p:txBody>
      </p:sp>
      <p:sp>
        <p:nvSpPr>
          <p:cNvPr id="201742" name="Rectangle 14"/>
          <p:cNvSpPr>
            <a:spLocks noChangeArrowheads="1"/>
          </p:cNvSpPr>
          <p:nvPr/>
        </p:nvSpPr>
        <p:spPr bwMode="auto">
          <a:xfrm>
            <a:off x="2268538" y="4192588"/>
            <a:ext cx="5327650" cy="369887"/>
          </a:xfrm>
          <a:prstGeom prst="rect">
            <a:avLst/>
          </a:prstGeom>
          <a:noFill/>
          <a:ln w="19050">
            <a:solidFill>
              <a:srgbClr val="FF0000"/>
            </a:solidFill>
            <a:prstDash val="sysDash"/>
            <a:miter lim="800000"/>
            <a:headEnd/>
            <a:tailEnd/>
          </a:ln>
        </p:spPr>
        <p:txBody>
          <a:bodyPr>
            <a:spAutoFit/>
          </a:bodyPr>
          <a:lstStyle/>
          <a:p>
            <a:pPr algn="ctr"/>
            <a:r>
              <a:rPr lang="zh-CN" altLang="en-US" b="1">
                <a:solidFill>
                  <a:srgbClr val="FF0000"/>
                </a:solidFill>
                <a:latin typeface="Times New Roman" pitchFamily="18" charset="0"/>
                <a:ea typeface="华文中宋"/>
                <a:cs typeface="华文中宋"/>
              </a:rPr>
              <a:t>注意：</a:t>
            </a:r>
            <a:r>
              <a:rPr lang="zh-CN" altLang="en-US" b="1">
                <a:solidFill>
                  <a:srgbClr val="000000"/>
                </a:solidFill>
                <a:latin typeface="Times New Roman" pitchFamily="18" charset="0"/>
                <a:ea typeface="华文中宋"/>
                <a:cs typeface="华文中宋"/>
              </a:rPr>
              <a:t>绝热系统也成立（因为只要</a:t>
            </a:r>
            <a:r>
              <a:rPr lang="en-US" altLang="zh-CN" b="1">
                <a:solidFill>
                  <a:srgbClr val="000000"/>
                </a:solidFill>
                <a:latin typeface="Times New Roman" pitchFamily="18" charset="0"/>
                <a:ea typeface="华文中宋"/>
                <a:cs typeface="华文中宋"/>
              </a:rPr>
              <a:t>d</a:t>
            </a:r>
            <a:r>
              <a:rPr lang="en-US" altLang="zh-CN" b="1" i="1">
                <a:solidFill>
                  <a:srgbClr val="000000"/>
                </a:solidFill>
                <a:latin typeface="Times New Roman" pitchFamily="18" charset="0"/>
                <a:ea typeface="华文中宋"/>
                <a:cs typeface="华文中宋"/>
              </a:rPr>
              <a:t>Q</a:t>
            </a:r>
            <a:r>
              <a:rPr lang="en-US" altLang="zh-CN" b="1">
                <a:solidFill>
                  <a:srgbClr val="000000"/>
                </a:solidFill>
                <a:latin typeface="Times New Roman" pitchFamily="18" charset="0"/>
                <a:ea typeface="华文中宋"/>
                <a:cs typeface="华文中宋"/>
              </a:rPr>
              <a:t>=0</a:t>
            </a:r>
            <a:r>
              <a:rPr lang="zh-CN" altLang="en-US" b="1">
                <a:solidFill>
                  <a:srgbClr val="000000"/>
                </a:solidFill>
                <a:latin typeface="Times New Roman" pitchFamily="18" charset="0"/>
                <a:ea typeface="华文中宋"/>
                <a:cs typeface="华文中宋"/>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500"/>
                                        <p:tgtEl>
                                          <p:spTgt spid="1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wipe(left)">
                                      <p:cBhvr>
                                        <p:cTn id="17" dur="500"/>
                                        <p:tgtEl>
                                          <p:spTgt spid="1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wipe(left)">
                                      <p:cBhvr>
                                        <p:cTn id="22" dur="500"/>
                                        <p:tgtEl>
                                          <p:spTgt spid="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49"/>
                                        </p:tgtEl>
                                        <p:attrNameLst>
                                          <p:attrName>style.visibility</p:attrName>
                                        </p:attrNameLst>
                                      </p:cBhvr>
                                      <p:to>
                                        <p:strVal val="visible"/>
                                      </p:to>
                                    </p:set>
                                    <p:animEffect transition="in" filter="wipe(left)">
                                      <p:cBhvr>
                                        <p:cTn id="27" dur="500"/>
                                        <p:tgtEl>
                                          <p:spTgt spid="49"/>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wipe(left)">
                                      <p:cBhvr>
                                        <p:cTn id="32" dur="500"/>
                                        <p:tgtEl>
                                          <p:spTgt spid="21"/>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3"/>
                                        </p:tgtEl>
                                        <p:attrNameLst>
                                          <p:attrName>style.visibility</p:attrName>
                                        </p:attrNameLst>
                                      </p:cBhvr>
                                      <p:to>
                                        <p:strVal val="visible"/>
                                      </p:to>
                                    </p:set>
                                    <p:animEffect transition="in" filter="wipe(left)">
                                      <p:cBhvr>
                                        <p:cTn id="37" dur="500"/>
                                        <p:tgtEl>
                                          <p:spTgt spid="3"/>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wipe(left)">
                                      <p:cBhvr>
                                        <p:cTn id="42" dur="500"/>
                                        <p:tgtEl>
                                          <p:spTgt spid="22"/>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201742"/>
                                        </p:tgtEl>
                                        <p:attrNameLst>
                                          <p:attrName>style.visibility</p:attrName>
                                        </p:attrNameLst>
                                      </p:cBhvr>
                                      <p:to>
                                        <p:strVal val="visible"/>
                                      </p:to>
                                    </p:set>
                                    <p:animEffect transition="in" filter="blinds(horizontal)">
                                      <p:cBhvr>
                                        <p:cTn id="47" dur="500"/>
                                        <p:tgtEl>
                                          <p:spTgt spid="2017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21" grpId="0"/>
      <p:bldP spid="22" grpId="0" animBg="1"/>
      <p:bldP spid="2" grpId="0"/>
      <p:bldP spid="4" grpId="0"/>
      <p:bldP spid="201742"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86" name="Text Box 3"/>
          <p:cNvSpPr txBox="1">
            <a:spLocks noChangeArrowheads="1"/>
          </p:cNvSpPr>
          <p:nvPr/>
        </p:nvSpPr>
        <p:spPr bwMode="auto">
          <a:xfrm>
            <a:off x="323850" y="773113"/>
            <a:ext cx="8496300" cy="646112"/>
          </a:xfrm>
          <a:prstGeom prst="rect">
            <a:avLst/>
          </a:prstGeom>
          <a:noFill/>
          <a:ln w="9525">
            <a:noFill/>
            <a:miter lim="800000"/>
            <a:headEnd/>
            <a:tailEnd/>
          </a:ln>
        </p:spPr>
        <p:txBody>
          <a:bodyPr>
            <a:spAutoFit/>
          </a:bodyPr>
          <a:lstStyle/>
          <a:p>
            <a:pPr eaLnBrk="0" hangingPunct="0"/>
            <a:r>
              <a:rPr lang="zh-CN" altLang="en-US" b="1">
                <a:solidFill>
                  <a:srgbClr val="0000FF"/>
                </a:solidFill>
                <a:latin typeface="华文中宋"/>
                <a:ea typeface="华文中宋"/>
                <a:cs typeface="华文中宋"/>
              </a:rPr>
              <a:t>例   求</a:t>
            </a:r>
            <a:r>
              <a:rPr lang="en-US" altLang="zh-CN" b="1" i="1">
                <a:solidFill>
                  <a:srgbClr val="0000FF"/>
                </a:solidFill>
                <a:latin typeface="Times New Roman" pitchFamily="18" charset="0"/>
                <a:ea typeface="华文中宋"/>
                <a:cs typeface="华文中宋"/>
              </a:rPr>
              <a:t>v</a:t>
            </a:r>
            <a:r>
              <a:rPr lang="zh-CN" altLang="en-US" b="1">
                <a:solidFill>
                  <a:srgbClr val="0000FF"/>
                </a:solidFill>
                <a:latin typeface="Times New Roman" pitchFamily="18" charset="0"/>
                <a:ea typeface="华文中宋"/>
                <a:cs typeface="华文中宋"/>
              </a:rPr>
              <a:t>摩尔</a:t>
            </a:r>
            <a:r>
              <a:rPr lang="zh-CN" altLang="en-US" b="1">
                <a:solidFill>
                  <a:srgbClr val="0000FF"/>
                </a:solidFill>
                <a:latin typeface="华文中宋"/>
                <a:ea typeface="华文中宋"/>
                <a:cs typeface="华文中宋"/>
              </a:rPr>
              <a:t>理想气体绝热自由膨胀过程的</a:t>
            </a:r>
            <a:r>
              <a:rPr kumimoji="1" lang="zh-CN" altLang="en-US" b="1">
                <a:solidFill>
                  <a:srgbClr val="0000FF"/>
                </a:solidFill>
                <a:latin typeface="华文中宋"/>
                <a:ea typeface="华文中宋"/>
                <a:cs typeface="华文中宋"/>
              </a:rPr>
              <a:t>克劳修斯</a:t>
            </a:r>
            <a:r>
              <a:rPr lang="zh-CN" altLang="en-US" b="1">
                <a:solidFill>
                  <a:srgbClr val="0000FF"/>
                </a:solidFill>
                <a:latin typeface="华文中宋"/>
                <a:ea typeface="华文中宋"/>
                <a:cs typeface="华文中宋"/>
              </a:rPr>
              <a:t>熵变，设初、终态的体积分别为</a:t>
            </a:r>
            <a:r>
              <a:rPr lang="en-US" altLang="zh-CN" b="1" i="1">
                <a:solidFill>
                  <a:srgbClr val="0000FF"/>
                </a:solidFill>
                <a:latin typeface="Times New Roman" pitchFamily="18" charset="0"/>
                <a:ea typeface="华文中宋"/>
                <a:cs typeface="华文中宋"/>
              </a:rPr>
              <a:t>V</a:t>
            </a:r>
            <a:r>
              <a:rPr lang="en-US" altLang="zh-CN" b="1" baseline="-25000">
                <a:solidFill>
                  <a:srgbClr val="0000FF"/>
                </a:solidFill>
                <a:latin typeface="Times New Roman" pitchFamily="18" charset="0"/>
                <a:ea typeface="华文中宋"/>
                <a:cs typeface="华文中宋"/>
              </a:rPr>
              <a:t>1</a:t>
            </a:r>
            <a:r>
              <a:rPr lang="zh-CN" altLang="en-US" b="1">
                <a:solidFill>
                  <a:srgbClr val="0000FF"/>
                </a:solidFill>
                <a:latin typeface="华文中宋"/>
                <a:ea typeface="华文中宋"/>
                <a:cs typeface="华文中宋"/>
              </a:rPr>
              <a:t>、</a:t>
            </a:r>
            <a:r>
              <a:rPr lang="en-US" altLang="zh-CN" b="1" i="1">
                <a:solidFill>
                  <a:srgbClr val="0000FF"/>
                </a:solidFill>
                <a:latin typeface="Times New Roman" pitchFamily="18" charset="0"/>
                <a:ea typeface="华文中宋"/>
                <a:cs typeface="华文中宋"/>
              </a:rPr>
              <a:t>V</a:t>
            </a:r>
            <a:r>
              <a:rPr lang="en-US" altLang="zh-CN" b="1" baseline="-25000">
                <a:solidFill>
                  <a:srgbClr val="0000FF"/>
                </a:solidFill>
                <a:latin typeface="Times New Roman" pitchFamily="18" charset="0"/>
                <a:ea typeface="华文中宋"/>
                <a:cs typeface="华文中宋"/>
              </a:rPr>
              <a:t>2</a:t>
            </a:r>
            <a:r>
              <a:rPr lang="zh-CN" altLang="en-US" b="1">
                <a:solidFill>
                  <a:srgbClr val="0000FF"/>
                </a:solidFill>
                <a:latin typeface="华文中宋"/>
                <a:ea typeface="华文中宋"/>
                <a:cs typeface="华文中宋"/>
              </a:rPr>
              <a:t>，且均为平衡态。</a:t>
            </a:r>
          </a:p>
        </p:txBody>
      </p:sp>
      <p:sp>
        <p:nvSpPr>
          <p:cNvPr id="72708" name="Text Box 4"/>
          <p:cNvSpPr txBox="1">
            <a:spLocks noChangeArrowheads="1"/>
          </p:cNvSpPr>
          <p:nvPr/>
        </p:nvSpPr>
        <p:spPr bwMode="auto">
          <a:xfrm>
            <a:off x="323850" y="1433513"/>
            <a:ext cx="8245475" cy="584200"/>
          </a:xfrm>
          <a:prstGeom prst="rect">
            <a:avLst/>
          </a:prstGeom>
          <a:noFill/>
          <a:ln w="9525">
            <a:noFill/>
            <a:miter lim="800000"/>
            <a:headEnd/>
            <a:tailEnd/>
          </a:ln>
        </p:spPr>
        <p:txBody>
          <a:bodyPr>
            <a:spAutoFit/>
          </a:bodyPr>
          <a:lstStyle/>
          <a:p>
            <a:pPr eaLnBrk="0" hangingPunct="0"/>
            <a:r>
              <a:rPr lang="zh-CN" altLang="en-US" sz="1600" b="1">
                <a:solidFill>
                  <a:srgbClr val="FF0000"/>
                </a:solidFill>
                <a:latin typeface="华文中宋"/>
                <a:ea typeface="华文中宋"/>
                <a:cs typeface="华文中宋"/>
              </a:rPr>
              <a:t>解：</a:t>
            </a:r>
            <a:r>
              <a:rPr lang="zh-CN" altLang="en-US" sz="1600" b="1">
                <a:solidFill>
                  <a:srgbClr val="000000"/>
                </a:solidFill>
                <a:latin typeface="华文中宋"/>
                <a:ea typeface="华文中宋"/>
                <a:cs typeface="华文中宋"/>
              </a:rPr>
              <a:t>绝热自由膨胀是不可逆过程，克劳修斯等式不成立，由于熵是系统的状态函数，熵变只与始末状态有关，故可设计一个可逆过程来计算熵变，首先我们先确定始末的状态：</a:t>
            </a:r>
          </a:p>
        </p:txBody>
      </p:sp>
      <p:sp>
        <p:nvSpPr>
          <p:cNvPr id="72710" name="Text Box 6"/>
          <p:cNvSpPr txBox="1">
            <a:spLocks noChangeArrowheads="1"/>
          </p:cNvSpPr>
          <p:nvPr/>
        </p:nvSpPr>
        <p:spPr bwMode="auto">
          <a:xfrm>
            <a:off x="1042988" y="2289175"/>
            <a:ext cx="1403350" cy="338138"/>
          </a:xfrm>
          <a:prstGeom prst="rect">
            <a:avLst/>
          </a:prstGeom>
          <a:noFill/>
          <a:ln w="9525">
            <a:noFill/>
            <a:miter lim="800000"/>
            <a:headEnd/>
            <a:tailEnd/>
          </a:ln>
        </p:spPr>
        <p:txBody>
          <a:bodyPr>
            <a:spAutoFit/>
          </a:bodyPr>
          <a:lstStyle/>
          <a:p>
            <a:pPr eaLnBrk="0" hangingPunct="0"/>
            <a:r>
              <a:rPr lang="zh-CN" altLang="en-US" sz="1600" b="1">
                <a:solidFill>
                  <a:srgbClr val="000000"/>
                </a:solidFill>
                <a:latin typeface="华文中宋"/>
                <a:ea typeface="华文中宋"/>
                <a:cs typeface="华文中宋"/>
              </a:rPr>
              <a:t>由热一律</a:t>
            </a:r>
          </a:p>
        </p:txBody>
      </p:sp>
      <p:graphicFrame>
        <p:nvGraphicFramePr>
          <p:cNvPr id="72711" name="Object 46"/>
          <p:cNvGraphicFramePr>
            <a:graphicFrameLocks noChangeAspect="1"/>
          </p:cNvGraphicFramePr>
          <p:nvPr/>
        </p:nvGraphicFramePr>
        <p:xfrm>
          <a:off x="2627313" y="2327275"/>
          <a:ext cx="1728787" cy="320675"/>
        </p:xfrm>
        <a:graphic>
          <a:graphicData uri="http://schemas.openxmlformats.org/presentationml/2006/ole">
            <p:oleObj spid="_x0000_s39982" name="Equation" r:id="rId3" imgW="571252" imgH="152334" progId="Equation.DSMT4">
              <p:embed/>
            </p:oleObj>
          </a:graphicData>
        </a:graphic>
      </p:graphicFrame>
      <p:graphicFrame>
        <p:nvGraphicFramePr>
          <p:cNvPr id="72712" name="Object 47"/>
          <p:cNvGraphicFramePr>
            <a:graphicFrameLocks noChangeAspect="1"/>
          </p:cNvGraphicFramePr>
          <p:nvPr/>
        </p:nvGraphicFramePr>
        <p:xfrm>
          <a:off x="4500563" y="2298700"/>
          <a:ext cx="2235200" cy="354013"/>
        </p:xfrm>
        <a:graphic>
          <a:graphicData uri="http://schemas.openxmlformats.org/presentationml/2006/ole">
            <p:oleObj spid="_x0000_s39983" name="公式" r:id="rId4" imgW="787058" imgH="165028" progId="Equation.3">
              <p:embed/>
            </p:oleObj>
          </a:graphicData>
        </a:graphic>
      </p:graphicFrame>
      <p:sp>
        <p:nvSpPr>
          <p:cNvPr id="72714" name="Text Box 10"/>
          <p:cNvSpPr txBox="1">
            <a:spLocks noChangeArrowheads="1"/>
          </p:cNvSpPr>
          <p:nvPr/>
        </p:nvSpPr>
        <p:spPr bwMode="auto">
          <a:xfrm>
            <a:off x="323850" y="2613025"/>
            <a:ext cx="8424863" cy="534988"/>
          </a:xfrm>
          <a:prstGeom prst="rect">
            <a:avLst/>
          </a:prstGeom>
          <a:noFill/>
          <a:ln w="9525">
            <a:noFill/>
            <a:miter lim="800000"/>
            <a:headEnd/>
            <a:tailEnd/>
          </a:ln>
        </p:spPr>
        <p:txBody>
          <a:bodyPr>
            <a:spAutoFit/>
          </a:bodyPr>
          <a:lstStyle/>
          <a:p>
            <a:pPr eaLnBrk="0" hangingPunct="0">
              <a:lnSpc>
                <a:spcPct val="90000"/>
              </a:lnSpc>
            </a:pPr>
            <a:r>
              <a:rPr lang="zh-CN" altLang="en-US" sz="1600" b="1">
                <a:solidFill>
                  <a:srgbClr val="000000"/>
                </a:solidFill>
                <a:latin typeface="Times New Roman" pitchFamily="18" charset="0"/>
                <a:ea typeface="华文中宋"/>
                <a:cs typeface="华文中宋"/>
              </a:rPr>
              <a:t>        设计一个可逆的等温过程来连接系统的初态（</a:t>
            </a:r>
            <a:r>
              <a:rPr lang="en-US" altLang="zh-CN" sz="1600" b="1" i="1">
                <a:solidFill>
                  <a:srgbClr val="000000"/>
                </a:solidFill>
                <a:latin typeface="Times New Roman" pitchFamily="18" charset="0"/>
                <a:ea typeface="华文中宋"/>
                <a:cs typeface="华文中宋"/>
              </a:rPr>
              <a:t>V</a:t>
            </a:r>
            <a:r>
              <a:rPr lang="en-US" altLang="zh-CN" sz="1600" b="1" baseline="-25000">
                <a:solidFill>
                  <a:srgbClr val="000000"/>
                </a:solidFill>
                <a:latin typeface="Times New Roman" pitchFamily="18" charset="0"/>
                <a:ea typeface="华文中宋"/>
                <a:cs typeface="华文中宋"/>
              </a:rPr>
              <a:t>1</a:t>
            </a:r>
            <a:r>
              <a:rPr lang="zh-CN" altLang="en-US" sz="1600" b="1">
                <a:solidFill>
                  <a:srgbClr val="000000"/>
                </a:solidFill>
                <a:latin typeface="Times New Roman" pitchFamily="18" charset="0"/>
                <a:ea typeface="华文中宋"/>
                <a:cs typeface="华文中宋"/>
              </a:rPr>
              <a:t>，</a:t>
            </a:r>
            <a:r>
              <a:rPr lang="en-US" altLang="zh-CN" sz="1600" b="1" i="1">
                <a:solidFill>
                  <a:srgbClr val="000000"/>
                </a:solidFill>
                <a:latin typeface="Times New Roman" pitchFamily="18" charset="0"/>
                <a:ea typeface="华文中宋"/>
                <a:cs typeface="华文中宋"/>
              </a:rPr>
              <a:t>T</a:t>
            </a:r>
            <a:r>
              <a:rPr lang="zh-CN" altLang="en-US" sz="1600" b="1">
                <a:solidFill>
                  <a:srgbClr val="000000"/>
                </a:solidFill>
                <a:latin typeface="Times New Roman" pitchFamily="18" charset="0"/>
                <a:ea typeface="华文中宋"/>
                <a:cs typeface="华文中宋"/>
              </a:rPr>
              <a:t>）和终态（</a:t>
            </a:r>
            <a:r>
              <a:rPr lang="en-US" altLang="zh-CN" sz="1600" b="1" i="1">
                <a:solidFill>
                  <a:srgbClr val="000000"/>
                </a:solidFill>
                <a:latin typeface="Times New Roman" pitchFamily="18" charset="0"/>
                <a:ea typeface="华文中宋"/>
                <a:cs typeface="华文中宋"/>
              </a:rPr>
              <a:t>V</a:t>
            </a:r>
            <a:r>
              <a:rPr lang="en-US" altLang="zh-CN" sz="1600" b="1" baseline="-25000">
                <a:solidFill>
                  <a:srgbClr val="000000"/>
                </a:solidFill>
                <a:latin typeface="Times New Roman" pitchFamily="18" charset="0"/>
                <a:ea typeface="华文中宋"/>
                <a:cs typeface="华文中宋"/>
              </a:rPr>
              <a:t>2</a:t>
            </a:r>
            <a:r>
              <a:rPr lang="zh-CN" altLang="en-US" sz="1600" b="1">
                <a:solidFill>
                  <a:srgbClr val="000000"/>
                </a:solidFill>
                <a:latin typeface="Times New Roman" pitchFamily="18" charset="0"/>
                <a:ea typeface="华文中宋"/>
                <a:cs typeface="华文中宋"/>
              </a:rPr>
              <a:t>，</a:t>
            </a:r>
            <a:r>
              <a:rPr lang="en-US" altLang="zh-CN" sz="1600" b="1" i="1">
                <a:solidFill>
                  <a:srgbClr val="000000"/>
                </a:solidFill>
                <a:latin typeface="Times New Roman" pitchFamily="18" charset="0"/>
                <a:ea typeface="华文中宋"/>
                <a:cs typeface="华文中宋"/>
              </a:rPr>
              <a:t>T</a:t>
            </a:r>
            <a:r>
              <a:rPr lang="zh-CN" altLang="en-US" sz="1600" b="1">
                <a:solidFill>
                  <a:srgbClr val="000000"/>
                </a:solidFill>
                <a:latin typeface="Times New Roman" pitchFamily="18" charset="0"/>
                <a:ea typeface="华文中宋"/>
                <a:cs typeface="华文中宋"/>
              </a:rPr>
              <a:t>），以此来计算系统的熵变。</a:t>
            </a:r>
          </a:p>
        </p:txBody>
      </p:sp>
      <p:sp>
        <p:nvSpPr>
          <p:cNvPr id="72715" name="Text Box 11"/>
          <p:cNvSpPr txBox="1">
            <a:spLocks noChangeArrowheads="1"/>
          </p:cNvSpPr>
          <p:nvPr/>
        </p:nvSpPr>
        <p:spPr bwMode="auto">
          <a:xfrm>
            <a:off x="1476375" y="2911475"/>
            <a:ext cx="4816475" cy="338138"/>
          </a:xfrm>
          <a:prstGeom prst="rect">
            <a:avLst/>
          </a:prstGeom>
          <a:noFill/>
          <a:ln w="9525">
            <a:noFill/>
            <a:miter lim="800000"/>
            <a:headEnd/>
            <a:tailEnd/>
          </a:ln>
        </p:spPr>
        <p:txBody>
          <a:bodyPr>
            <a:spAutoFit/>
          </a:bodyPr>
          <a:lstStyle/>
          <a:p>
            <a:pPr eaLnBrk="0" hangingPunct="0"/>
            <a:r>
              <a:rPr lang="zh-CN" altLang="en-US" sz="1600" b="1">
                <a:solidFill>
                  <a:srgbClr val="000000"/>
                </a:solidFill>
                <a:latin typeface="Times New Roman" pitchFamily="18" charset="0"/>
                <a:ea typeface="华文中宋"/>
                <a:cs typeface="华文中宋"/>
              </a:rPr>
              <a:t>由于等温过程中有： </a:t>
            </a:r>
            <a:r>
              <a:rPr lang="en-US" altLang="zh-CN" sz="1600" b="1">
                <a:solidFill>
                  <a:srgbClr val="000000"/>
                </a:solidFill>
                <a:latin typeface="Times New Roman" pitchFamily="18" charset="0"/>
                <a:ea typeface="华文中宋"/>
                <a:cs typeface="华文中宋"/>
              </a:rPr>
              <a:t>d</a:t>
            </a:r>
            <a:r>
              <a:rPr lang="en-US" altLang="zh-CN" sz="1600" b="1" i="1">
                <a:solidFill>
                  <a:srgbClr val="000000"/>
                </a:solidFill>
                <a:latin typeface="Times New Roman" pitchFamily="18" charset="0"/>
                <a:ea typeface="华文中宋"/>
                <a:cs typeface="华文中宋"/>
              </a:rPr>
              <a:t>Q</a:t>
            </a:r>
            <a:r>
              <a:rPr lang="en-US" altLang="zh-CN" sz="1600" b="1">
                <a:solidFill>
                  <a:srgbClr val="000000"/>
                </a:solidFill>
                <a:latin typeface="Times New Roman" pitchFamily="18" charset="0"/>
                <a:ea typeface="华文中宋"/>
                <a:cs typeface="华文中宋"/>
              </a:rPr>
              <a:t>=d</a:t>
            </a:r>
            <a:r>
              <a:rPr lang="en-US" altLang="zh-CN" sz="1600" b="1" i="1">
                <a:solidFill>
                  <a:srgbClr val="000000"/>
                </a:solidFill>
                <a:latin typeface="Times New Roman" pitchFamily="18" charset="0"/>
                <a:ea typeface="华文中宋"/>
                <a:cs typeface="华文中宋"/>
              </a:rPr>
              <a:t>W</a:t>
            </a:r>
            <a:r>
              <a:rPr lang="en-US" altLang="zh-CN" sz="1600" b="1">
                <a:solidFill>
                  <a:srgbClr val="000000"/>
                </a:solidFill>
                <a:latin typeface="Times New Roman" pitchFamily="18" charset="0"/>
                <a:ea typeface="华文中宋"/>
                <a:cs typeface="华文中宋"/>
              </a:rPr>
              <a:t>=</a:t>
            </a:r>
            <a:r>
              <a:rPr lang="en-US" altLang="zh-CN" sz="1600" b="1" i="1">
                <a:solidFill>
                  <a:srgbClr val="000000"/>
                </a:solidFill>
                <a:latin typeface="Times New Roman" pitchFamily="18" charset="0"/>
                <a:ea typeface="华文中宋"/>
                <a:cs typeface="华文中宋"/>
              </a:rPr>
              <a:t>P</a:t>
            </a:r>
            <a:r>
              <a:rPr lang="en-US" altLang="zh-CN" sz="1600" b="1">
                <a:solidFill>
                  <a:srgbClr val="000000"/>
                </a:solidFill>
                <a:latin typeface="Times New Roman" pitchFamily="18" charset="0"/>
                <a:ea typeface="华文中宋"/>
                <a:cs typeface="华文中宋"/>
              </a:rPr>
              <a:t>d</a:t>
            </a:r>
            <a:r>
              <a:rPr lang="en-US" altLang="zh-CN" sz="1600" b="1" i="1">
                <a:solidFill>
                  <a:srgbClr val="000000"/>
                </a:solidFill>
                <a:latin typeface="Times New Roman" pitchFamily="18" charset="0"/>
                <a:ea typeface="华文中宋"/>
                <a:cs typeface="华文中宋"/>
              </a:rPr>
              <a:t>V</a:t>
            </a:r>
            <a:r>
              <a:rPr lang="en-US" altLang="zh-CN" sz="1600" b="1">
                <a:solidFill>
                  <a:srgbClr val="000000"/>
                </a:solidFill>
                <a:latin typeface="Times New Roman" pitchFamily="18" charset="0"/>
                <a:ea typeface="华文中宋"/>
                <a:cs typeface="华文中宋"/>
              </a:rPr>
              <a:t> </a:t>
            </a:r>
          </a:p>
        </p:txBody>
      </p:sp>
      <p:sp>
        <p:nvSpPr>
          <p:cNvPr id="72717" name="Text Box 13"/>
          <p:cNvSpPr txBox="1">
            <a:spLocks noChangeArrowheads="1"/>
          </p:cNvSpPr>
          <p:nvPr/>
        </p:nvSpPr>
        <p:spPr bwMode="auto">
          <a:xfrm>
            <a:off x="1419225" y="3381375"/>
            <a:ext cx="2720975" cy="338138"/>
          </a:xfrm>
          <a:prstGeom prst="rect">
            <a:avLst/>
          </a:prstGeom>
          <a:noFill/>
          <a:ln w="9525">
            <a:noFill/>
            <a:miter lim="800000"/>
            <a:headEnd/>
            <a:tailEnd/>
          </a:ln>
        </p:spPr>
        <p:txBody>
          <a:bodyPr>
            <a:spAutoFit/>
          </a:bodyPr>
          <a:lstStyle/>
          <a:p>
            <a:pPr eaLnBrk="0" hangingPunct="0"/>
            <a:r>
              <a:rPr lang="zh-CN" altLang="en-US" sz="1600" b="1">
                <a:solidFill>
                  <a:srgbClr val="000000"/>
                </a:solidFill>
                <a:latin typeface="华文中宋"/>
                <a:ea typeface="华文中宋"/>
                <a:cs typeface="华文中宋"/>
              </a:rPr>
              <a:t>又由物态方程有： </a:t>
            </a:r>
          </a:p>
        </p:txBody>
      </p:sp>
      <p:graphicFrame>
        <p:nvGraphicFramePr>
          <p:cNvPr id="72718" name="Object 48"/>
          <p:cNvGraphicFramePr>
            <a:graphicFrameLocks noChangeAspect="1"/>
          </p:cNvGraphicFramePr>
          <p:nvPr/>
        </p:nvGraphicFramePr>
        <p:xfrm>
          <a:off x="3348038" y="3273425"/>
          <a:ext cx="2781300" cy="552450"/>
        </p:xfrm>
        <a:graphic>
          <a:graphicData uri="http://schemas.openxmlformats.org/presentationml/2006/ole">
            <p:oleObj spid="_x0000_s39984" name="公式" r:id="rId5" imgW="977476" imgH="291973" progId="Equation.3">
              <p:embed/>
            </p:oleObj>
          </a:graphicData>
        </a:graphic>
      </p:graphicFrame>
      <p:sp>
        <p:nvSpPr>
          <p:cNvPr id="72719" name="Text Box 15"/>
          <p:cNvSpPr txBox="1">
            <a:spLocks noChangeArrowheads="1"/>
          </p:cNvSpPr>
          <p:nvPr/>
        </p:nvSpPr>
        <p:spPr bwMode="auto">
          <a:xfrm>
            <a:off x="4100513" y="1946275"/>
            <a:ext cx="2559050" cy="338138"/>
          </a:xfrm>
          <a:prstGeom prst="rect">
            <a:avLst/>
          </a:prstGeom>
          <a:noFill/>
          <a:ln w="9525">
            <a:noFill/>
            <a:miter lim="800000"/>
            <a:headEnd/>
            <a:tailEnd/>
          </a:ln>
        </p:spPr>
        <p:txBody>
          <a:bodyPr>
            <a:spAutoFit/>
          </a:bodyPr>
          <a:lstStyle/>
          <a:p>
            <a:pPr eaLnBrk="0" hangingPunct="0"/>
            <a:r>
              <a:rPr lang="zh-CN" altLang="en-US" sz="1600" b="1">
                <a:solidFill>
                  <a:srgbClr val="000000"/>
                </a:solidFill>
                <a:latin typeface="华文中宋"/>
                <a:ea typeface="华文中宋"/>
                <a:cs typeface="华文中宋"/>
              </a:rPr>
              <a:t>绝热过程：</a:t>
            </a:r>
            <a:r>
              <a:rPr lang="en-US" altLang="zh-CN" sz="1600" b="1" i="1">
                <a:solidFill>
                  <a:srgbClr val="000000"/>
                </a:solidFill>
                <a:latin typeface="Times New Roman" pitchFamily="18" charset="0"/>
                <a:ea typeface="华文中宋"/>
                <a:cs typeface="华文中宋"/>
              </a:rPr>
              <a:t>Q</a:t>
            </a:r>
            <a:r>
              <a:rPr lang="en-US" altLang="zh-CN" sz="1600" b="1">
                <a:solidFill>
                  <a:srgbClr val="000000"/>
                </a:solidFill>
                <a:latin typeface="Times New Roman" pitchFamily="18" charset="0"/>
                <a:ea typeface="华文中宋"/>
                <a:cs typeface="华文中宋"/>
              </a:rPr>
              <a:t>=0</a:t>
            </a:r>
            <a:r>
              <a:rPr lang="zh-CN" altLang="en-US" sz="1600" b="1">
                <a:solidFill>
                  <a:srgbClr val="000000"/>
                </a:solidFill>
                <a:latin typeface="华文中宋"/>
                <a:ea typeface="华文中宋"/>
                <a:cs typeface="华文中宋"/>
              </a:rPr>
              <a:t>，</a:t>
            </a:r>
          </a:p>
        </p:txBody>
      </p:sp>
      <p:sp>
        <p:nvSpPr>
          <p:cNvPr id="72720" name="Rectangle 16"/>
          <p:cNvSpPr>
            <a:spLocks noChangeArrowheads="1"/>
          </p:cNvSpPr>
          <p:nvPr/>
        </p:nvSpPr>
        <p:spPr bwMode="auto">
          <a:xfrm>
            <a:off x="1546225" y="1946275"/>
            <a:ext cx="2305050" cy="338138"/>
          </a:xfrm>
          <a:prstGeom prst="rect">
            <a:avLst/>
          </a:prstGeom>
          <a:noFill/>
          <a:ln w="9525">
            <a:noFill/>
            <a:miter lim="800000"/>
            <a:headEnd/>
            <a:tailEnd/>
          </a:ln>
        </p:spPr>
        <p:txBody>
          <a:bodyPr>
            <a:spAutoFit/>
          </a:bodyPr>
          <a:lstStyle/>
          <a:p>
            <a:pPr eaLnBrk="0" hangingPunct="0"/>
            <a:r>
              <a:rPr lang="zh-CN" altLang="en-US" sz="1600" b="1">
                <a:solidFill>
                  <a:srgbClr val="000000"/>
                </a:solidFill>
                <a:latin typeface="Times New Roman" pitchFamily="18" charset="0"/>
                <a:ea typeface="华文中宋"/>
                <a:cs typeface="华文中宋"/>
              </a:rPr>
              <a:t>自由膨胀：</a:t>
            </a:r>
            <a:r>
              <a:rPr lang="en-US" altLang="zh-CN" sz="1600" b="1" i="1">
                <a:solidFill>
                  <a:srgbClr val="000000"/>
                </a:solidFill>
                <a:latin typeface="Times New Roman" pitchFamily="18" charset="0"/>
                <a:ea typeface="华文中宋"/>
                <a:cs typeface="华文中宋"/>
              </a:rPr>
              <a:t>W</a:t>
            </a:r>
            <a:r>
              <a:rPr lang="en-US" altLang="zh-CN" sz="1600" b="1">
                <a:solidFill>
                  <a:srgbClr val="000000"/>
                </a:solidFill>
                <a:latin typeface="Times New Roman" pitchFamily="18" charset="0"/>
                <a:ea typeface="华文中宋"/>
                <a:cs typeface="华文中宋"/>
              </a:rPr>
              <a:t>=0</a:t>
            </a:r>
          </a:p>
        </p:txBody>
      </p:sp>
      <p:graphicFrame>
        <p:nvGraphicFramePr>
          <p:cNvPr id="72721" name="Object 49"/>
          <p:cNvGraphicFramePr>
            <a:graphicFrameLocks noChangeAspect="1"/>
          </p:cNvGraphicFramePr>
          <p:nvPr/>
        </p:nvGraphicFramePr>
        <p:xfrm>
          <a:off x="1849438" y="3706813"/>
          <a:ext cx="4235450" cy="593725"/>
        </p:xfrm>
        <a:graphic>
          <a:graphicData uri="http://schemas.openxmlformats.org/presentationml/2006/ole">
            <p:oleObj spid="_x0000_s39985" name="公式" r:id="rId6" imgW="1663700" imgH="355600" progId="Equation.3">
              <p:embed/>
            </p:oleObj>
          </a:graphicData>
        </a:graphic>
      </p:graphicFrame>
      <p:sp>
        <p:nvSpPr>
          <p:cNvPr id="72722" name="Text Box 18"/>
          <p:cNvSpPr txBox="1">
            <a:spLocks noChangeArrowheads="1"/>
          </p:cNvSpPr>
          <p:nvPr/>
        </p:nvSpPr>
        <p:spPr bwMode="auto">
          <a:xfrm>
            <a:off x="539750" y="4227513"/>
            <a:ext cx="8001000" cy="339725"/>
          </a:xfrm>
          <a:prstGeom prst="rect">
            <a:avLst/>
          </a:prstGeom>
          <a:noFill/>
          <a:ln w="9525">
            <a:noFill/>
            <a:miter lim="800000"/>
            <a:headEnd/>
            <a:tailEnd/>
          </a:ln>
        </p:spPr>
        <p:txBody>
          <a:bodyPr>
            <a:spAutoFit/>
          </a:bodyPr>
          <a:lstStyle/>
          <a:p>
            <a:pPr eaLnBrk="0" hangingPunct="0"/>
            <a:r>
              <a:rPr lang="en-US" altLang="zh-CN" sz="1600" b="1">
                <a:solidFill>
                  <a:srgbClr val="000000"/>
                </a:solidFill>
                <a:latin typeface="Times New Roman" pitchFamily="18" charset="0"/>
                <a:ea typeface="华文中宋"/>
                <a:cs typeface="华文中宋"/>
              </a:rPr>
              <a:t>     </a:t>
            </a:r>
            <a:r>
              <a:rPr lang="zh-CN" altLang="en-US" sz="1600" b="1">
                <a:solidFill>
                  <a:srgbClr val="000000"/>
                </a:solidFill>
                <a:latin typeface="Times New Roman" pitchFamily="18" charset="0"/>
                <a:ea typeface="华文中宋"/>
                <a:cs typeface="华文中宋"/>
              </a:rPr>
              <a:t>由于</a:t>
            </a:r>
            <a:r>
              <a:rPr lang="en-US" altLang="zh-CN" sz="1600" b="1" i="1">
                <a:solidFill>
                  <a:srgbClr val="000000"/>
                </a:solidFill>
                <a:latin typeface="Times New Roman" pitchFamily="18" charset="0"/>
                <a:ea typeface="华文中宋"/>
                <a:cs typeface="华文中宋"/>
              </a:rPr>
              <a:t>V</a:t>
            </a:r>
            <a:r>
              <a:rPr lang="en-US" altLang="zh-CN" sz="1600" b="1" baseline="-25000">
                <a:solidFill>
                  <a:srgbClr val="000000"/>
                </a:solidFill>
                <a:latin typeface="Times New Roman" pitchFamily="18" charset="0"/>
                <a:ea typeface="华文中宋"/>
                <a:cs typeface="华文中宋"/>
              </a:rPr>
              <a:t>2</a:t>
            </a:r>
            <a:r>
              <a:rPr lang="en-US" altLang="zh-CN" sz="1600" b="1">
                <a:solidFill>
                  <a:srgbClr val="000000"/>
                </a:solidFill>
                <a:latin typeface="Times New Roman" pitchFamily="18" charset="0"/>
                <a:ea typeface="华文中宋"/>
                <a:cs typeface="华文中宋"/>
              </a:rPr>
              <a:t>&gt;</a:t>
            </a:r>
            <a:r>
              <a:rPr lang="en-US" altLang="zh-CN" sz="1600" b="1" i="1">
                <a:solidFill>
                  <a:srgbClr val="000000"/>
                </a:solidFill>
                <a:latin typeface="Times New Roman" pitchFamily="18" charset="0"/>
                <a:ea typeface="华文中宋"/>
                <a:cs typeface="华文中宋"/>
              </a:rPr>
              <a:t>V</a:t>
            </a:r>
            <a:r>
              <a:rPr lang="en-US" altLang="zh-CN" sz="1600" b="1" baseline="-25000">
                <a:solidFill>
                  <a:srgbClr val="000000"/>
                </a:solidFill>
                <a:latin typeface="Times New Roman" pitchFamily="18" charset="0"/>
                <a:ea typeface="华文中宋"/>
                <a:cs typeface="华文中宋"/>
              </a:rPr>
              <a:t>1</a:t>
            </a:r>
            <a:r>
              <a:rPr lang="zh-CN" altLang="en-US" sz="1600" b="1">
                <a:solidFill>
                  <a:srgbClr val="000000"/>
                </a:solidFill>
                <a:latin typeface="Times New Roman" pitchFamily="18" charset="0"/>
                <a:ea typeface="华文中宋"/>
                <a:cs typeface="华文中宋"/>
              </a:rPr>
              <a:t>，故知理想气体绝热自由膨胀这一不可逆过程的熵是增加的。</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72708"/>
                                        </p:tgtEl>
                                        <p:attrNameLst>
                                          <p:attrName>style.visibility</p:attrName>
                                        </p:attrNameLst>
                                      </p:cBhvr>
                                      <p:to>
                                        <p:strVal val="visible"/>
                                      </p:to>
                                    </p:set>
                                    <p:animEffect transition="in" filter="box(in)">
                                      <p:cBhvr>
                                        <p:cTn id="7" dur="500"/>
                                        <p:tgtEl>
                                          <p:spTgt spid="7270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2720"/>
                                        </p:tgtEl>
                                        <p:attrNameLst>
                                          <p:attrName>style.visibility</p:attrName>
                                        </p:attrNameLst>
                                      </p:cBhvr>
                                      <p:to>
                                        <p:strVal val="visible"/>
                                      </p:to>
                                    </p:set>
                                    <p:animEffect transition="in" filter="blinds(horizontal)">
                                      <p:cBhvr>
                                        <p:cTn id="12" dur="500"/>
                                        <p:tgtEl>
                                          <p:spTgt spid="7272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72719"/>
                                        </p:tgtEl>
                                        <p:attrNameLst>
                                          <p:attrName>style.visibility</p:attrName>
                                        </p:attrNameLst>
                                      </p:cBhvr>
                                      <p:to>
                                        <p:strVal val="visible"/>
                                      </p:to>
                                    </p:set>
                                    <p:animEffect transition="in" filter="box(in)">
                                      <p:cBhvr>
                                        <p:cTn id="17" dur="500"/>
                                        <p:tgtEl>
                                          <p:spTgt spid="7271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72710"/>
                                        </p:tgtEl>
                                        <p:attrNameLst>
                                          <p:attrName>style.visibility</p:attrName>
                                        </p:attrNameLst>
                                      </p:cBhvr>
                                      <p:to>
                                        <p:strVal val="visible"/>
                                      </p:to>
                                    </p:set>
                                    <p:animEffect transition="in" filter="box(in)">
                                      <p:cBhvr>
                                        <p:cTn id="22" dur="500"/>
                                        <p:tgtEl>
                                          <p:spTgt spid="7271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72711"/>
                                        </p:tgtEl>
                                        <p:attrNameLst>
                                          <p:attrName>style.visibility</p:attrName>
                                        </p:attrNameLst>
                                      </p:cBhvr>
                                      <p:to>
                                        <p:strVal val="visible"/>
                                      </p:to>
                                    </p:set>
                                    <p:animEffect transition="in" filter="box(in)">
                                      <p:cBhvr>
                                        <p:cTn id="27" dur="500"/>
                                        <p:tgtEl>
                                          <p:spTgt spid="7271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nodeType="clickEffect">
                                  <p:stCondLst>
                                    <p:cond delay="0"/>
                                  </p:stCondLst>
                                  <p:childTnLst>
                                    <p:set>
                                      <p:cBhvr>
                                        <p:cTn id="31" dur="1" fill="hold">
                                          <p:stCondLst>
                                            <p:cond delay="0"/>
                                          </p:stCondLst>
                                        </p:cTn>
                                        <p:tgtEl>
                                          <p:spTgt spid="72712"/>
                                        </p:tgtEl>
                                        <p:attrNameLst>
                                          <p:attrName>style.visibility</p:attrName>
                                        </p:attrNameLst>
                                      </p:cBhvr>
                                      <p:to>
                                        <p:strVal val="visible"/>
                                      </p:to>
                                    </p:set>
                                    <p:animEffect transition="in" filter="box(in)">
                                      <p:cBhvr>
                                        <p:cTn id="32" dur="500"/>
                                        <p:tgtEl>
                                          <p:spTgt spid="72712"/>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16" fill="hold" grpId="0" nodeType="clickEffect">
                                  <p:stCondLst>
                                    <p:cond delay="0"/>
                                  </p:stCondLst>
                                  <p:childTnLst>
                                    <p:set>
                                      <p:cBhvr>
                                        <p:cTn id="36" dur="1" fill="hold">
                                          <p:stCondLst>
                                            <p:cond delay="0"/>
                                          </p:stCondLst>
                                        </p:cTn>
                                        <p:tgtEl>
                                          <p:spTgt spid="72714"/>
                                        </p:tgtEl>
                                        <p:attrNameLst>
                                          <p:attrName>style.visibility</p:attrName>
                                        </p:attrNameLst>
                                      </p:cBhvr>
                                      <p:to>
                                        <p:strVal val="visible"/>
                                      </p:to>
                                    </p:set>
                                    <p:animEffect transition="in" filter="box(in)">
                                      <p:cBhvr>
                                        <p:cTn id="37" dur="500"/>
                                        <p:tgtEl>
                                          <p:spTgt spid="72714"/>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4" presetClass="entr" presetSubtype="16" fill="hold" grpId="0" nodeType="clickEffect">
                                  <p:stCondLst>
                                    <p:cond delay="0"/>
                                  </p:stCondLst>
                                  <p:childTnLst>
                                    <p:set>
                                      <p:cBhvr>
                                        <p:cTn id="41" dur="1" fill="hold">
                                          <p:stCondLst>
                                            <p:cond delay="0"/>
                                          </p:stCondLst>
                                        </p:cTn>
                                        <p:tgtEl>
                                          <p:spTgt spid="72715"/>
                                        </p:tgtEl>
                                        <p:attrNameLst>
                                          <p:attrName>style.visibility</p:attrName>
                                        </p:attrNameLst>
                                      </p:cBhvr>
                                      <p:to>
                                        <p:strVal val="visible"/>
                                      </p:to>
                                    </p:set>
                                    <p:animEffect transition="in" filter="box(in)">
                                      <p:cBhvr>
                                        <p:cTn id="42" dur="500"/>
                                        <p:tgtEl>
                                          <p:spTgt spid="72715"/>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72717"/>
                                        </p:tgtEl>
                                        <p:attrNameLst>
                                          <p:attrName>style.visibility</p:attrName>
                                        </p:attrNameLst>
                                      </p:cBhvr>
                                      <p:to>
                                        <p:strVal val="visible"/>
                                      </p:to>
                                    </p:set>
                                    <p:animEffect transition="in" filter="blinds(horizontal)">
                                      <p:cBhvr>
                                        <p:cTn id="47" dur="500"/>
                                        <p:tgtEl>
                                          <p:spTgt spid="72717"/>
                                        </p:tgtEl>
                                      </p:cBhvr>
                                    </p:animEffect>
                                  </p:childTnLst>
                                </p:cTn>
                              </p:par>
                              <p:par>
                                <p:cTn id="48" presetID="3" presetClass="entr" presetSubtype="10" fill="hold" nodeType="withEffect">
                                  <p:stCondLst>
                                    <p:cond delay="0"/>
                                  </p:stCondLst>
                                  <p:childTnLst>
                                    <p:set>
                                      <p:cBhvr>
                                        <p:cTn id="49" dur="1" fill="hold">
                                          <p:stCondLst>
                                            <p:cond delay="0"/>
                                          </p:stCondLst>
                                        </p:cTn>
                                        <p:tgtEl>
                                          <p:spTgt spid="72718"/>
                                        </p:tgtEl>
                                        <p:attrNameLst>
                                          <p:attrName>style.visibility</p:attrName>
                                        </p:attrNameLst>
                                      </p:cBhvr>
                                      <p:to>
                                        <p:strVal val="visible"/>
                                      </p:to>
                                    </p:set>
                                    <p:animEffect transition="in" filter="blinds(horizontal)">
                                      <p:cBhvr>
                                        <p:cTn id="50" dur="500"/>
                                        <p:tgtEl>
                                          <p:spTgt spid="72718"/>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4" presetClass="entr" presetSubtype="16" fill="hold" nodeType="clickEffect">
                                  <p:stCondLst>
                                    <p:cond delay="0"/>
                                  </p:stCondLst>
                                  <p:childTnLst>
                                    <p:set>
                                      <p:cBhvr>
                                        <p:cTn id="54" dur="1" fill="hold">
                                          <p:stCondLst>
                                            <p:cond delay="0"/>
                                          </p:stCondLst>
                                        </p:cTn>
                                        <p:tgtEl>
                                          <p:spTgt spid="72721"/>
                                        </p:tgtEl>
                                        <p:attrNameLst>
                                          <p:attrName>style.visibility</p:attrName>
                                        </p:attrNameLst>
                                      </p:cBhvr>
                                      <p:to>
                                        <p:strVal val="visible"/>
                                      </p:to>
                                    </p:set>
                                    <p:animEffect transition="in" filter="box(in)">
                                      <p:cBhvr>
                                        <p:cTn id="55" dur="500"/>
                                        <p:tgtEl>
                                          <p:spTgt spid="72721"/>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4" presetClass="entr" presetSubtype="16" fill="hold" grpId="0" nodeType="clickEffect">
                                  <p:stCondLst>
                                    <p:cond delay="0"/>
                                  </p:stCondLst>
                                  <p:childTnLst>
                                    <p:set>
                                      <p:cBhvr>
                                        <p:cTn id="59" dur="1" fill="hold">
                                          <p:stCondLst>
                                            <p:cond delay="0"/>
                                          </p:stCondLst>
                                        </p:cTn>
                                        <p:tgtEl>
                                          <p:spTgt spid="72722"/>
                                        </p:tgtEl>
                                        <p:attrNameLst>
                                          <p:attrName>style.visibility</p:attrName>
                                        </p:attrNameLst>
                                      </p:cBhvr>
                                      <p:to>
                                        <p:strVal val="visible"/>
                                      </p:to>
                                    </p:set>
                                    <p:animEffect transition="in" filter="box(in)">
                                      <p:cBhvr>
                                        <p:cTn id="60" dur="500"/>
                                        <p:tgtEl>
                                          <p:spTgt spid="727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08" grpId="0" autoUpdateAnimBg="0"/>
      <p:bldP spid="72710" grpId="0" autoUpdateAnimBg="0"/>
      <p:bldP spid="72714" grpId="0" autoUpdateAnimBg="0"/>
      <p:bldP spid="72715" grpId="0" autoUpdateAnimBg="0"/>
      <p:bldP spid="72717" grpId="0"/>
      <p:bldP spid="72719" grpId="0" autoUpdateAnimBg="0"/>
      <p:bldP spid="72720" grpId="0"/>
      <p:bldP spid="72722" grpId="0" autoUpdateAnimBg="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60" name="Text Box 3"/>
          <p:cNvSpPr txBox="1">
            <a:spLocks noChangeArrowheads="1"/>
          </p:cNvSpPr>
          <p:nvPr/>
        </p:nvSpPr>
        <p:spPr bwMode="auto">
          <a:xfrm>
            <a:off x="381000" y="850900"/>
            <a:ext cx="8439150" cy="923925"/>
          </a:xfrm>
          <a:prstGeom prst="rect">
            <a:avLst/>
          </a:prstGeom>
          <a:noFill/>
          <a:ln w="9525">
            <a:noFill/>
            <a:miter lim="800000"/>
            <a:headEnd/>
            <a:tailEnd/>
          </a:ln>
        </p:spPr>
        <p:txBody>
          <a:bodyPr>
            <a:spAutoFit/>
          </a:bodyPr>
          <a:lstStyle/>
          <a:p>
            <a:pPr eaLnBrk="0" hangingPunct="0"/>
            <a:r>
              <a:rPr lang="zh-CN" altLang="en-US" b="1">
                <a:latin typeface="Times New Roman" pitchFamily="18" charset="0"/>
                <a:ea typeface="黑体" pitchFamily="49" charset="-122"/>
              </a:rPr>
              <a:t>例   求有限温差的热传导过程中的熵变。在由绝热壁围成的容器内的中间用导热板分成相等的</a:t>
            </a:r>
            <a:r>
              <a:rPr lang="en-US" altLang="zh-CN" b="1" i="1">
                <a:latin typeface="Times New Roman" pitchFamily="18" charset="0"/>
                <a:ea typeface="黑体" pitchFamily="49" charset="-122"/>
              </a:rPr>
              <a:t>A</a:t>
            </a:r>
            <a:r>
              <a:rPr lang="zh-CN" altLang="en-US" b="1">
                <a:latin typeface="Times New Roman" pitchFamily="18" charset="0"/>
                <a:ea typeface="黑体" pitchFamily="49" charset="-122"/>
              </a:rPr>
              <a:t>、</a:t>
            </a:r>
            <a:r>
              <a:rPr lang="en-US" altLang="zh-CN" b="1" i="1">
                <a:latin typeface="Times New Roman" pitchFamily="18" charset="0"/>
                <a:ea typeface="黑体" pitchFamily="49" charset="-122"/>
              </a:rPr>
              <a:t>B</a:t>
            </a:r>
            <a:r>
              <a:rPr lang="zh-CN" altLang="en-US" b="1">
                <a:latin typeface="Times New Roman" pitchFamily="18" charset="0"/>
                <a:ea typeface="黑体" pitchFamily="49" charset="-122"/>
              </a:rPr>
              <a:t>两部分，两边各有一摩尔的同种理想气体，它们的初始温度分别为</a:t>
            </a:r>
            <a:r>
              <a:rPr lang="en-US" altLang="zh-CN" b="1" i="1">
                <a:latin typeface="Times New Roman" pitchFamily="18" charset="0"/>
                <a:ea typeface="黑体" pitchFamily="49" charset="-122"/>
              </a:rPr>
              <a:t>T</a:t>
            </a:r>
            <a:r>
              <a:rPr lang="en-US" altLang="zh-CN" b="1" baseline="-25000">
                <a:latin typeface="Times New Roman" pitchFamily="18" charset="0"/>
                <a:ea typeface="黑体" pitchFamily="49" charset="-122"/>
              </a:rPr>
              <a:t>A</a:t>
            </a:r>
            <a:r>
              <a:rPr lang="zh-CN" altLang="en-US" b="1">
                <a:latin typeface="Times New Roman" pitchFamily="18" charset="0"/>
                <a:ea typeface="黑体" pitchFamily="49" charset="-122"/>
              </a:rPr>
              <a:t>和</a:t>
            </a:r>
            <a:r>
              <a:rPr lang="en-US" altLang="zh-CN" b="1" i="1">
                <a:latin typeface="Times New Roman" pitchFamily="18" charset="0"/>
                <a:ea typeface="黑体" pitchFamily="49" charset="-122"/>
              </a:rPr>
              <a:t>T</a:t>
            </a:r>
            <a:r>
              <a:rPr lang="en-US" altLang="zh-CN" b="1" baseline="-25000">
                <a:latin typeface="Times New Roman" pitchFamily="18" charset="0"/>
                <a:ea typeface="黑体" pitchFamily="49" charset="-122"/>
              </a:rPr>
              <a:t>B</a:t>
            </a:r>
            <a:r>
              <a:rPr lang="zh-CN" altLang="en-US" b="1">
                <a:latin typeface="Times New Roman" pitchFamily="18" charset="0"/>
                <a:ea typeface="黑体" pitchFamily="49" charset="-122"/>
              </a:rPr>
              <a:t>，达平衡时的终了温度为</a:t>
            </a:r>
          </a:p>
        </p:txBody>
      </p:sp>
      <p:graphicFrame>
        <p:nvGraphicFramePr>
          <p:cNvPr id="41053" name="Object 93"/>
          <p:cNvGraphicFramePr>
            <a:graphicFrameLocks noChangeAspect="1"/>
          </p:cNvGraphicFramePr>
          <p:nvPr/>
        </p:nvGraphicFramePr>
        <p:xfrm>
          <a:off x="3916363" y="1327150"/>
          <a:ext cx="2009775" cy="596900"/>
        </p:xfrm>
        <a:graphic>
          <a:graphicData uri="http://schemas.openxmlformats.org/presentationml/2006/ole">
            <p:oleObj spid="_x0000_s41053" name="公式" r:id="rId3" imgW="736600" imgH="292100" progId="Equation.3">
              <p:embed/>
            </p:oleObj>
          </a:graphicData>
        </a:graphic>
      </p:graphicFrame>
      <p:grpSp>
        <p:nvGrpSpPr>
          <p:cNvPr id="41061" name="Group 26"/>
          <p:cNvGrpSpPr>
            <a:grpSpLocks/>
          </p:cNvGrpSpPr>
          <p:nvPr/>
        </p:nvGrpSpPr>
        <p:grpSpPr bwMode="auto">
          <a:xfrm>
            <a:off x="6846888" y="1763713"/>
            <a:ext cx="2117725" cy="952500"/>
            <a:chOff x="3983" y="1100"/>
            <a:chExt cx="1334" cy="800"/>
          </a:xfrm>
        </p:grpSpPr>
        <p:grpSp>
          <p:nvGrpSpPr>
            <p:cNvPr id="41066" name="Group 8"/>
            <p:cNvGrpSpPr>
              <a:grpSpLocks/>
            </p:cNvGrpSpPr>
            <p:nvPr/>
          </p:nvGrpSpPr>
          <p:grpSpPr bwMode="auto">
            <a:xfrm>
              <a:off x="3983" y="1100"/>
              <a:ext cx="1334" cy="800"/>
              <a:chOff x="3888" y="2928"/>
              <a:chExt cx="1488" cy="720"/>
            </a:xfrm>
          </p:grpSpPr>
          <p:sp>
            <p:nvSpPr>
              <p:cNvPr id="41067" name="Rectangle 9"/>
              <p:cNvSpPr>
                <a:spLocks noChangeArrowheads="1"/>
              </p:cNvSpPr>
              <p:nvPr/>
            </p:nvSpPr>
            <p:spPr bwMode="auto">
              <a:xfrm>
                <a:off x="3888" y="2928"/>
                <a:ext cx="1488" cy="720"/>
              </a:xfrm>
              <a:prstGeom prst="rect">
                <a:avLst/>
              </a:prstGeom>
              <a:solidFill>
                <a:schemeClr val="bg1"/>
              </a:solidFill>
              <a:ln w="57150">
                <a:pattFill prst="dkUpDiag">
                  <a:fgClr>
                    <a:schemeClr val="tx1"/>
                  </a:fgClr>
                  <a:bgClr>
                    <a:schemeClr val="hlink"/>
                  </a:bgClr>
                </a:pattFill>
                <a:miter lim="800000"/>
                <a:headEnd/>
                <a:tailEnd/>
              </a:ln>
            </p:spPr>
            <p:txBody>
              <a:bodyPr wrap="none" anchor="ctr"/>
              <a:lstStyle/>
              <a:p>
                <a:endParaRPr kumimoji="1" lang="zh-CN" altLang="en-US" sz="2400" b="1">
                  <a:solidFill>
                    <a:srgbClr val="000000"/>
                  </a:solidFill>
                  <a:latin typeface="Times New Roman" pitchFamily="18" charset="0"/>
                  <a:ea typeface="华文中宋"/>
                  <a:cs typeface="华文中宋"/>
                </a:endParaRPr>
              </a:p>
            </p:txBody>
          </p:sp>
          <p:sp>
            <p:nvSpPr>
              <p:cNvPr id="41068" name="Rectangle 10"/>
              <p:cNvSpPr>
                <a:spLocks noChangeArrowheads="1"/>
              </p:cNvSpPr>
              <p:nvPr/>
            </p:nvSpPr>
            <p:spPr bwMode="auto">
              <a:xfrm>
                <a:off x="4608" y="2928"/>
                <a:ext cx="48" cy="720"/>
              </a:xfrm>
              <a:prstGeom prst="rect">
                <a:avLst/>
              </a:prstGeom>
              <a:solidFill>
                <a:schemeClr val="accent1"/>
              </a:solidFill>
              <a:ln w="9525">
                <a:pattFill prst="dkUpDiag">
                  <a:fgClr>
                    <a:schemeClr val="tx1"/>
                  </a:fgClr>
                  <a:bgClr>
                    <a:schemeClr val="hlink"/>
                  </a:bgClr>
                </a:pattFill>
                <a:miter lim="800000"/>
                <a:headEnd/>
                <a:tailEnd/>
              </a:ln>
            </p:spPr>
            <p:txBody>
              <a:bodyPr wrap="none" anchor="ctr"/>
              <a:lstStyle/>
              <a:p>
                <a:endParaRPr kumimoji="1" lang="zh-CN" altLang="en-US" sz="2400" b="1">
                  <a:solidFill>
                    <a:srgbClr val="000000"/>
                  </a:solidFill>
                  <a:latin typeface="Times New Roman" pitchFamily="18" charset="0"/>
                  <a:ea typeface="华文中宋"/>
                  <a:cs typeface="华文中宋"/>
                </a:endParaRPr>
              </a:p>
            </p:txBody>
          </p:sp>
        </p:grpSp>
        <p:graphicFrame>
          <p:nvGraphicFramePr>
            <p:cNvPr id="41054" name="Object 94"/>
            <p:cNvGraphicFramePr>
              <a:graphicFrameLocks noChangeAspect="1"/>
            </p:cNvGraphicFramePr>
            <p:nvPr/>
          </p:nvGraphicFramePr>
          <p:xfrm>
            <a:off x="4223" y="1344"/>
            <a:ext cx="245" cy="243"/>
          </p:xfrm>
          <a:graphic>
            <a:graphicData uri="http://schemas.openxmlformats.org/presentationml/2006/ole">
              <p:oleObj spid="_x0000_s41054" name="公式" r:id="rId4" imgW="164885" imgH="164885" progId="Equation.3">
                <p:embed/>
              </p:oleObj>
            </a:graphicData>
          </a:graphic>
        </p:graphicFrame>
        <p:graphicFrame>
          <p:nvGraphicFramePr>
            <p:cNvPr id="41055" name="Object 95"/>
            <p:cNvGraphicFramePr>
              <a:graphicFrameLocks noChangeAspect="1"/>
            </p:cNvGraphicFramePr>
            <p:nvPr/>
          </p:nvGraphicFramePr>
          <p:xfrm>
            <a:off x="4848" y="1335"/>
            <a:ext cx="255" cy="255"/>
          </p:xfrm>
          <a:graphic>
            <a:graphicData uri="http://schemas.openxmlformats.org/presentationml/2006/ole">
              <p:oleObj spid="_x0000_s41055" name="公式" r:id="rId5" imgW="164885" imgH="164885" progId="Equation.3">
                <p:embed/>
              </p:oleObj>
            </a:graphicData>
          </a:graphic>
        </p:graphicFrame>
      </p:grpSp>
      <p:sp>
        <p:nvSpPr>
          <p:cNvPr id="74765" name="Text Box 13"/>
          <p:cNvSpPr txBox="1">
            <a:spLocks noChangeArrowheads="1"/>
          </p:cNvSpPr>
          <p:nvPr/>
        </p:nvSpPr>
        <p:spPr bwMode="auto">
          <a:xfrm>
            <a:off x="323850" y="2143125"/>
            <a:ext cx="8208963" cy="369888"/>
          </a:xfrm>
          <a:prstGeom prst="rect">
            <a:avLst/>
          </a:prstGeom>
          <a:noFill/>
          <a:ln w="9525">
            <a:noFill/>
            <a:miter lim="800000"/>
            <a:headEnd/>
            <a:tailEnd/>
          </a:ln>
        </p:spPr>
        <p:txBody>
          <a:bodyPr>
            <a:spAutoFit/>
          </a:bodyPr>
          <a:lstStyle/>
          <a:p>
            <a:pPr eaLnBrk="0" hangingPunct="0"/>
            <a:r>
              <a:rPr lang="zh-CN" altLang="en-US" b="1">
                <a:solidFill>
                  <a:srgbClr val="FF0000"/>
                </a:solidFill>
                <a:latin typeface="华文中宋"/>
                <a:ea typeface="华文中宋"/>
                <a:cs typeface="华文中宋"/>
              </a:rPr>
              <a:t>解：</a:t>
            </a:r>
            <a:r>
              <a:rPr lang="zh-CN" altLang="en-US" b="1">
                <a:solidFill>
                  <a:srgbClr val="000000"/>
                </a:solidFill>
                <a:latin typeface="华文中宋"/>
                <a:ea typeface="华文中宋"/>
                <a:cs typeface="华文中宋"/>
              </a:rPr>
              <a:t>将这一不可逆传导过程假设为可逆的等容过程，则：</a:t>
            </a:r>
          </a:p>
        </p:txBody>
      </p:sp>
      <p:graphicFrame>
        <p:nvGraphicFramePr>
          <p:cNvPr id="74766" name="Object 96"/>
          <p:cNvGraphicFramePr>
            <a:graphicFrameLocks noChangeAspect="1"/>
          </p:cNvGraphicFramePr>
          <p:nvPr/>
        </p:nvGraphicFramePr>
        <p:xfrm>
          <a:off x="2006600" y="2513013"/>
          <a:ext cx="3159125" cy="433387"/>
        </p:xfrm>
        <a:graphic>
          <a:graphicData uri="http://schemas.openxmlformats.org/presentationml/2006/ole">
            <p:oleObj spid="_x0000_s41056" name="Equation" r:id="rId6" imgW="1460160" imgH="241200" progId="Equation.DSMT4">
              <p:embed/>
            </p:oleObj>
          </a:graphicData>
        </a:graphic>
      </p:graphicFrame>
      <p:sp>
        <p:nvSpPr>
          <p:cNvPr id="74768" name="Text Box 16"/>
          <p:cNvSpPr txBox="1">
            <a:spLocks noChangeArrowheads="1"/>
          </p:cNvSpPr>
          <p:nvPr/>
        </p:nvSpPr>
        <p:spPr bwMode="auto">
          <a:xfrm>
            <a:off x="971550" y="3022600"/>
            <a:ext cx="1001713" cy="369888"/>
          </a:xfrm>
          <a:prstGeom prst="rect">
            <a:avLst/>
          </a:prstGeom>
          <a:noFill/>
          <a:ln w="9525">
            <a:noFill/>
            <a:miter lim="800000"/>
            <a:headEnd/>
            <a:tailEnd/>
          </a:ln>
        </p:spPr>
        <p:txBody>
          <a:bodyPr>
            <a:spAutoFit/>
          </a:bodyPr>
          <a:lstStyle/>
          <a:p>
            <a:pPr eaLnBrk="0" hangingPunct="0"/>
            <a:r>
              <a:rPr lang="zh-CN" altLang="en-US" b="1">
                <a:solidFill>
                  <a:srgbClr val="000000"/>
                </a:solidFill>
                <a:latin typeface="华文中宋"/>
                <a:ea typeface="华文中宋"/>
                <a:cs typeface="华文中宋"/>
              </a:rPr>
              <a:t>对</a:t>
            </a:r>
            <a:r>
              <a:rPr lang="en-US" altLang="zh-CN" b="1">
                <a:solidFill>
                  <a:srgbClr val="000000"/>
                </a:solidFill>
                <a:latin typeface="华文中宋"/>
                <a:ea typeface="华文中宋"/>
                <a:cs typeface="华文中宋"/>
              </a:rPr>
              <a:t>A</a:t>
            </a:r>
            <a:r>
              <a:rPr lang="zh-CN" altLang="en-US" b="1">
                <a:solidFill>
                  <a:srgbClr val="000000"/>
                </a:solidFill>
                <a:latin typeface="华文中宋"/>
                <a:ea typeface="华文中宋"/>
                <a:cs typeface="华文中宋"/>
              </a:rPr>
              <a:t>：</a:t>
            </a:r>
          </a:p>
        </p:txBody>
      </p:sp>
      <p:graphicFrame>
        <p:nvGraphicFramePr>
          <p:cNvPr id="74769" name="Object 97"/>
          <p:cNvGraphicFramePr>
            <a:graphicFrameLocks noChangeAspect="1"/>
          </p:cNvGraphicFramePr>
          <p:nvPr/>
        </p:nvGraphicFramePr>
        <p:xfrm>
          <a:off x="1979613" y="2957513"/>
          <a:ext cx="4752975" cy="622300"/>
        </p:xfrm>
        <a:graphic>
          <a:graphicData uri="http://schemas.openxmlformats.org/presentationml/2006/ole">
            <p:oleObj spid="_x0000_s41057" name="公式" r:id="rId7" imgW="1954951" imgH="355446" progId="Equation.3">
              <p:embed/>
            </p:oleObj>
          </a:graphicData>
        </a:graphic>
      </p:graphicFrame>
      <p:sp>
        <p:nvSpPr>
          <p:cNvPr id="74771" name="Text Box 19"/>
          <p:cNvSpPr txBox="1">
            <a:spLocks noChangeArrowheads="1"/>
          </p:cNvSpPr>
          <p:nvPr/>
        </p:nvSpPr>
        <p:spPr bwMode="auto">
          <a:xfrm>
            <a:off x="971550" y="3579813"/>
            <a:ext cx="1019175" cy="369887"/>
          </a:xfrm>
          <a:prstGeom prst="rect">
            <a:avLst/>
          </a:prstGeom>
          <a:noFill/>
          <a:ln w="9525">
            <a:noFill/>
            <a:miter lim="800000"/>
            <a:headEnd/>
            <a:tailEnd/>
          </a:ln>
        </p:spPr>
        <p:txBody>
          <a:bodyPr>
            <a:spAutoFit/>
          </a:bodyPr>
          <a:lstStyle/>
          <a:p>
            <a:pPr eaLnBrk="0" hangingPunct="0"/>
            <a:r>
              <a:rPr lang="zh-CN" altLang="en-US" b="1">
                <a:solidFill>
                  <a:srgbClr val="000000"/>
                </a:solidFill>
                <a:latin typeface="华文中宋"/>
                <a:ea typeface="华文中宋"/>
                <a:cs typeface="华文中宋"/>
              </a:rPr>
              <a:t>对</a:t>
            </a:r>
            <a:r>
              <a:rPr lang="en-US" altLang="zh-CN" b="1">
                <a:solidFill>
                  <a:srgbClr val="000000"/>
                </a:solidFill>
                <a:latin typeface="华文中宋"/>
                <a:ea typeface="华文中宋"/>
                <a:cs typeface="华文中宋"/>
              </a:rPr>
              <a:t>B</a:t>
            </a:r>
            <a:r>
              <a:rPr lang="zh-CN" altLang="en-US" b="1">
                <a:solidFill>
                  <a:srgbClr val="000000"/>
                </a:solidFill>
                <a:latin typeface="华文中宋"/>
                <a:ea typeface="华文中宋"/>
                <a:cs typeface="华文中宋"/>
              </a:rPr>
              <a:t>：</a:t>
            </a:r>
          </a:p>
        </p:txBody>
      </p:sp>
      <p:graphicFrame>
        <p:nvGraphicFramePr>
          <p:cNvPr id="74772" name="Object 98"/>
          <p:cNvGraphicFramePr>
            <a:graphicFrameLocks noChangeAspect="1"/>
          </p:cNvGraphicFramePr>
          <p:nvPr/>
        </p:nvGraphicFramePr>
        <p:xfrm>
          <a:off x="2000250" y="3489325"/>
          <a:ext cx="2449513" cy="615950"/>
        </p:xfrm>
        <a:graphic>
          <a:graphicData uri="http://schemas.openxmlformats.org/presentationml/2006/ole">
            <p:oleObj spid="_x0000_s41058" name="公式" r:id="rId8" imgW="901309" imgH="317362" progId="Equation.3">
              <p:embed/>
            </p:oleObj>
          </a:graphicData>
        </a:graphic>
      </p:graphicFrame>
      <p:sp>
        <p:nvSpPr>
          <p:cNvPr id="74773" name="Text Box 21"/>
          <p:cNvSpPr txBox="1">
            <a:spLocks noChangeArrowheads="1"/>
          </p:cNvSpPr>
          <p:nvPr/>
        </p:nvSpPr>
        <p:spPr bwMode="auto">
          <a:xfrm>
            <a:off x="755650" y="4046538"/>
            <a:ext cx="2376488" cy="369887"/>
          </a:xfrm>
          <a:prstGeom prst="rect">
            <a:avLst/>
          </a:prstGeom>
          <a:noFill/>
          <a:ln w="9525">
            <a:noFill/>
            <a:miter lim="800000"/>
            <a:headEnd/>
            <a:tailEnd/>
          </a:ln>
        </p:spPr>
        <p:txBody>
          <a:bodyPr>
            <a:spAutoFit/>
          </a:bodyPr>
          <a:lstStyle/>
          <a:p>
            <a:pPr eaLnBrk="0" hangingPunct="0"/>
            <a:r>
              <a:rPr lang="zh-CN" altLang="en-US" b="1">
                <a:solidFill>
                  <a:srgbClr val="000000"/>
                </a:solidFill>
                <a:latin typeface="华文中宋"/>
                <a:ea typeface="华文中宋"/>
                <a:cs typeface="华文中宋"/>
              </a:rPr>
              <a:t>于是系统的总熵变为 </a:t>
            </a:r>
          </a:p>
        </p:txBody>
      </p:sp>
      <p:graphicFrame>
        <p:nvGraphicFramePr>
          <p:cNvPr id="74779" name="Object 99"/>
          <p:cNvGraphicFramePr>
            <a:graphicFrameLocks noChangeAspect="1"/>
          </p:cNvGraphicFramePr>
          <p:nvPr/>
        </p:nvGraphicFramePr>
        <p:xfrm>
          <a:off x="2987675" y="3940175"/>
          <a:ext cx="6067425" cy="608013"/>
        </p:xfrm>
        <a:graphic>
          <a:graphicData uri="http://schemas.openxmlformats.org/presentationml/2006/ole">
            <p:oleObj spid="_x0000_s41059" name="公式" r:id="rId9" imgW="2857500" imgH="355600" progId="Equation.3">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74765"/>
                                        </p:tgtEl>
                                        <p:attrNameLst>
                                          <p:attrName>style.visibility</p:attrName>
                                        </p:attrNameLst>
                                      </p:cBhvr>
                                      <p:to>
                                        <p:strVal val="visible"/>
                                      </p:to>
                                    </p:set>
                                    <p:anim calcmode="lin" valueType="num">
                                      <p:cBhvr>
                                        <p:cTn id="7" dur="500" fill="hold"/>
                                        <p:tgtEl>
                                          <p:spTgt spid="74765"/>
                                        </p:tgtEl>
                                        <p:attrNameLst>
                                          <p:attrName>ppt_w</p:attrName>
                                        </p:attrNameLst>
                                      </p:cBhvr>
                                      <p:tavLst>
                                        <p:tav tm="0">
                                          <p:val>
                                            <p:fltVal val="0"/>
                                          </p:val>
                                        </p:tav>
                                        <p:tav tm="100000">
                                          <p:val>
                                            <p:strVal val="#ppt_w"/>
                                          </p:val>
                                        </p:tav>
                                      </p:tavLst>
                                    </p:anim>
                                    <p:anim calcmode="lin" valueType="num">
                                      <p:cBhvr>
                                        <p:cTn id="8" dur="500" fill="hold"/>
                                        <p:tgtEl>
                                          <p:spTgt spid="74765"/>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7" presetClass="entr" presetSubtype="10" fill="hold" nodeType="clickEffect">
                                  <p:stCondLst>
                                    <p:cond delay="0"/>
                                  </p:stCondLst>
                                  <p:childTnLst>
                                    <p:set>
                                      <p:cBhvr>
                                        <p:cTn id="12" dur="1" fill="hold">
                                          <p:stCondLst>
                                            <p:cond delay="0"/>
                                          </p:stCondLst>
                                        </p:cTn>
                                        <p:tgtEl>
                                          <p:spTgt spid="74766"/>
                                        </p:tgtEl>
                                        <p:attrNameLst>
                                          <p:attrName>style.visibility</p:attrName>
                                        </p:attrNameLst>
                                      </p:cBhvr>
                                      <p:to>
                                        <p:strVal val="visible"/>
                                      </p:to>
                                    </p:set>
                                    <p:anim calcmode="lin" valueType="num">
                                      <p:cBhvr>
                                        <p:cTn id="13" dur="500" fill="hold"/>
                                        <p:tgtEl>
                                          <p:spTgt spid="74766"/>
                                        </p:tgtEl>
                                        <p:attrNameLst>
                                          <p:attrName>ppt_w</p:attrName>
                                        </p:attrNameLst>
                                      </p:cBhvr>
                                      <p:tavLst>
                                        <p:tav tm="0">
                                          <p:val>
                                            <p:fltVal val="0"/>
                                          </p:val>
                                        </p:tav>
                                        <p:tav tm="100000">
                                          <p:val>
                                            <p:strVal val="#ppt_w"/>
                                          </p:val>
                                        </p:tav>
                                      </p:tavLst>
                                    </p:anim>
                                    <p:anim calcmode="lin" valueType="num">
                                      <p:cBhvr>
                                        <p:cTn id="14" dur="500" fill="hold"/>
                                        <p:tgtEl>
                                          <p:spTgt spid="74766"/>
                                        </p:tgtEl>
                                        <p:attrNameLst>
                                          <p:attrName>ppt_h</p:attrName>
                                        </p:attrNameLst>
                                      </p:cBhvr>
                                      <p:tavLst>
                                        <p:tav tm="0">
                                          <p:val>
                                            <p:strVal val="#ppt_h"/>
                                          </p:val>
                                        </p:tav>
                                        <p:tav tm="100000">
                                          <p:val>
                                            <p:strVal val="#ppt_h"/>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17" presetClass="entr" presetSubtype="10" fill="hold" grpId="0" nodeType="clickEffect">
                                  <p:stCondLst>
                                    <p:cond delay="0"/>
                                  </p:stCondLst>
                                  <p:childTnLst>
                                    <p:set>
                                      <p:cBhvr>
                                        <p:cTn id="18" dur="1" fill="hold">
                                          <p:stCondLst>
                                            <p:cond delay="0"/>
                                          </p:stCondLst>
                                        </p:cTn>
                                        <p:tgtEl>
                                          <p:spTgt spid="74768"/>
                                        </p:tgtEl>
                                        <p:attrNameLst>
                                          <p:attrName>style.visibility</p:attrName>
                                        </p:attrNameLst>
                                      </p:cBhvr>
                                      <p:to>
                                        <p:strVal val="visible"/>
                                      </p:to>
                                    </p:set>
                                    <p:anim calcmode="lin" valueType="num">
                                      <p:cBhvr>
                                        <p:cTn id="19" dur="500" fill="hold"/>
                                        <p:tgtEl>
                                          <p:spTgt spid="74768"/>
                                        </p:tgtEl>
                                        <p:attrNameLst>
                                          <p:attrName>ppt_w</p:attrName>
                                        </p:attrNameLst>
                                      </p:cBhvr>
                                      <p:tavLst>
                                        <p:tav tm="0">
                                          <p:val>
                                            <p:fltVal val="0"/>
                                          </p:val>
                                        </p:tav>
                                        <p:tav tm="100000">
                                          <p:val>
                                            <p:strVal val="#ppt_w"/>
                                          </p:val>
                                        </p:tav>
                                      </p:tavLst>
                                    </p:anim>
                                    <p:anim calcmode="lin" valueType="num">
                                      <p:cBhvr>
                                        <p:cTn id="20" dur="500" fill="hold"/>
                                        <p:tgtEl>
                                          <p:spTgt spid="74768"/>
                                        </p:tgtEl>
                                        <p:attrNameLst>
                                          <p:attrName>ppt_h</p:attrName>
                                        </p:attrNameLst>
                                      </p:cBhvr>
                                      <p:tavLst>
                                        <p:tav tm="0">
                                          <p:val>
                                            <p:strVal val="#ppt_h"/>
                                          </p:val>
                                        </p:tav>
                                        <p:tav tm="100000">
                                          <p:val>
                                            <p:strVal val="#ppt_h"/>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17" presetClass="entr" presetSubtype="10" fill="hold" nodeType="clickEffect">
                                  <p:stCondLst>
                                    <p:cond delay="0"/>
                                  </p:stCondLst>
                                  <p:childTnLst>
                                    <p:set>
                                      <p:cBhvr>
                                        <p:cTn id="24" dur="1" fill="hold">
                                          <p:stCondLst>
                                            <p:cond delay="0"/>
                                          </p:stCondLst>
                                        </p:cTn>
                                        <p:tgtEl>
                                          <p:spTgt spid="74769"/>
                                        </p:tgtEl>
                                        <p:attrNameLst>
                                          <p:attrName>style.visibility</p:attrName>
                                        </p:attrNameLst>
                                      </p:cBhvr>
                                      <p:to>
                                        <p:strVal val="visible"/>
                                      </p:to>
                                    </p:set>
                                    <p:anim calcmode="lin" valueType="num">
                                      <p:cBhvr>
                                        <p:cTn id="25" dur="500" fill="hold"/>
                                        <p:tgtEl>
                                          <p:spTgt spid="74769"/>
                                        </p:tgtEl>
                                        <p:attrNameLst>
                                          <p:attrName>ppt_w</p:attrName>
                                        </p:attrNameLst>
                                      </p:cBhvr>
                                      <p:tavLst>
                                        <p:tav tm="0">
                                          <p:val>
                                            <p:fltVal val="0"/>
                                          </p:val>
                                        </p:tav>
                                        <p:tav tm="100000">
                                          <p:val>
                                            <p:strVal val="#ppt_w"/>
                                          </p:val>
                                        </p:tav>
                                      </p:tavLst>
                                    </p:anim>
                                    <p:anim calcmode="lin" valueType="num">
                                      <p:cBhvr>
                                        <p:cTn id="26" dur="500" fill="hold"/>
                                        <p:tgtEl>
                                          <p:spTgt spid="74769"/>
                                        </p:tgtEl>
                                        <p:attrNameLst>
                                          <p:attrName>ppt_h</p:attrName>
                                        </p:attrNameLst>
                                      </p:cBhvr>
                                      <p:tavLst>
                                        <p:tav tm="0">
                                          <p:val>
                                            <p:strVal val="#ppt_h"/>
                                          </p:val>
                                        </p:tav>
                                        <p:tav tm="100000">
                                          <p:val>
                                            <p:strVal val="#ppt_h"/>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3" presetClass="entr" presetSubtype="10" fill="hold" nodeType="clickEffect">
                                  <p:stCondLst>
                                    <p:cond delay="0"/>
                                  </p:stCondLst>
                                  <p:childTnLst>
                                    <p:set>
                                      <p:cBhvr>
                                        <p:cTn id="30" dur="1" fill="hold">
                                          <p:stCondLst>
                                            <p:cond delay="0"/>
                                          </p:stCondLst>
                                        </p:cTn>
                                        <p:tgtEl>
                                          <p:spTgt spid="74772"/>
                                        </p:tgtEl>
                                        <p:attrNameLst>
                                          <p:attrName>style.visibility</p:attrName>
                                        </p:attrNameLst>
                                      </p:cBhvr>
                                      <p:to>
                                        <p:strVal val="visible"/>
                                      </p:to>
                                    </p:set>
                                    <p:animEffect transition="in" filter="blinds(horizontal)">
                                      <p:cBhvr>
                                        <p:cTn id="31" dur="500"/>
                                        <p:tgtEl>
                                          <p:spTgt spid="74772"/>
                                        </p:tgtEl>
                                      </p:cBhvr>
                                    </p:animEffect>
                                  </p:childTnLst>
                                </p:cTn>
                              </p:par>
                              <p:par>
                                <p:cTn id="32" presetID="3" presetClass="entr" presetSubtype="10" fill="hold" grpId="0" nodeType="withEffect">
                                  <p:stCondLst>
                                    <p:cond delay="0"/>
                                  </p:stCondLst>
                                  <p:childTnLst>
                                    <p:set>
                                      <p:cBhvr>
                                        <p:cTn id="33" dur="1" fill="hold">
                                          <p:stCondLst>
                                            <p:cond delay="0"/>
                                          </p:stCondLst>
                                        </p:cTn>
                                        <p:tgtEl>
                                          <p:spTgt spid="74771"/>
                                        </p:tgtEl>
                                        <p:attrNameLst>
                                          <p:attrName>style.visibility</p:attrName>
                                        </p:attrNameLst>
                                      </p:cBhvr>
                                      <p:to>
                                        <p:strVal val="visible"/>
                                      </p:to>
                                    </p:set>
                                    <p:animEffect transition="in" filter="blinds(horizontal)">
                                      <p:cBhvr>
                                        <p:cTn id="34" dur="500"/>
                                        <p:tgtEl>
                                          <p:spTgt spid="74771"/>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17" presetClass="entr" presetSubtype="10" fill="hold" grpId="0" nodeType="clickEffect">
                                  <p:stCondLst>
                                    <p:cond delay="0"/>
                                  </p:stCondLst>
                                  <p:childTnLst>
                                    <p:set>
                                      <p:cBhvr>
                                        <p:cTn id="38" dur="1" fill="hold">
                                          <p:stCondLst>
                                            <p:cond delay="0"/>
                                          </p:stCondLst>
                                        </p:cTn>
                                        <p:tgtEl>
                                          <p:spTgt spid="74773"/>
                                        </p:tgtEl>
                                        <p:attrNameLst>
                                          <p:attrName>style.visibility</p:attrName>
                                        </p:attrNameLst>
                                      </p:cBhvr>
                                      <p:to>
                                        <p:strVal val="visible"/>
                                      </p:to>
                                    </p:set>
                                    <p:anim calcmode="lin" valueType="num">
                                      <p:cBhvr>
                                        <p:cTn id="39" dur="500" fill="hold"/>
                                        <p:tgtEl>
                                          <p:spTgt spid="74773"/>
                                        </p:tgtEl>
                                        <p:attrNameLst>
                                          <p:attrName>ppt_w</p:attrName>
                                        </p:attrNameLst>
                                      </p:cBhvr>
                                      <p:tavLst>
                                        <p:tav tm="0">
                                          <p:val>
                                            <p:fltVal val="0"/>
                                          </p:val>
                                        </p:tav>
                                        <p:tav tm="100000">
                                          <p:val>
                                            <p:strVal val="#ppt_w"/>
                                          </p:val>
                                        </p:tav>
                                      </p:tavLst>
                                    </p:anim>
                                    <p:anim calcmode="lin" valueType="num">
                                      <p:cBhvr>
                                        <p:cTn id="40" dur="500" fill="hold"/>
                                        <p:tgtEl>
                                          <p:spTgt spid="74773"/>
                                        </p:tgtEl>
                                        <p:attrNameLst>
                                          <p:attrName>ppt_h</p:attrName>
                                        </p:attrNameLst>
                                      </p:cBhvr>
                                      <p:tavLst>
                                        <p:tav tm="0">
                                          <p:val>
                                            <p:strVal val="#ppt_h"/>
                                          </p:val>
                                        </p:tav>
                                        <p:tav tm="100000">
                                          <p:val>
                                            <p:strVal val="#ppt_h"/>
                                          </p:val>
                                        </p:tav>
                                      </p:tavLst>
                                    </p:anim>
                                  </p:childTnLst>
                                </p:cTn>
                              </p:par>
                            </p:childTnLst>
                          </p:cTn>
                        </p:par>
                      </p:childTnLst>
                    </p:cTn>
                  </p:par>
                  <p:par>
                    <p:cTn id="41" fill="hold" nodeType="clickPar">
                      <p:stCondLst>
                        <p:cond delay="indefinite"/>
                      </p:stCondLst>
                      <p:childTnLst>
                        <p:par>
                          <p:cTn id="42" fill="hold" nodeType="withGroup">
                            <p:stCondLst>
                              <p:cond delay="0"/>
                            </p:stCondLst>
                            <p:childTnLst>
                              <p:par>
                                <p:cTn id="43" presetID="17" presetClass="entr" presetSubtype="10" fill="hold" nodeType="clickEffect">
                                  <p:stCondLst>
                                    <p:cond delay="0"/>
                                  </p:stCondLst>
                                  <p:childTnLst>
                                    <p:set>
                                      <p:cBhvr>
                                        <p:cTn id="44" dur="1" fill="hold">
                                          <p:stCondLst>
                                            <p:cond delay="0"/>
                                          </p:stCondLst>
                                        </p:cTn>
                                        <p:tgtEl>
                                          <p:spTgt spid="74779"/>
                                        </p:tgtEl>
                                        <p:attrNameLst>
                                          <p:attrName>style.visibility</p:attrName>
                                        </p:attrNameLst>
                                      </p:cBhvr>
                                      <p:to>
                                        <p:strVal val="visible"/>
                                      </p:to>
                                    </p:set>
                                    <p:anim calcmode="lin" valueType="num">
                                      <p:cBhvr>
                                        <p:cTn id="45" dur="500" fill="hold"/>
                                        <p:tgtEl>
                                          <p:spTgt spid="74779"/>
                                        </p:tgtEl>
                                        <p:attrNameLst>
                                          <p:attrName>ppt_w</p:attrName>
                                        </p:attrNameLst>
                                      </p:cBhvr>
                                      <p:tavLst>
                                        <p:tav tm="0">
                                          <p:val>
                                            <p:fltVal val="0"/>
                                          </p:val>
                                        </p:tav>
                                        <p:tav tm="100000">
                                          <p:val>
                                            <p:strVal val="#ppt_w"/>
                                          </p:val>
                                        </p:tav>
                                      </p:tavLst>
                                    </p:anim>
                                    <p:anim calcmode="lin" valueType="num">
                                      <p:cBhvr>
                                        <p:cTn id="46" dur="500" fill="hold"/>
                                        <p:tgtEl>
                                          <p:spTgt spid="74779"/>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65" grpId="0" autoUpdateAnimBg="0"/>
      <p:bldP spid="74768" grpId="0" autoUpdateAnimBg="0"/>
      <p:bldP spid="74771" grpId="0"/>
      <p:bldP spid="74773" grpId="0" autoUpdateAnimBg="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22209" name="Object 47"/>
          <p:cNvGraphicFramePr>
            <a:graphicFrameLocks noChangeAspect="1"/>
          </p:cNvGraphicFramePr>
          <p:nvPr/>
        </p:nvGraphicFramePr>
        <p:xfrm>
          <a:off x="879475" y="1069975"/>
          <a:ext cx="7419975" cy="658813"/>
        </p:xfrm>
        <a:graphic>
          <a:graphicData uri="http://schemas.openxmlformats.org/presentationml/2006/ole">
            <p:oleObj spid="_x0000_s42031" name="公式" r:id="rId4" imgW="2857500" imgH="355600" progId="Equation.3">
              <p:embed/>
            </p:oleObj>
          </a:graphicData>
        </a:graphic>
      </p:graphicFrame>
      <p:sp>
        <p:nvSpPr>
          <p:cNvPr id="75779" name="Text Box 3"/>
          <p:cNvSpPr txBox="1">
            <a:spLocks noChangeArrowheads="1"/>
          </p:cNvSpPr>
          <p:nvPr/>
        </p:nvSpPr>
        <p:spPr bwMode="auto">
          <a:xfrm>
            <a:off x="827088" y="2649538"/>
            <a:ext cx="3105150" cy="369887"/>
          </a:xfrm>
          <a:prstGeom prst="rect">
            <a:avLst/>
          </a:prstGeom>
          <a:noFill/>
          <a:ln w="9525">
            <a:noFill/>
            <a:miter lim="800000"/>
            <a:headEnd/>
            <a:tailEnd/>
          </a:ln>
        </p:spPr>
        <p:txBody>
          <a:bodyPr>
            <a:spAutoFit/>
          </a:bodyPr>
          <a:lstStyle/>
          <a:p>
            <a:pPr eaLnBrk="0" hangingPunct="0"/>
            <a:r>
              <a:rPr lang="zh-CN" altLang="en-US" b="1">
                <a:solidFill>
                  <a:srgbClr val="000000"/>
                </a:solidFill>
                <a:latin typeface="Times New Roman" pitchFamily="18" charset="0"/>
                <a:ea typeface="华文中宋"/>
                <a:cs typeface="华文中宋"/>
              </a:rPr>
              <a:t>讨论：只要</a:t>
            </a:r>
            <a:r>
              <a:rPr lang="zh-CN" altLang="en-US" b="1" i="1">
                <a:solidFill>
                  <a:srgbClr val="000000"/>
                </a:solidFill>
                <a:latin typeface="Times New Roman" pitchFamily="18" charset="0"/>
                <a:ea typeface="华文中宋"/>
                <a:cs typeface="华文中宋"/>
              </a:rPr>
              <a:t>Ｔ</a:t>
            </a:r>
            <a:r>
              <a:rPr lang="zh-CN" altLang="en-US" b="1" baseline="-25000">
                <a:solidFill>
                  <a:srgbClr val="000000"/>
                </a:solidFill>
                <a:latin typeface="Times New Roman" pitchFamily="18" charset="0"/>
                <a:ea typeface="华文中宋"/>
                <a:cs typeface="华文中宋"/>
              </a:rPr>
              <a:t>Ａ</a:t>
            </a:r>
            <a:r>
              <a:rPr lang="zh-CN" altLang="en-US" b="1">
                <a:solidFill>
                  <a:srgbClr val="000000"/>
                </a:solidFill>
                <a:latin typeface="Times New Roman" pitchFamily="18" charset="0"/>
                <a:ea typeface="华文中宋"/>
                <a:cs typeface="华文中宋"/>
              </a:rPr>
              <a:t>≠</a:t>
            </a:r>
            <a:r>
              <a:rPr lang="zh-CN" altLang="en-US" b="1" i="1">
                <a:solidFill>
                  <a:srgbClr val="000000"/>
                </a:solidFill>
                <a:latin typeface="Times New Roman" pitchFamily="18" charset="0"/>
                <a:ea typeface="华文中宋"/>
                <a:cs typeface="华文中宋"/>
              </a:rPr>
              <a:t>Ｔ</a:t>
            </a:r>
            <a:r>
              <a:rPr lang="zh-CN" altLang="en-US" b="1" baseline="-25000">
                <a:solidFill>
                  <a:srgbClr val="000000"/>
                </a:solidFill>
                <a:latin typeface="Times New Roman" pitchFamily="18" charset="0"/>
                <a:ea typeface="华文中宋"/>
                <a:cs typeface="华文中宋"/>
              </a:rPr>
              <a:t>Ｂ</a:t>
            </a:r>
            <a:r>
              <a:rPr lang="zh-CN" altLang="en-US" b="1">
                <a:solidFill>
                  <a:srgbClr val="000000"/>
                </a:solidFill>
                <a:latin typeface="Times New Roman" pitchFamily="18" charset="0"/>
                <a:ea typeface="华文中宋"/>
                <a:cs typeface="华文中宋"/>
              </a:rPr>
              <a:t> </a:t>
            </a:r>
          </a:p>
        </p:txBody>
      </p:sp>
      <p:graphicFrame>
        <p:nvGraphicFramePr>
          <p:cNvPr id="222210" name="Object 48"/>
          <p:cNvGraphicFramePr>
            <a:graphicFrameLocks noChangeAspect="1"/>
          </p:cNvGraphicFramePr>
          <p:nvPr/>
        </p:nvGraphicFramePr>
        <p:xfrm>
          <a:off x="3094038" y="3144838"/>
          <a:ext cx="2640012" cy="400050"/>
        </p:xfrm>
        <a:graphic>
          <a:graphicData uri="http://schemas.openxmlformats.org/presentationml/2006/ole">
            <p:oleObj spid="_x0000_s42032" name="公式" r:id="rId5" imgW="850531" imgH="203112" progId="Equation.3">
              <p:embed/>
            </p:oleObj>
          </a:graphicData>
        </a:graphic>
      </p:graphicFrame>
      <p:graphicFrame>
        <p:nvGraphicFramePr>
          <p:cNvPr id="222211" name="Object 49"/>
          <p:cNvGraphicFramePr>
            <a:graphicFrameLocks noChangeAspect="1"/>
          </p:cNvGraphicFramePr>
          <p:nvPr/>
        </p:nvGraphicFramePr>
        <p:xfrm>
          <a:off x="2339975" y="3606800"/>
          <a:ext cx="3330575" cy="373063"/>
        </p:xfrm>
        <a:graphic>
          <a:graphicData uri="http://schemas.openxmlformats.org/presentationml/2006/ole">
            <p:oleObj spid="_x0000_s42033" name="Equation" r:id="rId6" imgW="1358310" imgH="203112" progId="Equation.DSMT4">
              <p:embed/>
            </p:oleObj>
          </a:graphicData>
        </a:graphic>
      </p:graphicFrame>
      <p:sp>
        <p:nvSpPr>
          <p:cNvPr id="75782" name="Text Box 6"/>
          <p:cNvSpPr txBox="1">
            <a:spLocks noChangeArrowheads="1"/>
          </p:cNvSpPr>
          <p:nvPr/>
        </p:nvSpPr>
        <p:spPr bwMode="auto">
          <a:xfrm>
            <a:off x="800100" y="4146550"/>
            <a:ext cx="7804150" cy="369888"/>
          </a:xfrm>
          <a:prstGeom prst="rect">
            <a:avLst/>
          </a:prstGeom>
          <a:noFill/>
          <a:ln w="9525">
            <a:noFill/>
            <a:miter lim="800000"/>
            <a:headEnd/>
            <a:tailEnd/>
          </a:ln>
        </p:spPr>
        <p:txBody>
          <a:bodyPr>
            <a:spAutoFit/>
          </a:bodyPr>
          <a:lstStyle/>
          <a:p>
            <a:pPr eaLnBrk="0" hangingPunct="0"/>
            <a:r>
              <a:rPr lang="zh-CN" altLang="en-US" b="1">
                <a:solidFill>
                  <a:srgbClr val="000000"/>
                </a:solidFill>
                <a:latin typeface="华文中宋"/>
                <a:ea typeface="华文中宋"/>
                <a:cs typeface="华文中宋"/>
              </a:rPr>
              <a:t>这说明，热传导这一不可逆过程中发生的熵变是增加的。</a:t>
            </a:r>
          </a:p>
        </p:txBody>
      </p:sp>
      <p:graphicFrame>
        <p:nvGraphicFramePr>
          <p:cNvPr id="222212" name="Object 50"/>
          <p:cNvGraphicFramePr>
            <a:graphicFrameLocks noChangeAspect="1"/>
          </p:cNvGraphicFramePr>
          <p:nvPr/>
        </p:nvGraphicFramePr>
        <p:xfrm>
          <a:off x="6300788" y="1908175"/>
          <a:ext cx="1792287" cy="511175"/>
        </p:xfrm>
        <a:graphic>
          <a:graphicData uri="http://schemas.openxmlformats.org/presentationml/2006/ole">
            <p:oleObj spid="_x0000_s42034" name="公式" r:id="rId7" imgW="736600" imgH="292100" progId="Equation.3">
              <p:embed/>
            </p:oleObj>
          </a:graphicData>
        </a:graphic>
      </p:graphicFrame>
      <p:graphicFrame>
        <p:nvGraphicFramePr>
          <p:cNvPr id="222213" name="Object 51"/>
          <p:cNvGraphicFramePr>
            <a:graphicFrameLocks noChangeAspect="1"/>
          </p:cNvGraphicFramePr>
          <p:nvPr/>
        </p:nvGraphicFramePr>
        <p:xfrm>
          <a:off x="2501900" y="1825625"/>
          <a:ext cx="3398838" cy="730250"/>
        </p:xfrm>
        <a:graphic>
          <a:graphicData uri="http://schemas.openxmlformats.org/presentationml/2006/ole">
            <p:oleObj spid="_x0000_s42035" name="公式" r:id="rId8" imgW="1180588" imgH="355446" progId="Equation.3">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10" fill="hold" nodeType="clickEffect">
                                  <p:stCondLst>
                                    <p:cond delay="0"/>
                                  </p:stCondLst>
                                  <p:childTnLst>
                                    <p:set>
                                      <p:cBhvr>
                                        <p:cTn id="6" dur="1" fill="hold">
                                          <p:stCondLst>
                                            <p:cond delay="0"/>
                                          </p:stCondLst>
                                        </p:cTn>
                                        <p:tgtEl>
                                          <p:spTgt spid="222209"/>
                                        </p:tgtEl>
                                        <p:attrNameLst>
                                          <p:attrName>style.visibility</p:attrName>
                                        </p:attrNameLst>
                                      </p:cBhvr>
                                      <p:to>
                                        <p:strVal val="visible"/>
                                      </p:to>
                                    </p:set>
                                    <p:anim calcmode="lin" valueType="num">
                                      <p:cBhvr>
                                        <p:cTn id="7" dur="500" fill="hold"/>
                                        <p:tgtEl>
                                          <p:spTgt spid="222209"/>
                                        </p:tgtEl>
                                        <p:attrNameLst>
                                          <p:attrName>ppt_w</p:attrName>
                                        </p:attrNameLst>
                                      </p:cBhvr>
                                      <p:tavLst>
                                        <p:tav tm="0">
                                          <p:val>
                                            <p:fltVal val="0"/>
                                          </p:val>
                                        </p:tav>
                                        <p:tav tm="100000">
                                          <p:val>
                                            <p:strVal val="#ppt_w"/>
                                          </p:val>
                                        </p:tav>
                                      </p:tavLst>
                                    </p:anim>
                                    <p:anim calcmode="lin" valueType="num">
                                      <p:cBhvr>
                                        <p:cTn id="8" dur="500" fill="hold"/>
                                        <p:tgtEl>
                                          <p:spTgt spid="222209"/>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7" presetClass="entr" presetSubtype="10" fill="hold" nodeType="clickEffect">
                                  <p:stCondLst>
                                    <p:cond delay="0"/>
                                  </p:stCondLst>
                                  <p:childTnLst>
                                    <p:set>
                                      <p:cBhvr>
                                        <p:cTn id="12" dur="1" fill="hold">
                                          <p:stCondLst>
                                            <p:cond delay="0"/>
                                          </p:stCondLst>
                                        </p:cTn>
                                        <p:tgtEl>
                                          <p:spTgt spid="222212"/>
                                        </p:tgtEl>
                                        <p:attrNameLst>
                                          <p:attrName>style.visibility</p:attrName>
                                        </p:attrNameLst>
                                      </p:cBhvr>
                                      <p:to>
                                        <p:strVal val="visible"/>
                                      </p:to>
                                    </p:set>
                                    <p:anim calcmode="lin" valueType="num">
                                      <p:cBhvr>
                                        <p:cTn id="13" dur="500" fill="hold"/>
                                        <p:tgtEl>
                                          <p:spTgt spid="222212"/>
                                        </p:tgtEl>
                                        <p:attrNameLst>
                                          <p:attrName>ppt_w</p:attrName>
                                        </p:attrNameLst>
                                      </p:cBhvr>
                                      <p:tavLst>
                                        <p:tav tm="0">
                                          <p:val>
                                            <p:fltVal val="0"/>
                                          </p:val>
                                        </p:tav>
                                        <p:tav tm="100000">
                                          <p:val>
                                            <p:strVal val="#ppt_w"/>
                                          </p:val>
                                        </p:tav>
                                      </p:tavLst>
                                    </p:anim>
                                    <p:anim calcmode="lin" valueType="num">
                                      <p:cBhvr>
                                        <p:cTn id="14" dur="500" fill="hold"/>
                                        <p:tgtEl>
                                          <p:spTgt spid="222212"/>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5" fill="hold" nodeType="clickPar">
                      <p:stCondLst>
                        <p:cond delay="indefinite"/>
                      </p:stCondLst>
                      <p:childTnLst>
                        <p:par>
                          <p:cTn id="16" fill="hold" nodeType="withGroup">
                            <p:stCondLst>
                              <p:cond delay="0"/>
                            </p:stCondLst>
                            <p:childTnLst>
                              <p:par>
                                <p:cTn id="17" presetID="17" presetClass="entr" presetSubtype="10" fill="hold" nodeType="clickEffect">
                                  <p:stCondLst>
                                    <p:cond delay="0"/>
                                  </p:stCondLst>
                                  <p:childTnLst>
                                    <p:set>
                                      <p:cBhvr>
                                        <p:cTn id="18" dur="1" fill="hold">
                                          <p:stCondLst>
                                            <p:cond delay="0"/>
                                          </p:stCondLst>
                                        </p:cTn>
                                        <p:tgtEl>
                                          <p:spTgt spid="222213"/>
                                        </p:tgtEl>
                                        <p:attrNameLst>
                                          <p:attrName>style.visibility</p:attrName>
                                        </p:attrNameLst>
                                      </p:cBhvr>
                                      <p:to>
                                        <p:strVal val="visible"/>
                                      </p:to>
                                    </p:set>
                                    <p:anim calcmode="lin" valueType="num">
                                      <p:cBhvr>
                                        <p:cTn id="19" dur="500" fill="hold"/>
                                        <p:tgtEl>
                                          <p:spTgt spid="222213"/>
                                        </p:tgtEl>
                                        <p:attrNameLst>
                                          <p:attrName>ppt_w</p:attrName>
                                        </p:attrNameLst>
                                      </p:cBhvr>
                                      <p:tavLst>
                                        <p:tav tm="0">
                                          <p:val>
                                            <p:fltVal val="0"/>
                                          </p:val>
                                        </p:tav>
                                        <p:tav tm="100000">
                                          <p:val>
                                            <p:strVal val="#ppt_w"/>
                                          </p:val>
                                        </p:tav>
                                      </p:tavLst>
                                    </p:anim>
                                    <p:anim calcmode="lin" valueType="num">
                                      <p:cBhvr>
                                        <p:cTn id="20" dur="500" fill="hold"/>
                                        <p:tgtEl>
                                          <p:spTgt spid="222213"/>
                                        </p:tgtEl>
                                        <p:attrNameLst>
                                          <p:attrName>ppt_h</p:attrName>
                                        </p:attrNameLst>
                                      </p:cBhvr>
                                      <p:tavLst>
                                        <p:tav tm="0">
                                          <p:val>
                                            <p:strVal val="#ppt_h"/>
                                          </p:val>
                                        </p:tav>
                                        <p:tav tm="100000">
                                          <p:val>
                                            <p:strVal val="#ppt_h"/>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17" presetClass="entr" presetSubtype="10" fill="hold" grpId="0" nodeType="clickEffect">
                                  <p:stCondLst>
                                    <p:cond delay="0"/>
                                  </p:stCondLst>
                                  <p:childTnLst>
                                    <p:set>
                                      <p:cBhvr>
                                        <p:cTn id="24" dur="1" fill="hold">
                                          <p:stCondLst>
                                            <p:cond delay="0"/>
                                          </p:stCondLst>
                                        </p:cTn>
                                        <p:tgtEl>
                                          <p:spTgt spid="75779"/>
                                        </p:tgtEl>
                                        <p:attrNameLst>
                                          <p:attrName>style.visibility</p:attrName>
                                        </p:attrNameLst>
                                      </p:cBhvr>
                                      <p:to>
                                        <p:strVal val="visible"/>
                                      </p:to>
                                    </p:set>
                                    <p:anim calcmode="lin" valueType="num">
                                      <p:cBhvr>
                                        <p:cTn id="25" dur="500" fill="hold"/>
                                        <p:tgtEl>
                                          <p:spTgt spid="75779"/>
                                        </p:tgtEl>
                                        <p:attrNameLst>
                                          <p:attrName>ppt_w</p:attrName>
                                        </p:attrNameLst>
                                      </p:cBhvr>
                                      <p:tavLst>
                                        <p:tav tm="0">
                                          <p:val>
                                            <p:fltVal val="0"/>
                                          </p:val>
                                        </p:tav>
                                        <p:tav tm="100000">
                                          <p:val>
                                            <p:strVal val="#ppt_w"/>
                                          </p:val>
                                        </p:tav>
                                      </p:tavLst>
                                    </p:anim>
                                    <p:anim calcmode="lin" valueType="num">
                                      <p:cBhvr>
                                        <p:cTn id="26" dur="500" fill="hold"/>
                                        <p:tgtEl>
                                          <p:spTgt spid="75779"/>
                                        </p:tgtEl>
                                        <p:attrNameLst>
                                          <p:attrName>ppt_h</p:attrName>
                                        </p:attrNameLst>
                                      </p:cBhvr>
                                      <p:tavLst>
                                        <p:tav tm="0">
                                          <p:val>
                                            <p:strVal val="#ppt_h"/>
                                          </p:val>
                                        </p:tav>
                                        <p:tav tm="100000">
                                          <p:val>
                                            <p:strVal val="#ppt_h"/>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17" presetClass="entr" presetSubtype="10" fill="hold" nodeType="clickEffect">
                                  <p:stCondLst>
                                    <p:cond delay="0"/>
                                  </p:stCondLst>
                                  <p:childTnLst>
                                    <p:set>
                                      <p:cBhvr>
                                        <p:cTn id="30" dur="1" fill="hold">
                                          <p:stCondLst>
                                            <p:cond delay="0"/>
                                          </p:stCondLst>
                                        </p:cTn>
                                        <p:tgtEl>
                                          <p:spTgt spid="222210"/>
                                        </p:tgtEl>
                                        <p:attrNameLst>
                                          <p:attrName>style.visibility</p:attrName>
                                        </p:attrNameLst>
                                      </p:cBhvr>
                                      <p:to>
                                        <p:strVal val="visible"/>
                                      </p:to>
                                    </p:set>
                                    <p:anim calcmode="lin" valueType="num">
                                      <p:cBhvr>
                                        <p:cTn id="31" dur="500" fill="hold"/>
                                        <p:tgtEl>
                                          <p:spTgt spid="222210"/>
                                        </p:tgtEl>
                                        <p:attrNameLst>
                                          <p:attrName>ppt_w</p:attrName>
                                        </p:attrNameLst>
                                      </p:cBhvr>
                                      <p:tavLst>
                                        <p:tav tm="0">
                                          <p:val>
                                            <p:fltVal val="0"/>
                                          </p:val>
                                        </p:tav>
                                        <p:tav tm="100000">
                                          <p:val>
                                            <p:strVal val="#ppt_w"/>
                                          </p:val>
                                        </p:tav>
                                      </p:tavLst>
                                    </p:anim>
                                    <p:anim calcmode="lin" valueType="num">
                                      <p:cBhvr>
                                        <p:cTn id="32" dur="500" fill="hold"/>
                                        <p:tgtEl>
                                          <p:spTgt spid="222210"/>
                                        </p:tgtEl>
                                        <p:attrNameLst>
                                          <p:attrName>ppt_h</p:attrName>
                                        </p:attrNameLst>
                                      </p:cBhvr>
                                      <p:tavLst>
                                        <p:tav tm="0">
                                          <p:val>
                                            <p:strVal val="#ppt_h"/>
                                          </p:val>
                                        </p:tav>
                                        <p:tav tm="100000">
                                          <p:val>
                                            <p:strVal val="#ppt_h"/>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17" presetClass="entr" presetSubtype="10" fill="hold" nodeType="clickEffect">
                                  <p:stCondLst>
                                    <p:cond delay="0"/>
                                  </p:stCondLst>
                                  <p:childTnLst>
                                    <p:set>
                                      <p:cBhvr>
                                        <p:cTn id="36" dur="1" fill="hold">
                                          <p:stCondLst>
                                            <p:cond delay="0"/>
                                          </p:stCondLst>
                                        </p:cTn>
                                        <p:tgtEl>
                                          <p:spTgt spid="222211"/>
                                        </p:tgtEl>
                                        <p:attrNameLst>
                                          <p:attrName>style.visibility</p:attrName>
                                        </p:attrNameLst>
                                      </p:cBhvr>
                                      <p:to>
                                        <p:strVal val="visible"/>
                                      </p:to>
                                    </p:set>
                                    <p:anim calcmode="lin" valueType="num">
                                      <p:cBhvr>
                                        <p:cTn id="37" dur="500" fill="hold"/>
                                        <p:tgtEl>
                                          <p:spTgt spid="222211"/>
                                        </p:tgtEl>
                                        <p:attrNameLst>
                                          <p:attrName>ppt_w</p:attrName>
                                        </p:attrNameLst>
                                      </p:cBhvr>
                                      <p:tavLst>
                                        <p:tav tm="0">
                                          <p:val>
                                            <p:fltVal val="0"/>
                                          </p:val>
                                        </p:tav>
                                        <p:tav tm="100000">
                                          <p:val>
                                            <p:strVal val="#ppt_w"/>
                                          </p:val>
                                        </p:tav>
                                      </p:tavLst>
                                    </p:anim>
                                    <p:anim calcmode="lin" valueType="num">
                                      <p:cBhvr>
                                        <p:cTn id="38" dur="500" fill="hold"/>
                                        <p:tgtEl>
                                          <p:spTgt spid="222211"/>
                                        </p:tgtEl>
                                        <p:attrNameLst>
                                          <p:attrName>ppt_h</p:attrName>
                                        </p:attrNameLst>
                                      </p:cBhvr>
                                      <p:tavLst>
                                        <p:tav tm="0">
                                          <p:val>
                                            <p:strVal val="#ppt_h"/>
                                          </p:val>
                                        </p:tav>
                                        <p:tav tm="100000">
                                          <p:val>
                                            <p:strVal val="#ppt_h"/>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17" presetClass="entr" presetSubtype="10" fill="hold" grpId="0" nodeType="clickEffect">
                                  <p:stCondLst>
                                    <p:cond delay="0"/>
                                  </p:stCondLst>
                                  <p:childTnLst>
                                    <p:set>
                                      <p:cBhvr>
                                        <p:cTn id="42" dur="1" fill="hold">
                                          <p:stCondLst>
                                            <p:cond delay="0"/>
                                          </p:stCondLst>
                                        </p:cTn>
                                        <p:tgtEl>
                                          <p:spTgt spid="75782"/>
                                        </p:tgtEl>
                                        <p:attrNameLst>
                                          <p:attrName>style.visibility</p:attrName>
                                        </p:attrNameLst>
                                      </p:cBhvr>
                                      <p:to>
                                        <p:strVal val="visible"/>
                                      </p:to>
                                    </p:set>
                                    <p:anim calcmode="lin" valueType="num">
                                      <p:cBhvr>
                                        <p:cTn id="43" dur="500" fill="hold"/>
                                        <p:tgtEl>
                                          <p:spTgt spid="75782"/>
                                        </p:tgtEl>
                                        <p:attrNameLst>
                                          <p:attrName>ppt_w</p:attrName>
                                        </p:attrNameLst>
                                      </p:cBhvr>
                                      <p:tavLst>
                                        <p:tav tm="0">
                                          <p:val>
                                            <p:fltVal val="0"/>
                                          </p:val>
                                        </p:tav>
                                        <p:tav tm="100000">
                                          <p:val>
                                            <p:strVal val="#ppt_w"/>
                                          </p:val>
                                        </p:tav>
                                      </p:tavLst>
                                    </p:anim>
                                    <p:anim calcmode="lin" valueType="num">
                                      <p:cBhvr>
                                        <p:cTn id="44" dur="500" fill="hold"/>
                                        <p:tgtEl>
                                          <p:spTgt spid="75782"/>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79" grpId="0" autoUpdateAnimBg="0"/>
      <p:bldP spid="75782" grpId="0" autoUpdateAnimBg="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 Box 42"/>
          <p:cNvSpPr txBox="1">
            <a:spLocks noChangeArrowheads="1"/>
          </p:cNvSpPr>
          <p:nvPr/>
        </p:nvSpPr>
        <p:spPr bwMode="auto">
          <a:xfrm>
            <a:off x="419100" y="1260475"/>
            <a:ext cx="4297363" cy="374650"/>
          </a:xfrm>
          <a:prstGeom prst="rect">
            <a:avLst/>
          </a:prstGeom>
          <a:noFill/>
          <a:ln w="9525">
            <a:noFill/>
            <a:miter lim="800000"/>
            <a:headEnd/>
            <a:tailEnd/>
          </a:ln>
        </p:spPr>
        <p:txBody>
          <a:bodyPr>
            <a:spAutoFit/>
          </a:bodyPr>
          <a:lstStyle/>
          <a:p>
            <a:pPr eaLnBrk="0" hangingPunct="0">
              <a:lnSpc>
                <a:spcPct val="110000"/>
              </a:lnSpc>
            </a:pPr>
            <a:r>
              <a:rPr kumimoji="1" lang="en-US" altLang="zh-CN" b="1">
                <a:solidFill>
                  <a:srgbClr val="0000FF"/>
                </a:solidFill>
                <a:latin typeface="华文中宋"/>
                <a:ea typeface="华文中宋"/>
                <a:cs typeface="华文中宋"/>
              </a:rPr>
              <a:t>1</a:t>
            </a:r>
            <a:r>
              <a:rPr kumimoji="1" lang="zh-CN" altLang="en-US" b="1">
                <a:solidFill>
                  <a:srgbClr val="0000FF"/>
                </a:solidFill>
                <a:latin typeface="华文中宋"/>
                <a:ea typeface="华文中宋"/>
                <a:cs typeface="华文中宋"/>
              </a:rPr>
              <a:t>、无序度与热力学概率</a:t>
            </a:r>
          </a:p>
        </p:txBody>
      </p:sp>
      <p:sp>
        <p:nvSpPr>
          <p:cNvPr id="2" name="Text Box 42"/>
          <p:cNvSpPr txBox="1">
            <a:spLocks noChangeArrowheads="1"/>
          </p:cNvSpPr>
          <p:nvPr/>
        </p:nvSpPr>
        <p:spPr bwMode="auto">
          <a:xfrm>
            <a:off x="539750" y="1587500"/>
            <a:ext cx="8208963" cy="984250"/>
          </a:xfrm>
          <a:prstGeom prst="rect">
            <a:avLst/>
          </a:prstGeom>
          <a:noFill/>
          <a:ln w="9525">
            <a:noFill/>
            <a:miter lim="800000"/>
            <a:headEnd/>
            <a:tailEnd/>
          </a:ln>
        </p:spPr>
        <p:txBody>
          <a:bodyPr>
            <a:spAutoFit/>
          </a:bodyPr>
          <a:lstStyle/>
          <a:p>
            <a:pPr eaLnBrk="0" hangingPunct="0">
              <a:lnSpc>
                <a:spcPct val="110000"/>
              </a:lnSpc>
            </a:pPr>
            <a:r>
              <a:rPr kumimoji="1" lang="en-US" altLang="zh-CN" b="1">
                <a:solidFill>
                  <a:srgbClr val="0000FF"/>
                </a:solidFill>
                <a:latin typeface="华文中宋"/>
                <a:ea typeface="华文中宋"/>
                <a:cs typeface="华文中宋"/>
              </a:rPr>
              <a:t>      </a:t>
            </a:r>
            <a:r>
              <a:rPr kumimoji="1" lang="zh-CN" altLang="en-US" b="1">
                <a:solidFill>
                  <a:srgbClr val="0000FF"/>
                </a:solidFill>
                <a:latin typeface="华文中宋"/>
                <a:ea typeface="华文中宋"/>
                <a:cs typeface="华文中宋"/>
              </a:rPr>
              <a:t>以气体自由膨胀为例，</a:t>
            </a:r>
            <a:r>
              <a:rPr lang="zh-CN" altLang="en-US" b="1">
                <a:solidFill>
                  <a:srgbClr val="000000"/>
                </a:solidFill>
                <a:latin typeface="Times New Roman" pitchFamily="18" charset="0"/>
                <a:ea typeface="华文中宋"/>
                <a:cs typeface="华文中宋"/>
              </a:rPr>
              <a:t>设有一热力学系统，只有</a:t>
            </a:r>
            <a:r>
              <a:rPr lang="en-US" altLang="zh-CN" b="1">
                <a:solidFill>
                  <a:srgbClr val="000000"/>
                </a:solidFill>
                <a:latin typeface="Times New Roman" pitchFamily="18" charset="0"/>
                <a:ea typeface="华文中宋"/>
                <a:cs typeface="华文中宋"/>
              </a:rPr>
              <a:t>4</a:t>
            </a:r>
            <a:r>
              <a:rPr lang="zh-CN" altLang="en-US" b="1">
                <a:solidFill>
                  <a:srgbClr val="000000"/>
                </a:solidFill>
                <a:latin typeface="Times New Roman" pitchFamily="18" charset="0"/>
                <a:ea typeface="华文中宋"/>
                <a:cs typeface="华文中宋"/>
              </a:rPr>
              <a:t>个分子，并分别记作</a:t>
            </a:r>
            <a:r>
              <a:rPr lang="en-US" altLang="zh-CN" b="1">
                <a:solidFill>
                  <a:srgbClr val="000000"/>
                </a:solidFill>
                <a:latin typeface="Times New Roman" pitchFamily="18" charset="0"/>
                <a:ea typeface="华文中宋"/>
                <a:cs typeface="华文中宋"/>
              </a:rPr>
              <a:t>a</a:t>
            </a:r>
            <a:r>
              <a:rPr lang="zh-CN" altLang="en-US" b="1">
                <a:solidFill>
                  <a:srgbClr val="000000"/>
                </a:solidFill>
                <a:latin typeface="Times New Roman" pitchFamily="18" charset="0"/>
                <a:ea typeface="华文中宋"/>
                <a:cs typeface="华文中宋"/>
              </a:rPr>
              <a:t>、</a:t>
            </a:r>
            <a:r>
              <a:rPr lang="en-US" altLang="zh-CN" b="1">
                <a:solidFill>
                  <a:srgbClr val="000000"/>
                </a:solidFill>
                <a:latin typeface="Times New Roman" pitchFamily="18" charset="0"/>
                <a:ea typeface="华文中宋"/>
                <a:cs typeface="华文中宋"/>
              </a:rPr>
              <a:t>b</a:t>
            </a:r>
            <a:r>
              <a:rPr lang="zh-CN" altLang="en-US" b="1">
                <a:solidFill>
                  <a:srgbClr val="000000"/>
                </a:solidFill>
                <a:latin typeface="Times New Roman" pitchFamily="18" charset="0"/>
                <a:ea typeface="华文中宋"/>
                <a:cs typeface="华文中宋"/>
              </a:rPr>
              <a:t>、</a:t>
            </a:r>
            <a:r>
              <a:rPr lang="en-US" altLang="zh-CN" b="1">
                <a:solidFill>
                  <a:srgbClr val="000000"/>
                </a:solidFill>
                <a:latin typeface="Times New Roman" pitchFamily="18" charset="0"/>
                <a:ea typeface="华文中宋"/>
                <a:cs typeface="华文中宋"/>
              </a:rPr>
              <a:t>c</a:t>
            </a:r>
            <a:r>
              <a:rPr lang="zh-CN" altLang="en-US" b="1">
                <a:solidFill>
                  <a:srgbClr val="000000"/>
                </a:solidFill>
                <a:latin typeface="Times New Roman" pitchFamily="18" charset="0"/>
                <a:ea typeface="华文中宋"/>
                <a:cs typeface="华文中宋"/>
              </a:rPr>
              <a:t>、</a:t>
            </a:r>
            <a:r>
              <a:rPr lang="en-US" altLang="zh-CN" b="1">
                <a:solidFill>
                  <a:srgbClr val="000000"/>
                </a:solidFill>
                <a:latin typeface="Times New Roman" pitchFamily="18" charset="0"/>
                <a:ea typeface="华文中宋"/>
                <a:cs typeface="华文中宋"/>
              </a:rPr>
              <a:t>d</a:t>
            </a:r>
            <a:r>
              <a:rPr lang="zh-CN" altLang="en-US" b="1">
                <a:solidFill>
                  <a:srgbClr val="000000"/>
                </a:solidFill>
                <a:latin typeface="Times New Roman" pitchFamily="18" charset="0"/>
                <a:ea typeface="华文中宋"/>
                <a:cs typeface="华文中宋"/>
              </a:rPr>
              <a:t>，开始时</a:t>
            </a:r>
            <a:r>
              <a:rPr lang="en-US" altLang="zh-CN" b="1">
                <a:solidFill>
                  <a:srgbClr val="000000"/>
                </a:solidFill>
                <a:latin typeface="Times New Roman" pitchFamily="18" charset="0"/>
                <a:ea typeface="华文中宋"/>
                <a:cs typeface="华文中宋"/>
              </a:rPr>
              <a:t>4</a:t>
            </a:r>
            <a:r>
              <a:rPr lang="zh-CN" altLang="en-US" b="1">
                <a:solidFill>
                  <a:srgbClr val="000000"/>
                </a:solidFill>
                <a:latin typeface="Times New Roman" pitchFamily="18" charset="0"/>
                <a:ea typeface="华文中宋"/>
                <a:cs typeface="华文中宋"/>
              </a:rPr>
              <a:t>个分子放在隔板一边</a:t>
            </a:r>
            <a:r>
              <a:rPr lang="en-US" altLang="zh-CN" b="1" i="1">
                <a:solidFill>
                  <a:srgbClr val="000000"/>
                </a:solidFill>
                <a:latin typeface="Times New Roman" pitchFamily="18" charset="0"/>
                <a:ea typeface="华文中宋"/>
                <a:cs typeface="华文中宋"/>
              </a:rPr>
              <a:t>A</a:t>
            </a:r>
            <a:r>
              <a:rPr lang="zh-CN" altLang="en-US" b="1">
                <a:solidFill>
                  <a:srgbClr val="000000"/>
                </a:solidFill>
                <a:latin typeface="Times New Roman" pitchFamily="18" charset="0"/>
                <a:ea typeface="华文中宋"/>
                <a:cs typeface="华文中宋"/>
              </a:rPr>
              <a:t>部，去掉挡板后，自发进行分布在</a:t>
            </a:r>
            <a:r>
              <a:rPr lang="en-US" altLang="zh-CN" b="1" i="1">
                <a:solidFill>
                  <a:srgbClr val="000000"/>
                </a:solidFill>
                <a:latin typeface="Times New Roman" pitchFamily="18" charset="0"/>
                <a:ea typeface="华文中宋"/>
                <a:cs typeface="华文中宋"/>
              </a:rPr>
              <a:t>AB</a:t>
            </a:r>
            <a:r>
              <a:rPr lang="zh-CN" altLang="en-US" b="1">
                <a:solidFill>
                  <a:srgbClr val="000000"/>
                </a:solidFill>
                <a:latin typeface="Times New Roman" pitchFamily="18" charset="0"/>
                <a:ea typeface="华文中宋"/>
                <a:cs typeface="华文中宋"/>
              </a:rPr>
              <a:t>两部分。</a:t>
            </a:r>
          </a:p>
        </p:txBody>
      </p:sp>
      <p:sp>
        <p:nvSpPr>
          <p:cNvPr id="202796" name="Rectangle 44"/>
          <p:cNvSpPr>
            <a:spLocks noChangeArrowheads="1"/>
          </p:cNvSpPr>
          <p:nvPr/>
        </p:nvSpPr>
        <p:spPr bwMode="auto">
          <a:xfrm>
            <a:off x="2992438" y="3040063"/>
            <a:ext cx="2012950" cy="323850"/>
          </a:xfrm>
          <a:prstGeom prst="rect">
            <a:avLst/>
          </a:prstGeom>
          <a:noFill/>
          <a:ln w="9525">
            <a:noFill/>
            <a:miter lim="800000"/>
            <a:headEnd/>
            <a:tailEnd/>
          </a:ln>
        </p:spPr>
        <p:txBody>
          <a:bodyPr>
            <a:spAutoFit/>
          </a:bodyPr>
          <a:lstStyle/>
          <a:p>
            <a:pPr algn="ctr"/>
            <a:r>
              <a:rPr lang="zh-CN" altLang="en-US" sz="1500">
                <a:solidFill>
                  <a:srgbClr val="C00000"/>
                </a:solidFill>
                <a:latin typeface="Calibri" pitchFamily="34" charset="0"/>
              </a:rPr>
              <a:t>位置相对有序</a:t>
            </a:r>
          </a:p>
        </p:txBody>
      </p:sp>
      <p:sp>
        <p:nvSpPr>
          <p:cNvPr id="202797" name="Rectangle 45"/>
          <p:cNvSpPr>
            <a:spLocks noChangeArrowheads="1"/>
          </p:cNvSpPr>
          <p:nvPr/>
        </p:nvSpPr>
        <p:spPr bwMode="auto">
          <a:xfrm>
            <a:off x="6951663" y="3040063"/>
            <a:ext cx="2012950" cy="323850"/>
          </a:xfrm>
          <a:prstGeom prst="rect">
            <a:avLst/>
          </a:prstGeom>
          <a:noFill/>
          <a:ln w="9525">
            <a:noFill/>
            <a:miter lim="800000"/>
            <a:headEnd/>
            <a:tailEnd/>
          </a:ln>
        </p:spPr>
        <p:txBody>
          <a:bodyPr>
            <a:spAutoFit/>
          </a:bodyPr>
          <a:lstStyle/>
          <a:p>
            <a:pPr algn="ctr"/>
            <a:r>
              <a:rPr lang="zh-CN" altLang="en-US" sz="1500">
                <a:solidFill>
                  <a:srgbClr val="C00000"/>
                </a:solidFill>
                <a:latin typeface="Calibri" pitchFamily="34" charset="0"/>
              </a:rPr>
              <a:t>位置完全无序</a:t>
            </a:r>
          </a:p>
        </p:txBody>
      </p:sp>
      <p:grpSp>
        <p:nvGrpSpPr>
          <p:cNvPr id="3" name="Group 54"/>
          <p:cNvGrpSpPr>
            <a:grpSpLocks/>
          </p:cNvGrpSpPr>
          <p:nvPr/>
        </p:nvGrpSpPr>
        <p:grpSpPr bwMode="auto">
          <a:xfrm>
            <a:off x="5080000" y="2392363"/>
            <a:ext cx="1871663" cy="342900"/>
            <a:chOff x="2245" y="1872"/>
            <a:chExt cx="1179" cy="288"/>
          </a:xfrm>
        </p:grpSpPr>
        <p:sp>
          <p:nvSpPr>
            <p:cNvPr id="155677" name="Line 42"/>
            <p:cNvSpPr>
              <a:spLocks noChangeShapeType="1"/>
            </p:cNvSpPr>
            <p:nvPr/>
          </p:nvSpPr>
          <p:spPr bwMode="auto">
            <a:xfrm>
              <a:off x="2245" y="2160"/>
              <a:ext cx="1179" cy="0"/>
            </a:xfrm>
            <a:prstGeom prst="line">
              <a:avLst/>
            </a:prstGeom>
            <a:noFill/>
            <a:ln w="38100">
              <a:solidFill>
                <a:schemeClr val="tx1"/>
              </a:solidFill>
              <a:round/>
              <a:headEnd/>
              <a:tailEnd type="stealth" w="lg" len="lg"/>
            </a:ln>
          </p:spPr>
          <p:txBody>
            <a:bodyPr>
              <a:spAutoFit/>
            </a:bodyPr>
            <a:lstStyle/>
            <a:p>
              <a:endParaRPr lang="zh-CN" altLang="en-US"/>
            </a:p>
          </p:txBody>
        </p:sp>
        <p:sp>
          <p:nvSpPr>
            <p:cNvPr id="155678" name="Text Box 46"/>
            <p:cNvSpPr txBox="1">
              <a:spLocks noChangeArrowheads="1"/>
            </p:cNvSpPr>
            <p:nvPr/>
          </p:nvSpPr>
          <p:spPr bwMode="auto">
            <a:xfrm>
              <a:off x="2336" y="1872"/>
              <a:ext cx="998" cy="271"/>
            </a:xfrm>
            <a:prstGeom prst="rect">
              <a:avLst/>
            </a:prstGeom>
            <a:noFill/>
            <a:ln w="9525">
              <a:noFill/>
              <a:miter lim="800000"/>
              <a:headEnd/>
              <a:tailEnd/>
            </a:ln>
          </p:spPr>
          <p:txBody>
            <a:bodyPr>
              <a:spAutoFit/>
            </a:bodyPr>
            <a:lstStyle/>
            <a:p>
              <a:pPr algn="ctr">
                <a:spcBef>
                  <a:spcPct val="50000"/>
                </a:spcBef>
              </a:pPr>
              <a:r>
                <a:rPr lang="zh-CN" altLang="en-US" sz="1500" b="1">
                  <a:solidFill>
                    <a:srgbClr val="000000"/>
                  </a:solidFill>
                  <a:ea typeface="华文中宋"/>
                  <a:cs typeface="华文中宋"/>
                </a:rPr>
                <a:t>自发进行</a:t>
              </a:r>
            </a:p>
          </p:txBody>
        </p:sp>
      </p:grpSp>
      <p:grpSp>
        <p:nvGrpSpPr>
          <p:cNvPr id="4" name="Group 55"/>
          <p:cNvGrpSpPr>
            <a:grpSpLocks/>
          </p:cNvGrpSpPr>
          <p:nvPr/>
        </p:nvGrpSpPr>
        <p:grpSpPr bwMode="auto">
          <a:xfrm>
            <a:off x="3208338" y="2193925"/>
            <a:ext cx="1600200" cy="811213"/>
            <a:chOff x="1066" y="1706"/>
            <a:chExt cx="1008" cy="681"/>
          </a:xfrm>
        </p:grpSpPr>
        <p:grpSp>
          <p:nvGrpSpPr>
            <p:cNvPr id="155668" name="Group 26"/>
            <p:cNvGrpSpPr>
              <a:grpSpLocks/>
            </p:cNvGrpSpPr>
            <p:nvPr/>
          </p:nvGrpSpPr>
          <p:grpSpPr bwMode="auto">
            <a:xfrm>
              <a:off x="1066" y="1955"/>
              <a:ext cx="1008" cy="432"/>
              <a:chOff x="288" y="480"/>
              <a:chExt cx="1008" cy="432"/>
            </a:xfrm>
          </p:grpSpPr>
          <p:sp>
            <p:nvSpPr>
              <p:cNvPr id="155671" name="Rectangle 27"/>
              <p:cNvSpPr>
                <a:spLocks noChangeArrowheads="1"/>
              </p:cNvSpPr>
              <p:nvPr/>
            </p:nvSpPr>
            <p:spPr bwMode="auto">
              <a:xfrm>
                <a:off x="288" y="480"/>
                <a:ext cx="528" cy="432"/>
              </a:xfrm>
              <a:prstGeom prst="rect">
                <a:avLst/>
              </a:prstGeom>
              <a:solidFill>
                <a:schemeClr val="accent1"/>
              </a:solidFill>
              <a:ln w="9525">
                <a:solidFill>
                  <a:schemeClr val="tx1"/>
                </a:solidFill>
                <a:miter lim="800000"/>
                <a:headEnd/>
                <a:tailEnd/>
              </a:ln>
            </p:spPr>
            <p:txBody>
              <a:bodyPr wrap="none" anchor="ctr"/>
              <a:lstStyle/>
              <a:p>
                <a:endParaRPr lang="zh-CN" altLang="en-US">
                  <a:solidFill>
                    <a:srgbClr val="000000"/>
                  </a:solidFill>
                  <a:latin typeface="Calibri" pitchFamily="34" charset="0"/>
                </a:endParaRPr>
              </a:p>
            </p:txBody>
          </p:sp>
          <p:sp>
            <p:nvSpPr>
              <p:cNvPr id="155672" name="Rectangle 28"/>
              <p:cNvSpPr>
                <a:spLocks noChangeArrowheads="1"/>
              </p:cNvSpPr>
              <p:nvPr/>
            </p:nvSpPr>
            <p:spPr bwMode="auto">
              <a:xfrm>
                <a:off x="816" y="480"/>
                <a:ext cx="480" cy="432"/>
              </a:xfrm>
              <a:prstGeom prst="rect">
                <a:avLst/>
              </a:prstGeom>
              <a:solidFill>
                <a:srgbClr val="F5E7E7"/>
              </a:solidFill>
              <a:ln w="9525">
                <a:solidFill>
                  <a:srgbClr val="3333CC"/>
                </a:solidFill>
                <a:miter lim="800000"/>
                <a:headEnd/>
                <a:tailEnd/>
              </a:ln>
            </p:spPr>
            <p:txBody>
              <a:bodyPr wrap="none" anchor="ctr"/>
              <a:lstStyle/>
              <a:p>
                <a:endParaRPr lang="zh-CN" altLang="en-US">
                  <a:solidFill>
                    <a:srgbClr val="000000"/>
                  </a:solidFill>
                  <a:latin typeface="Calibri" pitchFamily="34" charset="0"/>
                </a:endParaRPr>
              </a:p>
            </p:txBody>
          </p:sp>
          <p:sp>
            <p:nvSpPr>
              <p:cNvPr id="155673" name="Oval 29"/>
              <p:cNvSpPr>
                <a:spLocks noChangeArrowheads="1"/>
              </p:cNvSpPr>
              <p:nvPr/>
            </p:nvSpPr>
            <p:spPr bwMode="auto">
              <a:xfrm>
                <a:off x="336" y="528"/>
                <a:ext cx="96" cy="96"/>
              </a:xfrm>
              <a:prstGeom prst="ellipse">
                <a:avLst/>
              </a:prstGeom>
              <a:solidFill>
                <a:srgbClr val="ED3921"/>
              </a:solidFill>
              <a:ln w="9525">
                <a:solidFill>
                  <a:schemeClr val="tx1"/>
                </a:solidFill>
                <a:round/>
                <a:headEnd/>
                <a:tailEnd/>
              </a:ln>
            </p:spPr>
            <p:txBody>
              <a:bodyPr wrap="none" anchor="ctr"/>
              <a:lstStyle/>
              <a:p>
                <a:endParaRPr lang="zh-CN" altLang="en-US">
                  <a:solidFill>
                    <a:srgbClr val="000000"/>
                  </a:solidFill>
                  <a:latin typeface="Calibri" pitchFamily="34" charset="0"/>
                </a:endParaRPr>
              </a:p>
            </p:txBody>
          </p:sp>
          <p:sp>
            <p:nvSpPr>
              <p:cNvPr id="155674" name="Oval 30"/>
              <p:cNvSpPr>
                <a:spLocks noChangeArrowheads="1"/>
              </p:cNvSpPr>
              <p:nvPr/>
            </p:nvSpPr>
            <p:spPr bwMode="auto">
              <a:xfrm>
                <a:off x="624" y="528"/>
                <a:ext cx="96" cy="96"/>
              </a:xfrm>
              <a:prstGeom prst="ellipse">
                <a:avLst/>
              </a:prstGeom>
              <a:solidFill>
                <a:srgbClr val="E8B22A"/>
              </a:solidFill>
              <a:ln w="9525">
                <a:solidFill>
                  <a:schemeClr val="tx1"/>
                </a:solidFill>
                <a:round/>
                <a:headEnd/>
                <a:tailEnd/>
              </a:ln>
            </p:spPr>
            <p:txBody>
              <a:bodyPr wrap="none" anchor="ctr"/>
              <a:lstStyle/>
              <a:p>
                <a:endParaRPr lang="zh-CN" altLang="en-US">
                  <a:solidFill>
                    <a:srgbClr val="000000"/>
                  </a:solidFill>
                  <a:latin typeface="Calibri" pitchFamily="34" charset="0"/>
                </a:endParaRPr>
              </a:p>
            </p:txBody>
          </p:sp>
          <p:sp>
            <p:nvSpPr>
              <p:cNvPr id="155675" name="Oval 31"/>
              <p:cNvSpPr>
                <a:spLocks noChangeArrowheads="1"/>
              </p:cNvSpPr>
              <p:nvPr/>
            </p:nvSpPr>
            <p:spPr bwMode="auto">
              <a:xfrm>
                <a:off x="336" y="720"/>
                <a:ext cx="96" cy="96"/>
              </a:xfrm>
              <a:prstGeom prst="ellipse">
                <a:avLst/>
              </a:prstGeom>
              <a:solidFill>
                <a:srgbClr val="3333CC"/>
              </a:solidFill>
              <a:ln w="9525">
                <a:solidFill>
                  <a:schemeClr val="tx1"/>
                </a:solidFill>
                <a:round/>
                <a:headEnd/>
                <a:tailEnd/>
              </a:ln>
            </p:spPr>
            <p:txBody>
              <a:bodyPr wrap="none" anchor="ctr"/>
              <a:lstStyle/>
              <a:p>
                <a:endParaRPr lang="zh-CN" altLang="en-US">
                  <a:solidFill>
                    <a:srgbClr val="000000"/>
                  </a:solidFill>
                  <a:latin typeface="Calibri" pitchFamily="34" charset="0"/>
                </a:endParaRPr>
              </a:p>
            </p:txBody>
          </p:sp>
          <p:sp>
            <p:nvSpPr>
              <p:cNvPr id="155676" name="Oval 32"/>
              <p:cNvSpPr>
                <a:spLocks noChangeArrowheads="1"/>
              </p:cNvSpPr>
              <p:nvPr/>
            </p:nvSpPr>
            <p:spPr bwMode="auto">
              <a:xfrm>
                <a:off x="624" y="720"/>
                <a:ext cx="96" cy="96"/>
              </a:xfrm>
              <a:prstGeom prst="ellipse">
                <a:avLst/>
              </a:prstGeom>
              <a:solidFill>
                <a:srgbClr val="53BB6E"/>
              </a:solidFill>
              <a:ln w="9525">
                <a:solidFill>
                  <a:schemeClr val="tx1"/>
                </a:solidFill>
                <a:round/>
                <a:headEnd/>
                <a:tailEnd/>
              </a:ln>
            </p:spPr>
            <p:txBody>
              <a:bodyPr wrap="none" anchor="ctr"/>
              <a:lstStyle/>
              <a:p>
                <a:endParaRPr lang="zh-CN" altLang="en-US">
                  <a:solidFill>
                    <a:srgbClr val="000000"/>
                  </a:solidFill>
                  <a:latin typeface="Calibri" pitchFamily="34" charset="0"/>
                </a:endParaRPr>
              </a:p>
            </p:txBody>
          </p:sp>
        </p:grpSp>
        <p:sp>
          <p:nvSpPr>
            <p:cNvPr id="155669" name="Rectangle 48"/>
            <p:cNvSpPr>
              <a:spLocks noChangeArrowheads="1"/>
            </p:cNvSpPr>
            <p:nvPr/>
          </p:nvSpPr>
          <p:spPr bwMode="auto">
            <a:xfrm>
              <a:off x="1202" y="1706"/>
              <a:ext cx="255" cy="271"/>
            </a:xfrm>
            <a:prstGeom prst="rect">
              <a:avLst/>
            </a:prstGeom>
            <a:noFill/>
            <a:ln w="9525">
              <a:noFill/>
              <a:miter lim="800000"/>
              <a:headEnd/>
              <a:tailEnd/>
            </a:ln>
          </p:spPr>
          <p:txBody>
            <a:bodyPr>
              <a:spAutoFit/>
            </a:bodyPr>
            <a:lstStyle/>
            <a:p>
              <a:r>
                <a:rPr lang="en-US" altLang="zh-CN" sz="1500">
                  <a:solidFill>
                    <a:srgbClr val="C00000"/>
                  </a:solidFill>
                  <a:latin typeface="Calibri" pitchFamily="34" charset="0"/>
                </a:rPr>
                <a:t>A</a:t>
              </a:r>
            </a:p>
          </p:txBody>
        </p:sp>
        <p:sp>
          <p:nvSpPr>
            <p:cNvPr id="155670" name="Rectangle 50"/>
            <p:cNvSpPr>
              <a:spLocks noChangeArrowheads="1"/>
            </p:cNvSpPr>
            <p:nvPr/>
          </p:nvSpPr>
          <p:spPr bwMode="auto">
            <a:xfrm>
              <a:off x="1701" y="1706"/>
              <a:ext cx="244" cy="271"/>
            </a:xfrm>
            <a:prstGeom prst="rect">
              <a:avLst/>
            </a:prstGeom>
            <a:noFill/>
            <a:ln w="9525">
              <a:noFill/>
              <a:miter lim="800000"/>
              <a:headEnd/>
              <a:tailEnd/>
            </a:ln>
          </p:spPr>
          <p:txBody>
            <a:bodyPr>
              <a:spAutoFit/>
            </a:bodyPr>
            <a:lstStyle/>
            <a:p>
              <a:r>
                <a:rPr lang="en-US" altLang="zh-CN" sz="1500">
                  <a:solidFill>
                    <a:srgbClr val="C00000"/>
                  </a:solidFill>
                  <a:latin typeface="Calibri" pitchFamily="34" charset="0"/>
                </a:rPr>
                <a:t>B</a:t>
              </a:r>
            </a:p>
          </p:txBody>
        </p:sp>
      </p:grpSp>
      <p:grpSp>
        <p:nvGrpSpPr>
          <p:cNvPr id="6" name="Group 56"/>
          <p:cNvGrpSpPr>
            <a:grpSpLocks/>
          </p:cNvGrpSpPr>
          <p:nvPr/>
        </p:nvGrpSpPr>
        <p:grpSpPr bwMode="auto">
          <a:xfrm>
            <a:off x="7167563" y="2193925"/>
            <a:ext cx="1600200" cy="811213"/>
            <a:chOff x="3560" y="1706"/>
            <a:chExt cx="1008" cy="681"/>
          </a:xfrm>
        </p:grpSpPr>
        <p:grpSp>
          <p:nvGrpSpPr>
            <p:cNvPr id="155659" name="Group 43"/>
            <p:cNvGrpSpPr>
              <a:grpSpLocks/>
            </p:cNvGrpSpPr>
            <p:nvPr/>
          </p:nvGrpSpPr>
          <p:grpSpPr bwMode="auto">
            <a:xfrm>
              <a:off x="3560" y="1955"/>
              <a:ext cx="1008" cy="432"/>
              <a:chOff x="3560" y="1253"/>
              <a:chExt cx="1008" cy="432"/>
            </a:xfrm>
          </p:grpSpPr>
          <p:sp>
            <p:nvSpPr>
              <p:cNvPr id="155662" name="Rectangle 35"/>
              <p:cNvSpPr>
                <a:spLocks noChangeArrowheads="1"/>
              </p:cNvSpPr>
              <p:nvPr/>
            </p:nvSpPr>
            <p:spPr bwMode="auto">
              <a:xfrm>
                <a:off x="3560" y="1253"/>
                <a:ext cx="528" cy="432"/>
              </a:xfrm>
              <a:prstGeom prst="rect">
                <a:avLst/>
              </a:prstGeom>
              <a:solidFill>
                <a:schemeClr val="accent1"/>
              </a:solidFill>
              <a:ln w="9525">
                <a:solidFill>
                  <a:schemeClr val="tx1"/>
                </a:solidFill>
                <a:miter lim="800000"/>
                <a:headEnd/>
                <a:tailEnd/>
              </a:ln>
            </p:spPr>
            <p:txBody>
              <a:bodyPr wrap="none" anchor="ctr"/>
              <a:lstStyle/>
              <a:p>
                <a:endParaRPr lang="zh-CN" altLang="en-US">
                  <a:solidFill>
                    <a:srgbClr val="000000"/>
                  </a:solidFill>
                  <a:latin typeface="Calibri" pitchFamily="34" charset="0"/>
                </a:endParaRPr>
              </a:p>
            </p:txBody>
          </p:sp>
          <p:sp>
            <p:nvSpPr>
              <p:cNvPr id="155663" name="Rectangle 36"/>
              <p:cNvSpPr>
                <a:spLocks noChangeArrowheads="1"/>
              </p:cNvSpPr>
              <p:nvPr/>
            </p:nvSpPr>
            <p:spPr bwMode="auto">
              <a:xfrm>
                <a:off x="4088" y="1253"/>
                <a:ext cx="480" cy="432"/>
              </a:xfrm>
              <a:prstGeom prst="rect">
                <a:avLst/>
              </a:prstGeom>
              <a:solidFill>
                <a:srgbClr val="F5E7E7"/>
              </a:solidFill>
              <a:ln w="9525">
                <a:solidFill>
                  <a:srgbClr val="3333CC"/>
                </a:solidFill>
                <a:miter lim="800000"/>
                <a:headEnd/>
                <a:tailEnd/>
              </a:ln>
            </p:spPr>
            <p:txBody>
              <a:bodyPr wrap="none" anchor="ctr"/>
              <a:lstStyle/>
              <a:p>
                <a:endParaRPr lang="zh-CN" altLang="en-US">
                  <a:solidFill>
                    <a:srgbClr val="000000"/>
                  </a:solidFill>
                  <a:latin typeface="Calibri" pitchFamily="34" charset="0"/>
                </a:endParaRPr>
              </a:p>
            </p:txBody>
          </p:sp>
          <p:sp>
            <p:nvSpPr>
              <p:cNvPr id="155664" name="Oval 37"/>
              <p:cNvSpPr>
                <a:spLocks noChangeArrowheads="1"/>
              </p:cNvSpPr>
              <p:nvPr/>
            </p:nvSpPr>
            <p:spPr bwMode="auto">
              <a:xfrm>
                <a:off x="4280" y="1541"/>
                <a:ext cx="96" cy="96"/>
              </a:xfrm>
              <a:prstGeom prst="ellipse">
                <a:avLst/>
              </a:prstGeom>
              <a:solidFill>
                <a:srgbClr val="53BB6E"/>
              </a:solidFill>
              <a:ln w="9525">
                <a:solidFill>
                  <a:schemeClr val="tx1"/>
                </a:solidFill>
                <a:round/>
                <a:headEnd/>
                <a:tailEnd/>
              </a:ln>
            </p:spPr>
            <p:txBody>
              <a:bodyPr wrap="none" anchor="ctr"/>
              <a:lstStyle/>
              <a:p>
                <a:endParaRPr lang="zh-CN" altLang="en-US">
                  <a:solidFill>
                    <a:srgbClr val="000000"/>
                  </a:solidFill>
                  <a:latin typeface="Calibri" pitchFamily="34" charset="0"/>
                </a:endParaRPr>
              </a:p>
            </p:txBody>
          </p:sp>
          <p:sp>
            <p:nvSpPr>
              <p:cNvPr id="155665" name="Oval 38"/>
              <p:cNvSpPr>
                <a:spLocks noChangeArrowheads="1"/>
              </p:cNvSpPr>
              <p:nvPr/>
            </p:nvSpPr>
            <p:spPr bwMode="auto">
              <a:xfrm>
                <a:off x="4280" y="1349"/>
                <a:ext cx="96" cy="96"/>
              </a:xfrm>
              <a:prstGeom prst="ellipse">
                <a:avLst/>
              </a:prstGeom>
              <a:solidFill>
                <a:srgbClr val="E8B22A"/>
              </a:solidFill>
              <a:ln w="9525">
                <a:solidFill>
                  <a:schemeClr val="tx1"/>
                </a:solidFill>
                <a:round/>
                <a:headEnd/>
                <a:tailEnd/>
              </a:ln>
            </p:spPr>
            <p:txBody>
              <a:bodyPr wrap="none" anchor="ctr"/>
              <a:lstStyle/>
              <a:p>
                <a:endParaRPr lang="zh-CN" altLang="en-US">
                  <a:solidFill>
                    <a:srgbClr val="000000"/>
                  </a:solidFill>
                  <a:latin typeface="Calibri" pitchFamily="34" charset="0"/>
                </a:endParaRPr>
              </a:p>
            </p:txBody>
          </p:sp>
          <p:sp>
            <p:nvSpPr>
              <p:cNvPr id="155666" name="Oval 39"/>
              <p:cNvSpPr>
                <a:spLocks noChangeArrowheads="1"/>
              </p:cNvSpPr>
              <p:nvPr/>
            </p:nvSpPr>
            <p:spPr bwMode="auto">
              <a:xfrm>
                <a:off x="3656" y="1541"/>
                <a:ext cx="96" cy="96"/>
              </a:xfrm>
              <a:prstGeom prst="ellipse">
                <a:avLst/>
              </a:prstGeom>
              <a:solidFill>
                <a:srgbClr val="3333CC"/>
              </a:solidFill>
              <a:ln w="9525">
                <a:solidFill>
                  <a:schemeClr val="tx1"/>
                </a:solidFill>
                <a:round/>
                <a:headEnd/>
                <a:tailEnd/>
              </a:ln>
            </p:spPr>
            <p:txBody>
              <a:bodyPr wrap="none" anchor="ctr"/>
              <a:lstStyle/>
              <a:p>
                <a:endParaRPr lang="zh-CN" altLang="en-US">
                  <a:solidFill>
                    <a:srgbClr val="000000"/>
                  </a:solidFill>
                  <a:latin typeface="Calibri" pitchFamily="34" charset="0"/>
                </a:endParaRPr>
              </a:p>
            </p:txBody>
          </p:sp>
          <p:sp>
            <p:nvSpPr>
              <p:cNvPr id="155667" name="Oval 40"/>
              <p:cNvSpPr>
                <a:spLocks noChangeArrowheads="1"/>
              </p:cNvSpPr>
              <p:nvPr/>
            </p:nvSpPr>
            <p:spPr bwMode="auto">
              <a:xfrm>
                <a:off x="3656" y="1344"/>
                <a:ext cx="96" cy="96"/>
              </a:xfrm>
              <a:prstGeom prst="ellipse">
                <a:avLst/>
              </a:prstGeom>
              <a:solidFill>
                <a:srgbClr val="ED3921"/>
              </a:solidFill>
              <a:ln w="9525">
                <a:solidFill>
                  <a:schemeClr val="tx1"/>
                </a:solidFill>
                <a:round/>
                <a:headEnd/>
                <a:tailEnd/>
              </a:ln>
            </p:spPr>
            <p:txBody>
              <a:bodyPr wrap="none" anchor="ctr"/>
              <a:lstStyle/>
              <a:p>
                <a:endParaRPr lang="zh-CN" altLang="en-US">
                  <a:solidFill>
                    <a:srgbClr val="000000"/>
                  </a:solidFill>
                  <a:latin typeface="Calibri" pitchFamily="34" charset="0"/>
                </a:endParaRPr>
              </a:p>
            </p:txBody>
          </p:sp>
        </p:grpSp>
        <p:sp>
          <p:nvSpPr>
            <p:cNvPr id="155660" name="Rectangle 49"/>
            <p:cNvSpPr>
              <a:spLocks noChangeArrowheads="1"/>
            </p:cNvSpPr>
            <p:nvPr/>
          </p:nvSpPr>
          <p:spPr bwMode="auto">
            <a:xfrm>
              <a:off x="4195" y="1706"/>
              <a:ext cx="244" cy="271"/>
            </a:xfrm>
            <a:prstGeom prst="rect">
              <a:avLst/>
            </a:prstGeom>
            <a:noFill/>
            <a:ln w="9525">
              <a:noFill/>
              <a:miter lim="800000"/>
              <a:headEnd/>
              <a:tailEnd/>
            </a:ln>
          </p:spPr>
          <p:txBody>
            <a:bodyPr>
              <a:spAutoFit/>
            </a:bodyPr>
            <a:lstStyle/>
            <a:p>
              <a:r>
                <a:rPr lang="en-US" altLang="zh-CN" sz="1500">
                  <a:solidFill>
                    <a:srgbClr val="C00000"/>
                  </a:solidFill>
                  <a:latin typeface="Calibri" pitchFamily="34" charset="0"/>
                </a:rPr>
                <a:t>B</a:t>
              </a:r>
            </a:p>
          </p:txBody>
        </p:sp>
        <p:sp>
          <p:nvSpPr>
            <p:cNvPr id="155661" name="Rectangle 51"/>
            <p:cNvSpPr>
              <a:spLocks noChangeArrowheads="1"/>
            </p:cNvSpPr>
            <p:nvPr/>
          </p:nvSpPr>
          <p:spPr bwMode="auto">
            <a:xfrm>
              <a:off x="3696" y="1706"/>
              <a:ext cx="255" cy="271"/>
            </a:xfrm>
            <a:prstGeom prst="rect">
              <a:avLst/>
            </a:prstGeom>
            <a:noFill/>
            <a:ln w="9525">
              <a:noFill/>
              <a:miter lim="800000"/>
              <a:headEnd/>
              <a:tailEnd/>
            </a:ln>
          </p:spPr>
          <p:txBody>
            <a:bodyPr>
              <a:spAutoFit/>
            </a:bodyPr>
            <a:lstStyle/>
            <a:p>
              <a:r>
                <a:rPr lang="en-US" altLang="zh-CN" sz="1500">
                  <a:solidFill>
                    <a:srgbClr val="C00000"/>
                  </a:solidFill>
                  <a:latin typeface="Calibri" pitchFamily="34" charset="0"/>
                </a:rPr>
                <a:t>A</a:t>
              </a:r>
            </a:p>
          </p:txBody>
        </p:sp>
      </p:grpSp>
      <p:sp>
        <p:nvSpPr>
          <p:cNvPr id="38" name="Text Box 58"/>
          <p:cNvSpPr txBox="1">
            <a:spLocks noChangeArrowheads="1"/>
          </p:cNvSpPr>
          <p:nvPr/>
        </p:nvSpPr>
        <p:spPr bwMode="auto">
          <a:xfrm>
            <a:off x="539750" y="3651250"/>
            <a:ext cx="4968875" cy="923925"/>
          </a:xfrm>
          <a:prstGeom prst="rect">
            <a:avLst/>
          </a:prstGeom>
          <a:noFill/>
          <a:ln w="9525">
            <a:noFill/>
            <a:miter lim="800000"/>
            <a:headEnd/>
            <a:tailEnd/>
          </a:ln>
        </p:spPr>
        <p:txBody>
          <a:bodyPr>
            <a:spAutoFit/>
          </a:bodyPr>
          <a:lstStyle/>
          <a:p>
            <a:r>
              <a:rPr kumimoji="1" lang="zh-CN" altLang="en-US" b="1">
                <a:solidFill>
                  <a:srgbClr val="FF00FF"/>
                </a:solidFill>
                <a:latin typeface="华文中宋"/>
                <a:ea typeface="华文中宋"/>
                <a:cs typeface="华文中宋"/>
              </a:rPr>
              <a:t>（</a:t>
            </a:r>
            <a:r>
              <a:rPr kumimoji="1" lang="en-US" altLang="zh-CN" b="1">
                <a:solidFill>
                  <a:srgbClr val="FF00FF"/>
                </a:solidFill>
                <a:latin typeface="华文中宋"/>
                <a:ea typeface="华文中宋"/>
                <a:cs typeface="华文中宋"/>
              </a:rPr>
              <a:t>1</a:t>
            </a:r>
            <a:r>
              <a:rPr kumimoji="1" lang="zh-CN" altLang="en-US" b="1">
                <a:solidFill>
                  <a:srgbClr val="FF00FF"/>
                </a:solidFill>
                <a:latin typeface="华文中宋"/>
                <a:ea typeface="华文中宋"/>
                <a:cs typeface="华文中宋"/>
              </a:rPr>
              <a:t>）微观态与宏观态</a:t>
            </a:r>
          </a:p>
          <a:p>
            <a:pPr eaLnBrk="0" hangingPunct="0"/>
            <a:r>
              <a:rPr kumimoji="1" lang="zh-CN" altLang="en-US" b="1">
                <a:solidFill>
                  <a:srgbClr val="000000"/>
                </a:solidFill>
                <a:latin typeface="华文中宋"/>
                <a:ea typeface="华文中宋"/>
                <a:cs typeface="华文中宋"/>
              </a:rPr>
              <a:t>      宏观态：表示</a:t>
            </a:r>
            <a:r>
              <a:rPr kumimoji="1" lang="en-US" altLang="zh-CN" b="1">
                <a:solidFill>
                  <a:srgbClr val="000000"/>
                </a:solidFill>
                <a:latin typeface="华文中宋"/>
                <a:ea typeface="华文中宋"/>
                <a:cs typeface="华文中宋"/>
              </a:rPr>
              <a:t>A</a:t>
            </a:r>
            <a:r>
              <a:rPr kumimoji="1" lang="zh-CN" altLang="en-US" b="1">
                <a:solidFill>
                  <a:srgbClr val="000000"/>
                </a:solidFill>
                <a:latin typeface="华文中宋"/>
                <a:ea typeface="华文中宋"/>
                <a:cs typeface="华文中宋"/>
              </a:rPr>
              <a:t>，</a:t>
            </a:r>
            <a:r>
              <a:rPr kumimoji="1" lang="en-US" altLang="zh-CN" b="1">
                <a:solidFill>
                  <a:srgbClr val="000000"/>
                </a:solidFill>
                <a:latin typeface="华文中宋"/>
                <a:ea typeface="华文中宋"/>
                <a:cs typeface="华文中宋"/>
              </a:rPr>
              <a:t>B</a:t>
            </a:r>
            <a:r>
              <a:rPr kumimoji="1" lang="zh-CN" altLang="en-US" b="1">
                <a:solidFill>
                  <a:srgbClr val="000000"/>
                </a:solidFill>
                <a:latin typeface="华文中宋"/>
                <a:ea typeface="华文中宋"/>
                <a:cs typeface="华文中宋"/>
              </a:rPr>
              <a:t>中各有多少个分子 </a:t>
            </a:r>
          </a:p>
          <a:p>
            <a:pPr eaLnBrk="0" hangingPunct="0"/>
            <a:r>
              <a:rPr kumimoji="1" lang="zh-CN" altLang="en-US" b="1">
                <a:solidFill>
                  <a:srgbClr val="000000"/>
                </a:solidFill>
                <a:latin typeface="华文中宋"/>
                <a:ea typeface="华文中宋"/>
                <a:cs typeface="华文中宋"/>
              </a:rPr>
              <a:t>      微观态：表示</a:t>
            </a:r>
            <a:r>
              <a:rPr kumimoji="1" lang="en-US" altLang="zh-CN" b="1">
                <a:solidFill>
                  <a:srgbClr val="000000"/>
                </a:solidFill>
                <a:latin typeface="华文中宋"/>
                <a:ea typeface="华文中宋"/>
                <a:cs typeface="华文中宋"/>
              </a:rPr>
              <a:t>A</a:t>
            </a:r>
            <a:r>
              <a:rPr kumimoji="1" lang="zh-CN" altLang="en-US" b="1">
                <a:solidFill>
                  <a:srgbClr val="000000"/>
                </a:solidFill>
                <a:latin typeface="华文中宋"/>
                <a:ea typeface="华文中宋"/>
                <a:cs typeface="华文中宋"/>
              </a:rPr>
              <a:t>，</a:t>
            </a:r>
            <a:r>
              <a:rPr kumimoji="1" lang="en-US" altLang="zh-CN" b="1">
                <a:solidFill>
                  <a:srgbClr val="000000"/>
                </a:solidFill>
                <a:latin typeface="华文中宋"/>
                <a:ea typeface="华文中宋"/>
                <a:cs typeface="华文中宋"/>
              </a:rPr>
              <a:t>B</a:t>
            </a:r>
            <a:r>
              <a:rPr kumimoji="1" lang="zh-CN" altLang="en-US" b="1">
                <a:solidFill>
                  <a:srgbClr val="000000"/>
                </a:solidFill>
                <a:latin typeface="华文中宋"/>
                <a:ea typeface="华文中宋"/>
                <a:cs typeface="华文中宋"/>
              </a:rPr>
              <a:t>中各是哪些分子</a:t>
            </a:r>
          </a:p>
        </p:txBody>
      </p:sp>
      <p:sp>
        <p:nvSpPr>
          <p:cNvPr id="202805" name="Rectangle 53"/>
          <p:cNvSpPr>
            <a:spLocks noChangeArrowheads="1"/>
          </p:cNvSpPr>
          <p:nvPr/>
        </p:nvSpPr>
        <p:spPr bwMode="auto">
          <a:xfrm>
            <a:off x="1042988" y="3292475"/>
            <a:ext cx="5670550" cy="368300"/>
          </a:xfrm>
          <a:prstGeom prst="rect">
            <a:avLst/>
          </a:prstGeom>
          <a:noFill/>
          <a:ln w="9525">
            <a:noFill/>
            <a:miter lim="800000"/>
            <a:headEnd/>
            <a:tailEnd/>
          </a:ln>
        </p:spPr>
        <p:txBody>
          <a:bodyPr>
            <a:spAutoFit/>
          </a:bodyPr>
          <a:lstStyle/>
          <a:p>
            <a:r>
              <a:rPr lang="zh-CN" altLang="en-US" b="1">
                <a:solidFill>
                  <a:srgbClr val="C00000"/>
                </a:solidFill>
                <a:latin typeface="华文中宋"/>
                <a:ea typeface="华文中宋"/>
                <a:cs typeface="华文中宋"/>
              </a:rPr>
              <a:t>无序度可用气体分子的分布情况来刻画。</a:t>
            </a:r>
          </a:p>
        </p:txBody>
      </p:sp>
      <p:sp>
        <p:nvSpPr>
          <p:cNvPr id="32" name="Text Box 2"/>
          <p:cNvSpPr>
            <a:spLocks noChangeArrowheads="1"/>
          </p:cNvSpPr>
          <p:nvPr/>
        </p:nvSpPr>
        <p:spPr bwMode="auto">
          <a:xfrm>
            <a:off x="552450" y="874713"/>
            <a:ext cx="3587750" cy="401637"/>
          </a:xfrm>
          <a:prstGeom prst="homePlate">
            <a:avLst>
              <a:gd name="adj" fmla="val 49379"/>
            </a:avLst>
          </a:prstGeom>
          <a:solidFill>
            <a:srgbClr val="539A84"/>
          </a:solidFill>
          <a:ln w="9525">
            <a:noFill/>
            <a:miter lim="800000"/>
            <a:headEnd/>
            <a:tailEnd/>
          </a:ln>
        </p:spPr>
        <p:txBody>
          <a:bodyPr>
            <a:spAutoFit/>
          </a:bodyPr>
          <a:lstStyle/>
          <a:p>
            <a:pPr>
              <a:buFont typeface="Arial" charset="0"/>
              <a:buNone/>
            </a:pPr>
            <a:r>
              <a:rPr lang="zh-CN" altLang="en-US" sz="2000">
                <a:solidFill>
                  <a:srgbClr val="FFFFFF"/>
                </a:solidFill>
                <a:latin typeface="微软雅黑" pitchFamily="34" charset="-122"/>
                <a:ea typeface="微软雅黑" pitchFamily="34" charset="-122"/>
              </a:rPr>
              <a:t>一、热力学概率与玻尔兹曼熵</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wipe(left)">
                                      <p:cBhvr>
                                        <p:cTn id="7" dur="500"/>
                                        <p:tgtEl>
                                          <p:spTgt spid="3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wipe(left)">
                                      <p:cBhvr>
                                        <p:cTn id="12" dur="500"/>
                                        <p:tgtEl>
                                          <p:spTgt spid="2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blinds(horizontal)">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blinds(horizontal)">
                                      <p:cBhvr>
                                        <p:cTn id="27" dur="500"/>
                                        <p:tgtEl>
                                          <p:spTgt spid="3"/>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blinds(horizontal)">
                                      <p:cBhvr>
                                        <p:cTn id="32" dur="500"/>
                                        <p:tgtEl>
                                          <p:spTgt spid="6"/>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02797"/>
                                        </p:tgtEl>
                                        <p:attrNameLst>
                                          <p:attrName>style.visibility</p:attrName>
                                        </p:attrNameLst>
                                      </p:cBhvr>
                                      <p:to>
                                        <p:strVal val="visible"/>
                                      </p:to>
                                    </p:set>
                                    <p:animEffect transition="in" filter="blinds(horizontal)">
                                      <p:cBhvr>
                                        <p:cTn id="37" dur="500"/>
                                        <p:tgtEl>
                                          <p:spTgt spid="202797"/>
                                        </p:tgtEl>
                                      </p:cBhvr>
                                    </p:animEffect>
                                  </p:childTnLst>
                                </p:cTn>
                              </p:par>
                              <p:par>
                                <p:cTn id="38" presetID="3" presetClass="entr" presetSubtype="10" fill="hold" grpId="0" nodeType="withEffect">
                                  <p:stCondLst>
                                    <p:cond delay="0"/>
                                  </p:stCondLst>
                                  <p:childTnLst>
                                    <p:set>
                                      <p:cBhvr>
                                        <p:cTn id="39" dur="1" fill="hold">
                                          <p:stCondLst>
                                            <p:cond delay="0"/>
                                          </p:stCondLst>
                                        </p:cTn>
                                        <p:tgtEl>
                                          <p:spTgt spid="202796"/>
                                        </p:tgtEl>
                                        <p:attrNameLst>
                                          <p:attrName>style.visibility</p:attrName>
                                        </p:attrNameLst>
                                      </p:cBhvr>
                                      <p:to>
                                        <p:strVal val="visible"/>
                                      </p:to>
                                    </p:set>
                                    <p:animEffect transition="in" filter="blinds(horizontal)">
                                      <p:cBhvr>
                                        <p:cTn id="40" dur="500"/>
                                        <p:tgtEl>
                                          <p:spTgt spid="202796"/>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grpId="0" nodeType="clickEffect">
                                  <p:stCondLst>
                                    <p:cond delay="0"/>
                                  </p:stCondLst>
                                  <p:childTnLst>
                                    <p:set>
                                      <p:cBhvr>
                                        <p:cTn id="44" dur="1" fill="hold">
                                          <p:stCondLst>
                                            <p:cond delay="0"/>
                                          </p:stCondLst>
                                        </p:cTn>
                                        <p:tgtEl>
                                          <p:spTgt spid="202805"/>
                                        </p:tgtEl>
                                        <p:attrNameLst>
                                          <p:attrName>style.visibility</p:attrName>
                                        </p:attrNameLst>
                                      </p:cBhvr>
                                      <p:to>
                                        <p:strVal val="visible"/>
                                      </p:to>
                                    </p:set>
                                    <p:animEffect transition="in" filter="blinds(horizontal)">
                                      <p:cBhvr>
                                        <p:cTn id="45" dur="500"/>
                                        <p:tgtEl>
                                          <p:spTgt spid="202805"/>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38">
                                            <p:txEl>
                                              <p:pRg st="0" end="0"/>
                                            </p:txEl>
                                          </p:spTgt>
                                        </p:tgtEl>
                                        <p:attrNameLst>
                                          <p:attrName>style.visibility</p:attrName>
                                        </p:attrNameLst>
                                      </p:cBhvr>
                                      <p:to>
                                        <p:strVal val="visible"/>
                                      </p:to>
                                    </p:set>
                                    <p:animEffect transition="in" filter="wipe(left)">
                                      <p:cBhvr>
                                        <p:cTn id="50" dur="500"/>
                                        <p:tgtEl>
                                          <p:spTgt spid="38">
                                            <p:txEl>
                                              <p:pRg st="0" end="0"/>
                                            </p:txEl>
                                          </p:spTgt>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38">
                                            <p:txEl>
                                              <p:pRg st="1" end="1"/>
                                            </p:txEl>
                                          </p:spTgt>
                                        </p:tgtEl>
                                        <p:attrNameLst>
                                          <p:attrName>style.visibility</p:attrName>
                                        </p:attrNameLst>
                                      </p:cBhvr>
                                      <p:to>
                                        <p:strVal val="visible"/>
                                      </p:to>
                                    </p:set>
                                    <p:animEffect transition="in" filter="wipe(left)">
                                      <p:cBhvr>
                                        <p:cTn id="55" dur="500"/>
                                        <p:tgtEl>
                                          <p:spTgt spid="38">
                                            <p:txEl>
                                              <p:pRg st="1" end="1"/>
                                            </p:txEl>
                                          </p:spTgt>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8" fill="hold" grpId="0" nodeType="clickEffect">
                                  <p:stCondLst>
                                    <p:cond delay="0"/>
                                  </p:stCondLst>
                                  <p:childTnLst>
                                    <p:set>
                                      <p:cBhvr>
                                        <p:cTn id="59" dur="1" fill="hold">
                                          <p:stCondLst>
                                            <p:cond delay="0"/>
                                          </p:stCondLst>
                                        </p:cTn>
                                        <p:tgtEl>
                                          <p:spTgt spid="38">
                                            <p:txEl>
                                              <p:pRg st="2" end="2"/>
                                            </p:txEl>
                                          </p:spTgt>
                                        </p:tgtEl>
                                        <p:attrNameLst>
                                          <p:attrName>style.visibility</p:attrName>
                                        </p:attrNameLst>
                                      </p:cBhvr>
                                      <p:to>
                                        <p:strVal val="visible"/>
                                      </p:to>
                                    </p:set>
                                    <p:animEffect transition="in" filter="wipe(left)">
                                      <p:cBhvr>
                                        <p:cTn id="60" dur="500"/>
                                        <p:tgtEl>
                                          <p:spTgt spid="3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 grpId="0"/>
      <p:bldP spid="202796" grpId="0"/>
      <p:bldP spid="202797" grpId="0"/>
      <p:bldP spid="38" grpId="0" build="p"/>
      <p:bldP spid="202805" grpId="0"/>
      <p:bldP spid="32"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1413" name="Group 213"/>
          <p:cNvGraphicFramePr>
            <a:graphicFrameLocks noGrp="1"/>
          </p:cNvGraphicFramePr>
          <p:nvPr/>
        </p:nvGraphicFramePr>
        <p:xfrm>
          <a:off x="323850" y="842963"/>
          <a:ext cx="4464050" cy="4214812"/>
        </p:xfrm>
        <a:graphic>
          <a:graphicData uri="http://schemas.openxmlformats.org/drawingml/2006/table">
            <a:tbl>
              <a:tblPr/>
              <a:tblGrid>
                <a:gridCol w="338827"/>
                <a:gridCol w="352380"/>
                <a:gridCol w="352380"/>
                <a:gridCol w="955493"/>
                <a:gridCol w="704761"/>
                <a:gridCol w="894504"/>
                <a:gridCol w="865704"/>
              </a:tblGrid>
              <a:tr h="175256">
                <a:tc gridSpan="3">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1" lang="zh-CN" altLang="en-US" sz="1200" b="1" i="0" u="none" strike="noStrike" cap="none" normalizeH="0" baseline="0" dirty="0" smtClean="0">
                          <a:ln>
                            <a:noFill/>
                          </a:ln>
                          <a:solidFill>
                            <a:schemeClr val="tx1"/>
                          </a:solidFill>
                          <a:effectLst/>
                          <a:latin typeface="华文中宋" pitchFamily="2" charset="-122"/>
                          <a:ea typeface="华文中宋" pitchFamily="2" charset="-122"/>
                        </a:rPr>
                        <a:t>宏 观 态</a:t>
                      </a:r>
                      <a:endParaRPr kumimoji="1" lang="zh-CN" altLang="en-US" sz="1200" b="1" i="0" u="none" strike="noStrike" cap="none" normalizeH="0" baseline="0" dirty="0" smtClean="0">
                        <a:ln>
                          <a:noFill/>
                        </a:ln>
                        <a:solidFill>
                          <a:srgbClr val="FF0000"/>
                        </a:solidFill>
                        <a:effectLst/>
                        <a:latin typeface="华文中宋" pitchFamily="2" charset="-122"/>
                        <a:ea typeface="华文中宋" pitchFamily="2" charset="-122"/>
                        <a:cs typeface="Times New Roman" pitchFamily="18" charset="0"/>
                      </a:endParaRPr>
                    </a:p>
                  </a:txBody>
                  <a:tcPr marL="91432" marR="91432" marT="34278" marB="34278"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gridSpan="2">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1" lang="zh-CN" altLang="en-US" sz="1200" b="1" i="0" u="none" strike="noStrike" cap="none" normalizeH="0" baseline="0" dirty="0" smtClean="0">
                          <a:ln>
                            <a:noFill/>
                          </a:ln>
                          <a:solidFill>
                            <a:schemeClr val="tx1"/>
                          </a:solidFill>
                          <a:effectLst/>
                          <a:latin typeface="华文中宋" pitchFamily="2" charset="-122"/>
                          <a:ea typeface="华文中宋" pitchFamily="2" charset="-122"/>
                        </a:rPr>
                        <a:t>微  观  态</a:t>
                      </a:r>
                      <a:endParaRPr kumimoji="1" lang="zh-CN" altLang="en-US" sz="1200" b="1" i="0" u="none" strike="noStrike" cap="none" normalizeH="0" baseline="0" dirty="0" smtClean="0">
                        <a:ln>
                          <a:noFill/>
                        </a:ln>
                        <a:solidFill>
                          <a:srgbClr val="0000FF"/>
                        </a:solidFill>
                        <a:effectLst/>
                        <a:latin typeface="华文中宋" pitchFamily="2" charset="-122"/>
                        <a:ea typeface="华文中宋" pitchFamily="2" charset="-122"/>
                        <a:cs typeface="Times New Roman" pitchFamily="18" charset="0"/>
                      </a:endParaRPr>
                    </a:p>
                  </a:txBody>
                  <a:tcPr marL="91432" marR="91432" marT="34278" marB="34278"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hMerge="1">
                  <a:txBody>
                    <a:bodyPr/>
                    <a:lstStyle/>
                    <a:p>
                      <a:endParaRPr lang="zh-CN" altLang="en-US"/>
                    </a:p>
                  </a:txBody>
                  <a:tcPr/>
                </a:tc>
                <a:tc rowSpan="2">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1" lang="zh-CN" altLang="en-US" sz="1200" b="1" i="0" u="none" strike="noStrike" cap="none" normalizeH="0" baseline="0" smtClean="0">
                          <a:ln>
                            <a:noFill/>
                          </a:ln>
                          <a:solidFill>
                            <a:schemeClr val="tx1"/>
                          </a:solidFill>
                          <a:effectLst/>
                          <a:latin typeface="华文中宋" pitchFamily="2" charset="-122"/>
                          <a:ea typeface="华文中宋" pitchFamily="2" charset="-122"/>
                        </a:rPr>
                        <a:t>微观态</a:t>
                      </a:r>
                    </a:p>
                    <a:p>
                      <a:pPr marL="0" marR="0" lvl="0" indent="0" algn="ctr" defTabSz="914400" rtl="0" eaLnBrk="1" fontAlgn="base" latinLnBrk="0" hangingPunct="1">
                        <a:lnSpc>
                          <a:spcPct val="90000"/>
                        </a:lnSpc>
                        <a:spcBef>
                          <a:spcPct val="0"/>
                        </a:spcBef>
                        <a:spcAft>
                          <a:spcPct val="0"/>
                        </a:spcAft>
                        <a:buClrTx/>
                        <a:buSzTx/>
                        <a:buFontTx/>
                        <a:buNone/>
                        <a:tabLst/>
                      </a:pPr>
                      <a:r>
                        <a:rPr kumimoji="1" lang="zh-CN" altLang="en-US" sz="1200" b="1" i="0" u="none" strike="noStrike" cap="none" normalizeH="0" baseline="0" smtClean="0">
                          <a:ln>
                            <a:noFill/>
                          </a:ln>
                          <a:solidFill>
                            <a:schemeClr val="tx1"/>
                          </a:solidFill>
                          <a:effectLst/>
                          <a:latin typeface="华文中宋" pitchFamily="2" charset="-122"/>
                          <a:ea typeface="华文中宋" pitchFamily="2" charset="-122"/>
                        </a:rPr>
                        <a:t> 数  目</a:t>
                      </a:r>
                      <a:endParaRPr kumimoji="1" lang="zh-CN" altLang="en-US" sz="1200" b="1" i="0" u="none" strike="noStrike" cap="none" normalizeH="0" baseline="0" smtClean="0">
                        <a:ln>
                          <a:noFill/>
                        </a:ln>
                        <a:solidFill>
                          <a:srgbClr val="0000FF"/>
                        </a:solidFill>
                        <a:effectLst/>
                        <a:latin typeface="华文中宋" pitchFamily="2" charset="-122"/>
                        <a:ea typeface="华文中宋" pitchFamily="2" charset="-122"/>
                        <a:cs typeface="Times New Roman" pitchFamily="18" charset="0"/>
                      </a:endParaRPr>
                    </a:p>
                  </a:txBody>
                  <a:tcPr marL="91432" marR="91432" marT="34278" marB="34278"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28575" cap="flat" cmpd="sng" algn="ctr">
                      <a:solidFill>
                        <a:schemeClr val="accent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1" lang="zh-CN" altLang="en-US" sz="1200" b="1" i="0" u="none" strike="noStrike" cap="none" normalizeH="0" baseline="0" dirty="0" smtClean="0">
                          <a:ln>
                            <a:noFill/>
                          </a:ln>
                          <a:solidFill>
                            <a:schemeClr val="tx1"/>
                          </a:solidFill>
                          <a:effectLst/>
                          <a:latin typeface="华文中宋" pitchFamily="2" charset="-122"/>
                          <a:ea typeface="华文中宋" pitchFamily="2" charset="-122"/>
                        </a:rPr>
                        <a:t>宏观态</a:t>
                      </a:r>
                    </a:p>
                    <a:p>
                      <a:pPr marL="0" marR="0" lvl="0" indent="0" algn="ctr" defTabSz="914400" rtl="0" eaLnBrk="1" fontAlgn="base" latinLnBrk="0" hangingPunct="1">
                        <a:lnSpc>
                          <a:spcPct val="90000"/>
                        </a:lnSpc>
                        <a:spcBef>
                          <a:spcPct val="0"/>
                        </a:spcBef>
                        <a:spcAft>
                          <a:spcPct val="0"/>
                        </a:spcAft>
                        <a:buClrTx/>
                        <a:buSzTx/>
                        <a:buFontTx/>
                        <a:buNone/>
                        <a:tabLst/>
                      </a:pPr>
                      <a:r>
                        <a:rPr kumimoji="1" lang="zh-CN" altLang="en-US" sz="1200" b="1" i="0" u="none" strike="noStrike" cap="none" normalizeH="0" baseline="0" dirty="0" smtClean="0">
                          <a:ln>
                            <a:noFill/>
                          </a:ln>
                          <a:solidFill>
                            <a:schemeClr val="tx1"/>
                          </a:solidFill>
                          <a:effectLst/>
                          <a:latin typeface="华文中宋" pitchFamily="2" charset="-122"/>
                          <a:ea typeface="华文中宋" pitchFamily="2" charset="-122"/>
                        </a:rPr>
                        <a:t>概  率</a:t>
                      </a:r>
                      <a:endParaRPr kumimoji="1" lang="zh-CN" altLang="en-US" sz="1200" b="1" i="0" u="none" strike="noStrike" cap="none" normalizeH="0" baseline="0" dirty="0" smtClean="0">
                        <a:ln>
                          <a:noFill/>
                        </a:ln>
                        <a:solidFill>
                          <a:srgbClr val="FF0000"/>
                        </a:solidFill>
                        <a:effectLst/>
                        <a:latin typeface="华文中宋" pitchFamily="2" charset="-122"/>
                        <a:ea typeface="华文中宋" pitchFamily="2" charset="-122"/>
                        <a:cs typeface="Times New Roman" pitchFamily="18" charset="0"/>
                      </a:endParaRPr>
                    </a:p>
                  </a:txBody>
                  <a:tcPr marL="91432" marR="91432" marT="34278" marB="34278"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28575" cap="flat" cmpd="sng" algn="ctr">
                      <a:solidFill>
                        <a:schemeClr val="accent1"/>
                      </a:solidFill>
                      <a:prstDash val="solid"/>
                      <a:round/>
                      <a:headEnd type="none" w="med" len="med"/>
                      <a:tailEnd type="none" w="med" len="med"/>
                    </a:lnB>
                    <a:lnTlToBr>
                      <a:noFill/>
                    </a:lnTlToBr>
                    <a:lnBlToTr>
                      <a:noFill/>
                    </a:lnBlToTr>
                    <a:noFill/>
                  </a:tcPr>
                </a:tc>
              </a:tr>
              <a:tr h="175256">
                <a:tc>
                  <a:txBody>
                    <a:bodyPr/>
                    <a:lstStyle/>
                    <a:p>
                      <a:pPr marL="0" marR="0" lvl="0" indent="0" algn="ctr" defTabSz="914400" rtl="0" eaLnBrk="1" fontAlgn="base" latinLnBrk="0" hangingPunct="1">
                        <a:lnSpc>
                          <a:spcPct val="90000"/>
                        </a:lnSpc>
                        <a:spcBef>
                          <a:spcPct val="0"/>
                        </a:spcBef>
                        <a:spcAft>
                          <a:spcPct val="0"/>
                        </a:spcAft>
                        <a:buClrTx/>
                        <a:buSzTx/>
                        <a:buFontTx/>
                        <a:buNone/>
                        <a:tabLst/>
                      </a:pPr>
                      <a:endParaRPr kumimoji="1" lang="zh-CN" altLang="zh-CN" sz="1200" b="1" i="0" u="none" strike="noStrike" cap="none" normalizeH="0" baseline="0" smtClean="0">
                        <a:ln>
                          <a:noFill/>
                        </a:ln>
                        <a:solidFill>
                          <a:schemeClr val="tx1"/>
                        </a:solidFill>
                        <a:effectLst/>
                        <a:latin typeface="华文中宋" pitchFamily="2" charset="-122"/>
                        <a:ea typeface="华文中宋" pitchFamily="2" charset="-122"/>
                        <a:cs typeface="Times New Roman" pitchFamily="18" charset="0"/>
                      </a:endParaRPr>
                    </a:p>
                  </a:txBody>
                  <a:tcPr marL="91432" marR="91432" marT="34278" marB="34278"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28575" cap="flat" cmpd="sng" algn="ctr">
                      <a:solidFill>
                        <a:schemeClr val="accent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1" lang="zh-CN" altLang="en-US" sz="1200" b="1" i="0" u="none" strike="noStrike" cap="none" normalizeH="0" baseline="0" smtClean="0">
                          <a:ln>
                            <a:noFill/>
                          </a:ln>
                          <a:solidFill>
                            <a:srgbClr val="FF0000"/>
                          </a:solidFill>
                          <a:effectLst/>
                          <a:latin typeface="华文中宋" pitchFamily="2" charset="-122"/>
                          <a:ea typeface="华文中宋" pitchFamily="2" charset="-122"/>
                        </a:rPr>
                        <a:t>Ａ</a:t>
                      </a:r>
                      <a:endParaRPr kumimoji="1" lang="zh-CN" altLang="en-US" sz="1200" b="1" i="0" u="none" strike="noStrike" cap="none" normalizeH="0" baseline="0" smtClean="0">
                        <a:ln>
                          <a:noFill/>
                        </a:ln>
                        <a:solidFill>
                          <a:srgbClr val="FF0000"/>
                        </a:solidFill>
                        <a:effectLst/>
                        <a:latin typeface="华文中宋" pitchFamily="2" charset="-122"/>
                        <a:ea typeface="华文中宋" pitchFamily="2" charset="-122"/>
                        <a:cs typeface="Times New Roman" pitchFamily="18" charset="0"/>
                      </a:endParaRPr>
                    </a:p>
                  </a:txBody>
                  <a:tcPr marL="91432" marR="91432" marT="34278" marB="34278"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28575" cap="flat" cmpd="sng" algn="ctr">
                      <a:solidFill>
                        <a:schemeClr val="accent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1" lang="zh-CN" altLang="en-US" sz="1200" b="1" i="0" u="none" strike="noStrike" cap="none" normalizeH="0" baseline="0" smtClean="0">
                          <a:ln>
                            <a:noFill/>
                          </a:ln>
                          <a:solidFill>
                            <a:srgbClr val="FF0000"/>
                          </a:solidFill>
                          <a:effectLst/>
                          <a:latin typeface="华文中宋" pitchFamily="2" charset="-122"/>
                          <a:ea typeface="华文中宋" pitchFamily="2" charset="-122"/>
                        </a:rPr>
                        <a:t>Ｂ</a:t>
                      </a:r>
                      <a:endParaRPr kumimoji="1" lang="zh-CN" altLang="en-US" sz="1200" b="1" i="0" u="none" strike="noStrike" cap="none" normalizeH="0" baseline="0" smtClean="0">
                        <a:ln>
                          <a:noFill/>
                        </a:ln>
                        <a:solidFill>
                          <a:srgbClr val="FF0000"/>
                        </a:solidFill>
                        <a:effectLst/>
                        <a:latin typeface="华文中宋" pitchFamily="2" charset="-122"/>
                        <a:ea typeface="华文中宋" pitchFamily="2" charset="-122"/>
                        <a:cs typeface="Times New Roman" pitchFamily="18" charset="0"/>
                      </a:endParaRPr>
                    </a:p>
                  </a:txBody>
                  <a:tcPr marL="91432" marR="91432" marT="34278" marB="34278"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28575" cap="flat" cmpd="sng" algn="ctr">
                      <a:solidFill>
                        <a:schemeClr val="accent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1" lang="zh-CN" altLang="en-US" sz="1200" b="1" i="0" u="none" strike="noStrike" cap="none" normalizeH="0" baseline="0" smtClean="0">
                          <a:ln>
                            <a:noFill/>
                          </a:ln>
                          <a:solidFill>
                            <a:srgbClr val="0000FF"/>
                          </a:solidFill>
                          <a:effectLst/>
                          <a:latin typeface="华文中宋" pitchFamily="2" charset="-122"/>
                          <a:ea typeface="华文中宋" pitchFamily="2" charset="-122"/>
                        </a:rPr>
                        <a:t>Ａ</a:t>
                      </a:r>
                      <a:endParaRPr kumimoji="1" lang="zh-CN" altLang="en-US" sz="1200" b="1" i="1" u="none" strike="noStrike" cap="none" normalizeH="0" baseline="0" smtClean="0">
                        <a:ln>
                          <a:noFill/>
                        </a:ln>
                        <a:solidFill>
                          <a:srgbClr val="0000FF"/>
                        </a:solidFill>
                        <a:effectLst/>
                        <a:latin typeface="华文中宋" pitchFamily="2" charset="-122"/>
                        <a:ea typeface="华文中宋" pitchFamily="2" charset="-122"/>
                        <a:cs typeface="Times New Roman" pitchFamily="18" charset="0"/>
                      </a:endParaRPr>
                    </a:p>
                  </a:txBody>
                  <a:tcPr marL="91432" marR="91432" marT="34278" marB="34278"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28575" cap="flat" cmpd="sng" algn="ctr">
                      <a:solidFill>
                        <a:schemeClr val="accent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1" lang="zh-CN" altLang="en-US" sz="1200" b="1" i="0" u="none" strike="noStrike" cap="none" normalizeH="0" baseline="0" smtClean="0">
                          <a:ln>
                            <a:noFill/>
                          </a:ln>
                          <a:solidFill>
                            <a:srgbClr val="0000FF"/>
                          </a:solidFill>
                          <a:effectLst/>
                          <a:latin typeface="华文中宋" pitchFamily="2" charset="-122"/>
                          <a:ea typeface="华文中宋" pitchFamily="2" charset="-122"/>
                        </a:rPr>
                        <a:t>Ｂ</a:t>
                      </a:r>
                      <a:endParaRPr kumimoji="1" lang="zh-CN" altLang="en-US" sz="1200" b="1" i="1" u="none" strike="noStrike" cap="none" normalizeH="0" baseline="0" smtClean="0">
                        <a:ln>
                          <a:noFill/>
                        </a:ln>
                        <a:solidFill>
                          <a:srgbClr val="0000FF"/>
                        </a:solidFill>
                        <a:effectLst/>
                        <a:latin typeface="华文中宋" pitchFamily="2" charset="-122"/>
                        <a:ea typeface="华文中宋" pitchFamily="2" charset="-122"/>
                        <a:cs typeface="Times New Roman" pitchFamily="18" charset="0"/>
                      </a:endParaRPr>
                    </a:p>
                  </a:txBody>
                  <a:tcPr marL="91432" marR="91432" marT="34278" marB="34278"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28575" cap="flat" cmpd="sng" algn="ctr">
                      <a:solidFill>
                        <a:schemeClr val="accent1"/>
                      </a:solidFill>
                      <a:prstDash val="solid"/>
                      <a:round/>
                      <a:headEnd type="none" w="med" len="med"/>
                      <a:tailEnd type="none" w="med" len="med"/>
                    </a:lnB>
                    <a:lnTlToBr>
                      <a:noFill/>
                    </a:lnTlToBr>
                    <a:lnBlToTr>
                      <a:noFill/>
                    </a:lnBlToTr>
                    <a:noFill/>
                  </a:tcPr>
                </a:tc>
                <a:tc vMerge="1">
                  <a:txBody>
                    <a:bodyPr/>
                    <a:lstStyle/>
                    <a:p>
                      <a:endParaRPr lang="zh-CN" altLang="en-US"/>
                    </a:p>
                  </a:txBody>
                  <a:tcPr/>
                </a:tc>
                <a:tc vMerge="1">
                  <a:txBody>
                    <a:bodyPr/>
                    <a:lstStyle/>
                    <a:p>
                      <a:endParaRPr lang="zh-CN" altLang="en-US"/>
                    </a:p>
                  </a:txBody>
                  <a:tcPr/>
                </a:tc>
              </a:tr>
              <a:tr h="18900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200" b="1" i="0" u="none" strike="noStrike" cap="none" normalizeH="0" baseline="0" smtClean="0">
                          <a:ln>
                            <a:noFill/>
                          </a:ln>
                          <a:solidFill>
                            <a:schemeClr val="tx1"/>
                          </a:solidFill>
                          <a:effectLst/>
                          <a:latin typeface="华文中宋" pitchFamily="2" charset="-122"/>
                          <a:ea typeface="华文中宋" pitchFamily="2" charset="-122"/>
                        </a:rPr>
                        <a:t>1</a:t>
                      </a:r>
                      <a:endParaRPr kumimoji="1" lang="en-US" altLang="zh-CN" sz="1200" b="1" i="0" u="none" strike="noStrike" cap="none" normalizeH="0" baseline="0" smtClean="0">
                        <a:ln>
                          <a:noFill/>
                        </a:ln>
                        <a:solidFill>
                          <a:schemeClr val="tx1"/>
                        </a:solidFill>
                        <a:effectLst/>
                        <a:latin typeface="华文中宋" pitchFamily="2" charset="-122"/>
                        <a:ea typeface="华文中宋" pitchFamily="2" charset="-122"/>
                        <a:cs typeface="Times New Roman" pitchFamily="18" charset="0"/>
                      </a:endParaRPr>
                    </a:p>
                  </a:txBody>
                  <a:tcPr marL="91432" marR="91432" marT="34278" marB="34278"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28575"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1" lang="en-US" altLang="zh-CN" sz="1200" b="1" i="0" u="none" strike="noStrike" cap="none" normalizeH="0" baseline="0" smtClean="0">
                          <a:ln>
                            <a:noFill/>
                          </a:ln>
                          <a:solidFill>
                            <a:schemeClr val="tx1"/>
                          </a:solidFill>
                          <a:effectLst/>
                          <a:latin typeface="华文中宋" pitchFamily="2" charset="-122"/>
                          <a:ea typeface="华文中宋" pitchFamily="2" charset="-122"/>
                        </a:rPr>
                        <a:t>4</a:t>
                      </a:r>
                      <a:endParaRPr kumimoji="1" lang="zh-CN" altLang="en-US" sz="1200" b="1" i="0" u="none" strike="noStrike" cap="none" normalizeH="0" baseline="0" smtClean="0">
                        <a:ln>
                          <a:noFill/>
                        </a:ln>
                        <a:solidFill>
                          <a:schemeClr val="tx1"/>
                        </a:solidFill>
                        <a:effectLst/>
                        <a:latin typeface="华文中宋" pitchFamily="2" charset="-122"/>
                        <a:ea typeface="华文中宋" pitchFamily="2" charset="-122"/>
                        <a:cs typeface="Times New Roman" pitchFamily="18" charset="0"/>
                      </a:endParaRPr>
                    </a:p>
                  </a:txBody>
                  <a:tcPr marL="91432" marR="91432" marT="34278" marB="34278"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28575"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EBF1DE"/>
                    </a:solid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1" lang="zh-CN" altLang="en-US" sz="1200" b="1" i="0" u="none" strike="noStrike" cap="none" normalizeH="0" baseline="0" smtClean="0">
                          <a:ln>
                            <a:noFill/>
                          </a:ln>
                          <a:solidFill>
                            <a:schemeClr val="tx1"/>
                          </a:solidFill>
                          <a:effectLst/>
                          <a:latin typeface="华文中宋" pitchFamily="2" charset="-122"/>
                          <a:ea typeface="华文中宋" pitchFamily="2" charset="-122"/>
                        </a:rPr>
                        <a:t>０</a:t>
                      </a:r>
                      <a:endParaRPr kumimoji="1" lang="zh-CN" altLang="en-US" sz="1200" b="1" i="0" u="none" strike="noStrike" cap="none" normalizeH="0" baseline="0" smtClean="0">
                        <a:ln>
                          <a:noFill/>
                        </a:ln>
                        <a:solidFill>
                          <a:schemeClr val="tx1"/>
                        </a:solidFill>
                        <a:effectLst/>
                        <a:latin typeface="华文中宋" pitchFamily="2" charset="-122"/>
                        <a:ea typeface="华文中宋" pitchFamily="2" charset="-122"/>
                        <a:cs typeface="Times New Roman" pitchFamily="18" charset="0"/>
                      </a:endParaRPr>
                    </a:p>
                  </a:txBody>
                  <a:tcPr marL="91432" marR="91432" marT="34278" marB="34278"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28575"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EBF1DE"/>
                    </a:solid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1" lang="en-US" altLang="zh-CN" sz="1200" b="1" i="1" u="none" strike="noStrike" cap="none" normalizeH="0" baseline="0" smtClean="0">
                          <a:ln>
                            <a:noFill/>
                          </a:ln>
                          <a:solidFill>
                            <a:schemeClr val="tx1"/>
                          </a:solidFill>
                          <a:effectLst/>
                          <a:latin typeface="华文中宋" pitchFamily="2" charset="-122"/>
                          <a:ea typeface="华文中宋" pitchFamily="2" charset="-122"/>
                        </a:rPr>
                        <a:t>abcd</a:t>
                      </a:r>
                      <a:endParaRPr kumimoji="1" lang="en-US" altLang="zh-CN" sz="1200" b="1" i="1" u="none" strike="noStrike" cap="none" normalizeH="0" baseline="0" smtClean="0">
                        <a:ln>
                          <a:noFill/>
                        </a:ln>
                        <a:solidFill>
                          <a:schemeClr val="tx1"/>
                        </a:solidFill>
                        <a:effectLst/>
                        <a:latin typeface="华文中宋" pitchFamily="2" charset="-122"/>
                        <a:ea typeface="华文中宋" pitchFamily="2" charset="-122"/>
                        <a:cs typeface="Times New Roman" pitchFamily="18" charset="0"/>
                      </a:endParaRPr>
                    </a:p>
                  </a:txBody>
                  <a:tcPr marL="91432" marR="91432" marT="34278" marB="34278"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28575"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EBF1DE"/>
                    </a:solid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1" lang="en-US" altLang="zh-CN" sz="1200" b="1" i="1" u="none" strike="noStrike" cap="none" normalizeH="0" baseline="0" smtClean="0">
                          <a:ln>
                            <a:noFill/>
                          </a:ln>
                          <a:solidFill>
                            <a:schemeClr val="tx1"/>
                          </a:solidFill>
                          <a:effectLst/>
                          <a:latin typeface="华文中宋" pitchFamily="2" charset="-122"/>
                          <a:ea typeface="华文中宋" pitchFamily="2" charset="-122"/>
                        </a:rPr>
                        <a:t>0</a:t>
                      </a:r>
                      <a:endParaRPr kumimoji="1" lang="en-US" altLang="zh-CN" sz="1200" b="1" i="1" u="none" strike="noStrike" cap="none" normalizeH="0" baseline="0" smtClean="0">
                        <a:ln>
                          <a:noFill/>
                        </a:ln>
                        <a:solidFill>
                          <a:schemeClr val="tx1"/>
                        </a:solidFill>
                        <a:effectLst/>
                        <a:latin typeface="华文中宋" pitchFamily="2" charset="-122"/>
                        <a:ea typeface="华文中宋" pitchFamily="2" charset="-122"/>
                        <a:cs typeface="Times New Roman" pitchFamily="18" charset="0"/>
                      </a:endParaRPr>
                    </a:p>
                  </a:txBody>
                  <a:tcPr marL="91432" marR="91432" marT="34278" marB="34278"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28575"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EBF1DE"/>
                    </a:solid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1" lang="zh-CN" altLang="en-US" sz="1200" b="1" i="0" u="none" strike="noStrike" cap="none" normalizeH="0" baseline="0" smtClean="0">
                          <a:ln>
                            <a:noFill/>
                          </a:ln>
                          <a:solidFill>
                            <a:schemeClr val="tx1"/>
                          </a:solidFill>
                          <a:effectLst/>
                          <a:latin typeface="华文中宋" pitchFamily="2" charset="-122"/>
                          <a:ea typeface="华文中宋" pitchFamily="2" charset="-122"/>
                        </a:rPr>
                        <a:t>１</a:t>
                      </a:r>
                      <a:endParaRPr kumimoji="1" lang="zh-CN" altLang="en-US" sz="1200" b="1" i="0" u="none" strike="noStrike" cap="none" normalizeH="0" baseline="0" smtClean="0">
                        <a:ln>
                          <a:noFill/>
                        </a:ln>
                        <a:solidFill>
                          <a:schemeClr val="tx1"/>
                        </a:solidFill>
                        <a:effectLst/>
                        <a:latin typeface="华文中宋" pitchFamily="2" charset="-122"/>
                        <a:ea typeface="华文中宋" pitchFamily="2" charset="-122"/>
                        <a:cs typeface="Times New Roman" pitchFamily="18" charset="0"/>
                      </a:endParaRPr>
                    </a:p>
                  </a:txBody>
                  <a:tcPr marL="91432" marR="91432" marT="34278" marB="34278"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28575"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EBF1DE"/>
                    </a:solid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1" lang="en-US" altLang="zh-CN" sz="1200" b="1" i="0" u="none" strike="noStrike" cap="none" normalizeH="0" baseline="0" smtClean="0">
                          <a:ln>
                            <a:noFill/>
                          </a:ln>
                          <a:solidFill>
                            <a:schemeClr val="tx1"/>
                          </a:solidFill>
                          <a:effectLst/>
                          <a:latin typeface="华文中宋" pitchFamily="2" charset="-122"/>
                          <a:ea typeface="华文中宋" pitchFamily="2" charset="-122"/>
                        </a:rPr>
                        <a:t> 1/16   </a:t>
                      </a:r>
                      <a:endParaRPr kumimoji="1" lang="en-US" altLang="zh-CN" sz="1200" b="1" i="0" u="none" strike="noStrike" cap="none" normalizeH="0" baseline="0" smtClean="0">
                        <a:ln>
                          <a:noFill/>
                        </a:ln>
                        <a:solidFill>
                          <a:schemeClr val="tx1"/>
                        </a:solidFill>
                        <a:effectLst/>
                        <a:latin typeface="华文中宋" pitchFamily="2" charset="-122"/>
                        <a:ea typeface="华文中宋" pitchFamily="2" charset="-122"/>
                        <a:cs typeface="Times New Roman" pitchFamily="18" charset="0"/>
                      </a:endParaRPr>
                    </a:p>
                  </a:txBody>
                  <a:tcPr marL="91432" marR="91432" marT="34278" marB="34278"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28575"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EBF1DE"/>
                    </a:solidFill>
                  </a:tcPr>
                </a:tc>
              </a:tr>
              <a:tr h="175256">
                <a:tc rowSpan="4">
                  <a:txBody>
                    <a:bodyPr/>
                    <a:lstStyle/>
                    <a:p>
                      <a:pPr marL="0" marR="0" lvl="0" indent="0" algn="ctr" defTabSz="914400" rtl="0" eaLnBrk="1" fontAlgn="base" latinLnBrk="0" hangingPunct="1">
                        <a:lnSpc>
                          <a:spcPct val="90000"/>
                        </a:lnSpc>
                        <a:spcBef>
                          <a:spcPct val="0"/>
                        </a:spcBef>
                        <a:spcAft>
                          <a:spcPct val="0"/>
                        </a:spcAft>
                        <a:buClrTx/>
                        <a:buSzTx/>
                        <a:buFontTx/>
                        <a:buNone/>
                        <a:tabLst/>
                      </a:pPr>
                      <a:endParaRPr kumimoji="1" lang="en-US" altLang="zh-CN" sz="1200" b="1" i="0" u="none" strike="noStrike" cap="none" normalizeH="0" baseline="0" smtClean="0">
                        <a:ln>
                          <a:noFill/>
                        </a:ln>
                        <a:solidFill>
                          <a:schemeClr val="tx1"/>
                        </a:solidFill>
                        <a:effectLst/>
                        <a:latin typeface="华文中宋" pitchFamily="2" charset="-122"/>
                        <a:ea typeface="华文中宋" pitchFamily="2" charset="-122"/>
                      </a:endParaRPr>
                    </a:p>
                    <a:p>
                      <a:pPr marL="0" marR="0" lvl="0" indent="0" algn="ctr" defTabSz="914400" rtl="0" eaLnBrk="1" fontAlgn="base" latinLnBrk="0" hangingPunct="1">
                        <a:lnSpc>
                          <a:spcPct val="90000"/>
                        </a:lnSpc>
                        <a:spcBef>
                          <a:spcPct val="0"/>
                        </a:spcBef>
                        <a:spcAft>
                          <a:spcPct val="0"/>
                        </a:spcAft>
                        <a:buClrTx/>
                        <a:buSzTx/>
                        <a:buFontTx/>
                        <a:buNone/>
                        <a:tabLst/>
                      </a:pPr>
                      <a:endParaRPr kumimoji="1" lang="en-US" altLang="zh-CN" sz="1200" b="1" i="0" u="none" strike="noStrike" cap="none" normalizeH="0" baseline="0" smtClean="0">
                        <a:ln>
                          <a:noFill/>
                        </a:ln>
                        <a:solidFill>
                          <a:schemeClr val="tx1"/>
                        </a:solidFill>
                        <a:effectLst/>
                        <a:latin typeface="华文中宋" pitchFamily="2" charset="-122"/>
                        <a:ea typeface="华文中宋" pitchFamily="2" charset="-122"/>
                      </a:endParaRPr>
                    </a:p>
                    <a:p>
                      <a:pPr marL="0" marR="0" lvl="0" indent="0" algn="ctr" defTabSz="914400" rtl="0" eaLnBrk="1" fontAlgn="base" latinLnBrk="0" hangingPunct="1">
                        <a:lnSpc>
                          <a:spcPct val="90000"/>
                        </a:lnSpc>
                        <a:spcBef>
                          <a:spcPct val="0"/>
                        </a:spcBef>
                        <a:spcAft>
                          <a:spcPct val="0"/>
                        </a:spcAft>
                        <a:buClrTx/>
                        <a:buSzTx/>
                        <a:buFontTx/>
                        <a:buNone/>
                        <a:tabLst/>
                      </a:pPr>
                      <a:r>
                        <a:rPr kumimoji="1" lang="zh-CN" altLang="en-US" sz="1200" b="1" i="0" u="none" strike="noStrike" cap="none" normalizeH="0" baseline="0" smtClean="0">
                          <a:ln>
                            <a:noFill/>
                          </a:ln>
                          <a:solidFill>
                            <a:schemeClr val="tx1"/>
                          </a:solidFill>
                          <a:effectLst/>
                          <a:latin typeface="华文中宋" pitchFamily="2" charset="-122"/>
                          <a:ea typeface="华文中宋" pitchFamily="2" charset="-122"/>
                        </a:rPr>
                        <a:t>２</a:t>
                      </a:r>
                      <a:endParaRPr kumimoji="1" lang="zh-CN" altLang="en-US" sz="1200" b="1" i="0" u="none" strike="noStrike" cap="none" normalizeH="0" baseline="0" smtClean="0">
                        <a:ln>
                          <a:noFill/>
                        </a:ln>
                        <a:solidFill>
                          <a:schemeClr val="tx1"/>
                        </a:solidFill>
                        <a:effectLst/>
                        <a:latin typeface="华文中宋" pitchFamily="2" charset="-122"/>
                        <a:ea typeface="华文中宋" pitchFamily="2" charset="-122"/>
                        <a:cs typeface="Times New Roman" pitchFamily="18" charset="0"/>
                      </a:endParaRPr>
                    </a:p>
                  </a:txBody>
                  <a:tcPr marL="91432" marR="91432" marT="34278" marB="34278"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rowSpan="4">
                  <a:txBody>
                    <a:bodyPr/>
                    <a:lstStyle/>
                    <a:p>
                      <a:pPr marL="0" marR="0" lvl="0" indent="0" algn="ctr" defTabSz="914400" rtl="0" eaLnBrk="1" fontAlgn="base" latinLnBrk="0" hangingPunct="1">
                        <a:lnSpc>
                          <a:spcPct val="90000"/>
                        </a:lnSpc>
                        <a:spcBef>
                          <a:spcPct val="0"/>
                        </a:spcBef>
                        <a:spcAft>
                          <a:spcPct val="0"/>
                        </a:spcAft>
                        <a:buClrTx/>
                        <a:buSzTx/>
                        <a:buFontTx/>
                        <a:buNone/>
                        <a:tabLst/>
                      </a:pPr>
                      <a:endParaRPr kumimoji="1" lang="en-US" altLang="zh-CN" sz="1200" b="1" i="0" u="none" strike="noStrike" cap="none" normalizeH="0" baseline="0" smtClean="0">
                        <a:ln>
                          <a:noFill/>
                        </a:ln>
                        <a:solidFill>
                          <a:schemeClr val="tx1"/>
                        </a:solidFill>
                        <a:effectLst/>
                        <a:latin typeface="华文中宋" pitchFamily="2" charset="-122"/>
                        <a:ea typeface="华文中宋" pitchFamily="2" charset="-122"/>
                      </a:endParaRPr>
                    </a:p>
                    <a:p>
                      <a:pPr marL="0" marR="0" lvl="0" indent="0" algn="ctr" defTabSz="914400" rtl="0" eaLnBrk="1" fontAlgn="base" latinLnBrk="0" hangingPunct="1">
                        <a:lnSpc>
                          <a:spcPct val="90000"/>
                        </a:lnSpc>
                        <a:spcBef>
                          <a:spcPct val="0"/>
                        </a:spcBef>
                        <a:spcAft>
                          <a:spcPct val="0"/>
                        </a:spcAft>
                        <a:buClrTx/>
                        <a:buSzTx/>
                        <a:buFontTx/>
                        <a:buNone/>
                        <a:tabLst/>
                      </a:pPr>
                      <a:endParaRPr kumimoji="1" lang="en-US" altLang="zh-CN" sz="1200" b="1" i="0" u="none" strike="noStrike" cap="none" normalizeH="0" baseline="0" smtClean="0">
                        <a:ln>
                          <a:noFill/>
                        </a:ln>
                        <a:solidFill>
                          <a:schemeClr val="tx1"/>
                        </a:solidFill>
                        <a:effectLst/>
                        <a:latin typeface="华文中宋" pitchFamily="2" charset="-122"/>
                        <a:ea typeface="华文中宋" pitchFamily="2" charset="-122"/>
                      </a:endParaRPr>
                    </a:p>
                    <a:p>
                      <a:pPr marL="0" marR="0" lvl="0" indent="0" algn="ctr" defTabSz="914400" rtl="0" eaLnBrk="1" fontAlgn="base" latinLnBrk="0" hangingPunct="1">
                        <a:lnSpc>
                          <a:spcPct val="90000"/>
                        </a:lnSpc>
                        <a:spcBef>
                          <a:spcPct val="0"/>
                        </a:spcBef>
                        <a:spcAft>
                          <a:spcPct val="0"/>
                        </a:spcAft>
                        <a:buClrTx/>
                        <a:buSzTx/>
                        <a:buFontTx/>
                        <a:buNone/>
                        <a:tabLst/>
                      </a:pPr>
                      <a:r>
                        <a:rPr kumimoji="1" lang="zh-CN" altLang="en-US" sz="1200" b="1" i="0" u="none" strike="noStrike" cap="none" normalizeH="0" baseline="0" smtClean="0">
                          <a:ln>
                            <a:noFill/>
                          </a:ln>
                          <a:solidFill>
                            <a:schemeClr val="tx1"/>
                          </a:solidFill>
                          <a:effectLst/>
                          <a:latin typeface="华文中宋" pitchFamily="2" charset="-122"/>
                          <a:ea typeface="华文中宋" pitchFamily="2" charset="-122"/>
                        </a:rPr>
                        <a:t>３</a:t>
                      </a:r>
                      <a:endParaRPr kumimoji="1" lang="zh-CN" altLang="en-US" sz="1200" b="1" i="0" u="none" strike="noStrike" cap="none" normalizeH="0" baseline="0" smtClean="0">
                        <a:ln>
                          <a:noFill/>
                        </a:ln>
                        <a:solidFill>
                          <a:schemeClr val="tx1"/>
                        </a:solidFill>
                        <a:effectLst/>
                        <a:latin typeface="华文中宋" pitchFamily="2" charset="-122"/>
                        <a:ea typeface="华文中宋" pitchFamily="2" charset="-122"/>
                        <a:cs typeface="Times New Roman" pitchFamily="18" charset="0"/>
                      </a:endParaRPr>
                    </a:p>
                  </a:txBody>
                  <a:tcPr marL="91432" marR="91432" marT="34278" marB="34278"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rowSpan="4">
                  <a:txBody>
                    <a:bodyPr/>
                    <a:lstStyle/>
                    <a:p>
                      <a:pPr marL="0" marR="0" lvl="0" indent="0" algn="ctr" defTabSz="914400" rtl="0" eaLnBrk="1" fontAlgn="base" latinLnBrk="0" hangingPunct="1">
                        <a:lnSpc>
                          <a:spcPct val="90000"/>
                        </a:lnSpc>
                        <a:spcBef>
                          <a:spcPct val="0"/>
                        </a:spcBef>
                        <a:spcAft>
                          <a:spcPct val="0"/>
                        </a:spcAft>
                        <a:buClrTx/>
                        <a:buSzTx/>
                        <a:buFontTx/>
                        <a:buNone/>
                        <a:tabLst/>
                      </a:pPr>
                      <a:endParaRPr kumimoji="1" lang="en-US" altLang="zh-CN" sz="1200" b="1" i="0" u="none" strike="noStrike" cap="none" normalizeH="0" baseline="0" smtClean="0">
                        <a:ln>
                          <a:noFill/>
                        </a:ln>
                        <a:solidFill>
                          <a:schemeClr val="tx1"/>
                        </a:solidFill>
                        <a:effectLst/>
                        <a:latin typeface="华文中宋" pitchFamily="2" charset="-122"/>
                        <a:ea typeface="华文中宋" pitchFamily="2" charset="-122"/>
                      </a:endParaRPr>
                    </a:p>
                    <a:p>
                      <a:pPr marL="0" marR="0" lvl="0" indent="0" algn="ctr" defTabSz="914400" rtl="0" eaLnBrk="1" fontAlgn="base" latinLnBrk="0" hangingPunct="1">
                        <a:lnSpc>
                          <a:spcPct val="90000"/>
                        </a:lnSpc>
                        <a:spcBef>
                          <a:spcPct val="0"/>
                        </a:spcBef>
                        <a:spcAft>
                          <a:spcPct val="0"/>
                        </a:spcAft>
                        <a:buClrTx/>
                        <a:buSzTx/>
                        <a:buFontTx/>
                        <a:buNone/>
                        <a:tabLst/>
                      </a:pPr>
                      <a:endParaRPr kumimoji="1" lang="en-US" altLang="zh-CN" sz="1200" b="1" i="0" u="none" strike="noStrike" cap="none" normalizeH="0" baseline="0" smtClean="0">
                        <a:ln>
                          <a:noFill/>
                        </a:ln>
                        <a:solidFill>
                          <a:schemeClr val="tx1"/>
                        </a:solidFill>
                        <a:effectLst/>
                        <a:latin typeface="华文中宋" pitchFamily="2" charset="-122"/>
                        <a:ea typeface="华文中宋" pitchFamily="2" charset="-122"/>
                      </a:endParaRPr>
                    </a:p>
                    <a:p>
                      <a:pPr marL="0" marR="0" lvl="0" indent="0" algn="ctr" defTabSz="914400" rtl="0" eaLnBrk="1" fontAlgn="base" latinLnBrk="0" hangingPunct="1">
                        <a:lnSpc>
                          <a:spcPct val="90000"/>
                        </a:lnSpc>
                        <a:spcBef>
                          <a:spcPct val="0"/>
                        </a:spcBef>
                        <a:spcAft>
                          <a:spcPct val="0"/>
                        </a:spcAft>
                        <a:buClrTx/>
                        <a:buSzTx/>
                        <a:buFontTx/>
                        <a:buNone/>
                        <a:tabLst/>
                      </a:pPr>
                      <a:r>
                        <a:rPr kumimoji="1" lang="zh-CN" altLang="en-US" sz="1200" b="1" i="0" u="none" strike="noStrike" cap="none" normalizeH="0" baseline="0" smtClean="0">
                          <a:ln>
                            <a:noFill/>
                          </a:ln>
                          <a:solidFill>
                            <a:schemeClr val="tx1"/>
                          </a:solidFill>
                          <a:effectLst/>
                          <a:latin typeface="华文中宋" pitchFamily="2" charset="-122"/>
                          <a:ea typeface="华文中宋" pitchFamily="2" charset="-122"/>
                        </a:rPr>
                        <a:t>１</a:t>
                      </a:r>
                      <a:endParaRPr kumimoji="1" lang="zh-CN" altLang="en-US" sz="1200" b="1" i="0" u="none" strike="noStrike" cap="none" normalizeH="0" baseline="0" smtClean="0">
                        <a:ln>
                          <a:noFill/>
                        </a:ln>
                        <a:solidFill>
                          <a:schemeClr val="tx1"/>
                        </a:solidFill>
                        <a:effectLst/>
                        <a:latin typeface="华文中宋" pitchFamily="2" charset="-122"/>
                        <a:ea typeface="华文中宋" pitchFamily="2" charset="-122"/>
                        <a:cs typeface="Times New Roman" pitchFamily="18" charset="0"/>
                      </a:endParaRPr>
                    </a:p>
                  </a:txBody>
                  <a:tcPr marL="91432" marR="91432" marT="34278" marB="34278"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1" lang="en-US" altLang="zh-CN" sz="1200" b="1" i="1" u="none" strike="noStrike" cap="none" normalizeH="0" baseline="0" smtClean="0">
                          <a:ln>
                            <a:noFill/>
                          </a:ln>
                          <a:solidFill>
                            <a:schemeClr val="tx1"/>
                          </a:solidFill>
                          <a:effectLst/>
                          <a:latin typeface="华文中宋" pitchFamily="2" charset="-122"/>
                          <a:ea typeface="华文中宋" pitchFamily="2" charset="-122"/>
                        </a:rPr>
                        <a:t>bcd</a:t>
                      </a:r>
                      <a:endParaRPr kumimoji="1" lang="en-US" altLang="zh-CN" sz="1200" b="1" i="1" u="none" strike="noStrike" cap="none" normalizeH="0" baseline="0" smtClean="0">
                        <a:ln>
                          <a:noFill/>
                        </a:ln>
                        <a:solidFill>
                          <a:schemeClr val="tx1"/>
                        </a:solidFill>
                        <a:effectLst/>
                        <a:latin typeface="华文中宋" pitchFamily="2" charset="-122"/>
                        <a:ea typeface="华文中宋" pitchFamily="2" charset="-122"/>
                        <a:cs typeface="Times New Roman" pitchFamily="18" charset="0"/>
                      </a:endParaRPr>
                    </a:p>
                  </a:txBody>
                  <a:tcPr marL="91432" marR="91432" marT="34278" marB="34278"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1" lang="en-US" altLang="zh-CN" sz="1200" b="1" i="1" u="none" strike="noStrike" cap="none" normalizeH="0" baseline="0" smtClean="0">
                          <a:ln>
                            <a:noFill/>
                          </a:ln>
                          <a:solidFill>
                            <a:schemeClr val="tx1"/>
                          </a:solidFill>
                          <a:effectLst/>
                          <a:latin typeface="华文中宋" pitchFamily="2" charset="-122"/>
                          <a:ea typeface="华文中宋" pitchFamily="2" charset="-122"/>
                        </a:rPr>
                        <a:t>a</a:t>
                      </a:r>
                      <a:endParaRPr kumimoji="1" lang="en-US" altLang="zh-CN" sz="1200" b="1" i="1" u="none" strike="noStrike" cap="none" normalizeH="0" baseline="0" smtClean="0">
                        <a:ln>
                          <a:noFill/>
                        </a:ln>
                        <a:solidFill>
                          <a:schemeClr val="tx1"/>
                        </a:solidFill>
                        <a:effectLst/>
                        <a:latin typeface="华文中宋" pitchFamily="2" charset="-122"/>
                        <a:ea typeface="华文中宋" pitchFamily="2" charset="-122"/>
                        <a:cs typeface="Times New Roman" pitchFamily="18" charset="0"/>
                      </a:endParaRPr>
                    </a:p>
                  </a:txBody>
                  <a:tcPr marL="91432" marR="91432" marT="34278" marB="34278"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rowSpan="4">
                  <a:txBody>
                    <a:bodyPr/>
                    <a:lstStyle/>
                    <a:p>
                      <a:pPr marL="0" marR="0" lvl="0" indent="0" algn="ctr" defTabSz="914400" rtl="0" eaLnBrk="1" fontAlgn="base" latinLnBrk="0" hangingPunct="1">
                        <a:lnSpc>
                          <a:spcPct val="90000"/>
                        </a:lnSpc>
                        <a:spcBef>
                          <a:spcPct val="0"/>
                        </a:spcBef>
                        <a:spcAft>
                          <a:spcPct val="0"/>
                        </a:spcAft>
                        <a:buClrTx/>
                        <a:buSzTx/>
                        <a:buFontTx/>
                        <a:buNone/>
                        <a:tabLst/>
                      </a:pPr>
                      <a:endParaRPr kumimoji="1" lang="en-US" altLang="zh-CN" sz="1200" b="1" i="0" u="none" strike="noStrike" cap="none" normalizeH="0" baseline="0" smtClean="0">
                        <a:ln>
                          <a:noFill/>
                        </a:ln>
                        <a:solidFill>
                          <a:schemeClr val="tx1"/>
                        </a:solidFill>
                        <a:effectLst/>
                        <a:latin typeface="华文中宋" pitchFamily="2" charset="-122"/>
                        <a:ea typeface="华文中宋" pitchFamily="2" charset="-122"/>
                      </a:endParaRPr>
                    </a:p>
                    <a:p>
                      <a:pPr marL="0" marR="0" lvl="0" indent="0" algn="ctr" defTabSz="914400" rtl="0" eaLnBrk="1" fontAlgn="base" latinLnBrk="0" hangingPunct="1">
                        <a:lnSpc>
                          <a:spcPct val="90000"/>
                        </a:lnSpc>
                        <a:spcBef>
                          <a:spcPct val="0"/>
                        </a:spcBef>
                        <a:spcAft>
                          <a:spcPct val="0"/>
                        </a:spcAft>
                        <a:buClrTx/>
                        <a:buSzTx/>
                        <a:buFontTx/>
                        <a:buNone/>
                        <a:tabLst/>
                      </a:pPr>
                      <a:r>
                        <a:rPr kumimoji="1" lang="zh-CN" altLang="en-US" sz="1200" b="1" i="0" u="none" strike="noStrike" cap="none" normalizeH="0" baseline="0" smtClean="0">
                          <a:ln>
                            <a:noFill/>
                          </a:ln>
                          <a:solidFill>
                            <a:schemeClr val="tx1"/>
                          </a:solidFill>
                          <a:effectLst/>
                          <a:latin typeface="华文中宋" pitchFamily="2" charset="-122"/>
                          <a:ea typeface="华文中宋" pitchFamily="2" charset="-122"/>
                        </a:rPr>
                        <a:t>４</a:t>
                      </a:r>
                      <a:endParaRPr kumimoji="1" lang="zh-CN" altLang="en-US" sz="1200" b="1" i="0" u="none" strike="noStrike" cap="none" normalizeH="0" baseline="0" smtClean="0">
                        <a:ln>
                          <a:noFill/>
                        </a:ln>
                        <a:solidFill>
                          <a:schemeClr val="tx1"/>
                        </a:solidFill>
                        <a:effectLst/>
                        <a:latin typeface="华文中宋" pitchFamily="2" charset="-122"/>
                        <a:ea typeface="华文中宋" pitchFamily="2" charset="-122"/>
                        <a:cs typeface="Times New Roman" pitchFamily="18" charset="0"/>
                      </a:endParaRPr>
                    </a:p>
                  </a:txBody>
                  <a:tcPr marL="91432" marR="91432" marT="34278" marB="34278"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rowSpan="4">
                  <a:txBody>
                    <a:bodyPr/>
                    <a:lstStyle/>
                    <a:p>
                      <a:pPr marL="0" marR="0" lvl="0" indent="0" algn="ctr" defTabSz="914400" rtl="0" eaLnBrk="1" fontAlgn="base" latinLnBrk="0" hangingPunct="1">
                        <a:lnSpc>
                          <a:spcPct val="90000"/>
                        </a:lnSpc>
                        <a:spcBef>
                          <a:spcPct val="0"/>
                        </a:spcBef>
                        <a:spcAft>
                          <a:spcPct val="0"/>
                        </a:spcAft>
                        <a:buClrTx/>
                        <a:buSzTx/>
                        <a:buFontTx/>
                        <a:buNone/>
                        <a:tabLst/>
                      </a:pPr>
                      <a:endParaRPr kumimoji="1" lang="en-US" altLang="zh-CN" sz="1200" b="1" i="0" u="none" strike="noStrike" cap="none" normalizeH="0" baseline="0" smtClean="0">
                        <a:ln>
                          <a:noFill/>
                        </a:ln>
                        <a:solidFill>
                          <a:schemeClr val="tx1"/>
                        </a:solidFill>
                        <a:effectLst/>
                        <a:latin typeface="华文中宋" pitchFamily="2" charset="-122"/>
                        <a:ea typeface="华文中宋" pitchFamily="2" charset="-122"/>
                      </a:endParaRPr>
                    </a:p>
                    <a:p>
                      <a:pPr marL="0" marR="0" lvl="0" indent="0" algn="ctr" defTabSz="914400" rtl="0" eaLnBrk="1" fontAlgn="base" latinLnBrk="0" hangingPunct="1">
                        <a:lnSpc>
                          <a:spcPct val="90000"/>
                        </a:lnSpc>
                        <a:spcBef>
                          <a:spcPct val="0"/>
                        </a:spcBef>
                        <a:spcAft>
                          <a:spcPct val="0"/>
                        </a:spcAft>
                        <a:buClrTx/>
                        <a:buSzTx/>
                        <a:buFontTx/>
                        <a:buNone/>
                        <a:tabLst/>
                      </a:pPr>
                      <a:r>
                        <a:rPr kumimoji="1" lang="en-US" altLang="zh-CN" sz="1200" b="1" i="0" u="none" strike="noStrike" cap="none" normalizeH="0" baseline="0" smtClean="0">
                          <a:ln>
                            <a:noFill/>
                          </a:ln>
                          <a:solidFill>
                            <a:schemeClr val="tx1"/>
                          </a:solidFill>
                          <a:effectLst/>
                          <a:latin typeface="华文中宋" pitchFamily="2" charset="-122"/>
                          <a:ea typeface="华文中宋" pitchFamily="2" charset="-122"/>
                        </a:rPr>
                        <a:t>4/16</a:t>
                      </a:r>
                    </a:p>
                    <a:p>
                      <a:pPr marL="0" marR="0" lvl="0" indent="0" algn="ctr" defTabSz="914400" rtl="0" eaLnBrk="1" fontAlgn="base" latinLnBrk="0" hangingPunct="1">
                        <a:lnSpc>
                          <a:spcPct val="90000"/>
                        </a:lnSpc>
                        <a:spcBef>
                          <a:spcPct val="0"/>
                        </a:spcBef>
                        <a:spcAft>
                          <a:spcPct val="0"/>
                        </a:spcAft>
                        <a:buClrTx/>
                        <a:buSzTx/>
                        <a:buFontTx/>
                        <a:buNone/>
                        <a:tabLst/>
                      </a:pPr>
                      <a:r>
                        <a:rPr kumimoji="1" lang="en-US" altLang="zh-CN" sz="1200" b="1" i="0" u="none" strike="noStrike" cap="none" normalizeH="0" baseline="0" smtClean="0">
                          <a:ln>
                            <a:noFill/>
                          </a:ln>
                          <a:solidFill>
                            <a:schemeClr val="tx1"/>
                          </a:solidFill>
                          <a:effectLst/>
                          <a:latin typeface="华文中宋" pitchFamily="2" charset="-122"/>
                          <a:ea typeface="华文中宋" pitchFamily="2" charset="-122"/>
                        </a:rPr>
                        <a:t>    </a:t>
                      </a:r>
                      <a:endParaRPr kumimoji="1" lang="en-US" altLang="zh-CN" sz="1200" b="1" i="0" u="none" strike="noStrike" cap="none" normalizeH="0" baseline="0" smtClean="0">
                        <a:ln>
                          <a:noFill/>
                        </a:ln>
                        <a:solidFill>
                          <a:schemeClr val="tx1"/>
                        </a:solidFill>
                        <a:effectLst/>
                        <a:latin typeface="华文中宋" pitchFamily="2" charset="-122"/>
                        <a:ea typeface="华文中宋" pitchFamily="2" charset="-122"/>
                        <a:cs typeface="Times New Roman" pitchFamily="18" charset="0"/>
                      </a:endParaRPr>
                    </a:p>
                  </a:txBody>
                  <a:tcPr marL="91432" marR="91432" marT="34278" marB="34278"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r>
              <a:tr h="175256">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1" lang="en-US" altLang="zh-CN" sz="1200" b="1" i="1" u="none" strike="noStrike" cap="none" normalizeH="0" baseline="0" smtClean="0">
                          <a:ln>
                            <a:noFill/>
                          </a:ln>
                          <a:solidFill>
                            <a:schemeClr val="tx1"/>
                          </a:solidFill>
                          <a:effectLst/>
                          <a:latin typeface="华文中宋" pitchFamily="2" charset="-122"/>
                          <a:ea typeface="华文中宋" pitchFamily="2" charset="-122"/>
                        </a:rPr>
                        <a:t>acd</a:t>
                      </a:r>
                      <a:endParaRPr kumimoji="1" lang="en-US" altLang="zh-CN" sz="1200" b="1" i="1" u="none" strike="noStrike" cap="none" normalizeH="0" baseline="0" smtClean="0">
                        <a:ln>
                          <a:noFill/>
                        </a:ln>
                        <a:solidFill>
                          <a:schemeClr val="tx1"/>
                        </a:solidFill>
                        <a:effectLst/>
                        <a:latin typeface="华文中宋" pitchFamily="2" charset="-122"/>
                        <a:ea typeface="华文中宋" pitchFamily="2" charset="-122"/>
                        <a:cs typeface="Times New Roman" pitchFamily="18" charset="0"/>
                      </a:endParaRPr>
                    </a:p>
                  </a:txBody>
                  <a:tcPr marL="91432" marR="91432" marT="34278" marB="34278"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1" lang="en-US" altLang="zh-CN" sz="1200" b="1" i="1" u="none" strike="noStrike" cap="none" normalizeH="0" baseline="0" smtClean="0">
                          <a:ln>
                            <a:noFill/>
                          </a:ln>
                          <a:solidFill>
                            <a:schemeClr val="tx1"/>
                          </a:solidFill>
                          <a:effectLst/>
                          <a:latin typeface="华文中宋" pitchFamily="2" charset="-122"/>
                          <a:ea typeface="华文中宋" pitchFamily="2" charset="-122"/>
                        </a:rPr>
                        <a:t>b</a:t>
                      </a:r>
                      <a:endParaRPr kumimoji="1" lang="en-US" altLang="zh-CN" sz="1200" b="1" i="1" u="none" strike="noStrike" cap="none" normalizeH="0" baseline="0" smtClean="0">
                        <a:ln>
                          <a:noFill/>
                        </a:ln>
                        <a:solidFill>
                          <a:schemeClr val="tx1"/>
                        </a:solidFill>
                        <a:effectLst/>
                        <a:latin typeface="华文中宋" pitchFamily="2" charset="-122"/>
                        <a:ea typeface="华文中宋" pitchFamily="2" charset="-122"/>
                        <a:cs typeface="Times New Roman" pitchFamily="18" charset="0"/>
                      </a:endParaRPr>
                    </a:p>
                  </a:txBody>
                  <a:tcPr marL="91432" marR="91432" marT="34278" marB="34278"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vMerge="1">
                  <a:txBody>
                    <a:bodyPr/>
                    <a:lstStyle/>
                    <a:p>
                      <a:endParaRPr lang="zh-CN" altLang="en-US"/>
                    </a:p>
                  </a:txBody>
                  <a:tcPr/>
                </a:tc>
                <a:tc vMerge="1">
                  <a:txBody>
                    <a:bodyPr/>
                    <a:lstStyle/>
                    <a:p>
                      <a:endParaRPr lang="zh-CN" altLang="en-US"/>
                    </a:p>
                  </a:txBody>
                  <a:tcPr/>
                </a:tc>
              </a:tr>
              <a:tr h="175256">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1" lang="en-US" altLang="zh-CN" sz="1200" b="1" i="1" u="none" strike="noStrike" cap="none" normalizeH="0" baseline="0" smtClean="0">
                          <a:ln>
                            <a:noFill/>
                          </a:ln>
                          <a:solidFill>
                            <a:schemeClr val="tx1"/>
                          </a:solidFill>
                          <a:effectLst/>
                          <a:latin typeface="华文中宋" pitchFamily="2" charset="-122"/>
                          <a:ea typeface="华文中宋" pitchFamily="2" charset="-122"/>
                        </a:rPr>
                        <a:t>abd</a:t>
                      </a:r>
                      <a:endParaRPr kumimoji="1" lang="en-US" altLang="zh-CN" sz="1200" b="1" i="1" u="none" strike="noStrike" cap="none" normalizeH="0" baseline="0" smtClean="0">
                        <a:ln>
                          <a:noFill/>
                        </a:ln>
                        <a:solidFill>
                          <a:schemeClr val="tx1"/>
                        </a:solidFill>
                        <a:effectLst/>
                        <a:latin typeface="华文中宋" pitchFamily="2" charset="-122"/>
                        <a:ea typeface="华文中宋" pitchFamily="2" charset="-122"/>
                        <a:cs typeface="Times New Roman" pitchFamily="18" charset="0"/>
                      </a:endParaRPr>
                    </a:p>
                  </a:txBody>
                  <a:tcPr marL="91432" marR="91432" marT="34278" marB="34278"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1" lang="en-US" altLang="zh-CN" sz="1200" b="1" i="1" u="none" strike="noStrike" cap="none" normalizeH="0" baseline="0" smtClean="0">
                          <a:ln>
                            <a:noFill/>
                          </a:ln>
                          <a:solidFill>
                            <a:schemeClr val="tx1"/>
                          </a:solidFill>
                          <a:effectLst/>
                          <a:latin typeface="华文中宋" pitchFamily="2" charset="-122"/>
                          <a:ea typeface="华文中宋" pitchFamily="2" charset="-122"/>
                        </a:rPr>
                        <a:t>c</a:t>
                      </a:r>
                      <a:endParaRPr kumimoji="1" lang="en-US" altLang="zh-CN" sz="1200" b="1" i="1" u="none" strike="noStrike" cap="none" normalizeH="0" baseline="0" smtClean="0">
                        <a:ln>
                          <a:noFill/>
                        </a:ln>
                        <a:solidFill>
                          <a:schemeClr val="tx1"/>
                        </a:solidFill>
                        <a:effectLst/>
                        <a:latin typeface="华文中宋" pitchFamily="2" charset="-122"/>
                        <a:ea typeface="华文中宋" pitchFamily="2" charset="-122"/>
                        <a:cs typeface="Times New Roman" pitchFamily="18" charset="0"/>
                      </a:endParaRPr>
                    </a:p>
                  </a:txBody>
                  <a:tcPr marL="91432" marR="91432" marT="34278" marB="34278"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vMerge="1">
                  <a:txBody>
                    <a:bodyPr/>
                    <a:lstStyle/>
                    <a:p>
                      <a:endParaRPr lang="zh-CN" altLang="en-US"/>
                    </a:p>
                  </a:txBody>
                  <a:tcPr/>
                </a:tc>
                <a:tc vMerge="1">
                  <a:txBody>
                    <a:bodyPr/>
                    <a:lstStyle/>
                    <a:p>
                      <a:endParaRPr lang="zh-CN" altLang="en-US"/>
                    </a:p>
                  </a:txBody>
                  <a:tcPr/>
                </a:tc>
              </a:tr>
              <a:tr h="175256">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1" lang="en-US" altLang="zh-CN" sz="1200" b="1" i="1" u="none" strike="noStrike" cap="none" normalizeH="0" baseline="0" smtClean="0">
                          <a:ln>
                            <a:noFill/>
                          </a:ln>
                          <a:solidFill>
                            <a:schemeClr val="tx1"/>
                          </a:solidFill>
                          <a:effectLst/>
                          <a:latin typeface="华文中宋" pitchFamily="2" charset="-122"/>
                          <a:ea typeface="华文中宋" pitchFamily="2" charset="-122"/>
                        </a:rPr>
                        <a:t>abc</a:t>
                      </a:r>
                      <a:endParaRPr kumimoji="1" lang="en-US" altLang="zh-CN" sz="1200" b="1" i="1" u="none" strike="noStrike" cap="none" normalizeH="0" baseline="0" smtClean="0">
                        <a:ln>
                          <a:noFill/>
                        </a:ln>
                        <a:solidFill>
                          <a:schemeClr val="tx1"/>
                        </a:solidFill>
                        <a:effectLst/>
                        <a:latin typeface="华文中宋" pitchFamily="2" charset="-122"/>
                        <a:ea typeface="华文中宋" pitchFamily="2" charset="-122"/>
                        <a:cs typeface="Times New Roman" pitchFamily="18" charset="0"/>
                      </a:endParaRPr>
                    </a:p>
                  </a:txBody>
                  <a:tcPr marL="91432" marR="91432" marT="34278" marB="34278"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1" lang="en-US" altLang="zh-CN" sz="1200" b="1" i="1" u="none" strike="noStrike" cap="none" normalizeH="0" baseline="0" smtClean="0">
                          <a:ln>
                            <a:noFill/>
                          </a:ln>
                          <a:solidFill>
                            <a:schemeClr val="tx1"/>
                          </a:solidFill>
                          <a:effectLst/>
                          <a:latin typeface="华文中宋" pitchFamily="2" charset="-122"/>
                          <a:ea typeface="华文中宋" pitchFamily="2" charset="-122"/>
                        </a:rPr>
                        <a:t>d</a:t>
                      </a:r>
                      <a:endParaRPr kumimoji="1" lang="en-US" altLang="zh-CN" sz="1200" b="1" i="1" u="none" strike="noStrike" cap="none" normalizeH="0" baseline="0" smtClean="0">
                        <a:ln>
                          <a:noFill/>
                        </a:ln>
                        <a:solidFill>
                          <a:schemeClr val="tx1"/>
                        </a:solidFill>
                        <a:effectLst/>
                        <a:latin typeface="华文中宋" pitchFamily="2" charset="-122"/>
                        <a:ea typeface="华文中宋" pitchFamily="2" charset="-122"/>
                        <a:cs typeface="Times New Roman" pitchFamily="18" charset="0"/>
                      </a:endParaRPr>
                    </a:p>
                  </a:txBody>
                  <a:tcPr marL="91432" marR="91432" marT="34278" marB="34278"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vMerge="1">
                  <a:txBody>
                    <a:bodyPr/>
                    <a:lstStyle/>
                    <a:p>
                      <a:endParaRPr lang="zh-CN" altLang="en-US"/>
                    </a:p>
                  </a:txBody>
                  <a:tcPr/>
                </a:tc>
                <a:tc vMerge="1">
                  <a:txBody>
                    <a:bodyPr/>
                    <a:lstStyle/>
                    <a:p>
                      <a:endParaRPr lang="zh-CN" altLang="en-US"/>
                    </a:p>
                  </a:txBody>
                  <a:tcPr/>
                </a:tc>
              </a:tr>
              <a:tr h="175256">
                <a:tc rowSpan="6">
                  <a:txBody>
                    <a:bodyPr/>
                    <a:lstStyle/>
                    <a:p>
                      <a:pPr marL="0" marR="0" lvl="0" indent="0" algn="ctr" defTabSz="914400" rtl="0" eaLnBrk="1" fontAlgn="base" latinLnBrk="0" hangingPunct="1">
                        <a:lnSpc>
                          <a:spcPct val="90000"/>
                        </a:lnSpc>
                        <a:spcBef>
                          <a:spcPct val="0"/>
                        </a:spcBef>
                        <a:spcAft>
                          <a:spcPct val="0"/>
                        </a:spcAft>
                        <a:buClrTx/>
                        <a:buSzTx/>
                        <a:buFontTx/>
                        <a:buNone/>
                        <a:tabLst/>
                      </a:pPr>
                      <a:endParaRPr kumimoji="1" lang="en-US" altLang="zh-CN" sz="1200" b="1" i="0" u="none" strike="noStrike" cap="none" normalizeH="0" baseline="0" smtClean="0">
                        <a:ln>
                          <a:noFill/>
                        </a:ln>
                        <a:solidFill>
                          <a:schemeClr val="tx1"/>
                        </a:solidFill>
                        <a:effectLst/>
                        <a:latin typeface="华文中宋" pitchFamily="2" charset="-122"/>
                        <a:ea typeface="华文中宋" pitchFamily="2" charset="-122"/>
                      </a:endParaRPr>
                    </a:p>
                    <a:p>
                      <a:pPr marL="0" marR="0" lvl="0" indent="0" algn="ctr" defTabSz="914400" rtl="0" eaLnBrk="1" fontAlgn="base" latinLnBrk="0" hangingPunct="1">
                        <a:lnSpc>
                          <a:spcPct val="90000"/>
                        </a:lnSpc>
                        <a:spcBef>
                          <a:spcPct val="0"/>
                        </a:spcBef>
                        <a:spcAft>
                          <a:spcPct val="0"/>
                        </a:spcAft>
                        <a:buClrTx/>
                        <a:buSzTx/>
                        <a:buFontTx/>
                        <a:buNone/>
                        <a:tabLst/>
                      </a:pPr>
                      <a:endParaRPr kumimoji="1" lang="en-US" altLang="zh-CN" sz="1200" b="1" i="0" u="none" strike="noStrike" cap="none" normalizeH="0" baseline="0" smtClean="0">
                        <a:ln>
                          <a:noFill/>
                        </a:ln>
                        <a:solidFill>
                          <a:schemeClr val="tx1"/>
                        </a:solidFill>
                        <a:effectLst/>
                        <a:latin typeface="华文中宋" pitchFamily="2" charset="-122"/>
                        <a:ea typeface="华文中宋" pitchFamily="2" charset="-122"/>
                      </a:endParaRPr>
                    </a:p>
                    <a:p>
                      <a:pPr marL="0" marR="0" lvl="0" indent="0" algn="ctr" defTabSz="914400" rtl="0" eaLnBrk="1" fontAlgn="base" latinLnBrk="0" hangingPunct="1">
                        <a:lnSpc>
                          <a:spcPct val="90000"/>
                        </a:lnSpc>
                        <a:spcBef>
                          <a:spcPct val="0"/>
                        </a:spcBef>
                        <a:spcAft>
                          <a:spcPct val="0"/>
                        </a:spcAft>
                        <a:buClrTx/>
                        <a:buSzTx/>
                        <a:buFontTx/>
                        <a:buNone/>
                        <a:tabLst/>
                      </a:pPr>
                      <a:r>
                        <a:rPr kumimoji="1" lang="en-US" altLang="zh-CN" sz="1200" b="1" i="0" u="none" strike="noStrike" cap="none" normalizeH="0" baseline="0" smtClean="0">
                          <a:ln>
                            <a:noFill/>
                          </a:ln>
                          <a:solidFill>
                            <a:schemeClr val="tx1"/>
                          </a:solidFill>
                          <a:effectLst/>
                          <a:latin typeface="华文中宋" pitchFamily="2" charset="-122"/>
                          <a:ea typeface="华文中宋" pitchFamily="2" charset="-122"/>
                        </a:rPr>
                        <a:t>  </a:t>
                      </a:r>
                    </a:p>
                    <a:p>
                      <a:pPr marL="0" marR="0" lvl="0" indent="0" algn="ctr" defTabSz="914400" rtl="0" eaLnBrk="1" fontAlgn="base" latinLnBrk="0" hangingPunct="1">
                        <a:lnSpc>
                          <a:spcPct val="90000"/>
                        </a:lnSpc>
                        <a:spcBef>
                          <a:spcPct val="0"/>
                        </a:spcBef>
                        <a:spcAft>
                          <a:spcPct val="0"/>
                        </a:spcAft>
                        <a:buClrTx/>
                        <a:buSzTx/>
                        <a:buFontTx/>
                        <a:buNone/>
                        <a:tabLst/>
                      </a:pPr>
                      <a:r>
                        <a:rPr kumimoji="1" lang="zh-CN" altLang="en-US" sz="1200" b="1" i="0" u="none" strike="noStrike" cap="none" normalizeH="0" baseline="0" smtClean="0">
                          <a:ln>
                            <a:noFill/>
                          </a:ln>
                          <a:solidFill>
                            <a:schemeClr val="tx1"/>
                          </a:solidFill>
                          <a:effectLst/>
                          <a:latin typeface="华文中宋" pitchFamily="2" charset="-122"/>
                          <a:ea typeface="华文中宋" pitchFamily="2" charset="-122"/>
                        </a:rPr>
                        <a:t>３</a:t>
                      </a:r>
                      <a:endParaRPr kumimoji="1" lang="zh-CN" altLang="en-US" sz="1200" b="1" i="0" u="none" strike="noStrike" cap="none" normalizeH="0" baseline="0" smtClean="0">
                        <a:ln>
                          <a:noFill/>
                        </a:ln>
                        <a:solidFill>
                          <a:schemeClr val="tx1"/>
                        </a:solidFill>
                        <a:effectLst/>
                        <a:latin typeface="华文中宋" pitchFamily="2" charset="-122"/>
                        <a:ea typeface="华文中宋" pitchFamily="2" charset="-122"/>
                        <a:cs typeface="Times New Roman" pitchFamily="18" charset="0"/>
                      </a:endParaRPr>
                    </a:p>
                  </a:txBody>
                  <a:tcPr marL="91432" marR="91432" marT="34278" marB="34278"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rowSpan="6">
                  <a:txBody>
                    <a:bodyPr/>
                    <a:lstStyle/>
                    <a:p>
                      <a:pPr marL="0" marR="0" lvl="0" indent="0" algn="ctr" defTabSz="914400" rtl="0" eaLnBrk="1" fontAlgn="base" latinLnBrk="0" hangingPunct="1">
                        <a:lnSpc>
                          <a:spcPct val="90000"/>
                        </a:lnSpc>
                        <a:spcBef>
                          <a:spcPct val="0"/>
                        </a:spcBef>
                        <a:spcAft>
                          <a:spcPct val="0"/>
                        </a:spcAft>
                        <a:buClrTx/>
                        <a:buSzTx/>
                        <a:buFontTx/>
                        <a:buNone/>
                        <a:tabLst/>
                      </a:pPr>
                      <a:endParaRPr kumimoji="1" lang="en-US" altLang="zh-CN" sz="1200" b="1" i="0" u="none" strike="noStrike" cap="none" normalizeH="0" baseline="0" smtClean="0">
                        <a:ln>
                          <a:noFill/>
                        </a:ln>
                        <a:solidFill>
                          <a:schemeClr val="tx1"/>
                        </a:solidFill>
                        <a:effectLst/>
                        <a:latin typeface="华文中宋" pitchFamily="2" charset="-122"/>
                        <a:ea typeface="华文中宋" pitchFamily="2" charset="-122"/>
                      </a:endParaRPr>
                    </a:p>
                    <a:p>
                      <a:pPr marL="0" marR="0" lvl="0" indent="0" algn="ctr" defTabSz="914400" rtl="0" eaLnBrk="1" fontAlgn="base" latinLnBrk="0" hangingPunct="1">
                        <a:lnSpc>
                          <a:spcPct val="90000"/>
                        </a:lnSpc>
                        <a:spcBef>
                          <a:spcPct val="0"/>
                        </a:spcBef>
                        <a:spcAft>
                          <a:spcPct val="0"/>
                        </a:spcAft>
                        <a:buClrTx/>
                        <a:buSzTx/>
                        <a:buFontTx/>
                        <a:buNone/>
                        <a:tabLst/>
                      </a:pPr>
                      <a:endParaRPr kumimoji="1" lang="en-US" altLang="zh-CN" sz="1200" b="1" i="0" u="none" strike="noStrike" cap="none" normalizeH="0" baseline="0" smtClean="0">
                        <a:ln>
                          <a:noFill/>
                        </a:ln>
                        <a:solidFill>
                          <a:schemeClr val="tx1"/>
                        </a:solidFill>
                        <a:effectLst/>
                        <a:latin typeface="华文中宋" pitchFamily="2" charset="-122"/>
                        <a:ea typeface="华文中宋" pitchFamily="2" charset="-122"/>
                      </a:endParaRPr>
                    </a:p>
                    <a:p>
                      <a:pPr marL="0" marR="0" lvl="0" indent="0" algn="ctr" defTabSz="914400" rtl="0" eaLnBrk="1" fontAlgn="base" latinLnBrk="0" hangingPunct="1">
                        <a:lnSpc>
                          <a:spcPct val="90000"/>
                        </a:lnSpc>
                        <a:spcBef>
                          <a:spcPct val="0"/>
                        </a:spcBef>
                        <a:spcAft>
                          <a:spcPct val="0"/>
                        </a:spcAft>
                        <a:buClrTx/>
                        <a:buSzTx/>
                        <a:buFontTx/>
                        <a:buNone/>
                        <a:tabLst/>
                      </a:pPr>
                      <a:endParaRPr kumimoji="1" lang="en-US" altLang="zh-CN" sz="1200" b="1" i="0" u="none" strike="noStrike" cap="none" normalizeH="0" baseline="0" smtClean="0">
                        <a:ln>
                          <a:noFill/>
                        </a:ln>
                        <a:solidFill>
                          <a:schemeClr val="tx1"/>
                        </a:solidFill>
                        <a:effectLst/>
                        <a:latin typeface="华文中宋" pitchFamily="2" charset="-122"/>
                        <a:ea typeface="华文中宋" pitchFamily="2" charset="-122"/>
                      </a:endParaRPr>
                    </a:p>
                    <a:p>
                      <a:pPr marL="0" marR="0" lvl="0" indent="0" algn="ctr" defTabSz="914400" rtl="0" eaLnBrk="1" fontAlgn="base" latinLnBrk="0" hangingPunct="1">
                        <a:lnSpc>
                          <a:spcPct val="90000"/>
                        </a:lnSpc>
                        <a:spcBef>
                          <a:spcPct val="0"/>
                        </a:spcBef>
                        <a:spcAft>
                          <a:spcPct val="0"/>
                        </a:spcAft>
                        <a:buClrTx/>
                        <a:buSzTx/>
                        <a:buFontTx/>
                        <a:buNone/>
                        <a:tabLst/>
                      </a:pPr>
                      <a:r>
                        <a:rPr kumimoji="1" lang="zh-CN" altLang="en-US" sz="1200" b="1" i="0" u="none" strike="noStrike" cap="none" normalizeH="0" baseline="0" smtClean="0">
                          <a:ln>
                            <a:noFill/>
                          </a:ln>
                          <a:solidFill>
                            <a:schemeClr val="tx1"/>
                          </a:solidFill>
                          <a:effectLst/>
                          <a:latin typeface="华文中宋" pitchFamily="2" charset="-122"/>
                          <a:ea typeface="华文中宋" pitchFamily="2" charset="-122"/>
                        </a:rPr>
                        <a:t>２</a:t>
                      </a:r>
                      <a:endParaRPr kumimoji="1" lang="zh-CN" altLang="en-US" sz="1200" b="1" i="0" u="none" strike="noStrike" cap="none" normalizeH="0" baseline="0" smtClean="0">
                        <a:ln>
                          <a:noFill/>
                        </a:ln>
                        <a:solidFill>
                          <a:schemeClr val="tx1"/>
                        </a:solidFill>
                        <a:effectLst/>
                        <a:latin typeface="华文中宋" pitchFamily="2" charset="-122"/>
                        <a:ea typeface="华文中宋" pitchFamily="2" charset="-122"/>
                        <a:cs typeface="Times New Roman" pitchFamily="18" charset="0"/>
                      </a:endParaRPr>
                    </a:p>
                  </a:txBody>
                  <a:tcPr marL="91432" marR="91432" marT="34278" marB="34278"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EBF1DE"/>
                    </a:solidFill>
                  </a:tcPr>
                </a:tc>
                <a:tc rowSpan="6">
                  <a:txBody>
                    <a:bodyPr/>
                    <a:lstStyle/>
                    <a:p>
                      <a:pPr marL="0" marR="0" lvl="0" indent="0" algn="ctr" defTabSz="914400" rtl="0" eaLnBrk="1" fontAlgn="base" latinLnBrk="0" hangingPunct="1">
                        <a:lnSpc>
                          <a:spcPct val="90000"/>
                        </a:lnSpc>
                        <a:spcBef>
                          <a:spcPct val="0"/>
                        </a:spcBef>
                        <a:spcAft>
                          <a:spcPct val="0"/>
                        </a:spcAft>
                        <a:buClrTx/>
                        <a:buSzTx/>
                        <a:buFontTx/>
                        <a:buNone/>
                        <a:tabLst/>
                      </a:pPr>
                      <a:endParaRPr kumimoji="1" lang="en-US" altLang="zh-CN" sz="1200" b="1" i="0" u="none" strike="noStrike" cap="none" normalizeH="0" baseline="0" smtClean="0">
                        <a:ln>
                          <a:noFill/>
                        </a:ln>
                        <a:solidFill>
                          <a:schemeClr val="tx1"/>
                        </a:solidFill>
                        <a:effectLst/>
                        <a:latin typeface="华文中宋" pitchFamily="2" charset="-122"/>
                        <a:ea typeface="华文中宋" pitchFamily="2" charset="-122"/>
                      </a:endParaRPr>
                    </a:p>
                    <a:p>
                      <a:pPr marL="0" marR="0" lvl="0" indent="0" algn="ctr" defTabSz="914400" rtl="0" eaLnBrk="1" fontAlgn="base" latinLnBrk="0" hangingPunct="1">
                        <a:lnSpc>
                          <a:spcPct val="90000"/>
                        </a:lnSpc>
                        <a:spcBef>
                          <a:spcPct val="0"/>
                        </a:spcBef>
                        <a:spcAft>
                          <a:spcPct val="0"/>
                        </a:spcAft>
                        <a:buClrTx/>
                        <a:buSzTx/>
                        <a:buFontTx/>
                        <a:buNone/>
                        <a:tabLst/>
                      </a:pPr>
                      <a:endParaRPr kumimoji="1" lang="en-US" altLang="zh-CN" sz="1200" b="1" i="0" u="none" strike="noStrike" cap="none" normalizeH="0" baseline="0" smtClean="0">
                        <a:ln>
                          <a:noFill/>
                        </a:ln>
                        <a:solidFill>
                          <a:schemeClr val="tx1"/>
                        </a:solidFill>
                        <a:effectLst/>
                        <a:latin typeface="华文中宋" pitchFamily="2" charset="-122"/>
                        <a:ea typeface="华文中宋" pitchFamily="2" charset="-122"/>
                      </a:endParaRPr>
                    </a:p>
                    <a:p>
                      <a:pPr marL="0" marR="0" lvl="0" indent="0" algn="ctr" defTabSz="914400" rtl="0" eaLnBrk="1" fontAlgn="base" latinLnBrk="0" hangingPunct="1">
                        <a:lnSpc>
                          <a:spcPct val="90000"/>
                        </a:lnSpc>
                        <a:spcBef>
                          <a:spcPct val="0"/>
                        </a:spcBef>
                        <a:spcAft>
                          <a:spcPct val="0"/>
                        </a:spcAft>
                        <a:buClrTx/>
                        <a:buSzTx/>
                        <a:buFontTx/>
                        <a:buNone/>
                        <a:tabLst/>
                      </a:pPr>
                      <a:endParaRPr kumimoji="1" lang="en-US" altLang="zh-CN" sz="1200" b="1" i="0" u="none" strike="noStrike" cap="none" normalizeH="0" baseline="0" smtClean="0">
                        <a:ln>
                          <a:noFill/>
                        </a:ln>
                        <a:solidFill>
                          <a:schemeClr val="tx1"/>
                        </a:solidFill>
                        <a:effectLst/>
                        <a:latin typeface="华文中宋" pitchFamily="2" charset="-122"/>
                        <a:ea typeface="华文中宋" pitchFamily="2" charset="-122"/>
                      </a:endParaRPr>
                    </a:p>
                    <a:p>
                      <a:pPr marL="0" marR="0" lvl="0" indent="0" algn="ctr" defTabSz="914400" rtl="0" eaLnBrk="1" fontAlgn="base" latinLnBrk="0" hangingPunct="1">
                        <a:lnSpc>
                          <a:spcPct val="90000"/>
                        </a:lnSpc>
                        <a:spcBef>
                          <a:spcPct val="0"/>
                        </a:spcBef>
                        <a:spcAft>
                          <a:spcPct val="0"/>
                        </a:spcAft>
                        <a:buClrTx/>
                        <a:buSzTx/>
                        <a:buFontTx/>
                        <a:buNone/>
                        <a:tabLst/>
                      </a:pPr>
                      <a:r>
                        <a:rPr kumimoji="1" lang="zh-CN" altLang="en-US" sz="1200" b="1" i="0" u="none" strike="noStrike" cap="none" normalizeH="0" baseline="0" smtClean="0">
                          <a:ln>
                            <a:noFill/>
                          </a:ln>
                          <a:solidFill>
                            <a:schemeClr val="tx1"/>
                          </a:solidFill>
                          <a:effectLst/>
                          <a:latin typeface="华文中宋" pitchFamily="2" charset="-122"/>
                          <a:ea typeface="华文中宋" pitchFamily="2" charset="-122"/>
                        </a:rPr>
                        <a:t>２</a:t>
                      </a:r>
                      <a:endParaRPr kumimoji="1" lang="zh-CN" altLang="en-US" sz="1200" b="1" i="0" u="none" strike="noStrike" cap="none" normalizeH="0" baseline="0" smtClean="0">
                        <a:ln>
                          <a:noFill/>
                        </a:ln>
                        <a:solidFill>
                          <a:schemeClr val="tx1"/>
                        </a:solidFill>
                        <a:effectLst/>
                        <a:latin typeface="华文中宋" pitchFamily="2" charset="-122"/>
                        <a:ea typeface="华文中宋" pitchFamily="2" charset="-122"/>
                        <a:cs typeface="Times New Roman" pitchFamily="18" charset="0"/>
                      </a:endParaRPr>
                    </a:p>
                  </a:txBody>
                  <a:tcPr marL="91432" marR="91432" marT="34278" marB="34278"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EBF1DE"/>
                    </a:solid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1" lang="en-US" altLang="zh-CN" sz="1200" b="1" i="1" u="none" strike="noStrike" cap="none" normalizeH="0" baseline="0" smtClean="0">
                          <a:ln>
                            <a:noFill/>
                          </a:ln>
                          <a:solidFill>
                            <a:schemeClr val="tx1"/>
                          </a:solidFill>
                          <a:effectLst/>
                          <a:latin typeface="华文中宋" pitchFamily="2" charset="-122"/>
                          <a:ea typeface="华文中宋" pitchFamily="2" charset="-122"/>
                        </a:rPr>
                        <a:t>ab</a:t>
                      </a:r>
                      <a:endParaRPr kumimoji="1" lang="en-US" altLang="zh-CN" sz="1200" b="1" i="1" u="none" strike="noStrike" cap="none" normalizeH="0" baseline="0" smtClean="0">
                        <a:ln>
                          <a:noFill/>
                        </a:ln>
                        <a:solidFill>
                          <a:schemeClr val="tx1"/>
                        </a:solidFill>
                        <a:effectLst/>
                        <a:latin typeface="华文中宋" pitchFamily="2" charset="-122"/>
                        <a:ea typeface="华文中宋" pitchFamily="2" charset="-122"/>
                        <a:cs typeface="Times New Roman" pitchFamily="18" charset="0"/>
                      </a:endParaRPr>
                    </a:p>
                  </a:txBody>
                  <a:tcPr marL="91432" marR="91432" marT="34278" marB="34278"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EBF1DE"/>
                    </a:solid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1" lang="en-US" altLang="zh-CN" sz="1200" b="1" i="1" u="none" strike="noStrike" cap="none" normalizeH="0" baseline="0" smtClean="0">
                          <a:ln>
                            <a:noFill/>
                          </a:ln>
                          <a:solidFill>
                            <a:schemeClr val="tx1"/>
                          </a:solidFill>
                          <a:effectLst/>
                          <a:latin typeface="华文中宋" pitchFamily="2" charset="-122"/>
                          <a:ea typeface="华文中宋" pitchFamily="2" charset="-122"/>
                        </a:rPr>
                        <a:t>cd</a:t>
                      </a:r>
                      <a:endParaRPr kumimoji="1" lang="en-US" altLang="zh-CN" sz="1200" b="1" i="1" u="none" strike="noStrike" cap="none" normalizeH="0" baseline="0" smtClean="0">
                        <a:ln>
                          <a:noFill/>
                        </a:ln>
                        <a:solidFill>
                          <a:schemeClr val="tx1"/>
                        </a:solidFill>
                        <a:effectLst/>
                        <a:latin typeface="华文中宋" pitchFamily="2" charset="-122"/>
                        <a:ea typeface="华文中宋" pitchFamily="2" charset="-122"/>
                        <a:cs typeface="Times New Roman" pitchFamily="18" charset="0"/>
                      </a:endParaRPr>
                    </a:p>
                  </a:txBody>
                  <a:tcPr marL="91432" marR="91432" marT="34278" marB="34278"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EBF1DE"/>
                    </a:solidFill>
                  </a:tcPr>
                </a:tc>
                <a:tc rowSpan="6">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1" lang="en-US" altLang="zh-CN" sz="1200" b="1" i="0" u="none" strike="noStrike" cap="none" normalizeH="0" baseline="0" smtClean="0">
                          <a:ln>
                            <a:noFill/>
                          </a:ln>
                          <a:solidFill>
                            <a:schemeClr val="tx1"/>
                          </a:solidFill>
                          <a:effectLst/>
                          <a:latin typeface="华文中宋" pitchFamily="2" charset="-122"/>
                          <a:ea typeface="华文中宋" pitchFamily="2" charset="-122"/>
                        </a:rPr>
                        <a:t> </a:t>
                      </a:r>
                    </a:p>
                    <a:p>
                      <a:pPr marL="0" marR="0" lvl="0" indent="0" algn="ctr" defTabSz="914400" rtl="0" eaLnBrk="1" fontAlgn="base" latinLnBrk="0" hangingPunct="1">
                        <a:lnSpc>
                          <a:spcPct val="90000"/>
                        </a:lnSpc>
                        <a:spcBef>
                          <a:spcPct val="0"/>
                        </a:spcBef>
                        <a:spcAft>
                          <a:spcPct val="0"/>
                        </a:spcAft>
                        <a:buClrTx/>
                        <a:buSzTx/>
                        <a:buFontTx/>
                        <a:buNone/>
                        <a:tabLst/>
                      </a:pPr>
                      <a:endParaRPr kumimoji="1" lang="en-US" altLang="zh-CN" sz="1200" b="1" i="0" u="none" strike="noStrike" cap="none" normalizeH="0" baseline="0" smtClean="0">
                        <a:ln>
                          <a:noFill/>
                        </a:ln>
                        <a:solidFill>
                          <a:schemeClr val="tx1"/>
                        </a:solidFill>
                        <a:effectLst/>
                        <a:latin typeface="华文中宋" pitchFamily="2" charset="-122"/>
                        <a:ea typeface="华文中宋" pitchFamily="2" charset="-122"/>
                      </a:endParaRPr>
                    </a:p>
                    <a:p>
                      <a:pPr marL="0" marR="0" lvl="0" indent="0" algn="ctr" defTabSz="914400" rtl="0" eaLnBrk="1" fontAlgn="base" latinLnBrk="0" hangingPunct="1">
                        <a:lnSpc>
                          <a:spcPct val="90000"/>
                        </a:lnSpc>
                        <a:spcBef>
                          <a:spcPct val="0"/>
                        </a:spcBef>
                        <a:spcAft>
                          <a:spcPct val="0"/>
                        </a:spcAft>
                        <a:buClrTx/>
                        <a:buSzTx/>
                        <a:buFontTx/>
                        <a:buNone/>
                        <a:tabLst/>
                      </a:pPr>
                      <a:endParaRPr kumimoji="1" lang="en-US" altLang="zh-CN" sz="1200" b="1" i="0" u="none" strike="noStrike" cap="none" normalizeH="0" baseline="0" smtClean="0">
                        <a:ln>
                          <a:noFill/>
                        </a:ln>
                        <a:solidFill>
                          <a:schemeClr val="tx1"/>
                        </a:solidFill>
                        <a:effectLst/>
                        <a:latin typeface="华文中宋" pitchFamily="2" charset="-122"/>
                        <a:ea typeface="华文中宋" pitchFamily="2" charset="-122"/>
                      </a:endParaRPr>
                    </a:p>
                    <a:p>
                      <a:pPr marL="0" marR="0" lvl="0" indent="0" algn="ctr" defTabSz="914400" rtl="0" eaLnBrk="1" fontAlgn="base" latinLnBrk="0" hangingPunct="1">
                        <a:lnSpc>
                          <a:spcPct val="90000"/>
                        </a:lnSpc>
                        <a:spcBef>
                          <a:spcPct val="0"/>
                        </a:spcBef>
                        <a:spcAft>
                          <a:spcPct val="0"/>
                        </a:spcAft>
                        <a:buClrTx/>
                        <a:buSzTx/>
                        <a:buFontTx/>
                        <a:buNone/>
                        <a:tabLst/>
                      </a:pPr>
                      <a:r>
                        <a:rPr kumimoji="1" lang="zh-CN" altLang="en-US" sz="1200" b="1" i="0" u="none" strike="noStrike" cap="none" normalizeH="0" baseline="0" smtClean="0">
                          <a:ln>
                            <a:noFill/>
                          </a:ln>
                          <a:solidFill>
                            <a:schemeClr val="tx1"/>
                          </a:solidFill>
                          <a:effectLst/>
                          <a:latin typeface="华文中宋" pitchFamily="2" charset="-122"/>
                          <a:ea typeface="华文中宋" pitchFamily="2" charset="-122"/>
                        </a:rPr>
                        <a:t>６</a:t>
                      </a:r>
                      <a:endParaRPr kumimoji="1" lang="zh-CN" altLang="en-US" sz="1200" b="1" i="0" u="none" strike="noStrike" cap="none" normalizeH="0" baseline="0" smtClean="0">
                        <a:ln>
                          <a:noFill/>
                        </a:ln>
                        <a:solidFill>
                          <a:schemeClr val="tx1"/>
                        </a:solidFill>
                        <a:effectLst/>
                        <a:latin typeface="华文中宋" pitchFamily="2" charset="-122"/>
                        <a:ea typeface="华文中宋" pitchFamily="2" charset="-122"/>
                        <a:cs typeface="Times New Roman" pitchFamily="18" charset="0"/>
                      </a:endParaRPr>
                    </a:p>
                  </a:txBody>
                  <a:tcPr marL="91432" marR="91432" marT="34278" marB="34278"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EBF1DE"/>
                    </a:solidFill>
                  </a:tcPr>
                </a:tc>
                <a:tc rowSpan="6">
                  <a:txBody>
                    <a:bodyPr/>
                    <a:lstStyle/>
                    <a:p>
                      <a:pPr marL="0" marR="0" lvl="0" indent="0" algn="ctr" defTabSz="914400" rtl="0" eaLnBrk="1" fontAlgn="base" latinLnBrk="0" hangingPunct="1">
                        <a:lnSpc>
                          <a:spcPct val="90000"/>
                        </a:lnSpc>
                        <a:spcBef>
                          <a:spcPct val="0"/>
                        </a:spcBef>
                        <a:spcAft>
                          <a:spcPct val="0"/>
                        </a:spcAft>
                        <a:buClrTx/>
                        <a:buSzTx/>
                        <a:buFontTx/>
                        <a:buNone/>
                        <a:tabLst/>
                      </a:pPr>
                      <a:endParaRPr kumimoji="1" lang="en-US" altLang="zh-CN" sz="1200" b="1" i="0" u="none" strike="noStrike" cap="none" normalizeH="0" baseline="0" smtClean="0">
                        <a:ln>
                          <a:noFill/>
                        </a:ln>
                        <a:solidFill>
                          <a:schemeClr val="tx1"/>
                        </a:solidFill>
                        <a:effectLst/>
                        <a:latin typeface="华文中宋" pitchFamily="2" charset="-122"/>
                        <a:ea typeface="华文中宋" pitchFamily="2" charset="-122"/>
                      </a:endParaRPr>
                    </a:p>
                    <a:p>
                      <a:pPr marL="0" marR="0" lvl="0" indent="0" algn="ctr" defTabSz="914400" rtl="0" eaLnBrk="1" fontAlgn="base" latinLnBrk="0" hangingPunct="1">
                        <a:lnSpc>
                          <a:spcPct val="90000"/>
                        </a:lnSpc>
                        <a:spcBef>
                          <a:spcPct val="0"/>
                        </a:spcBef>
                        <a:spcAft>
                          <a:spcPct val="0"/>
                        </a:spcAft>
                        <a:buClrTx/>
                        <a:buSzTx/>
                        <a:buFontTx/>
                        <a:buNone/>
                        <a:tabLst/>
                      </a:pPr>
                      <a:endParaRPr kumimoji="1" lang="en-US" altLang="zh-CN" sz="1200" b="1" i="0" u="none" strike="noStrike" cap="none" normalizeH="0" baseline="0" smtClean="0">
                        <a:ln>
                          <a:noFill/>
                        </a:ln>
                        <a:solidFill>
                          <a:schemeClr val="tx1"/>
                        </a:solidFill>
                        <a:effectLst/>
                        <a:latin typeface="华文中宋" pitchFamily="2" charset="-122"/>
                        <a:ea typeface="华文中宋" pitchFamily="2" charset="-122"/>
                      </a:endParaRPr>
                    </a:p>
                    <a:p>
                      <a:pPr marL="0" marR="0" lvl="0" indent="0" algn="ctr" defTabSz="914400" rtl="0" eaLnBrk="1" fontAlgn="base" latinLnBrk="0" hangingPunct="1">
                        <a:lnSpc>
                          <a:spcPct val="90000"/>
                        </a:lnSpc>
                        <a:spcBef>
                          <a:spcPct val="0"/>
                        </a:spcBef>
                        <a:spcAft>
                          <a:spcPct val="0"/>
                        </a:spcAft>
                        <a:buClrTx/>
                        <a:buSzTx/>
                        <a:buFontTx/>
                        <a:buNone/>
                        <a:tabLst/>
                      </a:pPr>
                      <a:endParaRPr kumimoji="1" lang="en-US" altLang="zh-CN" sz="1200" b="1" i="0" u="none" strike="noStrike" cap="none" normalizeH="0" baseline="0" smtClean="0">
                        <a:ln>
                          <a:noFill/>
                        </a:ln>
                        <a:solidFill>
                          <a:schemeClr val="tx1"/>
                        </a:solidFill>
                        <a:effectLst/>
                        <a:latin typeface="华文中宋" pitchFamily="2" charset="-122"/>
                        <a:ea typeface="华文中宋" pitchFamily="2" charset="-122"/>
                      </a:endParaRPr>
                    </a:p>
                    <a:p>
                      <a:pPr marL="0" marR="0" lvl="0" indent="0" algn="ctr" defTabSz="914400" rtl="0" eaLnBrk="1" fontAlgn="base" latinLnBrk="0" hangingPunct="1">
                        <a:lnSpc>
                          <a:spcPct val="90000"/>
                        </a:lnSpc>
                        <a:spcBef>
                          <a:spcPct val="0"/>
                        </a:spcBef>
                        <a:spcAft>
                          <a:spcPct val="0"/>
                        </a:spcAft>
                        <a:buClrTx/>
                        <a:buSzTx/>
                        <a:buFontTx/>
                        <a:buNone/>
                        <a:tabLst/>
                      </a:pPr>
                      <a:r>
                        <a:rPr kumimoji="1" lang="en-US" altLang="zh-CN" sz="1200" b="1" i="0" u="none" strike="noStrike" cap="none" normalizeH="0" baseline="0" smtClean="0">
                          <a:ln>
                            <a:noFill/>
                          </a:ln>
                          <a:solidFill>
                            <a:schemeClr val="tx1"/>
                          </a:solidFill>
                          <a:effectLst/>
                          <a:latin typeface="华文中宋" pitchFamily="2" charset="-122"/>
                          <a:ea typeface="华文中宋" pitchFamily="2" charset="-122"/>
                        </a:rPr>
                        <a:t>6/16</a:t>
                      </a:r>
                    </a:p>
                    <a:p>
                      <a:pPr marL="0" marR="0" lvl="0" indent="0" algn="ctr" defTabSz="914400" rtl="0" eaLnBrk="1" fontAlgn="base" latinLnBrk="0" hangingPunct="1">
                        <a:lnSpc>
                          <a:spcPct val="90000"/>
                        </a:lnSpc>
                        <a:spcBef>
                          <a:spcPct val="0"/>
                        </a:spcBef>
                        <a:spcAft>
                          <a:spcPct val="0"/>
                        </a:spcAft>
                        <a:buClrTx/>
                        <a:buSzTx/>
                        <a:buFontTx/>
                        <a:buNone/>
                        <a:tabLst/>
                      </a:pPr>
                      <a:endParaRPr kumimoji="1" lang="en-US" altLang="zh-CN" sz="1200" b="1" i="0" u="none" strike="noStrike" cap="none" normalizeH="0" baseline="0" smtClean="0">
                        <a:ln>
                          <a:noFill/>
                        </a:ln>
                        <a:solidFill>
                          <a:schemeClr val="tx1"/>
                        </a:solidFill>
                        <a:effectLst/>
                        <a:latin typeface="华文中宋" pitchFamily="2" charset="-122"/>
                        <a:ea typeface="华文中宋" pitchFamily="2" charset="-122"/>
                      </a:endParaRPr>
                    </a:p>
                    <a:p>
                      <a:pPr marL="0" marR="0" lvl="0" indent="0" algn="ctr" defTabSz="914400" rtl="0" eaLnBrk="1" fontAlgn="base" latinLnBrk="0" hangingPunct="1">
                        <a:lnSpc>
                          <a:spcPct val="90000"/>
                        </a:lnSpc>
                        <a:spcBef>
                          <a:spcPct val="0"/>
                        </a:spcBef>
                        <a:spcAft>
                          <a:spcPct val="0"/>
                        </a:spcAft>
                        <a:buClrTx/>
                        <a:buSzTx/>
                        <a:buFontTx/>
                        <a:buNone/>
                        <a:tabLst/>
                      </a:pPr>
                      <a:endParaRPr kumimoji="1" lang="en-US" altLang="zh-CN" sz="1200" b="1" i="0" u="none" strike="noStrike" cap="none" normalizeH="0" baseline="0" smtClean="0">
                        <a:ln>
                          <a:noFill/>
                        </a:ln>
                        <a:solidFill>
                          <a:schemeClr val="tx1"/>
                        </a:solidFill>
                        <a:effectLst/>
                        <a:latin typeface="华文中宋" pitchFamily="2" charset="-122"/>
                        <a:ea typeface="华文中宋" pitchFamily="2" charset="-122"/>
                        <a:cs typeface="Times New Roman" pitchFamily="18" charset="0"/>
                      </a:endParaRPr>
                    </a:p>
                  </a:txBody>
                  <a:tcPr marL="91432" marR="91432" marT="34278" marB="34278"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EBF1DE"/>
                    </a:solidFill>
                  </a:tcPr>
                </a:tc>
              </a:tr>
              <a:tr h="175256">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1" lang="en-US" altLang="zh-CN" sz="1200" b="1" i="1" u="none" strike="noStrike" cap="none" normalizeH="0" baseline="0" smtClean="0">
                          <a:ln>
                            <a:noFill/>
                          </a:ln>
                          <a:solidFill>
                            <a:schemeClr val="tx1"/>
                          </a:solidFill>
                          <a:effectLst/>
                          <a:latin typeface="华文中宋" pitchFamily="2" charset="-122"/>
                          <a:ea typeface="华文中宋" pitchFamily="2" charset="-122"/>
                        </a:rPr>
                        <a:t>ac</a:t>
                      </a:r>
                      <a:endParaRPr kumimoji="1" lang="en-US" altLang="zh-CN" sz="1200" b="1" i="1" u="none" strike="noStrike" cap="none" normalizeH="0" baseline="0" smtClean="0">
                        <a:ln>
                          <a:noFill/>
                        </a:ln>
                        <a:solidFill>
                          <a:schemeClr val="tx1"/>
                        </a:solidFill>
                        <a:effectLst/>
                        <a:latin typeface="华文中宋" pitchFamily="2" charset="-122"/>
                        <a:ea typeface="华文中宋" pitchFamily="2" charset="-122"/>
                        <a:cs typeface="Times New Roman" pitchFamily="18" charset="0"/>
                      </a:endParaRPr>
                    </a:p>
                  </a:txBody>
                  <a:tcPr marL="91432" marR="91432" marT="34278" marB="34278"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EBF1DE"/>
                    </a:solid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1" lang="en-US" altLang="zh-CN" sz="1200" b="1" i="1" u="none" strike="noStrike" cap="none" normalizeH="0" baseline="0" smtClean="0">
                          <a:ln>
                            <a:noFill/>
                          </a:ln>
                          <a:solidFill>
                            <a:schemeClr val="tx1"/>
                          </a:solidFill>
                          <a:effectLst/>
                          <a:latin typeface="华文中宋" pitchFamily="2" charset="-122"/>
                          <a:ea typeface="华文中宋" pitchFamily="2" charset="-122"/>
                        </a:rPr>
                        <a:t>bd</a:t>
                      </a:r>
                      <a:endParaRPr kumimoji="1" lang="en-US" altLang="zh-CN" sz="1200" b="1" i="1" u="none" strike="noStrike" cap="none" normalizeH="0" baseline="0" smtClean="0">
                        <a:ln>
                          <a:noFill/>
                        </a:ln>
                        <a:solidFill>
                          <a:schemeClr val="tx1"/>
                        </a:solidFill>
                        <a:effectLst/>
                        <a:latin typeface="华文中宋" pitchFamily="2" charset="-122"/>
                        <a:ea typeface="华文中宋" pitchFamily="2" charset="-122"/>
                        <a:cs typeface="Times New Roman" pitchFamily="18" charset="0"/>
                      </a:endParaRPr>
                    </a:p>
                  </a:txBody>
                  <a:tcPr marL="91432" marR="91432" marT="34278" marB="34278"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EBF1DE"/>
                    </a:solidFill>
                  </a:tcPr>
                </a:tc>
                <a:tc vMerge="1">
                  <a:txBody>
                    <a:bodyPr/>
                    <a:lstStyle/>
                    <a:p>
                      <a:endParaRPr lang="zh-CN" altLang="en-US"/>
                    </a:p>
                  </a:txBody>
                  <a:tcPr/>
                </a:tc>
                <a:tc vMerge="1">
                  <a:txBody>
                    <a:bodyPr/>
                    <a:lstStyle/>
                    <a:p>
                      <a:endParaRPr lang="zh-CN" altLang="en-US"/>
                    </a:p>
                  </a:txBody>
                  <a:tcPr/>
                </a:tc>
              </a:tr>
              <a:tr h="175256">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1" lang="en-US" altLang="zh-CN" sz="1200" b="1" i="1" u="none" strike="noStrike" cap="none" normalizeH="0" baseline="0" smtClean="0">
                          <a:ln>
                            <a:noFill/>
                          </a:ln>
                          <a:solidFill>
                            <a:schemeClr val="tx1"/>
                          </a:solidFill>
                          <a:effectLst/>
                          <a:latin typeface="华文中宋" pitchFamily="2" charset="-122"/>
                          <a:ea typeface="华文中宋" pitchFamily="2" charset="-122"/>
                        </a:rPr>
                        <a:t>ad</a:t>
                      </a:r>
                      <a:endParaRPr kumimoji="1" lang="en-US" altLang="zh-CN" sz="1200" b="1" i="1" u="none" strike="noStrike" cap="none" normalizeH="0" baseline="0" smtClean="0">
                        <a:ln>
                          <a:noFill/>
                        </a:ln>
                        <a:solidFill>
                          <a:schemeClr val="tx1"/>
                        </a:solidFill>
                        <a:effectLst/>
                        <a:latin typeface="华文中宋" pitchFamily="2" charset="-122"/>
                        <a:ea typeface="华文中宋" pitchFamily="2" charset="-122"/>
                        <a:cs typeface="Times New Roman" pitchFamily="18" charset="0"/>
                      </a:endParaRPr>
                    </a:p>
                  </a:txBody>
                  <a:tcPr marL="91432" marR="91432" marT="34278" marB="34278"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EBF1DE"/>
                    </a:solid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1" lang="en-US" altLang="zh-CN" sz="1200" b="1" i="1" u="none" strike="noStrike" cap="none" normalizeH="0" baseline="0" smtClean="0">
                          <a:ln>
                            <a:noFill/>
                          </a:ln>
                          <a:solidFill>
                            <a:schemeClr val="tx1"/>
                          </a:solidFill>
                          <a:effectLst/>
                          <a:latin typeface="华文中宋" pitchFamily="2" charset="-122"/>
                          <a:ea typeface="华文中宋" pitchFamily="2" charset="-122"/>
                        </a:rPr>
                        <a:t>bc</a:t>
                      </a:r>
                      <a:endParaRPr kumimoji="1" lang="en-US" altLang="zh-CN" sz="1200" b="1" i="1" u="none" strike="noStrike" cap="none" normalizeH="0" baseline="0" smtClean="0">
                        <a:ln>
                          <a:noFill/>
                        </a:ln>
                        <a:solidFill>
                          <a:schemeClr val="tx1"/>
                        </a:solidFill>
                        <a:effectLst/>
                        <a:latin typeface="华文中宋" pitchFamily="2" charset="-122"/>
                        <a:ea typeface="华文中宋" pitchFamily="2" charset="-122"/>
                        <a:cs typeface="Times New Roman" pitchFamily="18" charset="0"/>
                      </a:endParaRPr>
                    </a:p>
                  </a:txBody>
                  <a:tcPr marL="91432" marR="91432" marT="34278" marB="34278"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EBF1DE"/>
                    </a:solidFill>
                  </a:tcPr>
                </a:tc>
                <a:tc vMerge="1">
                  <a:txBody>
                    <a:bodyPr/>
                    <a:lstStyle/>
                    <a:p>
                      <a:endParaRPr lang="zh-CN" altLang="en-US"/>
                    </a:p>
                  </a:txBody>
                  <a:tcPr/>
                </a:tc>
                <a:tc vMerge="1">
                  <a:txBody>
                    <a:bodyPr/>
                    <a:lstStyle/>
                    <a:p>
                      <a:endParaRPr lang="zh-CN" altLang="en-US"/>
                    </a:p>
                  </a:txBody>
                  <a:tcPr/>
                </a:tc>
              </a:tr>
              <a:tr h="175256">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1" lang="en-US" altLang="zh-CN" sz="1200" b="1" i="1" u="none" strike="noStrike" cap="none" normalizeH="0" baseline="0" smtClean="0">
                          <a:ln>
                            <a:noFill/>
                          </a:ln>
                          <a:solidFill>
                            <a:schemeClr val="tx1"/>
                          </a:solidFill>
                          <a:effectLst/>
                          <a:latin typeface="华文中宋" pitchFamily="2" charset="-122"/>
                          <a:ea typeface="华文中宋" pitchFamily="2" charset="-122"/>
                        </a:rPr>
                        <a:t>bc</a:t>
                      </a:r>
                      <a:endParaRPr kumimoji="1" lang="en-US" altLang="zh-CN" sz="1200" b="1" i="1" u="none" strike="noStrike" cap="none" normalizeH="0" baseline="0" smtClean="0">
                        <a:ln>
                          <a:noFill/>
                        </a:ln>
                        <a:solidFill>
                          <a:schemeClr val="tx1"/>
                        </a:solidFill>
                        <a:effectLst/>
                        <a:latin typeface="华文中宋" pitchFamily="2" charset="-122"/>
                        <a:ea typeface="华文中宋" pitchFamily="2" charset="-122"/>
                        <a:cs typeface="Times New Roman" pitchFamily="18" charset="0"/>
                      </a:endParaRPr>
                    </a:p>
                  </a:txBody>
                  <a:tcPr marL="91432" marR="91432" marT="34278" marB="34278"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EBF1DE"/>
                    </a:solid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1" lang="en-US" altLang="zh-CN" sz="1200" b="1" i="1" u="none" strike="noStrike" cap="none" normalizeH="0" baseline="0" smtClean="0">
                          <a:ln>
                            <a:noFill/>
                          </a:ln>
                          <a:solidFill>
                            <a:schemeClr val="tx1"/>
                          </a:solidFill>
                          <a:effectLst/>
                          <a:latin typeface="华文中宋" pitchFamily="2" charset="-122"/>
                          <a:ea typeface="华文中宋" pitchFamily="2" charset="-122"/>
                        </a:rPr>
                        <a:t>ad</a:t>
                      </a:r>
                      <a:endParaRPr kumimoji="1" lang="en-US" altLang="zh-CN" sz="1200" b="1" i="1" u="none" strike="noStrike" cap="none" normalizeH="0" baseline="0" smtClean="0">
                        <a:ln>
                          <a:noFill/>
                        </a:ln>
                        <a:solidFill>
                          <a:schemeClr val="tx1"/>
                        </a:solidFill>
                        <a:effectLst/>
                        <a:latin typeface="华文中宋" pitchFamily="2" charset="-122"/>
                        <a:ea typeface="华文中宋" pitchFamily="2" charset="-122"/>
                        <a:cs typeface="Times New Roman" pitchFamily="18" charset="0"/>
                      </a:endParaRPr>
                    </a:p>
                  </a:txBody>
                  <a:tcPr marL="91432" marR="91432" marT="34278" marB="34278"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EBF1DE"/>
                    </a:solidFill>
                  </a:tcPr>
                </a:tc>
                <a:tc vMerge="1">
                  <a:txBody>
                    <a:bodyPr/>
                    <a:lstStyle/>
                    <a:p>
                      <a:endParaRPr lang="zh-CN" altLang="en-US"/>
                    </a:p>
                  </a:txBody>
                  <a:tcPr/>
                </a:tc>
                <a:tc vMerge="1">
                  <a:txBody>
                    <a:bodyPr/>
                    <a:lstStyle/>
                    <a:p>
                      <a:endParaRPr lang="zh-CN" altLang="en-US"/>
                    </a:p>
                  </a:txBody>
                  <a:tcPr/>
                </a:tc>
              </a:tr>
              <a:tr h="175256">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1" lang="en-US" altLang="zh-CN" sz="1200" b="1" i="1" u="none" strike="noStrike" cap="none" normalizeH="0" baseline="0" smtClean="0">
                          <a:ln>
                            <a:noFill/>
                          </a:ln>
                          <a:solidFill>
                            <a:schemeClr val="tx1"/>
                          </a:solidFill>
                          <a:effectLst/>
                          <a:latin typeface="华文中宋" pitchFamily="2" charset="-122"/>
                          <a:ea typeface="华文中宋" pitchFamily="2" charset="-122"/>
                        </a:rPr>
                        <a:t>bd</a:t>
                      </a:r>
                      <a:endParaRPr kumimoji="1" lang="en-US" altLang="zh-CN" sz="1200" b="1" i="1" u="none" strike="noStrike" cap="none" normalizeH="0" baseline="0" smtClean="0">
                        <a:ln>
                          <a:noFill/>
                        </a:ln>
                        <a:solidFill>
                          <a:schemeClr val="tx1"/>
                        </a:solidFill>
                        <a:effectLst/>
                        <a:latin typeface="华文中宋" pitchFamily="2" charset="-122"/>
                        <a:ea typeface="华文中宋" pitchFamily="2" charset="-122"/>
                        <a:cs typeface="Times New Roman" pitchFamily="18" charset="0"/>
                      </a:endParaRPr>
                    </a:p>
                  </a:txBody>
                  <a:tcPr marL="91432" marR="91432" marT="34278" marB="34278"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EBF1DE"/>
                    </a:solid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1" lang="en-US" altLang="zh-CN" sz="1200" b="1" i="1" u="none" strike="noStrike" cap="none" normalizeH="0" baseline="0" dirty="0" smtClean="0">
                          <a:ln>
                            <a:noFill/>
                          </a:ln>
                          <a:solidFill>
                            <a:schemeClr val="tx1"/>
                          </a:solidFill>
                          <a:effectLst/>
                          <a:latin typeface="华文中宋" pitchFamily="2" charset="-122"/>
                          <a:ea typeface="华文中宋" pitchFamily="2" charset="-122"/>
                        </a:rPr>
                        <a:t>ac</a:t>
                      </a:r>
                      <a:endParaRPr kumimoji="1" lang="en-US" altLang="zh-CN" sz="1200" b="1" i="1" u="none" strike="noStrike" cap="none" normalizeH="0" baseline="0" dirty="0" smtClean="0">
                        <a:ln>
                          <a:noFill/>
                        </a:ln>
                        <a:solidFill>
                          <a:schemeClr val="tx1"/>
                        </a:solidFill>
                        <a:effectLst/>
                        <a:latin typeface="华文中宋" pitchFamily="2" charset="-122"/>
                        <a:ea typeface="华文中宋" pitchFamily="2" charset="-122"/>
                        <a:cs typeface="Times New Roman" pitchFamily="18" charset="0"/>
                      </a:endParaRPr>
                    </a:p>
                  </a:txBody>
                  <a:tcPr marL="91432" marR="91432" marT="34278" marB="34278"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EBF1DE"/>
                    </a:solidFill>
                  </a:tcPr>
                </a:tc>
                <a:tc vMerge="1">
                  <a:txBody>
                    <a:bodyPr/>
                    <a:lstStyle/>
                    <a:p>
                      <a:endParaRPr lang="zh-CN" altLang="en-US"/>
                    </a:p>
                  </a:txBody>
                  <a:tcPr/>
                </a:tc>
                <a:tc vMerge="1">
                  <a:txBody>
                    <a:bodyPr/>
                    <a:lstStyle/>
                    <a:p>
                      <a:endParaRPr lang="zh-CN" altLang="en-US"/>
                    </a:p>
                  </a:txBody>
                  <a:tcPr/>
                </a:tc>
              </a:tr>
              <a:tr h="175256">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1" lang="en-US" altLang="zh-CN" sz="1200" b="1" i="1" u="none" strike="noStrike" cap="none" normalizeH="0" baseline="0" smtClean="0">
                          <a:ln>
                            <a:noFill/>
                          </a:ln>
                          <a:solidFill>
                            <a:schemeClr val="tx1"/>
                          </a:solidFill>
                          <a:effectLst/>
                          <a:latin typeface="华文中宋" pitchFamily="2" charset="-122"/>
                          <a:ea typeface="华文中宋" pitchFamily="2" charset="-122"/>
                        </a:rPr>
                        <a:t>cd</a:t>
                      </a:r>
                      <a:endParaRPr kumimoji="1" lang="en-US" altLang="zh-CN" sz="1200" b="1" i="1" u="none" strike="noStrike" cap="none" normalizeH="0" baseline="0" smtClean="0">
                        <a:ln>
                          <a:noFill/>
                        </a:ln>
                        <a:solidFill>
                          <a:schemeClr val="tx1"/>
                        </a:solidFill>
                        <a:effectLst/>
                        <a:latin typeface="华文中宋" pitchFamily="2" charset="-122"/>
                        <a:ea typeface="华文中宋" pitchFamily="2" charset="-122"/>
                        <a:cs typeface="Times New Roman" pitchFamily="18" charset="0"/>
                      </a:endParaRPr>
                    </a:p>
                  </a:txBody>
                  <a:tcPr marL="91432" marR="91432" marT="34278" marB="34278"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EBF1DE"/>
                    </a:solid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1" lang="en-US" altLang="zh-CN" sz="1200" b="1" i="1" u="none" strike="noStrike" cap="none" normalizeH="0" baseline="0" smtClean="0">
                          <a:ln>
                            <a:noFill/>
                          </a:ln>
                          <a:solidFill>
                            <a:schemeClr val="tx1"/>
                          </a:solidFill>
                          <a:effectLst/>
                          <a:latin typeface="华文中宋" pitchFamily="2" charset="-122"/>
                          <a:ea typeface="华文中宋" pitchFamily="2" charset="-122"/>
                        </a:rPr>
                        <a:t>ab</a:t>
                      </a:r>
                      <a:endParaRPr kumimoji="1" lang="en-US" altLang="zh-CN" sz="1200" b="1" i="1" u="none" strike="noStrike" cap="none" normalizeH="0" baseline="0" smtClean="0">
                        <a:ln>
                          <a:noFill/>
                        </a:ln>
                        <a:solidFill>
                          <a:schemeClr val="tx1"/>
                        </a:solidFill>
                        <a:effectLst/>
                        <a:latin typeface="华文中宋" pitchFamily="2" charset="-122"/>
                        <a:ea typeface="华文中宋" pitchFamily="2" charset="-122"/>
                        <a:cs typeface="Times New Roman" pitchFamily="18" charset="0"/>
                      </a:endParaRPr>
                    </a:p>
                  </a:txBody>
                  <a:tcPr marL="91432" marR="91432" marT="34278" marB="34278"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EBF1DE"/>
                    </a:solidFill>
                  </a:tcPr>
                </a:tc>
                <a:tc vMerge="1">
                  <a:txBody>
                    <a:bodyPr/>
                    <a:lstStyle/>
                    <a:p>
                      <a:endParaRPr lang="zh-CN" altLang="en-US"/>
                    </a:p>
                  </a:txBody>
                  <a:tcPr/>
                </a:tc>
                <a:tc vMerge="1">
                  <a:txBody>
                    <a:bodyPr/>
                    <a:lstStyle/>
                    <a:p>
                      <a:endParaRPr lang="zh-CN" altLang="en-US"/>
                    </a:p>
                  </a:txBody>
                  <a:tcPr/>
                </a:tc>
              </a:tr>
              <a:tr h="175256">
                <a:tc rowSpan="4">
                  <a:txBody>
                    <a:bodyPr/>
                    <a:lstStyle/>
                    <a:p>
                      <a:pPr marL="0" marR="0" lvl="0" indent="0" algn="ctr" defTabSz="914400" rtl="0" eaLnBrk="1" fontAlgn="base" latinLnBrk="0" hangingPunct="1">
                        <a:lnSpc>
                          <a:spcPct val="90000"/>
                        </a:lnSpc>
                        <a:spcBef>
                          <a:spcPct val="0"/>
                        </a:spcBef>
                        <a:spcAft>
                          <a:spcPct val="0"/>
                        </a:spcAft>
                        <a:buClrTx/>
                        <a:buSzTx/>
                        <a:buFontTx/>
                        <a:buNone/>
                        <a:tabLst/>
                      </a:pPr>
                      <a:endParaRPr kumimoji="1" lang="en-US" altLang="zh-CN" sz="1200" b="1" i="0" u="none" strike="noStrike" cap="none" normalizeH="0" baseline="0" smtClean="0">
                        <a:ln>
                          <a:noFill/>
                        </a:ln>
                        <a:solidFill>
                          <a:schemeClr val="tx1"/>
                        </a:solidFill>
                        <a:effectLst/>
                        <a:latin typeface="华文中宋" pitchFamily="2" charset="-122"/>
                        <a:ea typeface="华文中宋" pitchFamily="2" charset="-122"/>
                      </a:endParaRPr>
                    </a:p>
                    <a:p>
                      <a:pPr marL="0" marR="0" lvl="0" indent="0" algn="ctr" defTabSz="914400" rtl="0" eaLnBrk="1" fontAlgn="base" latinLnBrk="0" hangingPunct="1">
                        <a:lnSpc>
                          <a:spcPct val="90000"/>
                        </a:lnSpc>
                        <a:spcBef>
                          <a:spcPct val="0"/>
                        </a:spcBef>
                        <a:spcAft>
                          <a:spcPct val="0"/>
                        </a:spcAft>
                        <a:buClrTx/>
                        <a:buSzTx/>
                        <a:buFontTx/>
                        <a:buNone/>
                        <a:tabLst/>
                      </a:pPr>
                      <a:r>
                        <a:rPr kumimoji="1" lang="en-US" altLang="zh-CN" sz="1200" b="1" i="0" u="none" strike="noStrike" cap="none" normalizeH="0" baseline="0" smtClean="0">
                          <a:ln>
                            <a:noFill/>
                          </a:ln>
                          <a:solidFill>
                            <a:schemeClr val="tx1"/>
                          </a:solidFill>
                          <a:effectLst/>
                          <a:latin typeface="华文中宋" pitchFamily="2" charset="-122"/>
                          <a:ea typeface="华文中宋" pitchFamily="2" charset="-122"/>
                        </a:rPr>
                        <a:t>  </a:t>
                      </a:r>
                      <a:r>
                        <a:rPr kumimoji="1" lang="zh-CN" altLang="en-US" sz="1200" b="1" i="0" u="none" strike="noStrike" cap="none" normalizeH="0" baseline="0" smtClean="0">
                          <a:ln>
                            <a:noFill/>
                          </a:ln>
                          <a:solidFill>
                            <a:schemeClr val="tx1"/>
                          </a:solidFill>
                          <a:effectLst/>
                          <a:latin typeface="华文中宋" pitchFamily="2" charset="-122"/>
                          <a:ea typeface="华文中宋" pitchFamily="2" charset="-122"/>
                        </a:rPr>
                        <a:t>４</a:t>
                      </a:r>
                      <a:endParaRPr kumimoji="1" lang="zh-CN" altLang="en-US" sz="1200" b="1" i="0" u="none" strike="noStrike" cap="none" normalizeH="0" baseline="0" smtClean="0">
                        <a:ln>
                          <a:noFill/>
                        </a:ln>
                        <a:solidFill>
                          <a:schemeClr val="tx1"/>
                        </a:solidFill>
                        <a:effectLst/>
                        <a:latin typeface="华文中宋" pitchFamily="2" charset="-122"/>
                        <a:ea typeface="华文中宋" pitchFamily="2" charset="-122"/>
                        <a:cs typeface="Times New Roman" pitchFamily="18" charset="0"/>
                      </a:endParaRPr>
                    </a:p>
                  </a:txBody>
                  <a:tcPr marL="91432" marR="91432" marT="34278" marB="34278"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rowSpan="4">
                  <a:txBody>
                    <a:bodyPr/>
                    <a:lstStyle/>
                    <a:p>
                      <a:pPr marL="0" marR="0" lvl="0" indent="0" algn="ctr" defTabSz="914400" rtl="0" eaLnBrk="1" fontAlgn="base" latinLnBrk="0" hangingPunct="1">
                        <a:lnSpc>
                          <a:spcPct val="90000"/>
                        </a:lnSpc>
                        <a:spcBef>
                          <a:spcPct val="0"/>
                        </a:spcBef>
                        <a:spcAft>
                          <a:spcPct val="0"/>
                        </a:spcAft>
                        <a:buClrTx/>
                        <a:buSzTx/>
                        <a:buFontTx/>
                        <a:buNone/>
                        <a:tabLst/>
                      </a:pPr>
                      <a:endParaRPr kumimoji="1" lang="en-US" altLang="zh-CN" sz="1200" b="1" i="0" u="none" strike="noStrike" cap="none" normalizeH="0" baseline="0" smtClean="0">
                        <a:ln>
                          <a:noFill/>
                        </a:ln>
                        <a:solidFill>
                          <a:schemeClr val="tx1"/>
                        </a:solidFill>
                        <a:effectLst/>
                        <a:latin typeface="华文中宋" pitchFamily="2" charset="-122"/>
                        <a:ea typeface="华文中宋" pitchFamily="2" charset="-122"/>
                      </a:endParaRPr>
                    </a:p>
                    <a:p>
                      <a:pPr marL="0" marR="0" lvl="0" indent="0" algn="ctr" defTabSz="914400" rtl="0" eaLnBrk="1" fontAlgn="base" latinLnBrk="0" hangingPunct="1">
                        <a:lnSpc>
                          <a:spcPct val="90000"/>
                        </a:lnSpc>
                        <a:spcBef>
                          <a:spcPct val="0"/>
                        </a:spcBef>
                        <a:spcAft>
                          <a:spcPct val="0"/>
                        </a:spcAft>
                        <a:buClrTx/>
                        <a:buSzTx/>
                        <a:buFontTx/>
                        <a:buNone/>
                        <a:tabLst/>
                      </a:pPr>
                      <a:endParaRPr kumimoji="1" lang="en-US" altLang="zh-CN" sz="1200" b="1" i="0" u="none" strike="noStrike" cap="none" normalizeH="0" baseline="0" smtClean="0">
                        <a:ln>
                          <a:noFill/>
                        </a:ln>
                        <a:solidFill>
                          <a:schemeClr val="tx1"/>
                        </a:solidFill>
                        <a:effectLst/>
                        <a:latin typeface="华文中宋" pitchFamily="2" charset="-122"/>
                        <a:ea typeface="华文中宋" pitchFamily="2" charset="-122"/>
                      </a:endParaRPr>
                    </a:p>
                    <a:p>
                      <a:pPr marL="0" marR="0" lvl="0" indent="0" algn="ctr" defTabSz="914400" rtl="0" eaLnBrk="1" fontAlgn="base" latinLnBrk="0" hangingPunct="1">
                        <a:lnSpc>
                          <a:spcPct val="90000"/>
                        </a:lnSpc>
                        <a:spcBef>
                          <a:spcPct val="0"/>
                        </a:spcBef>
                        <a:spcAft>
                          <a:spcPct val="0"/>
                        </a:spcAft>
                        <a:buClrTx/>
                        <a:buSzTx/>
                        <a:buFontTx/>
                        <a:buNone/>
                        <a:tabLst/>
                      </a:pPr>
                      <a:r>
                        <a:rPr kumimoji="1" lang="zh-CN" altLang="en-US" sz="1200" b="1" i="0" u="none" strike="noStrike" cap="none" normalizeH="0" baseline="0" smtClean="0">
                          <a:ln>
                            <a:noFill/>
                          </a:ln>
                          <a:solidFill>
                            <a:schemeClr val="tx1"/>
                          </a:solidFill>
                          <a:effectLst/>
                          <a:latin typeface="华文中宋" pitchFamily="2" charset="-122"/>
                          <a:ea typeface="华文中宋" pitchFamily="2" charset="-122"/>
                        </a:rPr>
                        <a:t>１</a:t>
                      </a:r>
                      <a:endParaRPr kumimoji="1" lang="zh-CN" altLang="en-US" sz="1200" b="1" i="0" u="none" strike="noStrike" cap="none" normalizeH="0" baseline="0" smtClean="0">
                        <a:ln>
                          <a:noFill/>
                        </a:ln>
                        <a:solidFill>
                          <a:schemeClr val="tx1"/>
                        </a:solidFill>
                        <a:effectLst/>
                        <a:latin typeface="华文中宋" pitchFamily="2" charset="-122"/>
                        <a:ea typeface="华文中宋" pitchFamily="2" charset="-122"/>
                        <a:cs typeface="Times New Roman" pitchFamily="18" charset="0"/>
                      </a:endParaRPr>
                    </a:p>
                  </a:txBody>
                  <a:tcPr marL="91432" marR="91432" marT="34278" marB="34278"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rowSpan="4">
                  <a:txBody>
                    <a:bodyPr/>
                    <a:lstStyle/>
                    <a:p>
                      <a:pPr marL="0" marR="0" lvl="0" indent="0" algn="ctr" defTabSz="914400" rtl="0" eaLnBrk="1" fontAlgn="base" latinLnBrk="0" hangingPunct="1">
                        <a:lnSpc>
                          <a:spcPct val="90000"/>
                        </a:lnSpc>
                        <a:spcBef>
                          <a:spcPct val="0"/>
                        </a:spcBef>
                        <a:spcAft>
                          <a:spcPct val="0"/>
                        </a:spcAft>
                        <a:buClrTx/>
                        <a:buSzTx/>
                        <a:buFontTx/>
                        <a:buNone/>
                        <a:tabLst/>
                      </a:pPr>
                      <a:endParaRPr kumimoji="1" lang="en-US" altLang="zh-CN" sz="1200" b="1" i="0" u="none" strike="noStrike" cap="none" normalizeH="0" baseline="0" smtClean="0">
                        <a:ln>
                          <a:noFill/>
                        </a:ln>
                        <a:solidFill>
                          <a:schemeClr val="tx1"/>
                        </a:solidFill>
                        <a:effectLst/>
                        <a:latin typeface="华文中宋" pitchFamily="2" charset="-122"/>
                        <a:ea typeface="华文中宋" pitchFamily="2" charset="-122"/>
                      </a:endParaRPr>
                    </a:p>
                    <a:p>
                      <a:pPr marL="0" marR="0" lvl="0" indent="0" algn="ctr" defTabSz="914400" rtl="0" eaLnBrk="1" fontAlgn="base" latinLnBrk="0" hangingPunct="1">
                        <a:lnSpc>
                          <a:spcPct val="90000"/>
                        </a:lnSpc>
                        <a:spcBef>
                          <a:spcPct val="0"/>
                        </a:spcBef>
                        <a:spcAft>
                          <a:spcPct val="0"/>
                        </a:spcAft>
                        <a:buClrTx/>
                        <a:buSzTx/>
                        <a:buFontTx/>
                        <a:buNone/>
                        <a:tabLst/>
                      </a:pPr>
                      <a:endParaRPr kumimoji="1" lang="en-US" altLang="zh-CN" sz="1200" b="1" i="0" u="none" strike="noStrike" cap="none" normalizeH="0" baseline="0" smtClean="0">
                        <a:ln>
                          <a:noFill/>
                        </a:ln>
                        <a:solidFill>
                          <a:schemeClr val="tx1"/>
                        </a:solidFill>
                        <a:effectLst/>
                        <a:latin typeface="华文中宋" pitchFamily="2" charset="-122"/>
                        <a:ea typeface="华文中宋" pitchFamily="2" charset="-122"/>
                      </a:endParaRPr>
                    </a:p>
                    <a:p>
                      <a:pPr marL="0" marR="0" lvl="0" indent="0" algn="ctr" defTabSz="914400" rtl="0" eaLnBrk="1" fontAlgn="base" latinLnBrk="0" hangingPunct="1">
                        <a:lnSpc>
                          <a:spcPct val="90000"/>
                        </a:lnSpc>
                        <a:spcBef>
                          <a:spcPct val="0"/>
                        </a:spcBef>
                        <a:spcAft>
                          <a:spcPct val="0"/>
                        </a:spcAft>
                        <a:buClrTx/>
                        <a:buSzTx/>
                        <a:buFontTx/>
                        <a:buNone/>
                        <a:tabLst/>
                      </a:pPr>
                      <a:r>
                        <a:rPr kumimoji="1" lang="zh-CN" altLang="en-US" sz="1200" b="1" i="0" u="none" strike="noStrike" cap="none" normalizeH="0" baseline="0" smtClean="0">
                          <a:ln>
                            <a:noFill/>
                          </a:ln>
                          <a:solidFill>
                            <a:schemeClr val="tx1"/>
                          </a:solidFill>
                          <a:effectLst/>
                          <a:latin typeface="华文中宋" pitchFamily="2" charset="-122"/>
                          <a:ea typeface="华文中宋" pitchFamily="2" charset="-122"/>
                        </a:rPr>
                        <a:t>３</a:t>
                      </a:r>
                      <a:endParaRPr kumimoji="1" lang="zh-CN" altLang="en-US" sz="1200" b="1" i="0" u="none" strike="noStrike" cap="none" normalizeH="0" baseline="0" smtClean="0">
                        <a:ln>
                          <a:noFill/>
                        </a:ln>
                        <a:solidFill>
                          <a:schemeClr val="tx1"/>
                        </a:solidFill>
                        <a:effectLst/>
                        <a:latin typeface="华文中宋" pitchFamily="2" charset="-122"/>
                        <a:ea typeface="华文中宋" pitchFamily="2" charset="-122"/>
                        <a:cs typeface="Times New Roman" pitchFamily="18" charset="0"/>
                      </a:endParaRPr>
                    </a:p>
                  </a:txBody>
                  <a:tcPr marL="91432" marR="91432" marT="34278" marB="34278"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1" lang="en-US" altLang="zh-CN" sz="1200" b="1" i="1" u="none" strike="noStrike" cap="none" normalizeH="0" baseline="0" smtClean="0">
                          <a:ln>
                            <a:noFill/>
                          </a:ln>
                          <a:solidFill>
                            <a:schemeClr val="tx1"/>
                          </a:solidFill>
                          <a:effectLst/>
                          <a:latin typeface="华文中宋" pitchFamily="2" charset="-122"/>
                          <a:ea typeface="华文中宋" pitchFamily="2" charset="-122"/>
                        </a:rPr>
                        <a:t>a</a:t>
                      </a:r>
                      <a:endParaRPr kumimoji="1" lang="en-US" altLang="zh-CN" sz="1200" b="1" i="1" u="none" strike="noStrike" cap="none" normalizeH="0" baseline="0" smtClean="0">
                        <a:ln>
                          <a:noFill/>
                        </a:ln>
                        <a:solidFill>
                          <a:schemeClr val="tx1"/>
                        </a:solidFill>
                        <a:effectLst/>
                        <a:latin typeface="华文中宋" pitchFamily="2" charset="-122"/>
                        <a:ea typeface="华文中宋" pitchFamily="2" charset="-122"/>
                        <a:cs typeface="Times New Roman" pitchFamily="18" charset="0"/>
                      </a:endParaRPr>
                    </a:p>
                  </a:txBody>
                  <a:tcPr marL="91432" marR="91432" marT="34278" marB="34278"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1" lang="en-US" altLang="zh-CN" sz="1200" b="1" i="1" u="none" strike="noStrike" cap="none" normalizeH="0" baseline="0" smtClean="0">
                          <a:ln>
                            <a:noFill/>
                          </a:ln>
                          <a:solidFill>
                            <a:schemeClr val="tx1"/>
                          </a:solidFill>
                          <a:effectLst/>
                          <a:latin typeface="华文中宋" pitchFamily="2" charset="-122"/>
                          <a:ea typeface="华文中宋" pitchFamily="2" charset="-122"/>
                        </a:rPr>
                        <a:t>bcd</a:t>
                      </a:r>
                      <a:endParaRPr kumimoji="1" lang="en-US" altLang="zh-CN" sz="1200" b="1" i="1" u="none" strike="noStrike" cap="none" normalizeH="0" baseline="0" smtClean="0">
                        <a:ln>
                          <a:noFill/>
                        </a:ln>
                        <a:solidFill>
                          <a:schemeClr val="tx1"/>
                        </a:solidFill>
                        <a:effectLst/>
                        <a:latin typeface="华文中宋" pitchFamily="2" charset="-122"/>
                        <a:ea typeface="华文中宋" pitchFamily="2" charset="-122"/>
                        <a:cs typeface="Times New Roman" pitchFamily="18" charset="0"/>
                      </a:endParaRPr>
                    </a:p>
                  </a:txBody>
                  <a:tcPr marL="91432" marR="91432" marT="34278" marB="34278"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rowSpan="4">
                  <a:txBody>
                    <a:bodyPr/>
                    <a:lstStyle/>
                    <a:p>
                      <a:pPr marL="0" marR="0" lvl="0" indent="0" algn="ctr" defTabSz="914400" rtl="0" eaLnBrk="1" fontAlgn="base" latinLnBrk="0" hangingPunct="1">
                        <a:lnSpc>
                          <a:spcPct val="90000"/>
                        </a:lnSpc>
                        <a:spcBef>
                          <a:spcPct val="0"/>
                        </a:spcBef>
                        <a:spcAft>
                          <a:spcPct val="0"/>
                        </a:spcAft>
                        <a:buClrTx/>
                        <a:buSzTx/>
                        <a:buFontTx/>
                        <a:buNone/>
                        <a:tabLst/>
                      </a:pPr>
                      <a:endParaRPr kumimoji="1" lang="en-US" altLang="zh-CN" sz="1200" b="1" i="0" u="none" strike="noStrike" cap="none" normalizeH="0" baseline="0" smtClean="0">
                        <a:ln>
                          <a:noFill/>
                        </a:ln>
                        <a:solidFill>
                          <a:schemeClr val="tx1"/>
                        </a:solidFill>
                        <a:effectLst/>
                        <a:latin typeface="华文中宋" pitchFamily="2" charset="-122"/>
                        <a:ea typeface="华文中宋" pitchFamily="2" charset="-122"/>
                      </a:endParaRPr>
                    </a:p>
                    <a:p>
                      <a:pPr marL="0" marR="0" lvl="0" indent="0" algn="ctr" defTabSz="914400" rtl="0" eaLnBrk="1" fontAlgn="base" latinLnBrk="0" hangingPunct="1">
                        <a:lnSpc>
                          <a:spcPct val="90000"/>
                        </a:lnSpc>
                        <a:spcBef>
                          <a:spcPct val="0"/>
                        </a:spcBef>
                        <a:spcAft>
                          <a:spcPct val="0"/>
                        </a:spcAft>
                        <a:buClrTx/>
                        <a:buSzTx/>
                        <a:buFontTx/>
                        <a:buNone/>
                        <a:tabLst/>
                      </a:pPr>
                      <a:r>
                        <a:rPr kumimoji="1" lang="en-US" altLang="zh-CN" sz="1200" b="1" i="0" u="none" strike="noStrike" cap="none" normalizeH="0" baseline="0" smtClean="0">
                          <a:ln>
                            <a:noFill/>
                          </a:ln>
                          <a:solidFill>
                            <a:schemeClr val="tx1"/>
                          </a:solidFill>
                          <a:effectLst/>
                          <a:latin typeface="华文中宋" pitchFamily="2" charset="-122"/>
                          <a:ea typeface="华文中宋" pitchFamily="2" charset="-122"/>
                        </a:rPr>
                        <a:t> </a:t>
                      </a:r>
                      <a:r>
                        <a:rPr kumimoji="1" lang="zh-CN" altLang="en-US" sz="1200" b="1" i="0" u="none" strike="noStrike" cap="none" normalizeH="0" baseline="0" smtClean="0">
                          <a:ln>
                            <a:noFill/>
                          </a:ln>
                          <a:solidFill>
                            <a:schemeClr val="tx1"/>
                          </a:solidFill>
                          <a:effectLst/>
                          <a:latin typeface="华文中宋" pitchFamily="2" charset="-122"/>
                          <a:ea typeface="华文中宋" pitchFamily="2" charset="-122"/>
                        </a:rPr>
                        <a:t>４</a:t>
                      </a:r>
                      <a:endParaRPr kumimoji="1" lang="zh-CN" altLang="en-US" sz="1200" b="1" i="0" u="none" strike="noStrike" cap="none" normalizeH="0" baseline="0" smtClean="0">
                        <a:ln>
                          <a:noFill/>
                        </a:ln>
                        <a:solidFill>
                          <a:schemeClr val="tx1"/>
                        </a:solidFill>
                        <a:effectLst/>
                        <a:latin typeface="华文中宋" pitchFamily="2" charset="-122"/>
                        <a:ea typeface="华文中宋" pitchFamily="2" charset="-122"/>
                        <a:cs typeface="Times New Roman" pitchFamily="18" charset="0"/>
                      </a:endParaRPr>
                    </a:p>
                  </a:txBody>
                  <a:tcPr marL="91432" marR="91432" marT="34278" marB="34278"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rowSpan="4">
                  <a:txBody>
                    <a:bodyPr/>
                    <a:lstStyle/>
                    <a:p>
                      <a:pPr marL="0" marR="0" lvl="0" indent="0" algn="ctr" defTabSz="914400" rtl="0" eaLnBrk="1" fontAlgn="base" latinLnBrk="0" hangingPunct="1">
                        <a:lnSpc>
                          <a:spcPct val="90000"/>
                        </a:lnSpc>
                        <a:spcBef>
                          <a:spcPct val="0"/>
                        </a:spcBef>
                        <a:spcAft>
                          <a:spcPct val="0"/>
                        </a:spcAft>
                        <a:buClrTx/>
                        <a:buSzTx/>
                        <a:buFontTx/>
                        <a:buNone/>
                        <a:tabLst/>
                      </a:pPr>
                      <a:endParaRPr kumimoji="1" lang="en-US" altLang="zh-CN" sz="1200" b="1" i="0" u="none" strike="noStrike" cap="none" normalizeH="0" baseline="0" smtClean="0">
                        <a:ln>
                          <a:noFill/>
                        </a:ln>
                        <a:solidFill>
                          <a:schemeClr val="tx1"/>
                        </a:solidFill>
                        <a:effectLst/>
                        <a:latin typeface="华文中宋" pitchFamily="2" charset="-122"/>
                        <a:ea typeface="华文中宋" pitchFamily="2" charset="-122"/>
                      </a:endParaRPr>
                    </a:p>
                    <a:p>
                      <a:pPr marL="0" marR="0" lvl="0" indent="0" algn="ctr" defTabSz="914400" rtl="0" eaLnBrk="1" fontAlgn="base" latinLnBrk="0" hangingPunct="1">
                        <a:lnSpc>
                          <a:spcPct val="90000"/>
                        </a:lnSpc>
                        <a:spcBef>
                          <a:spcPct val="0"/>
                        </a:spcBef>
                        <a:spcAft>
                          <a:spcPct val="0"/>
                        </a:spcAft>
                        <a:buClrTx/>
                        <a:buSzTx/>
                        <a:buFontTx/>
                        <a:buNone/>
                        <a:tabLst/>
                      </a:pPr>
                      <a:r>
                        <a:rPr kumimoji="1" lang="en-US" altLang="zh-CN" sz="1200" b="1" i="0" u="none" strike="noStrike" cap="none" normalizeH="0" baseline="0" smtClean="0">
                          <a:ln>
                            <a:noFill/>
                          </a:ln>
                          <a:solidFill>
                            <a:schemeClr val="tx1"/>
                          </a:solidFill>
                          <a:effectLst/>
                          <a:latin typeface="华文中宋" pitchFamily="2" charset="-122"/>
                          <a:ea typeface="华文中宋" pitchFamily="2" charset="-122"/>
                        </a:rPr>
                        <a:t>4/16</a:t>
                      </a:r>
                    </a:p>
                    <a:p>
                      <a:pPr marL="0" marR="0" lvl="0" indent="0" algn="ctr" defTabSz="914400" rtl="0" eaLnBrk="1" fontAlgn="base" latinLnBrk="0" hangingPunct="1">
                        <a:lnSpc>
                          <a:spcPct val="90000"/>
                        </a:lnSpc>
                        <a:spcBef>
                          <a:spcPct val="0"/>
                        </a:spcBef>
                        <a:spcAft>
                          <a:spcPct val="0"/>
                        </a:spcAft>
                        <a:buClrTx/>
                        <a:buSzTx/>
                        <a:buFontTx/>
                        <a:buNone/>
                        <a:tabLst/>
                      </a:pPr>
                      <a:endParaRPr kumimoji="1" lang="en-US" altLang="zh-CN" sz="1200" b="1" i="0" u="none" strike="noStrike" cap="none" normalizeH="0" baseline="0" smtClean="0">
                        <a:ln>
                          <a:noFill/>
                        </a:ln>
                        <a:solidFill>
                          <a:schemeClr val="tx1"/>
                        </a:solidFill>
                        <a:effectLst/>
                        <a:latin typeface="华文中宋" pitchFamily="2" charset="-122"/>
                        <a:ea typeface="华文中宋" pitchFamily="2" charset="-122"/>
                        <a:cs typeface="Times New Roman" pitchFamily="18" charset="0"/>
                      </a:endParaRPr>
                    </a:p>
                  </a:txBody>
                  <a:tcPr marL="91432" marR="91432" marT="34278" marB="34278"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r>
              <a:tr h="175256">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1" lang="en-US" altLang="zh-CN" sz="1200" b="1" i="1" u="none" strike="noStrike" cap="none" normalizeH="0" baseline="0" smtClean="0">
                          <a:ln>
                            <a:noFill/>
                          </a:ln>
                          <a:solidFill>
                            <a:schemeClr val="tx1"/>
                          </a:solidFill>
                          <a:effectLst/>
                          <a:latin typeface="华文中宋" pitchFamily="2" charset="-122"/>
                          <a:ea typeface="华文中宋" pitchFamily="2" charset="-122"/>
                        </a:rPr>
                        <a:t>b</a:t>
                      </a:r>
                      <a:endParaRPr kumimoji="1" lang="en-US" altLang="zh-CN" sz="1200" b="1" i="1" u="none" strike="noStrike" cap="none" normalizeH="0" baseline="0" smtClean="0">
                        <a:ln>
                          <a:noFill/>
                        </a:ln>
                        <a:solidFill>
                          <a:schemeClr val="tx1"/>
                        </a:solidFill>
                        <a:effectLst/>
                        <a:latin typeface="华文中宋" pitchFamily="2" charset="-122"/>
                        <a:ea typeface="华文中宋" pitchFamily="2" charset="-122"/>
                        <a:cs typeface="Times New Roman" pitchFamily="18" charset="0"/>
                      </a:endParaRPr>
                    </a:p>
                  </a:txBody>
                  <a:tcPr marL="91432" marR="91432" marT="34278" marB="34278"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1" lang="en-US" altLang="zh-CN" sz="1200" b="1" i="1" u="none" strike="noStrike" cap="none" normalizeH="0" baseline="0" smtClean="0">
                          <a:ln>
                            <a:noFill/>
                          </a:ln>
                          <a:solidFill>
                            <a:schemeClr val="tx1"/>
                          </a:solidFill>
                          <a:effectLst/>
                          <a:latin typeface="华文中宋" pitchFamily="2" charset="-122"/>
                          <a:ea typeface="华文中宋" pitchFamily="2" charset="-122"/>
                        </a:rPr>
                        <a:t>acd</a:t>
                      </a:r>
                      <a:endParaRPr kumimoji="1" lang="en-US" altLang="zh-CN" sz="1200" b="1" i="1" u="none" strike="noStrike" cap="none" normalizeH="0" baseline="0" smtClean="0">
                        <a:ln>
                          <a:noFill/>
                        </a:ln>
                        <a:solidFill>
                          <a:schemeClr val="tx1"/>
                        </a:solidFill>
                        <a:effectLst/>
                        <a:latin typeface="华文中宋" pitchFamily="2" charset="-122"/>
                        <a:ea typeface="华文中宋" pitchFamily="2" charset="-122"/>
                        <a:cs typeface="Times New Roman" pitchFamily="18" charset="0"/>
                      </a:endParaRPr>
                    </a:p>
                  </a:txBody>
                  <a:tcPr marL="91432" marR="91432" marT="34278" marB="34278"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vMerge="1">
                  <a:txBody>
                    <a:bodyPr/>
                    <a:lstStyle/>
                    <a:p>
                      <a:endParaRPr lang="zh-CN" altLang="en-US"/>
                    </a:p>
                  </a:txBody>
                  <a:tcPr/>
                </a:tc>
                <a:tc vMerge="1">
                  <a:txBody>
                    <a:bodyPr/>
                    <a:lstStyle/>
                    <a:p>
                      <a:endParaRPr lang="zh-CN" altLang="en-US"/>
                    </a:p>
                  </a:txBody>
                  <a:tcPr/>
                </a:tc>
              </a:tr>
              <a:tr h="175256">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1" lang="en-US" altLang="zh-CN" sz="1200" b="1" i="1" u="none" strike="noStrike" cap="none" normalizeH="0" baseline="0" smtClean="0">
                          <a:ln>
                            <a:noFill/>
                          </a:ln>
                          <a:solidFill>
                            <a:schemeClr val="tx1"/>
                          </a:solidFill>
                          <a:effectLst/>
                          <a:latin typeface="华文中宋" pitchFamily="2" charset="-122"/>
                          <a:ea typeface="华文中宋" pitchFamily="2" charset="-122"/>
                        </a:rPr>
                        <a:t>c</a:t>
                      </a:r>
                      <a:endParaRPr kumimoji="1" lang="en-US" altLang="zh-CN" sz="1200" b="1" i="1" u="none" strike="noStrike" cap="none" normalizeH="0" baseline="0" smtClean="0">
                        <a:ln>
                          <a:noFill/>
                        </a:ln>
                        <a:solidFill>
                          <a:schemeClr val="tx1"/>
                        </a:solidFill>
                        <a:effectLst/>
                        <a:latin typeface="华文中宋" pitchFamily="2" charset="-122"/>
                        <a:ea typeface="华文中宋" pitchFamily="2" charset="-122"/>
                        <a:cs typeface="Times New Roman" pitchFamily="18" charset="0"/>
                      </a:endParaRPr>
                    </a:p>
                  </a:txBody>
                  <a:tcPr marL="91432" marR="91432" marT="34278" marB="34278"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1" lang="en-US" altLang="zh-CN" sz="1200" b="1" i="1" u="none" strike="noStrike" cap="none" normalizeH="0" baseline="0" smtClean="0">
                          <a:ln>
                            <a:noFill/>
                          </a:ln>
                          <a:solidFill>
                            <a:schemeClr val="tx1"/>
                          </a:solidFill>
                          <a:effectLst/>
                          <a:latin typeface="华文中宋" pitchFamily="2" charset="-122"/>
                          <a:ea typeface="华文中宋" pitchFamily="2" charset="-122"/>
                        </a:rPr>
                        <a:t>abd</a:t>
                      </a:r>
                      <a:endParaRPr kumimoji="1" lang="en-US" altLang="zh-CN" sz="1200" b="1" i="1" u="none" strike="noStrike" cap="none" normalizeH="0" baseline="0" smtClean="0">
                        <a:ln>
                          <a:noFill/>
                        </a:ln>
                        <a:solidFill>
                          <a:schemeClr val="tx1"/>
                        </a:solidFill>
                        <a:effectLst/>
                        <a:latin typeface="华文中宋" pitchFamily="2" charset="-122"/>
                        <a:ea typeface="华文中宋" pitchFamily="2" charset="-122"/>
                        <a:cs typeface="Times New Roman" pitchFamily="18" charset="0"/>
                      </a:endParaRPr>
                    </a:p>
                  </a:txBody>
                  <a:tcPr marL="91432" marR="91432" marT="34278" marB="34278"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vMerge="1">
                  <a:txBody>
                    <a:bodyPr/>
                    <a:lstStyle/>
                    <a:p>
                      <a:endParaRPr lang="zh-CN" altLang="en-US"/>
                    </a:p>
                  </a:txBody>
                  <a:tcPr/>
                </a:tc>
                <a:tc vMerge="1">
                  <a:txBody>
                    <a:bodyPr/>
                    <a:lstStyle/>
                    <a:p>
                      <a:endParaRPr lang="zh-CN" altLang="en-US"/>
                    </a:p>
                  </a:txBody>
                  <a:tcPr/>
                </a:tc>
              </a:tr>
              <a:tr h="175256">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1" lang="en-US" altLang="zh-CN" sz="1200" b="1" i="1" u="none" strike="noStrike" cap="none" normalizeH="0" baseline="0" smtClean="0">
                          <a:ln>
                            <a:noFill/>
                          </a:ln>
                          <a:solidFill>
                            <a:schemeClr val="tx1"/>
                          </a:solidFill>
                          <a:effectLst/>
                          <a:latin typeface="华文中宋" pitchFamily="2" charset="-122"/>
                          <a:ea typeface="华文中宋" pitchFamily="2" charset="-122"/>
                        </a:rPr>
                        <a:t>d</a:t>
                      </a:r>
                      <a:endParaRPr kumimoji="1" lang="en-US" altLang="zh-CN" sz="1200" b="1" i="1" u="none" strike="noStrike" cap="none" normalizeH="0" baseline="0" smtClean="0">
                        <a:ln>
                          <a:noFill/>
                        </a:ln>
                        <a:solidFill>
                          <a:schemeClr val="tx1"/>
                        </a:solidFill>
                        <a:effectLst/>
                        <a:latin typeface="华文中宋" pitchFamily="2" charset="-122"/>
                        <a:ea typeface="华文中宋" pitchFamily="2" charset="-122"/>
                        <a:cs typeface="Times New Roman" pitchFamily="18" charset="0"/>
                      </a:endParaRPr>
                    </a:p>
                  </a:txBody>
                  <a:tcPr marL="91432" marR="91432" marT="34278" marB="34278"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1" lang="en-US" altLang="zh-CN" sz="1200" b="1" i="1" u="none" strike="noStrike" cap="none" normalizeH="0" baseline="0" smtClean="0">
                          <a:ln>
                            <a:noFill/>
                          </a:ln>
                          <a:solidFill>
                            <a:schemeClr val="tx1"/>
                          </a:solidFill>
                          <a:effectLst/>
                          <a:latin typeface="华文中宋" pitchFamily="2" charset="-122"/>
                          <a:ea typeface="华文中宋" pitchFamily="2" charset="-122"/>
                        </a:rPr>
                        <a:t>abc</a:t>
                      </a:r>
                      <a:endParaRPr kumimoji="1" lang="en-US" altLang="zh-CN" sz="1200" b="1" i="1" u="none" strike="noStrike" cap="none" normalizeH="0" baseline="0" smtClean="0">
                        <a:ln>
                          <a:noFill/>
                        </a:ln>
                        <a:solidFill>
                          <a:schemeClr val="tx1"/>
                        </a:solidFill>
                        <a:effectLst/>
                        <a:latin typeface="华文中宋" pitchFamily="2" charset="-122"/>
                        <a:ea typeface="华文中宋" pitchFamily="2" charset="-122"/>
                        <a:cs typeface="Times New Roman" pitchFamily="18" charset="0"/>
                      </a:endParaRPr>
                    </a:p>
                  </a:txBody>
                  <a:tcPr marL="91432" marR="91432" marT="34278" marB="34278"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vMerge="1">
                  <a:txBody>
                    <a:bodyPr/>
                    <a:lstStyle/>
                    <a:p>
                      <a:endParaRPr lang="zh-CN" altLang="en-US"/>
                    </a:p>
                  </a:txBody>
                  <a:tcPr/>
                </a:tc>
                <a:tc vMerge="1">
                  <a:txBody>
                    <a:bodyPr/>
                    <a:lstStyle/>
                    <a:p>
                      <a:endParaRPr lang="zh-CN" altLang="en-US"/>
                    </a:p>
                  </a:txBody>
                  <a:tcPr/>
                </a:tc>
              </a:tr>
              <a:tr h="175256">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1" lang="zh-CN" altLang="en-US" sz="1200" b="1" i="0" u="none" strike="noStrike" cap="none" normalizeH="0" baseline="0" smtClean="0">
                          <a:ln>
                            <a:noFill/>
                          </a:ln>
                          <a:solidFill>
                            <a:schemeClr val="tx1"/>
                          </a:solidFill>
                          <a:effectLst/>
                          <a:latin typeface="华文中宋" pitchFamily="2" charset="-122"/>
                          <a:ea typeface="华文中宋" pitchFamily="2" charset="-122"/>
                        </a:rPr>
                        <a:t>５</a:t>
                      </a:r>
                      <a:endParaRPr kumimoji="1" lang="zh-CN" altLang="en-US" sz="1200" b="1" i="0" u="none" strike="noStrike" cap="none" normalizeH="0" baseline="0" smtClean="0">
                        <a:ln>
                          <a:noFill/>
                        </a:ln>
                        <a:solidFill>
                          <a:schemeClr val="tx1"/>
                        </a:solidFill>
                        <a:effectLst/>
                        <a:latin typeface="华文中宋" pitchFamily="2" charset="-122"/>
                        <a:ea typeface="华文中宋" pitchFamily="2" charset="-122"/>
                        <a:cs typeface="Times New Roman" pitchFamily="18" charset="0"/>
                      </a:endParaRPr>
                    </a:p>
                  </a:txBody>
                  <a:tcPr marL="91432" marR="91432" marT="34278" marB="34278"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1" lang="zh-CN" altLang="en-US" sz="1200" b="1" i="0" u="none" strike="noStrike" cap="none" normalizeH="0" baseline="0" smtClean="0">
                          <a:ln>
                            <a:noFill/>
                          </a:ln>
                          <a:solidFill>
                            <a:schemeClr val="tx1"/>
                          </a:solidFill>
                          <a:effectLst/>
                          <a:latin typeface="华文中宋" pitchFamily="2" charset="-122"/>
                          <a:ea typeface="华文中宋" pitchFamily="2" charset="-122"/>
                        </a:rPr>
                        <a:t>０</a:t>
                      </a:r>
                      <a:endParaRPr kumimoji="1" lang="zh-CN" altLang="en-US" sz="1200" b="1" i="0" u="none" strike="noStrike" cap="none" normalizeH="0" baseline="0" smtClean="0">
                        <a:ln>
                          <a:noFill/>
                        </a:ln>
                        <a:solidFill>
                          <a:schemeClr val="tx1"/>
                        </a:solidFill>
                        <a:effectLst/>
                        <a:latin typeface="华文中宋" pitchFamily="2" charset="-122"/>
                        <a:ea typeface="华文中宋" pitchFamily="2" charset="-122"/>
                        <a:cs typeface="Times New Roman" pitchFamily="18" charset="0"/>
                      </a:endParaRPr>
                    </a:p>
                  </a:txBody>
                  <a:tcPr marL="91432" marR="91432" marT="34278" marB="34278"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EBF1DE"/>
                    </a:solid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1" lang="zh-CN" altLang="en-US" sz="1200" b="1" i="0" u="none" strike="noStrike" cap="none" normalizeH="0" baseline="0" smtClean="0">
                          <a:ln>
                            <a:noFill/>
                          </a:ln>
                          <a:solidFill>
                            <a:schemeClr val="tx1"/>
                          </a:solidFill>
                          <a:effectLst/>
                          <a:latin typeface="华文中宋" pitchFamily="2" charset="-122"/>
                          <a:ea typeface="华文中宋" pitchFamily="2" charset="-122"/>
                        </a:rPr>
                        <a:t>４</a:t>
                      </a:r>
                      <a:endParaRPr kumimoji="1" lang="zh-CN" altLang="en-US" sz="1200" b="1" i="0" u="none" strike="noStrike" cap="none" normalizeH="0" baseline="0" smtClean="0">
                        <a:ln>
                          <a:noFill/>
                        </a:ln>
                        <a:solidFill>
                          <a:schemeClr val="tx1"/>
                        </a:solidFill>
                        <a:effectLst/>
                        <a:latin typeface="华文中宋" pitchFamily="2" charset="-122"/>
                        <a:ea typeface="华文中宋" pitchFamily="2" charset="-122"/>
                        <a:cs typeface="Times New Roman" pitchFamily="18" charset="0"/>
                      </a:endParaRPr>
                    </a:p>
                  </a:txBody>
                  <a:tcPr marL="91432" marR="91432" marT="34278" marB="34278"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EBF1DE"/>
                    </a:solid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1" lang="en-US" altLang="zh-CN" sz="1200" b="1" i="1" u="none" strike="noStrike" cap="none" normalizeH="0" baseline="0" dirty="0" smtClean="0">
                          <a:ln>
                            <a:noFill/>
                          </a:ln>
                          <a:solidFill>
                            <a:schemeClr val="tx1"/>
                          </a:solidFill>
                          <a:effectLst/>
                          <a:latin typeface="华文中宋" pitchFamily="2" charset="-122"/>
                          <a:ea typeface="华文中宋" pitchFamily="2" charset="-122"/>
                        </a:rPr>
                        <a:t>0</a:t>
                      </a:r>
                      <a:endParaRPr kumimoji="1" lang="en-US" altLang="zh-CN" sz="1200" b="1" i="1" u="none" strike="noStrike" cap="none" normalizeH="0" baseline="0" dirty="0" smtClean="0">
                        <a:ln>
                          <a:noFill/>
                        </a:ln>
                        <a:solidFill>
                          <a:schemeClr val="tx1"/>
                        </a:solidFill>
                        <a:effectLst/>
                        <a:latin typeface="华文中宋" pitchFamily="2" charset="-122"/>
                        <a:ea typeface="华文中宋" pitchFamily="2" charset="-122"/>
                        <a:cs typeface="Times New Roman" pitchFamily="18" charset="0"/>
                      </a:endParaRPr>
                    </a:p>
                  </a:txBody>
                  <a:tcPr marL="91432" marR="91432" marT="34278" marB="34278"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EBF1DE"/>
                    </a:solid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1" lang="en-US" altLang="zh-CN" sz="1200" b="1" i="1" u="none" strike="noStrike" cap="none" normalizeH="0" baseline="0" dirty="0" err="1" smtClean="0">
                          <a:ln>
                            <a:noFill/>
                          </a:ln>
                          <a:solidFill>
                            <a:schemeClr val="tx1"/>
                          </a:solidFill>
                          <a:effectLst/>
                          <a:latin typeface="华文中宋" pitchFamily="2" charset="-122"/>
                          <a:ea typeface="华文中宋" pitchFamily="2" charset="-122"/>
                        </a:rPr>
                        <a:t>abcd</a:t>
                      </a:r>
                      <a:endParaRPr kumimoji="1" lang="en-US" altLang="zh-CN" sz="1200" b="1" i="1" u="none" strike="noStrike" cap="none" normalizeH="0" baseline="0" dirty="0" smtClean="0">
                        <a:ln>
                          <a:noFill/>
                        </a:ln>
                        <a:solidFill>
                          <a:schemeClr val="tx1"/>
                        </a:solidFill>
                        <a:effectLst/>
                        <a:latin typeface="华文中宋" pitchFamily="2" charset="-122"/>
                        <a:ea typeface="华文中宋" pitchFamily="2" charset="-122"/>
                        <a:cs typeface="Times New Roman" pitchFamily="18" charset="0"/>
                      </a:endParaRPr>
                    </a:p>
                  </a:txBody>
                  <a:tcPr marL="91432" marR="91432" marT="34278" marB="34278"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EBF1DE"/>
                    </a:solid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1" lang="en-US" altLang="zh-CN" sz="1200" b="1" i="0" u="none" strike="noStrike" cap="none" normalizeH="0" baseline="0" dirty="0" smtClean="0">
                          <a:ln>
                            <a:noFill/>
                          </a:ln>
                          <a:solidFill>
                            <a:schemeClr val="tx1"/>
                          </a:solidFill>
                          <a:effectLst/>
                          <a:latin typeface="华文中宋" pitchFamily="2" charset="-122"/>
                          <a:ea typeface="华文中宋" pitchFamily="2" charset="-122"/>
                        </a:rPr>
                        <a:t> </a:t>
                      </a:r>
                      <a:r>
                        <a:rPr kumimoji="1" lang="zh-CN" altLang="en-US" sz="1200" b="1" i="0" u="none" strike="noStrike" cap="none" normalizeH="0" baseline="0" dirty="0" smtClean="0">
                          <a:ln>
                            <a:noFill/>
                          </a:ln>
                          <a:solidFill>
                            <a:schemeClr val="tx1"/>
                          </a:solidFill>
                          <a:effectLst/>
                          <a:latin typeface="华文中宋" pitchFamily="2" charset="-122"/>
                          <a:ea typeface="华文中宋" pitchFamily="2" charset="-122"/>
                        </a:rPr>
                        <a:t>１</a:t>
                      </a:r>
                      <a:endParaRPr kumimoji="1" lang="zh-CN" altLang="en-US" sz="1200" b="1" i="0" u="none" strike="noStrike" cap="none" normalizeH="0" baseline="0" dirty="0" smtClean="0">
                        <a:ln>
                          <a:noFill/>
                        </a:ln>
                        <a:solidFill>
                          <a:schemeClr val="tx1"/>
                        </a:solidFill>
                        <a:effectLst/>
                        <a:latin typeface="华文中宋" pitchFamily="2" charset="-122"/>
                        <a:ea typeface="华文中宋" pitchFamily="2" charset="-122"/>
                        <a:cs typeface="Times New Roman" pitchFamily="18" charset="0"/>
                      </a:endParaRPr>
                    </a:p>
                  </a:txBody>
                  <a:tcPr marL="91432" marR="91432" marT="34278" marB="34278"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EBF1DE"/>
                    </a:solid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1" lang="en-US" altLang="zh-CN" sz="1200" b="1" i="0" u="none" strike="noStrike" cap="none" normalizeH="0" baseline="0" dirty="0" smtClean="0">
                          <a:ln>
                            <a:noFill/>
                          </a:ln>
                          <a:solidFill>
                            <a:schemeClr val="tx1"/>
                          </a:solidFill>
                          <a:effectLst/>
                          <a:latin typeface="华文中宋" pitchFamily="2" charset="-122"/>
                          <a:ea typeface="华文中宋" pitchFamily="2" charset="-122"/>
                        </a:rPr>
                        <a:t>1/16</a:t>
                      </a:r>
                      <a:endParaRPr kumimoji="1" lang="en-US" altLang="zh-CN" sz="1200" b="1" i="0" u="none" strike="noStrike" cap="none" normalizeH="0" baseline="0" dirty="0" smtClean="0">
                        <a:ln>
                          <a:noFill/>
                        </a:ln>
                        <a:solidFill>
                          <a:schemeClr val="tx1"/>
                        </a:solidFill>
                        <a:effectLst/>
                        <a:latin typeface="华文中宋" pitchFamily="2" charset="-122"/>
                        <a:ea typeface="华文中宋" pitchFamily="2" charset="-122"/>
                        <a:cs typeface="Times New Roman" pitchFamily="18" charset="0"/>
                      </a:endParaRPr>
                    </a:p>
                  </a:txBody>
                  <a:tcPr marL="91432" marR="91432" marT="34278" marB="34278"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EBF1DE"/>
                    </a:solidFill>
                  </a:tcPr>
                </a:tc>
              </a:tr>
            </a:tbl>
          </a:graphicData>
        </a:graphic>
      </p:graphicFrame>
      <p:sp>
        <p:nvSpPr>
          <p:cNvPr id="4" name="Text Box 5"/>
          <p:cNvSpPr txBox="1">
            <a:spLocks noChangeArrowheads="1"/>
          </p:cNvSpPr>
          <p:nvPr/>
        </p:nvSpPr>
        <p:spPr bwMode="auto">
          <a:xfrm>
            <a:off x="4859338" y="828675"/>
            <a:ext cx="3122612" cy="374650"/>
          </a:xfrm>
          <a:prstGeom prst="rect">
            <a:avLst/>
          </a:prstGeom>
          <a:noFill/>
          <a:ln w="9525">
            <a:noFill/>
            <a:miter lim="800000"/>
            <a:headEnd/>
            <a:tailEnd/>
          </a:ln>
        </p:spPr>
        <p:txBody>
          <a:bodyPr>
            <a:spAutoFit/>
          </a:bodyPr>
          <a:lstStyle/>
          <a:p>
            <a:pPr>
              <a:lnSpc>
                <a:spcPct val="110000"/>
              </a:lnSpc>
            </a:pPr>
            <a:r>
              <a:rPr kumimoji="1" lang="zh-CN" altLang="en-US" b="1">
                <a:solidFill>
                  <a:srgbClr val="FF00FF"/>
                </a:solidFill>
                <a:latin typeface="华文中宋"/>
                <a:ea typeface="华文中宋"/>
                <a:cs typeface="华文中宋"/>
              </a:rPr>
              <a:t>微观态等概率原理  </a:t>
            </a:r>
          </a:p>
        </p:txBody>
      </p:sp>
      <p:sp>
        <p:nvSpPr>
          <p:cNvPr id="5" name="Text Box 6"/>
          <p:cNvSpPr txBox="1">
            <a:spLocks noChangeArrowheads="1"/>
          </p:cNvSpPr>
          <p:nvPr/>
        </p:nvSpPr>
        <p:spPr bwMode="auto">
          <a:xfrm>
            <a:off x="4787900" y="1243013"/>
            <a:ext cx="3978275" cy="681037"/>
          </a:xfrm>
          <a:prstGeom prst="rect">
            <a:avLst/>
          </a:prstGeom>
          <a:noFill/>
          <a:ln w="9525">
            <a:noFill/>
            <a:miter lim="800000"/>
            <a:headEnd/>
            <a:tailEnd/>
          </a:ln>
        </p:spPr>
        <p:txBody>
          <a:bodyPr>
            <a:spAutoFit/>
          </a:bodyPr>
          <a:lstStyle/>
          <a:p>
            <a:pPr>
              <a:lnSpc>
                <a:spcPct val="110000"/>
              </a:lnSpc>
            </a:pPr>
            <a:r>
              <a:rPr kumimoji="1" lang="en-US" altLang="zh-CN" b="1">
                <a:solidFill>
                  <a:srgbClr val="0000FF"/>
                </a:solidFill>
                <a:latin typeface="华文中宋"/>
                <a:ea typeface="华文中宋"/>
                <a:cs typeface="华文中宋"/>
              </a:rPr>
              <a:t>      </a:t>
            </a:r>
            <a:r>
              <a:rPr kumimoji="1" lang="zh-CN" altLang="en-US" b="1">
                <a:solidFill>
                  <a:srgbClr val="0000FF"/>
                </a:solidFill>
                <a:latin typeface="华文中宋"/>
                <a:ea typeface="华文中宋"/>
                <a:cs typeface="华文中宋"/>
              </a:rPr>
              <a:t>对于孤立系统，各微观状态出现的概率是相同的。 </a:t>
            </a:r>
          </a:p>
        </p:txBody>
      </p:sp>
      <p:sp>
        <p:nvSpPr>
          <p:cNvPr id="6" name="Text Box 7"/>
          <p:cNvSpPr txBox="1">
            <a:spLocks noChangeArrowheads="1"/>
          </p:cNvSpPr>
          <p:nvPr/>
        </p:nvSpPr>
        <p:spPr bwMode="auto">
          <a:xfrm>
            <a:off x="4932363" y="1885950"/>
            <a:ext cx="3960812" cy="398463"/>
          </a:xfrm>
          <a:prstGeom prst="rect">
            <a:avLst/>
          </a:prstGeom>
          <a:noFill/>
          <a:ln w="9525">
            <a:noFill/>
            <a:miter lim="800000"/>
            <a:headEnd/>
            <a:tailEnd/>
          </a:ln>
        </p:spPr>
        <p:txBody>
          <a:bodyPr>
            <a:spAutoFit/>
          </a:bodyPr>
          <a:lstStyle/>
          <a:p>
            <a:pPr eaLnBrk="0" hangingPunct="0">
              <a:lnSpc>
                <a:spcPct val="110000"/>
              </a:lnSpc>
            </a:pPr>
            <a:r>
              <a:rPr lang="zh-CN" altLang="en-US" b="1">
                <a:solidFill>
                  <a:srgbClr val="000000"/>
                </a:solidFill>
                <a:latin typeface="华文中宋"/>
                <a:ea typeface="华文中宋"/>
                <a:cs typeface="华文中宋"/>
              </a:rPr>
              <a:t>每一微观态出现的概率为</a:t>
            </a:r>
          </a:p>
        </p:txBody>
      </p:sp>
      <p:graphicFrame>
        <p:nvGraphicFramePr>
          <p:cNvPr id="7" name="Object 6"/>
          <p:cNvGraphicFramePr>
            <a:graphicFrameLocks noChangeAspect="1"/>
          </p:cNvGraphicFramePr>
          <p:nvPr/>
        </p:nvGraphicFramePr>
        <p:xfrm>
          <a:off x="6300788" y="2259013"/>
          <a:ext cx="1081087" cy="600075"/>
        </p:xfrm>
        <a:graphic>
          <a:graphicData uri="http://schemas.openxmlformats.org/presentationml/2006/ole">
            <p:oleObj spid="_x0000_s44038" name="Equation" r:id="rId3" imgW="545626" imgH="406048" progId="Equation.DSMT4">
              <p:embed/>
            </p:oleObj>
          </a:graphicData>
        </a:graphic>
      </p:graphicFrame>
      <p:sp>
        <p:nvSpPr>
          <p:cNvPr id="2" name="Text Box 5"/>
          <p:cNvSpPr txBox="1">
            <a:spLocks noChangeArrowheads="1"/>
          </p:cNvSpPr>
          <p:nvPr/>
        </p:nvSpPr>
        <p:spPr bwMode="auto">
          <a:xfrm>
            <a:off x="4859338" y="2859088"/>
            <a:ext cx="3122612" cy="376237"/>
          </a:xfrm>
          <a:prstGeom prst="rect">
            <a:avLst/>
          </a:prstGeom>
          <a:noFill/>
          <a:ln w="9525">
            <a:noFill/>
            <a:miter lim="800000"/>
            <a:headEnd/>
            <a:tailEnd/>
          </a:ln>
        </p:spPr>
        <p:txBody>
          <a:bodyPr>
            <a:spAutoFit/>
          </a:bodyPr>
          <a:lstStyle/>
          <a:p>
            <a:pPr>
              <a:lnSpc>
                <a:spcPct val="110000"/>
              </a:lnSpc>
            </a:pPr>
            <a:r>
              <a:rPr kumimoji="1" lang="zh-CN" altLang="en-US" b="1">
                <a:solidFill>
                  <a:srgbClr val="FF00FF"/>
                </a:solidFill>
                <a:latin typeface="华文中宋"/>
                <a:ea typeface="华文中宋"/>
                <a:cs typeface="华文中宋"/>
              </a:rPr>
              <a:t>宏观态不等概率  </a:t>
            </a:r>
          </a:p>
        </p:txBody>
      </p:sp>
      <p:sp>
        <p:nvSpPr>
          <p:cNvPr id="51415" name="Text Box 215"/>
          <p:cNvSpPr txBox="1">
            <a:spLocks noChangeArrowheads="1"/>
          </p:cNvSpPr>
          <p:nvPr/>
        </p:nvSpPr>
        <p:spPr bwMode="auto">
          <a:xfrm>
            <a:off x="4787900" y="3249613"/>
            <a:ext cx="4176713" cy="1338262"/>
          </a:xfrm>
          <a:prstGeom prst="rect">
            <a:avLst/>
          </a:prstGeom>
          <a:noFill/>
          <a:ln w="9525">
            <a:noFill/>
            <a:miter lim="800000"/>
            <a:headEnd/>
            <a:tailEnd/>
          </a:ln>
        </p:spPr>
        <p:txBody>
          <a:bodyPr>
            <a:spAutoFit/>
          </a:bodyPr>
          <a:lstStyle/>
          <a:p>
            <a:pPr>
              <a:lnSpc>
                <a:spcPct val="90000"/>
              </a:lnSpc>
            </a:pPr>
            <a:r>
              <a:rPr kumimoji="1" lang="en-US" altLang="zh-CN" b="1">
                <a:solidFill>
                  <a:srgbClr val="000000"/>
                </a:solidFill>
                <a:latin typeface="华文中宋"/>
                <a:ea typeface="华文中宋"/>
                <a:cs typeface="华文中宋"/>
              </a:rPr>
              <a:t>  </a:t>
            </a:r>
            <a:r>
              <a:rPr kumimoji="1" lang="zh-CN" altLang="en-US" b="1">
                <a:solidFill>
                  <a:srgbClr val="000000"/>
                </a:solidFill>
                <a:latin typeface="华文中宋"/>
                <a:ea typeface="华文中宋"/>
                <a:cs typeface="华文中宋"/>
              </a:rPr>
              <a:t>由于各宏观态所包容的微观态数目是不相等的，因此，</a:t>
            </a:r>
            <a:r>
              <a:rPr kumimoji="1" lang="zh-CN" altLang="en-US" b="1">
                <a:solidFill>
                  <a:srgbClr val="0066FF"/>
                </a:solidFill>
                <a:latin typeface="华文中宋"/>
                <a:ea typeface="华文中宋"/>
                <a:cs typeface="华文中宋"/>
              </a:rPr>
              <a:t> </a:t>
            </a:r>
            <a:r>
              <a:rPr kumimoji="1" lang="zh-CN" altLang="en-US" b="1">
                <a:solidFill>
                  <a:srgbClr val="CC0000"/>
                </a:solidFill>
                <a:latin typeface="华文中宋"/>
                <a:ea typeface="华文中宋"/>
                <a:cs typeface="华文中宋"/>
              </a:rPr>
              <a:t>热力学的宏观态出现的概率是不等的，那一个宏观态所包容的微观态数目越多，那一种宏观态出现的概率就大。</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nodeType="clickEffect">
                                  <p:stCondLst>
                                    <p:cond delay="0"/>
                                  </p:stCondLst>
                                  <p:childTnLst>
                                    <p:set>
                                      <p:cBhvr>
                                        <p:cTn id="6" dur="1" fill="hold">
                                          <p:stCondLst>
                                            <p:cond delay="0"/>
                                          </p:stCondLst>
                                        </p:cTn>
                                        <p:tgtEl>
                                          <p:spTgt spid="51413"/>
                                        </p:tgtEl>
                                        <p:attrNameLst>
                                          <p:attrName>style.visibility</p:attrName>
                                        </p:attrNameLst>
                                      </p:cBhvr>
                                      <p:to>
                                        <p:strVal val="visible"/>
                                      </p:to>
                                    </p:set>
                                    <p:anim calcmode="lin" valueType="num">
                                      <p:cBhvr>
                                        <p:cTn id="7" dur="500" fill="hold"/>
                                        <p:tgtEl>
                                          <p:spTgt spid="51413"/>
                                        </p:tgtEl>
                                        <p:attrNameLst>
                                          <p:attrName>ppt_w</p:attrName>
                                        </p:attrNameLst>
                                      </p:cBhvr>
                                      <p:tavLst>
                                        <p:tav tm="0">
                                          <p:val>
                                            <p:fltVal val="0"/>
                                          </p:val>
                                        </p:tav>
                                        <p:tav tm="100000">
                                          <p:val>
                                            <p:strVal val="#ppt_w"/>
                                          </p:val>
                                        </p:tav>
                                      </p:tavLst>
                                    </p:anim>
                                    <p:anim calcmode="lin" valueType="num">
                                      <p:cBhvr>
                                        <p:cTn id="8" dur="500" fill="hold"/>
                                        <p:tgtEl>
                                          <p:spTgt spid="51413"/>
                                        </p:tgtEl>
                                        <p:attrNameLst>
                                          <p:attrName>ppt_h</p:attrName>
                                        </p:attrNameLst>
                                      </p:cBhvr>
                                      <p:tavLst>
                                        <p:tav tm="0">
                                          <p:val>
                                            <p:fltVal val="0"/>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wipe(left)">
                                      <p:cBhvr>
                                        <p:cTn id="13" dur="500"/>
                                        <p:tgtEl>
                                          <p:spTgt spid="4"/>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wipe(left)">
                                      <p:cBhvr>
                                        <p:cTn id="18" dur="500"/>
                                        <p:tgtEl>
                                          <p:spTgt spid="5"/>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wipe(left)">
                                      <p:cBhvr>
                                        <p:cTn id="23" dur="500"/>
                                        <p:tgtEl>
                                          <p:spTgt spid="6"/>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nodeType="click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wipe(left)">
                                      <p:cBhvr>
                                        <p:cTn id="28" dur="500"/>
                                        <p:tgtEl>
                                          <p:spTgt spid="7"/>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2"/>
                                        </p:tgtEl>
                                        <p:attrNameLst>
                                          <p:attrName>style.visibility</p:attrName>
                                        </p:attrNameLst>
                                      </p:cBhvr>
                                      <p:to>
                                        <p:strVal val="visible"/>
                                      </p:to>
                                    </p:set>
                                    <p:animEffect transition="in" filter="wipe(left)">
                                      <p:cBhvr>
                                        <p:cTn id="33" dur="500"/>
                                        <p:tgtEl>
                                          <p:spTgt spid="2"/>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4" presetClass="entr" presetSubtype="16" fill="hold" grpId="0" nodeType="clickEffect">
                                  <p:stCondLst>
                                    <p:cond delay="0"/>
                                  </p:stCondLst>
                                  <p:childTnLst>
                                    <p:set>
                                      <p:cBhvr>
                                        <p:cTn id="37" dur="1" fill="hold">
                                          <p:stCondLst>
                                            <p:cond delay="0"/>
                                          </p:stCondLst>
                                        </p:cTn>
                                        <p:tgtEl>
                                          <p:spTgt spid="51415"/>
                                        </p:tgtEl>
                                        <p:attrNameLst>
                                          <p:attrName>style.visibility</p:attrName>
                                        </p:attrNameLst>
                                      </p:cBhvr>
                                      <p:to>
                                        <p:strVal val="visible"/>
                                      </p:to>
                                    </p:set>
                                    <p:animEffect transition="in" filter="box(in)">
                                      <p:cBhvr>
                                        <p:cTn id="38" dur="500"/>
                                        <p:tgtEl>
                                          <p:spTgt spid="514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2" grpId="0"/>
      <p:bldP spid="51415" grpId="0" autoUpdateAnimBg="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43" name="Text Box 15"/>
          <p:cNvSpPr txBox="1">
            <a:spLocks noChangeArrowheads="1"/>
          </p:cNvSpPr>
          <p:nvPr/>
        </p:nvSpPr>
        <p:spPr bwMode="auto">
          <a:xfrm>
            <a:off x="652463" y="828675"/>
            <a:ext cx="2970212" cy="374650"/>
          </a:xfrm>
          <a:prstGeom prst="rect">
            <a:avLst/>
          </a:prstGeom>
          <a:noFill/>
          <a:ln w="9525">
            <a:noFill/>
            <a:miter lim="800000"/>
            <a:headEnd/>
            <a:tailEnd/>
          </a:ln>
        </p:spPr>
        <p:txBody>
          <a:bodyPr>
            <a:spAutoFit/>
          </a:bodyPr>
          <a:lstStyle/>
          <a:p>
            <a:pPr eaLnBrk="0" hangingPunct="0">
              <a:lnSpc>
                <a:spcPct val="110000"/>
              </a:lnSpc>
            </a:pPr>
            <a:r>
              <a:rPr lang="zh-CN" altLang="en-US" b="1">
                <a:solidFill>
                  <a:srgbClr val="FF00FF"/>
                </a:solidFill>
                <a:latin typeface="华文中宋"/>
                <a:ea typeface="华文中宋"/>
                <a:cs typeface="华文中宋"/>
              </a:rPr>
              <a:t>（</a:t>
            </a:r>
            <a:r>
              <a:rPr lang="en-US" altLang="zh-CN" b="1">
                <a:solidFill>
                  <a:srgbClr val="FF00FF"/>
                </a:solidFill>
                <a:latin typeface="华文中宋"/>
                <a:ea typeface="华文中宋"/>
                <a:cs typeface="华文中宋"/>
              </a:rPr>
              <a:t>2</a:t>
            </a:r>
            <a:r>
              <a:rPr lang="zh-CN" altLang="en-US" b="1">
                <a:solidFill>
                  <a:srgbClr val="FF00FF"/>
                </a:solidFill>
                <a:latin typeface="华文中宋"/>
                <a:ea typeface="华文中宋"/>
                <a:cs typeface="华文中宋"/>
              </a:rPr>
              <a:t>）热力学概率</a:t>
            </a:r>
          </a:p>
        </p:txBody>
      </p:sp>
      <p:sp>
        <p:nvSpPr>
          <p:cNvPr id="124944" name="Text Box 16"/>
          <p:cNvSpPr txBox="1">
            <a:spLocks noChangeArrowheads="1"/>
          </p:cNvSpPr>
          <p:nvPr/>
        </p:nvSpPr>
        <p:spPr bwMode="auto">
          <a:xfrm>
            <a:off x="868363" y="1166813"/>
            <a:ext cx="7664450" cy="646112"/>
          </a:xfrm>
          <a:prstGeom prst="rect">
            <a:avLst/>
          </a:prstGeom>
          <a:noFill/>
          <a:ln w="9525">
            <a:noFill/>
            <a:miter lim="800000"/>
            <a:headEnd/>
            <a:tailEnd/>
          </a:ln>
        </p:spPr>
        <p:txBody>
          <a:bodyPr>
            <a:spAutoFit/>
          </a:bodyPr>
          <a:lstStyle/>
          <a:p>
            <a:pPr eaLnBrk="0" hangingPunct="0"/>
            <a:r>
              <a:rPr lang="en-US" altLang="zh-CN" b="1">
                <a:solidFill>
                  <a:srgbClr val="0000FF"/>
                </a:solidFill>
                <a:latin typeface="华文中宋"/>
                <a:ea typeface="华文中宋"/>
                <a:cs typeface="华文中宋"/>
              </a:rPr>
              <a:t>       </a:t>
            </a:r>
            <a:r>
              <a:rPr lang="zh-CN" altLang="en-US" b="1">
                <a:solidFill>
                  <a:srgbClr val="0000FF"/>
                </a:solidFill>
                <a:latin typeface="华文中宋"/>
                <a:ea typeface="华文中宋"/>
                <a:cs typeface="华文中宋"/>
              </a:rPr>
              <a:t>某宏观态所对应的微观态数叫做该宏观态的热力学概率（微观容配数）用</a:t>
            </a:r>
            <a:r>
              <a:rPr lang="el-GR" altLang="zh-CN" b="1">
                <a:solidFill>
                  <a:srgbClr val="0000FF"/>
                </a:solidFill>
                <a:latin typeface="华文中宋"/>
                <a:ea typeface="华文中宋"/>
                <a:cs typeface="Times New Roman" pitchFamily="18" charset="0"/>
              </a:rPr>
              <a:t>Ω</a:t>
            </a:r>
            <a:r>
              <a:rPr lang="zh-CN" altLang="en-US" b="1">
                <a:solidFill>
                  <a:srgbClr val="0000FF"/>
                </a:solidFill>
                <a:latin typeface="华文中宋"/>
                <a:ea typeface="华文中宋"/>
                <a:cs typeface="华文中宋"/>
              </a:rPr>
              <a:t>表示</a:t>
            </a:r>
          </a:p>
        </p:txBody>
      </p:sp>
      <p:sp>
        <p:nvSpPr>
          <p:cNvPr id="12" name="Text Box 7"/>
          <p:cNvSpPr txBox="1">
            <a:spLocks noChangeArrowheads="1"/>
          </p:cNvSpPr>
          <p:nvPr/>
        </p:nvSpPr>
        <p:spPr bwMode="auto">
          <a:xfrm>
            <a:off x="1155700" y="1814513"/>
            <a:ext cx="5145088" cy="396875"/>
          </a:xfrm>
          <a:prstGeom prst="rect">
            <a:avLst/>
          </a:prstGeom>
          <a:noFill/>
          <a:ln w="9525">
            <a:noFill/>
            <a:miter lim="800000"/>
            <a:headEnd/>
            <a:tailEnd/>
          </a:ln>
        </p:spPr>
        <p:txBody>
          <a:bodyPr>
            <a:spAutoFit/>
          </a:bodyPr>
          <a:lstStyle/>
          <a:p>
            <a:pPr eaLnBrk="0" hangingPunct="0">
              <a:lnSpc>
                <a:spcPct val="110000"/>
              </a:lnSpc>
            </a:pPr>
            <a:r>
              <a:rPr kumimoji="1" lang="zh-CN" altLang="en-US" b="1">
                <a:solidFill>
                  <a:srgbClr val="000000"/>
                </a:solidFill>
                <a:latin typeface="华文中宋"/>
                <a:ea typeface="华文中宋"/>
                <a:cs typeface="华文中宋"/>
              </a:rPr>
              <a:t>宏观态</a:t>
            </a:r>
            <a:r>
              <a:rPr kumimoji="1" lang="en-US" altLang="zh-CN" b="1">
                <a:solidFill>
                  <a:srgbClr val="000000"/>
                </a:solidFill>
                <a:latin typeface="华文中宋"/>
                <a:ea typeface="华文中宋"/>
                <a:cs typeface="华文中宋"/>
              </a:rPr>
              <a:t>1: </a:t>
            </a:r>
            <a:r>
              <a:rPr lang="el-GR" altLang="zh-CN" b="1">
                <a:solidFill>
                  <a:srgbClr val="000000"/>
                </a:solidFill>
                <a:latin typeface="华文中宋"/>
                <a:ea typeface="华文中宋"/>
                <a:cs typeface="Times New Roman" pitchFamily="18" charset="0"/>
              </a:rPr>
              <a:t>Ω</a:t>
            </a:r>
            <a:r>
              <a:rPr lang="en-US" altLang="zh-CN" b="1">
                <a:solidFill>
                  <a:srgbClr val="000000"/>
                </a:solidFill>
                <a:latin typeface="华文中宋"/>
                <a:ea typeface="华文中宋"/>
                <a:cs typeface="Times New Roman" pitchFamily="18" charset="0"/>
              </a:rPr>
              <a:t>=1</a:t>
            </a:r>
            <a:r>
              <a:rPr lang="zh-CN" altLang="en-US" b="1">
                <a:solidFill>
                  <a:srgbClr val="000000"/>
                </a:solidFill>
                <a:latin typeface="华文中宋"/>
                <a:ea typeface="华文中宋"/>
                <a:cs typeface="Times New Roman" pitchFamily="18" charset="0"/>
              </a:rPr>
              <a:t>；</a:t>
            </a:r>
            <a:r>
              <a:rPr kumimoji="1" lang="zh-CN" altLang="en-US" b="1">
                <a:solidFill>
                  <a:srgbClr val="000000"/>
                </a:solidFill>
                <a:latin typeface="华文中宋"/>
                <a:ea typeface="华文中宋"/>
                <a:cs typeface="华文中宋"/>
              </a:rPr>
              <a:t>宏观态</a:t>
            </a:r>
            <a:r>
              <a:rPr kumimoji="1" lang="en-US" altLang="zh-CN" b="1">
                <a:solidFill>
                  <a:srgbClr val="000000"/>
                </a:solidFill>
                <a:latin typeface="华文中宋"/>
                <a:ea typeface="华文中宋"/>
                <a:cs typeface="华文中宋"/>
              </a:rPr>
              <a:t>2: </a:t>
            </a:r>
            <a:r>
              <a:rPr lang="el-GR" altLang="zh-CN" b="1">
                <a:solidFill>
                  <a:srgbClr val="000000"/>
                </a:solidFill>
                <a:latin typeface="华文中宋"/>
                <a:ea typeface="华文中宋"/>
                <a:cs typeface="华文中宋"/>
              </a:rPr>
              <a:t>Ω</a:t>
            </a:r>
            <a:r>
              <a:rPr lang="en-US" altLang="zh-CN" b="1">
                <a:solidFill>
                  <a:srgbClr val="000000"/>
                </a:solidFill>
                <a:latin typeface="华文中宋"/>
                <a:ea typeface="华文中宋"/>
                <a:cs typeface="华文中宋"/>
              </a:rPr>
              <a:t>=4</a:t>
            </a:r>
            <a:r>
              <a:rPr lang="zh-CN" altLang="en-US" b="1">
                <a:solidFill>
                  <a:srgbClr val="000000"/>
                </a:solidFill>
                <a:latin typeface="华文中宋"/>
                <a:ea typeface="华文中宋"/>
                <a:cs typeface="华文中宋"/>
              </a:rPr>
              <a:t>；</a:t>
            </a:r>
            <a:r>
              <a:rPr kumimoji="1" lang="zh-CN" altLang="en-US" b="1">
                <a:solidFill>
                  <a:srgbClr val="000000"/>
                </a:solidFill>
                <a:latin typeface="华文中宋"/>
                <a:ea typeface="华文中宋"/>
                <a:cs typeface="华文中宋"/>
              </a:rPr>
              <a:t>宏观态</a:t>
            </a:r>
            <a:r>
              <a:rPr kumimoji="1" lang="en-US" altLang="zh-CN" b="1">
                <a:solidFill>
                  <a:srgbClr val="000000"/>
                </a:solidFill>
                <a:latin typeface="华文中宋"/>
                <a:ea typeface="华文中宋"/>
                <a:cs typeface="华文中宋"/>
              </a:rPr>
              <a:t>3: </a:t>
            </a:r>
            <a:r>
              <a:rPr lang="el-GR" altLang="zh-CN" b="1">
                <a:solidFill>
                  <a:srgbClr val="0000FF"/>
                </a:solidFill>
                <a:latin typeface="华文中宋"/>
                <a:ea typeface="华文中宋"/>
                <a:cs typeface="华文中宋"/>
              </a:rPr>
              <a:t>Ω</a:t>
            </a:r>
            <a:r>
              <a:rPr lang="en-US" altLang="zh-CN" b="1">
                <a:solidFill>
                  <a:srgbClr val="0000FF"/>
                </a:solidFill>
                <a:latin typeface="华文中宋"/>
                <a:ea typeface="华文中宋"/>
                <a:cs typeface="华文中宋"/>
              </a:rPr>
              <a:t>=6</a:t>
            </a:r>
            <a:endParaRPr kumimoji="1" lang="en-US" altLang="zh-CN" b="1">
              <a:solidFill>
                <a:srgbClr val="0000FF"/>
              </a:solidFill>
              <a:latin typeface="华文中宋"/>
              <a:ea typeface="华文中宋"/>
              <a:cs typeface="华文中宋"/>
            </a:endParaRPr>
          </a:p>
        </p:txBody>
      </p:sp>
      <p:sp>
        <p:nvSpPr>
          <p:cNvPr id="13" name="Rectangle 17"/>
          <p:cNvSpPr>
            <a:spLocks noChangeArrowheads="1"/>
          </p:cNvSpPr>
          <p:nvPr/>
        </p:nvSpPr>
        <p:spPr bwMode="auto">
          <a:xfrm>
            <a:off x="508000" y="2139950"/>
            <a:ext cx="7816850" cy="701675"/>
          </a:xfrm>
          <a:prstGeom prst="rect">
            <a:avLst/>
          </a:prstGeom>
          <a:noFill/>
          <a:ln w="9525">
            <a:noFill/>
            <a:miter lim="800000"/>
            <a:headEnd/>
            <a:tailEnd/>
          </a:ln>
        </p:spPr>
        <p:txBody>
          <a:bodyPr>
            <a:spAutoFit/>
          </a:bodyPr>
          <a:lstStyle/>
          <a:p>
            <a:pPr eaLnBrk="0" hangingPunct="0">
              <a:lnSpc>
                <a:spcPct val="110000"/>
              </a:lnSpc>
            </a:pPr>
            <a:r>
              <a:rPr lang="en-US" altLang="zh-CN" b="1">
                <a:solidFill>
                  <a:srgbClr val="000000"/>
                </a:solidFill>
                <a:latin typeface="华文中宋"/>
                <a:ea typeface="华文中宋"/>
                <a:cs typeface="华文中宋"/>
              </a:rPr>
              <a:t>     </a:t>
            </a:r>
            <a:r>
              <a:rPr lang="zh-CN" altLang="en-US" b="1">
                <a:solidFill>
                  <a:srgbClr val="000000"/>
                </a:solidFill>
                <a:latin typeface="华文中宋"/>
                <a:ea typeface="华文中宋"/>
                <a:cs typeface="华文中宋"/>
              </a:rPr>
              <a:t>然而，各宏观态所包容的微观态数目是不相等的，因此，不同宏观态的热力学概率是不等的</a:t>
            </a:r>
            <a:r>
              <a:rPr lang="en-US" altLang="zh-CN" b="1">
                <a:solidFill>
                  <a:srgbClr val="000000"/>
                </a:solidFill>
                <a:latin typeface="华文中宋"/>
                <a:ea typeface="华文中宋"/>
                <a:cs typeface="华文中宋"/>
              </a:rPr>
              <a:t>.  </a:t>
            </a:r>
          </a:p>
        </p:txBody>
      </p:sp>
      <p:sp>
        <p:nvSpPr>
          <p:cNvPr id="4" name="Text Box 10"/>
          <p:cNvSpPr txBox="1">
            <a:spLocks noChangeArrowheads="1"/>
          </p:cNvSpPr>
          <p:nvPr/>
        </p:nvSpPr>
        <p:spPr bwMode="auto">
          <a:xfrm>
            <a:off x="652463" y="2787650"/>
            <a:ext cx="5184775" cy="923925"/>
          </a:xfrm>
          <a:prstGeom prst="rect">
            <a:avLst/>
          </a:prstGeom>
          <a:noFill/>
          <a:ln w="9525">
            <a:noFill/>
            <a:miter lim="800000"/>
            <a:headEnd/>
            <a:tailEnd/>
          </a:ln>
        </p:spPr>
        <p:txBody>
          <a:bodyPr>
            <a:spAutoFit/>
          </a:bodyPr>
          <a:lstStyle/>
          <a:p>
            <a:pPr eaLnBrk="0" hangingPunct="0"/>
            <a:r>
              <a:rPr lang="zh-CN" altLang="en-US" b="1">
                <a:solidFill>
                  <a:srgbClr val="000000"/>
                </a:solidFill>
                <a:latin typeface="华文中宋"/>
                <a:ea typeface="华文中宋"/>
                <a:cs typeface="华文中宋"/>
              </a:rPr>
              <a:t>理论表明： 随着总分子数的增加，平衡态及附近宏观态所对应的热力学概率会急剧增加，在微观态数中所占的比例也急剧增大。</a:t>
            </a:r>
          </a:p>
        </p:txBody>
      </p:sp>
      <p:grpSp>
        <p:nvGrpSpPr>
          <p:cNvPr id="2" name="Group 15"/>
          <p:cNvGrpSpPr>
            <a:grpSpLocks/>
          </p:cNvGrpSpPr>
          <p:nvPr/>
        </p:nvGrpSpPr>
        <p:grpSpPr bwMode="auto">
          <a:xfrm>
            <a:off x="6948488" y="2852738"/>
            <a:ext cx="1997075" cy="1374775"/>
            <a:chOff x="2171" y="1445"/>
            <a:chExt cx="1381" cy="1268"/>
          </a:xfrm>
        </p:grpSpPr>
        <p:sp>
          <p:nvSpPr>
            <p:cNvPr id="158734" name="Line 16"/>
            <p:cNvSpPr>
              <a:spLocks noChangeShapeType="1"/>
            </p:cNvSpPr>
            <p:nvPr/>
          </p:nvSpPr>
          <p:spPr bwMode="auto">
            <a:xfrm>
              <a:off x="2171" y="2415"/>
              <a:ext cx="1276" cy="0"/>
            </a:xfrm>
            <a:prstGeom prst="line">
              <a:avLst/>
            </a:prstGeom>
            <a:noFill/>
            <a:ln w="9525">
              <a:solidFill>
                <a:srgbClr val="0070C0"/>
              </a:solidFill>
              <a:round/>
              <a:headEnd/>
              <a:tailEnd type="arrow" w="med" len="med"/>
            </a:ln>
          </p:spPr>
          <p:txBody>
            <a:bodyPr/>
            <a:lstStyle/>
            <a:p>
              <a:endParaRPr lang="zh-CN" altLang="en-US"/>
            </a:p>
          </p:txBody>
        </p:sp>
        <p:sp>
          <p:nvSpPr>
            <p:cNvPr id="158735" name="Line 17"/>
            <p:cNvSpPr>
              <a:spLocks noChangeShapeType="1"/>
            </p:cNvSpPr>
            <p:nvPr/>
          </p:nvSpPr>
          <p:spPr bwMode="auto">
            <a:xfrm flipV="1">
              <a:off x="2171" y="1557"/>
              <a:ext cx="0" cy="858"/>
            </a:xfrm>
            <a:prstGeom prst="line">
              <a:avLst/>
            </a:prstGeom>
            <a:noFill/>
            <a:ln w="9525">
              <a:solidFill>
                <a:srgbClr val="0070C0"/>
              </a:solidFill>
              <a:round/>
              <a:headEnd/>
              <a:tailEnd type="arrow" w="med" len="med"/>
            </a:ln>
          </p:spPr>
          <p:txBody>
            <a:bodyPr/>
            <a:lstStyle/>
            <a:p>
              <a:endParaRPr lang="zh-CN" altLang="en-US"/>
            </a:p>
          </p:txBody>
        </p:sp>
        <p:sp>
          <p:nvSpPr>
            <p:cNvPr id="158736" name="Line 18"/>
            <p:cNvSpPr>
              <a:spLocks noChangeShapeType="1"/>
            </p:cNvSpPr>
            <p:nvPr/>
          </p:nvSpPr>
          <p:spPr bwMode="auto">
            <a:xfrm>
              <a:off x="2681" y="2387"/>
              <a:ext cx="0" cy="85"/>
            </a:xfrm>
            <a:prstGeom prst="line">
              <a:avLst/>
            </a:prstGeom>
            <a:noFill/>
            <a:ln w="9525">
              <a:solidFill>
                <a:schemeClr val="tx1"/>
              </a:solidFill>
              <a:round/>
              <a:headEnd/>
              <a:tailEnd/>
            </a:ln>
          </p:spPr>
          <p:txBody>
            <a:bodyPr/>
            <a:lstStyle/>
            <a:p>
              <a:endParaRPr lang="zh-CN" altLang="en-US"/>
            </a:p>
          </p:txBody>
        </p:sp>
        <p:sp>
          <p:nvSpPr>
            <p:cNvPr id="158737" name="Text Box 19"/>
            <p:cNvSpPr txBox="1">
              <a:spLocks noChangeArrowheads="1"/>
            </p:cNvSpPr>
            <p:nvPr/>
          </p:nvSpPr>
          <p:spPr bwMode="auto">
            <a:xfrm>
              <a:off x="2483" y="2415"/>
              <a:ext cx="327" cy="298"/>
            </a:xfrm>
            <a:prstGeom prst="rect">
              <a:avLst/>
            </a:prstGeom>
            <a:noFill/>
            <a:ln w="9525">
              <a:noFill/>
              <a:miter lim="800000"/>
              <a:headEnd/>
              <a:tailEnd/>
            </a:ln>
          </p:spPr>
          <p:txBody>
            <a:bodyPr wrap="none">
              <a:spAutoFit/>
            </a:bodyPr>
            <a:lstStyle/>
            <a:p>
              <a:r>
                <a:rPr lang="en-US" altLang="zh-CN" sz="1500" b="1">
                  <a:solidFill>
                    <a:srgbClr val="000000"/>
                  </a:solidFill>
                  <a:latin typeface="Times New Roman" pitchFamily="18" charset="0"/>
                </a:rPr>
                <a:t>N/2</a:t>
              </a:r>
            </a:p>
          </p:txBody>
        </p:sp>
        <p:sp>
          <p:nvSpPr>
            <p:cNvPr id="158738" name="Text Box 20"/>
            <p:cNvSpPr txBox="1">
              <a:spLocks noChangeArrowheads="1"/>
            </p:cNvSpPr>
            <p:nvPr/>
          </p:nvSpPr>
          <p:spPr bwMode="auto">
            <a:xfrm>
              <a:off x="3328" y="2390"/>
              <a:ext cx="224" cy="298"/>
            </a:xfrm>
            <a:prstGeom prst="rect">
              <a:avLst/>
            </a:prstGeom>
            <a:noFill/>
            <a:ln w="9525">
              <a:noFill/>
              <a:miter lim="800000"/>
              <a:headEnd/>
              <a:tailEnd/>
            </a:ln>
          </p:spPr>
          <p:txBody>
            <a:bodyPr wrap="none">
              <a:spAutoFit/>
            </a:bodyPr>
            <a:lstStyle/>
            <a:p>
              <a:r>
                <a:rPr lang="en-US" altLang="zh-CN" sz="1500" b="1">
                  <a:solidFill>
                    <a:srgbClr val="000000"/>
                  </a:solidFill>
                  <a:latin typeface="Times New Roman" pitchFamily="18" charset="0"/>
                </a:rPr>
                <a:t>N</a:t>
              </a:r>
            </a:p>
          </p:txBody>
        </p:sp>
        <p:sp>
          <p:nvSpPr>
            <p:cNvPr id="158739" name="Line 21"/>
            <p:cNvSpPr>
              <a:spLocks noChangeShapeType="1"/>
            </p:cNvSpPr>
            <p:nvPr/>
          </p:nvSpPr>
          <p:spPr bwMode="auto">
            <a:xfrm>
              <a:off x="3107" y="2387"/>
              <a:ext cx="0" cy="85"/>
            </a:xfrm>
            <a:prstGeom prst="line">
              <a:avLst/>
            </a:prstGeom>
            <a:noFill/>
            <a:ln w="9525">
              <a:solidFill>
                <a:schemeClr val="tx1"/>
              </a:solidFill>
              <a:round/>
              <a:headEnd/>
              <a:tailEnd/>
            </a:ln>
          </p:spPr>
          <p:txBody>
            <a:bodyPr/>
            <a:lstStyle/>
            <a:p>
              <a:endParaRPr lang="zh-CN" altLang="en-US"/>
            </a:p>
          </p:txBody>
        </p:sp>
        <p:sp>
          <p:nvSpPr>
            <p:cNvPr id="158740" name="Text Box 22"/>
            <p:cNvSpPr txBox="1">
              <a:spLocks noChangeArrowheads="1"/>
            </p:cNvSpPr>
            <p:nvPr/>
          </p:nvSpPr>
          <p:spPr bwMode="auto">
            <a:xfrm>
              <a:off x="2992" y="2412"/>
              <a:ext cx="224" cy="298"/>
            </a:xfrm>
            <a:prstGeom prst="rect">
              <a:avLst/>
            </a:prstGeom>
            <a:noFill/>
            <a:ln w="9525">
              <a:noFill/>
              <a:miter lim="800000"/>
              <a:headEnd/>
              <a:tailEnd/>
            </a:ln>
          </p:spPr>
          <p:txBody>
            <a:bodyPr wrap="none">
              <a:spAutoFit/>
            </a:bodyPr>
            <a:lstStyle/>
            <a:p>
              <a:r>
                <a:rPr lang="en-US" altLang="zh-CN" sz="1500" b="1">
                  <a:solidFill>
                    <a:srgbClr val="000000"/>
                  </a:solidFill>
                  <a:latin typeface="Times New Roman" pitchFamily="18" charset="0"/>
                </a:rPr>
                <a:t>N</a:t>
              </a:r>
            </a:p>
          </p:txBody>
        </p:sp>
        <p:sp>
          <p:nvSpPr>
            <p:cNvPr id="158741" name="Text Box 23"/>
            <p:cNvSpPr txBox="1">
              <a:spLocks noChangeArrowheads="1"/>
            </p:cNvSpPr>
            <p:nvPr/>
          </p:nvSpPr>
          <p:spPr bwMode="auto">
            <a:xfrm>
              <a:off x="2178" y="1445"/>
              <a:ext cx="230" cy="298"/>
            </a:xfrm>
            <a:prstGeom prst="rect">
              <a:avLst/>
            </a:prstGeom>
            <a:noFill/>
            <a:ln w="9525">
              <a:noFill/>
              <a:miter lim="800000"/>
              <a:headEnd/>
              <a:tailEnd/>
            </a:ln>
          </p:spPr>
          <p:txBody>
            <a:bodyPr wrap="none">
              <a:spAutoFit/>
            </a:bodyPr>
            <a:lstStyle/>
            <a:p>
              <a:r>
                <a:rPr lang="en-US" altLang="zh-CN" sz="1500" b="1">
                  <a:solidFill>
                    <a:srgbClr val="000000"/>
                  </a:solidFill>
                  <a:latin typeface="Symbol" pitchFamily="18" charset="2"/>
                  <a:sym typeface="Symbol" pitchFamily="18" charset="2"/>
                </a:rPr>
                <a:t></a:t>
              </a:r>
            </a:p>
          </p:txBody>
        </p:sp>
        <p:sp>
          <p:nvSpPr>
            <p:cNvPr id="158742" name="Freeform 24"/>
            <p:cNvSpPr>
              <a:spLocks/>
            </p:cNvSpPr>
            <p:nvPr/>
          </p:nvSpPr>
          <p:spPr bwMode="auto">
            <a:xfrm>
              <a:off x="2653" y="1480"/>
              <a:ext cx="57" cy="935"/>
            </a:xfrm>
            <a:custGeom>
              <a:avLst/>
              <a:gdLst>
                <a:gd name="T0" fmla="*/ 0 w 1644"/>
                <a:gd name="T1" fmla="*/ 1 h 1644"/>
                <a:gd name="T2" fmla="*/ 0 w 1644"/>
                <a:gd name="T3" fmla="*/ 0 h 1644"/>
                <a:gd name="T4" fmla="*/ 0 w 1644"/>
                <a:gd name="T5" fmla="*/ 1 h 1644"/>
                <a:gd name="T6" fmla="*/ 0 60000 65536"/>
                <a:gd name="T7" fmla="*/ 0 60000 65536"/>
                <a:gd name="T8" fmla="*/ 0 60000 65536"/>
                <a:gd name="T9" fmla="*/ 0 w 1644"/>
                <a:gd name="T10" fmla="*/ 0 h 1644"/>
                <a:gd name="T11" fmla="*/ 1644 w 1644"/>
                <a:gd name="T12" fmla="*/ 1644 h 1644"/>
              </a:gdLst>
              <a:ahLst/>
              <a:cxnLst>
                <a:cxn ang="T6">
                  <a:pos x="T0" y="T1"/>
                </a:cxn>
                <a:cxn ang="T7">
                  <a:pos x="T2" y="T3"/>
                </a:cxn>
                <a:cxn ang="T8">
                  <a:pos x="T4" y="T5"/>
                </a:cxn>
              </a:cxnLst>
              <a:rect l="T9" t="T10" r="T11" b="T12"/>
              <a:pathLst>
                <a:path w="1644" h="1644">
                  <a:moveTo>
                    <a:pt x="0" y="1644"/>
                  </a:moveTo>
                  <a:cubicBezTo>
                    <a:pt x="274" y="822"/>
                    <a:pt x="548" y="0"/>
                    <a:pt x="822" y="0"/>
                  </a:cubicBezTo>
                  <a:cubicBezTo>
                    <a:pt x="1096" y="0"/>
                    <a:pt x="1370" y="822"/>
                    <a:pt x="1644" y="1644"/>
                  </a:cubicBezTo>
                </a:path>
              </a:pathLst>
            </a:custGeom>
            <a:noFill/>
            <a:ln w="19050">
              <a:solidFill>
                <a:srgbClr val="FF00FF"/>
              </a:solidFill>
              <a:round/>
              <a:headEnd/>
              <a:tailEnd/>
            </a:ln>
          </p:spPr>
          <p:txBody>
            <a:bodyPr/>
            <a:lstStyle/>
            <a:p>
              <a:endParaRPr lang="zh-CN" altLang="en-US"/>
            </a:p>
          </p:txBody>
        </p:sp>
      </p:grpSp>
      <p:sp>
        <p:nvSpPr>
          <p:cNvPr id="125979" name="Text Box 27"/>
          <p:cNvSpPr txBox="1">
            <a:spLocks noChangeArrowheads="1"/>
          </p:cNvSpPr>
          <p:nvPr/>
        </p:nvSpPr>
        <p:spPr bwMode="auto">
          <a:xfrm>
            <a:off x="684213" y="3651250"/>
            <a:ext cx="5040312" cy="369888"/>
          </a:xfrm>
          <a:prstGeom prst="rect">
            <a:avLst/>
          </a:prstGeom>
          <a:noFill/>
          <a:ln w="9525">
            <a:noFill/>
            <a:miter lim="800000"/>
            <a:headEnd/>
            <a:tailEnd/>
          </a:ln>
        </p:spPr>
        <p:txBody>
          <a:bodyPr>
            <a:spAutoFit/>
          </a:bodyPr>
          <a:lstStyle/>
          <a:p>
            <a:r>
              <a:rPr lang="zh-CN" altLang="en-US" b="1">
                <a:solidFill>
                  <a:srgbClr val="0000FF"/>
                </a:solidFill>
                <a:latin typeface="华文中宋"/>
                <a:ea typeface="华文中宋"/>
                <a:cs typeface="华文中宋"/>
              </a:rPr>
              <a:t>孤立系统的自然过程的方向：</a:t>
            </a:r>
          </a:p>
        </p:txBody>
      </p:sp>
      <p:sp>
        <p:nvSpPr>
          <p:cNvPr id="125980" name="Text Box 28"/>
          <p:cNvSpPr txBox="1">
            <a:spLocks noChangeArrowheads="1"/>
          </p:cNvSpPr>
          <p:nvPr/>
        </p:nvSpPr>
        <p:spPr bwMode="auto">
          <a:xfrm>
            <a:off x="1114425" y="4030663"/>
            <a:ext cx="1728788" cy="323850"/>
          </a:xfrm>
          <a:prstGeom prst="rect">
            <a:avLst/>
          </a:prstGeom>
          <a:noFill/>
          <a:ln w="9525">
            <a:noFill/>
            <a:miter lim="800000"/>
            <a:headEnd/>
            <a:tailEnd/>
          </a:ln>
        </p:spPr>
        <p:txBody>
          <a:bodyPr>
            <a:spAutoFit/>
          </a:bodyPr>
          <a:lstStyle/>
          <a:p>
            <a:r>
              <a:rPr lang="en-US" altLang="zh-CN" sz="1500" b="1">
                <a:solidFill>
                  <a:srgbClr val="000000"/>
                </a:solidFill>
                <a:latin typeface="华文中宋"/>
                <a:ea typeface="华文中宋"/>
                <a:cs typeface="华文中宋"/>
                <a:sym typeface="Symbol" pitchFamily="18" charset="2"/>
              </a:rPr>
              <a:t></a:t>
            </a:r>
            <a:r>
              <a:rPr lang="en-US" altLang="zh-CN" sz="1500" b="1">
                <a:solidFill>
                  <a:srgbClr val="000000"/>
                </a:solidFill>
                <a:latin typeface="华文中宋"/>
                <a:ea typeface="华文中宋"/>
                <a:cs typeface="华文中宋"/>
              </a:rPr>
              <a:t> </a:t>
            </a:r>
            <a:r>
              <a:rPr lang="zh-CN" altLang="en-US" sz="1500" b="1">
                <a:solidFill>
                  <a:srgbClr val="000000"/>
                </a:solidFill>
                <a:latin typeface="华文中宋"/>
                <a:ea typeface="华文中宋"/>
                <a:cs typeface="华文中宋"/>
              </a:rPr>
              <a:t>较小的宏观状态</a:t>
            </a:r>
          </a:p>
        </p:txBody>
      </p:sp>
      <p:sp>
        <p:nvSpPr>
          <p:cNvPr id="126000" name="Text Box 48"/>
          <p:cNvSpPr txBox="1">
            <a:spLocks noChangeArrowheads="1"/>
          </p:cNvSpPr>
          <p:nvPr/>
        </p:nvSpPr>
        <p:spPr bwMode="auto">
          <a:xfrm>
            <a:off x="4067175" y="4030663"/>
            <a:ext cx="1770063" cy="323850"/>
          </a:xfrm>
          <a:prstGeom prst="rect">
            <a:avLst/>
          </a:prstGeom>
          <a:noFill/>
          <a:ln w="9525">
            <a:noFill/>
            <a:miter lim="800000"/>
            <a:headEnd/>
            <a:tailEnd/>
          </a:ln>
        </p:spPr>
        <p:txBody>
          <a:bodyPr>
            <a:spAutoFit/>
          </a:bodyPr>
          <a:lstStyle/>
          <a:p>
            <a:r>
              <a:rPr lang="en-US" altLang="zh-CN" sz="1500">
                <a:solidFill>
                  <a:srgbClr val="000000"/>
                </a:solidFill>
                <a:latin typeface="华文中宋"/>
                <a:ea typeface="华文中宋"/>
                <a:cs typeface="华文中宋"/>
                <a:sym typeface="Symbol" pitchFamily="18" charset="2"/>
              </a:rPr>
              <a:t></a:t>
            </a:r>
            <a:r>
              <a:rPr lang="en-US" altLang="zh-CN" sz="1500" i="1">
                <a:solidFill>
                  <a:srgbClr val="000000"/>
                </a:solidFill>
                <a:latin typeface="华文中宋"/>
                <a:ea typeface="华文中宋"/>
                <a:cs typeface="华文中宋"/>
              </a:rPr>
              <a:t> </a:t>
            </a:r>
            <a:r>
              <a:rPr lang="zh-CN" altLang="en-US" sz="1500" b="1">
                <a:solidFill>
                  <a:srgbClr val="000000"/>
                </a:solidFill>
                <a:latin typeface="华文中宋"/>
                <a:ea typeface="华文中宋"/>
                <a:cs typeface="华文中宋"/>
              </a:rPr>
              <a:t>较大的宏观状态 </a:t>
            </a:r>
          </a:p>
        </p:txBody>
      </p:sp>
      <p:sp>
        <p:nvSpPr>
          <p:cNvPr id="126001" name="Text Box 49"/>
          <p:cNvSpPr txBox="1">
            <a:spLocks noChangeArrowheads="1"/>
          </p:cNvSpPr>
          <p:nvPr/>
        </p:nvSpPr>
        <p:spPr bwMode="auto">
          <a:xfrm>
            <a:off x="1547813" y="4337050"/>
            <a:ext cx="1295400" cy="322263"/>
          </a:xfrm>
          <a:prstGeom prst="rect">
            <a:avLst/>
          </a:prstGeom>
          <a:noFill/>
          <a:ln w="9525">
            <a:noFill/>
            <a:miter lim="800000"/>
            <a:headEnd/>
            <a:tailEnd/>
          </a:ln>
        </p:spPr>
        <p:txBody>
          <a:bodyPr>
            <a:spAutoFit/>
          </a:bodyPr>
          <a:lstStyle/>
          <a:p>
            <a:r>
              <a:rPr lang="zh-CN" altLang="en-US" sz="1500" b="1">
                <a:solidFill>
                  <a:srgbClr val="000000"/>
                </a:solidFill>
                <a:latin typeface="华文中宋"/>
                <a:ea typeface="华文中宋"/>
                <a:cs typeface="华文中宋"/>
              </a:rPr>
              <a:t>非平衡态 </a:t>
            </a:r>
            <a:r>
              <a:rPr lang="zh-CN" altLang="en-US" sz="1500" b="1">
                <a:solidFill>
                  <a:srgbClr val="000000"/>
                </a:solidFill>
                <a:latin typeface="华文中宋"/>
                <a:ea typeface="华文中宋"/>
                <a:cs typeface="华文中宋"/>
                <a:sym typeface="Symbol" pitchFamily="18" charset="2"/>
              </a:rPr>
              <a:t></a:t>
            </a:r>
          </a:p>
        </p:txBody>
      </p:sp>
      <p:sp>
        <p:nvSpPr>
          <p:cNvPr id="126003" name="Text Box 51"/>
          <p:cNvSpPr txBox="1">
            <a:spLocks noChangeArrowheads="1"/>
          </p:cNvSpPr>
          <p:nvPr/>
        </p:nvSpPr>
        <p:spPr bwMode="auto">
          <a:xfrm>
            <a:off x="4067175" y="4337050"/>
            <a:ext cx="1368425" cy="322263"/>
          </a:xfrm>
          <a:prstGeom prst="rect">
            <a:avLst/>
          </a:prstGeom>
          <a:noFill/>
          <a:ln w="9525">
            <a:noFill/>
            <a:miter lim="800000"/>
            <a:headEnd/>
            <a:tailEnd/>
          </a:ln>
        </p:spPr>
        <p:txBody>
          <a:bodyPr>
            <a:spAutoFit/>
          </a:bodyPr>
          <a:lstStyle/>
          <a:p>
            <a:r>
              <a:rPr lang="zh-CN" altLang="en-US" sz="1500" b="1">
                <a:solidFill>
                  <a:srgbClr val="000000"/>
                </a:solidFill>
                <a:latin typeface="华文中宋"/>
                <a:ea typeface="华文中宋"/>
                <a:cs typeface="华文中宋"/>
              </a:rPr>
              <a:t>平衡态 </a:t>
            </a:r>
            <a:r>
              <a:rPr lang="zh-CN" altLang="en-US" sz="1500" b="1">
                <a:solidFill>
                  <a:srgbClr val="000000"/>
                </a:solidFill>
                <a:latin typeface="华文中宋"/>
                <a:ea typeface="华文中宋"/>
                <a:cs typeface="华文中宋"/>
                <a:sym typeface="Symbol" pitchFamily="18" charset="2"/>
              </a:rPr>
              <a:t></a:t>
            </a:r>
            <a:r>
              <a:rPr lang="zh-CN" altLang="en-US" sz="1500" b="1">
                <a:solidFill>
                  <a:srgbClr val="000000"/>
                </a:solidFill>
                <a:latin typeface="华文中宋"/>
                <a:ea typeface="华文中宋"/>
                <a:cs typeface="华文中宋"/>
              </a:rPr>
              <a:t> </a:t>
            </a:r>
            <a:r>
              <a:rPr lang="en-US" altLang="zh-CN" sz="1500" b="1" baseline="-25000">
                <a:solidFill>
                  <a:srgbClr val="000000"/>
                </a:solidFill>
                <a:latin typeface="华文中宋"/>
                <a:ea typeface="华文中宋"/>
                <a:cs typeface="华文中宋"/>
              </a:rPr>
              <a:t>max</a:t>
            </a:r>
          </a:p>
        </p:txBody>
      </p:sp>
      <p:sp>
        <p:nvSpPr>
          <p:cNvPr id="204827" name="AutoShape 27"/>
          <p:cNvSpPr>
            <a:spLocks noChangeArrowheads="1"/>
          </p:cNvSpPr>
          <p:nvPr/>
        </p:nvSpPr>
        <p:spPr bwMode="auto">
          <a:xfrm>
            <a:off x="2916238" y="4156075"/>
            <a:ext cx="1081087" cy="107950"/>
          </a:xfrm>
          <a:prstGeom prst="rightArrow">
            <a:avLst>
              <a:gd name="adj1" fmla="val 50000"/>
              <a:gd name="adj2" fmla="val 187776"/>
            </a:avLst>
          </a:prstGeom>
          <a:solidFill>
            <a:schemeClr val="accent1"/>
          </a:solidFill>
          <a:ln w="9525">
            <a:solidFill>
              <a:schemeClr val="tx1"/>
            </a:solidFill>
            <a:miter lim="800000"/>
            <a:headEnd/>
            <a:tailEnd/>
          </a:ln>
        </p:spPr>
        <p:txBody>
          <a:bodyPr wrap="none" anchor="ctr"/>
          <a:lstStyle/>
          <a:p>
            <a:endParaRPr lang="zh-CN" altLang="en-US">
              <a:solidFill>
                <a:srgbClr val="000000"/>
              </a:solidFill>
              <a:latin typeface="Calibri" pitchFamily="34" charset="0"/>
            </a:endParaRPr>
          </a:p>
        </p:txBody>
      </p:sp>
      <p:sp>
        <p:nvSpPr>
          <p:cNvPr id="204828" name="AutoShape 28"/>
          <p:cNvSpPr>
            <a:spLocks noChangeArrowheads="1"/>
          </p:cNvSpPr>
          <p:nvPr/>
        </p:nvSpPr>
        <p:spPr bwMode="auto">
          <a:xfrm>
            <a:off x="2916238" y="4443413"/>
            <a:ext cx="1081087" cy="107950"/>
          </a:xfrm>
          <a:prstGeom prst="rightArrow">
            <a:avLst>
              <a:gd name="adj1" fmla="val 50000"/>
              <a:gd name="adj2" fmla="val 187776"/>
            </a:avLst>
          </a:prstGeom>
          <a:solidFill>
            <a:schemeClr val="accent1"/>
          </a:solidFill>
          <a:ln w="9525">
            <a:solidFill>
              <a:schemeClr val="tx1"/>
            </a:solidFill>
            <a:miter lim="800000"/>
            <a:headEnd/>
            <a:tailEnd/>
          </a:ln>
        </p:spPr>
        <p:txBody>
          <a:bodyPr wrap="none" anchor="ctr"/>
          <a:lstStyle/>
          <a:p>
            <a:endParaRPr lang="zh-CN" altLang="en-US">
              <a:solidFill>
                <a:srgbClr val="000000"/>
              </a:solidFill>
              <a:latin typeface="Calibri"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4943"/>
                                        </p:tgtEl>
                                        <p:attrNameLst>
                                          <p:attrName>style.visibility</p:attrName>
                                        </p:attrNameLst>
                                      </p:cBhvr>
                                      <p:to>
                                        <p:strVal val="visible"/>
                                      </p:to>
                                    </p:set>
                                    <p:animEffect transition="in" filter="wipe(left)">
                                      <p:cBhvr>
                                        <p:cTn id="7" dur="500"/>
                                        <p:tgtEl>
                                          <p:spTgt spid="12494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4944"/>
                                        </p:tgtEl>
                                        <p:attrNameLst>
                                          <p:attrName>style.visibility</p:attrName>
                                        </p:attrNameLst>
                                      </p:cBhvr>
                                      <p:to>
                                        <p:strVal val="visible"/>
                                      </p:to>
                                    </p:set>
                                    <p:animEffect transition="in" filter="wipe(left)">
                                      <p:cBhvr>
                                        <p:cTn id="12" dur="500"/>
                                        <p:tgtEl>
                                          <p:spTgt spid="12494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2">
                                            <p:txEl>
                                              <p:pRg st="0" end="0"/>
                                            </p:txEl>
                                          </p:spTgt>
                                        </p:tgtEl>
                                        <p:attrNameLst>
                                          <p:attrName>style.visibility</p:attrName>
                                        </p:attrNameLst>
                                      </p:cBhvr>
                                      <p:to>
                                        <p:strVal val="visible"/>
                                      </p:to>
                                    </p:set>
                                    <p:animEffect transition="in" filter="wipe(left)">
                                      <p:cBhvr>
                                        <p:cTn id="17" dur="500"/>
                                        <p:tgtEl>
                                          <p:spTgt spid="12">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3">
                                            <p:txEl>
                                              <p:pRg st="0" end="0"/>
                                            </p:txEl>
                                          </p:spTgt>
                                        </p:tgtEl>
                                        <p:attrNameLst>
                                          <p:attrName>style.visibility</p:attrName>
                                        </p:attrNameLst>
                                      </p:cBhvr>
                                      <p:to>
                                        <p:strVal val="visible"/>
                                      </p:to>
                                    </p:set>
                                    <p:animEffect transition="in" filter="wipe(left)">
                                      <p:cBhvr>
                                        <p:cTn id="22" dur="500"/>
                                        <p:tgtEl>
                                          <p:spTgt spid="13">
                                            <p:txEl>
                                              <p:pRg st="0" end="0"/>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wipe(left)">
                                      <p:cBhvr>
                                        <p:cTn id="27" dur="500"/>
                                        <p:tgtEl>
                                          <p:spTgt spid="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5" presetClass="entr" presetSubtype="0" fill="hold" nodeType="clickEffect">
                                  <p:stCondLst>
                                    <p:cond delay="0"/>
                                  </p:stCondLst>
                                  <p:childTnLst>
                                    <p:set>
                                      <p:cBhvr>
                                        <p:cTn id="31" dur="1" fill="hold">
                                          <p:stCondLst>
                                            <p:cond delay="0"/>
                                          </p:stCondLst>
                                        </p:cTn>
                                        <p:tgtEl>
                                          <p:spTgt spid="2"/>
                                        </p:tgtEl>
                                        <p:attrNameLst>
                                          <p:attrName>style.visibility</p:attrName>
                                        </p:attrNameLst>
                                      </p:cBhvr>
                                      <p:to>
                                        <p:strVal val="visible"/>
                                      </p:to>
                                    </p:set>
                                    <p:anim calcmode="lin" valueType="num">
                                      <p:cBhvr>
                                        <p:cTn id="32" dur="500" decel="50000" fill="hold">
                                          <p:stCondLst>
                                            <p:cond delay="0"/>
                                          </p:stCondLst>
                                        </p:cTn>
                                        <p:tgtEl>
                                          <p:spTgt spid="2"/>
                                        </p:tgtEl>
                                        <p:attrNameLst>
                                          <p:attrName>style.rotation</p:attrName>
                                        </p:attrNameLst>
                                      </p:cBhvr>
                                      <p:tavLst>
                                        <p:tav tm="0">
                                          <p:val>
                                            <p:fltVal val="-90"/>
                                          </p:val>
                                        </p:tav>
                                        <p:tav tm="100000">
                                          <p:val>
                                            <p:fltVal val="0"/>
                                          </p:val>
                                        </p:tav>
                                      </p:tavLst>
                                    </p:anim>
                                    <p:anim calcmode="lin" valueType="num">
                                      <p:cBhvr>
                                        <p:cTn id="33" dur="500" decel="50000" fill="hold">
                                          <p:stCondLst>
                                            <p:cond delay="0"/>
                                          </p:stCondLst>
                                        </p:cTn>
                                        <p:tgtEl>
                                          <p:spTgt spid="2"/>
                                        </p:tgtEl>
                                        <p:attrNameLst>
                                          <p:attrName>ppt_w</p:attrName>
                                        </p:attrNameLst>
                                      </p:cBhvr>
                                      <p:tavLst>
                                        <p:tav tm="0">
                                          <p:val>
                                            <p:strVal val="#ppt_w"/>
                                          </p:val>
                                        </p:tav>
                                        <p:tav tm="100000">
                                          <p:val>
                                            <p:strVal val="#ppt_w*.05"/>
                                          </p:val>
                                        </p:tav>
                                      </p:tavLst>
                                    </p:anim>
                                    <p:anim calcmode="lin" valueType="num">
                                      <p:cBhvr>
                                        <p:cTn id="34" dur="500" accel="50000" fill="hold">
                                          <p:stCondLst>
                                            <p:cond delay="500"/>
                                          </p:stCondLst>
                                        </p:cTn>
                                        <p:tgtEl>
                                          <p:spTgt spid="2"/>
                                        </p:tgtEl>
                                        <p:attrNameLst>
                                          <p:attrName>ppt_w</p:attrName>
                                        </p:attrNameLst>
                                      </p:cBhvr>
                                      <p:tavLst>
                                        <p:tav tm="0">
                                          <p:val>
                                            <p:strVal val="#ppt_w*.05"/>
                                          </p:val>
                                        </p:tav>
                                        <p:tav tm="100000">
                                          <p:val>
                                            <p:strVal val="#ppt_w"/>
                                          </p:val>
                                        </p:tav>
                                      </p:tavLst>
                                    </p:anim>
                                    <p:anim calcmode="lin" valueType="num">
                                      <p:cBhvr>
                                        <p:cTn id="35" dur="1000" fill="hold"/>
                                        <p:tgtEl>
                                          <p:spTgt spid="2"/>
                                        </p:tgtEl>
                                        <p:attrNameLst>
                                          <p:attrName>ppt_h</p:attrName>
                                        </p:attrNameLst>
                                      </p:cBhvr>
                                      <p:tavLst>
                                        <p:tav tm="0">
                                          <p:val>
                                            <p:strVal val="#ppt_h"/>
                                          </p:val>
                                        </p:tav>
                                        <p:tav tm="100000">
                                          <p:val>
                                            <p:strVal val="#ppt_h"/>
                                          </p:val>
                                        </p:tav>
                                      </p:tavLst>
                                    </p:anim>
                                    <p:anim calcmode="lin" valueType="num">
                                      <p:cBhvr>
                                        <p:cTn id="36" dur="500" decel="50000" fill="hold">
                                          <p:stCondLst>
                                            <p:cond delay="0"/>
                                          </p:stCondLst>
                                        </p:cTn>
                                        <p:tgtEl>
                                          <p:spTgt spid="2"/>
                                        </p:tgtEl>
                                        <p:attrNameLst>
                                          <p:attrName>ppt_x</p:attrName>
                                        </p:attrNameLst>
                                      </p:cBhvr>
                                      <p:tavLst>
                                        <p:tav tm="0">
                                          <p:val>
                                            <p:strVal val="#ppt_x+.4"/>
                                          </p:val>
                                        </p:tav>
                                        <p:tav tm="100000">
                                          <p:val>
                                            <p:strVal val="#ppt_x"/>
                                          </p:val>
                                        </p:tav>
                                      </p:tavLst>
                                    </p:anim>
                                    <p:anim calcmode="lin" valueType="num">
                                      <p:cBhvr>
                                        <p:cTn id="37" dur="500" decel="50000" fill="hold">
                                          <p:stCondLst>
                                            <p:cond delay="0"/>
                                          </p:stCondLst>
                                        </p:cTn>
                                        <p:tgtEl>
                                          <p:spTgt spid="2"/>
                                        </p:tgtEl>
                                        <p:attrNameLst>
                                          <p:attrName>ppt_y</p:attrName>
                                        </p:attrNameLst>
                                      </p:cBhvr>
                                      <p:tavLst>
                                        <p:tav tm="0">
                                          <p:val>
                                            <p:strVal val="#ppt_y-.2"/>
                                          </p:val>
                                        </p:tav>
                                        <p:tav tm="100000">
                                          <p:val>
                                            <p:strVal val="#ppt_y+.1"/>
                                          </p:val>
                                        </p:tav>
                                      </p:tavLst>
                                    </p:anim>
                                    <p:anim calcmode="lin" valueType="num">
                                      <p:cBhvr>
                                        <p:cTn id="38" dur="500" accel="50000" fill="hold">
                                          <p:stCondLst>
                                            <p:cond delay="500"/>
                                          </p:stCondLst>
                                        </p:cTn>
                                        <p:tgtEl>
                                          <p:spTgt spid="2"/>
                                        </p:tgtEl>
                                        <p:attrNameLst>
                                          <p:attrName>ppt_y</p:attrName>
                                        </p:attrNameLst>
                                      </p:cBhvr>
                                      <p:tavLst>
                                        <p:tav tm="0">
                                          <p:val>
                                            <p:strVal val="#ppt_y+.1"/>
                                          </p:val>
                                        </p:tav>
                                        <p:tav tm="100000">
                                          <p:val>
                                            <p:strVal val="#ppt_y"/>
                                          </p:val>
                                        </p:tav>
                                      </p:tavLst>
                                    </p:anim>
                                    <p:animEffect transition="in" filter="fade">
                                      <p:cBhvr>
                                        <p:cTn id="39" dur="1000" decel="50000">
                                          <p:stCondLst>
                                            <p:cond delay="0"/>
                                          </p:stCondLst>
                                        </p:cTn>
                                        <p:tgtEl>
                                          <p:spTgt spid="2"/>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125979"/>
                                        </p:tgtEl>
                                        <p:attrNameLst>
                                          <p:attrName>style.visibility</p:attrName>
                                        </p:attrNameLst>
                                      </p:cBhvr>
                                      <p:to>
                                        <p:strVal val="visible"/>
                                      </p:to>
                                    </p:set>
                                    <p:animEffect transition="in" filter="wipe(left)">
                                      <p:cBhvr>
                                        <p:cTn id="44" dur="500"/>
                                        <p:tgtEl>
                                          <p:spTgt spid="125979"/>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125980"/>
                                        </p:tgtEl>
                                        <p:attrNameLst>
                                          <p:attrName>style.visibility</p:attrName>
                                        </p:attrNameLst>
                                      </p:cBhvr>
                                      <p:to>
                                        <p:strVal val="visible"/>
                                      </p:to>
                                    </p:set>
                                    <p:animEffect transition="in" filter="wipe(left)">
                                      <p:cBhvr>
                                        <p:cTn id="49" dur="500"/>
                                        <p:tgtEl>
                                          <p:spTgt spid="125980"/>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3" presetClass="entr" presetSubtype="10" fill="hold" grpId="0" nodeType="clickEffect">
                                  <p:stCondLst>
                                    <p:cond delay="0"/>
                                  </p:stCondLst>
                                  <p:childTnLst>
                                    <p:set>
                                      <p:cBhvr>
                                        <p:cTn id="53" dur="1" fill="hold">
                                          <p:stCondLst>
                                            <p:cond delay="0"/>
                                          </p:stCondLst>
                                        </p:cTn>
                                        <p:tgtEl>
                                          <p:spTgt spid="204827"/>
                                        </p:tgtEl>
                                        <p:attrNameLst>
                                          <p:attrName>style.visibility</p:attrName>
                                        </p:attrNameLst>
                                      </p:cBhvr>
                                      <p:to>
                                        <p:strVal val="visible"/>
                                      </p:to>
                                    </p:set>
                                    <p:animEffect transition="in" filter="blinds(horizontal)">
                                      <p:cBhvr>
                                        <p:cTn id="54" dur="500"/>
                                        <p:tgtEl>
                                          <p:spTgt spid="204827"/>
                                        </p:tgtEl>
                                      </p:cBhvr>
                                    </p:animEffect>
                                  </p:childTnLst>
                                </p:cTn>
                              </p:par>
                              <p:par>
                                <p:cTn id="55" presetID="3" presetClass="entr" presetSubtype="10" fill="hold" grpId="0" nodeType="withEffect">
                                  <p:stCondLst>
                                    <p:cond delay="0"/>
                                  </p:stCondLst>
                                  <p:childTnLst>
                                    <p:set>
                                      <p:cBhvr>
                                        <p:cTn id="56" dur="1" fill="hold">
                                          <p:stCondLst>
                                            <p:cond delay="0"/>
                                          </p:stCondLst>
                                        </p:cTn>
                                        <p:tgtEl>
                                          <p:spTgt spid="126000"/>
                                        </p:tgtEl>
                                        <p:attrNameLst>
                                          <p:attrName>style.visibility</p:attrName>
                                        </p:attrNameLst>
                                      </p:cBhvr>
                                      <p:to>
                                        <p:strVal val="visible"/>
                                      </p:to>
                                    </p:set>
                                    <p:animEffect transition="in" filter="blinds(horizontal)">
                                      <p:cBhvr>
                                        <p:cTn id="57" dur="500"/>
                                        <p:tgtEl>
                                          <p:spTgt spid="126000"/>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126001"/>
                                        </p:tgtEl>
                                        <p:attrNameLst>
                                          <p:attrName>style.visibility</p:attrName>
                                        </p:attrNameLst>
                                      </p:cBhvr>
                                      <p:to>
                                        <p:strVal val="visible"/>
                                      </p:to>
                                    </p:set>
                                    <p:animEffect transition="in" filter="wipe(left)">
                                      <p:cBhvr>
                                        <p:cTn id="62" dur="500"/>
                                        <p:tgtEl>
                                          <p:spTgt spid="126001"/>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204828"/>
                                        </p:tgtEl>
                                        <p:attrNameLst>
                                          <p:attrName>style.visibility</p:attrName>
                                        </p:attrNameLst>
                                      </p:cBhvr>
                                      <p:to>
                                        <p:strVal val="visible"/>
                                      </p:to>
                                    </p:set>
                                    <p:animEffect transition="in" filter="blinds(horizontal)">
                                      <p:cBhvr>
                                        <p:cTn id="67" dur="500"/>
                                        <p:tgtEl>
                                          <p:spTgt spid="204828"/>
                                        </p:tgtEl>
                                      </p:cBhvr>
                                    </p:animEffect>
                                  </p:childTnLst>
                                </p:cTn>
                              </p:par>
                              <p:par>
                                <p:cTn id="68" presetID="3" presetClass="entr" presetSubtype="10" fill="hold" grpId="0" nodeType="withEffect">
                                  <p:stCondLst>
                                    <p:cond delay="0"/>
                                  </p:stCondLst>
                                  <p:childTnLst>
                                    <p:set>
                                      <p:cBhvr>
                                        <p:cTn id="69" dur="1" fill="hold">
                                          <p:stCondLst>
                                            <p:cond delay="0"/>
                                          </p:stCondLst>
                                        </p:cTn>
                                        <p:tgtEl>
                                          <p:spTgt spid="126003"/>
                                        </p:tgtEl>
                                        <p:attrNameLst>
                                          <p:attrName>style.visibility</p:attrName>
                                        </p:attrNameLst>
                                      </p:cBhvr>
                                      <p:to>
                                        <p:strVal val="visible"/>
                                      </p:to>
                                    </p:set>
                                    <p:animEffect transition="in" filter="blinds(horizontal)">
                                      <p:cBhvr>
                                        <p:cTn id="70" dur="500"/>
                                        <p:tgtEl>
                                          <p:spTgt spid="1260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4943" grpId="0"/>
      <p:bldP spid="124944" grpId="0"/>
      <p:bldP spid="12" grpId="0" build="p"/>
      <p:bldP spid="13" grpId="0" build="p"/>
      <p:bldP spid="4" grpId="0"/>
      <p:bldP spid="125979" grpId="0"/>
      <p:bldP spid="125980" grpId="0"/>
      <p:bldP spid="126000" grpId="0"/>
      <p:bldP spid="126001" grpId="0"/>
      <p:bldP spid="126003" grpId="0"/>
      <p:bldP spid="204827" grpId="0" animBg="1"/>
      <p:bldP spid="204828"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004" name="Text Box 52"/>
          <p:cNvSpPr txBox="1">
            <a:spLocks noChangeArrowheads="1"/>
          </p:cNvSpPr>
          <p:nvPr/>
        </p:nvSpPr>
        <p:spPr bwMode="auto">
          <a:xfrm>
            <a:off x="395288" y="847725"/>
            <a:ext cx="6516687" cy="374650"/>
          </a:xfrm>
          <a:prstGeom prst="rect">
            <a:avLst/>
          </a:prstGeom>
          <a:noFill/>
          <a:ln w="9525">
            <a:noFill/>
            <a:miter lim="800000"/>
            <a:headEnd/>
            <a:tailEnd/>
          </a:ln>
        </p:spPr>
        <p:txBody>
          <a:bodyPr>
            <a:spAutoFit/>
          </a:bodyPr>
          <a:lstStyle/>
          <a:p>
            <a:pPr>
              <a:lnSpc>
                <a:spcPct val="110000"/>
              </a:lnSpc>
            </a:pPr>
            <a:r>
              <a:rPr kumimoji="1" lang="zh-CN" altLang="en-US" b="1">
                <a:solidFill>
                  <a:srgbClr val="FF00FF"/>
                </a:solidFill>
                <a:latin typeface="华文中宋"/>
                <a:ea typeface="华文中宋"/>
                <a:cs typeface="华文中宋"/>
              </a:rPr>
              <a:t>（</a:t>
            </a:r>
            <a:r>
              <a:rPr kumimoji="1" lang="en-US" altLang="zh-CN" b="1">
                <a:solidFill>
                  <a:srgbClr val="FF00FF"/>
                </a:solidFill>
                <a:latin typeface="华文中宋"/>
                <a:ea typeface="华文中宋"/>
                <a:cs typeface="华文中宋"/>
              </a:rPr>
              <a:t>3</a:t>
            </a:r>
            <a:r>
              <a:rPr kumimoji="1" lang="zh-CN" altLang="en-US" b="1">
                <a:solidFill>
                  <a:srgbClr val="FF00FF"/>
                </a:solidFill>
                <a:latin typeface="华文中宋"/>
                <a:ea typeface="华文中宋"/>
                <a:cs typeface="华文中宋"/>
              </a:rPr>
              <a:t>）热力学第二定律的统计意义      </a:t>
            </a:r>
          </a:p>
        </p:txBody>
      </p:sp>
      <p:sp>
        <p:nvSpPr>
          <p:cNvPr id="126005" name="Text Box 53"/>
          <p:cNvSpPr txBox="1">
            <a:spLocks noChangeArrowheads="1"/>
          </p:cNvSpPr>
          <p:nvPr/>
        </p:nvSpPr>
        <p:spPr bwMode="auto">
          <a:xfrm>
            <a:off x="395288" y="1171575"/>
            <a:ext cx="8458200" cy="679450"/>
          </a:xfrm>
          <a:prstGeom prst="rect">
            <a:avLst/>
          </a:prstGeom>
          <a:noFill/>
          <a:ln w="9525">
            <a:noFill/>
            <a:miter lim="800000"/>
            <a:headEnd/>
            <a:tailEnd/>
          </a:ln>
        </p:spPr>
        <p:txBody>
          <a:bodyPr>
            <a:spAutoFit/>
          </a:bodyPr>
          <a:lstStyle/>
          <a:p>
            <a:pPr>
              <a:lnSpc>
                <a:spcPct val="110000"/>
              </a:lnSpc>
            </a:pPr>
            <a:r>
              <a:rPr kumimoji="1" lang="en-US" altLang="zh-CN" b="1">
                <a:solidFill>
                  <a:srgbClr val="FF0000"/>
                </a:solidFill>
                <a:latin typeface="华文中宋"/>
                <a:ea typeface="华文中宋"/>
                <a:cs typeface="华文中宋"/>
              </a:rPr>
              <a:t>        </a:t>
            </a:r>
            <a:r>
              <a:rPr kumimoji="1" lang="zh-CN" altLang="en-US" b="1">
                <a:solidFill>
                  <a:srgbClr val="0000FF"/>
                </a:solidFill>
                <a:latin typeface="华文中宋"/>
                <a:ea typeface="华文中宋"/>
                <a:cs typeface="华文中宋"/>
              </a:rPr>
              <a:t>在一孤立系统内所发生的一切自然过程总是由热力学概率小的宏观态向热力学概率大的宏观态进行。</a:t>
            </a:r>
            <a:endParaRPr kumimoji="1" lang="zh-CN" altLang="en-US" b="1">
              <a:solidFill>
                <a:srgbClr val="000000"/>
              </a:solidFill>
              <a:latin typeface="华文中宋"/>
              <a:ea typeface="华文中宋"/>
              <a:cs typeface="华文中宋"/>
            </a:endParaRPr>
          </a:p>
        </p:txBody>
      </p:sp>
      <p:sp>
        <p:nvSpPr>
          <p:cNvPr id="129028" name="Text Box 4"/>
          <p:cNvSpPr txBox="1">
            <a:spLocks noChangeArrowheads="1"/>
          </p:cNvSpPr>
          <p:nvPr/>
        </p:nvSpPr>
        <p:spPr bwMode="auto">
          <a:xfrm>
            <a:off x="684213" y="1908175"/>
            <a:ext cx="2538412" cy="376238"/>
          </a:xfrm>
          <a:prstGeom prst="rect">
            <a:avLst/>
          </a:prstGeom>
          <a:noFill/>
          <a:ln w="9525">
            <a:noFill/>
            <a:miter lim="800000"/>
            <a:headEnd/>
            <a:tailEnd/>
          </a:ln>
        </p:spPr>
        <p:txBody>
          <a:bodyPr>
            <a:spAutoFit/>
          </a:bodyPr>
          <a:lstStyle/>
          <a:p>
            <a:pPr eaLnBrk="0" hangingPunct="0">
              <a:lnSpc>
                <a:spcPct val="110000"/>
              </a:lnSpc>
            </a:pPr>
            <a:r>
              <a:rPr lang="en-US" altLang="zh-CN" b="1">
                <a:solidFill>
                  <a:srgbClr val="0000FF"/>
                </a:solidFill>
                <a:latin typeface="华文中宋"/>
                <a:ea typeface="华文中宋"/>
                <a:cs typeface="华文中宋"/>
              </a:rPr>
              <a:t>2</a:t>
            </a:r>
            <a:r>
              <a:rPr lang="zh-CN" altLang="en-US" b="1">
                <a:solidFill>
                  <a:srgbClr val="0000FF"/>
                </a:solidFill>
                <a:latin typeface="华文中宋"/>
                <a:ea typeface="华文中宋"/>
                <a:cs typeface="华文中宋"/>
              </a:rPr>
              <a:t>、</a:t>
            </a:r>
            <a:r>
              <a:rPr kumimoji="1" lang="zh-CN" altLang="en-US" b="1">
                <a:solidFill>
                  <a:srgbClr val="0000FF"/>
                </a:solidFill>
                <a:latin typeface="华文中宋"/>
                <a:ea typeface="华文中宋"/>
                <a:cs typeface="华文中宋"/>
              </a:rPr>
              <a:t>玻尔兹曼熵</a:t>
            </a:r>
          </a:p>
        </p:txBody>
      </p:sp>
      <p:sp>
        <p:nvSpPr>
          <p:cNvPr id="129078" name="Text Box 54"/>
          <p:cNvSpPr txBox="1">
            <a:spLocks noChangeArrowheads="1"/>
          </p:cNvSpPr>
          <p:nvPr/>
        </p:nvSpPr>
        <p:spPr bwMode="auto">
          <a:xfrm>
            <a:off x="3090863" y="1744663"/>
            <a:ext cx="3960812" cy="701675"/>
          </a:xfrm>
          <a:prstGeom prst="rect">
            <a:avLst/>
          </a:prstGeom>
          <a:noFill/>
          <a:ln w="9525">
            <a:noFill/>
            <a:miter lim="800000"/>
            <a:headEnd/>
            <a:tailEnd/>
          </a:ln>
        </p:spPr>
        <p:txBody>
          <a:bodyPr>
            <a:spAutoFit/>
          </a:bodyPr>
          <a:lstStyle/>
          <a:p>
            <a:pPr>
              <a:lnSpc>
                <a:spcPct val="110000"/>
              </a:lnSpc>
            </a:pPr>
            <a:r>
              <a:rPr kumimoji="1" lang="zh-CN" altLang="en-US" b="1">
                <a:solidFill>
                  <a:srgbClr val="000000"/>
                </a:solidFill>
                <a:latin typeface="Times New Roman" pitchFamily="18" charset="0"/>
                <a:ea typeface="华文中宋"/>
                <a:cs typeface="华文中宋"/>
              </a:rPr>
              <a:t>无序性增加       </a:t>
            </a:r>
            <a:r>
              <a:rPr kumimoji="1" lang="en-US" altLang="zh-CN" b="1">
                <a:solidFill>
                  <a:srgbClr val="000000"/>
                </a:solidFill>
                <a:latin typeface="Times New Roman" pitchFamily="18" charset="0"/>
                <a:ea typeface="华文中宋"/>
                <a:cs typeface="华文中宋"/>
              </a:rPr>
              <a:t>(</a:t>
            </a:r>
            <a:r>
              <a:rPr kumimoji="1" lang="zh-CN" altLang="en-US" b="1">
                <a:solidFill>
                  <a:srgbClr val="000000"/>
                </a:solidFill>
                <a:latin typeface="Times New Roman" pitchFamily="18" charset="0"/>
                <a:ea typeface="华文中宋"/>
                <a:cs typeface="华文中宋"/>
              </a:rPr>
              <a:t>定性</a:t>
            </a:r>
            <a:r>
              <a:rPr kumimoji="1" lang="en-US" altLang="zh-CN" b="1">
                <a:solidFill>
                  <a:srgbClr val="000000"/>
                </a:solidFill>
                <a:latin typeface="Times New Roman" pitchFamily="18" charset="0"/>
                <a:ea typeface="华文中宋"/>
                <a:cs typeface="华文中宋"/>
              </a:rPr>
              <a:t>)</a:t>
            </a:r>
          </a:p>
          <a:p>
            <a:pPr>
              <a:lnSpc>
                <a:spcPct val="110000"/>
              </a:lnSpc>
            </a:pPr>
            <a:r>
              <a:rPr kumimoji="1" lang="en-US" altLang="zh-CN" b="1">
                <a:solidFill>
                  <a:srgbClr val="000000"/>
                </a:solidFill>
                <a:latin typeface="Times New Roman" pitchFamily="18" charset="0"/>
                <a:ea typeface="华文中宋"/>
                <a:cs typeface="华文中宋"/>
                <a:sym typeface="Symbol" pitchFamily="18" charset="2"/>
              </a:rPr>
              <a:t></a:t>
            </a:r>
            <a:r>
              <a:rPr kumimoji="1" lang="zh-CN" altLang="en-US" b="1">
                <a:solidFill>
                  <a:srgbClr val="000000"/>
                </a:solidFill>
                <a:latin typeface="Times New Roman" pitchFamily="18" charset="0"/>
                <a:ea typeface="华文中宋"/>
                <a:cs typeface="华文中宋"/>
              </a:rPr>
              <a:t>小 </a:t>
            </a:r>
            <a:r>
              <a:rPr kumimoji="1" lang="zh-CN" altLang="en-US" b="1">
                <a:solidFill>
                  <a:srgbClr val="000000"/>
                </a:solidFill>
                <a:latin typeface="Times New Roman" pitchFamily="18" charset="0"/>
                <a:ea typeface="华文中宋"/>
                <a:cs typeface="华文中宋"/>
                <a:sym typeface="Symbol" pitchFamily="18" charset="2"/>
              </a:rPr>
              <a:t></a:t>
            </a:r>
            <a:r>
              <a:rPr kumimoji="1" lang="zh-CN" altLang="en-US" b="1">
                <a:solidFill>
                  <a:srgbClr val="000000"/>
                </a:solidFill>
                <a:latin typeface="Times New Roman" pitchFamily="18" charset="0"/>
                <a:ea typeface="华文中宋"/>
                <a:cs typeface="华文中宋"/>
              </a:rPr>
              <a:t> </a:t>
            </a:r>
            <a:r>
              <a:rPr kumimoji="1" lang="zh-CN" altLang="en-US" b="1">
                <a:solidFill>
                  <a:srgbClr val="000000"/>
                </a:solidFill>
                <a:latin typeface="Times New Roman" pitchFamily="18" charset="0"/>
                <a:ea typeface="华文中宋"/>
                <a:cs typeface="华文中宋"/>
                <a:sym typeface="Symbol" pitchFamily="18" charset="2"/>
              </a:rPr>
              <a:t></a:t>
            </a:r>
            <a:r>
              <a:rPr kumimoji="1" lang="zh-CN" altLang="en-US" b="1">
                <a:solidFill>
                  <a:srgbClr val="000000"/>
                </a:solidFill>
                <a:latin typeface="Times New Roman" pitchFamily="18" charset="0"/>
                <a:ea typeface="华文中宋"/>
                <a:cs typeface="华文中宋"/>
              </a:rPr>
              <a:t>大       </a:t>
            </a:r>
            <a:r>
              <a:rPr kumimoji="1" lang="en-US" altLang="zh-CN" b="1">
                <a:solidFill>
                  <a:srgbClr val="000000"/>
                </a:solidFill>
                <a:latin typeface="Times New Roman" pitchFamily="18" charset="0"/>
                <a:ea typeface="华文中宋"/>
                <a:cs typeface="华文中宋"/>
              </a:rPr>
              <a:t>(</a:t>
            </a:r>
            <a:r>
              <a:rPr kumimoji="1" lang="zh-CN" altLang="en-US" b="1">
                <a:solidFill>
                  <a:srgbClr val="000000"/>
                </a:solidFill>
                <a:latin typeface="Times New Roman" pitchFamily="18" charset="0"/>
                <a:ea typeface="华文中宋"/>
                <a:cs typeface="华文中宋"/>
              </a:rPr>
              <a:t>定量</a:t>
            </a:r>
            <a:r>
              <a:rPr kumimoji="1" lang="en-US" altLang="zh-CN" b="1">
                <a:solidFill>
                  <a:srgbClr val="000000"/>
                </a:solidFill>
                <a:latin typeface="Times New Roman" pitchFamily="18" charset="0"/>
                <a:ea typeface="华文中宋"/>
                <a:cs typeface="华文中宋"/>
              </a:rPr>
              <a:t>)</a:t>
            </a:r>
          </a:p>
        </p:txBody>
      </p:sp>
      <p:sp>
        <p:nvSpPr>
          <p:cNvPr id="129079" name="Text Box 55"/>
          <p:cNvSpPr txBox="1">
            <a:spLocks noChangeArrowheads="1"/>
          </p:cNvSpPr>
          <p:nvPr/>
        </p:nvSpPr>
        <p:spPr bwMode="auto">
          <a:xfrm>
            <a:off x="827088" y="2490788"/>
            <a:ext cx="5040312" cy="368300"/>
          </a:xfrm>
          <a:prstGeom prst="rect">
            <a:avLst/>
          </a:prstGeom>
          <a:noFill/>
          <a:ln w="9525">
            <a:noFill/>
            <a:miter lim="800000"/>
            <a:headEnd/>
            <a:tailEnd/>
          </a:ln>
        </p:spPr>
        <p:txBody>
          <a:bodyPr>
            <a:spAutoFit/>
          </a:bodyPr>
          <a:lstStyle/>
          <a:p>
            <a:pPr algn="just"/>
            <a:r>
              <a:rPr lang="en-US" altLang="zh-CN" b="1">
                <a:solidFill>
                  <a:srgbClr val="000000"/>
                </a:solidFill>
                <a:latin typeface="Times New Roman" pitchFamily="18" charset="0"/>
                <a:ea typeface="华文中宋"/>
                <a:cs typeface="华文中宋"/>
              </a:rPr>
              <a:t>1877</a:t>
            </a:r>
            <a:r>
              <a:rPr lang="zh-CN" altLang="en-US" b="1">
                <a:solidFill>
                  <a:srgbClr val="000000"/>
                </a:solidFill>
                <a:latin typeface="Times New Roman" pitchFamily="18" charset="0"/>
                <a:ea typeface="华文中宋"/>
                <a:cs typeface="华文中宋"/>
              </a:rPr>
              <a:t>年玻尔兹曼</a:t>
            </a:r>
            <a:r>
              <a:rPr kumimoji="1" lang="zh-CN" altLang="en-US" b="1">
                <a:solidFill>
                  <a:srgbClr val="000000"/>
                </a:solidFill>
                <a:latin typeface="Times New Roman" pitchFamily="18" charset="0"/>
                <a:ea typeface="华文中宋"/>
                <a:cs typeface="华文中宋"/>
              </a:rPr>
              <a:t>引入熵</a:t>
            </a:r>
            <a:r>
              <a:rPr kumimoji="1" lang="en-US" altLang="zh-CN" b="1">
                <a:solidFill>
                  <a:srgbClr val="000000"/>
                </a:solidFill>
                <a:latin typeface="Times New Roman" pitchFamily="18" charset="0"/>
                <a:ea typeface="华文中宋"/>
                <a:cs typeface="华文中宋"/>
              </a:rPr>
              <a:t>(Entropy)</a:t>
            </a:r>
            <a:r>
              <a:rPr kumimoji="1" lang="zh-CN" altLang="en-US" b="1">
                <a:solidFill>
                  <a:srgbClr val="000000"/>
                </a:solidFill>
                <a:latin typeface="Times New Roman" pitchFamily="18" charset="0"/>
                <a:ea typeface="华文中宋"/>
                <a:cs typeface="华文中宋"/>
              </a:rPr>
              <a:t>：</a:t>
            </a:r>
            <a:endParaRPr lang="zh-CN" altLang="en-US" b="1">
              <a:solidFill>
                <a:srgbClr val="000000"/>
              </a:solidFill>
              <a:latin typeface="Times New Roman" pitchFamily="18" charset="0"/>
              <a:ea typeface="华文中宋"/>
              <a:cs typeface="华文中宋"/>
            </a:endParaRPr>
          </a:p>
        </p:txBody>
      </p:sp>
      <p:sp>
        <p:nvSpPr>
          <p:cNvPr id="129081" name="Text Box 57"/>
          <p:cNvSpPr txBox="1">
            <a:spLocks noChangeArrowheads="1"/>
          </p:cNvSpPr>
          <p:nvPr/>
        </p:nvSpPr>
        <p:spPr bwMode="auto">
          <a:xfrm>
            <a:off x="3044825" y="2922588"/>
            <a:ext cx="1958975" cy="369887"/>
          </a:xfrm>
          <a:prstGeom prst="rect">
            <a:avLst/>
          </a:prstGeom>
          <a:noFill/>
          <a:ln w="19050">
            <a:solidFill>
              <a:srgbClr val="FF00FF"/>
            </a:solidFill>
            <a:miter lim="800000"/>
            <a:headEnd/>
            <a:tailEnd/>
          </a:ln>
        </p:spPr>
        <p:txBody>
          <a:bodyPr>
            <a:spAutoFit/>
          </a:bodyPr>
          <a:lstStyle/>
          <a:p>
            <a:pPr algn="ctr"/>
            <a:r>
              <a:rPr kumimoji="1" lang="en-US" altLang="zh-CN" b="1" i="1">
                <a:solidFill>
                  <a:srgbClr val="000000"/>
                </a:solidFill>
                <a:latin typeface="Times New Roman" pitchFamily="18" charset="0"/>
                <a:ea typeface="黑体" pitchFamily="49" charset="-122"/>
              </a:rPr>
              <a:t>S</a:t>
            </a:r>
            <a:r>
              <a:rPr kumimoji="1" lang="en-US" altLang="zh-CN" b="1">
                <a:solidFill>
                  <a:srgbClr val="000000"/>
                </a:solidFill>
                <a:latin typeface="Times New Roman" pitchFamily="18" charset="0"/>
                <a:ea typeface="黑体" pitchFamily="49" charset="-122"/>
              </a:rPr>
              <a:t> = </a:t>
            </a:r>
            <a:r>
              <a:rPr kumimoji="1" lang="en-US" altLang="zh-CN" b="1" i="1">
                <a:solidFill>
                  <a:srgbClr val="000000"/>
                </a:solidFill>
                <a:latin typeface="Times New Roman" pitchFamily="18" charset="0"/>
                <a:ea typeface="黑体" pitchFamily="49" charset="-122"/>
              </a:rPr>
              <a:t>k</a:t>
            </a:r>
            <a:r>
              <a:rPr kumimoji="1" lang="en-US" altLang="zh-CN" b="1">
                <a:solidFill>
                  <a:srgbClr val="000000"/>
                </a:solidFill>
                <a:latin typeface="Times New Roman" pitchFamily="18" charset="0"/>
                <a:ea typeface="黑体" pitchFamily="49" charset="-122"/>
              </a:rPr>
              <a:t> ln</a:t>
            </a:r>
            <a:r>
              <a:rPr kumimoji="1" lang="en-US" altLang="zh-CN" b="1" i="1">
                <a:solidFill>
                  <a:srgbClr val="000000"/>
                </a:solidFill>
                <a:latin typeface="Times New Roman" pitchFamily="18" charset="0"/>
                <a:ea typeface="黑体" pitchFamily="49" charset="-122"/>
                <a:sym typeface="Symbol" pitchFamily="18" charset="2"/>
              </a:rPr>
              <a:t></a:t>
            </a:r>
          </a:p>
        </p:txBody>
      </p:sp>
      <p:sp>
        <p:nvSpPr>
          <p:cNvPr id="129085" name="Text Box 61"/>
          <p:cNvSpPr txBox="1">
            <a:spLocks noChangeArrowheads="1"/>
          </p:cNvSpPr>
          <p:nvPr/>
        </p:nvSpPr>
        <p:spPr bwMode="auto">
          <a:xfrm>
            <a:off x="755650" y="3327400"/>
            <a:ext cx="7200900" cy="369888"/>
          </a:xfrm>
          <a:prstGeom prst="rect">
            <a:avLst/>
          </a:prstGeom>
          <a:noFill/>
          <a:ln w="9525">
            <a:noFill/>
            <a:miter lim="800000"/>
            <a:headEnd/>
            <a:tailEnd/>
          </a:ln>
        </p:spPr>
        <p:txBody>
          <a:bodyPr>
            <a:spAutoFit/>
          </a:bodyPr>
          <a:lstStyle/>
          <a:p>
            <a:r>
              <a:rPr kumimoji="1" lang="zh-CN" altLang="en-US" b="1">
                <a:solidFill>
                  <a:srgbClr val="0000FF"/>
                </a:solidFill>
                <a:latin typeface="Times New Roman" pitchFamily="18" charset="0"/>
                <a:ea typeface="华文中宋"/>
                <a:cs typeface="华文中宋"/>
              </a:rPr>
              <a:t>玻耳兹曼熵公式</a:t>
            </a:r>
            <a:r>
              <a:rPr kumimoji="1" lang="en-US" altLang="zh-CN" b="1">
                <a:solidFill>
                  <a:srgbClr val="0000FF"/>
                </a:solidFill>
                <a:latin typeface="Times New Roman" pitchFamily="18" charset="0"/>
                <a:ea typeface="华文中宋"/>
                <a:cs typeface="华文中宋"/>
              </a:rPr>
              <a:t>, </a:t>
            </a:r>
            <a:r>
              <a:rPr kumimoji="1" lang="en-US" altLang="zh-CN" b="1" i="1">
                <a:solidFill>
                  <a:srgbClr val="000000"/>
                </a:solidFill>
                <a:latin typeface="Times New Roman" pitchFamily="18" charset="0"/>
                <a:ea typeface="华文中宋"/>
                <a:cs typeface="华文中宋"/>
              </a:rPr>
              <a:t>k </a:t>
            </a:r>
            <a:r>
              <a:rPr kumimoji="1" lang="en-US" altLang="zh-CN" b="1">
                <a:solidFill>
                  <a:srgbClr val="000000"/>
                </a:solidFill>
                <a:latin typeface="Times New Roman" pitchFamily="18" charset="0"/>
                <a:ea typeface="华文中宋"/>
                <a:cs typeface="华文中宋"/>
              </a:rPr>
              <a:t>—</a:t>
            </a:r>
            <a:r>
              <a:rPr kumimoji="1" lang="zh-CN" altLang="en-US" b="1">
                <a:solidFill>
                  <a:srgbClr val="000000"/>
                </a:solidFill>
                <a:latin typeface="Times New Roman" pitchFamily="18" charset="0"/>
                <a:ea typeface="华文中宋"/>
                <a:cs typeface="华文中宋"/>
              </a:rPr>
              <a:t>玻耳兹曼常数，</a:t>
            </a:r>
            <a:r>
              <a:rPr lang="zh-CN" altLang="en-US" b="1">
                <a:solidFill>
                  <a:srgbClr val="000000"/>
                </a:solidFill>
                <a:latin typeface="Times New Roman" pitchFamily="18" charset="0"/>
                <a:ea typeface="华文中宋"/>
                <a:cs typeface="华文中宋"/>
              </a:rPr>
              <a:t>单位 </a:t>
            </a:r>
            <a:r>
              <a:rPr lang="en-US" altLang="zh-CN" b="1">
                <a:solidFill>
                  <a:srgbClr val="000000"/>
                </a:solidFill>
                <a:latin typeface="Times New Roman" pitchFamily="18" charset="0"/>
                <a:ea typeface="华文中宋"/>
                <a:cs typeface="华文中宋"/>
              </a:rPr>
              <a:t>: J</a:t>
            </a:r>
            <a:r>
              <a:rPr lang="en-US" altLang="zh-CN" b="1" baseline="30000">
                <a:solidFill>
                  <a:srgbClr val="000000"/>
                </a:solidFill>
                <a:latin typeface="Times New Roman" pitchFamily="18" charset="0"/>
                <a:ea typeface="华文中宋"/>
                <a:cs typeface="华文中宋"/>
              </a:rPr>
              <a:t>.</a:t>
            </a:r>
            <a:r>
              <a:rPr lang="en-US" altLang="zh-CN" b="1">
                <a:solidFill>
                  <a:srgbClr val="000000"/>
                </a:solidFill>
                <a:latin typeface="Times New Roman" pitchFamily="18" charset="0"/>
                <a:ea typeface="华文中宋"/>
                <a:cs typeface="华文中宋"/>
              </a:rPr>
              <a:t>K</a:t>
            </a:r>
            <a:r>
              <a:rPr lang="en-US" altLang="zh-CN" b="1" baseline="30000">
                <a:solidFill>
                  <a:srgbClr val="000000"/>
                </a:solidFill>
                <a:latin typeface="Times New Roman" pitchFamily="18" charset="0"/>
                <a:ea typeface="华文中宋"/>
                <a:cs typeface="华文中宋"/>
              </a:rPr>
              <a:t>-1</a:t>
            </a:r>
            <a:r>
              <a:rPr lang="zh-CN" altLang="en-US" b="1">
                <a:solidFill>
                  <a:srgbClr val="000000"/>
                </a:solidFill>
                <a:latin typeface="Times New Roman" pitchFamily="18" charset="0"/>
                <a:ea typeface="华文中宋"/>
                <a:cs typeface="华文中宋"/>
              </a:rPr>
              <a:t>。</a:t>
            </a:r>
          </a:p>
        </p:txBody>
      </p:sp>
      <p:sp>
        <p:nvSpPr>
          <p:cNvPr id="129090" name="Text Box 66"/>
          <p:cNvSpPr txBox="1">
            <a:spLocks noChangeArrowheads="1"/>
          </p:cNvSpPr>
          <p:nvPr/>
        </p:nvSpPr>
        <p:spPr bwMode="auto">
          <a:xfrm>
            <a:off x="1195388" y="3760788"/>
            <a:ext cx="5392737" cy="1006475"/>
          </a:xfrm>
          <a:prstGeom prst="rect">
            <a:avLst/>
          </a:prstGeom>
          <a:noFill/>
          <a:ln w="9525">
            <a:noFill/>
            <a:miter lim="800000"/>
            <a:headEnd/>
            <a:tailEnd/>
          </a:ln>
        </p:spPr>
        <p:txBody>
          <a:bodyPr>
            <a:spAutoFit/>
          </a:bodyPr>
          <a:lstStyle/>
          <a:p>
            <a:pPr eaLnBrk="0" hangingPunct="0">
              <a:lnSpc>
                <a:spcPct val="110000"/>
              </a:lnSpc>
            </a:pPr>
            <a:r>
              <a:rPr lang="en-US" altLang="zh-CN" b="1">
                <a:solidFill>
                  <a:srgbClr val="000000"/>
                </a:solidFill>
                <a:latin typeface="Times New Roman" pitchFamily="18" charset="0"/>
                <a:ea typeface="华文中宋"/>
                <a:cs typeface="华文中宋"/>
              </a:rPr>
              <a:t>(1)    </a:t>
            </a:r>
            <a:r>
              <a:rPr lang="zh-CN" altLang="en-US" b="1">
                <a:solidFill>
                  <a:srgbClr val="000000"/>
                </a:solidFill>
                <a:latin typeface="Times New Roman" pitchFamily="18" charset="0"/>
                <a:ea typeface="华文中宋"/>
                <a:cs typeface="华文中宋"/>
              </a:rPr>
              <a:t>熵是系统中分子热运动无序性的一种量度</a:t>
            </a:r>
          </a:p>
          <a:p>
            <a:pPr eaLnBrk="0" hangingPunct="0">
              <a:lnSpc>
                <a:spcPct val="110000"/>
              </a:lnSpc>
            </a:pPr>
            <a:r>
              <a:rPr kumimoji="1" lang="en-US" altLang="zh-CN" b="1">
                <a:solidFill>
                  <a:srgbClr val="000000"/>
                </a:solidFill>
                <a:latin typeface="Times New Roman" pitchFamily="18" charset="0"/>
                <a:ea typeface="华文中宋"/>
                <a:cs typeface="华文中宋"/>
              </a:rPr>
              <a:t>(2)    </a:t>
            </a:r>
            <a:r>
              <a:rPr kumimoji="1" lang="zh-CN" altLang="en-US" b="1">
                <a:solidFill>
                  <a:srgbClr val="000000"/>
                </a:solidFill>
                <a:latin typeface="Times New Roman" pitchFamily="18" charset="0"/>
                <a:ea typeface="华文中宋"/>
                <a:cs typeface="华文中宋"/>
              </a:rPr>
              <a:t>一个宏观状态 </a:t>
            </a:r>
            <a:r>
              <a:rPr kumimoji="1" lang="zh-CN" altLang="en-US" b="1">
                <a:solidFill>
                  <a:srgbClr val="000000"/>
                </a:solidFill>
                <a:latin typeface="Times New Roman" pitchFamily="18" charset="0"/>
                <a:ea typeface="华文中宋"/>
                <a:cs typeface="华文中宋"/>
                <a:sym typeface="Symbol" pitchFamily="18" charset="2"/>
              </a:rPr>
              <a:t> 一个</a:t>
            </a:r>
            <a:r>
              <a:rPr kumimoji="1" lang="zh-CN" altLang="en-US" b="1" i="1">
                <a:solidFill>
                  <a:srgbClr val="000000"/>
                </a:solidFill>
                <a:latin typeface="Times New Roman" pitchFamily="18" charset="0"/>
                <a:ea typeface="华文中宋"/>
                <a:cs typeface="华文中宋"/>
                <a:sym typeface="Symbol" pitchFamily="18" charset="2"/>
              </a:rPr>
              <a:t></a:t>
            </a:r>
            <a:r>
              <a:rPr kumimoji="1" lang="zh-CN" altLang="en-US" b="1">
                <a:solidFill>
                  <a:srgbClr val="000000"/>
                </a:solidFill>
                <a:latin typeface="Times New Roman" pitchFamily="18" charset="0"/>
                <a:ea typeface="华文中宋"/>
                <a:cs typeface="华文中宋"/>
                <a:sym typeface="Symbol" pitchFamily="18" charset="2"/>
              </a:rPr>
              <a:t>值  一个</a:t>
            </a:r>
            <a:r>
              <a:rPr kumimoji="1" lang="en-US" altLang="zh-CN" b="1" i="1">
                <a:solidFill>
                  <a:srgbClr val="000000"/>
                </a:solidFill>
                <a:latin typeface="Times New Roman" pitchFamily="18" charset="0"/>
                <a:ea typeface="华文中宋"/>
                <a:cs typeface="华文中宋"/>
                <a:sym typeface="Symbol" pitchFamily="18" charset="2"/>
              </a:rPr>
              <a:t>S</a:t>
            </a:r>
            <a:r>
              <a:rPr kumimoji="1" lang="zh-CN" altLang="en-US" b="1">
                <a:solidFill>
                  <a:srgbClr val="000000"/>
                </a:solidFill>
                <a:latin typeface="Times New Roman" pitchFamily="18" charset="0"/>
                <a:ea typeface="华文中宋"/>
                <a:cs typeface="华文中宋"/>
                <a:sym typeface="Symbol" pitchFamily="18" charset="2"/>
              </a:rPr>
              <a:t>值</a:t>
            </a:r>
          </a:p>
          <a:p>
            <a:pPr eaLnBrk="0" hangingPunct="0">
              <a:lnSpc>
                <a:spcPct val="110000"/>
              </a:lnSpc>
            </a:pPr>
            <a:r>
              <a:rPr kumimoji="1" lang="zh-CN" altLang="en-US" b="1">
                <a:solidFill>
                  <a:srgbClr val="000000"/>
                </a:solidFill>
                <a:latin typeface="Times New Roman" pitchFamily="18" charset="0"/>
                <a:ea typeface="华文中宋"/>
                <a:cs typeface="华文中宋"/>
                <a:sym typeface="Symbol" pitchFamily="18" charset="2"/>
              </a:rPr>
              <a:t>                         </a:t>
            </a:r>
            <a:r>
              <a:rPr kumimoji="1" lang="zh-CN" altLang="en-US" b="1">
                <a:solidFill>
                  <a:srgbClr val="A50021"/>
                </a:solidFill>
                <a:latin typeface="Times New Roman" pitchFamily="18" charset="0"/>
                <a:ea typeface="华文中宋"/>
                <a:cs typeface="华文中宋"/>
              </a:rPr>
              <a:t>熵是系统状态的函数</a:t>
            </a:r>
          </a:p>
        </p:txBody>
      </p:sp>
      <p:sp>
        <p:nvSpPr>
          <p:cNvPr id="206868" name="Rectangle 20"/>
          <p:cNvSpPr>
            <a:spLocks noChangeArrowheads="1"/>
          </p:cNvSpPr>
          <p:nvPr/>
        </p:nvSpPr>
        <p:spPr bwMode="auto">
          <a:xfrm>
            <a:off x="5076825" y="2922588"/>
            <a:ext cx="3232150" cy="369887"/>
          </a:xfrm>
          <a:prstGeom prst="rect">
            <a:avLst/>
          </a:prstGeom>
          <a:noFill/>
          <a:ln w="9525">
            <a:noFill/>
            <a:miter lim="800000"/>
            <a:headEnd/>
            <a:tailEnd/>
          </a:ln>
        </p:spPr>
        <p:txBody>
          <a:bodyPr>
            <a:spAutoFit/>
          </a:bodyPr>
          <a:lstStyle/>
          <a:p>
            <a:r>
              <a:rPr lang="zh-CN" altLang="en-US" b="1">
                <a:solidFill>
                  <a:srgbClr val="000000"/>
                </a:solidFill>
                <a:latin typeface="华文中宋"/>
                <a:ea typeface="华文中宋"/>
                <a:cs typeface="华文中宋"/>
              </a:rPr>
              <a:t>表示系统无序性的大小</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6004"/>
                                        </p:tgtEl>
                                        <p:attrNameLst>
                                          <p:attrName>style.visibility</p:attrName>
                                        </p:attrNameLst>
                                      </p:cBhvr>
                                      <p:to>
                                        <p:strVal val="visible"/>
                                      </p:to>
                                    </p:set>
                                    <p:animEffect transition="in" filter="wipe(left)">
                                      <p:cBhvr>
                                        <p:cTn id="7" dur="500"/>
                                        <p:tgtEl>
                                          <p:spTgt spid="12600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6005">
                                            <p:txEl>
                                              <p:pRg st="0" end="0"/>
                                            </p:txEl>
                                          </p:spTgt>
                                        </p:tgtEl>
                                        <p:attrNameLst>
                                          <p:attrName>style.visibility</p:attrName>
                                        </p:attrNameLst>
                                      </p:cBhvr>
                                      <p:to>
                                        <p:strVal val="visible"/>
                                      </p:to>
                                    </p:set>
                                    <p:animEffect transition="in" filter="wipe(left)">
                                      <p:cBhvr>
                                        <p:cTn id="12" dur="500"/>
                                        <p:tgtEl>
                                          <p:spTgt spid="126005">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29028"/>
                                        </p:tgtEl>
                                        <p:attrNameLst>
                                          <p:attrName>style.visibility</p:attrName>
                                        </p:attrNameLst>
                                      </p:cBhvr>
                                      <p:to>
                                        <p:strVal val="visible"/>
                                      </p:to>
                                    </p:set>
                                    <p:animEffect transition="in" filter="wipe(left)">
                                      <p:cBhvr>
                                        <p:cTn id="17" dur="500"/>
                                        <p:tgtEl>
                                          <p:spTgt spid="12902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29078">
                                            <p:txEl>
                                              <p:pRg st="0" end="0"/>
                                            </p:txEl>
                                          </p:spTgt>
                                        </p:tgtEl>
                                        <p:attrNameLst>
                                          <p:attrName>style.visibility</p:attrName>
                                        </p:attrNameLst>
                                      </p:cBhvr>
                                      <p:to>
                                        <p:strVal val="visible"/>
                                      </p:to>
                                    </p:set>
                                    <p:animEffect transition="in" filter="wipe(left)">
                                      <p:cBhvr>
                                        <p:cTn id="22" dur="500"/>
                                        <p:tgtEl>
                                          <p:spTgt spid="129078">
                                            <p:txEl>
                                              <p:pRg st="0" end="0"/>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29078">
                                            <p:txEl>
                                              <p:pRg st="1" end="1"/>
                                            </p:txEl>
                                          </p:spTgt>
                                        </p:tgtEl>
                                        <p:attrNameLst>
                                          <p:attrName>style.visibility</p:attrName>
                                        </p:attrNameLst>
                                      </p:cBhvr>
                                      <p:to>
                                        <p:strVal val="visible"/>
                                      </p:to>
                                    </p:set>
                                    <p:animEffect transition="in" filter="wipe(left)">
                                      <p:cBhvr>
                                        <p:cTn id="27" dur="500"/>
                                        <p:tgtEl>
                                          <p:spTgt spid="129078">
                                            <p:txEl>
                                              <p:pRg st="1" end="1"/>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29079">
                                            <p:txEl>
                                              <p:pRg st="0" end="0"/>
                                            </p:txEl>
                                          </p:spTgt>
                                        </p:tgtEl>
                                        <p:attrNameLst>
                                          <p:attrName>style.visibility</p:attrName>
                                        </p:attrNameLst>
                                      </p:cBhvr>
                                      <p:to>
                                        <p:strVal val="visible"/>
                                      </p:to>
                                    </p:set>
                                    <p:animEffect transition="in" filter="wipe(left)">
                                      <p:cBhvr>
                                        <p:cTn id="32" dur="500"/>
                                        <p:tgtEl>
                                          <p:spTgt spid="129079">
                                            <p:txEl>
                                              <p:pRg st="0" end="0"/>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grpId="0" nodeType="clickEffect">
                                  <p:stCondLst>
                                    <p:cond delay="0"/>
                                  </p:stCondLst>
                                  <p:childTnLst>
                                    <p:set>
                                      <p:cBhvr>
                                        <p:cTn id="36" dur="1" fill="hold">
                                          <p:stCondLst>
                                            <p:cond delay="499"/>
                                          </p:stCondLst>
                                        </p:cTn>
                                        <p:tgtEl>
                                          <p:spTgt spid="129081"/>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3" presetClass="entr" presetSubtype="10" fill="hold" grpId="0" nodeType="clickEffect">
                                  <p:stCondLst>
                                    <p:cond delay="0"/>
                                  </p:stCondLst>
                                  <p:childTnLst>
                                    <p:set>
                                      <p:cBhvr>
                                        <p:cTn id="40" dur="1" fill="hold">
                                          <p:stCondLst>
                                            <p:cond delay="0"/>
                                          </p:stCondLst>
                                        </p:cTn>
                                        <p:tgtEl>
                                          <p:spTgt spid="206868"/>
                                        </p:tgtEl>
                                        <p:attrNameLst>
                                          <p:attrName>style.visibility</p:attrName>
                                        </p:attrNameLst>
                                      </p:cBhvr>
                                      <p:to>
                                        <p:strVal val="visible"/>
                                      </p:to>
                                    </p:set>
                                    <p:animEffect transition="in" filter="blinds(horizontal)">
                                      <p:cBhvr>
                                        <p:cTn id="41" dur="500"/>
                                        <p:tgtEl>
                                          <p:spTgt spid="206868"/>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129085"/>
                                        </p:tgtEl>
                                        <p:attrNameLst>
                                          <p:attrName>style.visibility</p:attrName>
                                        </p:attrNameLst>
                                      </p:cBhvr>
                                      <p:to>
                                        <p:strVal val="visible"/>
                                      </p:to>
                                    </p:set>
                                    <p:animEffect transition="in" filter="wipe(left)">
                                      <p:cBhvr>
                                        <p:cTn id="46" dur="500"/>
                                        <p:tgtEl>
                                          <p:spTgt spid="129085"/>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129090">
                                            <p:txEl>
                                              <p:pRg st="0" end="0"/>
                                            </p:txEl>
                                          </p:spTgt>
                                        </p:tgtEl>
                                        <p:attrNameLst>
                                          <p:attrName>style.visibility</p:attrName>
                                        </p:attrNameLst>
                                      </p:cBhvr>
                                      <p:to>
                                        <p:strVal val="visible"/>
                                      </p:to>
                                    </p:set>
                                    <p:animEffect transition="in" filter="wipe(left)">
                                      <p:cBhvr>
                                        <p:cTn id="51" dur="500"/>
                                        <p:tgtEl>
                                          <p:spTgt spid="129090">
                                            <p:txEl>
                                              <p:pRg st="0" end="0"/>
                                            </p:txEl>
                                          </p:spTgt>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129090">
                                            <p:txEl>
                                              <p:pRg st="1" end="1"/>
                                            </p:txEl>
                                          </p:spTgt>
                                        </p:tgtEl>
                                        <p:attrNameLst>
                                          <p:attrName>style.visibility</p:attrName>
                                        </p:attrNameLst>
                                      </p:cBhvr>
                                      <p:to>
                                        <p:strVal val="visible"/>
                                      </p:to>
                                    </p:set>
                                    <p:animEffect transition="in" filter="wipe(left)">
                                      <p:cBhvr>
                                        <p:cTn id="56" dur="500"/>
                                        <p:tgtEl>
                                          <p:spTgt spid="129090">
                                            <p:txEl>
                                              <p:pRg st="1" end="1"/>
                                            </p:txEl>
                                          </p:spTgt>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129090">
                                            <p:txEl>
                                              <p:pRg st="2" end="2"/>
                                            </p:txEl>
                                          </p:spTgt>
                                        </p:tgtEl>
                                        <p:attrNameLst>
                                          <p:attrName>style.visibility</p:attrName>
                                        </p:attrNameLst>
                                      </p:cBhvr>
                                      <p:to>
                                        <p:strVal val="visible"/>
                                      </p:to>
                                    </p:set>
                                    <p:animEffect transition="in" filter="wipe(left)">
                                      <p:cBhvr>
                                        <p:cTn id="61" dur="500"/>
                                        <p:tgtEl>
                                          <p:spTgt spid="12909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004" grpId="0"/>
      <p:bldP spid="126005" grpId="0" build="p"/>
      <p:bldP spid="129028" grpId="0"/>
      <p:bldP spid="129078" grpId="0" build="p" autoUpdateAnimBg="0"/>
      <p:bldP spid="129079" grpId="0" build="p"/>
      <p:bldP spid="129081" grpId="0" animBg="1" autoUpdateAnimBg="0"/>
      <p:bldP spid="129085" grpId="0" autoUpdateAnimBg="0"/>
      <p:bldP spid="129090" grpId="0" build="p"/>
      <p:bldP spid="206868"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6" name="Text Box 8"/>
          <p:cNvSpPr txBox="1">
            <a:spLocks noChangeArrowheads="1"/>
          </p:cNvSpPr>
          <p:nvPr/>
        </p:nvSpPr>
        <p:spPr bwMode="auto">
          <a:xfrm>
            <a:off x="376238" y="811213"/>
            <a:ext cx="3151187" cy="374650"/>
          </a:xfrm>
          <a:prstGeom prst="rect">
            <a:avLst/>
          </a:prstGeom>
          <a:noFill/>
          <a:ln w="9525">
            <a:noFill/>
            <a:miter lim="800000"/>
            <a:headEnd/>
            <a:tailEnd/>
          </a:ln>
        </p:spPr>
        <p:txBody>
          <a:bodyPr>
            <a:spAutoFit/>
          </a:bodyPr>
          <a:lstStyle/>
          <a:p>
            <a:pPr eaLnBrk="0" hangingPunct="0">
              <a:lnSpc>
                <a:spcPct val="110000"/>
              </a:lnSpc>
            </a:pPr>
            <a:r>
              <a:rPr kumimoji="1" lang="zh-CN" altLang="en-US" b="1">
                <a:solidFill>
                  <a:srgbClr val="000000"/>
                </a:solidFill>
                <a:latin typeface="Times New Roman" pitchFamily="18" charset="0"/>
                <a:ea typeface="华文中宋"/>
                <a:cs typeface="华文中宋"/>
              </a:rPr>
              <a:t>（</a:t>
            </a:r>
            <a:r>
              <a:rPr kumimoji="1" lang="en-US" altLang="zh-CN" b="1">
                <a:solidFill>
                  <a:srgbClr val="000000"/>
                </a:solidFill>
                <a:latin typeface="Times New Roman" pitchFamily="18" charset="0"/>
                <a:ea typeface="华文中宋"/>
                <a:cs typeface="华文中宋"/>
              </a:rPr>
              <a:t>3</a:t>
            </a:r>
            <a:r>
              <a:rPr kumimoji="1" lang="zh-CN" altLang="en-US" b="1">
                <a:solidFill>
                  <a:srgbClr val="000000"/>
                </a:solidFill>
                <a:latin typeface="Times New Roman" pitchFamily="18" charset="0"/>
                <a:ea typeface="华文中宋"/>
                <a:cs typeface="华文中宋"/>
              </a:rPr>
              <a:t>） 熵具有可加性</a:t>
            </a:r>
            <a:endParaRPr kumimoji="1" lang="zh-CN" altLang="en-US" b="1">
              <a:solidFill>
                <a:srgbClr val="000000"/>
              </a:solidFill>
              <a:latin typeface="Times New Roman" pitchFamily="18" charset="0"/>
              <a:ea typeface="华文中宋"/>
              <a:cs typeface="华文中宋"/>
              <a:sym typeface="Symbol" pitchFamily="18" charset="2"/>
            </a:endParaRPr>
          </a:p>
        </p:txBody>
      </p:sp>
      <p:sp>
        <p:nvSpPr>
          <p:cNvPr id="130063" name="Text Box 15"/>
          <p:cNvSpPr txBox="1">
            <a:spLocks noChangeArrowheads="1"/>
          </p:cNvSpPr>
          <p:nvPr/>
        </p:nvSpPr>
        <p:spPr bwMode="auto">
          <a:xfrm>
            <a:off x="395288" y="1311275"/>
            <a:ext cx="8424862" cy="646113"/>
          </a:xfrm>
          <a:prstGeom prst="rect">
            <a:avLst/>
          </a:prstGeom>
          <a:noFill/>
          <a:ln w="9525">
            <a:noFill/>
            <a:miter lim="800000"/>
            <a:headEnd/>
            <a:tailEnd/>
          </a:ln>
        </p:spPr>
        <p:txBody>
          <a:bodyPr anchor="ctr">
            <a:spAutoFit/>
          </a:bodyPr>
          <a:lstStyle/>
          <a:p>
            <a:r>
              <a:rPr kumimoji="1" lang="en-US" altLang="zh-CN" b="1">
                <a:solidFill>
                  <a:srgbClr val="000000"/>
                </a:solidFill>
                <a:latin typeface="Times New Roman" pitchFamily="18" charset="0"/>
                <a:ea typeface="华文中宋"/>
                <a:cs typeface="华文中宋"/>
              </a:rPr>
              <a:t>        </a:t>
            </a:r>
            <a:r>
              <a:rPr kumimoji="1" lang="zh-CN" altLang="en-US" b="1">
                <a:solidFill>
                  <a:srgbClr val="000000"/>
                </a:solidFill>
                <a:latin typeface="Times New Roman" pitchFamily="18" charset="0"/>
                <a:ea typeface="华文中宋"/>
                <a:cs typeface="华文中宋"/>
              </a:rPr>
              <a:t>两个子系统在一定条件下的热力学概率若分别用</a:t>
            </a:r>
            <a:r>
              <a:rPr kumimoji="1" lang="zh-CN" altLang="en-US" b="1" i="1">
                <a:solidFill>
                  <a:srgbClr val="0000FF"/>
                </a:solidFill>
                <a:latin typeface="Times New Roman" pitchFamily="18" charset="0"/>
                <a:ea typeface="华文中宋"/>
                <a:cs typeface="华文中宋"/>
                <a:sym typeface="Symbol" pitchFamily="18" charset="2"/>
              </a:rPr>
              <a:t></a:t>
            </a:r>
            <a:r>
              <a:rPr kumimoji="1" lang="en-US" altLang="zh-CN" b="1" baseline="-25000">
                <a:solidFill>
                  <a:srgbClr val="0000FF"/>
                </a:solidFill>
                <a:latin typeface="Times New Roman" pitchFamily="18" charset="0"/>
                <a:ea typeface="华文中宋"/>
                <a:cs typeface="华文中宋"/>
              </a:rPr>
              <a:t>1</a:t>
            </a:r>
            <a:r>
              <a:rPr kumimoji="1" lang="zh-CN" altLang="en-US" b="1">
                <a:solidFill>
                  <a:srgbClr val="000000"/>
                </a:solidFill>
                <a:latin typeface="Times New Roman" pitchFamily="18" charset="0"/>
                <a:ea typeface="华文中宋"/>
                <a:cs typeface="华文中宋"/>
              </a:rPr>
              <a:t>和</a:t>
            </a:r>
            <a:r>
              <a:rPr kumimoji="1" lang="zh-CN" altLang="en-US" b="1" i="1">
                <a:solidFill>
                  <a:srgbClr val="0000FF"/>
                </a:solidFill>
                <a:latin typeface="Times New Roman" pitchFamily="18" charset="0"/>
                <a:ea typeface="华文中宋"/>
                <a:cs typeface="华文中宋"/>
                <a:sym typeface="Symbol" pitchFamily="18" charset="2"/>
              </a:rPr>
              <a:t></a:t>
            </a:r>
            <a:r>
              <a:rPr kumimoji="1" lang="en-US" altLang="zh-CN" b="1" baseline="-25000">
                <a:solidFill>
                  <a:srgbClr val="0000FF"/>
                </a:solidFill>
                <a:latin typeface="Times New Roman" pitchFamily="18" charset="0"/>
                <a:ea typeface="华文中宋"/>
                <a:cs typeface="华文中宋"/>
                <a:sym typeface="Symbol" pitchFamily="18" charset="2"/>
              </a:rPr>
              <a:t>2</a:t>
            </a:r>
            <a:r>
              <a:rPr kumimoji="1" lang="zh-CN" altLang="en-US" b="1">
                <a:solidFill>
                  <a:srgbClr val="000000"/>
                </a:solidFill>
                <a:latin typeface="Times New Roman" pitchFamily="18" charset="0"/>
                <a:ea typeface="华文中宋"/>
                <a:cs typeface="华文中宋"/>
              </a:rPr>
              <a:t>表示，则在同一条件下整个系统的热力学概率</a:t>
            </a:r>
            <a:r>
              <a:rPr kumimoji="1" lang="zh-CN" altLang="en-US" b="1" i="1">
                <a:solidFill>
                  <a:srgbClr val="0000FF"/>
                </a:solidFill>
                <a:latin typeface="Times New Roman" pitchFamily="18" charset="0"/>
                <a:ea typeface="华文中宋"/>
                <a:cs typeface="华文中宋"/>
                <a:sym typeface="Symbol" pitchFamily="18" charset="2"/>
              </a:rPr>
              <a:t></a:t>
            </a:r>
            <a:r>
              <a:rPr kumimoji="1" lang="zh-CN" altLang="en-US" b="1">
                <a:solidFill>
                  <a:srgbClr val="000000"/>
                </a:solidFill>
                <a:latin typeface="Times New Roman" pitchFamily="18" charset="0"/>
                <a:ea typeface="华文中宋"/>
                <a:cs typeface="华文中宋"/>
                <a:sym typeface="Symbol" pitchFamily="18" charset="2"/>
              </a:rPr>
              <a:t>（根据概率法则）为</a:t>
            </a:r>
          </a:p>
        </p:txBody>
      </p:sp>
      <p:sp>
        <p:nvSpPr>
          <p:cNvPr id="130064" name="Text Box 16"/>
          <p:cNvSpPr txBox="1">
            <a:spLocks noChangeArrowheads="1"/>
          </p:cNvSpPr>
          <p:nvPr/>
        </p:nvSpPr>
        <p:spPr bwMode="auto">
          <a:xfrm>
            <a:off x="3178175" y="1931988"/>
            <a:ext cx="2114550" cy="369887"/>
          </a:xfrm>
          <a:prstGeom prst="rect">
            <a:avLst/>
          </a:prstGeom>
          <a:noFill/>
          <a:ln w="9525">
            <a:noFill/>
            <a:miter lim="800000"/>
            <a:headEnd/>
            <a:tailEnd/>
          </a:ln>
        </p:spPr>
        <p:txBody>
          <a:bodyPr anchor="ctr">
            <a:spAutoFit/>
          </a:bodyPr>
          <a:lstStyle/>
          <a:p>
            <a:pPr algn="ctr"/>
            <a:r>
              <a:rPr kumimoji="1" lang="en-US" altLang="zh-CN" b="1" i="1">
                <a:solidFill>
                  <a:srgbClr val="0000FF"/>
                </a:solidFill>
                <a:latin typeface="Times New Roman" pitchFamily="18" charset="0"/>
                <a:ea typeface="华文中宋"/>
                <a:cs typeface="华文中宋"/>
                <a:sym typeface="Symbol" pitchFamily="18" charset="2"/>
              </a:rPr>
              <a:t> =  </a:t>
            </a:r>
            <a:r>
              <a:rPr kumimoji="1" lang="en-US" altLang="zh-CN" b="1" baseline="-25000">
                <a:solidFill>
                  <a:srgbClr val="0000FF"/>
                </a:solidFill>
                <a:latin typeface="Times New Roman" pitchFamily="18" charset="0"/>
                <a:ea typeface="华文中宋"/>
                <a:cs typeface="华文中宋"/>
                <a:sym typeface="Symbol" pitchFamily="18" charset="2"/>
              </a:rPr>
              <a:t>1</a:t>
            </a:r>
            <a:r>
              <a:rPr kumimoji="1" lang="en-US" altLang="zh-CN" b="1" i="1">
                <a:solidFill>
                  <a:srgbClr val="0000FF"/>
                </a:solidFill>
                <a:latin typeface="Times New Roman" pitchFamily="18" charset="0"/>
                <a:ea typeface="华文中宋"/>
                <a:cs typeface="华文中宋"/>
                <a:sym typeface="Symbol" pitchFamily="18" charset="2"/>
              </a:rPr>
              <a:t></a:t>
            </a:r>
            <a:r>
              <a:rPr kumimoji="1" lang="en-US" altLang="zh-CN" b="1" baseline="-25000">
                <a:solidFill>
                  <a:srgbClr val="0000FF"/>
                </a:solidFill>
                <a:latin typeface="Times New Roman" pitchFamily="18" charset="0"/>
                <a:ea typeface="华文中宋"/>
                <a:cs typeface="华文中宋"/>
                <a:sym typeface="Symbol" pitchFamily="18" charset="2"/>
              </a:rPr>
              <a:t>2</a:t>
            </a:r>
            <a:endParaRPr kumimoji="1" lang="en-US" altLang="zh-CN" b="1">
              <a:solidFill>
                <a:srgbClr val="000000"/>
              </a:solidFill>
              <a:latin typeface="Times New Roman" pitchFamily="18" charset="0"/>
              <a:ea typeface="华文中宋"/>
              <a:cs typeface="华文中宋"/>
              <a:sym typeface="Symbol" pitchFamily="18" charset="2"/>
            </a:endParaRPr>
          </a:p>
        </p:txBody>
      </p:sp>
      <p:sp>
        <p:nvSpPr>
          <p:cNvPr id="130065" name="Text Box 17"/>
          <p:cNvSpPr txBox="1">
            <a:spLocks noChangeArrowheads="1"/>
          </p:cNvSpPr>
          <p:nvPr/>
        </p:nvSpPr>
        <p:spPr bwMode="auto">
          <a:xfrm>
            <a:off x="1042988" y="2292350"/>
            <a:ext cx="3536950" cy="368300"/>
          </a:xfrm>
          <a:prstGeom prst="rect">
            <a:avLst/>
          </a:prstGeom>
          <a:noFill/>
          <a:ln w="9525">
            <a:noFill/>
            <a:miter lim="800000"/>
            <a:headEnd/>
            <a:tailEnd/>
          </a:ln>
        </p:spPr>
        <p:txBody>
          <a:bodyPr anchor="ctr">
            <a:spAutoFit/>
          </a:bodyPr>
          <a:lstStyle/>
          <a:p>
            <a:pPr algn="ctr"/>
            <a:r>
              <a:rPr kumimoji="1" lang="zh-CN" altLang="en-US" b="1">
                <a:solidFill>
                  <a:srgbClr val="000000"/>
                </a:solidFill>
                <a:latin typeface="Times New Roman" pitchFamily="18" charset="0"/>
                <a:ea typeface="华文中宋"/>
                <a:cs typeface="华文中宋"/>
              </a:rPr>
              <a:t>代入</a:t>
            </a:r>
            <a:r>
              <a:rPr kumimoji="1" lang="zh-CN" altLang="en-US" b="1">
                <a:solidFill>
                  <a:srgbClr val="FF0000"/>
                </a:solidFill>
                <a:latin typeface="Times New Roman" pitchFamily="18" charset="0"/>
                <a:ea typeface="华文中宋"/>
                <a:cs typeface="华文中宋"/>
              </a:rPr>
              <a:t>玻耳兹曼熵公式</a:t>
            </a:r>
            <a:r>
              <a:rPr kumimoji="1" lang="zh-CN" altLang="en-US" b="1">
                <a:solidFill>
                  <a:srgbClr val="000000"/>
                </a:solidFill>
                <a:latin typeface="Times New Roman" pitchFamily="18" charset="0"/>
                <a:ea typeface="华文中宋"/>
                <a:cs typeface="华文中宋"/>
              </a:rPr>
              <a:t>可得</a:t>
            </a:r>
          </a:p>
        </p:txBody>
      </p:sp>
      <p:sp>
        <p:nvSpPr>
          <p:cNvPr id="11" name="Text Box 16"/>
          <p:cNvSpPr txBox="1">
            <a:spLocks noChangeArrowheads="1"/>
          </p:cNvSpPr>
          <p:nvPr/>
        </p:nvSpPr>
        <p:spPr bwMode="auto">
          <a:xfrm>
            <a:off x="1187450" y="2635250"/>
            <a:ext cx="3360738" cy="368300"/>
          </a:xfrm>
          <a:prstGeom prst="rect">
            <a:avLst/>
          </a:prstGeom>
          <a:noFill/>
          <a:ln w="9525">
            <a:noFill/>
            <a:miter lim="800000"/>
            <a:headEnd/>
            <a:tailEnd/>
          </a:ln>
        </p:spPr>
        <p:txBody>
          <a:bodyPr anchor="ctr">
            <a:spAutoFit/>
          </a:bodyPr>
          <a:lstStyle/>
          <a:p>
            <a:pPr algn="ctr"/>
            <a:r>
              <a:rPr kumimoji="1" lang="en-US" altLang="zh-CN" b="1" i="1">
                <a:solidFill>
                  <a:srgbClr val="000000"/>
                </a:solidFill>
                <a:latin typeface="Times New Roman" pitchFamily="18" charset="0"/>
                <a:ea typeface="华文中宋"/>
                <a:cs typeface="华文中宋"/>
                <a:sym typeface="Symbol" pitchFamily="18" charset="2"/>
              </a:rPr>
              <a:t>S= k</a:t>
            </a:r>
            <a:r>
              <a:rPr kumimoji="1" lang="en-US" altLang="zh-CN" b="1">
                <a:solidFill>
                  <a:srgbClr val="000000"/>
                </a:solidFill>
                <a:latin typeface="Times New Roman" pitchFamily="18" charset="0"/>
                <a:ea typeface="华文中宋"/>
                <a:cs typeface="华文中宋"/>
                <a:sym typeface="Symbol" pitchFamily="18" charset="2"/>
              </a:rPr>
              <a:t>ln</a:t>
            </a:r>
            <a:r>
              <a:rPr kumimoji="1" lang="en-US" altLang="zh-CN" b="1" i="1">
                <a:solidFill>
                  <a:srgbClr val="000000"/>
                </a:solidFill>
                <a:latin typeface="Times New Roman" pitchFamily="18" charset="0"/>
                <a:ea typeface="华文中宋"/>
                <a:cs typeface="华文中宋"/>
                <a:sym typeface="Symbol" pitchFamily="18" charset="2"/>
              </a:rPr>
              <a:t>  = k</a:t>
            </a:r>
            <a:r>
              <a:rPr kumimoji="1" lang="en-US" altLang="zh-CN" b="1">
                <a:solidFill>
                  <a:srgbClr val="000000"/>
                </a:solidFill>
                <a:latin typeface="Times New Roman" pitchFamily="18" charset="0"/>
                <a:ea typeface="华文中宋"/>
                <a:cs typeface="华文中宋"/>
                <a:sym typeface="Symbol" pitchFamily="18" charset="2"/>
              </a:rPr>
              <a:t>ln</a:t>
            </a:r>
            <a:r>
              <a:rPr kumimoji="1" lang="en-US" altLang="zh-CN" b="1" i="1">
                <a:solidFill>
                  <a:srgbClr val="000000"/>
                </a:solidFill>
                <a:latin typeface="Times New Roman" pitchFamily="18" charset="0"/>
                <a:ea typeface="华文中宋"/>
                <a:cs typeface="华文中宋"/>
                <a:sym typeface="Symbol" pitchFamily="18" charset="2"/>
              </a:rPr>
              <a:t></a:t>
            </a:r>
            <a:r>
              <a:rPr kumimoji="1" lang="en-US" altLang="zh-CN" b="1" baseline="-25000">
                <a:solidFill>
                  <a:srgbClr val="000000"/>
                </a:solidFill>
                <a:latin typeface="Times New Roman" pitchFamily="18" charset="0"/>
                <a:ea typeface="华文中宋"/>
                <a:cs typeface="华文中宋"/>
                <a:sym typeface="Symbol" pitchFamily="18" charset="2"/>
              </a:rPr>
              <a:t>1</a:t>
            </a:r>
            <a:r>
              <a:rPr kumimoji="1" lang="en-US" altLang="zh-CN" b="1" i="1">
                <a:solidFill>
                  <a:srgbClr val="000000"/>
                </a:solidFill>
                <a:latin typeface="Times New Roman" pitchFamily="18" charset="0"/>
                <a:ea typeface="华文中宋"/>
                <a:cs typeface="华文中宋"/>
                <a:sym typeface="Symbol" pitchFamily="18" charset="2"/>
              </a:rPr>
              <a:t></a:t>
            </a:r>
            <a:r>
              <a:rPr kumimoji="1" lang="en-US" altLang="zh-CN" b="1" baseline="-25000">
                <a:solidFill>
                  <a:srgbClr val="000000"/>
                </a:solidFill>
                <a:latin typeface="Times New Roman" pitchFamily="18" charset="0"/>
                <a:ea typeface="华文中宋"/>
                <a:cs typeface="华文中宋"/>
                <a:sym typeface="Symbol" pitchFamily="18" charset="2"/>
              </a:rPr>
              <a:t>2</a:t>
            </a:r>
            <a:endParaRPr kumimoji="1" lang="en-US" altLang="zh-CN" b="1">
              <a:solidFill>
                <a:srgbClr val="000000"/>
              </a:solidFill>
              <a:latin typeface="Times New Roman" pitchFamily="18" charset="0"/>
              <a:ea typeface="华文中宋"/>
              <a:cs typeface="华文中宋"/>
              <a:sym typeface="Symbol" pitchFamily="18" charset="2"/>
            </a:endParaRPr>
          </a:p>
        </p:txBody>
      </p:sp>
      <p:sp>
        <p:nvSpPr>
          <p:cNvPr id="12" name="Text Box 16"/>
          <p:cNvSpPr txBox="1">
            <a:spLocks noChangeArrowheads="1"/>
          </p:cNvSpPr>
          <p:nvPr/>
        </p:nvSpPr>
        <p:spPr bwMode="auto">
          <a:xfrm>
            <a:off x="3798888" y="2635250"/>
            <a:ext cx="2908300" cy="368300"/>
          </a:xfrm>
          <a:prstGeom prst="rect">
            <a:avLst/>
          </a:prstGeom>
          <a:noFill/>
          <a:ln w="9525">
            <a:noFill/>
            <a:miter lim="800000"/>
            <a:headEnd/>
            <a:tailEnd/>
          </a:ln>
        </p:spPr>
        <p:txBody>
          <a:bodyPr anchor="ctr">
            <a:spAutoFit/>
          </a:bodyPr>
          <a:lstStyle/>
          <a:p>
            <a:r>
              <a:rPr kumimoji="1" lang="en-US" altLang="zh-CN" b="1" i="1">
                <a:solidFill>
                  <a:srgbClr val="000000"/>
                </a:solidFill>
                <a:latin typeface="Times New Roman" pitchFamily="18" charset="0"/>
                <a:ea typeface="华文中宋"/>
                <a:cs typeface="华文中宋"/>
                <a:sym typeface="Symbol" pitchFamily="18" charset="2"/>
              </a:rPr>
              <a:t>= k</a:t>
            </a:r>
            <a:r>
              <a:rPr kumimoji="1" lang="en-US" altLang="zh-CN" b="1">
                <a:solidFill>
                  <a:srgbClr val="000000"/>
                </a:solidFill>
                <a:latin typeface="Times New Roman" pitchFamily="18" charset="0"/>
                <a:ea typeface="华文中宋"/>
                <a:cs typeface="华文中宋"/>
                <a:sym typeface="Symbol" pitchFamily="18" charset="2"/>
              </a:rPr>
              <a:t>ln</a:t>
            </a:r>
            <a:r>
              <a:rPr kumimoji="1" lang="en-US" altLang="zh-CN" b="1" i="1">
                <a:solidFill>
                  <a:srgbClr val="000000"/>
                </a:solidFill>
                <a:latin typeface="Times New Roman" pitchFamily="18" charset="0"/>
                <a:ea typeface="华文中宋"/>
                <a:cs typeface="华文中宋"/>
                <a:sym typeface="Symbol" pitchFamily="18" charset="2"/>
              </a:rPr>
              <a:t></a:t>
            </a:r>
            <a:r>
              <a:rPr kumimoji="1" lang="en-US" altLang="zh-CN" b="1" baseline="-25000">
                <a:solidFill>
                  <a:srgbClr val="000000"/>
                </a:solidFill>
                <a:latin typeface="Times New Roman" pitchFamily="18" charset="0"/>
                <a:ea typeface="华文中宋"/>
                <a:cs typeface="华文中宋"/>
                <a:sym typeface="Symbol" pitchFamily="18" charset="2"/>
              </a:rPr>
              <a:t>1</a:t>
            </a:r>
            <a:r>
              <a:rPr kumimoji="1" lang="en-US" altLang="zh-CN" b="1" i="1">
                <a:solidFill>
                  <a:srgbClr val="000000"/>
                </a:solidFill>
                <a:latin typeface="Times New Roman" pitchFamily="18" charset="0"/>
                <a:ea typeface="华文中宋"/>
                <a:cs typeface="华文中宋"/>
                <a:sym typeface="Symbol" pitchFamily="18" charset="2"/>
              </a:rPr>
              <a:t>  + k</a:t>
            </a:r>
            <a:r>
              <a:rPr kumimoji="1" lang="en-US" altLang="zh-CN" b="1">
                <a:solidFill>
                  <a:srgbClr val="000000"/>
                </a:solidFill>
                <a:latin typeface="Times New Roman" pitchFamily="18" charset="0"/>
                <a:ea typeface="华文中宋"/>
                <a:cs typeface="华文中宋"/>
                <a:sym typeface="Symbol" pitchFamily="18" charset="2"/>
              </a:rPr>
              <a:t>ln</a:t>
            </a:r>
            <a:r>
              <a:rPr kumimoji="1" lang="en-US" altLang="zh-CN" b="1" i="1">
                <a:solidFill>
                  <a:srgbClr val="000000"/>
                </a:solidFill>
                <a:latin typeface="Times New Roman" pitchFamily="18" charset="0"/>
                <a:ea typeface="华文中宋"/>
                <a:cs typeface="华文中宋"/>
                <a:sym typeface="Symbol" pitchFamily="18" charset="2"/>
              </a:rPr>
              <a:t></a:t>
            </a:r>
            <a:r>
              <a:rPr kumimoji="1" lang="en-US" altLang="zh-CN" b="1" baseline="-25000">
                <a:solidFill>
                  <a:srgbClr val="000000"/>
                </a:solidFill>
                <a:latin typeface="Times New Roman" pitchFamily="18" charset="0"/>
                <a:ea typeface="华文中宋"/>
                <a:cs typeface="华文中宋"/>
                <a:sym typeface="Symbol" pitchFamily="18" charset="2"/>
              </a:rPr>
              <a:t>2</a:t>
            </a:r>
            <a:endParaRPr kumimoji="1" lang="en-US" altLang="zh-CN" b="1">
              <a:solidFill>
                <a:srgbClr val="000000"/>
              </a:solidFill>
              <a:latin typeface="Times New Roman" pitchFamily="18" charset="0"/>
              <a:ea typeface="华文中宋"/>
              <a:cs typeface="华文中宋"/>
              <a:sym typeface="Symbol" pitchFamily="18" charset="2"/>
            </a:endParaRPr>
          </a:p>
        </p:txBody>
      </p:sp>
      <p:sp>
        <p:nvSpPr>
          <p:cNvPr id="13" name="Text Box 16"/>
          <p:cNvSpPr txBox="1">
            <a:spLocks noChangeArrowheads="1"/>
          </p:cNvSpPr>
          <p:nvPr/>
        </p:nvSpPr>
        <p:spPr bwMode="auto">
          <a:xfrm>
            <a:off x="5526088" y="2635250"/>
            <a:ext cx="2070100" cy="368300"/>
          </a:xfrm>
          <a:prstGeom prst="rect">
            <a:avLst/>
          </a:prstGeom>
          <a:noFill/>
          <a:ln w="9525">
            <a:noFill/>
            <a:miter lim="800000"/>
            <a:headEnd/>
            <a:tailEnd/>
          </a:ln>
        </p:spPr>
        <p:txBody>
          <a:bodyPr anchor="ctr">
            <a:spAutoFit/>
          </a:bodyPr>
          <a:lstStyle/>
          <a:p>
            <a:r>
              <a:rPr kumimoji="1" lang="en-US" altLang="zh-CN" b="1" i="1">
                <a:solidFill>
                  <a:srgbClr val="000000"/>
                </a:solidFill>
                <a:latin typeface="Times New Roman" pitchFamily="18" charset="0"/>
                <a:ea typeface="华文中宋"/>
                <a:cs typeface="华文中宋"/>
                <a:sym typeface="Symbol" pitchFamily="18" charset="2"/>
              </a:rPr>
              <a:t>= S</a:t>
            </a:r>
            <a:r>
              <a:rPr kumimoji="1" lang="en-US" altLang="zh-CN" b="1" baseline="-25000">
                <a:solidFill>
                  <a:srgbClr val="000000"/>
                </a:solidFill>
                <a:latin typeface="Times New Roman" pitchFamily="18" charset="0"/>
                <a:ea typeface="华文中宋"/>
                <a:cs typeface="华文中宋"/>
                <a:sym typeface="Symbol" pitchFamily="18" charset="2"/>
              </a:rPr>
              <a:t>1</a:t>
            </a:r>
            <a:r>
              <a:rPr kumimoji="1" lang="en-US" altLang="zh-CN" b="1" i="1">
                <a:solidFill>
                  <a:srgbClr val="000000"/>
                </a:solidFill>
                <a:latin typeface="Times New Roman" pitchFamily="18" charset="0"/>
                <a:ea typeface="华文中宋"/>
                <a:cs typeface="华文中宋"/>
                <a:sym typeface="Symbol" pitchFamily="18" charset="2"/>
              </a:rPr>
              <a:t>+ S</a:t>
            </a:r>
            <a:r>
              <a:rPr kumimoji="1" lang="en-US" altLang="zh-CN" b="1" baseline="-25000">
                <a:solidFill>
                  <a:srgbClr val="000000"/>
                </a:solidFill>
                <a:latin typeface="Times New Roman" pitchFamily="18" charset="0"/>
                <a:ea typeface="华文中宋"/>
                <a:cs typeface="华文中宋"/>
                <a:sym typeface="Symbol" pitchFamily="18" charset="2"/>
              </a:rPr>
              <a:t>2</a:t>
            </a:r>
            <a:endParaRPr kumimoji="1" lang="en-US" altLang="zh-CN" b="1">
              <a:solidFill>
                <a:srgbClr val="000000"/>
              </a:solidFill>
              <a:latin typeface="Times New Roman" pitchFamily="18" charset="0"/>
              <a:ea typeface="华文中宋"/>
              <a:cs typeface="华文中宋"/>
              <a:sym typeface="Symbol" pitchFamily="18" charset="2"/>
            </a:endParaRPr>
          </a:p>
        </p:txBody>
      </p:sp>
      <p:sp>
        <p:nvSpPr>
          <p:cNvPr id="4" name="Text Box 8"/>
          <p:cNvSpPr txBox="1">
            <a:spLocks noChangeArrowheads="1"/>
          </p:cNvSpPr>
          <p:nvPr/>
        </p:nvSpPr>
        <p:spPr bwMode="auto">
          <a:xfrm>
            <a:off x="323850" y="3003550"/>
            <a:ext cx="5616575" cy="369888"/>
          </a:xfrm>
          <a:prstGeom prst="rect">
            <a:avLst/>
          </a:prstGeom>
          <a:noFill/>
          <a:ln w="9525">
            <a:noFill/>
            <a:miter lim="800000"/>
            <a:headEnd/>
            <a:tailEnd/>
          </a:ln>
        </p:spPr>
        <p:txBody>
          <a:bodyPr>
            <a:spAutoFit/>
          </a:bodyPr>
          <a:lstStyle/>
          <a:p>
            <a:pPr eaLnBrk="0" hangingPunct="0"/>
            <a:r>
              <a:rPr lang="zh-CN" altLang="en-US" b="1">
                <a:solidFill>
                  <a:srgbClr val="0000FF"/>
                </a:solidFill>
                <a:latin typeface="Times New Roman" pitchFamily="18" charset="0"/>
                <a:ea typeface="华文中宋"/>
                <a:cs typeface="华文中宋"/>
              </a:rPr>
              <a:t>（</a:t>
            </a:r>
            <a:r>
              <a:rPr lang="en-US" altLang="zh-CN" b="1">
                <a:solidFill>
                  <a:srgbClr val="0000FF"/>
                </a:solidFill>
                <a:latin typeface="Times New Roman" pitchFamily="18" charset="0"/>
                <a:ea typeface="华文中宋"/>
                <a:cs typeface="华文中宋"/>
              </a:rPr>
              <a:t>4</a:t>
            </a:r>
            <a:r>
              <a:rPr lang="zh-CN" altLang="en-US" b="1">
                <a:solidFill>
                  <a:srgbClr val="0000FF"/>
                </a:solidFill>
                <a:latin typeface="Times New Roman" pitchFamily="18" charset="0"/>
                <a:ea typeface="华文中宋"/>
                <a:cs typeface="华文中宋"/>
              </a:rPr>
              <a:t>）玻耳兹曼熵与克劳修斯熵区别</a:t>
            </a:r>
            <a:endParaRPr lang="zh-CN" altLang="en-US" b="1">
              <a:solidFill>
                <a:srgbClr val="000000"/>
              </a:solidFill>
              <a:latin typeface="Times New Roman" pitchFamily="18" charset="0"/>
              <a:ea typeface="华文中宋"/>
              <a:cs typeface="华文中宋"/>
            </a:endParaRPr>
          </a:p>
        </p:txBody>
      </p:sp>
      <p:sp>
        <p:nvSpPr>
          <p:cNvPr id="6" name="Text Box 8"/>
          <p:cNvSpPr txBox="1">
            <a:spLocks noChangeArrowheads="1"/>
          </p:cNvSpPr>
          <p:nvPr/>
        </p:nvSpPr>
        <p:spPr bwMode="auto">
          <a:xfrm>
            <a:off x="971550" y="3363913"/>
            <a:ext cx="7632700" cy="369887"/>
          </a:xfrm>
          <a:prstGeom prst="rect">
            <a:avLst/>
          </a:prstGeom>
          <a:noFill/>
          <a:ln w="9525">
            <a:noFill/>
            <a:miter lim="800000"/>
            <a:headEnd/>
            <a:tailEnd/>
          </a:ln>
        </p:spPr>
        <p:txBody>
          <a:bodyPr>
            <a:spAutoFit/>
          </a:bodyPr>
          <a:lstStyle/>
          <a:p>
            <a:pPr eaLnBrk="0" hangingPunct="0">
              <a:buFontTx/>
              <a:buChar char="•"/>
            </a:pPr>
            <a:r>
              <a:rPr lang="en-US" altLang="zh-CN" b="1">
                <a:solidFill>
                  <a:srgbClr val="000000"/>
                </a:solidFill>
                <a:latin typeface="Times New Roman" pitchFamily="18" charset="0"/>
                <a:ea typeface="华文中宋"/>
                <a:cs typeface="华文中宋"/>
              </a:rPr>
              <a:t> </a:t>
            </a:r>
            <a:r>
              <a:rPr lang="zh-CN" altLang="en-US" b="1">
                <a:solidFill>
                  <a:srgbClr val="000000"/>
                </a:solidFill>
                <a:latin typeface="Times New Roman" pitchFamily="18" charset="0"/>
                <a:ea typeface="华文中宋"/>
                <a:cs typeface="华文中宋"/>
              </a:rPr>
              <a:t>克劳修斯熵只对系统的平衡态才有意义，是系统平衡态的函数。</a:t>
            </a:r>
          </a:p>
        </p:txBody>
      </p:sp>
      <p:sp>
        <p:nvSpPr>
          <p:cNvPr id="7" name="Text Box 8"/>
          <p:cNvSpPr txBox="1">
            <a:spLocks noChangeArrowheads="1"/>
          </p:cNvSpPr>
          <p:nvPr/>
        </p:nvSpPr>
        <p:spPr bwMode="auto">
          <a:xfrm>
            <a:off x="993775" y="3714750"/>
            <a:ext cx="7539038" cy="646113"/>
          </a:xfrm>
          <a:prstGeom prst="rect">
            <a:avLst/>
          </a:prstGeom>
          <a:noFill/>
          <a:ln w="9525">
            <a:noFill/>
            <a:miter lim="800000"/>
            <a:headEnd/>
            <a:tailEnd/>
          </a:ln>
        </p:spPr>
        <p:txBody>
          <a:bodyPr>
            <a:spAutoFit/>
          </a:bodyPr>
          <a:lstStyle/>
          <a:p>
            <a:pPr eaLnBrk="0" hangingPunct="0">
              <a:buFontTx/>
              <a:buChar char="•"/>
            </a:pPr>
            <a:r>
              <a:rPr lang="en-US" altLang="zh-CN" b="1">
                <a:solidFill>
                  <a:srgbClr val="000000"/>
                </a:solidFill>
                <a:latin typeface="Times New Roman" pitchFamily="18" charset="0"/>
                <a:ea typeface="华文中宋"/>
                <a:cs typeface="华文中宋"/>
              </a:rPr>
              <a:t> </a:t>
            </a:r>
            <a:r>
              <a:rPr lang="zh-CN" altLang="en-US" b="1">
                <a:solidFill>
                  <a:srgbClr val="000000"/>
                </a:solidFill>
                <a:latin typeface="Times New Roman" pitchFamily="18" charset="0"/>
                <a:ea typeface="华文中宋"/>
                <a:cs typeface="华文中宋"/>
              </a:rPr>
              <a:t>玻耳兹曼熵对非平衡态也有意义。</a:t>
            </a:r>
          </a:p>
          <a:p>
            <a:pPr eaLnBrk="0" hangingPunct="0"/>
            <a:r>
              <a:rPr lang="zh-CN" altLang="en-US" b="1">
                <a:solidFill>
                  <a:srgbClr val="000000"/>
                </a:solidFill>
                <a:latin typeface="Times New Roman" pitchFamily="18" charset="0"/>
                <a:ea typeface="华文中宋"/>
                <a:cs typeface="华文中宋"/>
              </a:rPr>
              <a:t>  </a:t>
            </a:r>
            <a:r>
              <a:rPr lang="zh-CN" altLang="en-US" sz="1600" b="1">
                <a:solidFill>
                  <a:srgbClr val="000000"/>
                </a:solidFill>
                <a:latin typeface="Times New Roman" pitchFamily="18" charset="0"/>
                <a:ea typeface="华文中宋"/>
                <a:cs typeface="华文中宋"/>
              </a:rPr>
              <a:t>由于平衡态对应于</a:t>
            </a:r>
            <a:r>
              <a:rPr lang="zh-CN" altLang="en-US" sz="1600" b="1" i="1">
                <a:solidFill>
                  <a:srgbClr val="000000"/>
                </a:solidFill>
                <a:latin typeface="Times New Roman" pitchFamily="18" charset="0"/>
                <a:ea typeface="华文中宋"/>
                <a:cs typeface="华文中宋"/>
                <a:sym typeface="Symbol" pitchFamily="18" charset="2"/>
              </a:rPr>
              <a:t></a:t>
            </a:r>
            <a:r>
              <a:rPr lang="zh-CN" altLang="en-US" sz="1600" b="1">
                <a:solidFill>
                  <a:srgbClr val="000000"/>
                </a:solidFill>
                <a:latin typeface="Times New Roman" pitchFamily="18" charset="0"/>
                <a:ea typeface="华文中宋"/>
                <a:cs typeface="华文中宋"/>
              </a:rPr>
              <a:t> 最大的状态，可以说，克劳修斯熵是玻耳兹曼熵的最大值。</a:t>
            </a:r>
          </a:p>
        </p:txBody>
      </p:sp>
      <p:sp>
        <p:nvSpPr>
          <p:cNvPr id="2" name="Text Box 8"/>
          <p:cNvSpPr txBox="1">
            <a:spLocks noChangeArrowheads="1"/>
          </p:cNvSpPr>
          <p:nvPr/>
        </p:nvSpPr>
        <p:spPr bwMode="auto">
          <a:xfrm>
            <a:off x="971550" y="4281488"/>
            <a:ext cx="5761038" cy="369887"/>
          </a:xfrm>
          <a:prstGeom prst="rect">
            <a:avLst/>
          </a:prstGeom>
          <a:noFill/>
          <a:ln w="9525">
            <a:noFill/>
            <a:miter lim="800000"/>
            <a:headEnd/>
            <a:tailEnd/>
          </a:ln>
        </p:spPr>
        <p:txBody>
          <a:bodyPr>
            <a:spAutoFit/>
          </a:bodyPr>
          <a:lstStyle/>
          <a:p>
            <a:pPr eaLnBrk="0" hangingPunct="0">
              <a:buFontTx/>
              <a:buChar char="•"/>
            </a:pPr>
            <a:r>
              <a:rPr lang="zh-CN" altLang="en-US" b="1">
                <a:solidFill>
                  <a:srgbClr val="000000"/>
                </a:solidFill>
                <a:latin typeface="Times New Roman" pitchFamily="18" charset="0"/>
                <a:ea typeface="华文中宋"/>
                <a:cs typeface="华文中宋"/>
              </a:rPr>
              <a:t>平衡态时，两个熵公式完全等价。</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0056">
                                            <p:txEl>
                                              <p:pRg st="0" end="0"/>
                                            </p:txEl>
                                          </p:spTgt>
                                        </p:tgtEl>
                                        <p:attrNameLst>
                                          <p:attrName>style.visibility</p:attrName>
                                        </p:attrNameLst>
                                      </p:cBhvr>
                                      <p:to>
                                        <p:strVal val="visible"/>
                                      </p:to>
                                    </p:set>
                                    <p:animEffect transition="in" filter="wipe(left)">
                                      <p:cBhvr>
                                        <p:cTn id="7" dur="500"/>
                                        <p:tgtEl>
                                          <p:spTgt spid="130056">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0063"/>
                                        </p:tgtEl>
                                        <p:attrNameLst>
                                          <p:attrName>style.visibility</p:attrName>
                                        </p:attrNameLst>
                                      </p:cBhvr>
                                      <p:to>
                                        <p:strVal val="visible"/>
                                      </p:to>
                                    </p:set>
                                    <p:animEffect transition="in" filter="wipe(left)">
                                      <p:cBhvr>
                                        <p:cTn id="12" dur="500"/>
                                        <p:tgtEl>
                                          <p:spTgt spid="13006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30064"/>
                                        </p:tgtEl>
                                        <p:attrNameLst>
                                          <p:attrName>style.visibility</p:attrName>
                                        </p:attrNameLst>
                                      </p:cBhvr>
                                      <p:to>
                                        <p:strVal val="visible"/>
                                      </p:to>
                                    </p:set>
                                    <p:animEffect transition="in" filter="wipe(left)">
                                      <p:cBhvr>
                                        <p:cTn id="17" dur="500"/>
                                        <p:tgtEl>
                                          <p:spTgt spid="13006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30065"/>
                                        </p:tgtEl>
                                        <p:attrNameLst>
                                          <p:attrName>style.visibility</p:attrName>
                                        </p:attrNameLst>
                                      </p:cBhvr>
                                      <p:to>
                                        <p:strVal val="visible"/>
                                      </p:to>
                                    </p:set>
                                    <p:animEffect transition="in" filter="wipe(left)">
                                      <p:cBhvr>
                                        <p:cTn id="22" dur="500"/>
                                        <p:tgtEl>
                                          <p:spTgt spid="13006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wipe(left)">
                                      <p:cBhvr>
                                        <p:cTn id="27" dur="500"/>
                                        <p:tgtEl>
                                          <p:spTgt spid="1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wipe(left)">
                                      <p:cBhvr>
                                        <p:cTn id="32" dur="500"/>
                                        <p:tgtEl>
                                          <p:spTgt spid="12"/>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wipe(left)">
                                      <p:cBhvr>
                                        <p:cTn id="37" dur="500"/>
                                        <p:tgtEl>
                                          <p:spTgt spid="13"/>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4">
                                            <p:txEl>
                                              <p:pRg st="0" end="0"/>
                                            </p:txEl>
                                          </p:spTgt>
                                        </p:tgtEl>
                                        <p:attrNameLst>
                                          <p:attrName>style.visibility</p:attrName>
                                        </p:attrNameLst>
                                      </p:cBhvr>
                                      <p:to>
                                        <p:strVal val="visible"/>
                                      </p:to>
                                    </p:set>
                                    <p:animEffect transition="in" filter="wipe(left)">
                                      <p:cBhvr>
                                        <p:cTn id="42" dur="500"/>
                                        <p:tgtEl>
                                          <p:spTgt spid="4">
                                            <p:txEl>
                                              <p:pRg st="0" end="0"/>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6">
                                            <p:txEl>
                                              <p:pRg st="0" end="0"/>
                                            </p:txEl>
                                          </p:spTgt>
                                        </p:tgtEl>
                                        <p:attrNameLst>
                                          <p:attrName>style.visibility</p:attrName>
                                        </p:attrNameLst>
                                      </p:cBhvr>
                                      <p:to>
                                        <p:strVal val="visible"/>
                                      </p:to>
                                    </p:set>
                                    <p:animEffect transition="in" filter="wipe(left)">
                                      <p:cBhvr>
                                        <p:cTn id="47" dur="500"/>
                                        <p:tgtEl>
                                          <p:spTgt spid="6">
                                            <p:txEl>
                                              <p:pRg st="0" end="0"/>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7">
                                            <p:txEl>
                                              <p:pRg st="0" end="0"/>
                                            </p:txEl>
                                          </p:spTgt>
                                        </p:tgtEl>
                                        <p:attrNameLst>
                                          <p:attrName>style.visibility</p:attrName>
                                        </p:attrNameLst>
                                      </p:cBhvr>
                                      <p:to>
                                        <p:strVal val="visible"/>
                                      </p:to>
                                    </p:set>
                                    <p:animEffect transition="in" filter="wipe(left)">
                                      <p:cBhvr>
                                        <p:cTn id="52" dur="500"/>
                                        <p:tgtEl>
                                          <p:spTgt spid="7">
                                            <p:txEl>
                                              <p:pRg st="0" end="0"/>
                                            </p:txEl>
                                          </p:spTgt>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7">
                                            <p:txEl>
                                              <p:pRg st="1" end="1"/>
                                            </p:txEl>
                                          </p:spTgt>
                                        </p:tgtEl>
                                        <p:attrNameLst>
                                          <p:attrName>style.visibility</p:attrName>
                                        </p:attrNameLst>
                                      </p:cBhvr>
                                      <p:to>
                                        <p:strVal val="visible"/>
                                      </p:to>
                                    </p:set>
                                    <p:animEffect transition="in" filter="wipe(left)">
                                      <p:cBhvr>
                                        <p:cTn id="57" dur="500"/>
                                        <p:tgtEl>
                                          <p:spTgt spid="7">
                                            <p:txEl>
                                              <p:pRg st="1" end="1"/>
                                            </p:txEl>
                                          </p:spTgt>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2">
                                            <p:txEl>
                                              <p:pRg st="0" end="0"/>
                                            </p:txEl>
                                          </p:spTgt>
                                        </p:tgtEl>
                                        <p:attrNameLst>
                                          <p:attrName>style.visibility</p:attrName>
                                        </p:attrNameLst>
                                      </p:cBhvr>
                                      <p:to>
                                        <p:strVal val="visible"/>
                                      </p:to>
                                    </p:set>
                                    <p:animEffect transition="in" filter="wipe(left)">
                                      <p:cBhvr>
                                        <p:cTn id="62"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056" grpId="0" build="p"/>
      <p:bldP spid="130063" grpId="0" autoUpdateAnimBg="0"/>
      <p:bldP spid="130064" grpId="0" autoUpdateAnimBg="0"/>
      <p:bldP spid="130065" grpId="0" autoUpdateAnimBg="0"/>
      <p:bldP spid="11" grpId="0" autoUpdateAnimBg="0"/>
      <p:bldP spid="12" grpId="0" autoUpdateAnimBg="0"/>
      <p:bldP spid="13" grpId="0" autoUpdateAnimBg="0"/>
      <p:bldP spid="4" grpId="0" build="p"/>
      <p:bldP spid="6" grpId="0" build="p"/>
      <p:bldP spid="7" grpId="0" build="p"/>
      <p:bldP spid="2" grpId="0" build="p"/>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509" name="Text Box 5"/>
          <p:cNvSpPr txBox="1">
            <a:spLocks noChangeArrowheads="1"/>
          </p:cNvSpPr>
          <p:nvPr/>
        </p:nvSpPr>
        <p:spPr bwMode="auto">
          <a:xfrm>
            <a:off x="687388" y="1222375"/>
            <a:ext cx="7629525" cy="701675"/>
          </a:xfrm>
          <a:prstGeom prst="rect">
            <a:avLst/>
          </a:prstGeom>
          <a:noFill/>
          <a:ln w="9525">
            <a:noFill/>
            <a:miter lim="800000"/>
            <a:headEnd/>
            <a:tailEnd/>
          </a:ln>
        </p:spPr>
        <p:txBody>
          <a:bodyPr>
            <a:spAutoFit/>
          </a:bodyPr>
          <a:lstStyle/>
          <a:p>
            <a:pPr eaLnBrk="0" hangingPunct="0">
              <a:lnSpc>
                <a:spcPct val="110000"/>
              </a:lnSpc>
              <a:buFontTx/>
              <a:buChar char="•"/>
            </a:pPr>
            <a:r>
              <a:rPr lang="en-US" altLang="zh-CN" b="1">
                <a:solidFill>
                  <a:srgbClr val="000000"/>
                </a:solidFill>
                <a:latin typeface="华文中宋"/>
                <a:ea typeface="华文中宋"/>
                <a:cs typeface="华文中宋"/>
              </a:rPr>
              <a:t> </a:t>
            </a:r>
            <a:r>
              <a:rPr lang="zh-CN" altLang="en-US" b="1">
                <a:solidFill>
                  <a:srgbClr val="000000"/>
                </a:solidFill>
                <a:latin typeface="华文中宋"/>
                <a:ea typeface="华文中宋"/>
                <a:cs typeface="华文中宋"/>
              </a:rPr>
              <a:t>在孤立系统中所进行的自</a:t>
            </a:r>
            <a:r>
              <a:rPr lang="zh-CN" altLang="en-US">
                <a:solidFill>
                  <a:srgbClr val="000000"/>
                </a:solidFill>
                <a:latin typeface="华文中宋"/>
                <a:ea typeface="华文中宋"/>
                <a:cs typeface="华文中宋"/>
              </a:rPr>
              <a:t>然</a:t>
            </a:r>
            <a:r>
              <a:rPr lang="zh-CN" altLang="en-US" b="1">
                <a:solidFill>
                  <a:srgbClr val="000000"/>
                </a:solidFill>
                <a:latin typeface="华文中宋"/>
                <a:ea typeface="华文中宋"/>
                <a:cs typeface="华文中宋"/>
              </a:rPr>
              <a:t>过程总是沿着熵增大的方向进行，平衡态是对应于熵最大的状态</a:t>
            </a:r>
          </a:p>
        </p:txBody>
      </p:sp>
      <p:sp>
        <p:nvSpPr>
          <p:cNvPr id="277510" name="Text Box 6"/>
          <p:cNvSpPr txBox="1">
            <a:spLocks noChangeArrowheads="1"/>
          </p:cNvSpPr>
          <p:nvPr/>
        </p:nvSpPr>
        <p:spPr bwMode="auto">
          <a:xfrm>
            <a:off x="2970213" y="1724025"/>
            <a:ext cx="1123950" cy="398463"/>
          </a:xfrm>
          <a:prstGeom prst="rect">
            <a:avLst/>
          </a:prstGeom>
          <a:noFill/>
          <a:ln w="9525">
            <a:solidFill>
              <a:srgbClr val="FF0000"/>
            </a:solidFill>
            <a:miter lim="800000"/>
            <a:headEnd/>
            <a:tailEnd/>
          </a:ln>
        </p:spPr>
        <p:txBody>
          <a:bodyPr>
            <a:spAutoFit/>
          </a:bodyPr>
          <a:lstStyle/>
          <a:p>
            <a:pPr algn="ctr" eaLnBrk="0" hangingPunct="0">
              <a:lnSpc>
                <a:spcPct val="110000"/>
              </a:lnSpc>
            </a:pPr>
            <a:r>
              <a:rPr lang="el-GR" altLang="zh-CN" b="1">
                <a:solidFill>
                  <a:srgbClr val="000000"/>
                </a:solidFill>
                <a:latin typeface="华文中宋"/>
                <a:ea typeface="华文中宋"/>
                <a:cs typeface="Times New Roman" pitchFamily="18" charset="0"/>
                <a:sym typeface="Symbol" pitchFamily="18" charset="2"/>
              </a:rPr>
              <a:t></a:t>
            </a:r>
            <a:r>
              <a:rPr lang="en-US" altLang="zh-CN" b="1" i="1">
                <a:solidFill>
                  <a:srgbClr val="000000"/>
                </a:solidFill>
                <a:latin typeface="Times New Roman" pitchFamily="18" charset="0"/>
                <a:ea typeface="华文中宋"/>
                <a:cs typeface="Times New Roman" pitchFamily="18" charset="0"/>
              </a:rPr>
              <a:t>S</a:t>
            </a:r>
            <a:r>
              <a:rPr lang="en-US" altLang="zh-CN" b="1">
                <a:solidFill>
                  <a:srgbClr val="000000"/>
                </a:solidFill>
                <a:latin typeface="华文中宋"/>
                <a:ea typeface="华文中宋"/>
                <a:cs typeface="Times New Roman" pitchFamily="18" charset="0"/>
              </a:rPr>
              <a:t>&gt;0</a:t>
            </a:r>
          </a:p>
        </p:txBody>
      </p:sp>
      <p:sp>
        <p:nvSpPr>
          <p:cNvPr id="277511" name="Rectangle 7"/>
          <p:cNvSpPr>
            <a:spLocks noChangeArrowheads="1"/>
          </p:cNvSpPr>
          <p:nvPr/>
        </p:nvSpPr>
        <p:spPr bwMode="auto">
          <a:xfrm>
            <a:off x="4094163" y="1708150"/>
            <a:ext cx="3232150" cy="374650"/>
          </a:xfrm>
          <a:prstGeom prst="rect">
            <a:avLst/>
          </a:prstGeom>
          <a:noFill/>
          <a:ln w="9525">
            <a:noFill/>
            <a:miter lim="800000"/>
            <a:headEnd/>
            <a:tailEnd/>
          </a:ln>
        </p:spPr>
        <p:txBody>
          <a:bodyPr>
            <a:spAutoFit/>
          </a:bodyPr>
          <a:lstStyle/>
          <a:p>
            <a:pPr algn="ctr">
              <a:lnSpc>
                <a:spcPct val="110000"/>
              </a:lnSpc>
            </a:pPr>
            <a:r>
              <a:rPr lang="zh-CN" altLang="en-US" b="1">
                <a:solidFill>
                  <a:srgbClr val="0000FF"/>
                </a:solidFill>
                <a:latin typeface="华文中宋"/>
                <a:ea typeface="华文中宋"/>
                <a:cs typeface="华文中宋"/>
              </a:rPr>
              <a:t>（孤立系，自然过程）</a:t>
            </a:r>
          </a:p>
        </p:txBody>
      </p:sp>
      <p:sp>
        <p:nvSpPr>
          <p:cNvPr id="277512" name="Text Box 8"/>
          <p:cNvSpPr txBox="1">
            <a:spLocks noChangeArrowheads="1"/>
          </p:cNvSpPr>
          <p:nvPr/>
        </p:nvSpPr>
        <p:spPr bwMode="auto">
          <a:xfrm>
            <a:off x="2266950" y="2212975"/>
            <a:ext cx="4608513" cy="646113"/>
          </a:xfrm>
          <a:prstGeom prst="rect">
            <a:avLst/>
          </a:prstGeom>
          <a:noFill/>
          <a:ln w="19050">
            <a:solidFill>
              <a:srgbClr val="FF0000"/>
            </a:solidFill>
            <a:prstDash val="sysDash"/>
            <a:miter lim="800000"/>
            <a:headEnd/>
            <a:tailEnd/>
          </a:ln>
        </p:spPr>
        <p:txBody>
          <a:bodyPr>
            <a:spAutoFit/>
          </a:bodyPr>
          <a:lstStyle/>
          <a:p>
            <a:pPr algn="just"/>
            <a:r>
              <a:rPr kumimoji="1" lang="zh-CN" altLang="en-US" b="1">
                <a:solidFill>
                  <a:srgbClr val="800000"/>
                </a:solidFill>
                <a:latin typeface="华文中宋"/>
                <a:ea typeface="华文中宋"/>
                <a:cs typeface="华文中宋"/>
              </a:rPr>
              <a:t>注意：</a:t>
            </a:r>
            <a:r>
              <a:rPr kumimoji="1" lang="zh-CN" altLang="en-US" b="1">
                <a:solidFill>
                  <a:srgbClr val="000000"/>
                </a:solidFill>
                <a:latin typeface="华文中宋"/>
                <a:ea typeface="华文中宋"/>
                <a:cs typeface="华文中宋"/>
              </a:rPr>
              <a:t>“孤立”是充分条件。</a:t>
            </a:r>
          </a:p>
          <a:p>
            <a:pPr algn="just"/>
            <a:r>
              <a:rPr kumimoji="1" lang="zh-CN" altLang="en-US" b="1">
                <a:solidFill>
                  <a:srgbClr val="000000"/>
                </a:solidFill>
                <a:latin typeface="华文中宋"/>
                <a:ea typeface="华文中宋"/>
                <a:cs typeface="华文中宋"/>
              </a:rPr>
              <a:t>          对非孤立体系的</a:t>
            </a:r>
            <a:r>
              <a:rPr kumimoji="1" lang="zh-CN" altLang="en-US" b="1">
                <a:solidFill>
                  <a:srgbClr val="0000FF"/>
                </a:solidFill>
                <a:latin typeface="华文中宋"/>
                <a:ea typeface="华文中宋"/>
                <a:cs typeface="华文中宋"/>
              </a:rPr>
              <a:t>绝热过程，也成立。</a:t>
            </a:r>
          </a:p>
        </p:txBody>
      </p:sp>
      <p:sp>
        <p:nvSpPr>
          <p:cNvPr id="277513" name="Text Box 9"/>
          <p:cNvSpPr txBox="1">
            <a:spLocks noChangeArrowheads="1"/>
          </p:cNvSpPr>
          <p:nvPr/>
        </p:nvSpPr>
        <p:spPr bwMode="auto">
          <a:xfrm>
            <a:off x="747713" y="2851150"/>
            <a:ext cx="7640637" cy="368300"/>
          </a:xfrm>
          <a:prstGeom prst="rect">
            <a:avLst/>
          </a:prstGeom>
          <a:noFill/>
          <a:ln w="9525">
            <a:noFill/>
            <a:miter lim="800000"/>
            <a:headEnd/>
            <a:tailEnd/>
          </a:ln>
        </p:spPr>
        <p:txBody>
          <a:bodyPr>
            <a:spAutoFit/>
          </a:bodyPr>
          <a:lstStyle/>
          <a:p>
            <a:pPr algn="just">
              <a:spcBef>
                <a:spcPct val="50000"/>
              </a:spcBef>
              <a:buFontTx/>
              <a:buChar char="•"/>
            </a:pPr>
            <a:r>
              <a:rPr kumimoji="1" lang="en-US" altLang="zh-CN" b="1">
                <a:solidFill>
                  <a:srgbClr val="000000"/>
                </a:solidFill>
                <a:latin typeface="华文中宋"/>
                <a:ea typeface="华文中宋"/>
                <a:cs typeface="华文中宋"/>
              </a:rPr>
              <a:t> </a:t>
            </a:r>
            <a:r>
              <a:rPr kumimoji="1" lang="zh-CN" altLang="en-US" b="1">
                <a:solidFill>
                  <a:srgbClr val="000000"/>
                </a:solidFill>
                <a:latin typeface="华文中宋"/>
                <a:ea typeface="华文中宋"/>
                <a:cs typeface="华文中宋"/>
              </a:rPr>
              <a:t>可逆过程 </a:t>
            </a:r>
            <a:r>
              <a:rPr kumimoji="1" lang="en-US" altLang="zh-CN" b="1">
                <a:solidFill>
                  <a:srgbClr val="000000"/>
                </a:solidFill>
                <a:latin typeface="华文中宋"/>
                <a:ea typeface="华文中宋"/>
                <a:cs typeface="华文中宋"/>
              </a:rPr>
              <a:t>— </a:t>
            </a:r>
            <a:r>
              <a:rPr kumimoji="1" lang="zh-CN" altLang="en-US" b="1">
                <a:solidFill>
                  <a:srgbClr val="000000"/>
                </a:solidFill>
                <a:latin typeface="华文中宋"/>
                <a:ea typeface="华文中宋"/>
                <a:cs typeface="华文中宋"/>
              </a:rPr>
              <a:t>系统总处于平衡态，</a:t>
            </a:r>
            <a:r>
              <a:rPr kumimoji="1" lang="zh-CN" altLang="en-US" b="1" i="1">
                <a:solidFill>
                  <a:srgbClr val="000000"/>
                </a:solidFill>
                <a:latin typeface="Times New Roman" pitchFamily="18" charset="0"/>
                <a:ea typeface="华文中宋"/>
                <a:cs typeface="华文中宋"/>
                <a:sym typeface="Symbol" pitchFamily="18" charset="2"/>
              </a:rPr>
              <a:t></a:t>
            </a:r>
            <a:r>
              <a:rPr kumimoji="1" lang="zh-CN" altLang="en-US" b="1">
                <a:solidFill>
                  <a:srgbClr val="000000"/>
                </a:solidFill>
                <a:latin typeface="华文中宋"/>
                <a:ea typeface="华文中宋"/>
                <a:cs typeface="华文中宋"/>
                <a:sym typeface="Symbol" pitchFamily="18" charset="2"/>
              </a:rPr>
              <a:t>为最大值</a:t>
            </a:r>
            <a:r>
              <a:rPr kumimoji="1" lang="zh-CN" altLang="en-US" b="1">
                <a:solidFill>
                  <a:srgbClr val="000000"/>
                </a:solidFill>
                <a:latin typeface="华文中宋"/>
                <a:ea typeface="华文中宋"/>
                <a:cs typeface="华文中宋"/>
              </a:rPr>
              <a:t>；</a:t>
            </a:r>
          </a:p>
        </p:txBody>
      </p:sp>
      <p:sp>
        <p:nvSpPr>
          <p:cNvPr id="277514" name="Rectangle 10"/>
          <p:cNvSpPr>
            <a:spLocks noChangeArrowheads="1"/>
          </p:cNvSpPr>
          <p:nvPr/>
        </p:nvSpPr>
        <p:spPr bwMode="auto">
          <a:xfrm>
            <a:off x="5675313" y="2851150"/>
            <a:ext cx="3360737" cy="368300"/>
          </a:xfrm>
          <a:prstGeom prst="rect">
            <a:avLst/>
          </a:prstGeom>
          <a:noFill/>
          <a:ln w="9525">
            <a:noFill/>
            <a:miter lim="800000"/>
            <a:headEnd/>
            <a:tailEnd/>
          </a:ln>
        </p:spPr>
        <p:txBody>
          <a:bodyPr>
            <a:spAutoFit/>
          </a:bodyPr>
          <a:lstStyle/>
          <a:p>
            <a:pPr defTabSz="762000" eaLnBrk="0" hangingPunct="0">
              <a:buFont typeface="Monotype Sorts"/>
              <a:buNone/>
            </a:pPr>
            <a:r>
              <a:rPr lang="zh-CN" altLang="en-US" b="1">
                <a:solidFill>
                  <a:srgbClr val="000000"/>
                </a:solidFill>
                <a:latin typeface="华文中宋"/>
                <a:ea typeface="华文中宋"/>
                <a:cs typeface="华文中宋"/>
              </a:rPr>
              <a:t>系统不受外界干扰，</a:t>
            </a:r>
            <a:r>
              <a:rPr lang="zh-CN" altLang="en-US" b="1" i="1">
                <a:solidFill>
                  <a:srgbClr val="000000"/>
                </a:solidFill>
                <a:latin typeface="华文中宋"/>
                <a:ea typeface="华文中宋"/>
                <a:cs typeface="华文中宋"/>
                <a:sym typeface="Symbol" pitchFamily="18" charset="2"/>
              </a:rPr>
              <a:t></a:t>
            </a:r>
            <a:r>
              <a:rPr lang="zh-CN" altLang="en-US" b="1">
                <a:solidFill>
                  <a:srgbClr val="000000"/>
                </a:solidFill>
                <a:latin typeface="华文中宋"/>
                <a:ea typeface="华文中宋"/>
                <a:cs typeface="华文中宋"/>
                <a:sym typeface="Symbol" pitchFamily="18" charset="2"/>
              </a:rPr>
              <a:t>值不变。</a:t>
            </a:r>
            <a:endParaRPr lang="zh-CN" altLang="en-US" b="1">
              <a:solidFill>
                <a:srgbClr val="000000"/>
              </a:solidFill>
              <a:latin typeface="华文中宋"/>
              <a:ea typeface="华文中宋"/>
              <a:cs typeface="华文中宋"/>
            </a:endParaRPr>
          </a:p>
        </p:txBody>
      </p:sp>
      <p:sp>
        <p:nvSpPr>
          <p:cNvPr id="277515" name="Text Box 11"/>
          <p:cNvSpPr txBox="1">
            <a:spLocks noChangeArrowheads="1"/>
          </p:cNvSpPr>
          <p:nvPr/>
        </p:nvSpPr>
        <p:spPr bwMode="auto">
          <a:xfrm>
            <a:off x="2916238" y="3221038"/>
            <a:ext cx="1125537" cy="396875"/>
          </a:xfrm>
          <a:prstGeom prst="rect">
            <a:avLst/>
          </a:prstGeom>
          <a:noFill/>
          <a:ln w="9525">
            <a:solidFill>
              <a:srgbClr val="FF0000"/>
            </a:solidFill>
            <a:miter lim="800000"/>
            <a:headEnd/>
            <a:tailEnd/>
          </a:ln>
        </p:spPr>
        <p:txBody>
          <a:bodyPr>
            <a:spAutoFit/>
          </a:bodyPr>
          <a:lstStyle/>
          <a:p>
            <a:pPr algn="ctr" eaLnBrk="0" hangingPunct="0">
              <a:lnSpc>
                <a:spcPct val="110000"/>
              </a:lnSpc>
            </a:pPr>
            <a:r>
              <a:rPr lang="el-GR" altLang="zh-CN" b="1">
                <a:solidFill>
                  <a:srgbClr val="000000"/>
                </a:solidFill>
                <a:latin typeface="华文中宋"/>
                <a:ea typeface="华文中宋"/>
                <a:cs typeface="Times New Roman" pitchFamily="18" charset="0"/>
                <a:sym typeface="Symbol" pitchFamily="18" charset="2"/>
              </a:rPr>
              <a:t></a:t>
            </a:r>
            <a:r>
              <a:rPr lang="en-US" altLang="zh-CN" b="1">
                <a:solidFill>
                  <a:srgbClr val="000000"/>
                </a:solidFill>
                <a:latin typeface="Times New Roman" pitchFamily="18" charset="0"/>
                <a:ea typeface="华文中宋"/>
                <a:cs typeface="Times New Roman" pitchFamily="18" charset="0"/>
              </a:rPr>
              <a:t>S</a:t>
            </a:r>
            <a:r>
              <a:rPr lang="en-US" altLang="zh-CN" b="1">
                <a:solidFill>
                  <a:srgbClr val="000000"/>
                </a:solidFill>
                <a:latin typeface="华文中宋"/>
                <a:ea typeface="华文中宋"/>
                <a:cs typeface="Times New Roman" pitchFamily="18" charset="0"/>
              </a:rPr>
              <a:t>=0</a:t>
            </a:r>
          </a:p>
        </p:txBody>
      </p:sp>
      <p:sp>
        <p:nvSpPr>
          <p:cNvPr id="277516" name="Rectangle 12"/>
          <p:cNvSpPr>
            <a:spLocks noChangeArrowheads="1"/>
          </p:cNvSpPr>
          <p:nvPr/>
        </p:nvSpPr>
        <p:spPr bwMode="auto">
          <a:xfrm>
            <a:off x="4062413" y="3221038"/>
            <a:ext cx="3263900" cy="369887"/>
          </a:xfrm>
          <a:prstGeom prst="rect">
            <a:avLst/>
          </a:prstGeom>
          <a:noFill/>
          <a:ln w="9525">
            <a:noFill/>
            <a:miter lim="800000"/>
            <a:headEnd/>
            <a:tailEnd/>
          </a:ln>
        </p:spPr>
        <p:txBody>
          <a:bodyPr>
            <a:spAutoFit/>
          </a:bodyPr>
          <a:lstStyle/>
          <a:p>
            <a:pPr algn="ctr" defTabSz="762000" eaLnBrk="0" hangingPunct="0">
              <a:buFont typeface="Monotype Sorts"/>
              <a:buNone/>
            </a:pPr>
            <a:r>
              <a:rPr lang="zh-CN" altLang="en-US" b="1">
                <a:solidFill>
                  <a:srgbClr val="3333FF"/>
                </a:solidFill>
                <a:latin typeface="华文中宋"/>
                <a:ea typeface="华文中宋"/>
                <a:cs typeface="华文中宋"/>
              </a:rPr>
              <a:t>（孤立系，可逆过程）</a:t>
            </a:r>
          </a:p>
        </p:txBody>
      </p:sp>
      <p:sp>
        <p:nvSpPr>
          <p:cNvPr id="3" name="Rectangle 13"/>
          <p:cNvSpPr>
            <a:spLocks noChangeArrowheads="1"/>
          </p:cNvSpPr>
          <p:nvPr/>
        </p:nvSpPr>
        <p:spPr bwMode="auto">
          <a:xfrm>
            <a:off x="827088" y="3651250"/>
            <a:ext cx="7921625" cy="1006475"/>
          </a:xfrm>
          <a:prstGeom prst="rect">
            <a:avLst/>
          </a:prstGeom>
          <a:noFill/>
          <a:ln w="19050">
            <a:solidFill>
              <a:srgbClr val="C00000"/>
            </a:solidFill>
            <a:prstDash val="lgDash"/>
            <a:miter lim="800000"/>
            <a:headEnd/>
            <a:tailEnd/>
          </a:ln>
        </p:spPr>
        <p:txBody>
          <a:bodyPr>
            <a:spAutoFit/>
          </a:bodyPr>
          <a:lstStyle/>
          <a:p>
            <a:pPr eaLnBrk="0" hangingPunct="0">
              <a:lnSpc>
                <a:spcPct val="110000"/>
              </a:lnSpc>
            </a:pPr>
            <a:r>
              <a:rPr lang="zh-CN" altLang="en-US" b="1">
                <a:solidFill>
                  <a:srgbClr val="000000"/>
                </a:solidFill>
                <a:latin typeface="华文中宋"/>
                <a:ea typeface="华文中宋"/>
                <a:cs typeface="华文中宋"/>
              </a:rPr>
              <a:t>孤立系统中所发生的一切不可逆过程的熵总是增加；可逆过程熵不变。即：</a:t>
            </a:r>
            <a:endParaRPr lang="en-US" altLang="zh-CN" b="1">
              <a:solidFill>
                <a:srgbClr val="A50021"/>
              </a:solidFill>
              <a:latin typeface="华文中宋"/>
              <a:ea typeface="华文中宋"/>
              <a:cs typeface="华文中宋"/>
            </a:endParaRPr>
          </a:p>
          <a:p>
            <a:pPr algn="ctr" eaLnBrk="0" hangingPunct="0">
              <a:lnSpc>
                <a:spcPct val="110000"/>
              </a:lnSpc>
            </a:pPr>
            <a:r>
              <a:rPr lang="zh-CN" altLang="en-US" b="1">
                <a:solidFill>
                  <a:srgbClr val="A50021"/>
                </a:solidFill>
                <a:latin typeface="华文中宋"/>
                <a:ea typeface="华文中宋"/>
                <a:cs typeface="华文中宋"/>
              </a:rPr>
              <a:t>孤立系的熵变：</a:t>
            </a:r>
            <a:r>
              <a:rPr lang="zh-CN" altLang="en-US" b="1">
                <a:solidFill>
                  <a:srgbClr val="3333FF"/>
                </a:solidFill>
                <a:latin typeface="华文中宋"/>
                <a:ea typeface="华文中宋"/>
                <a:cs typeface="华文中宋"/>
              </a:rPr>
              <a:t>△</a:t>
            </a:r>
            <a:r>
              <a:rPr lang="en-US" altLang="zh-CN" b="1">
                <a:solidFill>
                  <a:srgbClr val="3333FF"/>
                </a:solidFill>
                <a:latin typeface="华文中宋"/>
                <a:ea typeface="华文中宋"/>
                <a:cs typeface="华文中宋"/>
              </a:rPr>
              <a:t>S≥0</a:t>
            </a:r>
          </a:p>
          <a:p>
            <a:pPr algn="r" eaLnBrk="0" hangingPunct="0">
              <a:lnSpc>
                <a:spcPct val="110000"/>
              </a:lnSpc>
            </a:pPr>
            <a:r>
              <a:rPr lang="en-US" altLang="zh-CN" b="1">
                <a:solidFill>
                  <a:srgbClr val="000000"/>
                </a:solidFill>
                <a:latin typeface="华文中宋"/>
                <a:ea typeface="华文中宋"/>
                <a:cs typeface="华文中宋"/>
              </a:rPr>
              <a:t>── </a:t>
            </a:r>
            <a:r>
              <a:rPr lang="zh-CN" altLang="en-US" b="1">
                <a:solidFill>
                  <a:srgbClr val="000000"/>
                </a:solidFill>
                <a:latin typeface="华文中宋"/>
                <a:ea typeface="华文中宋"/>
                <a:cs typeface="华文中宋"/>
              </a:rPr>
              <a:t>熵增加原理</a:t>
            </a:r>
          </a:p>
        </p:txBody>
      </p:sp>
      <p:sp>
        <p:nvSpPr>
          <p:cNvPr id="12" name="Text Box 2"/>
          <p:cNvSpPr>
            <a:spLocks noChangeArrowheads="1"/>
          </p:cNvSpPr>
          <p:nvPr/>
        </p:nvSpPr>
        <p:spPr bwMode="auto">
          <a:xfrm>
            <a:off x="552450" y="874713"/>
            <a:ext cx="2147888" cy="401637"/>
          </a:xfrm>
          <a:prstGeom prst="homePlate">
            <a:avLst>
              <a:gd name="adj" fmla="val 49368"/>
            </a:avLst>
          </a:prstGeom>
          <a:solidFill>
            <a:srgbClr val="539A84"/>
          </a:solidFill>
          <a:ln w="9525">
            <a:noFill/>
            <a:miter lim="800000"/>
            <a:headEnd/>
            <a:tailEnd/>
          </a:ln>
        </p:spPr>
        <p:txBody>
          <a:bodyPr>
            <a:spAutoFit/>
          </a:bodyPr>
          <a:lstStyle/>
          <a:p>
            <a:pPr>
              <a:buFont typeface="Arial" charset="0"/>
              <a:buNone/>
            </a:pPr>
            <a:r>
              <a:rPr lang="zh-CN" altLang="en-US" sz="2000">
                <a:solidFill>
                  <a:srgbClr val="FFFFFF"/>
                </a:solidFill>
                <a:latin typeface="微软雅黑" pitchFamily="34" charset="-122"/>
                <a:ea typeface="微软雅黑" pitchFamily="34" charset="-122"/>
              </a:rPr>
              <a:t>二、熵增加原理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77509"/>
                                        </p:tgtEl>
                                        <p:attrNameLst>
                                          <p:attrName>style.visibility</p:attrName>
                                        </p:attrNameLst>
                                      </p:cBhvr>
                                      <p:to>
                                        <p:strVal val="visible"/>
                                      </p:to>
                                    </p:set>
                                    <p:animEffect transition="in" filter="wipe(left)">
                                      <p:cBhvr>
                                        <p:cTn id="12" dur="500"/>
                                        <p:tgtEl>
                                          <p:spTgt spid="27750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77510"/>
                                        </p:tgtEl>
                                        <p:attrNameLst>
                                          <p:attrName>style.visibility</p:attrName>
                                        </p:attrNameLst>
                                      </p:cBhvr>
                                      <p:to>
                                        <p:strVal val="visible"/>
                                      </p:to>
                                    </p:set>
                                    <p:animEffect transition="in" filter="wipe(left)">
                                      <p:cBhvr>
                                        <p:cTn id="17" dur="500"/>
                                        <p:tgtEl>
                                          <p:spTgt spid="27751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77511"/>
                                        </p:tgtEl>
                                        <p:attrNameLst>
                                          <p:attrName>style.visibility</p:attrName>
                                        </p:attrNameLst>
                                      </p:cBhvr>
                                      <p:to>
                                        <p:strVal val="visible"/>
                                      </p:to>
                                    </p:set>
                                    <p:animEffect transition="in" filter="wipe(left)">
                                      <p:cBhvr>
                                        <p:cTn id="22" dur="500"/>
                                        <p:tgtEl>
                                          <p:spTgt spid="27751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77512"/>
                                        </p:tgtEl>
                                        <p:attrNameLst>
                                          <p:attrName>style.visibility</p:attrName>
                                        </p:attrNameLst>
                                      </p:cBhvr>
                                      <p:to>
                                        <p:strVal val="visible"/>
                                      </p:to>
                                    </p:set>
                                    <p:animEffect transition="in" filter="wipe(left)">
                                      <p:cBhvr>
                                        <p:cTn id="27" dur="500"/>
                                        <p:tgtEl>
                                          <p:spTgt spid="27751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77513"/>
                                        </p:tgtEl>
                                        <p:attrNameLst>
                                          <p:attrName>style.visibility</p:attrName>
                                        </p:attrNameLst>
                                      </p:cBhvr>
                                      <p:to>
                                        <p:strVal val="visible"/>
                                      </p:to>
                                    </p:set>
                                    <p:animEffect transition="in" filter="wipe(left)">
                                      <p:cBhvr>
                                        <p:cTn id="32" dur="500"/>
                                        <p:tgtEl>
                                          <p:spTgt spid="27751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77514"/>
                                        </p:tgtEl>
                                        <p:attrNameLst>
                                          <p:attrName>style.visibility</p:attrName>
                                        </p:attrNameLst>
                                      </p:cBhvr>
                                      <p:to>
                                        <p:strVal val="visible"/>
                                      </p:to>
                                    </p:set>
                                    <p:animEffect transition="in" filter="wipe(left)">
                                      <p:cBhvr>
                                        <p:cTn id="37" dur="500"/>
                                        <p:tgtEl>
                                          <p:spTgt spid="277514"/>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77515"/>
                                        </p:tgtEl>
                                        <p:attrNameLst>
                                          <p:attrName>style.visibility</p:attrName>
                                        </p:attrNameLst>
                                      </p:cBhvr>
                                      <p:to>
                                        <p:strVal val="visible"/>
                                      </p:to>
                                    </p:set>
                                    <p:animEffect transition="in" filter="wipe(left)">
                                      <p:cBhvr>
                                        <p:cTn id="42" dur="500"/>
                                        <p:tgtEl>
                                          <p:spTgt spid="277515"/>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77516"/>
                                        </p:tgtEl>
                                        <p:attrNameLst>
                                          <p:attrName>style.visibility</p:attrName>
                                        </p:attrNameLst>
                                      </p:cBhvr>
                                      <p:to>
                                        <p:strVal val="visible"/>
                                      </p:to>
                                    </p:set>
                                    <p:animEffect transition="in" filter="wipe(left)">
                                      <p:cBhvr>
                                        <p:cTn id="47" dur="500"/>
                                        <p:tgtEl>
                                          <p:spTgt spid="277516"/>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3"/>
                                        </p:tgtEl>
                                        <p:attrNameLst>
                                          <p:attrName>style.visibility</p:attrName>
                                        </p:attrNameLst>
                                      </p:cBhvr>
                                      <p:to>
                                        <p:strVal val="visible"/>
                                      </p:to>
                                    </p:set>
                                    <p:animEffect transition="in" filter="wipe(left)">
                                      <p:cBhvr>
                                        <p:cTn id="5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7509" grpId="0"/>
      <p:bldP spid="277510" grpId="0" animBg="1"/>
      <p:bldP spid="277511" grpId="0"/>
      <p:bldP spid="277512" grpId="0" animBg="1"/>
      <p:bldP spid="277513" grpId="0"/>
      <p:bldP spid="277514" grpId="0"/>
      <p:bldP spid="277515" grpId="0" animBg="1"/>
      <p:bldP spid="277516" grpId="0"/>
      <p:bldP spid="3" grpId="0" animBg="1"/>
      <p:bldP spid="12"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2"/>
          <p:cNvSpPr txBox="1">
            <a:spLocks noChangeArrowheads="1"/>
          </p:cNvSpPr>
          <p:nvPr/>
        </p:nvSpPr>
        <p:spPr bwMode="auto">
          <a:xfrm>
            <a:off x="260350" y="806450"/>
            <a:ext cx="2881313" cy="396875"/>
          </a:xfrm>
          <a:prstGeom prst="rect">
            <a:avLst/>
          </a:prstGeom>
          <a:noFill/>
          <a:ln w="9525">
            <a:noFill/>
            <a:miter lim="800000"/>
            <a:headEnd/>
            <a:tailEnd/>
          </a:ln>
        </p:spPr>
        <p:txBody>
          <a:bodyPr>
            <a:spAutoFit/>
          </a:bodyPr>
          <a:lstStyle/>
          <a:p>
            <a:pPr algn="ctr">
              <a:lnSpc>
                <a:spcPct val="110000"/>
              </a:lnSpc>
            </a:pPr>
            <a:r>
              <a:rPr kumimoji="1" lang="zh-CN" altLang="en-US" b="1">
                <a:solidFill>
                  <a:srgbClr val="0000FF"/>
                </a:solidFill>
                <a:latin typeface="Times New Roman" pitchFamily="18" charset="0"/>
                <a:ea typeface="华文中宋"/>
                <a:cs typeface="华文中宋"/>
              </a:rPr>
              <a:t>生活中自然过程的例子</a:t>
            </a:r>
          </a:p>
        </p:txBody>
      </p:sp>
      <p:sp>
        <p:nvSpPr>
          <p:cNvPr id="8" name="Rectangle 4"/>
          <p:cNvSpPr>
            <a:spLocks noChangeArrowheads="1"/>
          </p:cNvSpPr>
          <p:nvPr/>
        </p:nvSpPr>
        <p:spPr bwMode="auto">
          <a:xfrm>
            <a:off x="2190750" y="1054100"/>
            <a:ext cx="1708150" cy="369888"/>
          </a:xfrm>
          <a:prstGeom prst="rect">
            <a:avLst/>
          </a:prstGeom>
          <a:noFill/>
          <a:ln w="9525">
            <a:noFill/>
            <a:miter lim="800000"/>
            <a:headEnd/>
            <a:tailEnd/>
          </a:ln>
        </p:spPr>
        <p:txBody>
          <a:bodyPr>
            <a:spAutoFit/>
          </a:bodyPr>
          <a:lstStyle/>
          <a:p>
            <a:pPr eaLnBrk="0" hangingPunct="0"/>
            <a:r>
              <a:rPr lang="zh-CN" altLang="en-US" b="1">
                <a:solidFill>
                  <a:srgbClr val="C00000"/>
                </a:solidFill>
                <a:latin typeface="华文中宋"/>
                <a:ea typeface="华文中宋"/>
                <a:cs typeface="华文中宋"/>
              </a:rPr>
              <a:t>整洁的宿舍</a:t>
            </a:r>
          </a:p>
        </p:txBody>
      </p:sp>
      <p:sp>
        <p:nvSpPr>
          <p:cNvPr id="9" name="AutoShape 5"/>
          <p:cNvSpPr>
            <a:spLocks noChangeArrowheads="1"/>
          </p:cNvSpPr>
          <p:nvPr/>
        </p:nvSpPr>
        <p:spPr bwMode="auto">
          <a:xfrm>
            <a:off x="4211638" y="1108075"/>
            <a:ext cx="823912" cy="228600"/>
          </a:xfrm>
          <a:prstGeom prst="rightArrow">
            <a:avLst>
              <a:gd name="adj1" fmla="val 50000"/>
              <a:gd name="adj2" fmla="val 67578"/>
            </a:avLst>
          </a:prstGeom>
          <a:solidFill>
            <a:schemeClr val="bg1"/>
          </a:solidFill>
          <a:ln w="9525">
            <a:solidFill>
              <a:srgbClr val="FF0000"/>
            </a:solidFill>
            <a:miter lim="800000"/>
            <a:headEnd/>
            <a:tailEnd/>
          </a:ln>
        </p:spPr>
        <p:txBody>
          <a:bodyPr wrap="none" anchor="ctr"/>
          <a:lstStyle/>
          <a:p>
            <a:pPr algn="ctr" eaLnBrk="0" hangingPunct="0">
              <a:lnSpc>
                <a:spcPct val="110000"/>
              </a:lnSpc>
            </a:pPr>
            <a:endParaRPr lang="zh-CN" altLang="zh-CN" sz="2800">
              <a:solidFill>
                <a:srgbClr val="1F497D"/>
              </a:solidFill>
              <a:latin typeface="Calibri" pitchFamily="34" charset="0"/>
            </a:endParaRPr>
          </a:p>
        </p:txBody>
      </p:sp>
      <p:sp>
        <p:nvSpPr>
          <p:cNvPr id="10" name="Rectangle 6"/>
          <p:cNvSpPr>
            <a:spLocks noChangeArrowheads="1"/>
          </p:cNvSpPr>
          <p:nvPr/>
        </p:nvSpPr>
        <p:spPr bwMode="auto">
          <a:xfrm>
            <a:off x="5292725" y="1054100"/>
            <a:ext cx="1708150" cy="369888"/>
          </a:xfrm>
          <a:prstGeom prst="rect">
            <a:avLst/>
          </a:prstGeom>
          <a:noFill/>
          <a:ln w="9525">
            <a:noFill/>
            <a:miter lim="800000"/>
            <a:headEnd/>
            <a:tailEnd/>
          </a:ln>
        </p:spPr>
        <p:txBody>
          <a:bodyPr>
            <a:spAutoFit/>
          </a:bodyPr>
          <a:lstStyle/>
          <a:p>
            <a:pPr eaLnBrk="0" hangingPunct="0"/>
            <a:r>
              <a:rPr lang="zh-CN" altLang="en-US" b="1">
                <a:solidFill>
                  <a:srgbClr val="C00000"/>
                </a:solidFill>
                <a:latin typeface="华文中宋"/>
                <a:ea typeface="华文中宋"/>
                <a:cs typeface="华文中宋"/>
              </a:rPr>
              <a:t>杂乱的宿舍</a:t>
            </a:r>
          </a:p>
        </p:txBody>
      </p:sp>
      <p:sp>
        <p:nvSpPr>
          <p:cNvPr id="11" name="Text Box 7"/>
          <p:cNvSpPr txBox="1">
            <a:spLocks noChangeArrowheads="1"/>
          </p:cNvSpPr>
          <p:nvPr/>
        </p:nvSpPr>
        <p:spPr bwMode="auto">
          <a:xfrm>
            <a:off x="2459038" y="1385888"/>
            <a:ext cx="1498600" cy="376237"/>
          </a:xfrm>
          <a:prstGeom prst="rect">
            <a:avLst/>
          </a:prstGeom>
          <a:noFill/>
          <a:ln w="9525">
            <a:noFill/>
            <a:miter lim="800000"/>
            <a:headEnd/>
            <a:tailEnd/>
          </a:ln>
        </p:spPr>
        <p:txBody>
          <a:bodyPr>
            <a:spAutoFit/>
          </a:bodyPr>
          <a:lstStyle/>
          <a:p>
            <a:pPr>
              <a:lnSpc>
                <a:spcPct val="110000"/>
              </a:lnSpc>
            </a:pPr>
            <a:r>
              <a:rPr kumimoji="1" lang="zh-CN" altLang="en-US" b="1">
                <a:solidFill>
                  <a:srgbClr val="000000"/>
                </a:solidFill>
                <a:latin typeface="Times New Roman" pitchFamily="18" charset="0"/>
                <a:ea typeface="华文中宋"/>
                <a:cs typeface="华文中宋"/>
              </a:rPr>
              <a:t>概率小</a:t>
            </a:r>
            <a:endParaRPr kumimoji="1" lang="zh-CN" altLang="en-US" b="1" u="sng">
              <a:solidFill>
                <a:srgbClr val="000000"/>
              </a:solidFill>
              <a:latin typeface="Times New Roman" pitchFamily="18" charset="0"/>
              <a:ea typeface="华文中宋"/>
              <a:cs typeface="华文中宋"/>
            </a:endParaRPr>
          </a:p>
        </p:txBody>
      </p:sp>
      <p:sp>
        <p:nvSpPr>
          <p:cNvPr id="12" name="AutoShape 8"/>
          <p:cNvSpPr>
            <a:spLocks noChangeArrowheads="1"/>
          </p:cNvSpPr>
          <p:nvPr/>
        </p:nvSpPr>
        <p:spPr bwMode="auto">
          <a:xfrm>
            <a:off x="4241800" y="1487488"/>
            <a:ext cx="762000" cy="228600"/>
          </a:xfrm>
          <a:prstGeom prst="rightArrow">
            <a:avLst>
              <a:gd name="adj1" fmla="val 50000"/>
              <a:gd name="adj2" fmla="val 62500"/>
            </a:avLst>
          </a:prstGeom>
          <a:solidFill>
            <a:schemeClr val="accent1"/>
          </a:solidFill>
          <a:ln w="9525">
            <a:solidFill>
              <a:schemeClr val="tx1"/>
            </a:solidFill>
            <a:miter lim="800000"/>
            <a:headEnd/>
            <a:tailEnd/>
          </a:ln>
        </p:spPr>
        <p:txBody>
          <a:bodyPr wrap="none" anchor="ctr"/>
          <a:lstStyle/>
          <a:p>
            <a:pPr algn="ctr" eaLnBrk="0" hangingPunct="0">
              <a:lnSpc>
                <a:spcPct val="110000"/>
              </a:lnSpc>
            </a:pPr>
            <a:endParaRPr lang="zh-CN" altLang="zh-CN" sz="2800">
              <a:solidFill>
                <a:srgbClr val="1F497D"/>
              </a:solidFill>
              <a:latin typeface="Calibri" pitchFamily="34" charset="0"/>
            </a:endParaRPr>
          </a:p>
        </p:txBody>
      </p:sp>
      <p:sp>
        <p:nvSpPr>
          <p:cNvPr id="13" name="Text Box 9"/>
          <p:cNvSpPr txBox="1">
            <a:spLocks noChangeArrowheads="1"/>
          </p:cNvSpPr>
          <p:nvPr/>
        </p:nvSpPr>
        <p:spPr bwMode="auto">
          <a:xfrm>
            <a:off x="5580063" y="1385888"/>
            <a:ext cx="1587500" cy="376237"/>
          </a:xfrm>
          <a:prstGeom prst="rect">
            <a:avLst/>
          </a:prstGeom>
          <a:noFill/>
          <a:ln w="9525">
            <a:noFill/>
            <a:miter lim="800000"/>
            <a:headEnd/>
            <a:tailEnd/>
          </a:ln>
        </p:spPr>
        <p:txBody>
          <a:bodyPr>
            <a:spAutoFit/>
          </a:bodyPr>
          <a:lstStyle/>
          <a:p>
            <a:pPr>
              <a:lnSpc>
                <a:spcPct val="110000"/>
              </a:lnSpc>
            </a:pPr>
            <a:r>
              <a:rPr kumimoji="1" lang="zh-CN" altLang="en-US" b="1">
                <a:solidFill>
                  <a:srgbClr val="000000"/>
                </a:solidFill>
                <a:latin typeface="Times New Roman" pitchFamily="18" charset="0"/>
                <a:ea typeface="华文中宋"/>
                <a:cs typeface="华文中宋"/>
              </a:rPr>
              <a:t>概率大</a:t>
            </a:r>
            <a:endParaRPr kumimoji="1" lang="zh-CN" altLang="en-US" b="1" u="sng">
              <a:solidFill>
                <a:srgbClr val="000000"/>
              </a:solidFill>
              <a:latin typeface="Times New Roman" pitchFamily="18" charset="0"/>
              <a:ea typeface="华文中宋"/>
              <a:cs typeface="华文中宋"/>
            </a:endParaRPr>
          </a:p>
        </p:txBody>
      </p:sp>
      <p:sp>
        <p:nvSpPr>
          <p:cNvPr id="14" name="Text Box 10"/>
          <p:cNvSpPr txBox="1">
            <a:spLocks noChangeArrowheads="1"/>
          </p:cNvSpPr>
          <p:nvPr/>
        </p:nvSpPr>
        <p:spPr bwMode="auto">
          <a:xfrm>
            <a:off x="2593975" y="1755775"/>
            <a:ext cx="1008063" cy="376238"/>
          </a:xfrm>
          <a:prstGeom prst="rect">
            <a:avLst/>
          </a:prstGeom>
          <a:noFill/>
          <a:ln w="9525">
            <a:noFill/>
            <a:miter lim="800000"/>
            <a:headEnd/>
            <a:tailEnd/>
          </a:ln>
        </p:spPr>
        <p:txBody>
          <a:bodyPr>
            <a:spAutoFit/>
          </a:bodyPr>
          <a:lstStyle/>
          <a:p>
            <a:pPr>
              <a:lnSpc>
                <a:spcPct val="110000"/>
              </a:lnSpc>
            </a:pPr>
            <a:r>
              <a:rPr kumimoji="1" lang="zh-CN" altLang="en-US" b="1">
                <a:solidFill>
                  <a:srgbClr val="FF0000"/>
                </a:solidFill>
                <a:latin typeface="Times New Roman" pitchFamily="18" charset="0"/>
                <a:ea typeface="华文中宋"/>
                <a:cs typeface="华文中宋"/>
              </a:rPr>
              <a:t>熵小</a:t>
            </a:r>
          </a:p>
        </p:txBody>
      </p:sp>
      <p:sp>
        <p:nvSpPr>
          <p:cNvPr id="15" name="AutoShape 11"/>
          <p:cNvSpPr>
            <a:spLocks noChangeArrowheads="1"/>
          </p:cNvSpPr>
          <p:nvPr/>
        </p:nvSpPr>
        <p:spPr bwMode="auto">
          <a:xfrm>
            <a:off x="4241800" y="1863725"/>
            <a:ext cx="762000" cy="228600"/>
          </a:xfrm>
          <a:prstGeom prst="rightArrow">
            <a:avLst>
              <a:gd name="adj1" fmla="val 50000"/>
              <a:gd name="adj2" fmla="val 62500"/>
            </a:avLst>
          </a:prstGeom>
          <a:solidFill>
            <a:srgbClr val="00CC00"/>
          </a:solidFill>
          <a:ln w="9525">
            <a:solidFill>
              <a:schemeClr val="tx1"/>
            </a:solidFill>
            <a:miter lim="800000"/>
            <a:headEnd/>
            <a:tailEnd/>
          </a:ln>
        </p:spPr>
        <p:txBody>
          <a:bodyPr wrap="none" anchor="ctr"/>
          <a:lstStyle/>
          <a:p>
            <a:pPr algn="ctr" eaLnBrk="0" hangingPunct="0">
              <a:lnSpc>
                <a:spcPct val="110000"/>
              </a:lnSpc>
            </a:pPr>
            <a:endParaRPr lang="zh-CN" altLang="zh-CN" sz="2800">
              <a:solidFill>
                <a:srgbClr val="1F497D"/>
              </a:solidFill>
              <a:latin typeface="Calibri" pitchFamily="34" charset="0"/>
            </a:endParaRPr>
          </a:p>
        </p:txBody>
      </p:sp>
      <p:sp>
        <p:nvSpPr>
          <p:cNvPr id="16" name="Text Box 12"/>
          <p:cNvSpPr txBox="1">
            <a:spLocks noChangeArrowheads="1"/>
          </p:cNvSpPr>
          <p:nvPr/>
        </p:nvSpPr>
        <p:spPr bwMode="auto">
          <a:xfrm>
            <a:off x="5778500" y="1763713"/>
            <a:ext cx="1098550" cy="376237"/>
          </a:xfrm>
          <a:prstGeom prst="rect">
            <a:avLst/>
          </a:prstGeom>
          <a:noFill/>
          <a:ln w="9525">
            <a:noFill/>
            <a:miter lim="800000"/>
            <a:headEnd/>
            <a:tailEnd/>
          </a:ln>
        </p:spPr>
        <p:txBody>
          <a:bodyPr>
            <a:spAutoFit/>
          </a:bodyPr>
          <a:lstStyle/>
          <a:p>
            <a:pPr>
              <a:lnSpc>
                <a:spcPct val="110000"/>
              </a:lnSpc>
            </a:pPr>
            <a:r>
              <a:rPr kumimoji="1" lang="zh-CN" altLang="en-US" b="1">
                <a:solidFill>
                  <a:srgbClr val="FF0000"/>
                </a:solidFill>
                <a:latin typeface="Times New Roman" pitchFamily="18" charset="0"/>
                <a:ea typeface="华文中宋"/>
                <a:cs typeface="华文中宋"/>
              </a:rPr>
              <a:t>熵大</a:t>
            </a:r>
          </a:p>
        </p:txBody>
      </p:sp>
      <p:sp>
        <p:nvSpPr>
          <p:cNvPr id="17" name="Text Box 13"/>
          <p:cNvSpPr txBox="1">
            <a:spLocks noChangeArrowheads="1"/>
          </p:cNvSpPr>
          <p:nvPr/>
        </p:nvSpPr>
        <p:spPr bwMode="auto">
          <a:xfrm>
            <a:off x="900113" y="2066925"/>
            <a:ext cx="5759450" cy="398463"/>
          </a:xfrm>
          <a:prstGeom prst="rect">
            <a:avLst/>
          </a:prstGeom>
          <a:noFill/>
          <a:ln w="9525">
            <a:noFill/>
            <a:miter lim="800000"/>
            <a:headEnd/>
            <a:tailEnd/>
          </a:ln>
        </p:spPr>
        <p:txBody>
          <a:bodyPr>
            <a:spAutoFit/>
          </a:bodyPr>
          <a:lstStyle/>
          <a:p>
            <a:pPr>
              <a:lnSpc>
                <a:spcPct val="110000"/>
              </a:lnSpc>
            </a:pPr>
            <a:r>
              <a:rPr kumimoji="1" lang="zh-CN" altLang="en-US" b="1">
                <a:solidFill>
                  <a:srgbClr val="0000FF"/>
                </a:solidFill>
                <a:latin typeface="Times New Roman" pitchFamily="18" charset="0"/>
                <a:ea typeface="华文中宋"/>
                <a:cs typeface="华文中宋"/>
              </a:rPr>
              <a:t>所以，要保持宿舍整洁，要靠大家的维护。</a:t>
            </a:r>
          </a:p>
        </p:txBody>
      </p:sp>
      <p:pic>
        <p:nvPicPr>
          <p:cNvPr id="211994" name="Picture 26" descr="U_2479~1"/>
          <p:cNvPicPr>
            <a:picLocks noChangeAspect="1" noChangeArrowheads="1" noCrop="1"/>
          </p:cNvPicPr>
          <p:nvPr/>
        </p:nvPicPr>
        <p:blipFill>
          <a:blip r:embed="rId2"/>
          <a:srcRect/>
          <a:stretch>
            <a:fillRect/>
          </a:stretch>
        </p:blipFill>
        <p:spPr bwMode="auto">
          <a:xfrm>
            <a:off x="7000875" y="2519363"/>
            <a:ext cx="2095500" cy="1571625"/>
          </a:xfrm>
          <a:prstGeom prst="rect">
            <a:avLst/>
          </a:prstGeom>
          <a:noFill/>
          <a:ln w="9525">
            <a:noFill/>
            <a:miter lim="800000"/>
            <a:headEnd/>
            <a:tailEnd/>
          </a:ln>
        </p:spPr>
      </p:pic>
      <p:sp>
        <p:nvSpPr>
          <p:cNvPr id="211995" name="Rectangle 27"/>
          <p:cNvSpPr>
            <a:spLocks noChangeArrowheads="1"/>
          </p:cNvSpPr>
          <p:nvPr/>
        </p:nvSpPr>
        <p:spPr bwMode="auto">
          <a:xfrm>
            <a:off x="684213" y="2417763"/>
            <a:ext cx="6408737" cy="369887"/>
          </a:xfrm>
          <a:prstGeom prst="rect">
            <a:avLst/>
          </a:prstGeom>
          <a:noFill/>
          <a:ln w="9525">
            <a:noFill/>
            <a:miter lim="800000"/>
            <a:headEnd/>
            <a:tailEnd/>
          </a:ln>
        </p:spPr>
        <p:txBody>
          <a:bodyPr>
            <a:spAutoFit/>
          </a:bodyPr>
          <a:lstStyle/>
          <a:p>
            <a:r>
              <a:rPr lang="zh-CN" altLang="en-US" b="1">
                <a:solidFill>
                  <a:srgbClr val="000000"/>
                </a:solidFill>
                <a:latin typeface="华文中宋"/>
                <a:ea typeface="华文中宋"/>
                <a:cs typeface="华文中宋"/>
              </a:rPr>
              <a:t>感冒：体内产生废热，二千多种化学反应混乱，无序度增加</a:t>
            </a:r>
          </a:p>
        </p:txBody>
      </p:sp>
      <p:sp>
        <p:nvSpPr>
          <p:cNvPr id="211996" name="Text Box 28"/>
          <p:cNvSpPr txBox="1">
            <a:spLocks noChangeArrowheads="1"/>
          </p:cNvSpPr>
          <p:nvPr/>
        </p:nvSpPr>
        <p:spPr bwMode="auto">
          <a:xfrm>
            <a:off x="977900" y="2774950"/>
            <a:ext cx="4451350" cy="369888"/>
          </a:xfrm>
          <a:prstGeom prst="rect">
            <a:avLst/>
          </a:prstGeom>
          <a:noFill/>
          <a:ln w="9525">
            <a:noFill/>
            <a:miter lim="800000"/>
            <a:headEnd/>
            <a:tailEnd/>
          </a:ln>
        </p:spPr>
        <p:txBody>
          <a:bodyPr>
            <a:spAutoFit/>
          </a:bodyPr>
          <a:lstStyle/>
          <a:p>
            <a:r>
              <a:rPr kumimoji="1" lang="zh-CN" altLang="en-US" b="1">
                <a:solidFill>
                  <a:srgbClr val="000000"/>
                </a:solidFill>
                <a:latin typeface="华文中宋"/>
                <a:ea typeface="华文中宋"/>
                <a:cs typeface="华文中宋"/>
              </a:rPr>
              <a:t>中医说：内有虚火，外感风寒。</a:t>
            </a:r>
          </a:p>
        </p:txBody>
      </p:sp>
      <p:sp>
        <p:nvSpPr>
          <p:cNvPr id="211998" name="Text Box 30"/>
          <p:cNvSpPr txBox="1">
            <a:spLocks noChangeArrowheads="1"/>
          </p:cNvSpPr>
          <p:nvPr/>
        </p:nvSpPr>
        <p:spPr bwMode="auto">
          <a:xfrm>
            <a:off x="977900" y="3192463"/>
            <a:ext cx="3841750" cy="369887"/>
          </a:xfrm>
          <a:prstGeom prst="rect">
            <a:avLst/>
          </a:prstGeom>
          <a:noFill/>
          <a:ln w="9525">
            <a:noFill/>
            <a:miter lim="800000"/>
            <a:headEnd/>
            <a:tailEnd/>
          </a:ln>
        </p:spPr>
        <p:txBody>
          <a:bodyPr>
            <a:spAutoFit/>
          </a:bodyPr>
          <a:lstStyle/>
          <a:p>
            <a:r>
              <a:rPr kumimoji="1" lang="zh-CN" altLang="en-US" b="1">
                <a:solidFill>
                  <a:srgbClr val="000000"/>
                </a:solidFill>
                <a:latin typeface="华文中宋"/>
                <a:ea typeface="华文中宋"/>
                <a:cs typeface="华文中宋"/>
              </a:rPr>
              <a:t>西医说：感冒了，有炎症。</a:t>
            </a:r>
          </a:p>
        </p:txBody>
      </p:sp>
      <p:sp>
        <p:nvSpPr>
          <p:cNvPr id="212000" name="Text Box 32"/>
          <p:cNvSpPr txBox="1">
            <a:spLocks noChangeArrowheads="1"/>
          </p:cNvSpPr>
          <p:nvPr/>
        </p:nvSpPr>
        <p:spPr bwMode="auto">
          <a:xfrm>
            <a:off x="977900" y="3570288"/>
            <a:ext cx="2927350" cy="369887"/>
          </a:xfrm>
          <a:prstGeom prst="rect">
            <a:avLst/>
          </a:prstGeom>
          <a:noFill/>
          <a:ln w="9525">
            <a:noFill/>
            <a:miter lim="800000"/>
            <a:headEnd/>
            <a:tailEnd/>
          </a:ln>
        </p:spPr>
        <p:txBody>
          <a:bodyPr>
            <a:spAutoFit/>
          </a:bodyPr>
          <a:lstStyle/>
          <a:p>
            <a:r>
              <a:rPr kumimoji="1" lang="zh-CN" altLang="en-US" b="1">
                <a:solidFill>
                  <a:srgbClr val="000000"/>
                </a:solidFill>
                <a:latin typeface="华文中宋"/>
                <a:ea typeface="华文中宋"/>
                <a:cs typeface="华文中宋"/>
              </a:rPr>
              <a:t>物理说：积熵过剩。</a:t>
            </a:r>
          </a:p>
        </p:txBody>
      </p:sp>
      <p:sp>
        <p:nvSpPr>
          <p:cNvPr id="212001" name="Text Box 33"/>
          <p:cNvSpPr txBox="1">
            <a:spLocks noChangeArrowheads="1"/>
          </p:cNvSpPr>
          <p:nvPr/>
        </p:nvSpPr>
        <p:spPr bwMode="auto">
          <a:xfrm>
            <a:off x="809625" y="4025900"/>
            <a:ext cx="1649413" cy="369888"/>
          </a:xfrm>
          <a:prstGeom prst="rect">
            <a:avLst/>
          </a:prstGeom>
          <a:noFill/>
          <a:ln w="9525">
            <a:noFill/>
            <a:miter lim="800000"/>
            <a:headEnd/>
            <a:tailEnd/>
          </a:ln>
        </p:spPr>
        <p:txBody>
          <a:bodyPr>
            <a:spAutoFit/>
          </a:bodyPr>
          <a:lstStyle/>
          <a:p>
            <a:r>
              <a:rPr kumimoji="1" lang="zh-CN" altLang="en-US" b="1">
                <a:solidFill>
                  <a:srgbClr val="0000FF"/>
                </a:solidFill>
                <a:latin typeface="华文中宋"/>
                <a:ea typeface="华文中宋"/>
                <a:cs typeface="华文中宋"/>
              </a:rPr>
              <a:t>如何治疗呢</a:t>
            </a:r>
            <a:r>
              <a:rPr kumimoji="1" lang="en-US" altLang="zh-CN" b="1">
                <a:solidFill>
                  <a:srgbClr val="0000FF"/>
                </a:solidFill>
                <a:latin typeface="华文中宋"/>
                <a:ea typeface="华文中宋"/>
                <a:cs typeface="华文中宋"/>
              </a:rPr>
              <a:t>?</a:t>
            </a:r>
          </a:p>
        </p:txBody>
      </p:sp>
      <p:sp>
        <p:nvSpPr>
          <p:cNvPr id="212002" name="Text Box 34"/>
          <p:cNvSpPr txBox="1">
            <a:spLocks noChangeArrowheads="1"/>
          </p:cNvSpPr>
          <p:nvPr/>
        </p:nvSpPr>
        <p:spPr bwMode="auto">
          <a:xfrm>
            <a:off x="2493963" y="3867150"/>
            <a:ext cx="1098550" cy="369888"/>
          </a:xfrm>
          <a:prstGeom prst="rect">
            <a:avLst/>
          </a:prstGeom>
          <a:noFill/>
          <a:ln w="9525">
            <a:noFill/>
            <a:miter lim="800000"/>
            <a:headEnd/>
            <a:tailEnd/>
          </a:ln>
        </p:spPr>
        <p:txBody>
          <a:bodyPr>
            <a:spAutoFit/>
          </a:bodyPr>
          <a:lstStyle/>
          <a:p>
            <a:r>
              <a:rPr kumimoji="1" lang="zh-CN" altLang="en-US" b="1">
                <a:solidFill>
                  <a:srgbClr val="000000"/>
                </a:solidFill>
                <a:latin typeface="华文中宋"/>
                <a:ea typeface="华文中宋"/>
                <a:cs typeface="华文中宋"/>
              </a:rPr>
              <a:t>中医说</a:t>
            </a:r>
          </a:p>
        </p:txBody>
      </p:sp>
      <p:sp>
        <p:nvSpPr>
          <p:cNvPr id="212003" name="Text Box 35"/>
          <p:cNvSpPr txBox="1">
            <a:spLocks noChangeArrowheads="1"/>
          </p:cNvSpPr>
          <p:nvPr/>
        </p:nvSpPr>
        <p:spPr bwMode="auto">
          <a:xfrm>
            <a:off x="4144963" y="3886200"/>
            <a:ext cx="1098550" cy="369888"/>
          </a:xfrm>
          <a:prstGeom prst="rect">
            <a:avLst/>
          </a:prstGeom>
          <a:noFill/>
          <a:ln w="9525">
            <a:noFill/>
            <a:miter lim="800000"/>
            <a:headEnd/>
            <a:tailEnd/>
          </a:ln>
        </p:spPr>
        <p:txBody>
          <a:bodyPr>
            <a:spAutoFit/>
          </a:bodyPr>
          <a:lstStyle/>
          <a:p>
            <a:r>
              <a:rPr kumimoji="1" lang="zh-CN" altLang="en-US" b="1">
                <a:solidFill>
                  <a:srgbClr val="000000"/>
                </a:solidFill>
                <a:latin typeface="华文中宋"/>
                <a:ea typeface="华文中宋"/>
                <a:cs typeface="华文中宋"/>
              </a:rPr>
              <a:t>西医说</a:t>
            </a:r>
          </a:p>
        </p:txBody>
      </p:sp>
      <p:sp>
        <p:nvSpPr>
          <p:cNvPr id="212004" name="Text Box 36"/>
          <p:cNvSpPr txBox="1">
            <a:spLocks noChangeArrowheads="1"/>
          </p:cNvSpPr>
          <p:nvPr/>
        </p:nvSpPr>
        <p:spPr bwMode="auto">
          <a:xfrm>
            <a:off x="5795963" y="3886200"/>
            <a:ext cx="1098550" cy="369888"/>
          </a:xfrm>
          <a:prstGeom prst="rect">
            <a:avLst/>
          </a:prstGeom>
          <a:noFill/>
          <a:ln w="9525">
            <a:noFill/>
            <a:miter lim="800000"/>
            <a:headEnd/>
            <a:tailEnd/>
          </a:ln>
        </p:spPr>
        <p:txBody>
          <a:bodyPr>
            <a:spAutoFit/>
          </a:bodyPr>
          <a:lstStyle/>
          <a:p>
            <a:r>
              <a:rPr kumimoji="1" lang="zh-CN" altLang="en-US" b="1">
                <a:solidFill>
                  <a:srgbClr val="000000"/>
                </a:solidFill>
                <a:latin typeface="华文中宋"/>
                <a:ea typeface="华文中宋"/>
                <a:cs typeface="华文中宋"/>
              </a:rPr>
              <a:t>物理说</a:t>
            </a:r>
          </a:p>
        </p:txBody>
      </p:sp>
      <p:sp>
        <p:nvSpPr>
          <p:cNvPr id="212005" name="Text Box 37"/>
          <p:cNvSpPr txBox="1">
            <a:spLocks noChangeArrowheads="1"/>
          </p:cNvSpPr>
          <p:nvPr/>
        </p:nvSpPr>
        <p:spPr bwMode="auto">
          <a:xfrm>
            <a:off x="2349500" y="4191000"/>
            <a:ext cx="1501775" cy="369888"/>
          </a:xfrm>
          <a:prstGeom prst="rect">
            <a:avLst/>
          </a:prstGeom>
          <a:noFill/>
          <a:ln w="9525">
            <a:noFill/>
            <a:miter lim="800000"/>
            <a:headEnd/>
            <a:tailEnd/>
          </a:ln>
        </p:spPr>
        <p:txBody>
          <a:bodyPr>
            <a:spAutoFit/>
          </a:bodyPr>
          <a:lstStyle/>
          <a:p>
            <a:r>
              <a:rPr kumimoji="1" lang="zh-CN" altLang="en-US" b="1">
                <a:solidFill>
                  <a:srgbClr val="000000"/>
                </a:solidFill>
                <a:latin typeface="华文中宋"/>
                <a:ea typeface="华文中宋"/>
                <a:cs typeface="华文中宋"/>
              </a:rPr>
              <a:t>发汗清热</a:t>
            </a:r>
            <a:r>
              <a:rPr kumimoji="1" lang="en-US" altLang="zh-CN" b="1">
                <a:solidFill>
                  <a:srgbClr val="000000"/>
                </a:solidFill>
                <a:latin typeface="华文中宋"/>
                <a:ea typeface="华文中宋"/>
                <a:cs typeface="华文中宋"/>
              </a:rPr>
              <a:t>.</a:t>
            </a:r>
          </a:p>
        </p:txBody>
      </p:sp>
      <p:sp>
        <p:nvSpPr>
          <p:cNvPr id="212006" name="Text Box 38"/>
          <p:cNvSpPr txBox="1">
            <a:spLocks noChangeArrowheads="1"/>
          </p:cNvSpPr>
          <p:nvPr/>
        </p:nvSpPr>
        <p:spPr bwMode="auto">
          <a:xfrm>
            <a:off x="4032250" y="4210050"/>
            <a:ext cx="1403350" cy="369888"/>
          </a:xfrm>
          <a:prstGeom prst="rect">
            <a:avLst/>
          </a:prstGeom>
          <a:noFill/>
          <a:ln w="9525">
            <a:noFill/>
            <a:miter lim="800000"/>
            <a:headEnd/>
            <a:tailEnd/>
          </a:ln>
        </p:spPr>
        <p:txBody>
          <a:bodyPr>
            <a:spAutoFit/>
          </a:bodyPr>
          <a:lstStyle/>
          <a:p>
            <a:r>
              <a:rPr kumimoji="1" lang="zh-CN" altLang="en-US" b="1">
                <a:solidFill>
                  <a:srgbClr val="000000"/>
                </a:solidFill>
                <a:latin typeface="华文中宋"/>
                <a:ea typeface="华文中宋"/>
                <a:cs typeface="华文中宋"/>
              </a:rPr>
              <a:t>退热消炎</a:t>
            </a:r>
          </a:p>
        </p:txBody>
      </p:sp>
      <p:sp>
        <p:nvSpPr>
          <p:cNvPr id="212008" name="Rectangle 40"/>
          <p:cNvSpPr>
            <a:spLocks noChangeArrowheads="1"/>
          </p:cNvSpPr>
          <p:nvPr/>
        </p:nvSpPr>
        <p:spPr bwMode="auto">
          <a:xfrm>
            <a:off x="5651500" y="4210050"/>
            <a:ext cx="1403350" cy="369888"/>
          </a:xfrm>
          <a:prstGeom prst="rect">
            <a:avLst/>
          </a:prstGeom>
          <a:noFill/>
          <a:ln w="9525">
            <a:noFill/>
            <a:miter lim="800000"/>
            <a:headEnd/>
            <a:tailEnd/>
          </a:ln>
        </p:spPr>
        <p:txBody>
          <a:bodyPr>
            <a:spAutoFit/>
          </a:bodyPr>
          <a:lstStyle/>
          <a:p>
            <a:r>
              <a:rPr lang="zh-CN" altLang="en-US" b="1">
                <a:solidFill>
                  <a:srgbClr val="000000"/>
                </a:solidFill>
                <a:latin typeface="华文中宋"/>
                <a:ea typeface="华文中宋"/>
                <a:cs typeface="华文中宋"/>
              </a:rPr>
              <a:t>消除积熵</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ipe(left)">
                                      <p:cBhvr>
                                        <p:cTn id="17" dur="500"/>
                                        <p:tgtEl>
                                          <p:spTgt spid="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wipe(left)">
                                      <p:cBhvr>
                                        <p:cTn id="22" dur="500"/>
                                        <p:tgtEl>
                                          <p:spTgt spid="1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wipe(left)">
                                      <p:cBhvr>
                                        <p:cTn id="27" dur="500"/>
                                        <p:tgtEl>
                                          <p:spTgt spid="1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wipe(left)">
                                      <p:cBhvr>
                                        <p:cTn id="32" dur="500"/>
                                        <p:tgtEl>
                                          <p:spTgt spid="12"/>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wipe(left)">
                                      <p:cBhvr>
                                        <p:cTn id="37" dur="500"/>
                                        <p:tgtEl>
                                          <p:spTgt spid="13"/>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wipe(left)">
                                      <p:cBhvr>
                                        <p:cTn id="42" dur="500"/>
                                        <p:tgtEl>
                                          <p:spTgt spid="14"/>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wipe(left)">
                                      <p:cBhvr>
                                        <p:cTn id="47" dur="500"/>
                                        <p:tgtEl>
                                          <p:spTgt spid="15"/>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wipe(left)">
                                      <p:cBhvr>
                                        <p:cTn id="52" dur="500"/>
                                        <p:tgtEl>
                                          <p:spTgt spid="16"/>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7"/>
                                        </p:tgtEl>
                                        <p:attrNameLst>
                                          <p:attrName>style.visibility</p:attrName>
                                        </p:attrNameLst>
                                      </p:cBhvr>
                                      <p:to>
                                        <p:strVal val="visible"/>
                                      </p:to>
                                    </p:set>
                                    <p:animEffect transition="in" filter="wipe(left)">
                                      <p:cBhvr>
                                        <p:cTn id="57" dur="500"/>
                                        <p:tgtEl>
                                          <p:spTgt spid="17"/>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211995"/>
                                        </p:tgtEl>
                                        <p:attrNameLst>
                                          <p:attrName>style.visibility</p:attrName>
                                        </p:attrNameLst>
                                      </p:cBhvr>
                                      <p:to>
                                        <p:strVal val="visible"/>
                                      </p:to>
                                    </p:set>
                                    <p:animEffect transition="in" filter="blinds(horizontal)">
                                      <p:cBhvr>
                                        <p:cTn id="62" dur="500"/>
                                        <p:tgtEl>
                                          <p:spTgt spid="211995"/>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3" presetClass="entr" presetSubtype="10" fill="hold" nodeType="clickEffect">
                                  <p:stCondLst>
                                    <p:cond delay="0"/>
                                  </p:stCondLst>
                                  <p:childTnLst>
                                    <p:set>
                                      <p:cBhvr>
                                        <p:cTn id="66" dur="1" fill="hold">
                                          <p:stCondLst>
                                            <p:cond delay="0"/>
                                          </p:stCondLst>
                                        </p:cTn>
                                        <p:tgtEl>
                                          <p:spTgt spid="211994"/>
                                        </p:tgtEl>
                                        <p:attrNameLst>
                                          <p:attrName>style.visibility</p:attrName>
                                        </p:attrNameLst>
                                      </p:cBhvr>
                                      <p:to>
                                        <p:strVal val="visible"/>
                                      </p:to>
                                    </p:set>
                                    <p:animEffect transition="in" filter="blinds(horizontal)">
                                      <p:cBhvr>
                                        <p:cTn id="67" dur="500"/>
                                        <p:tgtEl>
                                          <p:spTgt spid="211994"/>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17" presetClass="entr" presetSubtype="10" fill="hold" grpId="0" nodeType="clickEffect">
                                  <p:stCondLst>
                                    <p:cond delay="0"/>
                                  </p:stCondLst>
                                  <p:childTnLst>
                                    <p:set>
                                      <p:cBhvr>
                                        <p:cTn id="71" dur="1" fill="hold">
                                          <p:stCondLst>
                                            <p:cond delay="0"/>
                                          </p:stCondLst>
                                        </p:cTn>
                                        <p:tgtEl>
                                          <p:spTgt spid="211996"/>
                                        </p:tgtEl>
                                        <p:attrNameLst>
                                          <p:attrName>style.visibility</p:attrName>
                                        </p:attrNameLst>
                                      </p:cBhvr>
                                      <p:to>
                                        <p:strVal val="visible"/>
                                      </p:to>
                                    </p:set>
                                    <p:anim calcmode="lin" valueType="num">
                                      <p:cBhvr>
                                        <p:cTn id="72" dur="500" fill="hold"/>
                                        <p:tgtEl>
                                          <p:spTgt spid="211996"/>
                                        </p:tgtEl>
                                        <p:attrNameLst>
                                          <p:attrName>ppt_w</p:attrName>
                                        </p:attrNameLst>
                                      </p:cBhvr>
                                      <p:tavLst>
                                        <p:tav tm="0">
                                          <p:val>
                                            <p:fltVal val="0"/>
                                          </p:val>
                                        </p:tav>
                                        <p:tav tm="100000">
                                          <p:val>
                                            <p:strVal val="#ppt_w"/>
                                          </p:val>
                                        </p:tav>
                                      </p:tavLst>
                                    </p:anim>
                                    <p:anim calcmode="lin" valueType="num">
                                      <p:cBhvr>
                                        <p:cTn id="73" dur="500" fill="hold"/>
                                        <p:tgtEl>
                                          <p:spTgt spid="211996"/>
                                        </p:tgtEl>
                                        <p:attrNameLst>
                                          <p:attrName>ppt_h</p:attrName>
                                        </p:attrNameLst>
                                      </p:cBhvr>
                                      <p:tavLst>
                                        <p:tav tm="0">
                                          <p:val>
                                            <p:strVal val="#ppt_h"/>
                                          </p:val>
                                        </p:tav>
                                        <p:tav tm="100000">
                                          <p:val>
                                            <p:strVal val="#ppt_h"/>
                                          </p:val>
                                        </p:tav>
                                      </p:tavLst>
                                    </p:anim>
                                  </p:childTnLst>
                                </p:cTn>
                              </p:par>
                            </p:childTnLst>
                          </p:cTn>
                        </p:par>
                      </p:childTnLst>
                    </p:cTn>
                  </p:par>
                  <p:par>
                    <p:cTn id="74" fill="hold" nodeType="clickPar">
                      <p:stCondLst>
                        <p:cond delay="indefinite"/>
                      </p:stCondLst>
                      <p:childTnLst>
                        <p:par>
                          <p:cTn id="75" fill="hold" nodeType="withGroup">
                            <p:stCondLst>
                              <p:cond delay="0"/>
                            </p:stCondLst>
                            <p:childTnLst>
                              <p:par>
                                <p:cTn id="76" presetID="17" presetClass="entr" presetSubtype="10" fill="hold" grpId="0" nodeType="clickEffect">
                                  <p:stCondLst>
                                    <p:cond delay="0"/>
                                  </p:stCondLst>
                                  <p:childTnLst>
                                    <p:set>
                                      <p:cBhvr>
                                        <p:cTn id="77" dur="1" fill="hold">
                                          <p:stCondLst>
                                            <p:cond delay="0"/>
                                          </p:stCondLst>
                                        </p:cTn>
                                        <p:tgtEl>
                                          <p:spTgt spid="211998"/>
                                        </p:tgtEl>
                                        <p:attrNameLst>
                                          <p:attrName>style.visibility</p:attrName>
                                        </p:attrNameLst>
                                      </p:cBhvr>
                                      <p:to>
                                        <p:strVal val="visible"/>
                                      </p:to>
                                    </p:set>
                                    <p:anim calcmode="lin" valueType="num">
                                      <p:cBhvr>
                                        <p:cTn id="78" dur="500" fill="hold"/>
                                        <p:tgtEl>
                                          <p:spTgt spid="211998"/>
                                        </p:tgtEl>
                                        <p:attrNameLst>
                                          <p:attrName>ppt_w</p:attrName>
                                        </p:attrNameLst>
                                      </p:cBhvr>
                                      <p:tavLst>
                                        <p:tav tm="0">
                                          <p:val>
                                            <p:fltVal val="0"/>
                                          </p:val>
                                        </p:tav>
                                        <p:tav tm="100000">
                                          <p:val>
                                            <p:strVal val="#ppt_w"/>
                                          </p:val>
                                        </p:tav>
                                      </p:tavLst>
                                    </p:anim>
                                    <p:anim calcmode="lin" valueType="num">
                                      <p:cBhvr>
                                        <p:cTn id="79" dur="500" fill="hold"/>
                                        <p:tgtEl>
                                          <p:spTgt spid="211998"/>
                                        </p:tgtEl>
                                        <p:attrNameLst>
                                          <p:attrName>ppt_h</p:attrName>
                                        </p:attrNameLst>
                                      </p:cBhvr>
                                      <p:tavLst>
                                        <p:tav tm="0">
                                          <p:val>
                                            <p:strVal val="#ppt_h"/>
                                          </p:val>
                                        </p:tav>
                                        <p:tav tm="100000">
                                          <p:val>
                                            <p:strVal val="#ppt_h"/>
                                          </p:val>
                                        </p:tav>
                                      </p:tavLst>
                                    </p:anim>
                                  </p:childTnLst>
                                </p:cTn>
                              </p:par>
                            </p:childTnLst>
                          </p:cTn>
                        </p:par>
                      </p:childTnLst>
                    </p:cTn>
                  </p:par>
                  <p:par>
                    <p:cTn id="80" fill="hold" nodeType="clickPar">
                      <p:stCondLst>
                        <p:cond delay="indefinite"/>
                      </p:stCondLst>
                      <p:childTnLst>
                        <p:par>
                          <p:cTn id="81" fill="hold" nodeType="withGroup">
                            <p:stCondLst>
                              <p:cond delay="0"/>
                            </p:stCondLst>
                            <p:childTnLst>
                              <p:par>
                                <p:cTn id="82" presetID="17" presetClass="entr" presetSubtype="10" fill="hold" grpId="0" nodeType="clickEffect">
                                  <p:stCondLst>
                                    <p:cond delay="0"/>
                                  </p:stCondLst>
                                  <p:childTnLst>
                                    <p:set>
                                      <p:cBhvr>
                                        <p:cTn id="83" dur="1" fill="hold">
                                          <p:stCondLst>
                                            <p:cond delay="0"/>
                                          </p:stCondLst>
                                        </p:cTn>
                                        <p:tgtEl>
                                          <p:spTgt spid="212000"/>
                                        </p:tgtEl>
                                        <p:attrNameLst>
                                          <p:attrName>style.visibility</p:attrName>
                                        </p:attrNameLst>
                                      </p:cBhvr>
                                      <p:to>
                                        <p:strVal val="visible"/>
                                      </p:to>
                                    </p:set>
                                    <p:anim calcmode="lin" valueType="num">
                                      <p:cBhvr>
                                        <p:cTn id="84" dur="500" fill="hold"/>
                                        <p:tgtEl>
                                          <p:spTgt spid="212000"/>
                                        </p:tgtEl>
                                        <p:attrNameLst>
                                          <p:attrName>ppt_w</p:attrName>
                                        </p:attrNameLst>
                                      </p:cBhvr>
                                      <p:tavLst>
                                        <p:tav tm="0">
                                          <p:val>
                                            <p:fltVal val="0"/>
                                          </p:val>
                                        </p:tav>
                                        <p:tav tm="100000">
                                          <p:val>
                                            <p:strVal val="#ppt_w"/>
                                          </p:val>
                                        </p:tav>
                                      </p:tavLst>
                                    </p:anim>
                                    <p:anim calcmode="lin" valueType="num">
                                      <p:cBhvr>
                                        <p:cTn id="85" dur="500" fill="hold"/>
                                        <p:tgtEl>
                                          <p:spTgt spid="212000"/>
                                        </p:tgtEl>
                                        <p:attrNameLst>
                                          <p:attrName>ppt_h</p:attrName>
                                        </p:attrNameLst>
                                      </p:cBhvr>
                                      <p:tavLst>
                                        <p:tav tm="0">
                                          <p:val>
                                            <p:strVal val="#ppt_h"/>
                                          </p:val>
                                        </p:tav>
                                        <p:tav tm="100000">
                                          <p:val>
                                            <p:strVal val="#ppt_h"/>
                                          </p:val>
                                        </p:tav>
                                      </p:tavLst>
                                    </p:anim>
                                  </p:childTnLst>
                                </p:cTn>
                              </p:par>
                            </p:childTnLst>
                          </p:cTn>
                        </p:par>
                      </p:childTnLst>
                    </p:cTn>
                  </p:par>
                  <p:par>
                    <p:cTn id="86" fill="hold" nodeType="clickPar">
                      <p:stCondLst>
                        <p:cond delay="indefinite"/>
                      </p:stCondLst>
                      <p:childTnLst>
                        <p:par>
                          <p:cTn id="87" fill="hold" nodeType="withGroup">
                            <p:stCondLst>
                              <p:cond delay="0"/>
                            </p:stCondLst>
                            <p:childTnLst>
                              <p:par>
                                <p:cTn id="88" presetID="17" presetClass="entr" presetSubtype="10" fill="hold" grpId="0" nodeType="clickEffect">
                                  <p:stCondLst>
                                    <p:cond delay="0"/>
                                  </p:stCondLst>
                                  <p:childTnLst>
                                    <p:set>
                                      <p:cBhvr>
                                        <p:cTn id="89" dur="1" fill="hold">
                                          <p:stCondLst>
                                            <p:cond delay="0"/>
                                          </p:stCondLst>
                                        </p:cTn>
                                        <p:tgtEl>
                                          <p:spTgt spid="212001"/>
                                        </p:tgtEl>
                                        <p:attrNameLst>
                                          <p:attrName>style.visibility</p:attrName>
                                        </p:attrNameLst>
                                      </p:cBhvr>
                                      <p:to>
                                        <p:strVal val="visible"/>
                                      </p:to>
                                    </p:set>
                                    <p:anim calcmode="lin" valueType="num">
                                      <p:cBhvr>
                                        <p:cTn id="90" dur="500" fill="hold"/>
                                        <p:tgtEl>
                                          <p:spTgt spid="212001"/>
                                        </p:tgtEl>
                                        <p:attrNameLst>
                                          <p:attrName>ppt_w</p:attrName>
                                        </p:attrNameLst>
                                      </p:cBhvr>
                                      <p:tavLst>
                                        <p:tav tm="0">
                                          <p:val>
                                            <p:fltVal val="0"/>
                                          </p:val>
                                        </p:tav>
                                        <p:tav tm="100000">
                                          <p:val>
                                            <p:strVal val="#ppt_w"/>
                                          </p:val>
                                        </p:tav>
                                      </p:tavLst>
                                    </p:anim>
                                    <p:anim calcmode="lin" valueType="num">
                                      <p:cBhvr>
                                        <p:cTn id="91" dur="500" fill="hold"/>
                                        <p:tgtEl>
                                          <p:spTgt spid="212001"/>
                                        </p:tgtEl>
                                        <p:attrNameLst>
                                          <p:attrName>ppt_h</p:attrName>
                                        </p:attrNameLst>
                                      </p:cBhvr>
                                      <p:tavLst>
                                        <p:tav tm="0">
                                          <p:val>
                                            <p:strVal val="#ppt_h"/>
                                          </p:val>
                                        </p:tav>
                                        <p:tav tm="100000">
                                          <p:val>
                                            <p:strVal val="#ppt_h"/>
                                          </p:val>
                                        </p:tav>
                                      </p:tavLst>
                                    </p:anim>
                                  </p:childTnLst>
                                </p:cTn>
                              </p:par>
                            </p:childTnLst>
                          </p:cTn>
                        </p:par>
                      </p:childTnLst>
                    </p:cTn>
                  </p:par>
                  <p:par>
                    <p:cTn id="92" fill="hold" nodeType="clickPar">
                      <p:stCondLst>
                        <p:cond delay="indefinite"/>
                      </p:stCondLst>
                      <p:childTnLst>
                        <p:par>
                          <p:cTn id="93" fill="hold" nodeType="withGroup">
                            <p:stCondLst>
                              <p:cond delay="0"/>
                            </p:stCondLst>
                            <p:childTnLst>
                              <p:par>
                                <p:cTn id="94" presetID="17" presetClass="entr" presetSubtype="10" fill="hold" grpId="0" nodeType="clickEffect">
                                  <p:stCondLst>
                                    <p:cond delay="0"/>
                                  </p:stCondLst>
                                  <p:childTnLst>
                                    <p:set>
                                      <p:cBhvr>
                                        <p:cTn id="95" dur="1" fill="hold">
                                          <p:stCondLst>
                                            <p:cond delay="0"/>
                                          </p:stCondLst>
                                        </p:cTn>
                                        <p:tgtEl>
                                          <p:spTgt spid="212002"/>
                                        </p:tgtEl>
                                        <p:attrNameLst>
                                          <p:attrName>style.visibility</p:attrName>
                                        </p:attrNameLst>
                                      </p:cBhvr>
                                      <p:to>
                                        <p:strVal val="visible"/>
                                      </p:to>
                                    </p:set>
                                    <p:anim calcmode="lin" valueType="num">
                                      <p:cBhvr>
                                        <p:cTn id="96" dur="500" fill="hold"/>
                                        <p:tgtEl>
                                          <p:spTgt spid="212002"/>
                                        </p:tgtEl>
                                        <p:attrNameLst>
                                          <p:attrName>ppt_w</p:attrName>
                                        </p:attrNameLst>
                                      </p:cBhvr>
                                      <p:tavLst>
                                        <p:tav tm="0">
                                          <p:val>
                                            <p:fltVal val="0"/>
                                          </p:val>
                                        </p:tav>
                                        <p:tav tm="100000">
                                          <p:val>
                                            <p:strVal val="#ppt_w"/>
                                          </p:val>
                                        </p:tav>
                                      </p:tavLst>
                                    </p:anim>
                                    <p:anim calcmode="lin" valueType="num">
                                      <p:cBhvr>
                                        <p:cTn id="97" dur="500" fill="hold"/>
                                        <p:tgtEl>
                                          <p:spTgt spid="212002"/>
                                        </p:tgtEl>
                                        <p:attrNameLst>
                                          <p:attrName>ppt_h</p:attrName>
                                        </p:attrNameLst>
                                      </p:cBhvr>
                                      <p:tavLst>
                                        <p:tav tm="0">
                                          <p:val>
                                            <p:strVal val="#ppt_h"/>
                                          </p:val>
                                        </p:tav>
                                        <p:tav tm="100000">
                                          <p:val>
                                            <p:strVal val="#ppt_h"/>
                                          </p:val>
                                        </p:tav>
                                      </p:tavLst>
                                    </p:anim>
                                  </p:childTnLst>
                                </p:cTn>
                              </p:par>
                            </p:childTnLst>
                          </p:cTn>
                        </p:par>
                      </p:childTnLst>
                    </p:cTn>
                  </p:par>
                  <p:par>
                    <p:cTn id="98" fill="hold" nodeType="clickPar">
                      <p:stCondLst>
                        <p:cond delay="indefinite"/>
                      </p:stCondLst>
                      <p:childTnLst>
                        <p:par>
                          <p:cTn id="99" fill="hold" nodeType="withGroup">
                            <p:stCondLst>
                              <p:cond delay="0"/>
                            </p:stCondLst>
                            <p:childTnLst>
                              <p:par>
                                <p:cTn id="100" presetID="17" presetClass="entr" presetSubtype="10" fill="hold" grpId="0" nodeType="clickEffect">
                                  <p:stCondLst>
                                    <p:cond delay="0"/>
                                  </p:stCondLst>
                                  <p:childTnLst>
                                    <p:set>
                                      <p:cBhvr>
                                        <p:cTn id="101" dur="1" fill="hold">
                                          <p:stCondLst>
                                            <p:cond delay="0"/>
                                          </p:stCondLst>
                                        </p:cTn>
                                        <p:tgtEl>
                                          <p:spTgt spid="212005"/>
                                        </p:tgtEl>
                                        <p:attrNameLst>
                                          <p:attrName>style.visibility</p:attrName>
                                        </p:attrNameLst>
                                      </p:cBhvr>
                                      <p:to>
                                        <p:strVal val="visible"/>
                                      </p:to>
                                    </p:set>
                                    <p:anim calcmode="lin" valueType="num">
                                      <p:cBhvr>
                                        <p:cTn id="102" dur="500" fill="hold"/>
                                        <p:tgtEl>
                                          <p:spTgt spid="212005"/>
                                        </p:tgtEl>
                                        <p:attrNameLst>
                                          <p:attrName>ppt_w</p:attrName>
                                        </p:attrNameLst>
                                      </p:cBhvr>
                                      <p:tavLst>
                                        <p:tav tm="0">
                                          <p:val>
                                            <p:fltVal val="0"/>
                                          </p:val>
                                        </p:tav>
                                        <p:tav tm="100000">
                                          <p:val>
                                            <p:strVal val="#ppt_w"/>
                                          </p:val>
                                        </p:tav>
                                      </p:tavLst>
                                    </p:anim>
                                    <p:anim calcmode="lin" valueType="num">
                                      <p:cBhvr>
                                        <p:cTn id="103" dur="500" fill="hold"/>
                                        <p:tgtEl>
                                          <p:spTgt spid="212005"/>
                                        </p:tgtEl>
                                        <p:attrNameLst>
                                          <p:attrName>ppt_h</p:attrName>
                                        </p:attrNameLst>
                                      </p:cBhvr>
                                      <p:tavLst>
                                        <p:tav tm="0">
                                          <p:val>
                                            <p:strVal val="#ppt_h"/>
                                          </p:val>
                                        </p:tav>
                                        <p:tav tm="100000">
                                          <p:val>
                                            <p:strVal val="#ppt_h"/>
                                          </p:val>
                                        </p:tav>
                                      </p:tavLst>
                                    </p:anim>
                                  </p:childTnLst>
                                </p:cTn>
                              </p:par>
                            </p:childTnLst>
                          </p:cTn>
                        </p:par>
                      </p:childTnLst>
                    </p:cTn>
                  </p:par>
                  <p:par>
                    <p:cTn id="104" fill="hold" nodeType="clickPar">
                      <p:stCondLst>
                        <p:cond delay="indefinite"/>
                      </p:stCondLst>
                      <p:childTnLst>
                        <p:par>
                          <p:cTn id="105" fill="hold" nodeType="withGroup">
                            <p:stCondLst>
                              <p:cond delay="0"/>
                            </p:stCondLst>
                            <p:childTnLst>
                              <p:par>
                                <p:cTn id="106" presetID="17" presetClass="entr" presetSubtype="10" fill="hold" grpId="0" nodeType="clickEffect">
                                  <p:stCondLst>
                                    <p:cond delay="0"/>
                                  </p:stCondLst>
                                  <p:childTnLst>
                                    <p:set>
                                      <p:cBhvr>
                                        <p:cTn id="107" dur="1" fill="hold">
                                          <p:stCondLst>
                                            <p:cond delay="0"/>
                                          </p:stCondLst>
                                        </p:cTn>
                                        <p:tgtEl>
                                          <p:spTgt spid="212003"/>
                                        </p:tgtEl>
                                        <p:attrNameLst>
                                          <p:attrName>style.visibility</p:attrName>
                                        </p:attrNameLst>
                                      </p:cBhvr>
                                      <p:to>
                                        <p:strVal val="visible"/>
                                      </p:to>
                                    </p:set>
                                    <p:anim calcmode="lin" valueType="num">
                                      <p:cBhvr>
                                        <p:cTn id="108" dur="500" fill="hold"/>
                                        <p:tgtEl>
                                          <p:spTgt spid="212003"/>
                                        </p:tgtEl>
                                        <p:attrNameLst>
                                          <p:attrName>ppt_w</p:attrName>
                                        </p:attrNameLst>
                                      </p:cBhvr>
                                      <p:tavLst>
                                        <p:tav tm="0">
                                          <p:val>
                                            <p:fltVal val="0"/>
                                          </p:val>
                                        </p:tav>
                                        <p:tav tm="100000">
                                          <p:val>
                                            <p:strVal val="#ppt_w"/>
                                          </p:val>
                                        </p:tav>
                                      </p:tavLst>
                                    </p:anim>
                                    <p:anim calcmode="lin" valueType="num">
                                      <p:cBhvr>
                                        <p:cTn id="109" dur="500" fill="hold"/>
                                        <p:tgtEl>
                                          <p:spTgt spid="212003"/>
                                        </p:tgtEl>
                                        <p:attrNameLst>
                                          <p:attrName>ppt_h</p:attrName>
                                        </p:attrNameLst>
                                      </p:cBhvr>
                                      <p:tavLst>
                                        <p:tav tm="0">
                                          <p:val>
                                            <p:strVal val="#ppt_h"/>
                                          </p:val>
                                        </p:tav>
                                        <p:tav tm="100000">
                                          <p:val>
                                            <p:strVal val="#ppt_h"/>
                                          </p:val>
                                        </p:tav>
                                      </p:tavLst>
                                    </p:anim>
                                  </p:childTnLst>
                                </p:cTn>
                              </p:par>
                            </p:childTnLst>
                          </p:cTn>
                        </p:par>
                      </p:childTnLst>
                    </p:cTn>
                  </p:par>
                  <p:par>
                    <p:cTn id="110" fill="hold" nodeType="clickPar">
                      <p:stCondLst>
                        <p:cond delay="indefinite"/>
                      </p:stCondLst>
                      <p:childTnLst>
                        <p:par>
                          <p:cTn id="111" fill="hold" nodeType="withGroup">
                            <p:stCondLst>
                              <p:cond delay="0"/>
                            </p:stCondLst>
                            <p:childTnLst>
                              <p:par>
                                <p:cTn id="112" presetID="17" presetClass="entr" presetSubtype="10" fill="hold" grpId="0" nodeType="clickEffect">
                                  <p:stCondLst>
                                    <p:cond delay="0"/>
                                  </p:stCondLst>
                                  <p:childTnLst>
                                    <p:set>
                                      <p:cBhvr>
                                        <p:cTn id="113" dur="1" fill="hold">
                                          <p:stCondLst>
                                            <p:cond delay="0"/>
                                          </p:stCondLst>
                                        </p:cTn>
                                        <p:tgtEl>
                                          <p:spTgt spid="212006"/>
                                        </p:tgtEl>
                                        <p:attrNameLst>
                                          <p:attrName>style.visibility</p:attrName>
                                        </p:attrNameLst>
                                      </p:cBhvr>
                                      <p:to>
                                        <p:strVal val="visible"/>
                                      </p:to>
                                    </p:set>
                                    <p:anim calcmode="lin" valueType="num">
                                      <p:cBhvr>
                                        <p:cTn id="114" dur="500" fill="hold"/>
                                        <p:tgtEl>
                                          <p:spTgt spid="212006"/>
                                        </p:tgtEl>
                                        <p:attrNameLst>
                                          <p:attrName>ppt_w</p:attrName>
                                        </p:attrNameLst>
                                      </p:cBhvr>
                                      <p:tavLst>
                                        <p:tav tm="0">
                                          <p:val>
                                            <p:fltVal val="0"/>
                                          </p:val>
                                        </p:tav>
                                        <p:tav tm="100000">
                                          <p:val>
                                            <p:strVal val="#ppt_w"/>
                                          </p:val>
                                        </p:tav>
                                      </p:tavLst>
                                    </p:anim>
                                    <p:anim calcmode="lin" valueType="num">
                                      <p:cBhvr>
                                        <p:cTn id="115" dur="500" fill="hold"/>
                                        <p:tgtEl>
                                          <p:spTgt spid="212006"/>
                                        </p:tgtEl>
                                        <p:attrNameLst>
                                          <p:attrName>ppt_h</p:attrName>
                                        </p:attrNameLst>
                                      </p:cBhvr>
                                      <p:tavLst>
                                        <p:tav tm="0">
                                          <p:val>
                                            <p:strVal val="#ppt_h"/>
                                          </p:val>
                                        </p:tav>
                                        <p:tav tm="100000">
                                          <p:val>
                                            <p:strVal val="#ppt_h"/>
                                          </p:val>
                                        </p:tav>
                                      </p:tavLst>
                                    </p:anim>
                                  </p:childTnLst>
                                </p:cTn>
                              </p:par>
                            </p:childTnLst>
                          </p:cTn>
                        </p:par>
                      </p:childTnLst>
                    </p:cTn>
                  </p:par>
                  <p:par>
                    <p:cTn id="116" fill="hold" nodeType="clickPar">
                      <p:stCondLst>
                        <p:cond delay="indefinite"/>
                      </p:stCondLst>
                      <p:childTnLst>
                        <p:par>
                          <p:cTn id="117" fill="hold" nodeType="withGroup">
                            <p:stCondLst>
                              <p:cond delay="0"/>
                            </p:stCondLst>
                            <p:childTnLst>
                              <p:par>
                                <p:cTn id="118" presetID="17" presetClass="entr" presetSubtype="10" fill="hold" grpId="0" nodeType="clickEffect">
                                  <p:stCondLst>
                                    <p:cond delay="0"/>
                                  </p:stCondLst>
                                  <p:childTnLst>
                                    <p:set>
                                      <p:cBhvr>
                                        <p:cTn id="119" dur="1" fill="hold">
                                          <p:stCondLst>
                                            <p:cond delay="0"/>
                                          </p:stCondLst>
                                        </p:cTn>
                                        <p:tgtEl>
                                          <p:spTgt spid="212004"/>
                                        </p:tgtEl>
                                        <p:attrNameLst>
                                          <p:attrName>style.visibility</p:attrName>
                                        </p:attrNameLst>
                                      </p:cBhvr>
                                      <p:to>
                                        <p:strVal val="visible"/>
                                      </p:to>
                                    </p:set>
                                    <p:anim calcmode="lin" valueType="num">
                                      <p:cBhvr>
                                        <p:cTn id="120" dur="500" fill="hold"/>
                                        <p:tgtEl>
                                          <p:spTgt spid="212004"/>
                                        </p:tgtEl>
                                        <p:attrNameLst>
                                          <p:attrName>ppt_w</p:attrName>
                                        </p:attrNameLst>
                                      </p:cBhvr>
                                      <p:tavLst>
                                        <p:tav tm="0">
                                          <p:val>
                                            <p:fltVal val="0"/>
                                          </p:val>
                                        </p:tav>
                                        <p:tav tm="100000">
                                          <p:val>
                                            <p:strVal val="#ppt_w"/>
                                          </p:val>
                                        </p:tav>
                                      </p:tavLst>
                                    </p:anim>
                                    <p:anim calcmode="lin" valueType="num">
                                      <p:cBhvr>
                                        <p:cTn id="121" dur="500" fill="hold"/>
                                        <p:tgtEl>
                                          <p:spTgt spid="212004"/>
                                        </p:tgtEl>
                                        <p:attrNameLst>
                                          <p:attrName>ppt_h</p:attrName>
                                        </p:attrNameLst>
                                      </p:cBhvr>
                                      <p:tavLst>
                                        <p:tav tm="0">
                                          <p:val>
                                            <p:strVal val="#ppt_h"/>
                                          </p:val>
                                        </p:tav>
                                        <p:tav tm="100000">
                                          <p:val>
                                            <p:strVal val="#ppt_h"/>
                                          </p:val>
                                        </p:tav>
                                      </p:tavLst>
                                    </p:anim>
                                  </p:childTnLst>
                                </p:cTn>
                              </p:par>
                            </p:childTnLst>
                          </p:cTn>
                        </p:par>
                      </p:childTnLst>
                    </p:cTn>
                  </p:par>
                  <p:par>
                    <p:cTn id="122" fill="hold" nodeType="clickPar">
                      <p:stCondLst>
                        <p:cond delay="indefinite"/>
                      </p:stCondLst>
                      <p:childTnLst>
                        <p:par>
                          <p:cTn id="123" fill="hold" nodeType="withGroup">
                            <p:stCondLst>
                              <p:cond delay="0"/>
                            </p:stCondLst>
                            <p:childTnLst>
                              <p:par>
                                <p:cTn id="124" presetID="17" presetClass="entr" presetSubtype="10" fill="hold" grpId="0" nodeType="clickEffect">
                                  <p:stCondLst>
                                    <p:cond delay="0"/>
                                  </p:stCondLst>
                                  <p:childTnLst>
                                    <p:set>
                                      <p:cBhvr>
                                        <p:cTn id="125" dur="1" fill="hold">
                                          <p:stCondLst>
                                            <p:cond delay="0"/>
                                          </p:stCondLst>
                                        </p:cTn>
                                        <p:tgtEl>
                                          <p:spTgt spid="212008"/>
                                        </p:tgtEl>
                                        <p:attrNameLst>
                                          <p:attrName>style.visibility</p:attrName>
                                        </p:attrNameLst>
                                      </p:cBhvr>
                                      <p:to>
                                        <p:strVal val="visible"/>
                                      </p:to>
                                    </p:set>
                                    <p:anim calcmode="lin" valueType="num">
                                      <p:cBhvr>
                                        <p:cTn id="126" dur="500" fill="hold"/>
                                        <p:tgtEl>
                                          <p:spTgt spid="212008"/>
                                        </p:tgtEl>
                                        <p:attrNameLst>
                                          <p:attrName>ppt_w</p:attrName>
                                        </p:attrNameLst>
                                      </p:cBhvr>
                                      <p:tavLst>
                                        <p:tav tm="0">
                                          <p:val>
                                            <p:fltVal val="0"/>
                                          </p:val>
                                        </p:tav>
                                        <p:tav tm="100000">
                                          <p:val>
                                            <p:strVal val="#ppt_w"/>
                                          </p:val>
                                        </p:tav>
                                      </p:tavLst>
                                    </p:anim>
                                    <p:anim calcmode="lin" valueType="num">
                                      <p:cBhvr>
                                        <p:cTn id="127" dur="500" fill="hold"/>
                                        <p:tgtEl>
                                          <p:spTgt spid="212008"/>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9" grpId="0" animBg="1"/>
      <p:bldP spid="10" grpId="0"/>
      <p:bldP spid="11" grpId="0"/>
      <p:bldP spid="12" grpId="0" animBg="1"/>
      <p:bldP spid="13" grpId="0"/>
      <p:bldP spid="14" grpId="0"/>
      <p:bldP spid="15" grpId="0" animBg="1"/>
      <p:bldP spid="16" grpId="0"/>
      <p:bldP spid="17" grpId="0"/>
      <p:bldP spid="211995" grpId="0"/>
      <p:bldP spid="211996" grpId="0" autoUpdateAnimBg="0"/>
      <p:bldP spid="211998" grpId="0" autoUpdateAnimBg="0"/>
      <p:bldP spid="212000" grpId="0" autoUpdateAnimBg="0"/>
      <p:bldP spid="212001" grpId="0" autoUpdateAnimBg="0"/>
      <p:bldP spid="212002" grpId="0" autoUpdateAnimBg="0"/>
      <p:bldP spid="212003" grpId="0" autoUpdateAnimBg="0"/>
      <p:bldP spid="212004" grpId="0" autoUpdateAnimBg="0"/>
      <p:bldP spid="212005" grpId="0" autoUpdateAnimBg="0"/>
      <p:bldP spid="212006" grpId="0" autoUpdateAnimBg="0"/>
      <p:bldP spid="212008" grpId="0" autoUpdateAnimBg="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78" name="Text Box 3"/>
          <p:cNvSpPr txBox="1">
            <a:spLocks noChangeArrowheads="1"/>
          </p:cNvSpPr>
          <p:nvPr/>
        </p:nvSpPr>
        <p:spPr bwMode="auto">
          <a:xfrm>
            <a:off x="250825" y="844550"/>
            <a:ext cx="8610600" cy="647700"/>
          </a:xfrm>
          <a:prstGeom prst="rect">
            <a:avLst/>
          </a:prstGeom>
          <a:noFill/>
          <a:ln w="9525">
            <a:noFill/>
            <a:miter lim="800000"/>
            <a:headEnd/>
            <a:tailEnd/>
          </a:ln>
        </p:spPr>
        <p:txBody>
          <a:bodyPr>
            <a:spAutoFit/>
          </a:bodyPr>
          <a:lstStyle/>
          <a:p>
            <a:r>
              <a:rPr kumimoji="1" lang="zh-CN" altLang="en-US" b="1">
                <a:solidFill>
                  <a:srgbClr val="0000FF"/>
                </a:solidFill>
                <a:latin typeface="Times New Roman" pitchFamily="18" charset="0"/>
                <a:ea typeface="华文中宋"/>
                <a:cs typeface="华文中宋"/>
              </a:rPr>
              <a:t>例   </a:t>
            </a:r>
            <a:r>
              <a:rPr lang="zh-CN" altLang="en-US" b="1">
                <a:solidFill>
                  <a:srgbClr val="0000FF"/>
                </a:solidFill>
                <a:latin typeface="Times New Roman" pitchFamily="18" charset="0"/>
                <a:ea typeface="华文中宋"/>
                <a:cs typeface="华文中宋"/>
              </a:rPr>
              <a:t>试计算</a:t>
            </a:r>
            <a:r>
              <a:rPr lang="en-US" altLang="zh-CN" b="1" i="1">
                <a:solidFill>
                  <a:srgbClr val="0000FF"/>
                </a:solidFill>
                <a:latin typeface="Times New Roman" pitchFamily="18" charset="0"/>
                <a:ea typeface="华文中宋"/>
                <a:cs typeface="华文中宋"/>
              </a:rPr>
              <a:t>v</a:t>
            </a:r>
            <a:r>
              <a:rPr lang="zh-CN" altLang="en-US" b="1">
                <a:solidFill>
                  <a:srgbClr val="0000FF"/>
                </a:solidFill>
                <a:latin typeface="Times New Roman" pitchFamily="18" charset="0"/>
                <a:ea typeface="华文中宋"/>
                <a:cs typeface="华文中宋"/>
              </a:rPr>
              <a:t>摩尔理想气体自由膨胀过程中的熵增加。设始、末态系统的体积分别为</a:t>
            </a:r>
            <a:r>
              <a:rPr lang="en-US" altLang="zh-CN" b="1" i="1">
                <a:solidFill>
                  <a:srgbClr val="0000FF"/>
                </a:solidFill>
                <a:latin typeface="Times New Roman" pitchFamily="18" charset="0"/>
                <a:ea typeface="华文中宋"/>
                <a:cs typeface="华文中宋"/>
              </a:rPr>
              <a:t>V</a:t>
            </a:r>
            <a:r>
              <a:rPr lang="en-US" altLang="zh-CN" b="1" baseline="-25000">
                <a:solidFill>
                  <a:srgbClr val="0000FF"/>
                </a:solidFill>
                <a:latin typeface="Times New Roman" pitchFamily="18" charset="0"/>
                <a:ea typeface="华文中宋"/>
                <a:cs typeface="华文中宋"/>
              </a:rPr>
              <a:t>1</a:t>
            </a:r>
            <a:r>
              <a:rPr lang="zh-CN" altLang="en-US" b="1">
                <a:solidFill>
                  <a:srgbClr val="0000FF"/>
                </a:solidFill>
                <a:latin typeface="Times New Roman" pitchFamily="18" charset="0"/>
                <a:ea typeface="华文中宋"/>
                <a:cs typeface="华文中宋"/>
              </a:rPr>
              <a:t>、</a:t>
            </a:r>
            <a:r>
              <a:rPr lang="en-US" altLang="zh-CN" b="1" i="1">
                <a:solidFill>
                  <a:srgbClr val="0000FF"/>
                </a:solidFill>
                <a:latin typeface="Times New Roman" pitchFamily="18" charset="0"/>
                <a:ea typeface="华文中宋"/>
                <a:cs typeface="华文中宋"/>
              </a:rPr>
              <a:t>V</a:t>
            </a:r>
            <a:r>
              <a:rPr lang="en-US" altLang="zh-CN" b="1" baseline="-25000">
                <a:solidFill>
                  <a:srgbClr val="0000FF"/>
                </a:solidFill>
                <a:latin typeface="Times New Roman" pitchFamily="18" charset="0"/>
                <a:ea typeface="华文中宋"/>
                <a:cs typeface="华文中宋"/>
              </a:rPr>
              <a:t>2</a:t>
            </a:r>
            <a:r>
              <a:rPr lang="zh-CN" altLang="en-US" b="1">
                <a:solidFill>
                  <a:srgbClr val="0000FF"/>
                </a:solidFill>
                <a:latin typeface="Times New Roman" pitchFamily="18" charset="0"/>
                <a:ea typeface="华文中宋"/>
                <a:cs typeface="华文中宋"/>
              </a:rPr>
              <a:t>，且均为平衡态。</a:t>
            </a:r>
          </a:p>
        </p:txBody>
      </p:sp>
      <p:sp>
        <p:nvSpPr>
          <p:cNvPr id="60424" name="Text Box 8"/>
          <p:cNvSpPr txBox="1">
            <a:spLocks noChangeArrowheads="1"/>
          </p:cNvSpPr>
          <p:nvPr/>
        </p:nvSpPr>
        <p:spPr bwMode="auto">
          <a:xfrm>
            <a:off x="395288" y="1338263"/>
            <a:ext cx="7204075" cy="369887"/>
          </a:xfrm>
          <a:prstGeom prst="rect">
            <a:avLst/>
          </a:prstGeom>
          <a:noFill/>
          <a:ln w="9525">
            <a:noFill/>
            <a:miter lim="800000"/>
            <a:headEnd/>
            <a:tailEnd/>
          </a:ln>
        </p:spPr>
        <p:txBody>
          <a:bodyPr>
            <a:spAutoFit/>
          </a:bodyPr>
          <a:lstStyle/>
          <a:p>
            <a:r>
              <a:rPr kumimoji="1" lang="zh-CN" altLang="en-US" b="1">
                <a:solidFill>
                  <a:srgbClr val="FF0000"/>
                </a:solidFill>
                <a:latin typeface="Times New Roman" pitchFamily="18" charset="0"/>
                <a:ea typeface="华文中宋"/>
                <a:cs typeface="华文中宋"/>
              </a:rPr>
              <a:t>解：</a:t>
            </a:r>
            <a:r>
              <a:rPr kumimoji="1" lang="zh-CN" altLang="en-US" b="1">
                <a:solidFill>
                  <a:srgbClr val="000000"/>
                </a:solidFill>
                <a:latin typeface="Times New Roman" pitchFamily="18" charset="0"/>
                <a:ea typeface="华文中宋"/>
                <a:cs typeface="华文中宋"/>
              </a:rPr>
              <a:t>设系统初、终态的熵分别为</a:t>
            </a:r>
            <a:r>
              <a:rPr kumimoji="1" lang="en-US" altLang="zh-CN" b="1" i="1">
                <a:solidFill>
                  <a:srgbClr val="000000"/>
                </a:solidFill>
                <a:latin typeface="Times New Roman" pitchFamily="18" charset="0"/>
                <a:ea typeface="华文中宋"/>
                <a:cs typeface="华文中宋"/>
              </a:rPr>
              <a:t>S</a:t>
            </a:r>
            <a:r>
              <a:rPr kumimoji="1" lang="en-US" altLang="zh-CN" b="1" baseline="-25000">
                <a:solidFill>
                  <a:srgbClr val="000000"/>
                </a:solidFill>
                <a:latin typeface="Times New Roman" pitchFamily="18" charset="0"/>
                <a:ea typeface="华文中宋"/>
                <a:cs typeface="华文中宋"/>
              </a:rPr>
              <a:t>1</a:t>
            </a:r>
            <a:r>
              <a:rPr kumimoji="1" lang="zh-CN" altLang="en-US" b="1">
                <a:solidFill>
                  <a:srgbClr val="000000"/>
                </a:solidFill>
                <a:latin typeface="Times New Roman" pitchFamily="18" charset="0"/>
                <a:ea typeface="华文中宋"/>
                <a:cs typeface="华文中宋"/>
              </a:rPr>
              <a:t>、</a:t>
            </a:r>
            <a:r>
              <a:rPr kumimoji="1" lang="en-US" altLang="zh-CN" b="1" i="1">
                <a:solidFill>
                  <a:srgbClr val="000000"/>
                </a:solidFill>
                <a:latin typeface="Times New Roman" pitchFamily="18" charset="0"/>
                <a:ea typeface="华文中宋"/>
                <a:cs typeface="华文中宋"/>
              </a:rPr>
              <a:t>S</a:t>
            </a:r>
            <a:r>
              <a:rPr kumimoji="1" lang="en-US" altLang="zh-CN" b="1" baseline="-25000">
                <a:solidFill>
                  <a:srgbClr val="000000"/>
                </a:solidFill>
                <a:latin typeface="Times New Roman" pitchFamily="18" charset="0"/>
                <a:ea typeface="华文中宋"/>
                <a:cs typeface="华文中宋"/>
              </a:rPr>
              <a:t>2</a:t>
            </a:r>
            <a:r>
              <a:rPr kumimoji="1" lang="zh-CN" altLang="en-US" b="1">
                <a:solidFill>
                  <a:srgbClr val="000000"/>
                </a:solidFill>
                <a:latin typeface="Times New Roman" pitchFamily="18" charset="0"/>
                <a:ea typeface="华文中宋"/>
                <a:cs typeface="华文中宋"/>
              </a:rPr>
              <a:t>，</a:t>
            </a:r>
            <a:r>
              <a:rPr lang="zh-CN" altLang="en-US" b="1">
                <a:solidFill>
                  <a:srgbClr val="000000"/>
                </a:solidFill>
                <a:latin typeface="Times New Roman" pitchFamily="18" charset="0"/>
                <a:ea typeface="华文中宋"/>
                <a:cs typeface="华文中宋"/>
              </a:rPr>
              <a:t>熵增则为： </a:t>
            </a:r>
          </a:p>
        </p:txBody>
      </p:sp>
      <p:sp>
        <p:nvSpPr>
          <p:cNvPr id="60425" name="Text Box 9"/>
          <p:cNvSpPr txBox="1">
            <a:spLocks noChangeArrowheads="1"/>
          </p:cNvSpPr>
          <p:nvPr/>
        </p:nvSpPr>
        <p:spPr bwMode="auto">
          <a:xfrm>
            <a:off x="611188" y="1985963"/>
            <a:ext cx="8066087" cy="369887"/>
          </a:xfrm>
          <a:prstGeom prst="rect">
            <a:avLst/>
          </a:prstGeom>
          <a:noFill/>
          <a:ln w="9525">
            <a:noFill/>
            <a:miter lim="800000"/>
            <a:headEnd/>
            <a:tailEnd/>
          </a:ln>
        </p:spPr>
        <p:txBody>
          <a:bodyPr>
            <a:spAutoFit/>
          </a:bodyPr>
          <a:lstStyle/>
          <a:p>
            <a:pPr eaLnBrk="0" hangingPunct="0"/>
            <a:r>
              <a:rPr lang="zh-CN" altLang="en-US" b="1">
                <a:solidFill>
                  <a:srgbClr val="000000"/>
                </a:solidFill>
                <a:latin typeface="Times New Roman" pitchFamily="18" charset="0"/>
                <a:ea typeface="华文中宋"/>
                <a:cs typeface="华文中宋"/>
              </a:rPr>
              <a:t>由于一个分子处于体积</a:t>
            </a:r>
            <a:r>
              <a:rPr lang="en-US" altLang="zh-CN" b="1" i="1">
                <a:solidFill>
                  <a:srgbClr val="000000"/>
                </a:solidFill>
                <a:latin typeface="Times New Roman" pitchFamily="18" charset="0"/>
                <a:ea typeface="华文中宋"/>
                <a:cs typeface="华文中宋"/>
              </a:rPr>
              <a:t>V</a:t>
            </a:r>
            <a:r>
              <a:rPr lang="en-US" altLang="zh-CN" b="1" baseline="-25000">
                <a:solidFill>
                  <a:srgbClr val="000000"/>
                </a:solidFill>
                <a:latin typeface="Times New Roman" pitchFamily="18" charset="0"/>
                <a:ea typeface="华文中宋"/>
                <a:cs typeface="华文中宋"/>
              </a:rPr>
              <a:t>1</a:t>
            </a:r>
            <a:r>
              <a:rPr lang="zh-CN" altLang="en-US" b="1">
                <a:solidFill>
                  <a:srgbClr val="000000"/>
                </a:solidFill>
                <a:latin typeface="Times New Roman" pitchFamily="18" charset="0"/>
                <a:ea typeface="华文中宋"/>
                <a:cs typeface="华文中宋"/>
              </a:rPr>
              <a:t>中和体积</a:t>
            </a:r>
            <a:r>
              <a:rPr lang="en-US" altLang="zh-CN" b="1" i="1">
                <a:solidFill>
                  <a:srgbClr val="000000"/>
                </a:solidFill>
                <a:latin typeface="Times New Roman" pitchFamily="18" charset="0"/>
                <a:ea typeface="华文中宋"/>
                <a:cs typeface="华文中宋"/>
              </a:rPr>
              <a:t>V</a:t>
            </a:r>
            <a:r>
              <a:rPr lang="en-US" altLang="zh-CN" b="1" baseline="-25000">
                <a:solidFill>
                  <a:srgbClr val="000000"/>
                </a:solidFill>
                <a:latin typeface="Times New Roman" pitchFamily="18" charset="0"/>
                <a:ea typeface="华文中宋"/>
                <a:cs typeface="华文中宋"/>
              </a:rPr>
              <a:t>2</a:t>
            </a:r>
            <a:r>
              <a:rPr lang="zh-CN" altLang="en-US" b="1">
                <a:solidFill>
                  <a:srgbClr val="000000"/>
                </a:solidFill>
                <a:latin typeface="Times New Roman" pitchFamily="18" charset="0"/>
                <a:ea typeface="华文中宋"/>
                <a:cs typeface="华文中宋"/>
              </a:rPr>
              <a:t>中的概率</a:t>
            </a:r>
            <a:r>
              <a:rPr lang="en-US" altLang="zh-CN" b="1" i="1">
                <a:solidFill>
                  <a:srgbClr val="000000"/>
                </a:solidFill>
                <a:latin typeface="Times New Roman" pitchFamily="18" charset="0"/>
                <a:ea typeface="华文中宋"/>
                <a:cs typeface="华文中宋"/>
              </a:rPr>
              <a:t>p</a:t>
            </a:r>
            <a:r>
              <a:rPr lang="en-US" altLang="zh-CN" b="1" baseline="30000">
                <a:solidFill>
                  <a:srgbClr val="000000"/>
                </a:solidFill>
                <a:latin typeface="Times New Roman" pitchFamily="18" charset="0"/>
                <a:ea typeface="华文中宋"/>
                <a:cs typeface="华文中宋"/>
              </a:rPr>
              <a:t>/</a:t>
            </a:r>
            <a:r>
              <a:rPr lang="en-US" altLang="zh-CN" b="1" baseline="-25000">
                <a:solidFill>
                  <a:srgbClr val="000000"/>
                </a:solidFill>
                <a:latin typeface="Times New Roman" pitchFamily="18" charset="0"/>
                <a:ea typeface="华文中宋"/>
                <a:cs typeface="华文中宋"/>
              </a:rPr>
              <a:t>1</a:t>
            </a:r>
            <a:r>
              <a:rPr lang="zh-CN" altLang="en-US" b="1">
                <a:solidFill>
                  <a:srgbClr val="000000"/>
                </a:solidFill>
                <a:latin typeface="Times New Roman" pitchFamily="18" charset="0"/>
                <a:ea typeface="华文中宋"/>
                <a:cs typeface="华文中宋"/>
              </a:rPr>
              <a:t>和</a:t>
            </a:r>
            <a:r>
              <a:rPr lang="en-US" altLang="zh-CN" b="1" i="1">
                <a:solidFill>
                  <a:srgbClr val="000000"/>
                </a:solidFill>
                <a:latin typeface="Times New Roman" pitchFamily="18" charset="0"/>
                <a:ea typeface="华文中宋"/>
                <a:cs typeface="华文中宋"/>
              </a:rPr>
              <a:t>p</a:t>
            </a:r>
            <a:r>
              <a:rPr lang="en-US" altLang="zh-CN" b="1" baseline="30000">
                <a:solidFill>
                  <a:srgbClr val="000000"/>
                </a:solidFill>
                <a:latin typeface="Times New Roman" pitchFamily="18" charset="0"/>
                <a:ea typeface="华文中宋"/>
                <a:cs typeface="华文中宋"/>
              </a:rPr>
              <a:t>/</a:t>
            </a:r>
            <a:r>
              <a:rPr lang="en-US" altLang="zh-CN" b="1" baseline="-25000">
                <a:solidFill>
                  <a:srgbClr val="000000"/>
                </a:solidFill>
                <a:latin typeface="Times New Roman" pitchFamily="18" charset="0"/>
                <a:ea typeface="华文中宋"/>
                <a:cs typeface="华文中宋"/>
              </a:rPr>
              <a:t>2</a:t>
            </a:r>
            <a:r>
              <a:rPr lang="zh-CN" altLang="en-US" b="1">
                <a:solidFill>
                  <a:srgbClr val="000000"/>
                </a:solidFill>
                <a:latin typeface="Times New Roman" pitchFamily="18" charset="0"/>
                <a:ea typeface="华文中宋"/>
                <a:cs typeface="华文中宋"/>
              </a:rPr>
              <a:t>，应与体积成正比，即</a:t>
            </a:r>
          </a:p>
        </p:txBody>
      </p:sp>
      <p:graphicFrame>
        <p:nvGraphicFramePr>
          <p:cNvPr id="60426" name="Object 18"/>
          <p:cNvGraphicFramePr>
            <a:graphicFrameLocks noChangeAspect="1"/>
          </p:cNvGraphicFramePr>
          <p:nvPr/>
        </p:nvGraphicFramePr>
        <p:xfrm>
          <a:off x="3635375" y="2362200"/>
          <a:ext cx="1262063" cy="641350"/>
        </p:xfrm>
        <a:graphic>
          <a:graphicData uri="http://schemas.openxmlformats.org/presentationml/2006/ole">
            <p:oleObj spid="_x0000_s45074" name="公式" r:id="rId4" imgW="431425" imgH="317225" progId="Equation.3">
              <p:embed/>
            </p:oleObj>
          </a:graphicData>
        </a:graphic>
      </p:graphicFrame>
      <p:sp>
        <p:nvSpPr>
          <p:cNvPr id="60427" name="Text Box 11"/>
          <p:cNvSpPr txBox="1">
            <a:spLocks noChangeArrowheads="1"/>
          </p:cNvSpPr>
          <p:nvPr/>
        </p:nvSpPr>
        <p:spPr bwMode="auto">
          <a:xfrm>
            <a:off x="611188" y="3003550"/>
            <a:ext cx="7993062" cy="369888"/>
          </a:xfrm>
          <a:prstGeom prst="rect">
            <a:avLst/>
          </a:prstGeom>
          <a:noFill/>
          <a:ln w="9525">
            <a:noFill/>
            <a:miter lim="800000"/>
            <a:headEnd/>
            <a:tailEnd/>
          </a:ln>
        </p:spPr>
        <p:txBody>
          <a:bodyPr>
            <a:spAutoFit/>
          </a:bodyPr>
          <a:lstStyle/>
          <a:p>
            <a:pPr eaLnBrk="0" hangingPunct="0"/>
            <a:r>
              <a:rPr lang="zh-CN" altLang="en-US" b="1">
                <a:solidFill>
                  <a:srgbClr val="000000"/>
                </a:solidFill>
                <a:latin typeface="Times New Roman" pitchFamily="18" charset="0"/>
                <a:ea typeface="华文中宋"/>
                <a:cs typeface="华文中宋"/>
              </a:rPr>
              <a:t>若该系统共有</a:t>
            </a:r>
            <a:r>
              <a:rPr lang="en-US" altLang="zh-CN" b="1" i="1">
                <a:solidFill>
                  <a:srgbClr val="000000"/>
                </a:solidFill>
                <a:latin typeface="Times New Roman" pitchFamily="18" charset="0"/>
                <a:ea typeface="华文中宋"/>
                <a:cs typeface="华文中宋"/>
              </a:rPr>
              <a:t>N</a:t>
            </a:r>
            <a:r>
              <a:rPr lang="en-US" altLang="zh-CN" b="1">
                <a:solidFill>
                  <a:srgbClr val="000000"/>
                </a:solidFill>
                <a:latin typeface="Times New Roman" pitchFamily="18" charset="0"/>
                <a:ea typeface="华文中宋"/>
                <a:cs typeface="华文中宋"/>
              </a:rPr>
              <a:t>=</a:t>
            </a:r>
            <a:r>
              <a:rPr lang="en-US" altLang="zh-CN" b="1">
                <a:solidFill>
                  <a:srgbClr val="000000"/>
                </a:solidFill>
                <a:latin typeface="Times New Roman" pitchFamily="18" charset="0"/>
                <a:ea typeface="华文中宋"/>
                <a:cs typeface="华文中宋"/>
                <a:sym typeface="Symbol" pitchFamily="18" charset="2"/>
              </a:rPr>
              <a:t></a:t>
            </a:r>
            <a:r>
              <a:rPr lang="en-US" altLang="zh-CN" b="1" i="1">
                <a:solidFill>
                  <a:srgbClr val="000000"/>
                </a:solidFill>
                <a:latin typeface="Times New Roman" pitchFamily="18" charset="0"/>
                <a:ea typeface="华文中宋"/>
                <a:cs typeface="华文中宋"/>
              </a:rPr>
              <a:t>N</a:t>
            </a:r>
            <a:r>
              <a:rPr lang="en-US" altLang="zh-CN" b="1" baseline="-25000">
                <a:solidFill>
                  <a:srgbClr val="000000"/>
                </a:solidFill>
                <a:latin typeface="Times New Roman" pitchFamily="18" charset="0"/>
                <a:ea typeface="华文中宋"/>
                <a:cs typeface="华文中宋"/>
              </a:rPr>
              <a:t>A</a:t>
            </a:r>
            <a:r>
              <a:rPr lang="zh-CN" altLang="en-US" b="1">
                <a:solidFill>
                  <a:srgbClr val="000000"/>
                </a:solidFill>
                <a:latin typeface="Times New Roman" pitchFamily="18" charset="0"/>
                <a:ea typeface="华文中宋"/>
                <a:cs typeface="华文中宋"/>
              </a:rPr>
              <a:t>个分子，则</a:t>
            </a:r>
            <a:r>
              <a:rPr lang="en-US" altLang="zh-CN" b="1" i="1">
                <a:solidFill>
                  <a:srgbClr val="000000"/>
                </a:solidFill>
                <a:latin typeface="Times New Roman" pitchFamily="18" charset="0"/>
                <a:ea typeface="华文中宋"/>
                <a:cs typeface="华文中宋"/>
              </a:rPr>
              <a:t>N</a:t>
            </a:r>
            <a:r>
              <a:rPr lang="zh-CN" altLang="en-US" b="1">
                <a:solidFill>
                  <a:srgbClr val="000000"/>
                </a:solidFill>
                <a:latin typeface="Times New Roman" pitchFamily="18" charset="0"/>
                <a:ea typeface="华文中宋"/>
                <a:cs typeface="华文中宋"/>
              </a:rPr>
              <a:t>个分子同时处于</a:t>
            </a:r>
            <a:r>
              <a:rPr lang="en-US" altLang="zh-CN" b="1" i="1">
                <a:solidFill>
                  <a:srgbClr val="000000"/>
                </a:solidFill>
                <a:latin typeface="Times New Roman" pitchFamily="18" charset="0"/>
                <a:ea typeface="华文中宋"/>
                <a:cs typeface="华文中宋"/>
              </a:rPr>
              <a:t>V</a:t>
            </a:r>
            <a:r>
              <a:rPr lang="en-US" altLang="zh-CN" b="1" baseline="-25000">
                <a:solidFill>
                  <a:srgbClr val="000000"/>
                </a:solidFill>
                <a:latin typeface="Times New Roman" pitchFamily="18" charset="0"/>
                <a:ea typeface="华文中宋"/>
                <a:cs typeface="华文中宋"/>
              </a:rPr>
              <a:t>1</a:t>
            </a:r>
            <a:r>
              <a:rPr lang="zh-CN" altLang="en-US" b="1">
                <a:solidFill>
                  <a:srgbClr val="000000"/>
                </a:solidFill>
                <a:latin typeface="Times New Roman" pitchFamily="18" charset="0"/>
                <a:ea typeface="华文中宋"/>
                <a:cs typeface="华文中宋"/>
              </a:rPr>
              <a:t>和</a:t>
            </a:r>
            <a:r>
              <a:rPr lang="en-US" altLang="zh-CN" b="1" i="1">
                <a:solidFill>
                  <a:srgbClr val="000000"/>
                </a:solidFill>
                <a:latin typeface="Times New Roman" pitchFamily="18" charset="0"/>
                <a:ea typeface="华文中宋"/>
                <a:cs typeface="华文中宋"/>
              </a:rPr>
              <a:t>V</a:t>
            </a:r>
            <a:r>
              <a:rPr lang="en-US" altLang="zh-CN" b="1" baseline="-25000">
                <a:solidFill>
                  <a:srgbClr val="000000"/>
                </a:solidFill>
                <a:latin typeface="Times New Roman" pitchFamily="18" charset="0"/>
                <a:ea typeface="华文中宋"/>
                <a:cs typeface="华文中宋"/>
              </a:rPr>
              <a:t>2</a:t>
            </a:r>
            <a:r>
              <a:rPr lang="zh-CN" altLang="en-US" b="1">
                <a:solidFill>
                  <a:srgbClr val="000000"/>
                </a:solidFill>
                <a:latin typeface="Times New Roman" pitchFamily="18" charset="0"/>
                <a:ea typeface="华文中宋"/>
                <a:cs typeface="华文中宋"/>
              </a:rPr>
              <a:t>的概率之比，则应为</a:t>
            </a:r>
          </a:p>
        </p:txBody>
      </p:sp>
      <p:graphicFrame>
        <p:nvGraphicFramePr>
          <p:cNvPr id="60428" name="Object 19"/>
          <p:cNvGraphicFramePr>
            <a:graphicFrameLocks noChangeAspect="1"/>
          </p:cNvGraphicFramePr>
          <p:nvPr/>
        </p:nvGraphicFramePr>
        <p:xfrm>
          <a:off x="3621088" y="3349625"/>
          <a:ext cx="1598612" cy="590550"/>
        </p:xfrm>
        <a:graphic>
          <a:graphicData uri="http://schemas.openxmlformats.org/presentationml/2006/ole">
            <p:oleObj spid="_x0000_s45075" name="公式" r:id="rId5" imgW="596641" imgH="317362" progId="Equation.3">
              <p:embed/>
            </p:oleObj>
          </a:graphicData>
        </a:graphic>
      </p:graphicFrame>
      <p:graphicFrame>
        <p:nvGraphicFramePr>
          <p:cNvPr id="60429" name="Object 20"/>
          <p:cNvGraphicFramePr>
            <a:graphicFrameLocks noChangeAspect="1"/>
          </p:cNvGraphicFramePr>
          <p:nvPr/>
        </p:nvGraphicFramePr>
        <p:xfrm>
          <a:off x="1835150" y="1492250"/>
          <a:ext cx="4897438" cy="630238"/>
        </p:xfrm>
        <a:graphic>
          <a:graphicData uri="http://schemas.openxmlformats.org/presentationml/2006/ole">
            <p:oleObj spid="_x0000_s45076" name="Equation" r:id="rId6" imgW="1853396" imgH="317362" progId="Equation.DSMT4">
              <p:embed/>
            </p:oleObj>
          </a:graphicData>
        </a:graphic>
      </p:graphicFrame>
      <p:sp>
        <p:nvSpPr>
          <p:cNvPr id="215040" name="Text Box 0"/>
          <p:cNvSpPr txBox="1">
            <a:spLocks noChangeArrowheads="1"/>
          </p:cNvSpPr>
          <p:nvPr/>
        </p:nvSpPr>
        <p:spPr bwMode="auto">
          <a:xfrm>
            <a:off x="539750" y="3846513"/>
            <a:ext cx="8135938" cy="369887"/>
          </a:xfrm>
          <a:prstGeom prst="rect">
            <a:avLst/>
          </a:prstGeom>
          <a:noFill/>
          <a:ln w="9525">
            <a:noFill/>
            <a:miter lim="800000"/>
            <a:headEnd/>
            <a:tailEnd/>
          </a:ln>
        </p:spPr>
        <p:txBody>
          <a:bodyPr>
            <a:spAutoFit/>
          </a:bodyPr>
          <a:lstStyle/>
          <a:p>
            <a:pPr eaLnBrk="0" hangingPunct="0"/>
            <a:r>
              <a:rPr lang="zh-CN" altLang="en-US" b="1">
                <a:solidFill>
                  <a:srgbClr val="000000"/>
                </a:solidFill>
                <a:latin typeface="Times New Roman" pitchFamily="18" charset="0"/>
                <a:ea typeface="华文中宋"/>
                <a:cs typeface="华文中宋"/>
              </a:rPr>
              <a:t>而这些分子处于</a:t>
            </a:r>
            <a:r>
              <a:rPr lang="en-US" altLang="zh-CN" b="1" i="1">
                <a:solidFill>
                  <a:srgbClr val="000000"/>
                </a:solidFill>
                <a:latin typeface="Times New Roman" pitchFamily="18" charset="0"/>
                <a:ea typeface="华文中宋"/>
                <a:cs typeface="华文中宋"/>
              </a:rPr>
              <a:t>V</a:t>
            </a:r>
            <a:r>
              <a:rPr lang="en-US" altLang="zh-CN" b="1" baseline="-25000">
                <a:solidFill>
                  <a:srgbClr val="000000"/>
                </a:solidFill>
                <a:latin typeface="Times New Roman" pitchFamily="18" charset="0"/>
                <a:ea typeface="华文中宋"/>
                <a:cs typeface="华文中宋"/>
              </a:rPr>
              <a:t>1</a:t>
            </a:r>
            <a:r>
              <a:rPr lang="zh-CN" altLang="en-US" b="1">
                <a:solidFill>
                  <a:srgbClr val="000000"/>
                </a:solidFill>
                <a:latin typeface="Times New Roman" pitchFamily="18" charset="0"/>
                <a:ea typeface="华文中宋"/>
                <a:cs typeface="华文中宋"/>
              </a:rPr>
              <a:t>和</a:t>
            </a:r>
            <a:r>
              <a:rPr lang="en-US" altLang="zh-CN" b="1" i="1">
                <a:solidFill>
                  <a:srgbClr val="000000"/>
                </a:solidFill>
                <a:latin typeface="Times New Roman" pitchFamily="18" charset="0"/>
                <a:ea typeface="华文中宋"/>
                <a:cs typeface="华文中宋"/>
              </a:rPr>
              <a:t>V</a:t>
            </a:r>
            <a:r>
              <a:rPr lang="en-US" altLang="zh-CN" b="1" baseline="-25000">
                <a:solidFill>
                  <a:srgbClr val="000000"/>
                </a:solidFill>
                <a:latin typeface="Times New Roman" pitchFamily="18" charset="0"/>
                <a:ea typeface="华文中宋"/>
                <a:cs typeface="华文中宋"/>
              </a:rPr>
              <a:t>2</a:t>
            </a:r>
            <a:r>
              <a:rPr lang="zh-CN" altLang="en-US" b="1">
                <a:solidFill>
                  <a:srgbClr val="000000"/>
                </a:solidFill>
                <a:latin typeface="Times New Roman" pitchFamily="18" charset="0"/>
                <a:ea typeface="华文中宋"/>
                <a:cs typeface="华文中宋"/>
              </a:rPr>
              <a:t>的热力学概率</a:t>
            </a:r>
            <a:r>
              <a:rPr lang="zh-CN" altLang="en-US" b="1" i="1">
                <a:solidFill>
                  <a:srgbClr val="000000"/>
                </a:solidFill>
                <a:latin typeface="Times New Roman" pitchFamily="18" charset="0"/>
                <a:ea typeface="华文中宋"/>
                <a:cs typeface="华文中宋"/>
                <a:sym typeface="Symbol" pitchFamily="18" charset="2"/>
              </a:rPr>
              <a:t></a:t>
            </a:r>
            <a:r>
              <a:rPr lang="zh-CN" altLang="en-US" b="1">
                <a:solidFill>
                  <a:srgbClr val="000000"/>
                </a:solidFill>
                <a:latin typeface="Times New Roman" pitchFamily="18" charset="0"/>
                <a:ea typeface="华文中宋"/>
                <a:cs typeface="华文中宋"/>
              </a:rPr>
              <a:t>当然正比于它们处</a:t>
            </a:r>
            <a:r>
              <a:rPr lang="en-US" altLang="zh-CN" b="1" i="1">
                <a:solidFill>
                  <a:srgbClr val="000000"/>
                </a:solidFill>
                <a:latin typeface="Times New Roman" pitchFamily="18" charset="0"/>
                <a:ea typeface="华文中宋"/>
                <a:cs typeface="华文中宋"/>
              </a:rPr>
              <a:t>V</a:t>
            </a:r>
            <a:r>
              <a:rPr lang="en-US" altLang="zh-CN" b="1" baseline="-25000">
                <a:solidFill>
                  <a:srgbClr val="000000"/>
                </a:solidFill>
                <a:latin typeface="Times New Roman" pitchFamily="18" charset="0"/>
                <a:ea typeface="华文中宋"/>
                <a:cs typeface="华文中宋"/>
              </a:rPr>
              <a:t>1</a:t>
            </a:r>
            <a:r>
              <a:rPr lang="zh-CN" altLang="en-US" b="1">
                <a:solidFill>
                  <a:srgbClr val="000000"/>
                </a:solidFill>
                <a:latin typeface="Times New Roman" pitchFamily="18" charset="0"/>
                <a:ea typeface="华文中宋"/>
                <a:cs typeface="华文中宋"/>
              </a:rPr>
              <a:t>和</a:t>
            </a:r>
            <a:r>
              <a:rPr lang="en-US" altLang="zh-CN" b="1" i="1">
                <a:solidFill>
                  <a:srgbClr val="000000"/>
                </a:solidFill>
                <a:latin typeface="Times New Roman" pitchFamily="18" charset="0"/>
                <a:ea typeface="华文中宋"/>
                <a:cs typeface="华文中宋"/>
              </a:rPr>
              <a:t>V</a:t>
            </a:r>
            <a:r>
              <a:rPr lang="en-US" altLang="zh-CN" b="1" baseline="-25000">
                <a:solidFill>
                  <a:srgbClr val="000000"/>
                </a:solidFill>
                <a:latin typeface="Times New Roman" pitchFamily="18" charset="0"/>
                <a:ea typeface="华文中宋"/>
                <a:cs typeface="华文中宋"/>
              </a:rPr>
              <a:t>2</a:t>
            </a:r>
            <a:r>
              <a:rPr lang="zh-CN" altLang="en-US" b="1">
                <a:solidFill>
                  <a:srgbClr val="000000"/>
                </a:solidFill>
                <a:latin typeface="Times New Roman" pitchFamily="18" charset="0"/>
                <a:ea typeface="华文中宋"/>
                <a:cs typeface="华文中宋"/>
              </a:rPr>
              <a:t>的概率</a:t>
            </a:r>
            <a:r>
              <a:rPr lang="en-US" altLang="zh-CN" b="1" i="1">
                <a:solidFill>
                  <a:srgbClr val="000000"/>
                </a:solidFill>
                <a:latin typeface="Times New Roman" pitchFamily="18" charset="0"/>
                <a:ea typeface="华文中宋"/>
                <a:cs typeface="华文中宋"/>
              </a:rPr>
              <a:t>p</a:t>
            </a:r>
            <a:r>
              <a:rPr lang="zh-CN" altLang="en-US" b="1">
                <a:solidFill>
                  <a:srgbClr val="000000"/>
                </a:solidFill>
                <a:latin typeface="Times New Roman" pitchFamily="18" charset="0"/>
                <a:ea typeface="华文中宋"/>
                <a:cs typeface="华文中宋"/>
              </a:rPr>
              <a:t>，故有</a:t>
            </a:r>
          </a:p>
        </p:txBody>
      </p:sp>
      <p:graphicFrame>
        <p:nvGraphicFramePr>
          <p:cNvPr id="215041" name="Object 21"/>
          <p:cNvGraphicFramePr>
            <a:graphicFrameLocks noChangeAspect="1"/>
          </p:cNvGraphicFramePr>
          <p:nvPr/>
        </p:nvGraphicFramePr>
        <p:xfrm>
          <a:off x="3348038" y="4156075"/>
          <a:ext cx="2374900" cy="787400"/>
        </p:xfrm>
        <a:graphic>
          <a:graphicData uri="http://schemas.openxmlformats.org/presentationml/2006/ole">
            <p:oleObj spid="_x0000_s45077" name="公式" r:id="rId7" imgW="888614" imgH="393529" progId="Equation.3">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60424"/>
                                        </p:tgtEl>
                                        <p:attrNameLst>
                                          <p:attrName>style.visibility</p:attrName>
                                        </p:attrNameLst>
                                      </p:cBhvr>
                                      <p:to>
                                        <p:strVal val="visible"/>
                                      </p:to>
                                    </p:set>
                                    <p:animEffect transition="in" filter="box(in)">
                                      <p:cBhvr>
                                        <p:cTn id="7" dur="500"/>
                                        <p:tgtEl>
                                          <p:spTgt spid="6042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60429"/>
                                        </p:tgtEl>
                                        <p:attrNameLst>
                                          <p:attrName>style.visibility</p:attrName>
                                        </p:attrNameLst>
                                      </p:cBhvr>
                                      <p:to>
                                        <p:strVal val="visible"/>
                                      </p:to>
                                    </p:set>
                                    <p:animEffect transition="in" filter="box(in)">
                                      <p:cBhvr>
                                        <p:cTn id="12" dur="500"/>
                                        <p:tgtEl>
                                          <p:spTgt spid="6042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60425"/>
                                        </p:tgtEl>
                                        <p:attrNameLst>
                                          <p:attrName>style.visibility</p:attrName>
                                        </p:attrNameLst>
                                      </p:cBhvr>
                                      <p:to>
                                        <p:strVal val="visible"/>
                                      </p:to>
                                    </p:set>
                                    <p:animEffect transition="in" filter="box(in)">
                                      <p:cBhvr>
                                        <p:cTn id="17" dur="500"/>
                                        <p:tgtEl>
                                          <p:spTgt spid="6042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60426"/>
                                        </p:tgtEl>
                                        <p:attrNameLst>
                                          <p:attrName>style.visibility</p:attrName>
                                        </p:attrNameLst>
                                      </p:cBhvr>
                                      <p:to>
                                        <p:strVal val="visible"/>
                                      </p:to>
                                    </p:set>
                                    <p:animEffect transition="in" filter="box(in)">
                                      <p:cBhvr>
                                        <p:cTn id="22" dur="500"/>
                                        <p:tgtEl>
                                          <p:spTgt spid="6042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60427"/>
                                        </p:tgtEl>
                                        <p:attrNameLst>
                                          <p:attrName>style.visibility</p:attrName>
                                        </p:attrNameLst>
                                      </p:cBhvr>
                                      <p:to>
                                        <p:strVal val="visible"/>
                                      </p:to>
                                    </p:set>
                                    <p:animEffect transition="in" filter="box(in)">
                                      <p:cBhvr>
                                        <p:cTn id="27" dur="500"/>
                                        <p:tgtEl>
                                          <p:spTgt spid="6042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nodeType="clickEffect">
                                  <p:stCondLst>
                                    <p:cond delay="0"/>
                                  </p:stCondLst>
                                  <p:childTnLst>
                                    <p:set>
                                      <p:cBhvr>
                                        <p:cTn id="31" dur="1" fill="hold">
                                          <p:stCondLst>
                                            <p:cond delay="0"/>
                                          </p:stCondLst>
                                        </p:cTn>
                                        <p:tgtEl>
                                          <p:spTgt spid="60428"/>
                                        </p:tgtEl>
                                        <p:attrNameLst>
                                          <p:attrName>style.visibility</p:attrName>
                                        </p:attrNameLst>
                                      </p:cBhvr>
                                      <p:to>
                                        <p:strVal val="visible"/>
                                      </p:to>
                                    </p:set>
                                    <p:animEffect transition="in" filter="box(in)">
                                      <p:cBhvr>
                                        <p:cTn id="32" dur="500"/>
                                        <p:tgtEl>
                                          <p:spTgt spid="60428"/>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16" fill="hold" grpId="0" nodeType="clickEffect">
                                  <p:stCondLst>
                                    <p:cond delay="0"/>
                                  </p:stCondLst>
                                  <p:childTnLst>
                                    <p:set>
                                      <p:cBhvr>
                                        <p:cTn id="36" dur="1" fill="hold">
                                          <p:stCondLst>
                                            <p:cond delay="0"/>
                                          </p:stCondLst>
                                        </p:cTn>
                                        <p:tgtEl>
                                          <p:spTgt spid="215040"/>
                                        </p:tgtEl>
                                        <p:attrNameLst>
                                          <p:attrName>style.visibility</p:attrName>
                                        </p:attrNameLst>
                                      </p:cBhvr>
                                      <p:to>
                                        <p:strVal val="visible"/>
                                      </p:to>
                                    </p:set>
                                    <p:animEffect transition="in" filter="box(in)">
                                      <p:cBhvr>
                                        <p:cTn id="37" dur="500"/>
                                        <p:tgtEl>
                                          <p:spTgt spid="215040"/>
                                        </p:tgtEl>
                                      </p:cBhvr>
                                    </p:animEffect>
                                  </p:childTnLst>
                                  <p:subTnLst>
                                    <p:audio>
                                      <p:cMediaNode>
                                        <p:cTn display="0" masterRel="sameClick">
                                          <p:stCondLst>
                                            <p:cond evt="begin" delay="0">
                                              <p:tn val="35"/>
                                            </p:cond>
                                          </p:stCondLst>
                                          <p:endCondLst>
                                            <p:cond evt="onStopAudio" delay="0">
                                              <p:tgtEl>
                                                <p:sldTgt/>
                                              </p:tgtEl>
                                            </p:cond>
                                          </p:endCondLst>
                                        </p:cTn>
                                        <p:tgtEl>
                                          <p:sndTgt r:embed="rId3" name="camera.wav"/>
                                        </p:tgtEl>
                                      </p:cMediaNode>
                                    </p:audio>
                                  </p:subTnLst>
                                </p:cTn>
                              </p:par>
                            </p:childTnLst>
                          </p:cTn>
                        </p:par>
                      </p:childTnLst>
                    </p:cTn>
                  </p:par>
                  <p:par>
                    <p:cTn id="38" fill="hold" nodeType="clickPar">
                      <p:stCondLst>
                        <p:cond delay="indefinite"/>
                      </p:stCondLst>
                      <p:childTnLst>
                        <p:par>
                          <p:cTn id="39" fill="hold" nodeType="withGroup">
                            <p:stCondLst>
                              <p:cond delay="0"/>
                            </p:stCondLst>
                            <p:childTnLst>
                              <p:par>
                                <p:cTn id="40" presetID="4" presetClass="entr" presetSubtype="16" fill="hold" nodeType="clickEffect">
                                  <p:stCondLst>
                                    <p:cond delay="0"/>
                                  </p:stCondLst>
                                  <p:childTnLst>
                                    <p:set>
                                      <p:cBhvr>
                                        <p:cTn id="41" dur="1" fill="hold">
                                          <p:stCondLst>
                                            <p:cond delay="0"/>
                                          </p:stCondLst>
                                        </p:cTn>
                                        <p:tgtEl>
                                          <p:spTgt spid="215041"/>
                                        </p:tgtEl>
                                        <p:attrNameLst>
                                          <p:attrName>style.visibility</p:attrName>
                                        </p:attrNameLst>
                                      </p:cBhvr>
                                      <p:to>
                                        <p:strVal val="visible"/>
                                      </p:to>
                                    </p:set>
                                    <p:animEffect transition="in" filter="box(in)">
                                      <p:cBhvr>
                                        <p:cTn id="42" dur="500"/>
                                        <p:tgtEl>
                                          <p:spTgt spid="2150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24" grpId="0" autoUpdateAnimBg="0"/>
      <p:bldP spid="60425" grpId="0" autoUpdateAnimBg="0"/>
      <p:bldP spid="60427" grpId="0" autoUpdateAnimBg="0"/>
      <p:bldP spid="215040" grpId="0" autoUpdateAnimBg="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5" name="Text Box 5"/>
          <p:cNvSpPr txBox="1">
            <a:spLocks noChangeArrowheads="1"/>
          </p:cNvSpPr>
          <p:nvPr/>
        </p:nvSpPr>
        <p:spPr bwMode="auto">
          <a:xfrm>
            <a:off x="468313" y="915988"/>
            <a:ext cx="4244975" cy="368300"/>
          </a:xfrm>
          <a:prstGeom prst="rect">
            <a:avLst/>
          </a:prstGeom>
          <a:noFill/>
          <a:ln w="9525">
            <a:noFill/>
            <a:miter lim="800000"/>
            <a:headEnd/>
            <a:tailEnd/>
          </a:ln>
        </p:spPr>
        <p:txBody>
          <a:bodyPr>
            <a:spAutoFit/>
          </a:bodyPr>
          <a:lstStyle/>
          <a:p>
            <a:pPr eaLnBrk="0" hangingPunct="0"/>
            <a:r>
              <a:rPr lang="zh-CN" altLang="en-US" b="1">
                <a:solidFill>
                  <a:srgbClr val="000000"/>
                </a:solidFill>
                <a:latin typeface="华文中宋"/>
                <a:ea typeface="华文中宋"/>
                <a:cs typeface="华文中宋"/>
              </a:rPr>
              <a:t>初、终两态的玻尔兹曼熵应为 </a:t>
            </a:r>
          </a:p>
        </p:txBody>
      </p:sp>
      <p:graphicFrame>
        <p:nvGraphicFramePr>
          <p:cNvPr id="61451" name="Object 6"/>
          <p:cNvGraphicFramePr>
            <a:graphicFrameLocks noChangeAspect="1"/>
          </p:cNvGraphicFramePr>
          <p:nvPr/>
        </p:nvGraphicFramePr>
        <p:xfrm>
          <a:off x="1187450" y="1225550"/>
          <a:ext cx="6780213" cy="722313"/>
        </p:xfrm>
        <a:graphic>
          <a:graphicData uri="http://schemas.openxmlformats.org/presentationml/2006/ole">
            <p:oleObj spid="_x0000_s46086" name="公式" r:id="rId3" imgW="2768600" imgH="393700" progId="Equation.3">
              <p:embed/>
            </p:oleObj>
          </a:graphicData>
        </a:graphic>
      </p:graphicFrame>
      <p:sp>
        <p:nvSpPr>
          <p:cNvPr id="61456" name="Text Box 16"/>
          <p:cNvSpPr txBox="1">
            <a:spLocks noChangeArrowheads="1"/>
          </p:cNvSpPr>
          <p:nvPr/>
        </p:nvSpPr>
        <p:spPr bwMode="auto">
          <a:xfrm>
            <a:off x="323850" y="1981200"/>
            <a:ext cx="8305800" cy="368300"/>
          </a:xfrm>
          <a:prstGeom prst="rect">
            <a:avLst/>
          </a:prstGeom>
          <a:noFill/>
          <a:ln w="9525">
            <a:noFill/>
            <a:miter lim="800000"/>
            <a:headEnd/>
            <a:tailEnd/>
          </a:ln>
        </p:spPr>
        <p:txBody>
          <a:bodyPr>
            <a:spAutoFit/>
          </a:bodyPr>
          <a:lstStyle/>
          <a:p>
            <a:r>
              <a:rPr kumimoji="1" lang="zh-CN" altLang="en-US" b="1">
                <a:solidFill>
                  <a:srgbClr val="000000"/>
                </a:solidFill>
                <a:latin typeface="Times New Roman" pitchFamily="18" charset="0"/>
                <a:ea typeface="华文中宋"/>
                <a:cs typeface="华文中宋"/>
              </a:rPr>
              <a:t>由于</a:t>
            </a:r>
            <a:r>
              <a:rPr kumimoji="1" lang="en-US" altLang="zh-CN" b="1" i="1">
                <a:solidFill>
                  <a:srgbClr val="000000"/>
                </a:solidFill>
                <a:latin typeface="Times New Roman" pitchFamily="18" charset="0"/>
                <a:ea typeface="华文中宋"/>
                <a:cs typeface="华文中宋"/>
              </a:rPr>
              <a:t>V</a:t>
            </a:r>
            <a:r>
              <a:rPr kumimoji="1" lang="en-US" altLang="zh-CN" b="1" baseline="-25000">
                <a:solidFill>
                  <a:srgbClr val="000000"/>
                </a:solidFill>
                <a:latin typeface="Times New Roman" pitchFamily="18" charset="0"/>
                <a:ea typeface="华文中宋"/>
                <a:cs typeface="华文中宋"/>
              </a:rPr>
              <a:t>2</a:t>
            </a:r>
            <a:r>
              <a:rPr kumimoji="1" lang="zh-CN" altLang="en-US" b="1">
                <a:solidFill>
                  <a:srgbClr val="000000"/>
                </a:solidFill>
                <a:latin typeface="Times New Roman" pitchFamily="18" charset="0"/>
                <a:ea typeface="华文中宋"/>
                <a:cs typeface="华文中宋"/>
              </a:rPr>
              <a:t>大于</a:t>
            </a:r>
            <a:r>
              <a:rPr kumimoji="1" lang="en-US" altLang="zh-CN" b="1" i="1">
                <a:solidFill>
                  <a:srgbClr val="000000"/>
                </a:solidFill>
                <a:latin typeface="Times New Roman" pitchFamily="18" charset="0"/>
                <a:ea typeface="华文中宋"/>
                <a:cs typeface="华文中宋"/>
              </a:rPr>
              <a:t>V</a:t>
            </a:r>
            <a:r>
              <a:rPr kumimoji="1" lang="en-US" altLang="zh-CN" b="1" baseline="-25000">
                <a:solidFill>
                  <a:srgbClr val="000000"/>
                </a:solidFill>
                <a:latin typeface="Times New Roman" pitchFamily="18" charset="0"/>
                <a:ea typeface="华文中宋"/>
                <a:cs typeface="华文中宋"/>
              </a:rPr>
              <a:t>1</a:t>
            </a:r>
            <a:r>
              <a:rPr kumimoji="1" lang="zh-CN" altLang="en-US" b="1">
                <a:solidFill>
                  <a:srgbClr val="000000"/>
                </a:solidFill>
                <a:latin typeface="Times New Roman" pitchFamily="18" charset="0"/>
                <a:ea typeface="华文中宋"/>
                <a:cs typeface="华文中宋"/>
              </a:rPr>
              <a:t>，所以</a:t>
            </a:r>
            <a:r>
              <a:rPr kumimoji="1" lang="zh-CN" altLang="en-US" b="1">
                <a:solidFill>
                  <a:srgbClr val="000000"/>
                </a:solidFill>
                <a:latin typeface="Times New Roman" pitchFamily="18" charset="0"/>
                <a:ea typeface="华文中宋"/>
                <a:cs typeface="华文中宋"/>
                <a:sym typeface="Symbol" pitchFamily="18" charset="2"/>
              </a:rPr>
              <a:t></a:t>
            </a:r>
            <a:r>
              <a:rPr kumimoji="1" lang="en-US" altLang="zh-CN" b="1" i="1">
                <a:solidFill>
                  <a:srgbClr val="000000"/>
                </a:solidFill>
                <a:latin typeface="Times New Roman" pitchFamily="18" charset="0"/>
                <a:ea typeface="华文中宋"/>
                <a:cs typeface="华文中宋"/>
                <a:sym typeface="Symbol" pitchFamily="18" charset="2"/>
              </a:rPr>
              <a:t>S</a:t>
            </a:r>
            <a:r>
              <a:rPr kumimoji="1" lang="en-US" altLang="zh-CN" b="1">
                <a:solidFill>
                  <a:srgbClr val="000000"/>
                </a:solidFill>
                <a:latin typeface="Times New Roman" pitchFamily="18" charset="0"/>
                <a:ea typeface="华文中宋"/>
                <a:cs typeface="华文中宋"/>
                <a:sym typeface="Symbol" pitchFamily="18" charset="2"/>
              </a:rPr>
              <a:t>&gt;0</a:t>
            </a:r>
            <a:r>
              <a:rPr kumimoji="1" lang="zh-CN" altLang="en-US" b="1">
                <a:solidFill>
                  <a:srgbClr val="000000"/>
                </a:solidFill>
                <a:latin typeface="Times New Roman" pitchFamily="18" charset="0"/>
                <a:ea typeface="华文中宋"/>
                <a:cs typeface="华文中宋"/>
                <a:sym typeface="Symbol" pitchFamily="18" charset="2"/>
              </a:rPr>
              <a:t>，即</a:t>
            </a:r>
            <a:r>
              <a:rPr lang="zh-CN" altLang="en-US" b="1">
                <a:solidFill>
                  <a:srgbClr val="000000"/>
                </a:solidFill>
                <a:latin typeface="Times New Roman" pitchFamily="18" charset="0"/>
                <a:ea typeface="华文中宋"/>
                <a:cs typeface="华文中宋"/>
              </a:rPr>
              <a:t>理想气体自由膨胀过程中</a:t>
            </a:r>
            <a:r>
              <a:rPr kumimoji="1" lang="zh-CN" altLang="en-US" b="1">
                <a:solidFill>
                  <a:srgbClr val="000000"/>
                </a:solidFill>
                <a:latin typeface="Times New Roman" pitchFamily="18" charset="0"/>
                <a:ea typeface="华文中宋"/>
                <a:cs typeface="华文中宋"/>
                <a:sym typeface="Symbol" pitchFamily="18" charset="2"/>
              </a:rPr>
              <a:t>熵是增加的。</a:t>
            </a:r>
          </a:p>
        </p:txBody>
      </p:sp>
      <p:sp>
        <p:nvSpPr>
          <p:cNvPr id="61459" name="Text Box 19"/>
          <p:cNvSpPr txBox="1">
            <a:spLocks noChangeArrowheads="1"/>
          </p:cNvSpPr>
          <p:nvPr/>
        </p:nvSpPr>
        <p:spPr bwMode="auto">
          <a:xfrm>
            <a:off x="730250" y="3495675"/>
            <a:ext cx="5065713" cy="368300"/>
          </a:xfrm>
          <a:prstGeom prst="rect">
            <a:avLst/>
          </a:prstGeom>
          <a:noFill/>
          <a:ln w="9525">
            <a:noFill/>
            <a:miter lim="800000"/>
            <a:headEnd/>
            <a:tailEnd/>
          </a:ln>
        </p:spPr>
        <p:txBody>
          <a:bodyPr>
            <a:spAutoFit/>
          </a:bodyPr>
          <a:lstStyle/>
          <a:p>
            <a:r>
              <a:rPr kumimoji="1" lang="zh-CN" altLang="en-US" b="1">
                <a:solidFill>
                  <a:srgbClr val="FF0000"/>
                </a:solidFill>
                <a:latin typeface="Times New Roman" pitchFamily="18" charset="0"/>
                <a:ea typeface="华文中宋"/>
                <a:cs typeface="华文中宋"/>
              </a:rPr>
              <a:t>热力学概率较小的状态到热力学概率较大的状态</a:t>
            </a:r>
          </a:p>
        </p:txBody>
      </p:sp>
      <p:sp>
        <p:nvSpPr>
          <p:cNvPr id="61460" name="Rectangle 20"/>
          <p:cNvSpPr>
            <a:spLocks noChangeArrowheads="1"/>
          </p:cNvSpPr>
          <p:nvPr/>
        </p:nvSpPr>
        <p:spPr bwMode="auto">
          <a:xfrm>
            <a:off x="755650" y="3895725"/>
            <a:ext cx="4464050" cy="368300"/>
          </a:xfrm>
          <a:prstGeom prst="rect">
            <a:avLst/>
          </a:prstGeom>
          <a:noFill/>
          <a:ln w="9525">
            <a:noFill/>
            <a:miter lim="800000"/>
            <a:headEnd/>
            <a:tailEnd/>
          </a:ln>
        </p:spPr>
        <p:txBody>
          <a:bodyPr>
            <a:spAutoFit/>
          </a:bodyPr>
          <a:lstStyle/>
          <a:p>
            <a:r>
              <a:rPr lang="zh-CN" altLang="en-US" b="1">
                <a:solidFill>
                  <a:srgbClr val="FF0000"/>
                </a:solidFill>
                <a:latin typeface="华文中宋"/>
                <a:ea typeface="华文中宋"/>
                <a:cs typeface="华文中宋"/>
              </a:rPr>
              <a:t>热力学概率增大的方向（或熵增加的方向）</a:t>
            </a:r>
          </a:p>
        </p:txBody>
      </p:sp>
      <p:sp>
        <p:nvSpPr>
          <p:cNvPr id="61458" name="Text Box 18"/>
          <p:cNvSpPr txBox="1">
            <a:spLocks noChangeArrowheads="1"/>
          </p:cNvSpPr>
          <p:nvPr/>
        </p:nvSpPr>
        <p:spPr bwMode="auto">
          <a:xfrm>
            <a:off x="466725" y="2571750"/>
            <a:ext cx="7634288" cy="923925"/>
          </a:xfrm>
          <a:prstGeom prst="rect">
            <a:avLst/>
          </a:prstGeom>
          <a:noFill/>
          <a:ln w="9525">
            <a:noFill/>
            <a:miter lim="800000"/>
            <a:headEnd/>
            <a:tailEnd/>
          </a:ln>
        </p:spPr>
        <p:txBody>
          <a:bodyPr>
            <a:spAutoFit/>
          </a:bodyPr>
          <a:lstStyle/>
          <a:p>
            <a:r>
              <a:rPr kumimoji="1" lang="zh-CN" altLang="en-US" b="1">
                <a:solidFill>
                  <a:srgbClr val="0000FF"/>
                </a:solidFill>
                <a:latin typeface="华文中宋"/>
                <a:ea typeface="华文中宋"/>
                <a:cs typeface="华文中宋"/>
              </a:rPr>
              <a:t>例   从统计的意义来解释：</a:t>
            </a:r>
          </a:p>
          <a:p>
            <a:r>
              <a:rPr kumimoji="1" lang="zh-CN" altLang="en-US" b="1">
                <a:solidFill>
                  <a:srgbClr val="0000FF"/>
                </a:solidFill>
                <a:latin typeface="华文中宋"/>
                <a:ea typeface="华文中宋"/>
                <a:cs typeface="华文中宋"/>
              </a:rPr>
              <a:t>不可逆过程实质上是一个</a:t>
            </a:r>
            <a:r>
              <a:rPr kumimoji="1" lang="en-US" altLang="zh-CN" b="1" baseline="-25000">
                <a:solidFill>
                  <a:srgbClr val="0000FF"/>
                </a:solidFill>
                <a:latin typeface="华文中宋"/>
                <a:ea typeface="华文中宋"/>
                <a:cs typeface="华文中宋"/>
              </a:rPr>
              <a:t>_____________________  </a:t>
            </a:r>
            <a:r>
              <a:rPr kumimoji="1" lang="zh-CN" altLang="en-US" b="1">
                <a:solidFill>
                  <a:srgbClr val="0000FF"/>
                </a:solidFill>
                <a:latin typeface="华文中宋"/>
                <a:ea typeface="华文中宋"/>
                <a:cs typeface="华文中宋"/>
              </a:rPr>
              <a:t>的转变过程</a:t>
            </a:r>
            <a:r>
              <a:rPr kumimoji="1" lang="en-US" altLang="zh-CN" b="1">
                <a:solidFill>
                  <a:srgbClr val="0000FF"/>
                </a:solidFill>
                <a:latin typeface="华文中宋"/>
                <a:ea typeface="华文中宋"/>
                <a:cs typeface="华文中宋"/>
              </a:rPr>
              <a:t>.</a:t>
            </a:r>
            <a:endParaRPr kumimoji="1" lang="zh-CN" altLang="en-US" b="1">
              <a:solidFill>
                <a:srgbClr val="0000FF"/>
              </a:solidFill>
              <a:latin typeface="华文中宋"/>
              <a:ea typeface="华文中宋"/>
              <a:cs typeface="华文中宋"/>
            </a:endParaRPr>
          </a:p>
          <a:p>
            <a:r>
              <a:rPr kumimoji="1" lang="zh-CN" altLang="en-US" b="1">
                <a:solidFill>
                  <a:srgbClr val="0000FF"/>
                </a:solidFill>
                <a:latin typeface="华文中宋"/>
                <a:ea typeface="华文中宋"/>
                <a:cs typeface="华文中宋"/>
              </a:rPr>
              <a:t>一切实际过程都向着</a:t>
            </a:r>
            <a:r>
              <a:rPr kumimoji="1" lang="en-US" altLang="zh-CN" b="1" baseline="-25000">
                <a:solidFill>
                  <a:srgbClr val="0000FF"/>
                </a:solidFill>
                <a:latin typeface="华文中宋"/>
                <a:ea typeface="华文中宋"/>
                <a:cs typeface="华文中宋"/>
              </a:rPr>
              <a:t>_____________________ </a:t>
            </a:r>
            <a:r>
              <a:rPr kumimoji="1" lang="zh-CN" altLang="en-US" b="1">
                <a:solidFill>
                  <a:srgbClr val="0000FF"/>
                </a:solidFill>
                <a:latin typeface="华文中宋"/>
                <a:ea typeface="华文中宋"/>
                <a:cs typeface="华文中宋"/>
              </a:rPr>
              <a:t>的方向进行</a:t>
            </a:r>
            <a:r>
              <a:rPr kumimoji="1" lang="en-US" altLang="zh-CN" b="1">
                <a:solidFill>
                  <a:srgbClr val="0000FF"/>
                </a:solidFill>
                <a:latin typeface="华文中宋"/>
                <a:ea typeface="华文中宋"/>
                <a:cs typeface="华文中宋"/>
              </a:rPr>
              <a:t>.</a:t>
            </a:r>
            <a:endParaRPr kumimoji="1" lang="zh-CN" altLang="en-US" b="1">
              <a:solidFill>
                <a:srgbClr val="0000FF"/>
              </a:solidFill>
              <a:latin typeface="华文中宋"/>
              <a:ea typeface="华文中宋"/>
              <a:cs typeface="华文中宋"/>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61445"/>
                                        </p:tgtEl>
                                        <p:attrNameLst>
                                          <p:attrName>style.visibility</p:attrName>
                                        </p:attrNameLst>
                                      </p:cBhvr>
                                      <p:to>
                                        <p:strVal val="visible"/>
                                      </p:to>
                                    </p:set>
                                    <p:animEffect transition="in" filter="box(in)">
                                      <p:cBhvr>
                                        <p:cTn id="7" dur="500"/>
                                        <p:tgtEl>
                                          <p:spTgt spid="6144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61451"/>
                                        </p:tgtEl>
                                        <p:attrNameLst>
                                          <p:attrName>style.visibility</p:attrName>
                                        </p:attrNameLst>
                                      </p:cBhvr>
                                      <p:to>
                                        <p:strVal val="visible"/>
                                      </p:to>
                                    </p:set>
                                    <p:animEffect transition="in" filter="box(in)">
                                      <p:cBhvr>
                                        <p:cTn id="12" dur="500"/>
                                        <p:tgtEl>
                                          <p:spTgt spid="6145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61456"/>
                                        </p:tgtEl>
                                        <p:attrNameLst>
                                          <p:attrName>style.visibility</p:attrName>
                                        </p:attrNameLst>
                                      </p:cBhvr>
                                      <p:to>
                                        <p:strVal val="visible"/>
                                      </p:to>
                                    </p:set>
                                    <p:animEffect transition="in" filter="box(in)">
                                      <p:cBhvr>
                                        <p:cTn id="17" dur="500"/>
                                        <p:tgtEl>
                                          <p:spTgt spid="6145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1458"/>
                                        </p:tgtEl>
                                        <p:attrNameLst>
                                          <p:attrName>style.visibility</p:attrName>
                                        </p:attrNameLst>
                                      </p:cBhvr>
                                      <p:to>
                                        <p:strVal val="visible"/>
                                      </p:to>
                                    </p:set>
                                    <p:animEffect transition="in" filter="wipe(left)">
                                      <p:cBhvr>
                                        <p:cTn id="22" dur="500"/>
                                        <p:tgtEl>
                                          <p:spTgt spid="61458"/>
                                        </p:tgtEl>
                                      </p:cBhvr>
                                    </p:animEffect>
                                  </p:childTnLst>
                                </p:cTn>
                              </p:par>
                            </p:childTnLst>
                          </p:cTn>
                        </p:par>
                      </p:childTnLst>
                    </p:cTn>
                  </p:par>
                  <p:par>
                    <p:cTn id="23" fill="hold">
                      <p:stCondLst>
                        <p:cond delay="indefinite"/>
                      </p:stCondLst>
                      <p:childTnLst>
                        <p:par>
                          <p:cTn id="24" fill="hold">
                            <p:stCondLst>
                              <p:cond delay="0"/>
                            </p:stCondLst>
                            <p:childTnLst>
                              <p:par>
                                <p:cTn id="25" presetID="17" presetClass="entr" presetSubtype="10" fill="hold" grpId="0" nodeType="clickEffect">
                                  <p:stCondLst>
                                    <p:cond delay="0"/>
                                  </p:stCondLst>
                                  <p:childTnLst>
                                    <p:set>
                                      <p:cBhvr>
                                        <p:cTn id="26" dur="1" fill="hold">
                                          <p:stCondLst>
                                            <p:cond delay="0"/>
                                          </p:stCondLst>
                                        </p:cTn>
                                        <p:tgtEl>
                                          <p:spTgt spid="61459"/>
                                        </p:tgtEl>
                                        <p:attrNameLst>
                                          <p:attrName>style.visibility</p:attrName>
                                        </p:attrNameLst>
                                      </p:cBhvr>
                                      <p:to>
                                        <p:strVal val="visible"/>
                                      </p:to>
                                    </p:set>
                                    <p:anim calcmode="lin" valueType="num">
                                      <p:cBhvr>
                                        <p:cTn id="27" dur="500" fill="hold"/>
                                        <p:tgtEl>
                                          <p:spTgt spid="61459"/>
                                        </p:tgtEl>
                                        <p:attrNameLst>
                                          <p:attrName>ppt_w</p:attrName>
                                        </p:attrNameLst>
                                      </p:cBhvr>
                                      <p:tavLst>
                                        <p:tav tm="0">
                                          <p:val>
                                            <p:fltVal val="0"/>
                                          </p:val>
                                        </p:tav>
                                        <p:tav tm="100000">
                                          <p:val>
                                            <p:strVal val="#ppt_w"/>
                                          </p:val>
                                        </p:tav>
                                      </p:tavLst>
                                    </p:anim>
                                    <p:anim calcmode="lin" valueType="num">
                                      <p:cBhvr>
                                        <p:cTn id="28" dur="500" fill="hold"/>
                                        <p:tgtEl>
                                          <p:spTgt spid="61459"/>
                                        </p:tgtEl>
                                        <p:attrNameLst>
                                          <p:attrName>ppt_h</p:attrName>
                                        </p:attrNameLst>
                                      </p:cBhvr>
                                      <p:tavLst>
                                        <p:tav tm="0">
                                          <p:val>
                                            <p:strVal val="#ppt_h"/>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31" presetID="17" presetClass="entr" presetSubtype="10" fill="hold" grpId="0" nodeType="clickEffect">
                                  <p:stCondLst>
                                    <p:cond delay="0"/>
                                  </p:stCondLst>
                                  <p:childTnLst>
                                    <p:set>
                                      <p:cBhvr>
                                        <p:cTn id="32" dur="1" fill="hold">
                                          <p:stCondLst>
                                            <p:cond delay="0"/>
                                          </p:stCondLst>
                                        </p:cTn>
                                        <p:tgtEl>
                                          <p:spTgt spid="61460"/>
                                        </p:tgtEl>
                                        <p:attrNameLst>
                                          <p:attrName>style.visibility</p:attrName>
                                        </p:attrNameLst>
                                      </p:cBhvr>
                                      <p:to>
                                        <p:strVal val="visible"/>
                                      </p:to>
                                    </p:set>
                                    <p:anim calcmode="lin" valueType="num">
                                      <p:cBhvr>
                                        <p:cTn id="33" dur="500" fill="hold"/>
                                        <p:tgtEl>
                                          <p:spTgt spid="61460"/>
                                        </p:tgtEl>
                                        <p:attrNameLst>
                                          <p:attrName>ppt_w</p:attrName>
                                        </p:attrNameLst>
                                      </p:cBhvr>
                                      <p:tavLst>
                                        <p:tav tm="0">
                                          <p:val>
                                            <p:fltVal val="0"/>
                                          </p:val>
                                        </p:tav>
                                        <p:tav tm="100000">
                                          <p:val>
                                            <p:strVal val="#ppt_w"/>
                                          </p:val>
                                        </p:tav>
                                      </p:tavLst>
                                    </p:anim>
                                    <p:anim calcmode="lin" valueType="num">
                                      <p:cBhvr>
                                        <p:cTn id="34" dur="500" fill="hold"/>
                                        <p:tgtEl>
                                          <p:spTgt spid="61460"/>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5" grpId="0" autoUpdateAnimBg="0"/>
      <p:bldP spid="61456" grpId="0" autoUpdateAnimBg="0"/>
      <p:bldP spid="61459" grpId="0" autoUpdateAnimBg="0"/>
      <p:bldP spid="61460" grpId="0" autoUpdateAnimBg="0"/>
      <p:bldP spid="61458"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9" name="Text Box 3"/>
          <p:cNvSpPr txBox="1">
            <a:spLocks noChangeArrowheads="1"/>
          </p:cNvSpPr>
          <p:nvPr/>
        </p:nvSpPr>
        <p:spPr bwMode="auto">
          <a:xfrm>
            <a:off x="539750" y="812800"/>
            <a:ext cx="3167063" cy="407988"/>
          </a:xfrm>
          <a:prstGeom prst="rect">
            <a:avLst/>
          </a:prstGeom>
          <a:noFill/>
          <a:ln w="9525">
            <a:noFill/>
            <a:miter lim="800000"/>
            <a:headEnd/>
            <a:tailEnd/>
          </a:ln>
        </p:spPr>
        <p:txBody>
          <a:bodyPr>
            <a:spAutoFit/>
          </a:bodyPr>
          <a:lstStyle/>
          <a:p>
            <a:pPr>
              <a:lnSpc>
                <a:spcPct val="110000"/>
              </a:lnSpc>
            </a:pPr>
            <a:r>
              <a:rPr kumimoji="1" lang="en-US" altLang="zh-CN" sz="2000" b="1">
                <a:solidFill>
                  <a:srgbClr val="0000FF"/>
                </a:solidFill>
                <a:latin typeface="华文中宋"/>
                <a:ea typeface="华文中宋"/>
                <a:cs typeface="华文中宋"/>
              </a:rPr>
              <a:t> </a:t>
            </a:r>
            <a:r>
              <a:rPr kumimoji="1" lang="zh-CN" altLang="en-US" sz="2000" b="1">
                <a:solidFill>
                  <a:srgbClr val="0000FF"/>
                </a:solidFill>
                <a:latin typeface="华文中宋"/>
                <a:ea typeface="华文中宋"/>
                <a:cs typeface="华文中宋"/>
              </a:rPr>
              <a:t>一、概念</a:t>
            </a:r>
          </a:p>
        </p:txBody>
      </p:sp>
      <p:sp>
        <p:nvSpPr>
          <p:cNvPr id="219140" name="Text Box 4"/>
          <p:cNvSpPr txBox="1">
            <a:spLocks noChangeArrowheads="1"/>
          </p:cNvSpPr>
          <p:nvPr/>
        </p:nvSpPr>
        <p:spPr bwMode="auto">
          <a:xfrm>
            <a:off x="827088" y="3654425"/>
            <a:ext cx="2609850" cy="430213"/>
          </a:xfrm>
          <a:prstGeom prst="rect">
            <a:avLst/>
          </a:prstGeom>
          <a:noFill/>
          <a:ln w="9525">
            <a:noFill/>
            <a:miter lim="800000"/>
            <a:headEnd/>
            <a:tailEnd/>
          </a:ln>
        </p:spPr>
        <p:txBody>
          <a:bodyPr>
            <a:spAutoFit/>
          </a:bodyPr>
          <a:lstStyle/>
          <a:p>
            <a:pPr>
              <a:lnSpc>
                <a:spcPct val="110000"/>
              </a:lnSpc>
            </a:pPr>
            <a:r>
              <a:rPr kumimoji="1" lang="zh-CN" altLang="en-US" sz="2000" b="1">
                <a:solidFill>
                  <a:srgbClr val="0000FF"/>
                </a:solidFill>
                <a:latin typeface="Times New Roman" pitchFamily="18" charset="0"/>
                <a:ea typeface="华文中宋"/>
                <a:cs typeface="华文中宋"/>
              </a:rPr>
              <a:t>二、规律</a:t>
            </a:r>
          </a:p>
        </p:txBody>
      </p:sp>
      <p:sp>
        <p:nvSpPr>
          <p:cNvPr id="44" name="Text Box 4"/>
          <p:cNvSpPr txBox="1">
            <a:spLocks noChangeArrowheads="1"/>
          </p:cNvSpPr>
          <p:nvPr/>
        </p:nvSpPr>
        <p:spPr bwMode="auto">
          <a:xfrm>
            <a:off x="4933950" y="1676400"/>
            <a:ext cx="587375" cy="369888"/>
          </a:xfrm>
          <a:prstGeom prst="rect">
            <a:avLst/>
          </a:prstGeom>
          <a:noFill/>
          <a:ln w="9525">
            <a:noFill/>
            <a:miter lim="800000"/>
            <a:headEnd/>
            <a:tailEnd/>
          </a:ln>
        </p:spPr>
        <p:txBody>
          <a:bodyPr>
            <a:spAutoFit/>
          </a:bodyPr>
          <a:lstStyle/>
          <a:p>
            <a:pPr marL="457200" indent="-457200" algn="just" eaLnBrk="0" hangingPunct="0">
              <a:buFont typeface="Arial" charset="0"/>
              <a:buNone/>
            </a:pPr>
            <a:r>
              <a:rPr lang="zh-CN" altLang="zh-CN" b="1">
                <a:solidFill>
                  <a:srgbClr val="000000"/>
                </a:solidFill>
                <a:latin typeface="华文中宋"/>
                <a:ea typeface="华文中宋"/>
                <a:cs typeface="华文中宋"/>
              </a:rPr>
              <a:t>功 </a:t>
            </a:r>
            <a:endParaRPr lang="zh-CN" altLang="zh-CN" b="1">
              <a:solidFill>
                <a:srgbClr val="000000"/>
              </a:solidFill>
              <a:latin typeface="华文中宋"/>
              <a:ea typeface="华文中宋"/>
              <a:cs typeface="Times New Roman" pitchFamily="18" charset="0"/>
            </a:endParaRPr>
          </a:p>
        </p:txBody>
      </p:sp>
      <p:graphicFrame>
        <p:nvGraphicFramePr>
          <p:cNvPr id="45" name="Object 22"/>
          <p:cNvGraphicFramePr>
            <a:graphicFrameLocks noChangeAspect="1"/>
          </p:cNvGraphicFramePr>
          <p:nvPr/>
        </p:nvGraphicFramePr>
        <p:xfrm>
          <a:off x="5737225" y="1624013"/>
          <a:ext cx="1541463" cy="506412"/>
        </p:xfrm>
        <a:graphic>
          <a:graphicData uri="http://schemas.openxmlformats.org/presentationml/2006/ole">
            <p:oleObj spid="_x0000_s47126" name="Equation" r:id="rId3" imgW="812520" imgH="355320" progId="Equation.DSMT4">
              <p:embed/>
            </p:oleObj>
          </a:graphicData>
        </a:graphic>
      </p:graphicFrame>
      <p:sp>
        <p:nvSpPr>
          <p:cNvPr id="51" name="Text Box 7"/>
          <p:cNvSpPr txBox="1">
            <a:spLocks noChangeArrowheads="1"/>
          </p:cNvSpPr>
          <p:nvPr/>
        </p:nvSpPr>
        <p:spPr bwMode="auto">
          <a:xfrm>
            <a:off x="1703388" y="2249488"/>
            <a:ext cx="996950" cy="376237"/>
          </a:xfrm>
          <a:prstGeom prst="rect">
            <a:avLst/>
          </a:prstGeom>
          <a:noFill/>
          <a:ln w="9525">
            <a:noFill/>
            <a:miter lim="800000"/>
            <a:headEnd/>
            <a:tailEnd/>
          </a:ln>
        </p:spPr>
        <p:txBody>
          <a:bodyPr>
            <a:spAutoFit/>
          </a:bodyPr>
          <a:lstStyle/>
          <a:p>
            <a:pPr marL="457200" indent="-457200">
              <a:lnSpc>
                <a:spcPct val="110000"/>
              </a:lnSpc>
              <a:buFont typeface="Arial" charset="0"/>
              <a:buNone/>
            </a:pPr>
            <a:r>
              <a:rPr lang="zh-CN" altLang="zh-CN" b="1">
                <a:solidFill>
                  <a:srgbClr val="000000"/>
                </a:solidFill>
                <a:latin typeface="华文中宋"/>
                <a:ea typeface="华文中宋"/>
                <a:cs typeface="华文中宋"/>
              </a:rPr>
              <a:t>热量</a:t>
            </a:r>
            <a:endParaRPr kumimoji="1" lang="zh-CN" altLang="en-US" b="1">
              <a:solidFill>
                <a:srgbClr val="000000"/>
              </a:solidFill>
              <a:latin typeface="华文中宋"/>
              <a:ea typeface="华文中宋"/>
              <a:cs typeface="华文中宋"/>
            </a:endParaRPr>
          </a:p>
        </p:txBody>
      </p:sp>
      <p:graphicFrame>
        <p:nvGraphicFramePr>
          <p:cNvPr id="56" name="Object 23"/>
          <p:cNvGraphicFramePr>
            <a:graphicFrameLocks noChangeAspect="1"/>
          </p:cNvGraphicFramePr>
          <p:nvPr/>
        </p:nvGraphicFramePr>
        <p:xfrm>
          <a:off x="2720975" y="2227263"/>
          <a:ext cx="1490663" cy="560387"/>
        </p:xfrm>
        <a:graphic>
          <a:graphicData uri="http://schemas.openxmlformats.org/presentationml/2006/ole">
            <p:oleObj spid="_x0000_s47127" name="Equation" r:id="rId4" imgW="774360" imgH="355320" progId="Equation.DSMT4">
              <p:embed/>
            </p:oleObj>
          </a:graphicData>
        </a:graphic>
      </p:graphicFrame>
      <p:graphicFrame>
        <p:nvGraphicFramePr>
          <p:cNvPr id="63" name="Object 24"/>
          <p:cNvGraphicFramePr>
            <a:graphicFrameLocks noChangeAspect="1"/>
          </p:cNvGraphicFramePr>
          <p:nvPr/>
        </p:nvGraphicFramePr>
        <p:xfrm>
          <a:off x="6011863" y="2201863"/>
          <a:ext cx="1008062" cy="571500"/>
        </p:xfrm>
        <a:graphic>
          <a:graphicData uri="http://schemas.openxmlformats.org/presentationml/2006/ole">
            <p:oleObj spid="_x0000_s47128" name="Equation" r:id="rId5" imgW="520560" imgH="393480" progId="Equation.DSMT4">
              <p:embed/>
            </p:oleObj>
          </a:graphicData>
        </a:graphic>
      </p:graphicFrame>
      <p:sp>
        <p:nvSpPr>
          <p:cNvPr id="64" name="Text Box 8"/>
          <p:cNvSpPr txBox="1">
            <a:spLocks noChangeArrowheads="1"/>
          </p:cNvSpPr>
          <p:nvPr/>
        </p:nvSpPr>
        <p:spPr bwMode="auto">
          <a:xfrm>
            <a:off x="4716463" y="2217738"/>
            <a:ext cx="1098550" cy="376237"/>
          </a:xfrm>
          <a:prstGeom prst="rect">
            <a:avLst/>
          </a:prstGeom>
          <a:noFill/>
          <a:ln w="9525">
            <a:noFill/>
            <a:miter lim="800000"/>
            <a:headEnd/>
            <a:tailEnd/>
          </a:ln>
        </p:spPr>
        <p:txBody>
          <a:bodyPr>
            <a:spAutoFit/>
          </a:bodyPr>
          <a:lstStyle/>
          <a:p>
            <a:pPr eaLnBrk="0" hangingPunct="0">
              <a:lnSpc>
                <a:spcPct val="110000"/>
              </a:lnSpc>
            </a:pPr>
            <a:r>
              <a:rPr kumimoji="1" lang="zh-CN" altLang="en-US" b="1">
                <a:solidFill>
                  <a:srgbClr val="000000"/>
                </a:solidFill>
                <a:latin typeface="华文中宋"/>
                <a:ea typeface="华文中宋"/>
                <a:cs typeface="Times New Roman" pitchFamily="18" charset="0"/>
              </a:rPr>
              <a:t>热容量</a:t>
            </a:r>
          </a:p>
        </p:txBody>
      </p:sp>
      <p:sp>
        <p:nvSpPr>
          <p:cNvPr id="2" name="Text Box 3"/>
          <p:cNvSpPr txBox="1">
            <a:spLocks noChangeArrowheads="1"/>
          </p:cNvSpPr>
          <p:nvPr/>
        </p:nvSpPr>
        <p:spPr bwMode="auto">
          <a:xfrm>
            <a:off x="1258888" y="1192213"/>
            <a:ext cx="7129462" cy="376237"/>
          </a:xfrm>
          <a:prstGeom prst="rect">
            <a:avLst/>
          </a:prstGeom>
          <a:noFill/>
          <a:ln w="9525">
            <a:noFill/>
            <a:miter lim="800000"/>
            <a:headEnd/>
            <a:tailEnd/>
          </a:ln>
        </p:spPr>
        <p:txBody>
          <a:bodyPr>
            <a:spAutoFit/>
          </a:bodyPr>
          <a:lstStyle/>
          <a:p>
            <a:pPr>
              <a:lnSpc>
                <a:spcPct val="110000"/>
              </a:lnSpc>
            </a:pPr>
            <a:r>
              <a:rPr kumimoji="1" lang="zh-CN" altLang="en-US" b="1">
                <a:solidFill>
                  <a:srgbClr val="C00000"/>
                </a:solidFill>
                <a:latin typeface="华文中宋"/>
                <a:ea typeface="华文中宋"/>
                <a:cs typeface="华文中宋"/>
              </a:rPr>
              <a:t>功、热量、内能、准静态过程、热容量、熵</a:t>
            </a:r>
          </a:p>
        </p:txBody>
      </p:sp>
      <p:sp>
        <p:nvSpPr>
          <p:cNvPr id="3" name="Text Box 4"/>
          <p:cNvSpPr txBox="1">
            <a:spLocks noChangeArrowheads="1"/>
          </p:cNvSpPr>
          <p:nvPr/>
        </p:nvSpPr>
        <p:spPr bwMode="auto">
          <a:xfrm>
            <a:off x="1693863" y="1676400"/>
            <a:ext cx="892175" cy="369888"/>
          </a:xfrm>
          <a:prstGeom prst="rect">
            <a:avLst/>
          </a:prstGeom>
          <a:noFill/>
          <a:ln w="9525">
            <a:noFill/>
            <a:miter lim="800000"/>
            <a:headEnd/>
            <a:tailEnd/>
          </a:ln>
        </p:spPr>
        <p:txBody>
          <a:bodyPr>
            <a:spAutoFit/>
          </a:bodyPr>
          <a:lstStyle/>
          <a:p>
            <a:pPr marL="457200" indent="-457200" algn="just" eaLnBrk="0" hangingPunct="0">
              <a:buFont typeface="Arial" charset="0"/>
              <a:buNone/>
            </a:pPr>
            <a:r>
              <a:rPr lang="zh-CN" altLang="zh-CN" b="1">
                <a:solidFill>
                  <a:srgbClr val="000000"/>
                </a:solidFill>
                <a:latin typeface="华文中宋"/>
                <a:ea typeface="华文中宋"/>
                <a:cs typeface="华文中宋"/>
              </a:rPr>
              <a:t>内能 </a:t>
            </a:r>
            <a:endParaRPr lang="zh-CN" altLang="zh-CN" b="1">
              <a:solidFill>
                <a:srgbClr val="000000"/>
              </a:solidFill>
              <a:latin typeface="华文中宋"/>
              <a:ea typeface="华文中宋"/>
              <a:cs typeface="Times New Roman" pitchFamily="18" charset="0"/>
            </a:endParaRPr>
          </a:p>
        </p:txBody>
      </p:sp>
      <p:graphicFrame>
        <p:nvGraphicFramePr>
          <p:cNvPr id="4" name="Object 25"/>
          <p:cNvGraphicFramePr>
            <a:graphicFrameLocks noChangeAspect="1"/>
          </p:cNvGraphicFramePr>
          <p:nvPr/>
        </p:nvGraphicFramePr>
        <p:xfrm>
          <a:off x="2700338" y="1690688"/>
          <a:ext cx="1220787" cy="366712"/>
        </p:xfrm>
        <a:graphic>
          <a:graphicData uri="http://schemas.openxmlformats.org/presentationml/2006/ole">
            <p:oleObj spid="_x0000_s47129" name="公式" r:id="rId6" imgW="444114" imgH="177646" progId="Equation.3">
              <p:embed/>
            </p:oleObj>
          </a:graphicData>
        </a:graphic>
      </p:graphicFrame>
      <p:sp>
        <p:nvSpPr>
          <p:cNvPr id="5" name="Text Box 8"/>
          <p:cNvSpPr txBox="1">
            <a:spLocks noChangeArrowheads="1"/>
          </p:cNvSpPr>
          <p:nvPr/>
        </p:nvSpPr>
        <p:spPr bwMode="auto">
          <a:xfrm>
            <a:off x="2844800" y="2865438"/>
            <a:ext cx="2519363" cy="376237"/>
          </a:xfrm>
          <a:prstGeom prst="rect">
            <a:avLst/>
          </a:prstGeom>
          <a:noFill/>
          <a:ln w="9525">
            <a:noFill/>
            <a:miter lim="800000"/>
            <a:headEnd/>
            <a:tailEnd/>
          </a:ln>
        </p:spPr>
        <p:txBody>
          <a:bodyPr>
            <a:spAutoFit/>
          </a:bodyPr>
          <a:lstStyle/>
          <a:p>
            <a:pPr eaLnBrk="0" hangingPunct="0">
              <a:lnSpc>
                <a:spcPct val="110000"/>
              </a:lnSpc>
            </a:pPr>
            <a:r>
              <a:rPr kumimoji="1" lang="zh-CN" altLang="en-US" b="1">
                <a:solidFill>
                  <a:srgbClr val="000000"/>
                </a:solidFill>
                <a:latin typeface="华文中宋"/>
                <a:ea typeface="华文中宋"/>
                <a:cs typeface="Times New Roman" pitchFamily="18" charset="0"/>
              </a:rPr>
              <a:t>克劳修斯熵</a:t>
            </a:r>
          </a:p>
        </p:txBody>
      </p:sp>
      <p:sp>
        <p:nvSpPr>
          <p:cNvPr id="34" name="Text Box 2"/>
          <p:cNvSpPr txBox="1">
            <a:spLocks noChangeArrowheads="1"/>
          </p:cNvSpPr>
          <p:nvPr/>
        </p:nvSpPr>
        <p:spPr bwMode="auto">
          <a:xfrm>
            <a:off x="1258888" y="4140200"/>
            <a:ext cx="4430712" cy="376238"/>
          </a:xfrm>
          <a:prstGeom prst="rect">
            <a:avLst/>
          </a:prstGeom>
          <a:noFill/>
          <a:ln w="9525">
            <a:noFill/>
            <a:miter lim="800000"/>
            <a:headEnd/>
            <a:tailEnd/>
          </a:ln>
        </p:spPr>
        <p:txBody>
          <a:bodyPr>
            <a:spAutoFit/>
          </a:bodyPr>
          <a:lstStyle/>
          <a:p>
            <a:pPr>
              <a:lnSpc>
                <a:spcPct val="110000"/>
              </a:lnSpc>
            </a:pPr>
            <a:r>
              <a:rPr kumimoji="1" lang="en-US" altLang="zh-CN" b="1">
                <a:solidFill>
                  <a:srgbClr val="CC0000"/>
                </a:solidFill>
                <a:latin typeface="华文中宋"/>
                <a:ea typeface="华文中宋"/>
                <a:cs typeface="华文中宋"/>
              </a:rPr>
              <a:t>1</a:t>
            </a:r>
            <a:r>
              <a:rPr kumimoji="1" lang="zh-CN" altLang="en-US" b="1">
                <a:solidFill>
                  <a:srgbClr val="CC0000"/>
                </a:solidFill>
                <a:latin typeface="华文中宋"/>
                <a:ea typeface="华文中宋"/>
                <a:cs typeface="华文中宋"/>
              </a:rPr>
              <a:t>、热力学第一定律</a:t>
            </a:r>
          </a:p>
        </p:txBody>
      </p:sp>
      <p:sp>
        <p:nvSpPr>
          <p:cNvPr id="35" name="Text Box 3"/>
          <p:cNvSpPr txBox="1">
            <a:spLocks noChangeArrowheads="1"/>
          </p:cNvSpPr>
          <p:nvPr/>
        </p:nvSpPr>
        <p:spPr bwMode="auto">
          <a:xfrm>
            <a:off x="4557713" y="4114800"/>
            <a:ext cx="2101850" cy="374650"/>
          </a:xfrm>
          <a:prstGeom prst="rect">
            <a:avLst/>
          </a:prstGeom>
          <a:noFill/>
          <a:ln w="9525">
            <a:noFill/>
            <a:miter lim="800000"/>
            <a:headEnd/>
            <a:tailEnd/>
          </a:ln>
        </p:spPr>
        <p:txBody>
          <a:bodyPr>
            <a:spAutoFit/>
          </a:bodyPr>
          <a:lstStyle/>
          <a:p>
            <a:pPr>
              <a:lnSpc>
                <a:spcPct val="110000"/>
              </a:lnSpc>
            </a:pPr>
            <a:r>
              <a:rPr kumimoji="1" lang="en-US" altLang="zh-CN" b="1" i="1">
                <a:solidFill>
                  <a:srgbClr val="000000"/>
                </a:solidFill>
                <a:latin typeface="Times New Roman" pitchFamily="18" charset="0"/>
              </a:rPr>
              <a:t>Q </a:t>
            </a:r>
            <a:r>
              <a:rPr kumimoji="1" lang="en-US" altLang="zh-CN" b="1">
                <a:solidFill>
                  <a:srgbClr val="000000"/>
                </a:solidFill>
                <a:latin typeface="Times New Roman" pitchFamily="18" charset="0"/>
              </a:rPr>
              <a:t>= </a:t>
            </a:r>
            <a:r>
              <a:rPr kumimoji="1" lang="en-US" altLang="zh-CN" b="1">
                <a:solidFill>
                  <a:srgbClr val="000000"/>
                </a:solidFill>
                <a:latin typeface="Times New Roman" pitchFamily="18" charset="0"/>
                <a:sym typeface="Symbol" pitchFamily="18" charset="2"/>
              </a:rPr>
              <a:t></a:t>
            </a:r>
            <a:r>
              <a:rPr kumimoji="1" lang="en-US" altLang="zh-CN" b="1" i="1">
                <a:solidFill>
                  <a:srgbClr val="000000"/>
                </a:solidFill>
                <a:latin typeface="Times New Roman" pitchFamily="18" charset="0"/>
                <a:sym typeface="Symbol" pitchFamily="18" charset="2"/>
              </a:rPr>
              <a:t>E </a:t>
            </a:r>
            <a:r>
              <a:rPr kumimoji="1" lang="en-US" altLang="zh-CN" b="1">
                <a:solidFill>
                  <a:srgbClr val="000000"/>
                </a:solidFill>
                <a:latin typeface="Times New Roman" pitchFamily="18" charset="0"/>
                <a:sym typeface="Symbol" pitchFamily="18" charset="2"/>
              </a:rPr>
              <a:t>+</a:t>
            </a:r>
            <a:r>
              <a:rPr kumimoji="1" lang="en-US" altLang="zh-CN" b="1" i="1">
                <a:solidFill>
                  <a:srgbClr val="000000"/>
                </a:solidFill>
                <a:latin typeface="Times New Roman" pitchFamily="18" charset="0"/>
                <a:sym typeface="Symbol" pitchFamily="18" charset="2"/>
              </a:rPr>
              <a:t>W</a:t>
            </a:r>
            <a:endParaRPr kumimoji="1" lang="en-US" altLang="zh-CN" b="1">
              <a:solidFill>
                <a:srgbClr val="000000"/>
              </a:solidFill>
              <a:latin typeface="Times New Roman" pitchFamily="18" charset="0"/>
            </a:endParaRPr>
          </a:p>
        </p:txBody>
      </p:sp>
      <p:graphicFrame>
        <p:nvGraphicFramePr>
          <p:cNvPr id="216095" name="Object 26"/>
          <p:cNvGraphicFramePr>
            <a:graphicFrameLocks noChangeAspect="1"/>
          </p:cNvGraphicFramePr>
          <p:nvPr/>
        </p:nvGraphicFramePr>
        <p:xfrm>
          <a:off x="4860925" y="2811463"/>
          <a:ext cx="1655763" cy="576262"/>
        </p:xfrm>
        <a:graphic>
          <a:graphicData uri="http://schemas.openxmlformats.org/presentationml/2006/ole">
            <p:oleObj spid="_x0000_s47130" name="Equation" r:id="rId7" imgW="876240" imgH="406080" progId="Equation.DSMT4">
              <p:embed/>
            </p:oleObj>
          </a:graphicData>
        </a:graphic>
      </p:graphicFrame>
      <p:sp>
        <p:nvSpPr>
          <p:cNvPr id="216096" name="Rectangle 32"/>
          <p:cNvSpPr>
            <a:spLocks noChangeArrowheads="1"/>
          </p:cNvSpPr>
          <p:nvPr/>
        </p:nvSpPr>
        <p:spPr bwMode="auto">
          <a:xfrm>
            <a:off x="4860925" y="3406775"/>
            <a:ext cx="1244600" cy="369888"/>
          </a:xfrm>
          <a:prstGeom prst="rect">
            <a:avLst/>
          </a:prstGeom>
          <a:noFill/>
          <a:ln w="9525">
            <a:noFill/>
            <a:miter lim="800000"/>
            <a:headEnd/>
            <a:tailEnd/>
          </a:ln>
        </p:spPr>
        <p:txBody>
          <a:bodyPr>
            <a:spAutoFit/>
          </a:bodyPr>
          <a:lstStyle/>
          <a:p>
            <a:r>
              <a:rPr lang="en-US" altLang="zh-CN" b="1" i="1">
                <a:solidFill>
                  <a:srgbClr val="000000"/>
                </a:solidFill>
                <a:latin typeface="Calibri" pitchFamily="34" charset="0"/>
                <a:sym typeface="Symbol" pitchFamily="18" charset="2"/>
              </a:rPr>
              <a:t>S= k</a:t>
            </a:r>
            <a:r>
              <a:rPr lang="en-US" altLang="zh-CN" b="1">
                <a:solidFill>
                  <a:srgbClr val="000000"/>
                </a:solidFill>
                <a:latin typeface="Calibri" pitchFamily="34" charset="0"/>
                <a:sym typeface="Symbol" pitchFamily="18" charset="2"/>
              </a:rPr>
              <a:t>ln</a:t>
            </a:r>
            <a:r>
              <a:rPr lang="en-US" altLang="zh-CN" b="1" i="1">
                <a:solidFill>
                  <a:srgbClr val="000000"/>
                </a:solidFill>
                <a:latin typeface="Calibri" pitchFamily="34" charset="0"/>
                <a:sym typeface="Symbol" pitchFamily="18" charset="2"/>
              </a:rPr>
              <a:t></a:t>
            </a:r>
          </a:p>
        </p:txBody>
      </p:sp>
      <p:sp>
        <p:nvSpPr>
          <p:cNvPr id="6" name="Text Box 8"/>
          <p:cNvSpPr txBox="1">
            <a:spLocks noChangeArrowheads="1"/>
          </p:cNvSpPr>
          <p:nvPr/>
        </p:nvSpPr>
        <p:spPr bwMode="auto">
          <a:xfrm>
            <a:off x="2844800" y="3351213"/>
            <a:ext cx="2519363" cy="376237"/>
          </a:xfrm>
          <a:prstGeom prst="rect">
            <a:avLst/>
          </a:prstGeom>
          <a:noFill/>
          <a:ln w="9525">
            <a:noFill/>
            <a:miter lim="800000"/>
            <a:headEnd/>
            <a:tailEnd/>
          </a:ln>
        </p:spPr>
        <p:txBody>
          <a:bodyPr>
            <a:spAutoFit/>
          </a:bodyPr>
          <a:lstStyle/>
          <a:p>
            <a:pPr eaLnBrk="0" hangingPunct="0">
              <a:lnSpc>
                <a:spcPct val="110000"/>
              </a:lnSpc>
            </a:pPr>
            <a:r>
              <a:rPr kumimoji="1" lang="zh-CN" altLang="en-US" b="1">
                <a:solidFill>
                  <a:srgbClr val="000000"/>
                </a:solidFill>
                <a:latin typeface="华文中宋"/>
                <a:ea typeface="华文中宋"/>
                <a:cs typeface="Times New Roman" pitchFamily="18" charset="0"/>
              </a:rPr>
              <a:t>玻尔兹曼熵</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19139"/>
                                        </p:tgtEl>
                                        <p:attrNameLst>
                                          <p:attrName>style.visibility</p:attrName>
                                        </p:attrNameLst>
                                      </p:cBhvr>
                                      <p:to>
                                        <p:strVal val="visible"/>
                                      </p:to>
                                    </p:set>
                                    <p:animEffect transition="in" filter="wipe(left)">
                                      <p:cBhvr>
                                        <p:cTn id="7" dur="500"/>
                                        <p:tgtEl>
                                          <p:spTgt spid="21913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500"/>
                                        <p:tgtEl>
                                          <p:spTgt spid="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wipe(left)">
                                      <p:cBhvr>
                                        <p:cTn id="22" dur="500"/>
                                        <p:tgtEl>
                                          <p:spTgt spid="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44"/>
                                        </p:tgtEl>
                                        <p:attrNameLst>
                                          <p:attrName>style.visibility</p:attrName>
                                        </p:attrNameLst>
                                      </p:cBhvr>
                                      <p:to>
                                        <p:strVal val="visible"/>
                                      </p:to>
                                    </p:set>
                                    <p:animEffect transition="in" filter="wipe(left)">
                                      <p:cBhvr>
                                        <p:cTn id="27" dur="500"/>
                                        <p:tgtEl>
                                          <p:spTgt spid="4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45"/>
                                        </p:tgtEl>
                                        <p:attrNameLst>
                                          <p:attrName>style.visibility</p:attrName>
                                        </p:attrNameLst>
                                      </p:cBhvr>
                                      <p:to>
                                        <p:strVal val="visible"/>
                                      </p:to>
                                    </p:set>
                                    <p:animEffect transition="in" filter="wipe(left)">
                                      <p:cBhvr>
                                        <p:cTn id="32" dur="500"/>
                                        <p:tgtEl>
                                          <p:spTgt spid="45"/>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51"/>
                                        </p:tgtEl>
                                        <p:attrNameLst>
                                          <p:attrName>style.visibility</p:attrName>
                                        </p:attrNameLst>
                                      </p:cBhvr>
                                      <p:to>
                                        <p:strVal val="visible"/>
                                      </p:to>
                                    </p:set>
                                    <p:animEffect transition="in" filter="wipe(left)">
                                      <p:cBhvr>
                                        <p:cTn id="37" dur="500"/>
                                        <p:tgtEl>
                                          <p:spTgt spid="51"/>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56"/>
                                        </p:tgtEl>
                                        <p:attrNameLst>
                                          <p:attrName>style.visibility</p:attrName>
                                        </p:attrNameLst>
                                      </p:cBhvr>
                                      <p:to>
                                        <p:strVal val="visible"/>
                                      </p:to>
                                    </p:set>
                                    <p:animEffect transition="in" filter="wipe(left)">
                                      <p:cBhvr>
                                        <p:cTn id="42" dur="500"/>
                                        <p:tgtEl>
                                          <p:spTgt spid="56"/>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64"/>
                                        </p:tgtEl>
                                        <p:attrNameLst>
                                          <p:attrName>style.visibility</p:attrName>
                                        </p:attrNameLst>
                                      </p:cBhvr>
                                      <p:to>
                                        <p:strVal val="visible"/>
                                      </p:to>
                                    </p:set>
                                    <p:animEffect transition="in" filter="wipe(left)">
                                      <p:cBhvr>
                                        <p:cTn id="47" dur="500"/>
                                        <p:tgtEl>
                                          <p:spTgt spid="64"/>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63"/>
                                        </p:tgtEl>
                                        <p:attrNameLst>
                                          <p:attrName>style.visibility</p:attrName>
                                        </p:attrNameLst>
                                      </p:cBhvr>
                                      <p:to>
                                        <p:strVal val="visible"/>
                                      </p:to>
                                    </p:set>
                                    <p:animEffect transition="in" filter="wipe(left)">
                                      <p:cBhvr>
                                        <p:cTn id="52" dur="500"/>
                                        <p:tgtEl>
                                          <p:spTgt spid="63"/>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5"/>
                                        </p:tgtEl>
                                        <p:attrNameLst>
                                          <p:attrName>style.visibility</p:attrName>
                                        </p:attrNameLst>
                                      </p:cBhvr>
                                      <p:to>
                                        <p:strVal val="visible"/>
                                      </p:to>
                                    </p:set>
                                    <p:animEffect transition="in" filter="wipe(left)">
                                      <p:cBhvr>
                                        <p:cTn id="57" dur="500"/>
                                        <p:tgtEl>
                                          <p:spTgt spid="5"/>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3" presetClass="entr" presetSubtype="10" fill="hold" nodeType="clickEffect">
                                  <p:stCondLst>
                                    <p:cond delay="0"/>
                                  </p:stCondLst>
                                  <p:childTnLst>
                                    <p:set>
                                      <p:cBhvr>
                                        <p:cTn id="61" dur="1" fill="hold">
                                          <p:stCondLst>
                                            <p:cond delay="0"/>
                                          </p:stCondLst>
                                        </p:cTn>
                                        <p:tgtEl>
                                          <p:spTgt spid="216095"/>
                                        </p:tgtEl>
                                        <p:attrNameLst>
                                          <p:attrName>style.visibility</p:attrName>
                                        </p:attrNameLst>
                                      </p:cBhvr>
                                      <p:to>
                                        <p:strVal val="visible"/>
                                      </p:to>
                                    </p:set>
                                    <p:animEffect transition="in" filter="blinds(horizontal)">
                                      <p:cBhvr>
                                        <p:cTn id="62" dur="500"/>
                                        <p:tgtEl>
                                          <p:spTgt spid="216095"/>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6"/>
                                        </p:tgtEl>
                                        <p:attrNameLst>
                                          <p:attrName>style.visibility</p:attrName>
                                        </p:attrNameLst>
                                      </p:cBhvr>
                                      <p:to>
                                        <p:strVal val="visible"/>
                                      </p:to>
                                    </p:set>
                                    <p:animEffect transition="in" filter="wipe(left)">
                                      <p:cBhvr>
                                        <p:cTn id="67" dur="500"/>
                                        <p:tgtEl>
                                          <p:spTgt spid="6"/>
                                        </p:tgtEl>
                                      </p:cBhvr>
                                    </p:animEffect>
                                  </p:childTnLst>
                                </p:cTn>
                              </p:par>
                              <p:par>
                                <p:cTn id="68" presetID="3" presetClass="entr" presetSubtype="10" fill="hold" grpId="0" nodeType="withEffect">
                                  <p:stCondLst>
                                    <p:cond delay="0"/>
                                  </p:stCondLst>
                                  <p:childTnLst>
                                    <p:set>
                                      <p:cBhvr>
                                        <p:cTn id="69" dur="1" fill="hold">
                                          <p:stCondLst>
                                            <p:cond delay="0"/>
                                          </p:stCondLst>
                                        </p:cTn>
                                        <p:tgtEl>
                                          <p:spTgt spid="216096"/>
                                        </p:tgtEl>
                                        <p:attrNameLst>
                                          <p:attrName>style.visibility</p:attrName>
                                        </p:attrNameLst>
                                      </p:cBhvr>
                                      <p:to>
                                        <p:strVal val="visible"/>
                                      </p:to>
                                    </p:set>
                                    <p:animEffect transition="in" filter="blinds(horizontal)">
                                      <p:cBhvr>
                                        <p:cTn id="70" dur="500"/>
                                        <p:tgtEl>
                                          <p:spTgt spid="216096"/>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22" presetClass="entr" presetSubtype="8" fill="hold" grpId="0" nodeType="clickEffect">
                                  <p:stCondLst>
                                    <p:cond delay="0"/>
                                  </p:stCondLst>
                                  <p:childTnLst>
                                    <p:set>
                                      <p:cBhvr>
                                        <p:cTn id="74" dur="1" fill="hold">
                                          <p:stCondLst>
                                            <p:cond delay="0"/>
                                          </p:stCondLst>
                                        </p:cTn>
                                        <p:tgtEl>
                                          <p:spTgt spid="219140"/>
                                        </p:tgtEl>
                                        <p:attrNameLst>
                                          <p:attrName>style.visibility</p:attrName>
                                        </p:attrNameLst>
                                      </p:cBhvr>
                                      <p:to>
                                        <p:strVal val="visible"/>
                                      </p:to>
                                    </p:set>
                                    <p:animEffect transition="in" filter="wipe(left)">
                                      <p:cBhvr>
                                        <p:cTn id="75" dur="500"/>
                                        <p:tgtEl>
                                          <p:spTgt spid="219140"/>
                                        </p:tgtEl>
                                      </p:cBhvr>
                                    </p:animEffect>
                                  </p:childTnLst>
                                </p:cTn>
                              </p:par>
                            </p:childTnLst>
                          </p:cTn>
                        </p:par>
                      </p:childTnLst>
                    </p:cTn>
                  </p:par>
                  <p:par>
                    <p:cTn id="76" fill="hold" nodeType="clickPar">
                      <p:stCondLst>
                        <p:cond delay="indefinite"/>
                      </p:stCondLst>
                      <p:childTnLst>
                        <p:par>
                          <p:cTn id="77" fill="hold" nodeType="withGroup">
                            <p:stCondLst>
                              <p:cond delay="0"/>
                            </p:stCondLst>
                            <p:childTnLst>
                              <p:par>
                                <p:cTn id="78" presetID="22" presetClass="entr" presetSubtype="8" fill="hold" grpId="0" nodeType="clickEffect">
                                  <p:stCondLst>
                                    <p:cond delay="0"/>
                                  </p:stCondLst>
                                  <p:childTnLst>
                                    <p:set>
                                      <p:cBhvr>
                                        <p:cTn id="79" dur="1" fill="hold">
                                          <p:stCondLst>
                                            <p:cond delay="0"/>
                                          </p:stCondLst>
                                        </p:cTn>
                                        <p:tgtEl>
                                          <p:spTgt spid="34"/>
                                        </p:tgtEl>
                                        <p:attrNameLst>
                                          <p:attrName>style.visibility</p:attrName>
                                        </p:attrNameLst>
                                      </p:cBhvr>
                                      <p:to>
                                        <p:strVal val="visible"/>
                                      </p:to>
                                    </p:set>
                                    <p:animEffect transition="in" filter="wipe(left)">
                                      <p:cBhvr>
                                        <p:cTn id="80" dur="500"/>
                                        <p:tgtEl>
                                          <p:spTgt spid="34"/>
                                        </p:tgtEl>
                                      </p:cBhvr>
                                    </p:animEffect>
                                  </p:childTnLst>
                                </p:cTn>
                              </p:par>
                            </p:childTnLst>
                          </p:cTn>
                        </p:par>
                      </p:childTnLst>
                    </p:cTn>
                  </p:par>
                  <p:par>
                    <p:cTn id="81" fill="hold" nodeType="clickPar">
                      <p:stCondLst>
                        <p:cond delay="indefinite"/>
                      </p:stCondLst>
                      <p:childTnLst>
                        <p:par>
                          <p:cTn id="82" fill="hold" nodeType="withGroup">
                            <p:stCondLst>
                              <p:cond delay="0"/>
                            </p:stCondLst>
                            <p:childTnLst>
                              <p:par>
                                <p:cTn id="83" presetID="22" presetClass="entr" presetSubtype="8" fill="hold" grpId="0" nodeType="clickEffect">
                                  <p:stCondLst>
                                    <p:cond delay="0"/>
                                  </p:stCondLst>
                                  <p:childTnLst>
                                    <p:set>
                                      <p:cBhvr>
                                        <p:cTn id="84" dur="1" fill="hold">
                                          <p:stCondLst>
                                            <p:cond delay="0"/>
                                          </p:stCondLst>
                                        </p:cTn>
                                        <p:tgtEl>
                                          <p:spTgt spid="35"/>
                                        </p:tgtEl>
                                        <p:attrNameLst>
                                          <p:attrName>style.visibility</p:attrName>
                                        </p:attrNameLst>
                                      </p:cBhvr>
                                      <p:to>
                                        <p:strVal val="visible"/>
                                      </p:to>
                                    </p:set>
                                    <p:animEffect transition="in" filter="wipe(left)">
                                      <p:cBhvr>
                                        <p:cTn id="85"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9139" grpId="0"/>
      <p:bldP spid="219140" grpId="0" autoUpdateAnimBg="0"/>
      <p:bldP spid="44" grpId="0"/>
      <p:bldP spid="51" grpId="0"/>
      <p:bldP spid="64" grpId="0"/>
      <p:bldP spid="2" grpId="0"/>
      <p:bldP spid="3" grpId="0"/>
      <p:bldP spid="5" grpId="0"/>
      <p:bldP spid="34" grpId="0"/>
      <p:bldP spid="35" grpId="0"/>
      <p:bldP spid="216096" grpId="0"/>
      <p:bldP spid="6"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ext Box 12"/>
          <p:cNvSpPr txBox="1">
            <a:spLocks noChangeArrowheads="1"/>
          </p:cNvSpPr>
          <p:nvPr/>
        </p:nvSpPr>
        <p:spPr bwMode="auto">
          <a:xfrm>
            <a:off x="900113" y="814388"/>
            <a:ext cx="2811462" cy="376237"/>
          </a:xfrm>
          <a:prstGeom prst="rect">
            <a:avLst/>
          </a:prstGeom>
          <a:noFill/>
          <a:ln w="9525">
            <a:noFill/>
            <a:miter lim="800000"/>
            <a:headEnd/>
            <a:tailEnd/>
          </a:ln>
        </p:spPr>
        <p:txBody>
          <a:bodyPr>
            <a:spAutoFit/>
          </a:bodyPr>
          <a:lstStyle/>
          <a:p>
            <a:pPr eaLnBrk="0" hangingPunct="0">
              <a:lnSpc>
                <a:spcPct val="110000"/>
              </a:lnSpc>
            </a:pPr>
            <a:r>
              <a:rPr kumimoji="1" lang="en-US" altLang="zh-CN" b="1">
                <a:solidFill>
                  <a:srgbClr val="CC0000"/>
                </a:solidFill>
                <a:latin typeface="华文中宋"/>
                <a:ea typeface="华文中宋"/>
                <a:cs typeface="华文中宋"/>
              </a:rPr>
              <a:t>2</a:t>
            </a:r>
            <a:r>
              <a:rPr kumimoji="1" lang="zh-CN" altLang="en-US" b="1">
                <a:solidFill>
                  <a:srgbClr val="CC0000"/>
                </a:solidFill>
                <a:latin typeface="华文中宋"/>
                <a:ea typeface="华文中宋"/>
                <a:cs typeface="华文中宋"/>
              </a:rPr>
              <a:t>、热力学第二定律</a:t>
            </a:r>
          </a:p>
        </p:txBody>
      </p:sp>
      <p:sp>
        <p:nvSpPr>
          <p:cNvPr id="221188" name="Text Box 4"/>
          <p:cNvSpPr txBox="1">
            <a:spLocks noChangeArrowheads="1"/>
          </p:cNvSpPr>
          <p:nvPr/>
        </p:nvSpPr>
        <p:spPr bwMode="auto">
          <a:xfrm>
            <a:off x="468313" y="2290763"/>
            <a:ext cx="6194425" cy="1649412"/>
          </a:xfrm>
          <a:prstGeom prst="rect">
            <a:avLst/>
          </a:prstGeom>
          <a:noFill/>
          <a:ln w="9525">
            <a:noFill/>
            <a:miter lim="800000"/>
            <a:headEnd/>
            <a:tailEnd/>
          </a:ln>
        </p:spPr>
        <p:txBody>
          <a:bodyPr>
            <a:spAutoFit/>
          </a:bodyPr>
          <a:lstStyle/>
          <a:p>
            <a:pPr>
              <a:lnSpc>
                <a:spcPct val="110000"/>
              </a:lnSpc>
            </a:pPr>
            <a:r>
              <a:rPr kumimoji="1" lang="zh-CN" altLang="en-US" sz="2000" b="1">
                <a:solidFill>
                  <a:srgbClr val="3333FF"/>
                </a:solidFill>
                <a:latin typeface="华文中宋"/>
                <a:ea typeface="华文中宋"/>
                <a:cs typeface="华文中宋"/>
              </a:rPr>
              <a:t>三、热力学过程</a:t>
            </a:r>
          </a:p>
          <a:p>
            <a:pPr lvl="1">
              <a:lnSpc>
                <a:spcPct val="110000"/>
              </a:lnSpc>
            </a:pPr>
            <a:r>
              <a:rPr kumimoji="1" lang="en-US" altLang="zh-CN" b="1">
                <a:solidFill>
                  <a:srgbClr val="CC0000"/>
                </a:solidFill>
                <a:latin typeface="华文中宋"/>
                <a:ea typeface="华文中宋"/>
                <a:cs typeface="华文中宋"/>
              </a:rPr>
              <a:t>1</a:t>
            </a:r>
            <a:r>
              <a:rPr kumimoji="1" lang="zh-CN" altLang="en-US" b="1">
                <a:solidFill>
                  <a:srgbClr val="CC0000"/>
                </a:solidFill>
                <a:latin typeface="华文中宋"/>
                <a:ea typeface="华文中宋"/>
                <a:cs typeface="华文中宋"/>
              </a:rPr>
              <a:t>、理想气体的等值过程，绝热过程</a:t>
            </a:r>
          </a:p>
          <a:p>
            <a:pPr lvl="1">
              <a:lnSpc>
                <a:spcPct val="110000"/>
              </a:lnSpc>
            </a:pPr>
            <a:r>
              <a:rPr kumimoji="1" lang="en-US" altLang="zh-CN" b="1">
                <a:solidFill>
                  <a:srgbClr val="CC0000"/>
                </a:solidFill>
                <a:latin typeface="华文中宋"/>
                <a:ea typeface="华文中宋"/>
                <a:cs typeface="华文中宋"/>
              </a:rPr>
              <a:t>2</a:t>
            </a:r>
            <a:r>
              <a:rPr kumimoji="1" lang="zh-CN" altLang="en-US" b="1">
                <a:solidFill>
                  <a:srgbClr val="CC0000"/>
                </a:solidFill>
                <a:latin typeface="华文中宋"/>
                <a:ea typeface="华文中宋"/>
                <a:cs typeface="华文中宋"/>
              </a:rPr>
              <a:t>、准静态过程</a:t>
            </a:r>
          </a:p>
          <a:p>
            <a:pPr lvl="1">
              <a:lnSpc>
                <a:spcPct val="110000"/>
              </a:lnSpc>
            </a:pPr>
            <a:r>
              <a:rPr kumimoji="1" lang="en-US" altLang="zh-CN" b="1">
                <a:solidFill>
                  <a:srgbClr val="CC0000"/>
                </a:solidFill>
                <a:latin typeface="华文中宋"/>
                <a:ea typeface="华文中宋"/>
                <a:cs typeface="华文中宋"/>
              </a:rPr>
              <a:t>3</a:t>
            </a:r>
            <a:r>
              <a:rPr kumimoji="1" lang="zh-CN" altLang="en-US" b="1">
                <a:solidFill>
                  <a:srgbClr val="CC0000"/>
                </a:solidFill>
                <a:latin typeface="华文中宋"/>
                <a:ea typeface="华文中宋"/>
                <a:cs typeface="华文中宋"/>
              </a:rPr>
              <a:t>、循环过程</a:t>
            </a:r>
          </a:p>
          <a:p>
            <a:pPr lvl="1">
              <a:lnSpc>
                <a:spcPct val="110000"/>
              </a:lnSpc>
            </a:pPr>
            <a:r>
              <a:rPr kumimoji="1" lang="zh-CN" altLang="en-US">
                <a:solidFill>
                  <a:srgbClr val="000000"/>
                </a:solidFill>
                <a:latin typeface="华文中宋"/>
                <a:ea typeface="华文中宋"/>
                <a:cs typeface="华文中宋"/>
              </a:rPr>
              <a:t>          热机效率</a:t>
            </a:r>
          </a:p>
        </p:txBody>
      </p:sp>
      <p:sp>
        <p:nvSpPr>
          <p:cNvPr id="221190" name="Rectangle 6"/>
          <p:cNvSpPr>
            <a:spLocks noChangeArrowheads="1"/>
          </p:cNvSpPr>
          <p:nvPr/>
        </p:nvSpPr>
        <p:spPr bwMode="auto">
          <a:xfrm>
            <a:off x="1692275" y="3971925"/>
            <a:ext cx="1323975" cy="376238"/>
          </a:xfrm>
          <a:prstGeom prst="rect">
            <a:avLst/>
          </a:prstGeom>
          <a:noFill/>
          <a:ln w="9525">
            <a:noFill/>
            <a:miter lim="800000"/>
            <a:headEnd/>
            <a:tailEnd/>
          </a:ln>
        </p:spPr>
        <p:txBody>
          <a:bodyPr>
            <a:spAutoFit/>
          </a:bodyPr>
          <a:lstStyle/>
          <a:p>
            <a:pPr>
              <a:lnSpc>
                <a:spcPct val="110000"/>
              </a:lnSpc>
            </a:pPr>
            <a:r>
              <a:rPr lang="zh-CN" altLang="en-US">
                <a:solidFill>
                  <a:srgbClr val="000000"/>
                </a:solidFill>
                <a:latin typeface="华文中宋"/>
                <a:ea typeface="华文中宋"/>
                <a:cs typeface="华文中宋"/>
              </a:rPr>
              <a:t>致冷系数</a:t>
            </a:r>
          </a:p>
        </p:txBody>
      </p:sp>
      <p:graphicFrame>
        <p:nvGraphicFramePr>
          <p:cNvPr id="2" name="Object 22"/>
          <p:cNvGraphicFramePr>
            <a:graphicFrameLocks noChangeAspect="1"/>
          </p:cNvGraphicFramePr>
          <p:nvPr/>
        </p:nvGraphicFramePr>
        <p:xfrm>
          <a:off x="3563938" y="3427413"/>
          <a:ext cx="1584325" cy="512762"/>
        </p:xfrm>
        <a:graphic>
          <a:graphicData uri="http://schemas.openxmlformats.org/presentationml/2006/ole">
            <p:oleObj spid="_x0000_s48150" name="公式" r:id="rId3" imgW="1028254" imgH="444307" progId="Equation.3">
              <p:embed/>
            </p:oleObj>
          </a:graphicData>
        </a:graphic>
      </p:graphicFrame>
      <p:graphicFrame>
        <p:nvGraphicFramePr>
          <p:cNvPr id="3" name="Object 23"/>
          <p:cNvGraphicFramePr>
            <a:graphicFrameLocks noChangeAspect="1"/>
          </p:cNvGraphicFramePr>
          <p:nvPr/>
        </p:nvGraphicFramePr>
        <p:xfrm>
          <a:off x="3586163" y="3875088"/>
          <a:ext cx="1296987" cy="568325"/>
        </p:xfrm>
        <a:graphic>
          <a:graphicData uri="http://schemas.openxmlformats.org/presentationml/2006/ole">
            <p:oleObj spid="_x0000_s48151" name="公式" r:id="rId4" imgW="761669" imgH="444307" progId="Equation.3">
              <p:embed/>
            </p:oleObj>
          </a:graphicData>
        </a:graphic>
      </p:graphicFrame>
      <p:sp>
        <p:nvSpPr>
          <p:cNvPr id="22" name="Text Box 5"/>
          <p:cNvSpPr txBox="1">
            <a:spLocks noChangeArrowheads="1"/>
          </p:cNvSpPr>
          <p:nvPr/>
        </p:nvSpPr>
        <p:spPr bwMode="auto">
          <a:xfrm>
            <a:off x="6300788" y="3419475"/>
            <a:ext cx="1366837" cy="376238"/>
          </a:xfrm>
          <a:prstGeom prst="rect">
            <a:avLst/>
          </a:prstGeom>
          <a:noFill/>
          <a:ln w="9525">
            <a:noFill/>
            <a:miter lim="800000"/>
            <a:headEnd/>
            <a:tailEnd/>
          </a:ln>
        </p:spPr>
        <p:txBody>
          <a:bodyPr>
            <a:spAutoFit/>
          </a:bodyPr>
          <a:lstStyle/>
          <a:p>
            <a:pPr>
              <a:lnSpc>
                <a:spcPct val="110000"/>
              </a:lnSpc>
            </a:pPr>
            <a:r>
              <a:rPr kumimoji="1" lang="zh-CN" altLang="en-US">
                <a:solidFill>
                  <a:srgbClr val="000000"/>
                </a:solidFill>
                <a:latin typeface="华文中宋"/>
                <a:ea typeface="华文中宋"/>
                <a:cs typeface="华文中宋"/>
              </a:rPr>
              <a:t>卡诺循环</a:t>
            </a:r>
          </a:p>
        </p:txBody>
      </p:sp>
      <p:graphicFrame>
        <p:nvGraphicFramePr>
          <p:cNvPr id="23" name="Object 24"/>
          <p:cNvGraphicFramePr>
            <a:graphicFrameLocks noChangeAspect="1"/>
          </p:cNvGraphicFramePr>
          <p:nvPr/>
        </p:nvGraphicFramePr>
        <p:xfrm>
          <a:off x="5580063" y="3760788"/>
          <a:ext cx="1276350" cy="561975"/>
        </p:xfrm>
        <a:graphic>
          <a:graphicData uri="http://schemas.openxmlformats.org/presentationml/2006/ole">
            <p:oleObj spid="_x0000_s48152" name="公式" r:id="rId5" imgW="660113" imgH="444307" progId="Equation.3">
              <p:embed/>
            </p:oleObj>
          </a:graphicData>
        </a:graphic>
      </p:graphicFrame>
      <p:graphicFrame>
        <p:nvGraphicFramePr>
          <p:cNvPr id="24" name="Object 25"/>
          <p:cNvGraphicFramePr>
            <a:graphicFrameLocks noChangeAspect="1"/>
          </p:cNvGraphicFramePr>
          <p:nvPr/>
        </p:nvGraphicFramePr>
        <p:xfrm>
          <a:off x="7019925" y="3760788"/>
          <a:ext cx="1214438" cy="561975"/>
        </p:xfrm>
        <a:graphic>
          <a:graphicData uri="http://schemas.openxmlformats.org/presentationml/2006/ole">
            <p:oleObj spid="_x0000_s48153" name="公式" r:id="rId6" imgW="710891" imgH="444307" progId="Equation.3">
              <p:embed/>
            </p:oleObj>
          </a:graphicData>
        </a:graphic>
      </p:graphicFrame>
      <p:sp>
        <p:nvSpPr>
          <p:cNvPr id="25" name="Text Box 8"/>
          <p:cNvSpPr txBox="1">
            <a:spLocks noChangeArrowheads="1"/>
          </p:cNvSpPr>
          <p:nvPr/>
        </p:nvSpPr>
        <p:spPr bwMode="auto">
          <a:xfrm>
            <a:off x="987425" y="4227513"/>
            <a:ext cx="2505075" cy="396875"/>
          </a:xfrm>
          <a:prstGeom prst="rect">
            <a:avLst/>
          </a:prstGeom>
          <a:noFill/>
          <a:ln w="9525">
            <a:noFill/>
            <a:miter lim="800000"/>
            <a:headEnd/>
            <a:tailEnd/>
          </a:ln>
        </p:spPr>
        <p:txBody>
          <a:bodyPr>
            <a:spAutoFit/>
          </a:bodyPr>
          <a:lstStyle/>
          <a:p>
            <a:pPr eaLnBrk="0" hangingPunct="0">
              <a:lnSpc>
                <a:spcPct val="110000"/>
              </a:lnSpc>
            </a:pPr>
            <a:r>
              <a:rPr lang="en-US" altLang="zh-CN" b="1">
                <a:solidFill>
                  <a:srgbClr val="CC0000"/>
                </a:solidFill>
                <a:latin typeface="华文中宋"/>
                <a:ea typeface="华文中宋"/>
                <a:cs typeface="华文中宋"/>
              </a:rPr>
              <a:t>4</a:t>
            </a:r>
            <a:r>
              <a:rPr lang="zh-CN" altLang="en-US" b="1">
                <a:solidFill>
                  <a:srgbClr val="CC0000"/>
                </a:solidFill>
                <a:latin typeface="华文中宋"/>
                <a:ea typeface="华文中宋"/>
                <a:cs typeface="华文中宋"/>
              </a:rPr>
              <a:t>、可逆与不可逆过程</a:t>
            </a:r>
          </a:p>
        </p:txBody>
      </p:sp>
      <p:sp>
        <p:nvSpPr>
          <p:cNvPr id="220183" name="Rectangle 23"/>
          <p:cNvSpPr>
            <a:spLocks noChangeArrowheads="1"/>
          </p:cNvSpPr>
          <p:nvPr/>
        </p:nvSpPr>
        <p:spPr bwMode="auto">
          <a:xfrm>
            <a:off x="2425700" y="1227138"/>
            <a:ext cx="3079750" cy="369887"/>
          </a:xfrm>
          <a:prstGeom prst="rect">
            <a:avLst/>
          </a:prstGeom>
          <a:noFill/>
          <a:ln w="9525">
            <a:noFill/>
            <a:miter lim="800000"/>
            <a:headEnd/>
            <a:tailEnd/>
          </a:ln>
        </p:spPr>
        <p:txBody>
          <a:bodyPr>
            <a:spAutoFit/>
          </a:bodyPr>
          <a:lstStyle/>
          <a:p>
            <a:r>
              <a:rPr lang="en-US" altLang="zh-CN" b="1">
                <a:solidFill>
                  <a:srgbClr val="000000"/>
                </a:solidFill>
                <a:latin typeface="华文中宋"/>
                <a:ea typeface="华文中宋"/>
                <a:cs typeface="华文中宋"/>
              </a:rPr>
              <a:t>1</a:t>
            </a:r>
            <a:r>
              <a:rPr lang="zh-CN" altLang="en-US" b="1">
                <a:solidFill>
                  <a:srgbClr val="000000"/>
                </a:solidFill>
                <a:latin typeface="华文中宋"/>
                <a:ea typeface="华文中宋"/>
                <a:cs typeface="华文中宋"/>
              </a:rPr>
              <a:t>、第二定律统计意义</a:t>
            </a:r>
          </a:p>
        </p:txBody>
      </p:sp>
      <p:sp>
        <p:nvSpPr>
          <p:cNvPr id="220184" name="Rectangle 24"/>
          <p:cNvSpPr>
            <a:spLocks noChangeArrowheads="1"/>
          </p:cNvSpPr>
          <p:nvPr/>
        </p:nvSpPr>
        <p:spPr bwMode="auto">
          <a:xfrm>
            <a:off x="2425700" y="1657350"/>
            <a:ext cx="2165350" cy="369888"/>
          </a:xfrm>
          <a:prstGeom prst="rect">
            <a:avLst/>
          </a:prstGeom>
          <a:noFill/>
          <a:ln w="9525">
            <a:noFill/>
            <a:miter lim="800000"/>
            <a:headEnd/>
            <a:tailEnd/>
          </a:ln>
        </p:spPr>
        <p:txBody>
          <a:bodyPr>
            <a:spAutoFit/>
          </a:bodyPr>
          <a:lstStyle/>
          <a:p>
            <a:r>
              <a:rPr lang="en-US" altLang="zh-CN" b="1">
                <a:solidFill>
                  <a:srgbClr val="000000"/>
                </a:solidFill>
                <a:latin typeface="华文中宋"/>
                <a:ea typeface="华文中宋"/>
                <a:cs typeface="华文中宋"/>
              </a:rPr>
              <a:t>2</a:t>
            </a:r>
            <a:r>
              <a:rPr lang="zh-CN" altLang="en-US" b="1">
                <a:solidFill>
                  <a:srgbClr val="000000"/>
                </a:solidFill>
                <a:latin typeface="华文中宋"/>
                <a:ea typeface="华文中宋"/>
                <a:cs typeface="华文中宋"/>
              </a:rPr>
              <a:t>、熵增加原理</a:t>
            </a:r>
          </a:p>
        </p:txBody>
      </p:sp>
      <p:grpSp>
        <p:nvGrpSpPr>
          <p:cNvPr id="4" name="Group 26"/>
          <p:cNvGrpSpPr>
            <a:grpSpLocks/>
          </p:cNvGrpSpPr>
          <p:nvPr/>
        </p:nvGrpSpPr>
        <p:grpSpPr bwMode="auto">
          <a:xfrm>
            <a:off x="2425700" y="2000250"/>
            <a:ext cx="4090988" cy="500063"/>
            <a:chOff x="1495" y="1207"/>
            <a:chExt cx="2577" cy="419"/>
          </a:xfrm>
        </p:grpSpPr>
        <p:graphicFrame>
          <p:nvGraphicFramePr>
            <p:cNvPr id="48154" name="Object 26"/>
            <p:cNvGraphicFramePr>
              <a:graphicFrameLocks noChangeAspect="1"/>
            </p:cNvGraphicFramePr>
            <p:nvPr/>
          </p:nvGraphicFramePr>
          <p:xfrm>
            <a:off x="2889" y="1207"/>
            <a:ext cx="1183" cy="419"/>
          </p:xfrm>
          <a:graphic>
            <a:graphicData uri="http://schemas.openxmlformats.org/presentationml/2006/ole">
              <p:oleObj spid="_x0000_s48154" name="Equation" r:id="rId7" imgW="1143000" imgH="406080" progId="Equation.DSMT4">
                <p:embed/>
              </p:oleObj>
            </a:graphicData>
          </a:graphic>
        </p:graphicFrame>
        <p:sp>
          <p:nvSpPr>
            <p:cNvPr id="48163" name="Rectangle 25"/>
            <p:cNvSpPr>
              <a:spLocks noChangeArrowheads="1"/>
            </p:cNvSpPr>
            <p:nvPr/>
          </p:nvSpPr>
          <p:spPr bwMode="auto">
            <a:xfrm>
              <a:off x="1495" y="1253"/>
              <a:ext cx="1172" cy="310"/>
            </a:xfrm>
            <a:prstGeom prst="rect">
              <a:avLst/>
            </a:prstGeom>
            <a:noFill/>
            <a:ln w="9525">
              <a:noFill/>
              <a:miter lim="800000"/>
              <a:headEnd/>
              <a:tailEnd/>
            </a:ln>
          </p:spPr>
          <p:txBody>
            <a:bodyPr>
              <a:spAutoFit/>
            </a:bodyPr>
            <a:lstStyle/>
            <a:p>
              <a:r>
                <a:rPr lang="en-US" altLang="zh-CN" b="1">
                  <a:solidFill>
                    <a:srgbClr val="000000"/>
                  </a:solidFill>
                  <a:latin typeface="华文中宋"/>
                  <a:ea typeface="华文中宋"/>
                  <a:cs typeface="华文中宋"/>
                </a:rPr>
                <a:t>3</a:t>
              </a:r>
              <a:r>
                <a:rPr lang="zh-CN" altLang="en-US" b="1">
                  <a:solidFill>
                    <a:srgbClr val="000000"/>
                  </a:solidFill>
                  <a:latin typeface="华文中宋"/>
                  <a:ea typeface="华文中宋"/>
                  <a:cs typeface="华文中宋"/>
                </a:rPr>
                <a:t>、熵</a:t>
              </a:r>
              <a:r>
                <a:rPr lang="zh-CN" altLang="en-US" b="1">
                  <a:solidFill>
                    <a:srgbClr val="000000"/>
                  </a:solidFill>
                  <a:latin typeface="华文中宋"/>
                  <a:ea typeface="华文中宋"/>
                  <a:cs typeface="华文中宋"/>
                  <a:sym typeface="Symbol" pitchFamily="18" charset="2"/>
                </a:rPr>
                <a:t>的计算</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6">
                                            <p:txEl>
                                              <p:pRg st="0" end="0"/>
                                            </p:txEl>
                                          </p:spTgt>
                                        </p:tgtEl>
                                        <p:attrNameLst>
                                          <p:attrName>style.visibility</p:attrName>
                                        </p:attrNameLst>
                                      </p:cBhvr>
                                      <p:to>
                                        <p:strVal val="visible"/>
                                      </p:to>
                                    </p:set>
                                    <p:animEffect transition="in" filter="wipe(left)">
                                      <p:cBhvr>
                                        <p:cTn id="7" dur="500"/>
                                        <p:tgtEl>
                                          <p:spTgt spid="26">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20183"/>
                                        </p:tgtEl>
                                        <p:attrNameLst>
                                          <p:attrName>style.visibility</p:attrName>
                                        </p:attrNameLst>
                                      </p:cBhvr>
                                      <p:to>
                                        <p:strVal val="visible"/>
                                      </p:to>
                                    </p:set>
                                    <p:animEffect transition="in" filter="blinds(horizontal)">
                                      <p:cBhvr>
                                        <p:cTn id="12" dur="500"/>
                                        <p:tgtEl>
                                          <p:spTgt spid="22018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20184"/>
                                        </p:tgtEl>
                                        <p:attrNameLst>
                                          <p:attrName>style.visibility</p:attrName>
                                        </p:attrNameLst>
                                      </p:cBhvr>
                                      <p:to>
                                        <p:strVal val="visible"/>
                                      </p:to>
                                    </p:set>
                                    <p:animEffect transition="in" filter="blinds(horizontal)">
                                      <p:cBhvr>
                                        <p:cTn id="17" dur="500"/>
                                        <p:tgtEl>
                                          <p:spTgt spid="22018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blinds(horizontal)">
                                      <p:cBhvr>
                                        <p:cTn id="22" dur="500"/>
                                        <p:tgtEl>
                                          <p:spTgt spid="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21188">
                                            <p:txEl>
                                              <p:pRg st="0" end="0"/>
                                            </p:txEl>
                                          </p:spTgt>
                                        </p:tgtEl>
                                        <p:attrNameLst>
                                          <p:attrName>style.visibility</p:attrName>
                                        </p:attrNameLst>
                                      </p:cBhvr>
                                      <p:to>
                                        <p:strVal val="visible"/>
                                      </p:to>
                                    </p:set>
                                    <p:animEffect transition="in" filter="wipe(left)">
                                      <p:cBhvr>
                                        <p:cTn id="27" dur="500"/>
                                        <p:tgtEl>
                                          <p:spTgt spid="221188">
                                            <p:txEl>
                                              <p:pRg st="0" end="0"/>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21188">
                                            <p:txEl>
                                              <p:pRg st="1" end="1"/>
                                            </p:txEl>
                                          </p:spTgt>
                                        </p:tgtEl>
                                        <p:attrNameLst>
                                          <p:attrName>style.visibility</p:attrName>
                                        </p:attrNameLst>
                                      </p:cBhvr>
                                      <p:to>
                                        <p:strVal val="visible"/>
                                      </p:to>
                                    </p:set>
                                    <p:animEffect transition="in" filter="wipe(left)">
                                      <p:cBhvr>
                                        <p:cTn id="32" dur="500"/>
                                        <p:tgtEl>
                                          <p:spTgt spid="221188">
                                            <p:txEl>
                                              <p:pRg st="1" end="1"/>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21188">
                                            <p:txEl>
                                              <p:pRg st="2" end="2"/>
                                            </p:txEl>
                                          </p:spTgt>
                                        </p:tgtEl>
                                        <p:attrNameLst>
                                          <p:attrName>style.visibility</p:attrName>
                                        </p:attrNameLst>
                                      </p:cBhvr>
                                      <p:to>
                                        <p:strVal val="visible"/>
                                      </p:to>
                                    </p:set>
                                    <p:animEffect transition="in" filter="wipe(left)">
                                      <p:cBhvr>
                                        <p:cTn id="37" dur="500"/>
                                        <p:tgtEl>
                                          <p:spTgt spid="221188">
                                            <p:txEl>
                                              <p:pRg st="2" end="2"/>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21188">
                                            <p:txEl>
                                              <p:pRg st="3" end="3"/>
                                            </p:txEl>
                                          </p:spTgt>
                                        </p:tgtEl>
                                        <p:attrNameLst>
                                          <p:attrName>style.visibility</p:attrName>
                                        </p:attrNameLst>
                                      </p:cBhvr>
                                      <p:to>
                                        <p:strVal val="visible"/>
                                      </p:to>
                                    </p:set>
                                    <p:animEffect transition="in" filter="wipe(left)">
                                      <p:cBhvr>
                                        <p:cTn id="42" dur="500"/>
                                        <p:tgtEl>
                                          <p:spTgt spid="221188">
                                            <p:txEl>
                                              <p:pRg st="3" end="3"/>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21188">
                                            <p:txEl>
                                              <p:pRg st="4" end="4"/>
                                            </p:txEl>
                                          </p:spTgt>
                                        </p:tgtEl>
                                        <p:attrNameLst>
                                          <p:attrName>style.visibility</p:attrName>
                                        </p:attrNameLst>
                                      </p:cBhvr>
                                      <p:to>
                                        <p:strVal val="visible"/>
                                      </p:to>
                                    </p:set>
                                    <p:animEffect transition="in" filter="wipe(left)">
                                      <p:cBhvr>
                                        <p:cTn id="47" dur="500"/>
                                        <p:tgtEl>
                                          <p:spTgt spid="221188">
                                            <p:txEl>
                                              <p:pRg st="4" end="4"/>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2"/>
                                        </p:tgtEl>
                                        <p:attrNameLst>
                                          <p:attrName>style.visibility</p:attrName>
                                        </p:attrNameLst>
                                      </p:cBhvr>
                                      <p:to>
                                        <p:strVal val="visible"/>
                                      </p:to>
                                    </p:set>
                                    <p:animEffect transition="in" filter="wipe(left)">
                                      <p:cBhvr>
                                        <p:cTn id="52" dur="500"/>
                                        <p:tgtEl>
                                          <p:spTgt spid="2"/>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221190"/>
                                        </p:tgtEl>
                                        <p:attrNameLst>
                                          <p:attrName>style.visibility</p:attrName>
                                        </p:attrNameLst>
                                      </p:cBhvr>
                                      <p:to>
                                        <p:strVal val="visible"/>
                                      </p:to>
                                    </p:set>
                                    <p:animEffect transition="in" filter="wipe(left)">
                                      <p:cBhvr>
                                        <p:cTn id="57" dur="500"/>
                                        <p:tgtEl>
                                          <p:spTgt spid="221190"/>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nodeType="clickEffect">
                                  <p:stCondLst>
                                    <p:cond delay="0"/>
                                  </p:stCondLst>
                                  <p:childTnLst>
                                    <p:set>
                                      <p:cBhvr>
                                        <p:cTn id="61" dur="1" fill="hold">
                                          <p:stCondLst>
                                            <p:cond delay="0"/>
                                          </p:stCondLst>
                                        </p:cTn>
                                        <p:tgtEl>
                                          <p:spTgt spid="3"/>
                                        </p:tgtEl>
                                        <p:attrNameLst>
                                          <p:attrName>style.visibility</p:attrName>
                                        </p:attrNameLst>
                                      </p:cBhvr>
                                      <p:to>
                                        <p:strVal val="visible"/>
                                      </p:to>
                                    </p:set>
                                    <p:animEffect transition="in" filter="wipe(left)">
                                      <p:cBhvr>
                                        <p:cTn id="62" dur="500"/>
                                        <p:tgtEl>
                                          <p:spTgt spid="3"/>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22"/>
                                        </p:tgtEl>
                                        <p:attrNameLst>
                                          <p:attrName>style.visibility</p:attrName>
                                        </p:attrNameLst>
                                      </p:cBhvr>
                                      <p:to>
                                        <p:strVal val="visible"/>
                                      </p:to>
                                    </p:set>
                                    <p:animEffect transition="in" filter="wipe(left)">
                                      <p:cBhvr>
                                        <p:cTn id="67" dur="500"/>
                                        <p:tgtEl>
                                          <p:spTgt spid="22"/>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nodeType="clickEffect">
                                  <p:stCondLst>
                                    <p:cond delay="0"/>
                                  </p:stCondLst>
                                  <p:childTnLst>
                                    <p:set>
                                      <p:cBhvr>
                                        <p:cTn id="71" dur="1" fill="hold">
                                          <p:stCondLst>
                                            <p:cond delay="0"/>
                                          </p:stCondLst>
                                        </p:cTn>
                                        <p:tgtEl>
                                          <p:spTgt spid="23"/>
                                        </p:tgtEl>
                                        <p:attrNameLst>
                                          <p:attrName>style.visibility</p:attrName>
                                        </p:attrNameLst>
                                      </p:cBhvr>
                                      <p:to>
                                        <p:strVal val="visible"/>
                                      </p:to>
                                    </p:set>
                                    <p:animEffect transition="in" filter="wipe(left)">
                                      <p:cBhvr>
                                        <p:cTn id="72" dur="500"/>
                                        <p:tgtEl>
                                          <p:spTgt spid="23"/>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8" fill="hold" nodeType="clickEffect">
                                  <p:stCondLst>
                                    <p:cond delay="0"/>
                                  </p:stCondLst>
                                  <p:childTnLst>
                                    <p:set>
                                      <p:cBhvr>
                                        <p:cTn id="76" dur="1" fill="hold">
                                          <p:stCondLst>
                                            <p:cond delay="0"/>
                                          </p:stCondLst>
                                        </p:cTn>
                                        <p:tgtEl>
                                          <p:spTgt spid="24"/>
                                        </p:tgtEl>
                                        <p:attrNameLst>
                                          <p:attrName>style.visibility</p:attrName>
                                        </p:attrNameLst>
                                      </p:cBhvr>
                                      <p:to>
                                        <p:strVal val="visible"/>
                                      </p:to>
                                    </p:set>
                                    <p:animEffect transition="in" filter="wipe(left)">
                                      <p:cBhvr>
                                        <p:cTn id="77" dur="500"/>
                                        <p:tgtEl>
                                          <p:spTgt spid="24"/>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25"/>
                                        </p:tgtEl>
                                        <p:attrNameLst>
                                          <p:attrName>style.visibility</p:attrName>
                                        </p:attrNameLst>
                                      </p:cBhvr>
                                      <p:to>
                                        <p:strVal val="visible"/>
                                      </p:to>
                                    </p:set>
                                    <p:animEffect transition="in" filter="wipe(left)">
                                      <p:cBhvr>
                                        <p:cTn id="82"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build="p"/>
      <p:bldP spid="221188" grpId="0" build="p"/>
      <p:bldP spid="221190" grpId="0"/>
      <p:bldP spid="22" grpId="0" autoUpdateAnimBg="0"/>
      <p:bldP spid="25" grpId="0"/>
      <p:bldP spid="220183" grpId="0"/>
      <p:bldP spid="220184" grpId="0"/>
    </p:bldLst>
  </p:timing>
</p:sld>
</file>

<file path=ppt/theme/theme1.xml><?xml version="1.0" encoding="utf-8"?>
<a:theme xmlns:a="http://schemas.openxmlformats.org/drawingml/2006/main" name="1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a:spPr>
      <a:bodyPr lIns="0" tIns="0" rIns="0" bIns="0">
        <a:spAutoFit/>
      </a:bodyPr>
      <a:lstStyle>
        <a:defPPr algn="ctr">
          <a:defRPr sz="1800" dirty="0">
            <a:solidFill>
              <a:srgbClr val="000000"/>
            </a:solidFill>
            <a:latin typeface="华文中宋" pitchFamily="2" charset="-122"/>
            <a:ea typeface="华文中宋" pitchFamily="2" charset="-122"/>
          </a:defRPr>
        </a:defPPr>
      </a:lstStyle>
    </a:spDef>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a:spPr>
      <a:bodyPr lIns="0" tIns="0" rIns="0" bIns="0">
        <a:spAutoFit/>
      </a:bodyPr>
      <a:lstStyle>
        <a:defPPr algn="ctr">
          <a:defRPr sz="1800" dirty="0">
            <a:solidFill>
              <a:srgbClr val="000000"/>
            </a:solidFill>
            <a:latin typeface="华文中宋" pitchFamily="2" charset="-122"/>
            <a:ea typeface="华文中宋" pitchFamily="2" charset="-122"/>
          </a:defRPr>
        </a:defPPr>
      </a:lstStyle>
    </a:spDef>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3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a:spPr>
      <a:bodyPr lIns="0" tIns="0" rIns="0" bIns="0">
        <a:spAutoFit/>
      </a:bodyPr>
      <a:lstStyle>
        <a:defPPr algn="ctr">
          <a:defRPr sz="1800" dirty="0">
            <a:solidFill>
              <a:srgbClr val="000000"/>
            </a:solidFill>
            <a:latin typeface="华文中宋" pitchFamily="2" charset="-122"/>
            <a:ea typeface="华文中宋" pitchFamily="2" charset="-122"/>
          </a:defRPr>
        </a:defPPr>
      </a:lstStyle>
    </a:spDef>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59</TotalTime>
  <Words>7477</Words>
  <Application>Microsoft Office PowerPoint</Application>
  <PresentationFormat>全屏显示(16:9)</PresentationFormat>
  <Paragraphs>964</Paragraphs>
  <Slides>69</Slides>
  <Notes>1</Notes>
  <HiddenSlides>0</HiddenSlides>
  <MMClips>0</MMClips>
  <ScaleCrop>false</ScaleCrop>
  <HeadingPairs>
    <vt:vector size="8" baseType="variant">
      <vt:variant>
        <vt:lpstr>已用的字体</vt:lpstr>
      </vt:variant>
      <vt:variant>
        <vt:i4>13</vt:i4>
      </vt:variant>
      <vt:variant>
        <vt:lpstr>演示文稿设计模板</vt:lpstr>
      </vt:variant>
      <vt:variant>
        <vt:i4>49</vt:i4>
      </vt:variant>
      <vt:variant>
        <vt:lpstr>嵌入 OLE 服务器</vt:lpstr>
      </vt:variant>
      <vt:variant>
        <vt:i4>2</vt:i4>
      </vt:variant>
      <vt:variant>
        <vt:lpstr>幻灯片标题</vt:lpstr>
      </vt:variant>
      <vt:variant>
        <vt:i4>69</vt:i4>
      </vt:variant>
    </vt:vector>
  </HeadingPairs>
  <TitlesOfParts>
    <vt:vector size="133" baseType="lpstr">
      <vt:lpstr>Calibri</vt:lpstr>
      <vt:lpstr>宋体</vt:lpstr>
      <vt:lpstr>Arial</vt:lpstr>
      <vt:lpstr>华文楷体</vt:lpstr>
      <vt:lpstr>方正舒体</vt:lpstr>
      <vt:lpstr>Times New Roman</vt:lpstr>
      <vt:lpstr>华文中宋</vt:lpstr>
      <vt:lpstr>微软雅黑</vt:lpstr>
      <vt:lpstr>Symbol</vt:lpstr>
      <vt:lpstr>Wingdings</vt:lpstr>
      <vt:lpstr>黑体</vt:lpstr>
      <vt:lpstr>楷体_GB2312</vt:lpstr>
      <vt:lpstr>Monotype Sorts</vt:lpstr>
      <vt:lpstr>1_自定义设计方案</vt:lpstr>
      <vt:lpstr>2_自定义设计方案</vt:lpstr>
      <vt:lpstr>3_自定义设计方案</vt:lpstr>
      <vt:lpstr>1_自定义设计方案</vt:lpstr>
      <vt:lpstr>1_自定义设计方案</vt:lpstr>
      <vt:lpstr>1_自定义设计方案</vt:lpstr>
      <vt:lpstr>1_自定义设计方案</vt:lpstr>
      <vt:lpstr>1_自定义设计方案</vt:lpstr>
      <vt:lpstr>1_自定义设计方案</vt:lpstr>
      <vt:lpstr>1_自定义设计方案</vt:lpstr>
      <vt:lpstr>1_自定义设计方案</vt:lpstr>
      <vt:lpstr>1_自定义设计方案</vt:lpstr>
      <vt:lpstr>1_自定义设计方案</vt:lpstr>
      <vt:lpstr>1_自定义设计方案</vt:lpstr>
      <vt:lpstr>1_自定义设计方案</vt:lpstr>
      <vt:lpstr>2_自定义设计方案</vt:lpstr>
      <vt:lpstr>2_自定义设计方案</vt:lpstr>
      <vt:lpstr>2_自定义设计方案</vt:lpstr>
      <vt:lpstr>2_自定义设计方案</vt:lpstr>
      <vt:lpstr>2_自定义设计方案</vt:lpstr>
      <vt:lpstr>2_自定义设计方案</vt:lpstr>
      <vt:lpstr>2_自定义设计方案</vt:lpstr>
      <vt:lpstr>2_自定义设计方案</vt:lpstr>
      <vt:lpstr>2_自定义设计方案</vt:lpstr>
      <vt:lpstr>2_自定义设计方案</vt:lpstr>
      <vt:lpstr>2_自定义设计方案</vt:lpstr>
      <vt:lpstr>2_自定义设计方案</vt:lpstr>
      <vt:lpstr>3_自定义设计方案</vt:lpstr>
      <vt:lpstr>3_自定义设计方案</vt:lpstr>
      <vt:lpstr>3_自定义设计方案</vt:lpstr>
      <vt:lpstr>3_自定义设计方案</vt:lpstr>
      <vt:lpstr>3_自定义设计方案</vt:lpstr>
      <vt:lpstr>3_自定义设计方案</vt:lpstr>
      <vt:lpstr>3_自定义设计方案</vt:lpstr>
      <vt:lpstr>3_自定义设计方案</vt:lpstr>
      <vt:lpstr>3_自定义设计方案</vt:lpstr>
      <vt:lpstr>3_自定义设计方案</vt:lpstr>
      <vt:lpstr>3_自定义设计方案</vt:lpstr>
      <vt:lpstr>3_自定义设计方案</vt:lpstr>
      <vt:lpstr>3_自定义设计方案</vt:lpstr>
      <vt:lpstr>3_自定义设计方案</vt:lpstr>
      <vt:lpstr>3_自定义设计方案</vt:lpstr>
      <vt:lpstr>3_自定义设计方案</vt:lpstr>
      <vt:lpstr>3_自定义设计方案</vt:lpstr>
      <vt:lpstr>3_自定义设计方案</vt:lpstr>
      <vt:lpstr>3_自定义设计方案</vt:lpstr>
      <vt:lpstr>3_自定义设计方案</vt:lpstr>
      <vt:lpstr>3_自定义设计方案</vt:lpstr>
      <vt:lpstr>3_自定义设计方案</vt:lpstr>
      <vt:lpstr>Equation</vt:lpstr>
      <vt:lpstr>公式</vt:lpstr>
      <vt:lpstr>幻灯片 1</vt:lpstr>
      <vt:lpstr>幻灯片 2</vt:lpstr>
      <vt:lpstr>幻灯片 3</vt:lpstr>
      <vt:lpstr>幻灯片 4</vt:lpstr>
      <vt:lpstr>幻灯片 5</vt:lpstr>
      <vt:lpstr>幻灯片 6</vt:lpstr>
      <vt:lpstr>幻灯片 7</vt:lpstr>
      <vt:lpstr>幻灯片 8</vt:lpstr>
      <vt:lpstr>幻灯片 9</vt:lpstr>
      <vt:lpstr>幻灯片 10</vt:lpstr>
      <vt:lpstr>幻灯片 11</vt:lpstr>
      <vt:lpstr>幻灯片 12</vt:lpstr>
      <vt:lpstr>幻灯片 13</vt:lpstr>
      <vt:lpstr>幻灯片 14</vt:lpstr>
      <vt:lpstr>幻灯片 15</vt:lpstr>
      <vt:lpstr>幻灯片 16</vt:lpstr>
      <vt:lpstr>幻灯片 17</vt:lpstr>
      <vt:lpstr>幻灯片 18</vt:lpstr>
      <vt:lpstr>幻灯片 19</vt:lpstr>
      <vt:lpstr>幻灯片 20</vt:lpstr>
      <vt:lpstr>幻灯片 21</vt:lpstr>
      <vt:lpstr>幻灯片 22</vt:lpstr>
      <vt:lpstr>幻灯片 23</vt:lpstr>
      <vt:lpstr>幻灯片 24</vt:lpstr>
      <vt:lpstr>幻灯片 25</vt:lpstr>
      <vt:lpstr>幻灯片 26</vt:lpstr>
      <vt:lpstr>幻灯片 27</vt:lpstr>
      <vt:lpstr>幻灯片 28</vt:lpstr>
      <vt:lpstr>幻灯片 29</vt:lpstr>
      <vt:lpstr>幻灯片 30</vt:lpstr>
      <vt:lpstr>幻灯片 31</vt:lpstr>
      <vt:lpstr>幻灯片 32</vt:lpstr>
      <vt:lpstr>幻灯片 33</vt:lpstr>
      <vt:lpstr>幻灯片 34</vt:lpstr>
      <vt:lpstr>幻灯片 35</vt:lpstr>
      <vt:lpstr>幻灯片 36</vt:lpstr>
      <vt:lpstr>幻灯片 37</vt:lpstr>
      <vt:lpstr>幻灯片 38</vt:lpstr>
      <vt:lpstr>幻灯片 39</vt:lpstr>
      <vt:lpstr>幻灯片 40</vt:lpstr>
      <vt:lpstr>幻灯片 41</vt:lpstr>
      <vt:lpstr>幻灯片 42</vt:lpstr>
      <vt:lpstr>幻灯片 43</vt:lpstr>
      <vt:lpstr>幻灯片 44</vt:lpstr>
      <vt:lpstr>幻灯片 45</vt:lpstr>
      <vt:lpstr>幻灯片 46</vt:lpstr>
      <vt:lpstr>幻灯片 47</vt:lpstr>
      <vt:lpstr>幻灯片 48</vt:lpstr>
      <vt:lpstr>幻灯片 49</vt:lpstr>
      <vt:lpstr>幻灯片 50</vt:lpstr>
      <vt:lpstr>幻灯片 51</vt:lpstr>
      <vt:lpstr>幻灯片 52</vt:lpstr>
      <vt:lpstr>幻灯片 53</vt:lpstr>
      <vt:lpstr>幻灯片 54</vt:lpstr>
      <vt:lpstr>幻灯片 55</vt:lpstr>
      <vt:lpstr>幻灯片 56</vt:lpstr>
      <vt:lpstr>幻灯片 57</vt:lpstr>
      <vt:lpstr>幻灯片 58</vt:lpstr>
      <vt:lpstr>幻灯片 59</vt:lpstr>
      <vt:lpstr>幻灯片 60</vt:lpstr>
      <vt:lpstr>幻灯片 61</vt:lpstr>
      <vt:lpstr>幻灯片 62</vt:lpstr>
      <vt:lpstr>幻灯片 63</vt:lpstr>
      <vt:lpstr>幻灯片 64</vt:lpstr>
      <vt:lpstr>幻灯片 65</vt:lpstr>
      <vt:lpstr>幻灯片 66</vt:lpstr>
      <vt:lpstr>幻灯片 67</vt:lpstr>
      <vt:lpstr>幻灯片 68</vt:lpstr>
      <vt:lpstr>幻灯片 69</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Alex</dc:creator>
  <cp:lastModifiedBy>asus</cp:lastModifiedBy>
  <cp:revision>48</cp:revision>
  <dcterms:created xsi:type="dcterms:W3CDTF">2018-02-10T02:00:40Z</dcterms:created>
  <dcterms:modified xsi:type="dcterms:W3CDTF">2018-04-21T09:09:12Z</dcterms:modified>
</cp:coreProperties>
</file>