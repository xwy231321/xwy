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2" autoAdjust="0"/>
    <p:restoredTop sz="94601" autoAdjust="0"/>
  </p:normalViewPr>
  <p:slideViewPr>
    <p:cSldViewPr>
      <p:cViewPr varScale="1">
        <p:scale>
          <a:sx n="110" d="100"/>
          <a:sy n="110" d="100"/>
        </p:scale>
        <p:origin x="-658" y="-6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0-0-&#24635;&#30446;&#24405;.pptx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0-0-&#24635;&#30446;&#24405;.pptx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0-0-&#24635;&#30446;&#24405;.pptx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7285110" y="195263"/>
            <a:ext cx="11753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 smtClean="0">
                <a:solidFill>
                  <a:prstClr val="white"/>
                </a:solidFill>
              </a:rPr>
              <a:t>前   言</a:t>
            </a:r>
            <a:endParaRPr lang="zh-CN" altLang="en-US" b="1" dirty="0">
              <a:solidFill>
                <a:prstClr val="white"/>
              </a:solidFill>
            </a:endParaRPr>
          </a:p>
        </p:txBody>
      </p:sp>
      <p:sp>
        <p:nvSpPr>
          <p:cNvPr id="3" name="矩形 2">
            <a:hlinkClick r:id="rId2" action="ppaction://hlinkpres?slideindex=1&amp;slidetitle="/>
          </p:cNvPr>
          <p:cNvSpPr/>
          <p:nvPr/>
        </p:nvSpPr>
        <p:spPr>
          <a:xfrm>
            <a:off x="5795967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章目录</a:t>
            </a:r>
          </a:p>
        </p:txBody>
      </p:sp>
      <p:sp>
        <p:nvSpPr>
          <p:cNvPr id="4" name="矩形 3">
            <a:hlinkClick r:id="" action="ppaction://hlinkshowjump?jump=previousslide"/>
          </p:cNvPr>
          <p:cNvSpPr/>
          <p:nvPr/>
        </p:nvSpPr>
        <p:spPr>
          <a:xfrm>
            <a:off x="7380292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上一页</a:t>
            </a:r>
          </a:p>
        </p:txBody>
      </p:sp>
      <p:sp>
        <p:nvSpPr>
          <p:cNvPr id="5" name="矩形 4">
            <a:hlinkClick r:id="" action="ppaction://hlinkshowjump?jump=nextslide"/>
          </p:cNvPr>
          <p:cNvSpPr/>
          <p:nvPr/>
        </p:nvSpPr>
        <p:spPr>
          <a:xfrm>
            <a:off x="8172454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下一页</a:t>
            </a:r>
          </a:p>
        </p:txBody>
      </p:sp>
      <p:sp>
        <p:nvSpPr>
          <p:cNvPr id="6" name="矩形 5"/>
          <p:cNvSpPr/>
          <p:nvPr/>
        </p:nvSpPr>
        <p:spPr>
          <a:xfrm>
            <a:off x="6588129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节目录</a:t>
            </a:r>
          </a:p>
        </p:txBody>
      </p:sp>
    </p:spTree>
    <p:extLst>
      <p:ext uri="{BB962C8B-B14F-4D97-AF65-F5344CB8AC3E}">
        <p14:creationId xmlns:p14="http://schemas.microsoft.com/office/powerpoint/2010/main" val="5338140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7193105" y="195263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 smtClean="0">
                <a:solidFill>
                  <a:prstClr val="white"/>
                </a:solidFill>
              </a:rPr>
              <a:t>知识结构</a:t>
            </a:r>
            <a:endParaRPr lang="zh-CN" altLang="en-US" b="1" dirty="0">
              <a:solidFill>
                <a:prstClr val="white"/>
              </a:solidFill>
            </a:endParaRPr>
          </a:p>
        </p:txBody>
      </p:sp>
      <p:sp>
        <p:nvSpPr>
          <p:cNvPr id="3" name="矩形 2">
            <a:hlinkClick r:id="rId2" action="ppaction://hlinkpres?slideindex=1&amp;slidetitle="/>
          </p:cNvPr>
          <p:cNvSpPr/>
          <p:nvPr/>
        </p:nvSpPr>
        <p:spPr>
          <a:xfrm>
            <a:off x="5802317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章目录</a:t>
            </a:r>
          </a:p>
        </p:txBody>
      </p:sp>
      <p:sp>
        <p:nvSpPr>
          <p:cNvPr id="4" name="矩形 3">
            <a:hlinkClick r:id="" action="ppaction://hlinkshowjump?jump=previousslide"/>
          </p:cNvPr>
          <p:cNvSpPr/>
          <p:nvPr/>
        </p:nvSpPr>
        <p:spPr>
          <a:xfrm>
            <a:off x="7386642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上一页</a:t>
            </a:r>
          </a:p>
        </p:txBody>
      </p:sp>
      <p:sp>
        <p:nvSpPr>
          <p:cNvPr id="5" name="矩形 4">
            <a:hlinkClick r:id="" action="ppaction://hlinkshowjump?jump=nextslide"/>
          </p:cNvPr>
          <p:cNvSpPr/>
          <p:nvPr/>
        </p:nvSpPr>
        <p:spPr>
          <a:xfrm>
            <a:off x="8178804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下一页</a:t>
            </a:r>
          </a:p>
        </p:txBody>
      </p:sp>
      <p:sp>
        <p:nvSpPr>
          <p:cNvPr id="6" name="矩形 5"/>
          <p:cNvSpPr/>
          <p:nvPr/>
        </p:nvSpPr>
        <p:spPr>
          <a:xfrm>
            <a:off x="6594479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节目录</a:t>
            </a:r>
          </a:p>
        </p:txBody>
      </p:sp>
    </p:spTree>
    <p:extLst>
      <p:ext uri="{BB962C8B-B14F-4D97-AF65-F5344CB8AC3E}">
        <p14:creationId xmlns:p14="http://schemas.microsoft.com/office/powerpoint/2010/main" val="9971920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hlinkClick r:id="rId2" action="ppaction://hlinkpres?slideindex=1&amp;slidetitle="/>
          </p:cNvPr>
          <p:cNvSpPr/>
          <p:nvPr userDrawn="1"/>
        </p:nvSpPr>
        <p:spPr>
          <a:xfrm>
            <a:off x="5802317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章目录</a:t>
            </a:r>
          </a:p>
        </p:txBody>
      </p:sp>
      <p:sp>
        <p:nvSpPr>
          <p:cNvPr id="8" name="矩形 7">
            <a:hlinkClick r:id="" action="ppaction://hlinkshowjump?jump=previousslide"/>
          </p:cNvPr>
          <p:cNvSpPr/>
          <p:nvPr userDrawn="1"/>
        </p:nvSpPr>
        <p:spPr>
          <a:xfrm>
            <a:off x="7386642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上一页</a:t>
            </a:r>
          </a:p>
        </p:txBody>
      </p:sp>
      <p:sp>
        <p:nvSpPr>
          <p:cNvPr id="9" name="矩形 8">
            <a:hlinkClick r:id="" action="ppaction://hlinkshowjump?jump=nextslide"/>
          </p:cNvPr>
          <p:cNvSpPr/>
          <p:nvPr userDrawn="1"/>
        </p:nvSpPr>
        <p:spPr>
          <a:xfrm>
            <a:off x="8178804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下一页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6594479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节目录</a:t>
            </a:r>
          </a:p>
        </p:txBody>
      </p:sp>
    </p:spTree>
    <p:extLst>
      <p:ext uri="{BB962C8B-B14F-4D97-AF65-F5344CB8AC3E}">
        <p14:creationId xmlns:p14="http://schemas.microsoft.com/office/powerpoint/2010/main" val="1093999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16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679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527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346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5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fld id="{61E4A74E-ADEC-4D29-B01A-F7A347EB7F04}" type="slidenum">
              <a:rPr lang="zh-CN" altLang="en-US" sz="2800">
                <a:solidFill>
                  <a:prstClr val="black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t>‹#›</a:t>
            </a:fld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7761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5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fld id="{0E7DECD5-13B6-453C-8293-D1CEA3B360B2}" type="slidenum">
              <a:rPr lang="zh-CN" altLang="en-US" sz="2800">
                <a:solidFill>
                  <a:prstClr val="black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t>‹#›</a:t>
            </a:fld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331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06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45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229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571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833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4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A4F233B-B824-43FF-B554-A0FBFB8D2300}" type="datetimeFigureOut">
              <a:rPr lang="zh-CN" altLang="en-US" sz="2800">
                <a:solidFill>
                  <a:prstClr val="black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2018/2/23</a:t>
            </a:fld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46EFE1B-CA1F-49E9-87FE-A85040398B4B}" type="slidenum">
              <a:rPr lang="zh-CN" altLang="en-US" sz="2800">
                <a:solidFill>
                  <a:prstClr val="black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604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-11113" y="-30161"/>
            <a:ext cx="9164638" cy="88106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 sz="2800" noProof="1">
              <a:solidFill>
                <a:prstClr val="white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42875" y="771550"/>
            <a:ext cx="8856663" cy="0"/>
          </a:xfrm>
          <a:prstGeom prst="line">
            <a:avLst/>
          </a:prstGeom>
          <a:ln w="31750">
            <a:solidFill>
              <a:schemeClr val="bg1">
                <a:alpha val="2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图片 10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6" y="85727"/>
            <a:ext cx="525462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Box 11"/>
          <p:cNvSpPr txBox="1">
            <a:spLocks noChangeArrowheads="1"/>
          </p:cNvSpPr>
          <p:nvPr userDrawn="1"/>
        </p:nvSpPr>
        <p:spPr bwMode="auto">
          <a:xfrm>
            <a:off x="1245832" y="411164"/>
            <a:ext cx="23791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800" dirty="0" smtClean="0">
                <a:solidFill>
                  <a:prstClr val="white"/>
                </a:solidFill>
                <a:latin typeface="Calibri" pitchFamily="34" charset="0"/>
              </a:rPr>
              <a:t>大学物理学（第</a:t>
            </a:r>
            <a:r>
              <a:rPr lang="en-US" altLang="zh-CN" sz="1800" dirty="0" smtClean="0">
                <a:solidFill>
                  <a:prstClr val="white"/>
                </a:solidFill>
                <a:latin typeface="Calibri" pitchFamily="34" charset="0"/>
              </a:rPr>
              <a:t>5</a:t>
            </a:r>
            <a:r>
              <a:rPr lang="zh-CN" altLang="en-US" sz="1800" dirty="0" smtClean="0">
                <a:solidFill>
                  <a:prstClr val="white"/>
                </a:solidFill>
                <a:latin typeface="Calibri" pitchFamily="34" charset="0"/>
              </a:rPr>
              <a:t>版）</a:t>
            </a:r>
            <a:endParaRPr lang="zh-CN" altLang="en-US" sz="180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030" name="TextBox 12"/>
          <p:cNvSpPr txBox="1">
            <a:spLocks noChangeArrowheads="1"/>
          </p:cNvSpPr>
          <p:nvPr userDrawn="1"/>
        </p:nvSpPr>
        <p:spPr bwMode="auto">
          <a:xfrm>
            <a:off x="827088" y="134940"/>
            <a:ext cx="37753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400" dirty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“十二五”普通高等教育本科国家级规划教材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9525" y="850901"/>
            <a:ext cx="9123363" cy="3743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 sz="2800" noProof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03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979712" y="2194051"/>
            <a:ext cx="4392488" cy="59372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3600" b="1" dirty="0" smtClean="0">
                <a:solidFill>
                  <a:srgbClr val="800000"/>
                </a:solidFill>
                <a:ea typeface="华文中宋" pitchFamily="2" charset="-122"/>
              </a:rPr>
              <a:t>第一篇   力学基础篇</a:t>
            </a:r>
          </a:p>
        </p:txBody>
      </p:sp>
    </p:spTree>
    <p:extLst>
      <p:ext uri="{BB962C8B-B14F-4D97-AF65-F5344CB8AC3E}">
        <p14:creationId xmlns:p14="http://schemas.microsoft.com/office/powerpoint/2010/main" val="345497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50826" y="1131592"/>
            <a:ext cx="6049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047750" indent="-104775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一、力学的研究对象</a:t>
            </a:r>
            <a:r>
              <a:rPr lang="zh-CN" altLang="en-US" sz="2000" dirty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：</a:t>
            </a:r>
            <a:r>
              <a:rPr lang="zh-CN" altLang="en-US" sz="2000" b="1" dirty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机械运动。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28600" y="1779662"/>
            <a:ext cx="8686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   </a:t>
            </a:r>
            <a:r>
              <a:rPr lang="zh-CN" altLang="en-US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</a:rPr>
              <a:t>机械运动：</a:t>
            </a:r>
            <a:r>
              <a:rPr lang="zh-CN" altLang="en-US" sz="2000" b="1" u="sng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是指一个物体相对于另一物体（或物体的这一部分相对于另一部分）的位置随时间的变化。</a:t>
            </a:r>
            <a:r>
              <a:rPr lang="zh-CN" altLang="en-US" sz="2000" dirty="0">
                <a:solidFill>
                  <a:srgbClr val="1F497D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743370"/>
              </p:ext>
            </p:extLst>
          </p:nvPr>
        </p:nvGraphicFramePr>
        <p:xfrm>
          <a:off x="2478088" y="4178277"/>
          <a:ext cx="990600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r:id="rId4" imgW="6545263" imgH="1706563" progId="MS_ClipArt_Gallery.2">
                  <p:embed/>
                </p:oleObj>
              </mc:Choice>
              <mc:Fallback>
                <p:oleObj r:id="rId4" imgW="6545263" imgH="170656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4178277"/>
                        <a:ext cx="990600" cy="19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813550" y="3335313"/>
            <a:ext cx="1143000" cy="552052"/>
            <a:chOff x="0" y="308"/>
            <a:chExt cx="720" cy="464"/>
          </a:xfrm>
        </p:grpSpPr>
        <p:sp>
          <p:nvSpPr>
            <p:cNvPr id="33805" name="Rectangle 6"/>
            <p:cNvSpPr>
              <a:spLocks noChangeArrowheads="1"/>
            </p:cNvSpPr>
            <p:nvPr/>
          </p:nvSpPr>
          <p:spPr bwMode="auto">
            <a:xfrm>
              <a:off x="48" y="308"/>
              <a:ext cx="672" cy="440"/>
            </a:xfrm>
            <a:prstGeom prst="rect">
              <a:avLst/>
            </a:prstGeom>
            <a:solidFill>
              <a:schemeClr val="folHlink"/>
            </a:solidFill>
            <a:ln w="12700" cap="sq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33806" name="Rectangle 7"/>
            <p:cNvSpPr>
              <a:spLocks noChangeArrowheads="1"/>
            </p:cNvSpPr>
            <p:nvPr/>
          </p:nvSpPr>
          <p:spPr bwMode="auto">
            <a:xfrm>
              <a:off x="0" y="332"/>
              <a:ext cx="116" cy="440"/>
            </a:xfrm>
            <a:prstGeom prst="rect">
              <a:avLst/>
            </a:prstGeom>
            <a:noFill/>
            <a:ln w="12700" cap="sq">
              <a:solidFill>
                <a:srgbClr val="FFCC00"/>
              </a:solidFill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  <a:flatTx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5670550" y="3421368"/>
            <a:ext cx="1143000" cy="52322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scene3d>
            <a:camera prst="legacyObliqueTopRight">
              <a:rot lat="0" lon="20999993" rev="0"/>
            </a:camera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anchor="ctr">
            <a:spAutoFit/>
            <a:flatTx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5746750" y="3478518"/>
            <a:ext cx="1143000" cy="52322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scene3d>
            <a:camera prst="legacyObliqueTopRight">
              <a:rot lat="0" lon="18900000" rev="0"/>
            </a:camera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anchor="ctr">
            <a:spAutoFit/>
            <a:flatTx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5975350" y="3535668"/>
            <a:ext cx="1143000" cy="52322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scene3d>
            <a:camera prst="legacyObliqueTopRight">
              <a:rot lat="0" lon="17099992" rev="0"/>
            </a:camera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anchor="ctr">
            <a:spAutoFit/>
            <a:flatTx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6813550" y="3364218"/>
            <a:ext cx="1143000" cy="52322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anchor="ctr">
            <a:spAutoFit/>
            <a:flatTx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6546850" y="3499154"/>
            <a:ext cx="1143000" cy="52322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scene3d>
            <a:camera prst="legacyObliqueTopRight">
              <a:rot lat="0" lon="2400000" rev="0"/>
            </a:camera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anchor="ctr">
            <a:spAutoFit/>
            <a:flatTx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graphicFrame>
        <p:nvGraphicFramePr>
          <p:cNvPr id="123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840040"/>
              </p:ext>
            </p:extLst>
          </p:nvPr>
        </p:nvGraphicFramePr>
        <p:xfrm>
          <a:off x="1258888" y="2806677"/>
          <a:ext cx="2919412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r:id="rId6" imgW="5600700" imgH="3589338" progId="MS_ClipArt_Gallery.2">
                  <p:embed/>
                </p:oleObj>
              </mc:Choice>
              <mc:Fallback>
                <p:oleObj r:id="rId6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806677"/>
                        <a:ext cx="2919412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577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  <p:bldP spid="12291" grpId="0" autoUpdateAnimBg="0"/>
      <p:bldP spid="12296" grpId="0" animBg="1"/>
      <p:bldP spid="12297" grpId="0" animBg="1"/>
      <p:bldP spid="12298" grpId="0" animBg="1"/>
      <p:bldP spid="12299" grpId="0" animBg="1"/>
      <p:bldP spid="1230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395288" y="875496"/>
            <a:ext cx="57294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  <a:sym typeface="Wingdings 2" pitchFamily="18" charset="2"/>
              </a:rPr>
              <a:t>1</a:t>
            </a:r>
            <a:r>
              <a:rPr lang="zh-CN" altLang="en-US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  <a:sym typeface="Wingdings 2" pitchFamily="18" charset="2"/>
              </a:rPr>
              <a:t>、</a:t>
            </a:r>
            <a:r>
              <a:rPr lang="zh-CN" altLang="en-US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</a:rPr>
              <a:t>根据问题的性质可将力学分为运动学和动力学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611188" y="1336464"/>
            <a:ext cx="8077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</a:rPr>
              <a:t>运动学：</a:t>
            </a:r>
            <a:r>
              <a:rPr lang="zh-CN" altLang="en-US" sz="2000" b="1" dirty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只研究物体运动的几何特性，不考虑物体本身固有属性（如质量）和外来影响（如作用力），将物体的运动用数学语言来描述。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683568" y="2105208"/>
            <a:ext cx="8077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</a:rPr>
              <a:t>动力学：</a:t>
            </a:r>
            <a:r>
              <a:rPr lang="zh-CN" altLang="en-US" sz="2000" b="1" dirty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研究物体作机械运动的内在因素（如质量）和外来影响（如作用力）之间的关系。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395291" y="2873952"/>
            <a:ext cx="44470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  <a:sym typeface="Wingdings 2" pitchFamily="18" charset="2"/>
              </a:rPr>
              <a:t>2</a:t>
            </a:r>
            <a:r>
              <a:rPr lang="zh-CN" altLang="en-US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  <a:sym typeface="Wingdings 2" pitchFamily="18" charset="2"/>
              </a:rPr>
              <a:t>、</a:t>
            </a:r>
            <a:r>
              <a:rPr lang="zh-CN" altLang="en-US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</a:rPr>
              <a:t>从运动形式上分，运动又可分为：</a:t>
            </a: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1763716" y="3334920"/>
            <a:ext cx="30059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平动、转动、振动、波动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395290" y="3795886"/>
            <a:ext cx="86756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  <a:sym typeface="Wingdings 2" pitchFamily="18" charset="2"/>
              </a:rPr>
              <a:t>3</a:t>
            </a:r>
            <a:r>
              <a:rPr lang="zh-CN" altLang="en-US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  <a:sym typeface="Wingdings 2" pitchFamily="18" charset="2"/>
              </a:rPr>
              <a:t>、</a:t>
            </a:r>
            <a:r>
              <a:rPr lang="zh-CN" altLang="en-US" sz="2000" b="1" dirty="0">
                <a:solidFill>
                  <a:srgbClr val="C0504D"/>
                </a:solidFill>
                <a:latin typeface="华文中宋" pitchFamily="2" charset="-122"/>
                <a:ea typeface="华文中宋" pitchFamily="2" charset="-122"/>
              </a:rPr>
              <a:t>物质的运动和相互作用总是在一定的时空中进行，因此，狭义相对论的时空观和牛顿力学紧密相联。</a:t>
            </a:r>
          </a:p>
        </p:txBody>
      </p:sp>
    </p:spTree>
    <p:extLst>
      <p:ext uri="{BB962C8B-B14F-4D97-AF65-F5344CB8AC3E}">
        <p14:creationId xmlns:p14="http://schemas.microsoft.com/office/powerpoint/2010/main" val="350850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3316" grpId="0"/>
      <p:bldP spid="13317" grpId="0"/>
      <p:bldP spid="13318" grpId="0"/>
      <p:bldP spid="133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899596" y="1654053"/>
            <a:ext cx="2087563" cy="701675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zh-CN" altLang="en-US" sz="2400" b="1" dirty="0" smtClean="0">
                <a:solidFill>
                  <a:srgbClr val="0000FF"/>
                </a:solidFill>
                <a:ea typeface="华文中宋" pitchFamily="2" charset="-122"/>
              </a:rPr>
              <a:t>静力学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zh-CN" altLang="en-US" sz="1800" b="1" dirty="0" smtClean="0">
                <a:solidFill>
                  <a:srgbClr val="0000FF"/>
                </a:solidFill>
                <a:ea typeface="华文中宋" pitchFamily="2" charset="-122"/>
              </a:rPr>
              <a:t>（中学）</a:t>
            </a:r>
            <a:endParaRPr lang="en-US" altLang="zh-CN" sz="1800" b="1" dirty="0" smtClean="0">
              <a:solidFill>
                <a:srgbClr val="0000FF"/>
              </a:solidFill>
              <a:ea typeface="华文中宋" pitchFamily="2" charset="-122"/>
            </a:endParaRPr>
          </a:p>
        </p:txBody>
      </p:sp>
      <p:sp>
        <p:nvSpPr>
          <p:cNvPr id="14340" name="AutoShape 4"/>
          <p:cNvSpPr>
            <a:spLocks noChangeArrowheads="1"/>
          </p:cNvSpPr>
          <p:nvPr/>
        </p:nvSpPr>
        <p:spPr bwMode="auto">
          <a:xfrm>
            <a:off x="3059117" y="1924050"/>
            <a:ext cx="503237" cy="107950"/>
          </a:xfrm>
          <a:prstGeom prst="rightArrow">
            <a:avLst>
              <a:gd name="adj1" fmla="val 50000"/>
              <a:gd name="adj2" fmla="val 87408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4343" name="AutoShape 7"/>
          <p:cNvSpPr>
            <a:spLocks noChangeArrowheads="1"/>
          </p:cNvSpPr>
          <p:nvPr/>
        </p:nvSpPr>
        <p:spPr bwMode="auto">
          <a:xfrm>
            <a:off x="5578475" y="1924050"/>
            <a:ext cx="503238" cy="107950"/>
          </a:xfrm>
          <a:prstGeom prst="rightArrow">
            <a:avLst>
              <a:gd name="adj1" fmla="val 50000"/>
              <a:gd name="adj2" fmla="val 87408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4347" name="AutoShape 11"/>
          <p:cNvSpPr>
            <a:spLocks noChangeArrowheads="1"/>
          </p:cNvSpPr>
          <p:nvPr/>
        </p:nvSpPr>
        <p:spPr bwMode="auto">
          <a:xfrm>
            <a:off x="3060700" y="3003550"/>
            <a:ext cx="503238" cy="109538"/>
          </a:xfrm>
          <a:prstGeom prst="rightArrow">
            <a:avLst>
              <a:gd name="adj1" fmla="val 50000"/>
              <a:gd name="adj2" fmla="val 86141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4348" name="AutoShape 12"/>
          <p:cNvSpPr>
            <a:spLocks noChangeArrowheads="1"/>
          </p:cNvSpPr>
          <p:nvPr/>
        </p:nvSpPr>
        <p:spPr bwMode="auto">
          <a:xfrm>
            <a:off x="5580067" y="3003550"/>
            <a:ext cx="503237" cy="109538"/>
          </a:xfrm>
          <a:prstGeom prst="rightArrow">
            <a:avLst>
              <a:gd name="adj1" fmla="val 50000"/>
              <a:gd name="adj2" fmla="val 86141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5848" name="Rectangle 13"/>
          <p:cNvSpPr>
            <a:spLocks noChangeArrowheads="1"/>
          </p:cNvSpPr>
          <p:nvPr/>
        </p:nvSpPr>
        <p:spPr bwMode="auto">
          <a:xfrm>
            <a:off x="684216" y="1060452"/>
            <a:ext cx="20161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600" b="1" dirty="0">
                <a:solidFill>
                  <a:srgbClr val="C0504D"/>
                </a:solidFill>
                <a:latin typeface="Times New Roman" pitchFamily="18" charset="0"/>
                <a:ea typeface="华文中宋" pitchFamily="2" charset="-122"/>
              </a:rPr>
              <a:t>三条主线</a:t>
            </a:r>
            <a:r>
              <a:rPr lang="en-US" altLang="zh-CN" sz="2600" b="1" dirty="0">
                <a:solidFill>
                  <a:srgbClr val="C0504D"/>
                </a:solidFill>
                <a:latin typeface="Times New Roman" pitchFamily="18" charset="0"/>
                <a:ea typeface="华文中宋" pitchFamily="2" charset="-122"/>
              </a:rPr>
              <a:t>:</a:t>
            </a:r>
          </a:p>
        </p:txBody>
      </p:sp>
      <p:sp>
        <p:nvSpPr>
          <p:cNvPr id="14364" name="Rectangle 28"/>
          <p:cNvSpPr>
            <a:spLocks noChangeArrowheads="1"/>
          </p:cNvSpPr>
          <p:nvPr/>
        </p:nvSpPr>
        <p:spPr bwMode="auto">
          <a:xfrm>
            <a:off x="3563941" y="1654177"/>
            <a:ext cx="2016125" cy="701675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运动学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（第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章）</a:t>
            </a:r>
            <a:endParaRPr lang="en-US" altLang="zh-CN" sz="1600" b="1" dirty="0">
              <a:solidFill>
                <a:srgbClr val="0000FF"/>
              </a:solidFill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4365" name="Rectangle 29"/>
          <p:cNvSpPr>
            <a:spLocks noChangeArrowheads="1"/>
          </p:cNvSpPr>
          <p:nvPr/>
        </p:nvSpPr>
        <p:spPr bwMode="auto">
          <a:xfrm>
            <a:off x="6083300" y="1654177"/>
            <a:ext cx="2160588" cy="701675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动力学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（第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2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、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章）</a:t>
            </a:r>
            <a:endParaRPr lang="en-US" altLang="zh-CN" sz="1600" b="1" dirty="0">
              <a:solidFill>
                <a:srgbClr val="0000FF"/>
              </a:solidFill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4366" name="Rectangle 30"/>
          <p:cNvSpPr>
            <a:spLocks noChangeArrowheads="1"/>
          </p:cNvSpPr>
          <p:nvPr/>
        </p:nvSpPr>
        <p:spPr bwMode="auto">
          <a:xfrm>
            <a:off x="971552" y="2679702"/>
            <a:ext cx="2087563" cy="701675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相对运动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（第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章第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节）</a:t>
            </a:r>
            <a:endParaRPr lang="en-US" altLang="zh-CN" sz="1600" b="1" dirty="0">
              <a:solidFill>
                <a:srgbClr val="0000FF"/>
              </a:solidFill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4367" name="Rectangle 31"/>
          <p:cNvSpPr>
            <a:spLocks noChangeArrowheads="1"/>
          </p:cNvSpPr>
          <p:nvPr/>
        </p:nvSpPr>
        <p:spPr bwMode="auto">
          <a:xfrm>
            <a:off x="3563941" y="2571750"/>
            <a:ext cx="2016125" cy="10795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经典力学时空观</a:t>
            </a:r>
            <a:endParaRPr lang="en-US" altLang="zh-CN" sz="2400" b="1" dirty="0">
              <a:solidFill>
                <a:srgbClr val="0000FF"/>
              </a:solidFill>
              <a:latin typeface="Times New Roman" pitchFamily="18" charset="0"/>
              <a:ea typeface="华文中宋" pitchFamily="2" charset="-122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（第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4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章第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节）</a:t>
            </a:r>
            <a:endParaRPr lang="en-US" altLang="zh-CN" sz="1600" b="1" dirty="0">
              <a:solidFill>
                <a:srgbClr val="0000FF"/>
              </a:solidFill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4368" name="Rectangle 32"/>
          <p:cNvSpPr>
            <a:spLocks noChangeArrowheads="1"/>
          </p:cNvSpPr>
          <p:nvPr/>
        </p:nvSpPr>
        <p:spPr bwMode="auto">
          <a:xfrm>
            <a:off x="6084888" y="2679700"/>
            <a:ext cx="2159000" cy="757238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相对论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（第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4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章）</a:t>
            </a:r>
            <a:endParaRPr lang="en-US" altLang="zh-CN" sz="1600" b="1" dirty="0">
              <a:solidFill>
                <a:srgbClr val="0000FF"/>
              </a:solidFill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4369" name="Rectangle 33"/>
          <p:cNvSpPr>
            <a:spLocks noChangeArrowheads="1"/>
          </p:cNvSpPr>
          <p:nvPr/>
        </p:nvSpPr>
        <p:spPr bwMode="auto">
          <a:xfrm>
            <a:off x="971554" y="3740696"/>
            <a:ext cx="1584325" cy="7032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平动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（第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、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2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章）</a:t>
            </a:r>
            <a:endParaRPr lang="en-US" altLang="zh-CN" sz="1600" b="1" dirty="0">
              <a:solidFill>
                <a:srgbClr val="0000FF"/>
              </a:solidFill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4370" name="AutoShape 34"/>
          <p:cNvSpPr>
            <a:spLocks noChangeArrowheads="1"/>
          </p:cNvSpPr>
          <p:nvPr/>
        </p:nvSpPr>
        <p:spPr bwMode="auto">
          <a:xfrm>
            <a:off x="2555875" y="4010572"/>
            <a:ext cx="503238" cy="109538"/>
          </a:xfrm>
          <a:prstGeom prst="rightArrow">
            <a:avLst>
              <a:gd name="adj1" fmla="val 50000"/>
              <a:gd name="adj2" fmla="val 86141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4371" name="AutoShape 35"/>
          <p:cNvSpPr>
            <a:spLocks noChangeArrowheads="1"/>
          </p:cNvSpPr>
          <p:nvPr/>
        </p:nvSpPr>
        <p:spPr bwMode="auto">
          <a:xfrm>
            <a:off x="4500567" y="4010572"/>
            <a:ext cx="503237" cy="109538"/>
          </a:xfrm>
          <a:prstGeom prst="rightArrow">
            <a:avLst>
              <a:gd name="adj1" fmla="val 50000"/>
              <a:gd name="adj2" fmla="val 86141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4372" name="Rectangle 36"/>
          <p:cNvSpPr>
            <a:spLocks noChangeArrowheads="1"/>
          </p:cNvSpPr>
          <p:nvPr/>
        </p:nvSpPr>
        <p:spPr bwMode="auto">
          <a:xfrm>
            <a:off x="3059113" y="3742285"/>
            <a:ext cx="1441450" cy="701675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转动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（第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章）</a:t>
            </a:r>
            <a:endParaRPr lang="en-US" altLang="zh-CN" sz="1600" b="1" dirty="0">
              <a:solidFill>
                <a:srgbClr val="0000FF"/>
              </a:solidFill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4373" name="Rectangle 37"/>
          <p:cNvSpPr>
            <a:spLocks noChangeArrowheads="1"/>
          </p:cNvSpPr>
          <p:nvPr/>
        </p:nvSpPr>
        <p:spPr bwMode="auto">
          <a:xfrm>
            <a:off x="6877050" y="3742285"/>
            <a:ext cx="1366838" cy="701675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波动</a:t>
            </a:r>
            <a:endParaRPr lang="en-US" altLang="zh-CN" sz="2400" b="1" dirty="0">
              <a:solidFill>
                <a:srgbClr val="0000FF"/>
              </a:solidFill>
              <a:latin typeface="Times New Roman" pitchFamily="18" charset="0"/>
              <a:ea typeface="华文中宋" pitchFamily="2" charset="-122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（第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6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章）</a:t>
            </a:r>
            <a:endParaRPr lang="en-US" altLang="zh-CN" sz="1600" b="1" dirty="0">
              <a:solidFill>
                <a:srgbClr val="0000FF"/>
              </a:solidFill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4374" name="Rectangle 38"/>
          <p:cNvSpPr>
            <a:spLocks noChangeArrowheads="1"/>
          </p:cNvSpPr>
          <p:nvPr/>
        </p:nvSpPr>
        <p:spPr bwMode="auto">
          <a:xfrm>
            <a:off x="5005388" y="3742285"/>
            <a:ext cx="1368425" cy="701675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振动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（第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5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章）</a:t>
            </a:r>
            <a:endParaRPr lang="en-US" altLang="zh-CN" sz="1600" b="1" dirty="0">
              <a:solidFill>
                <a:srgbClr val="0000FF"/>
              </a:solidFill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4375" name="AutoShape 39"/>
          <p:cNvSpPr>
            <a:spLocks noChangeArrowheads="1"/>
          </p:cNvSpPr>
          <p:nvPr/>
        </p:nvSpPr>
        <p:spPr bwMode="auto">
          <a:xfrm>
            <a:off x="6373816" y="4010572"/>
            <a:ext cx="503237" cy="109538"/>
          </a:xfrm>
          <a:prstGeom prst="rightArrow">
            <a:avLst>
              <a:gd name="adj1" fmla="val 50000"/>
              <a:gd name="adj2" fmla="val 86141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58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nimBg="1"/>
      <p:bldP spid="14340" grpId="0" animBg="1"/>
      <p:bldP spid="14343" grpId="0" animBg="1"/>
      <p:bldP spid="14347" grpId="0" animBg="1"/>
      <p:bldP spid="14348" grpId="0" animBg="1"/>
      <p:bldP spid="14364" grpId="0" animBg="1"/>
      <p:bldP spid="14365" grpId="0" animBg="1"/>
      <p:bldP spid="14366" grpId="0" animBg="1"/>
      <p:bldP spid="14367" grpId="0" animBg="1"/>
      <p:bldP spid="14368" grpId="0" animBg="1"/>
      <p:bldP spid="14369" grpId="0" animBg="1"/>
      <p:bldP spid="14370" grpId="0" animBg="1"/>
      <p:bldP spid="14371" grpId="0" animBg="1"/>
      <p:bldP spid="14372" grpId="0" animBg="1"/>
      <p:bldP spid="14373" grpId="0" animBg="1"/>
      <p:bldP spid="14374" grpId="0" animBg="1"/>
      <p:bldP spid="14375" grpId="0" animBg="1"/>
    </p:bld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238</Words>
  <Application>Microsoft Office PowerPoint</Application>
  <PresentationFormat>全屏显示(16:9)</PresentationFormat>
  <Paragraphs>30</Paragraphs>
  <Slides>4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自定义设计方案</vt:lpstr>
      <vt:lpstr>MS_ClipArt_Gallery.2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Alex</dc:creator>
  <cp:lastModifiedBy>Alex</cp:lastModifiedBy>
  <cp:revision>6</cp:revision>
  <dcterms:created xsi:type="dcterms:W3CDTF">2018-01-08T04:06:00Z</dcterms:created>
  <dcterms:modified xsi:type="dcterms:W3CDTF">2018-02-23T02:54:29Z</dcterms:modified>
</cp:coreProperties>
</file>