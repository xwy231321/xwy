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heme/themeOverride1.xml" ContentType="application/vnd.openxmlformats-officedocument.themeOverr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tags/tag3.xml" ContentType="application/vnd.openxmlformats-officedocument.presentationml.tags+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Default Extension="wav" ContentType="audio/wav"/>
  <Override PartName="/ppt/tags/tag1.xml" ContentType="application/vnd.openxmlformats-officedocument.presentationml.tags+xml"/>
  <Override PartName="/ppt/theme/themeOverride2.xml" ContentType="application/vnd.openxmlformats-officedocument.themeOverr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Default Extension="gif" ContentType="image/gif"/>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Default Extension="wmf" ContentType="image/x-wmf"/>
  <Override PartName="/ppt/tags/tag2.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71"/>
  </p:notesMasterIdLst>
  <p:sldIdLst>
    <p:sldId id="359" r:id="rId2"/>
    <p:sldId id="266" r:id="rId3"/>
    <p:sldId id="260" r:id="rId4"/>
    <p:sldId id="362" r:id="rId5"/>
    <p:sldId id="361" r:id="rId6"/>
    <p:sldId id="265" r:id="rId7"/>
    <p:sldId id="267" r:id="rId8"/>
    <p:sldId id="259" r:id="rId9"/>
    <p:sldId id="262" r:id="rId10"/>
    <p:sldId id="269" r:id="rId11"/>
    <p:sldId id="268" r:id="rId12"/>
    <p:sldId id="270" r:id="rId13"/>
    <p:sldId id="363" r:id="rId14"/>
    <p:sldId id="364" r:id="rId15"/>
    <p:sldId id="365" r:id="rId16"/>
    <p:sldId id="366" r:id="rId17"/>
    <p:sldId id="367" r:id="rId18"/>
    <p:sldId id="368" r:id="rId19"/>
    <p:sldId id="288" r:id="rId20"/>
    <p:sldId id="289" r:id="rId21"/>
    <p:sldId id="291" r:id="rId22"/>
    <p:sldId id="292" r:id="rId23"/>
    <p:sldId id="293" r:id="rId24"/>
    <p:sldId id="294" r:id="rId25"/>
    <p:sldId id="295" r:id="rId26"/>
    <p:sldId id="296" r:id="rId27"/>
    <p:sldId id="297" r:id="rId28"/>
    <p:sldId id="369" r:id="rId29"/>
    <p:sldId id="299" r:id="rId30"/>
    <p:sldId id="301" r:id="rId31"/>
    <p:sldId id="371" r:id="rId32"/>
    <p:sldId id="373" r:id="rId33"/>
    <p:sldId id="302" r:id="rId34"/>
    <p:sldId id="303" r:id="rId35"/>
    <p:sldId id="374" r:id="rId36"/>
    <p:sldId id="304" r:id="rId37"/>
    <p:sldId id="306" r:id="rId38"/>
    <p:sldId id="399" r:id="rId39"/>
    <p:sldId id="313" r:id="rId40"/>
    <p:sldId id="314" r:id="rId41"/>
    <p:sldId id="315" r:id="rId42"/>
    <p:sldId id="316" r:id="rId43"/>
    <p:sldId id="317" r:id="rId44"/>
    <p:sldId id="394" r:id="rId45"/>
    <p:sldId id="395" r:id="rId46"/>
    <p:sldId id="396" r:id="rId47"/>
    <p:sldId id="326" r:id="rId48"/>
    <p:sldId id="397" r:id="rId49"/>
    <p:sldId id="327" r:id="rId50"/>
    <p:sldId id="377" r:id="rId51"/>
    <p:sldId id="378" r:id="rId52"/>
    <p:sldId id="379" r:id="rId53"/>
    <p:sldId id="380" r:id="rId54"/>
    <p:sldId id="381" r:id="rId55"/>
    <p:sldId id="382" r:id="rId56"/>
    <p:sldId id="383" r:id="rId57"/>
    <p:sldId id="384" r:id="rId58"/>
    <p:sldId id="385" r:id="rId59"/>
    <p:sldId id="386" r:id="rId60"/>
    <p:sldId id="387" r:id="rId61"/>
    <p:sldId id="388" r:id="rId62"/>
    <p:sldId id="389" r:id="rId63"/>
    <p:sldId id="390" r:id="rId64"/>
    <p:sldId id="391" r:id="rId65"/>
    <p:sldId id="398" r:id="rId66"/>
    <p:sldId id="400" r:id="rId67"/>
    <p:sldId id="404" r:id="rId68"/>
    <p:sldId id="402" r:id="rId69"/>
    <p:sldId id="403" r:id="rId70"/>
  </p:sldIdLst>
  <p:sldSz cx="9144000" cy="5143500" type="screen16x9"/>
  <p:notesSz cx="6858000" cy="9144000"/>
  <p:defaultTextStyle>
    <a:defPPr>
      <a:defRPr lang="zh-CN"/>
    </a:defPPr>
    <a:lvl1pPr algn="l" rtl="0" fontAlgn="base">
      <a:spcBef>
        <a:spcPct val="0"/>
      </a:spcBef>
      <a:spcAft>
        <a:spcPct val="0"/>
      </a:spcAft>
      <a:defRPr kumimoji="1" sz="2800" kern="1200">
        <a:solidFill>
          <a:schemeClr val="tx1"/>
        </a:solidFill>
        <a:latin typeface="Times New Roman" pitchFamily="18" charset="0"/>
        <a:ea typeface="宋体" charset="-122"/>
        <a:cs typeface="+mn-cs"/>
      </a:defRPr>
    </a:lvl1pPr>
    <a:lvl2pPr marL="457200" algn="l" rtl="0" fontAlgn="base">
      <a:spcBef>
        <a:spcPct val="0"/>
      </a:spcBef>
      <a:spcAft>
        <a:spcPct val="0"/>
      </a:spcAft>
      <a:defRPr kumimoji="1" sz="2800" kern="1200">
        <a:solidFill>
          <a:schemeClr val="tx1"/>
        </a:solidFill>
        <a:latin typeface="Times New Roman" pitchFamily="18" charset="0"/>
        <a:ea typeface="宋体" charset="-122"/>
        <a:cs typeface="+mn-cs"/>
      </a:defRPr>
    </a:lvl2pPr>
    <a:lvl3pPr marL="914400" algn="l" rtl="0" fontAlgn="base">
      <a:spcBef>
        <a:spcPct val="0"/>
      </a:spcBef>
      <a:spcAft>
        <a:spcPct val="0"/>
      </a:spcAft>
      <a:defRPr kumimoji="1" sz="2800" kern="1200">
        <a:solidFill>
          <a:schemeClr val="tx1"/>
        </a:solidFill>
        <a:latin typeface="Times New Roman" pitchFamily="18" charset="0"/>
        <a:ea typeface="宋体" charset="-122"/>
        <a:cs typeface="+mn-cs"/>
      </a:defRPr>
    </a:lvl3pPr>
    <a:lvl4pPr marL="1371600" algn="l" rtl="0" fontAlgn="base">
      <a:spcBef>
        <a:spcPct val="0"/>
      </a:spcBef>
      <a:spcAft>
        <a:spcPct val="0"/>
      </a:spcAft>
      <a:defRPr kumimoji="1" sz="2800" kern="1200">
        <a:solidFill>
          <a:schemeClr val="tx1"/>
        </a:solidFill>
        <a:latin typeface="Times New Roman" pitchFamily="18" charset="0"/>
        <a:ea typeface="宋体" charset="-122"/>
        <a:cs typeface="+mn-cs"/>
      </a:defRPr>
    </a:lvl4pPr>
    <a:lvl5pPr marL="1828800" algn="l" rtl="0" fontAlgn="base">
      <a:spcBef>
        <a:spcPct val="0"/>
      </a:spcBef>
      <a:spcAft>
        <a:spcPct val="0"/>
      </a:spcAft>
      <a:defRPr kumimoji="1" sz="2800" kern="1200">
        <a:solidFill>
          <a:schemeClr val="tx1"/>
        </a:solidFill>
        <a:latin typeface="Times New Roman" pitchFamily="18" charset="0"/>
        <a:ea typeface="宋体" charset="-122"/>
        <a:cs typeface="+mn-cs"/>
      </a:defRPr>
    </a:lvl5pPr>
    <a:lvl6pPr marL="2286000" algn="l" defTabSz="914400" rtl="0" eaLnBrk="1" latinLnBrk="0" hangingPunct="1">
      <a:defRPr kumimoji="1" sz="2800" kern="1200">
        <a:solidFill>
          <a:schemeClr val="tx1"/>
        </a:solidFill>
        <a:latin typeface="Times New Roman" pitchFamily="18" charset="0"/>
        <a:ea typeface="宋体" charset="-122"/>
        <a:cs typeface="+mn-cs"/>
      </a:defRPr>
    </a:lvl6pPr>
    <a:lvl7pPr marL="2743200" algn="l" defTabSz="914400" rtl="0" eaLnBrk="1" latinLnBrk="0" hangingPunct="1">
      <a:defRPr kumimoji="1" sz="2800" kern="1200">
        <a:solidFill>
          <a:schemeClr val="tx1"/>
        </a:solidFill>
        <a:latin typeface="Times New Roman" pitchFamily="18" charset="0"/>
        <a:ea typeface="宋体" charset="-122"/>
        <a:cs typeface="+mn-cs"/>
      </a:defRPr>
    </a:lvl7pPr>
    <a:lvl8pPr marL="3200400" algn="l" defTabSz="914400" rtl="0" eaLnBrk="1" latinLnBrk="0" hangingPunct="1">
      <a:defRPr kumimoji="1" sz="2800" kern="1200">
        <a:solidFill>
          <a:schemeClr val="tx1"/>
        </a:solidFill>
        <a:latin typeface="Times New Roman" pitchFamily="18" charset="0"/>
        <a:ea typeface="宋体" charset="-122"/>
        <a:cs typeface="+mn-cs"/>
      </a:defRPr>
    </a:lvl8pPr>
    <a:lvl9pPr marL="3657600" algn="l" defTabSz="914400" rtl="0" eaLnBrk="1" latinLnBrk="0" hangingPunct="1">
      <a:defRPr kumimoji="1" sz="2800" kern="1200">
        <a:solidFill>
          <a:schemeClr val="tx1"/>
        </a:solidFill>
        <a:latin typeface="Times New Roman" pitchFamily="18"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333300"/>
    <a:srgbClr val="800000"/>
    <a:srgbClr val="9933FF"/>
    <a:srgbClr val="0000FF"/>
    <a:srgbClr val="FF0000"/>
    <a:srgbClr val="009900"/>
    <a:srgbClr val="33CC33"/>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2228" autoAdjust="0"/>
  </p:normalViewPr>
  <p:slideViewPr>
    <p:cSldViewPr>
      <p:cViewPr varScale="1">
        <p:scale>
          <a:sx n="95" d="100"/>
          <a:sy n="95" d="100"/>
        </p:scale>
        <p:origin x="-654" y="-9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image" Target="../media/image18.wmf"/><Relationship Id="rId3" Type="http://schemas.openxmlformats.org/officeDocument/2006/relationships/image" Target="../media/image8.wmf"/><Relationship Id="rId7" Type="http://schemas.openxmlformats.org/officeDocument/2006/relationships/image" Target="../media/image12.wmf"/><Relationship Id="rId12" Type="http://schemas.openxmlformats.org/officeDocument/2006/relationships/image" Target="../media/image17.wmf"/><Relationship Id="rId2" Type="http://schemas.openxmlformats.org/officeDocument/2006/relationships/image" Target="../media/image7.wmf"/><Relationship Id="rId1" Type="http://schemas.openxmlformats.org/officeDocument/2006/relationships/image" Target="../media/image6.wmf"/><Relationship Id="rId6" Type="http://schemas.openxmlformats.org/officeDocument/2006/relationships/image" Target="../media/image11.wmf"/><Relationship Id="rId11" Type="http://schemas.openxmlformats.org/officeDocument/2006/relationships/image" Target="../media/image16.wmf"/><Relationship Id="rId5" Type="http://schemas.openxmlformats.org/officeDocument/2006/relationships/image" Target="../media/image10.wmf"/><Relationship Id="rId10" Type="http://schemas.openxmlformats.org/officeDocument/2006/relationships/image" Target="../media/image15.wmf"/><Relationship Id="rId4" Type="http://schemas.openxmlformats.org/officeDocument/2006/relationships/image" Target="../media/image9.wmf"/><Relationship Id="rId9" Type="http://schemas.openxmlformats.org/officeDocument/2006/relationships/image" Target="../media/image14.wmf"/><Relationship Id="rId14"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2.wmf"/><Relationship Id="rId7" Type="http://schemas.openxmlformats.org/officeDocument/2006/relationships/image" Target="../media/image26.wmf"/><Relationship Id="rId2" Type="http://schemas.openxmlformats.org/officeDocument/2006/relationships/image" Target="../media/image21.wmf"/><Relationship Id="rId1" Type="http://schemas.openxmlformats.org/officeDocument/2006/relationships/image" Target="../media/image20.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 Id="rId4" Type="http://schemas.openxmlformats.org/officeDocument/2006/relationships/image" Target="../media/image3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4"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2.wmf"/><Relationship Id="rId7" Type="http://schemas.openxmlformats.org/officeDocument/2006/relationships/image" Target="../media/image39.wmf"/><Relationship Id="rId2" Type="http://schemas.openxmlformats.org/officeDocument/2006/relationships/image" Target="../media/image41.wmf"/><Relationship Id="rId1" Type="http://schemas.openxmlformats.org/officeDocument/2006/relationships/image" Target="../media/image40.wmf"/><Relationship Id="rId6" Type="http://schemas.openxmlformats.org/officeDocument/2006/relationships/image" Target="../media/image45.wmf"/><Relationship Id="rId5" Type="http://schemas.openxmlformats.org/officeDocument/2006/relationships/image" Target="../media/image44.wmf"/><Relationship Id="rId4" Type="http://schemas.openxmlformats.org/officeDocument/2006/relationships/image" Target="../media/image43.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image" Target="../media/image45.wmf"/><Relationship Id="rId7" Type="http://schemas.openxmlformats.org/officeDocument/2006/relationships/image" Target="../media/image51.wmf"/><Relationship Id="rId2" Type="http://schemas.openxmlformats.org/officeDocument/2006/relationships/image" Target="../media/image47.wmf"/><Relationship Id="rId1" Type="http://schemas.openxmlformats.org/officeDocument/2006/relationships/image" Target="../media/image46.wmf"/><Relationship Id="rId6" Type="http://schemas.openxmlformats.org/officeDocument/2006/relationships/image" Target="../media/image50.wmf"/><Relationship Id="rId5" Type="http://schemas.openxmlformats.org/officeDocument/2006/relationships/image" Target="../media/image49.wmf"/><Relationship Id="rId4" Type="http://schemas.openxmlformats.org/officeDocument/2006/relationships/image" Target="../media/image48.wmf"/><Relationship Id="rId9" Type="http://schemas.openxmlformats.org/officeDocument/2006/relationships/image" Target="../media/image53.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4" Type="http://schemas.openxmlformats.org/officeDocument/2006/relationships/image" Target="../media/image5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 Id="rId5" Type="http://schemas.openxmlformats.org/officeDocument/2006/relationships/image" Target="../media/image62.wmf"/><Relationship Id="rId4" Type="http://schemas.openxmlformats.org/officeDocument/2006/relationships/image" Target="../media/image61.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 Id="rId4" Type="http://schemas.openxmlformats.org/officeDocument/2006/relationships/image" Target="../media/image6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image" Target="../media/image71.wmf"/><Relationship Id="rId7" Type="http://schemas.openxmlformats.org/officeDocument/2006/relationships/image" Target="../media/image75.wmf"/><Relationship Id="rId2" Type="http://schemas.openxmlformats.org/officeDocument/2006/relationships/image" Target="../media/image70.wmf"/><Relationship Id="rId1" Type="http://schemas.openxmlformats.org/officeDocument/2006/relationships/image" Target="../media/image69.wmf"/><Relationship Id="rId6" Type="http://schemas.openxmlformats.org/officeDocument/2006/relationships/image" Target="../media/image74.wmf"/><Relationship Id="rId5" Type="http://schemas.openxmlformats.org/officeDocument/2006/relationships/image" Target="../media/image73.wmf"/><Relationship Id="rId4" Type="http://schemas.openxmlformats.org/officeDocument/2006/relationships/image" Target="../media/image72.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image" Target="../media/image89.wmf"/><Relationship Id="rId3" Type="http://schemas.openxmlformats.org/officeDocument/2006/relationships/image" Target="../media/image79.wmf"/><Relationship Id="rId7" Type="http://schemas.openxmlformats.org/officeDocument/2006/relationships/image" Target="../media/image83.wmf"/><Relationship Id="rId12" Type="http://schemas.openxmlformats.org/officeDocument/2006/relationships/image" Target="../media/image88.wmf"/><Relationship Id="rId2" Type="http://schemas.openxmlformats.org/officeDocument/2006/relationships/image" Target="../media/image78.wmf"/><Relationship Id="rId1" Type="http://schemas.openxmlformats.org/officeDocument/2006/relationships/image" Target="../media/image77.wmf"/><Relationship Id="rId6" Type="http://schemas.openxmlformats.org/officeDocument/2006/relationships/image" Target="../media/image82.wmf"/><Relationship Id="rId11" Type="http://schemas.openxmlformats.org/officeDocument/2006/relationships/image" Target="../media/image87.wmf"/><Relationship Id="rId5" Type="http://schemas.openxmlformats.org/officeDocument/2006/relationships/image" Target="../media/image81.wmf"/><Relationship Id="rId10" Type="http://schemas.openxmlformats.org/officeDocument/2006/relationships/image" Target="../media/image86.wmf"/><Relationship Id="rId4" Type="http://schemas.openxmlformats.org/officeDocument/2006/relationships/image" Target="../media/image80.wmf"/><Relationship Id="rId9" Type="http://schemas.openxmlformats.org/officeDocument/2006/relationships/image" Target="../media/image85.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97.wmf"/><Relationship Id="rId3" Type="http://schemas.openxmlformats.org/officeDocument/2006/relationships/image" Target="../media/image92.wmf"/><Relationship Id="rId7" Type="http://schemas.openxmlformats.org/officeDocument/2006/relationships/image" Target="../media/image96.wmf"/><Relationship Id="rId2" Type="http://schemas.openxmlformats.org/officeDocument/2006/relationships/image" Target="../media/image91.wmf"/><Relationship Id="rId1" Type="http://schemas.openxmlformats.org/officeDocument/2006/relationships/image" Target="../media/image90.wmf"/><Relationship Id="rId6" Type="http://schemas.openxmlformats.org/officeDocument/2006/relationships/image" Target="../media/image95.wmf"/><Relationship Id="rId11" Type="http://schemas.openxmlformats.org/officeDocument/2006/relationships/image" Target="../media/image100.wmf"/><Relationship Id="rId5" Type="http://schemas.openxmlformats.org/officeDocument/2006/relationships/image" Target="../media/image94.wmf"/><Relationship Id="rId10" Type="http://schemas.openxmlformats.org/officeDocument/2006/relationships/image" Target="../media/image99.wmf"/><Relationship Id="rId4" Type="http://schemas.openxmlformats.org/officeDocument/2006/relationships/image" Target="../media/image93.wmf"/><Relationship Id="rId9" Type="http://schemas.openxmlformats.org/officeDocument/2006/relationships/image" Target="../media/image98.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97.wmf"/><Relationship Id="rId13" Type="http://schemas.openxmlformats.org/officeDocument/2006/relationships/image" Target="../media/image107.wmf"/><Relationship Id="rId3" Type="http://schemas.openxmlformats.org/officeDocument/2006/relationships/image" Target="../media/image103.wmf"/><Relationship Id="rId7" Type="http://schemas.openxmlformats.org/officeDocument/2006/relationships/image" Target="../media/image96.wmf"/><Relationship Id="rId12" Type="http://schemas.openxmlformats.org/officeDocument/2006/relationships/image" Target="../media/image106.wmf"/><Relationship Id="rId2" Type="http://schemas.openxmlformats.org/officeDocument/2006/relationships/image" Target="../media/image102.wmf"/><Relationship Id="rId1" Type="http://schemas.openxmlformats.org/officeDocument/2006/relationships/image" Target="../media/image101.wmf"/><Relationship Id="rId6" Type="http://schemas.openxmlformats.org/officeDocument/2006/relationships/image" Target="../media/image26.wmf"/><Relationship Id="rId11" Type="http://schemas.openxmlformats.org/officeDocument/2006/relationships/image" Target="../media/image100.wmf"/><Relationship Id="rId5" Type="http://schemas.openxmlformats.org/officeDocument/2006/relationships/image" Target="../media/image105.wmf"/><Relationship Id="rId10" Type="http://schemas.openxmlformats.org/officeDocument/2006/relationships/image" Target="../media/image99.wmf"/><Relationship Id="rId4" Type="http://schemas.openxmlformats.org/officeDocument/2006/relationships/image" Target="../media/image104.wmf"/><Relationship Id="rId9" Type="http://schemas.openxmlformats.org/officeDocument/2006/relationships/image" Target="../media/image98.wmf"/><Relationship Id="rId14" Type="http://schemas.openxmlformats.org/officeDocument/2006/relationships/image" Target="../media/image108.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09.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10.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 Id="rId5" Type="http://schemas.openxmlformats.org/officeDocument/2006/relationships/image" Target="../media/image121.wmf"/><Relationship Id="rId4" Type="http://schemas.openxmlformats.org/officeDocument/2006/relationships/image" Target="../media/image120.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image" Target="../media/image124.wmf"/><Relationship Id="rId7" Type="http://schemas.openxmlformats.org/officeDocument/2006/relationships/image" Target="../media/image128.wmf"/><Relationship Id="rId2" Type="http://schemas.openxmlformats.org/officeDocument/2006/relationships/image" Target="../media/image123.wmf"/><Relationship Id="rId1" Type="http://schemas.openxmlformats.org/officeDocument/2006/relationships/image" Target="../media/image122.wmf"/><Relationship Id="rId6" Type="http://schemas.openxmlformats.org/officeDocument/2006/relationships/image" Target="../media/image127.wmf"/><Relationship Id="rId5" Type="http://schemas.openxmlformats.org/officeDocument/2006/relationships/image" Target="../media/image126.wmf"/><Relationship Id="rId4" Type="http://schemas.openxmlformats.org/officeDocument/2006/relationships/image" Target="../media/image125.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37.wmf"/><Relationship Id="rId3" Type="http://schemas.openxmlformats.org/officeDocument/2006/relationships/image" Target="../media/image132.wmf"/><Relationship Id="rId7" Type="http://schemas.openxmlformats.org/officeDocument/2006/relationships/image" Target="../media/image136.wmf"/><Relationship Id="rId12" Type="http://schemas.openxmlformats.org/officeDocument/2006/relationships/image" Target="../media/image141.wmf"/><Relationship Id="rId2" Type="http://schemas.openxmlformats.org/officeDocument/2006/relationships/image" Target="../media/image131.wmf"/><Relationship Id="rId1" Type="http://schemas.openxmlformats.org/officeDocument/2006/relationships/image" Target="../media/image130.wmf"/><Relationship Id="rId6" Type="http://schemas.openxmlformats.org/officeDocument/2006/relationships/image" Target="../media/image135.wmf"/><Relationship Id="rId11" Type="http://schemas.openxmlformats.org/officeDocument/2006/relationships/image" Target="../media/image140.wmf"/><Relationship Id="rId5" Type="http://schemas.openxmlformats.org/officeDocument/2006/relationships/image" Target="../media/image134.wmf"/><Relationship Id="rId10" Type="http://schemas.openxmlformats.org/officeDocument/2006/relationships/image" Target="../media/image139.wmf"/><Relationship Id="rId4" Type="http://schemas.openxmlformats.org/officeDocument/2006/relationships/image" Target="../media/image133.wmf"/><Relationship Id="rId9" Type="http://schemas.openxmlformats.org/officeDocument/2006/relationships/image" Target="../media/image138.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44.wmf"/><Relationship Id="rId2" Type="http://schemas.openxmlformats.org/officeDocument/2006/relationships/image" Target="../media/image143.wmf"/><Relationship Id="rId1" Type="http://schemas.openxmlformats.org/officeDocument/2006/relationships/image" Target="../media/image142.wmf"/><Relationship Id="rId4" Type="http://schemas.openxmlformats.org/officeDocument/2006/relationships/image" Target="../media/image145.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57.wmf"/><Relationship Id="rId2" Type="http://schemas.openxmlformats.org/officeDocument/2006/relationships/image" Target="../media/image156.wmf"/><Relationship Id="rId1" Type="http://schemas.openxmlformats.org/officeDocument/2006/relationships/image" Target="../media/image155.wmf"/><Relationship Id="rId4" Type="http://schemas.openxmlformats.org/officeDocument/2006/relationships/image" Target="../media/image158.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61.wmf"/><Relationship Id="rId2" Type="http://schemas.openxmlformats.org/officeDocument/2006/relationships/image" Target="../media/image160.wmf"/><Relationship Id="rId1" Type="http://schemas.openxmlformats.org/officeDocument/2006/relationships/image" Target="../media/image159.wmf"/><Relationship Id="rId6" Type="http://schemas.openxmlformats.org/officeDocument/2006/relationships/image" Target="../media/image164.wmf"/><Relationship Id="rId5" Type="http://schemas.openxmlformats.org/officeDocument/2006/relationships/image" Target="../media/image163.wmf"/><Relationship Id="rId4" Type="http://schemas.openxmlformats.org/officeDocument/2006/relationships/image" Target="../media/image162.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67.wmf"/><Relationship Id="rId7" Type="http://schemas.openxmlformats.org/officeDocument/2006/relationships/image" Target="../media/image171.wmf"/><Relationship Id="rId2" Type="http://schemas.openxmlformats.org/officeDocument/2006/relationships/image" Target="../media/image166.wmf"/><Relationship Id="rId1" Type="http://schemas.openxmlformats.org/officeDocument/2006/relationships/image" Target="../media/image165.wmf"/><Relationship Id="rId6" Type="http://schemas.openxmlformats.org/officeDocument/2006/relationships/image" Target="../media/image170.wmf"/><Relationship Id="rId5" Type="http://schemas.openxmlformats.org/officeDocument/2006/relationships/image" Target="../media/image169.wmf"/><Relationship Id="rId4" Type="http://schemas.openxmlformats.org/officeDocument/2006/relationships/image" Target="../media/image168.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72.png"/></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76.wmf"/><Relationship Id="rId2" Type="http://schemas.openxmlformats.org/officeDocument/2006/relationships/image" Target="../media/image175.wmf"/><Relationship Id="rId1" Type="http://schemas.openxmlformats.org/officeDocument/2006/relationships/image" Target="../media/image174.wmf"/><Relationship Id="rId6" Type="http://schemas.openxmlformats.org/officeDocument/2006/relationships/image" Target="../media/image179.wmf"/><Relationship Id="rId5" Type="http://schemas.openxmlformats.org/officeDocument/2006/relationships/image" Target="../media/image178.wmf"/><Relationship Id="rId4" Type="http://schemas.openxmlformats.org/officeDocument/2006/relationships/image" Target="../media/image177.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82.wmf"/><Relationship Id="rId2" Type="http://schemas.openxmlformats.org/officeDocument/2006/relationships/image" Target="../media/image181.wmf"/><Relationship Id="rId1" Type="http://schemas.openxmlformats.org/officeDocument/2006/relationships/image" Target="../media/image180.wmf"/><Relationship Id="rId4" Type="http://schemas.openxmlformats.org/officeDocument/2006/relationships/image" Target="../media/image183.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191.wmf"/><Relationship Id="rId13" Type="http://schemas.openxmlformats.org/officeDocument/2006/relationships/image" Target="../media/image196.wmf"/><Relationship Id="rId18" Type="http://schemas.openxmlformats.org/officeDocument/2006/relationships/image" Target="../media/image201.wmf"/><Relationship Id="rId3" Type="http://schemas.openxmlformats.org/officeDocument/2006/relationships/image" Target="../media/image186.wmf"/><Relationship Id="rId7" Type="http://schemas.openxmlformats.org/officeDocument/2006/relationships/image" Target="../media/image190.wmf"/><Relationship Id="rId12" Type="http://schemas.openxmlformats.org/officeDocument/2006/relationships/image" Target="../media/image195.wmf"/><Relationship Id="rId17" Type="http://schemas.openxmlformats.org/officeDocument/2006/relationships/image" Target="../media/image200.wmf"/><Relationship Id="rId2" Type="http://schemas.openxmlformats.org/officeDocument/2006/relationships/image" Target="../media/image185.wmf"/><Relationship Id="rId16" Type="http://schemas.openxmlformats.org/officeDocument/2006/relationships/image" Target="../media/image199.wmf"/><Relationship Id="rId1" Type="http://schemas.openxmlformats.org/officeDocument/2006/relationships/image" Target="../media/image184.wmf"/><Relationship Id="rId6" Type="http://schemas.openxmlformats.org/officeDocument/2006/relationships/image" Target="../media/image189.wmf"/><Relationship Id="rId11" Type="http://schemas.openxmlformats.org/officeDocument/2006/relationships/image" Target="../media/image194.wmf"/><Relationship Id="rId5" Type="http://schemas.openxmlformats.org/officeDocument/2006/relationships/image" Target="../media/image188.wmf"/><Relationship Id="rId15" Type="http://schemas.openxmlformats.org/officeDocument/2006/relationships/image" Target="../media/image198.wmf"/><Relationship Id="rId10" Type="http://schemas.openxmlformats.org/officeDocument/2006/relationships/image" Target="../media/image193.wmf"/><Relationship Id="rId4" Type="http://schemas.openxmlformats.org/officeDocument/2006/relationships/image" Target="../media/image187.wmf"/><Relationship Id="rId9" Type="http://schemas.openxmlformats.org/officeDocument/2006/relationships/image" Target="../media/image192.wmf"/><Relationship Id="rId14" Type="http://schemas.openxmlformats.org/officeDocument/2006/relationships/image" Target="../media/image197.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04.wmf"/><Relationship Id="rId2" Type="http://schemas.openxmlformats.org/officeDocument/2006/relationships/image" Target="../media/image203.wmf"/><Relationship Id="rId1" Type="http://schemas.openxmlformats.org/officeDocument/2006/relationships/image" Target="../media/image202.wmf"/><Relationship Id="rId4" Type="http://schemas.openxmlformats.org/officeDocument/2006/relationships/image" Target="../media/image205.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08.wmf"/><Relationship Id="rId2" Type="http://schemas.openxmlformats.org/officeDocument/2006/relationships/image" Target="../media/image207.wmf"/><Relationship Id="rId1" Type="http://schemas.openxmlformats.org/officeDocument/2006/relationships/image" Target="../media/image206.wmf"/><Relationship Id="rId4" Type="http://schemas.openxmlformats.org/officeDocument/2006/relationships/image" Target="../media/image209.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13.wmf"/><Relationship Id="rId2" Type="http://schemas.openxmlformats.org/officeDocument/2006/relationships/image" Target="../media/image212.wmf"/><Relationship Id="rId1" Type="http://schemas.openxmlformats.org/officeDocument/2006/relationships/image" Target="../media/image211.wmf"/><Relationship Id="rId5" Type="http://schemas.openxmlformats.org/officeDocument/2006/relationships/image" Target="../media/image215.wmf"/><Relationship Id="rId4" Type="http://schemas.openxmlformats.org/officeDocument/2006/relationships/image" Target="../media/image214.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223.wmf"/><Relationship Id="rId3" Type="http://schemas.openxmlformats.org/officeDocument/2006/relationships/image" Target="../media/image218.wmf"/><Relationship Id="rId7" Type="http://schemas.openxmlformats.org/officeDocument/2006/relationships/image" Target="../media/image222.wmf"/><Relationship Id="rId2" Type="http://schemas.openxmlformats.org/officeDocument/2006/relationships/image" Target="../media/image217.wmf"/><Relationship Id="rId1" Type="http://schemas.openxmlformats.org/officeDocument/2006/relationships/image" Target="../media/image216.wmf"/><Relationship Id="rId6" Type="http://schemas.openxmlformats.org/officeDocument/2006/relationships/image" Target="../media/image221.wmf"/><Relationship Id="rId5" Type="http://schemas.openxmlformats.org/officeDocument/2006/relationships/image" Target="../media/image220.wmf"/><Relationship Id="rId4" Type="http://schemas.openxmlformats.org/officeDocument/2006/relationships/image" Target="../media/image219.wmf"/><Relationship Id="rId9" Type="http://schemas.openxmlformats.org/officeDocument/2006/relationships/image" Target="../media/image224.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234.png"/><Relationship Id="rId3" Type="http://schemas.openxmlformats.org/officeDocument/2006/relationships/image" Target="../media/image229.wmf"/><Relationship Id="rId7" Type="http://schemas.openxmlformats.org/officeDocument/2006/relationships/image" Target="../media/image233.wmf"/><Relationship Id="rId2" Type="http://schemas.openxmlformats.org/officeDocument/2006/relationships/image" Target="../media/image228.wmf"/><Relationship Id="rId1" Type="http://schemas.openxmlformats.org/officeDocument/2006/relationships/image" Target="../media/image227.wmf"/><Relationship Id="rId6" Type="http://schemas.openxmlformats.org/officeDocument/2006/relationships/image" Target="../media/image232.wmf"/><Relationship Id="rId5" Type="http://schemas.openxmlformats.org/officeDocument/2006/relationships/image" Target="../media/image231.wmf"/><Relationship Id="rId4" Type="http://schemas.openxmlformats.org/officeDocument/2006/relationships/image" Target="../media/image230.wmf"/><Relationship Id="rId9" Type="http://schemas.openxmlformats.org/officeDocument/2006/relationships/image" Target="../media/image235.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44.png"/><Relationship Id="rId3" Type="http://schemas.openxmlformats.org/officeDocument/2006/relationships/image" Target="../media/image239.wmf"/><Relationship Id="rId7" Type="http://schemas.openxmlformats.org/officeDocument/2006/relationships/image" Target="../media/image243.wmf"/><Relationship Id="rId2" Type="http://schemas.openxmlformats.org/officeDocument/2006/relationships/image" Target="../media/image238.wmf"/><Relationship Id="rId1" Type="http://schemas.openxmlformats.org/officeDocument/2006/relationships/image" Target="../media/image237.wmf"/><Relationship Id="rId6" Type="http://schemas.openxmlformats.org/officeDocument/2006/relationships/image" Target="../media/image242.wmf"/><Relationship Id="rId5" Type="http://schemas.openxmlformats.org/officeDocument/2006/relationships/image" Target="../media/image241.wmf"/><Relationship Id="rId4" Type="http://schemas.openxmlformats.org/officeDocument/2006/relationships/image" Target="../media/image240.wmf"/><Relationship Id="rId9" Type="http://schemas.openxmlformats.org/officeDocument/2006/relationships/image" Target="../media/image245.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247.wmf"/><Relationship Id="rId1" Type="http://schemas.openxmlformats.org/officeDocument/2006/relationships/image" Target="../media/image246.png"/></Relationships>
</file>

<file path=ppt/drawings/_rels/vmlDrawing41.vml.rels><?xml version="1.0" encoding="UTF-8" standalone="yes"?>
<Relationships xmlns="http://schemas.openxmlformats.org/package/2006/relationships"><Relationship Id="rId8" Type="http://schemas.openxmlformats.org/officeDocument/2006/relationships/image" Target="../media/image255.wmf"/><Relationship Id="rId13" Type="http://schemas.openxmlformats.org/officeDocument/2006/relationships/image" Target="../media/image260.wmf"/><Relationship Id="rId3" Type="http://schemas.openxmlformats.org/officeDocument/2006/relationships/image" Target="../media/image250.wmf"/><Relationship Id="rId7" Type="http://schemas.openxmlformats.org/officeDocument/2006/relationships/image" Target="../media/image254.wmf"/><Relationship Id="rId12" Type="http://schemas.openxmlformats.org/officeDocument/2006/relationships/image" Target="../media/image259.wmf"/><Relationship Id="rId2" Type="http://schemas.openxmlformats.org/officeDocument/2006/relationships/image" Target="../media/image249.wmf"/><Relationship Id="rId1" Type="http://schemas.openxmlformats.org/officeDocument/2006/relationships/image" Target="../media/image248.wmf"/><Relationship Id="rId6" Type="http://schemas.openxmlformats.org/officeDocument/2006/relationships/image" Target="../media/image253.wmf"/><Relationship Id="rId11" Type="http://schemas.openxmlformats.org/officeDocument/2006/relationships/image" Target="../media/image258.wmf"/><Relationship Id="rId5" Type="http://schemas.openxmlformats.org/officeDocument/2006/relationships/image" Target="../media/image252.wmf"/><Relationship Id="rId10" Type="http://schemas.openxmlformats.org/officeDocument/2006/relationships/image" Target="../media/image257.wmf"/><Relationship Id="rId4" Type="http://schemas.openxmlformats.org/officeDocument/2006/relationships/image" Target="../media/image251.wmf"/><Relationship Id="rId9" Type="http://schemas.openxmlformats.org/officeDocument/2006/relationships/image" Target="../media/image256.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64.wmf"/><Relationship Id="rId2" Type="http://schemas.openxmlformats.org/officeDocument/2006/relationships/image" Target="../media/image263.wmf"/><Relationship Id="rId1" Type="http://schemas.openxmlformats.org/officeDocument/2006/relationships/image" Target="../media/image262.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267.wmf"/><Relationship Id="rId2" Type="http://schemas.openxmlformats.org/officeDocument/2006/relationships/image" Target="../media/image266.wmf"/><Relationship Id="rId1" Type="http://schemas.openxmlformats.org/officeDocument/2006/relationships/image" Target="../media/image265.wmf"/><Relationship Id="rId6" Type="http://schemas.openxmlformats.org/officeDocument/2006/relationships/image" Target="../media/image270.wmf"/><Relationship Id="rId5" Type="http://schemas.openxmlformats.org/officeDocument/2006/relationships/image" Target="../media/image269.wmf"/><Relationship Id="rId4" Type="http://schemas.openxmlformats.org/officeDocument/2006/relationships/image" Target="../media/image268.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73.wmf"/><Relationship Id="rId2" Type="http://schemas.openxmlformats.org/officeDocument/2006/relationships/image" Target="../media/image272.wmf"/><Relationship Id="rId1" Type="http://schemas.openxmlformats.org/officeDocument/2006/relationships/image" Target="../media/image271.wmf"/><Relationship Id="rId4" Type="http://schemas.openxmlformats.org/officeDocument/2006/relationships/image" Target="../media/image274.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275.png"/></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79.wmf"/><Relationship Id="rId2" Type="http://schemas.openxmlformats.org/officeDocument/2006/relationships/image" Target="../media/image278.wmf"/><Relationship Id="rId1" Type="http://schemas.openxmlformats.org/officeDocument/2006/relationships/image" Target="../media/image277.wmf"/></Relationships>
</file>

<file path=ppt/drawings/_rels/vmlDrawing47.vml.rels><?xml version="1.0" encoding="UTF-8" standalone="yes"?>
<Relationships xmlns="http://schemas.openxmlformats.org/package/2006/relationships"><Relationship Id="rId8" Type="http://schemas.openxmlformats.org/officeDocument/2006/relationships/image" Target="../media/image288.wmf"/><Relationship Id="rId3" Type="http://schemas.openxmlformats.org/officeDocument/2006/relationships/image" Target="../media/image283.wmf"/><Relationship Id="rId7" Type="http://schemas.openxmlformats.org/officeDocument/2006/relationships/image" Target="../media/image287.wmf"/><Relationship Id="rId2" Type="http://schemas.openxmlformats.org/officeDocument/2006/relationships/image" Target="../media/image282.wmf"/><Relationship Id="rId1" Type="http://schemas.openxmlformats.org/officeDocument/2006/relationships/image" Target="../media/image281.wmf"/><Relationship Id="rId6" Type="http://schemas.openxmlformats.org/officeDocument/2006/relationships/image" Target="../media/image286.wmf"/><Relationship Id="rId5" Type="http://schemas.openxmlformats.org/officeDocument/2006/relationships/image" Target="../media/image285.wmf"/><Relationship Id="rId4" Type="http://schemas.openxmlformats.org/officeDocument/2006/relationships/image" Target="../media/image284.wmf"/><Relationship Id="rId9" Type="http://schemas.openxmlformats.org/officeDocument/2006/relationships/image" Target="../media/image289.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297.wmf"/><Relationship Id="rId2" Type="http://schemas.openxmlformats.org/officeDocument/2006/relationships/image" Target="../media/image296.wmf"/><Relationship Id="rId1" Type="http://schemas.openxmlformats.org/officeDocument/2006/relationships/image" Target="../media/image295.wmf"/></Relationships>
</file>

<file path=ppt/drawings/_rels/vmlDrawing49.vml.rels><?xml version="1.0" encoding="UTF-8" standalone="yes"?>
<Relationships xmlns="http://schemas.openxmlformats.org/package/2006/relationships"><Relationship Id="rId8" Type="http://schemas.openxmlformats.org/officeDocument/2006/relationships/image" Target="../media/image305.emf"/><Relationship Id="rId3" Type="http://schemas.openxmlformats.org/officeDocument/2006/relationships/image" Target="../media/image300.emf"/><Relationship Id="rId7" Type="http://schemas.openxmlformats.org/officeDocument/2006/relationships/image" Target="../media/image304.emf"/><Relationship Id="rId2" Type="http://schemas.openxmlformats.org/officeDocument/2006/relationships/image" Target="../media/image299.emf"/><Relationship Id="rId1" Type="http://schemas.openxmlformats.org/officeDocument/2006/relationships/image" Target="../media/image298.emf"/><Relationship Id="rId6" Type="http://schemas.openxmlformats.org/officeDocument/2006/relationships/image" Target="../media/image303.emf"/><Relationship Id="rId5" Type="http://schemas.openxmlformats.org/officeDocument/2006/relationships/image" Target="../media/image302.emf"/><Relationship Id="rId10" Type="http://schemas.openxmlformats.org/officeDocument/2006/relationships/image" Target="../media/image307.emf"/><Relationship Id="rId4" Type="http://schemas.openxmlformats.org/officeDocument/2006/relationships/image" Target="../media/image301.emf"/><Relationship Id="rId9" Type="http://schemas.openxmlformats.org/officeDocument/2006/relationships/image" Target="../media/image306.emf"/></Relationships>
</file>

<file path=ppt/drawings/_rels/vmlDrawing50.vml.rels><?xml version="1.0" encoding="UTF-8" standalone="yes"?>
<Relationships xmlns="http://schemas.openxmlformats.org/package/2006/relationships"><Relationship Id="rId8" Type="http://schemas.openxmlformats.org/officeDocument/2006/relationships/image" Target="../media/image315.emf"/><Relationship Id="rId3" Type="http://schemas.openxmlformats.org/officeDocument/2006/relationships/image" Target="../media/image310.emf"/><Relationship Id="rId7" Type="http://schemas.openxmlformats.org/officeDocument/2006/relationships/image" Target="../media/image314.emf"/><Relationship Id="rId12" Type="http://schemas.openxmlformats.org/officeDocument/2006/relationships/image" Target="../media/image319.emf"/><Relationship Id="rId2" Type="http://schemas.openxmlformats.org/officeDocument/2006/relationships/image" Target="../media/image309.emf"/><Relationship Id="rId1" Type="http://schemas.openxmlformats.org/officeDocument/2006/relationships/image" Target="../media/image308.emf"/><Relationship Id="rId6" Type="http://schemas.openxmlformats.org/officeDocument/2006/relationships/image" Target="../media/image313.emf"/><Relationship Id="rId11" Type="http://schemas.openxmlformats.org/officeDocument/2006/relationships/image" Target="../media/image318.emf"/><Relationship Id="rId5" Type="http://schemas.openxmlformats.org/officeDocument/2006/relationships/image" Target="../media/image312.emf"/><Relationship Id="rId10" Type="http://schemas.openxmlformats.org/officeDocument/2006/relationships/image" Target="../media/image317.emf"/><Relationship Id="rId4" Type="http://schemas.openxmlformats.org/officeDocument/2006/relationships/image" Target="../media/image311.emf"/><Relationship Id="rId9" Type="http://schemas.openxmlformats.org/officeDocument/2006/relationships/image" Target="../media/image316.emf"/></Relationships>
</file>

<file path=ppt/drawings/_rels/vmlDrawing51.vml.rels><?xml version="1.0" encoding="UTF-8" standalone="yes"?>
<Relationships xmlns="http://schemas.openxmlformats.org/package/2006/relationships"><Relationship Id="rId8" Type="http://schemas.openxmlformats.org/officeDocument/2006/relationships/image" Target="../media/image327.emf"/><Relationship Id="rId13" Type="http://schemas.openxmlformats.org/officeDocument/2006/relationships/image" Target="../media/image332.emf"/><Relationship Id="rId3" Type="http://schemas.openxmlformats.org/officeDocument/2006/relationships/image" Target="../media/image322.emf"/><Relationship Id="rId7" Type="http://schemas.openxmlformats.org/officeDocument/2006/relationships/image" Target="../media/image326.emf"/><Relationship Id="rId12" Type="http://schemas.openxmlformats.org/officeDocument/2006/relationships/image" Target="../media/image331.emf"/><Relationship Id="rId2" Type="http://schemas.openxmlformats.org/officeDocument/2006/relationships/image" Target="../media/image321.emf"/><Relationship Id="rId1" Type="http://schemas.openxmlformats.org/officeDocument/2006/relationships/image" Target="../media/image320.emf"/><Relationship Id="rId6" Type="http://schemas.openxmlformats.org/officeDocument/2006/relationships/image" Target="../media/image325.emf"/><Relationship Id="rId11" Type="http://schemas.openxmlformats.org/officeDocument/2006/relationships/image" Target="../media/image330.emf"/><Relationship Id="rId5" Type="http://schemas.openxmlformats.org/officeDocument/2006/relationships/image" Target="../media/image324.emf"/><Relationship Id="rId10" Type="http://schemas.openxmlformats.org/officeDocument/2006/relationships/image" Target="../media/image329.emf"/><Relationship Id="rId4" Type="http://schemas.openxmlformats.org/officeDocument/2006/relationships/image" Target="../media/image323.emf"/><Relationship Id="rId9" Type="http://schemas.openxmlformats.org/officeDocument/2006/relationships/image" Target="../media/image32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1638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1741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1638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639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1639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5F802251-15E9-457E-9DEC-191319DBE45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59.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63.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TextEdit="1"/>
          </p:cNvSpPr>
          <p:nvPr>
            <p:ph type="sldImg"/>
          </p:nvPr>
        </p:nvSpPr>
        <p:spPr>
          <a:ln/>
        </p:spPr>
      </p:sp>
      <p:sp>
        <p:nvSpPr>
          <p:cNvPr id="78850" name="备注占位符 2"/>
          <p:cNvSpPr>
            <a:spLocks noGrp="1"/>
          </p:cNvSpPr>
          <p:nvPr>
            <p:ph type="body" idx="1"/>
          </p:nvPr>
        </p:nvSpPr>
        <p:spPr>
          <a:noFill/>
          <a:ln/>
        </p:spPr>
        <p:txBody>
          <a:bodyPr/>
          <a:lstStyle/>
          <a:p>
            <a:endParaRPr lang="zh-CN" altLang="en-US" smtClean="0">
              <a:ea typeface="宋体" charset="-122"/>
            </a:endParaRPr>
          </a:p>
        </p:txBody>
      </p:sp>
      <p:sp>
        <p:nvSpPr>
          <p:cNvPr id="78851" name="灯片编号占位符 3"/>
          <p:cNvSpPr>
            <a:spLocks noGrp="1"/>
          </p:cNvSpPr>
          <p:nvPr>
            <p:ph type="sldNum" sz="quarter" idx="5"/>
          </p:nvPr>
        </p:nvSpPr>
        <p:spPr>
          <a:noFill/>
        </p:spPr>
        <p:txBody>
          <a:bodyPr/>
          <a:lstStyle/>
          <a:p>
            <a:fld id="{6C414497-880C-4BAF-9F28-A0D7D827B98E}" type="slidenum">
              <a:rPr lang="en-US" altLang="zh-CN" smtClean="0">
                <a:ea typeface="宋体" charset="-122"/>
              </a:rPr>
              <a:pPr/>
              <a:t>5</a:t>
            </a:fld>
            <a:endParaRPr lang="en-US" altLang="zh-CN" smtClean="0">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幻灯片图像占位符 1"/>
          <p:cNvSpPr>
            <a:spLocks noGrp="1" noRot="1" noChangeAspect="1" noTextEdit="1"/>
          </p:cNvSpPr>
          <p:nvPr>
            <p:ph type="sldImg"/>
          </p:nvPr>
        </p:nvSpPr>
        <p:spPr>
          <a:ln/>
        </p:spPr>
      </p:sp>
      <p:sp>
        <p:nvSpPr>
          <p:cNvPr id="66562" name="备注占位符 2"/>
          <p:cNvSpPr>
            <a:spLocks noGrp="1"/>
          </p:cNvSpPr>
          <p:nvPr>
            <p:ph type="body" idx="1"/>
          </p:nvPr>
        </p:nvSpPr>
        <p:spPr>
          <a:noFill/>
          <a:ln/>
        </p:spPr>
        <p:txBody>
          <a:bodyPr/>
          <a:lstStyle/>
          <a:p>
            <a:endParaRPr lang="zh-CN" altLang="en-US" smtClean="0">
              <a:ea typeface="宋体" charset="-122"/>
            </a:endParaRPr>
          </a:p>
        </p:txBody>
      </p:sp>
      <p:sp>
        <p:nvSpPr>
          <p:cNvPr id="66563" name="灯片编号占位符 3"/>
          <p:cNvSpPr>
            <a:spLocks noGrp="1"/>
          </p:cNvSpPr>
          <p:nvPr>
            <p:ph type="sldNum" sz="quarter" idx="5"/>
          </p:nvPr>
        </p:nvSpPr>
        <p:spPr>
          <a:noFill/>
        </p:spPr>
        <p:txBody>
          <a:bodyPr/>
          <a:lstStyle/>
          <a:p>
            <a:fld id="{D79183D1-3732-42DC-B447-38C9707EE432}" type="slidenum">
              <a:rPr lang="en-US" altLang="zh-CN" smtClean="0">
                <a:ea typeface="宋体" charset="-122"/>
              </a:rPr>
              <a:pPr/>
              <a:t>12</a:t>
            </a:fld>
            <a:endParaRPr lang="en-US" altLang="zh-CN" smtClean="0">
              <a:ea typeface="宋体"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幻灯片图像占位符 1"/>
          <p:cNvSpPr>
            <a:spLocks noGrp="1" noRot="1" noChangeAspect="1" noTextEdit="1"/>
          </p:cNvSpPr>
          <p:nvPr>
            <p:ph type="sldImg"/>
          </p:nvPr>
        </p:nvSpPr>
        <p:spPr>
          <a:ln/>
        </p:spPr>
      </p:sp>
      <p:sp>
        <p:nvSpPr>
          <p:cNvPr id="86018" name="备注占位符 2"/>
          <p:cNvSpPr>
            <a:spLocks noGrp="1"/>
          </p:cNvSpPr>
          <p:nvPr>
            <p:ph type="body" idx="1"/>
          </p:nvPr>
        </p:nvSpPr>
        <p:spPr>
          <a:noFill/>
          <a:ln/>
        </p:spPr>
        <p:txBody>
          <a:bodyPr/>
          <a:lstStyle/>
          <a:p>
            <a:endParaRPr lang="zh-CN" altLang="en-US" smtClean="0">
              <a:ea typeface="宋体" charset="-122"/>
            </a:endParaRPr>
          </a:p>
        </p:txBody>
      </p:sp>
      <p:sp>
        <p:nvSpPr>
          <p:cNvPr id="86019" name="灯片编号占位符 3"/>
          <p:cNvSpPr>
            <a:spLocks noGrp="1"/>
          </p:cNvSpPr>
          <p:nvPr>
            <p:ph type="sldNum" sz="quarter" idx="5"/>
          </p:nvPr>
        </p:nvSpPr>
        <p:spPr>
          <a:noFill/>
        </p:spPr>
        <p:txBody>
          <a:bodyPr/>
          <a:lstStyle/>
          <a:p>
            <a:fld id="{311B2BC1-AD8B-4807-956F-AAED1C574CDE}" type="slidenum">
              <a:rPr lang="en-US" altLang="zh-CN" smtClean="0">
                <a:ea typeface="宋体" charset="-122"/>
              </a:rPr>
              <a:pPr/>
              <a:t>29</a:t>
            </a:fld>
            <a:endParaRPr lang="en-US" altLang="zh-CN" smtClean="0">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p:cNvSpPr>
            <a:spLocks noGrp="1" noChangeArrowheads="1"/>
          </p:cNvSpPr>
          <p:nvPr>
            <p:ph type="sldNum" sz="quarter" idx="5"/>
          </p:nvPr>
        </p:nvSpPr>
        <p:spPr>
          <a:noFill/>
        </p:spPr>
        <p:txBody>
          <a:bodyPr/>
          <a:lstStyle/>
          <a:p>
            <a:fld id="{096BFB28-7706-4C02-91A8-C646C097D099}" type="slidenum">
              <a:rPr lang="en-US" altLang="zh-CN" smtClean="0">
                <a:ea typeface="宋体" charset="-122"/>
              </a:rPr>
              <a:pPr/>
              <a:t>32</a:t>
            </a:fld>
            <a:endParaRPr lang="en-US" altLang="zh-CN" smtClean="0">
              <a:ea typeface="宋体" charset="-122"/>
            </a:endParaRPr>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a:noFill/>
          <a:ln/>
        </p:spPr>
        <p:txBody>
          <a:bodyPr/>
          <a:lstStyle/>
          <a:p>
            <a:pPr eaLnBrk="1" hangingPunct="1"/>
            <a:r>
              <a:rPr lang="zh-CN" altLang="en-US" smtClean="0">
                <a:ea typeface="宋体" charset="-122"/>
              </a:rPr>
              <a:t>无线电广播信号的电磁波波长为</a:t>
            </a:r>
            <a:r>
              <a:rPr lang="en-US" altLang="zh-CN" smtClean="0">
                <a:ea typeface="宋体" charset="-122"/>
              </a:rPr>
              <a:t>550</a:t>
            </a:r>
            <a:r>
              <a:rPr lang="zh-CN" altLang="en-US" smtClean="0">
                <a:ea typeface="宋体" charset="-122"/>
              </a:rPr>
              <a:t>米，而传输电视信号的电磁波波长为</a:t>
            </a:r>
            <a:r>
              <a:rPr lang="en-US" altLang="zh-CN" smtClean="0">
                <a:ea typeface="宋体" charset="-122"/>
              </a:rPr>
              <a:t>0.566</a:t>
            </a:r>
            <a:r>
              <a:rPr lang="zh-CN" altLang="en-US" smtClean="0">
                <a:ea typeface="宋体" charset="-122"/>
              </a:rPr>
              <a:t>米；女生的声音频率高，波长短，障碍物尺寸相对波长而言比较大，衍射不明显。</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ln/>
        </p:spPr>
      </p:sp>
      <p:sp>
        <p:nvSpPr>
          <p:cNvPr id="165891" name="Rectangle 3"/>
          <p:cNvSpPr>
            <a:spLocks noGrp="1" noRot="1" noChangeArrowheads="1"/>
          </p:cNvSpPr>
          <p:nvPr>
            <p:ph type="body" idx="1"/>
          </p:nvPr>
        </p:nvSpPr>
        <p:spPr>
          <a:xfrm>
            <a:off x="685800" y="4343400"/>
            <a:ext cx="5486400" cy="4114800"/>
          </a:xfrm>
        </p:spPr>
        <p:txBody>
          <a:bodyPr/>
          <a:lstStyle/>
          <a:p>
            <a:pPr eaLnBrk="1" hangingPunct="1">
              <a:spcBef>
                <a:spcPct val="0"/>
              </a:spcBef>
              <a:defRPr/>
            </a:pPr>
            <a:r>
              <a:rPr lang="zh-CN" altLang="en-US" b="1" dirty="0" smtClean="0"/>
              <a:t>这种效应会使机头前部的空气被压缩成密度很高的“空气墙”，使飞机难以逾越。产生这种现象时，飞机刚好接近于音速，后来人们管这种现象叫“音障”。</a:t>
            </a:r>
            <a:r>
              <a:rPr lang="zh-CN" altLang="en-US" b="1" dirty="0" smtClean="0">
                <a:effectLst>
                  <a:outerShdw blurRad="38100" dist="38100" dir="2700000" algn="tl">
                    <a:srgbClr val="C0C0C0"/>
                  </a:outerShdw>
                </a:effectLst>
              </a:rPr>
              <a:t>一旦加大飞机的动力，改进飞机的结构外形就可以突破“音障”。出现物极必反的形势，飞机可轻易地飞行在音波的前方，此时，飞机后方形成圆锥形波面，产生激波。</a:t>
            </a:r>
            <a:r>
              <a:rPr lang="zh-CN" altLang="en-US" b="1" dirty="0" smtClean="0"/>
              <a:t>  </a:t>
            </a:r>
            <a:endParaRPr lang="zh-CN" altLang="en-US" dirty="0" smtClean="0"/>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ln/>
        </p:spPr>
      </p:sp>
      <p:sp>
        <p:nvSpPr>
          <p:cNvPr id="114691" name="Rectangle 3"/>
          <p:cNvSpPr>
            <a:spLocks noGrp="1" noRot="1" noChangeArrowheads="1"/>
          </p:cNvSpPr>
          <p:nvPr>
            <p:ph type="body" idx="1"/>
          </p:nvPr>
        </p:nvSpPr>
        <p:spPr>
          <a:xfrm>
            <a:off x="685800" y="4343400"/>
            <a:ext cx="5486400" cy="4114800"/>
          </a:xfrm>
          <a:noFill/>
          <a:ln/>
        </p:spPr>
        <p:txBody>
          <a:bodyPr/>
          <a:lstStyle/>
          <a:p>
            <a:pPr eaLnBrk="1" hangingPunct="1"/>
            <a:r>
              <a:rPr lang="zh-CN" altLang="en-US" smtClean="0">
                <a:ea typeface="宋体" charset="-122"/>
              </a:rPr>
              <a:t>支持大爆炸宇宙论的有</a:t>
            </a:r>
            <a:r>
              <a:rPr lang="en-US" altLang="zh-CN" smtClean="0">
                <a:ea typeface="宋体" charset="-122"/>
              </a:rPr>
              <a:t>1</a:t>
            </a:r>
            <a:r>
              <a:rPr lang="zh-CN" altLang="en-US" smtClean="0">
                <a:ea typeface="宋体" charset="-122"/>
              </a:rPr>
              <a:t>。河外星系的红移现象，说明宇宙在膨胀，</a:t>
            </a:r>
            <a:r>
              <a:rPr lang="en-US" altLang="zh-CN" smtClean="0">
                <a:ea typeface="宋体" charset="-122"/>
              </a:rPr>
              <a:t>2</a:t>
            </a:r>
            <a:r>
              <a:rPr lang="zh-CN" altLang="en-US" smtClean="0">
                <a:ea typeface="宋体" charset="-122"/>
              </a:rPr>
              <a:t>，</a:t>
            </a:r>
            <a:r>
              <a:rPr lang="en-US" altLang="zh-CN" smtClean="0">
                <a:ea typeface="宋体" charset="-122"/>
              </a:rPr>
              <a:t>3K</a:t>
            </a:r>
            <a:r>
              <a:rPr lang="zh-CN" altLang="en-US" smtClean="0">
                <a:ea typeface="宋体" charset="-122"/>
              </a:rPr>
              <a:t>宇宙背景辐射，是大爆炸留下来的遗迹。</a:t>
            </a:r>
            <a:br>
              <a:rPr lang="zh-CN" altLang="en-US" smtClean="0">
                <a:ea typeface="宋体" charset="-122"/>
              </a:rPr>
            </a:br>
            <a:r>
              <a:rPr lang="zh-CN" altLang="en-US" smtClean="0">
                <a:ea typeface="宋体" charset="-122"/>
              </a:rPr>
              <a:t>天文观测结果是大部分星系的光谱都产生了多普勒红移，这个说明星系之间在彼此远离。 </a:t>
            </a: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7002463" y="268288"/>
            <a:ext cx="1962150" cy="460375"/>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lang="zh-CN" altLang="en-US" sz="2400" b="1" dirty="0" smtClean="0">
                <a:solidFill>
                  <a:prstClr val="white"/>
                </a:solidFill>
              </a:rPr>
              <a:t>第</a:t>
            </a:r>
            <a:r>
              <a:rPr lang="en-US" altLang="zh-CN" sz="2400" b="1" dirty="0" smtClean="0">
                <a:solidFill>
                  <a:prstClr val="white"/>
                </a:solidFill>
              </a:rPr>
              <a:t>6</a:t>
            </a:r>
            <a:r>
              <a:rPr lang="zh-CN" altLang="en-US" sz="2400" b="1" dirty="0" smtClean="0">
                <a:solidFill>
                  <a:prstClr val="white"/>
                </a:solidFill>
              </a:rPr>
              <a:t>章 机械波</a:t>
            </a:r>
            <a:endParaRPr lang="zh-CN" altLang="en-US" sz="2400" b="1" dirty="0">
              <a:solidFill>
                <a:prstClr val="white"/>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7929563" y="268288"/>
            <a:ext cx="1035050" cy="460375"/>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lang="zh-CN" altLang="en-US" sz="2400" b="1" dirty="0" smtClean="0">
                <a:solidFill>
                  <a:prstClr val="white"/>
                </a:solidFill>
              </a:rPr>
              <a:t>前   言</a:t>
            </a:r>
            <a:endParaRPr lang="zh-CN" altLang="en-US" sz="2400" b="1" dirty="0">
              <a:solidFill>
                <a:prstClr val="white"/>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724525" y="268288"/>
            <a:ext cx="3311525" cy="446087"/>
          </a:xfrm>
          <a:prstGeom prst="rect">
            <a:avLst/>
          </a:prstGeom>
          <a:noFill/>
          <a:ln>
            <a:noFill/>
          </a:ln>
          <a:extLst>
            <a:ext uri="{909E8E84-426E-40DD-AFC4-6F175D3DCCD1}"/>
            <a:ext uri="{91240B29-F687-4F45-9708-019B960494DF}"/>
          </a:extLst>
        </p:spPr>
        <p:txBody>
          <a:bodyPr>
            <a:spAutoFit/>
          </a:bodyPr>
          <a:lstStyle/>
          <a:p>
            <a:pPr>
              <a:lnSpc>
                <a:spcPct val="115000"/>
              </a:lnSpc>
              <a:defRPr/>
            </a:pPr>
            <a:r>
              <a:rPr lang="en-US" altLang="zh-CN" sz="2000" b="1">
                <a:solidFill>
                  <a:srgbClr val="FFFFFF"/>
                </a:solidFill>
                <a:ea typeface="华文中宋" pitchFamily="2" charset="-122"/>
                <a:cs typeface="Times New Roman" pitchFamily="18" charset="0"/>
              </a:rPr>
              <a:t>§6-1  </a:t>
            </a:r>
            <a:r>
              <a:rPr lang="zh-CN" altLang="en-US" sz="2000" b="1">
                <a:solidFill>
                  <a:srgbClr val="FFFFFF"/>
                </a:solidFill>
                <a:ea typeface="华文中宋" pitchFamily="2" charset="-122"/>
                <a:cs typeface="Times New Roman" pitchFamily="18" charset="0"/>
              </a:rPr>
              <a:t>机械波的形成和传播</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867400" y="320675"/>
            <a:ext cx="3168650" cy="411163"/>
          </a:xfrm>
          <a:prstGeom prst="rect">
            <a:avLst/>
          </a:prstGeom>
          <a:noFill/>
          <a:ln>
            <a:noFill/>
          </a:ln>
          <a:extLst>
            <a:ext uri="{909E8E84-426E-40DD-AFC4-6F175D3DCCD1}"/>
            <a:ext uri="{91240B29-F687-4F45-9708-019B960494DF}"/>
          </a:extLst>
        </p:spPr>
        <p:txBody>
          <a:bodyPr>
            <a:spAutoFit/>
          </a:bodyPr>
          <a:lstStyle/>
          <a:p>
            <a:pPr>
              <a:lnSpc>
                <a:spcPct val="115000"/>
              </a:lnSpc>
              <a:defRPr/>
            </a:pPr>
            <a:r>
              <a:rPr lang="en-US" altLang="zh-CN" sz="1800" b="1">
                <a:solidFill>
                  <a:srgbClr val="FFFFFF"/>
                </a:solidFill>
                <a:ea typeface="华文中宋" pitchFamily="2" charset="-122"/>
                <a:cs typeface="Times New Roman" pitchFamily="18" charset="0"/>
              </a:rPr>
              <a:t>§6-2  </a:t>
            </a:r>
            <a:r>
              <a:rPr lang="zh-CN" altLang="en-US" sz="1800" b="1">
                <a:solidFill>
                  <a:srgbClr val="FFFFFF"/>
                </a:solidFill>
                <a:ea typeface="华文中宋" pitchFamily="2" charset="-122"/>
                <a:cs typeface="Times New Roman" pitchFamily="18" charset="0"/>
              </a:rPr>
              <a:t>平面简谐波的波动方程</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7056438" y="339725"/>
            <a:ext cx="1979612" cy="446088"/>
          </a:xfrm>
          <a:prstGeom prst="rect">
            <a:avLst/>
          </a:prstGeom>
          <a:noFill/>
          <a:ln>
            <a:noFill/>
          </a:ln>
          <a:extLst>
            <a:ext uri="{909E8E84-426E-40DD-AFC4-6F175D3DCCD1}"/>
            <a:ext uri="{91240B29-F687-4F45-9708-019B960494DF}"/>
          </a:extLst>
        </p:spPr>
        <p:txBody>
          <a:bodyPr>
            <a:spAutoFit/>
          </a:bodyPr>
          <a:lstStyle/>
          <a:p>
            <a:pPr>
              <a:lnSpc>
                <a:spcPct val="115000"/>
              </a:lnSpc>
              <a:defRPr/>
            </a:pPr>
            <a:r>
              <a:rPr lang="en-US" altLang="zh-CN" sz="2000" b="1">
                <a:solidFill>
                  <a:srgbClr val="FFFFFF"/>
                </a:solidFill>
                <a:ea typeface="华文中宋" pitchFamily="2" charset="-122"/>
                <a:cs typeface="Times New Roman" pitchFamily="18" charset="0"/>
              </a:rPr>
              <a:t>§6-3  </a:t>
            </a:r>
            <a:r>
              <a:rPr lang="zh-CN" altLang="en-US" sz="2000" b="1">
                <a:solidFill>
                  <a:srgbClr val="FFFFFF"/>
                </a:solidFill>
                <a:ea typeface="华文中宋" pitchFamily="2" charset="-122"/>
                <a:cs typeface="Times New Roman" pitchFamily="18" charset="0"/>
              </a:rPr>
              <a:t>波的能量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219700" y="325438"/>
            <a:ext cx="3816350" cy="411162"/>
          </a:xfrm>
          <a:prstGeom prst="rect">
            <a:avLst/>
          </a:prstGeom>
          <a:noFill/>
          <a:ln>
            <a:noFill/>
          </a:ln>
          <a:extLst>
            <a:ext uri="{909E8E84-426E-40DD-AFC4-6F175D3DCCD1}"/>
            <a:ext uri="{91240B29-F687-4F45-9708-019B960494DF}"/>
          </a:extLst>
        </p:spPr>
        <p:txBody>
          <a:bodyPr>
            <a:spAutoFit/>
          </a:bodyPr>
          <a:lstStyle/>
          <a:p>
            <a:pPr>
              <a:lnSpc>
                <a:spcPct val="115000"/>
              </a:lnSpc>
              <a:defRPr/>
            </a:pPr>
            <a:r>
              <a:rPr lang="en-US" altLang="zh-CN" sz="1800" b="1">
                <a:solidFill>
                  <a:srgbClr val="FFFFFF"/>
                </a:solidFill>
                <a:ea typeface="华文中宋" pitchFamily="2" charset="-122"/>
                <a:cs typeface="Times New Roman" pitchFamily="18" charset="0"/>
              </a:rPr>
              <a:t>§6-4  </a:t>
            </a:r>
            <a:r>
              <a:rPr lang="zh-CN" altLang="en-US" sz="1800" b="1">
                <a:solidFill>
                  <a:srgbClr val="FFFFFF"/>
                </a:solidFill>
                <a:ea typeface="华文中宋" pitchFamily="2" charset="-122"/>
                <a:cs typeface="Times New Roman" pitchFamily="18" charset="0"/>
              </a:rPr>
              <a:t>惠更斯原理、波的叠加和干涉</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7524750" y="325438"/>
            <a:ext cx="1512888" cy="446087"/>
          </a:xfrm>
          <a:prstGeom prst="rect">
            <a:avLst/>
          </a:prstGeom>
          <a:noFill/>
          <a:ln>
            <a:noFill/>
          </a:ln>
          <a:extLst>
            <a:ext uri="{909E8E84-426E-40DD-AFC4-6F175D3DCCD1}"/>
            <a:ext uri="{91240B29-F687-4F45-9708-019B960494DF}"/>
          </a:extLst>
        </p:spPr>
        <p:txBody>
          <a:bodyPr>
            <a:spAutoFit/>
          </a:bodyPr>
          <a:lstStyle/>
          <a:p>
            <a:pPr>
              <a:lnSpc>
                <a:spcPct val="115000"/>
              </a:lnSpc>
              <a:defRPr/>
            </a:pPr>
            <a:r>
              <a:rPr lang="en-US" altLang="zh-CN" sz="2000" b="1">
                <a:solidFill>
                  <a:srgbClr val="FFFFFF"/>
                </a:solidFill>
                <a:ea typeface="华文中宋" pitchFamily="2" charset="-122"/>
                <a:cs typeface="Times New Roman" pitchFamily="18" charset="0"/>
              </a:rPr>
              <a:t>§6-5  </a:t>
            </a:r>
            <a:r>
              <a:rPr lang="zh-CN" altLang="en-US" sz="2000" b="1">
                <a:solidFill>
                  <a:srgbClr val="FFFFFF"/>
                </a:solidFill>
                <a:ea typeface="华文中宋" pitchFamily="2" charset="-122"/>
                <a:cs typeface="Times New Roman" pitchFamily="18" charset="0"/>
              </a:rPr>
              <a:t>驻波</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732588" y="325438"/>
            <a:ext cx="2305050" cy="446087"/>
          </a:xfrm>
          <a:prstGeom prst="rect">
            <a:avLst/>
          </a:prstGeom>
          <a:noFill/>
          <a:ln>
            <a:noFill/>
          </a:ln>
          <a:extLst>
            <a:ext uri="{909E8E84-426E-40DD-AFC4-6F175D3DCCD1}"/>
            <a:ext uri="{91240B29-F687-4F45-9708-019B960494DF}"/>
          </a:extLst>
        </p:spPr>
        <p:txBody>
          <a:bodyPr>
            <a:spAutoFit/>
          </a:bodyPr>
          <a:lstStyle/>
          <a:p>
            <a:pPr>
              <a:lnSpc>
                <a:spcPct val="115000"/>
              </a:lnSpc>
              <a:defRPr/>
            </a:pPr>
            <a:r>
              <a:rPr lang="en-US" altLang="zh-CN" sz="2000" b="1">
                <a:solidFill>
                  <a:srgbClr val="FFFFFF"/>
                </a:solidFill>
                <a:ea typeface="华文中宋" pitchFamily="2" charset="-122"/>
                <a:cs typeface="Times New Roman" pitchFamily="18" charset="0"/>
              </a:rPr>
              <a:t>§6-6  </a:t>
            </a:r>
            <a:r>
              <a:rPr lang="zh-CN" altLang="en-US" sz="2000" b="1">
                <a:solidFill>
                  <a:srgbClr val="FFFFFF"/>
                </a:solidFill>
                <a:ea typeface="华文中宋" pitchFamily="2" charset="-122"/>
                <a:cs typeface="Times New Roman" pitchFamily="18" charset="0"/>
              </a:rPr>
              <a:t>多普勒效应</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7812088" y="325438"/>
            <a:ext cx="1223962" cy="446087"/>
          </a:xfrm>
          <a:prstGeom prst="rect">
            <a:avLst/>
          </a:prstGeom>
          <a:noFill/>
          <a:ln>
            <a:noFill/>
          </a:ln>
          <a:extLst>
            <a:ext uri="{909E8E84-426E-40DD-AFC4-6F175D3DCCD1}"/>
            <a:ext uri="{91240B29-F687-4F45-9708-019B960494DF}"/>
          </a:extLst>
        </p:spPr>
        <p:txBody>
          <a:bodyPr>
            <a:spAutoFit/>
          </a:bodyPr>
          <a:lstStyle/>
          <a:p>
            <a:pPr>
              <a:lnSpc>
                <a:spcPct val="115000"/>
              </a:lnSpc>
              <a:defRPr/>
            </a:pPr>
            <a:r>
              <a:rPr lang="zh-CN" altLang="en-US" sz="2000" b="1">
                <a:solidFill>
                  <a:srgbClr val="FFFFFF"/>
                </a:solidFill>
                <a:ea typeface="华文中宋" pitchFamily="2" charset="-122"/>
                <a:cs typeface="Times New Roman" pitchFamily="18" charset="0"/>
              </a:rPr>
              <a:t>本章小结</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bg bwMode="auto">
      <p:bgPr>
        <a:gradFill rotWithShape="0">
          <a:gsLst>
            <a:gs pos="0">
              <a:srgbClr val="DDEBCF"/>
            </a:gs>
            <a:gs pos="100000">
              <a:srgbClr val="9CB86E"/>
            </a:gs>
          </a:gsLst>
          <a:lin ang="5400000" scaled="1"/>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200150"/>
            <a:ext cx="4038600" cy="163949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2953942"/>
            <a:ext cx="4038600" cy="164068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200150"/>
            <a:ext cx="4038600" cy="163949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200150"/>
            <a:ext cx="4038600" cy="163949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57200" y="2953942"/>
            <a:ext cx="4038600" cy="164068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8200" y="2953942"/>
            <a:ext cx="4038600" cy="164068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05979"/>
            <a:ext cx="8229600" cy="4388644"/>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hyperlink" Target="0-0-&#24635;&#30446;&#24405;.pptx" TargetMode="Externa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58A289">
            <a:alpha val="20000"/>
          </a:srgbClr>
        </a:solidFill>
        <a:effectLst/>
      </p:bgPr>
    </p:bg>
    <p:spTree>
      <p:nvGrpSpPr>
        <p:cNvPr id="1" name=""/>
        <p:cNvGrpSpPr/>
        <p:nvPr/>
      </p:nvGrpSpPr>
      <p:grpSpPr>
        <a:xfrm>
          <a:off x="0" y="0"/>
          <a:ext cx="0" cy="0"/>
          <a:chOff x="0" y="0"/>
          <a:chExt cx="0" cy="0"/>
        </a:xfrm>
      </p:grpSpPr>
      <p:sp>
        <p:nvSpPr>
          <p:cNvPr id="3" name="矩形 2"/>
          <p:cNvSpPr/>
          <p:nvPr/>
        </p:nvSpPr>
        <p:spPr>
          <a:xfrm>
            <a:off x="-11113" y="-30163"/>
            <a:ext cx="9164638" cy="881063"/>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endParaRPr lang="zh-CN" altLang="en-US" sz="2400" noProof="1">
              <a:solidFill>
                <a:prstClr val="white"/>
              </a:solidFill>
            </a:endParaRPr>
          </a:p>
        </p:txBody>
      </p:sp>
      <p:cxnSp>
        <p:nvCxnSpPr>
          <p:cNvPr id="7" name="直接连接符 6"/>
          <p:cNvCxnSpPr/>
          <p:nvPr/>
        </p:nvCxnSpPr>
        <p:spPr>
          <a:xfrm>
            <a:off x="142875" y="771525"/>
            <a:ext cx="8856663" cy="0"/>
          </a:xfrm>
          <a:prstGeom prst="line">
            <a:avLst/>
          </a:prstGeom>
          <a:ln w="31750">
            <a:solidFill>
              <a:schemeClr val="bg1">
                <a:alpha val="24000"/>
              </a:schemeClr>
            </a:solidFill>
          </a:ln>
        </p:spPr>
        <p:style>
          <a:lnRef idx="1">
            <a:schemeClr val="accent1"/>
          </a:lnRef>
          <a:fillRef idx="0">
            <a:schemeClr val="accent1"/>
          </a:fillRef>
          <a:effectRef idx="0">
            <a:schemeClr val="accent1"/>
          </a:effectRef>
          <a:fontRef idx="minor">
            <a:schemeClr val="tx1"/>
          </a:fontRef>
        </p:style>
      </p:cxnSp>
      <p:pic>
        <p:nvPicPr>
          <p:cNvPr id="22532" name="图片 10"/>
          <p:cNvPicPr>
            <a:picLocks noChangeAspect="1" noChangeArrowheads="1"/>
          </p:cNvPicPr>
          <p:nvPr/>
        </p:nvPicPr>
        <p:blipFill>
          <a:blip r:embed="rId17"/>
          <a:srcRect/>
          <a:stretch>
            <a:fillRect/>
          </a:stretch>
        </p:blipFill>
        <p:spPr bwMode="auto">
          <a:xfrm>
            <a:off x="301625" y="85725"/>
            <a:ext cx="525463" cy="612775"/>
          </a:xfrm>
          <a:prstGeom prst="rect">
            <a:avLst/>
          </a:prstGeom>
          <a:noFill/>
          <a:ln w="9525">
            <a:noFill/>
            <a:miter lim="800000"/>
            <a:headEnd/>
            <a:tailEnd/>
          </a:ln>
        </p:spPr>
      </p:pic>
      <p:sp>
        <p:nvSpPr>
          <p:cNvPr id="1029" name="TextBox 11"/>
          <p:cNvSpPr txBox="1">
            <a:spLocks noChangeArrowheads="1"/>
          </p:cNvSpPr>
          <p:nvPr/>
        </p:nvSpPr>
        <p:spPr bwMode="auto">
          <a:xfrm>
            <a:off x="1246188" y="411163"/>
            <a:ext cx="2379662" cy="369887"/>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lang="zh-CN" altLang="en-US" sz="1800" dirty="0" smtClean="0">
                <a:solidFill>
                  <a:prstClr val="white"/>
                </a:solidFill>
                <a:latin typeface="Calibri" pitchFamily="34" charset="0"/>
              </a:rPr>
              <a:t>大学物理学（第</a:t>
            </a:r>
            <a:r>
              <a:rPr lang="en-US" altLang="zh-CN" sz="1800" dirty="0" smtClean="0">
                <a:solidFill>
                  <a:prstClr val="white"/>
                </a:solidFill>
                <a:latin typeface="Calibri" pitchFamily="34" charset="0"/>
              </a:rPr>
              <a:t>5</a:t>
            </a:r>
            <a:r>
              <a:rPr lang="zh-CN" altLang="en-US" sz="1800" dirty="0" smtClean="0">
                <a:solidFill>
                  <a:prstClr val="white"/>
                </a:solidFill>
                <a:latin typeface="Calibri" pitchFamily="34" charset="0"/>
              </a:rPr>
              <a:t>版）</a:t>
            </a:r>
            <a:endParaRPr lang="zh-CN" altLang="en-US" sz="1800" dirty="0">
              <a:solidFill>
                <a:prstClr val="white"/>
              </a:solidFill>
              <a:latin typeface="Calibri" pitchFamily="34" charset="0"/>
            </a:endParaRPr>
          </a:p>
        </p:txBody>
      </p:sp>
      <p:sp>
        <p:nvSpPr>
          <p:cNvPr id="1030" name="TextBox 12"/>
          <p:cNvSpPr txBox="1">
            <a:spLocks noChangeArrowheads="1"/>
          </p:cNvSpPr>
          <p:nvPr/>
        </p:nvSpPr>
        <p:spPr bwMode="auto">
          <a:xfrm>
            <a:off x="827088" y="134938"/>
            <a:ext cx="3775075" cy="307975"/>
          </a:xfrm>
          <a:prstGeom prst="rect">
            <a:avLst/>
          </a:prstGeom>
          <a:noFill/>
          <a:ln>
            <a:noFill/>
          </a:ln>
          <a:extLst>
            <a:ext uri="{909E8E84-426E-40DD-AFC4-6F175D3DCCD1}"/>
            <a:ext uri="{91240B29-F687-4F45-9708-019B960494DF}"/>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lang="zh-CN" altLang="en-US" sz="1400" dirty="0">
                <a:solidFill>
                  <a:prstClr val="white"/>
                </a:solidFill>
                <a:latin typeface="华文楷体" pitchFamily="2" charset="-122"/>
                <a:ea typeface="华文楷体" pitchFamily="2" charset="-122"/>
              </a:rPr>
              <a:t>“十二五”普通高等教育本科国家级规划教材</a:t>
            </a:r>
          </a:p>
        </p:txBody>
      </p:sp>
      <p:sp>
        <p:nvSpPr>
          <p:cNvPr id="2" name="矩形 1"/>
          <p:cNvSpPr/>
          <p:nvPr/>
        </p:nvSpPr>
        <p:spPr>
          <a:xfrm>
            <a:off x="9525" y="850900"/>
            <a:ext cx="9123363" cy="3743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endParaRPr lang="zh-CN" altLang="en-US" sz="2400" noProof="1">
              <a:solidFill>
                <a:prstClr val="white"/>
              </a:solidFill>
            </a:endParaRPr>
          </a:p>
        </p:txBody>
      </p:sp>
      <p:sp>
        <p:nvSpPr>
          <p:cNvPr id="28" name="矩形 27">
            <a:hlinkClick r:id="" action="ppaction://hlinkshowjump?jump=previousslide"/>
          </p:cNvPr>
          <p:cNvSpPr/>
          <p:nvPr/>
        </p:nvSpPr>
        <p:spPr>
          <a:xfrm>
            <a:off x="7532688" y="4732338"/>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dirty="0">
              <a:solidFill>
                <a:prstClr val="white"/>
              </a:solidFill>
              <a:latin typeface="方正舒体" panose="02010601030101010101" pitchFamily="2" charset="-122"/>
              <a:ea typeface="方正舒体" panose="02010601030101010101" pitchFamily="2" charset="-122"/>
            </a:endParaRPr>
          </a:p>
        </p:txBody>
      </p:sp>
      <p:sp>
        <p:nvSpPr>
          <p:cNvPr id="29" name="矩形 28">
            <a:hlinkClick r:id="" action="ppaction://hlinkshowjump?jump=nextslide"/>
          </p:cNvPr>
          <p:cNvSpPr/>
          <p:nvPr/>
        </p:nvSpPr>
        <p:spPr>
          <a:xfrm>
            <a:off x="8324850" y="4730750"/>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dirty="0">
              <a:solidFill>
                <a:prstClr val="white"/>
              </a:solidFill>
              <a:latin typeface="方正舒体" panose="02010601030101010101" pitchFamily="2" charset="-122"/>
              <a:ea typeface="方正舒体" panose="02010601030101010101" pitchFamily="2" charset="-122"/>
            </a:endParaRPr>
          </a:p>
        </p:txBody>
      </p:sp>
      <p:sp>
        <p:nvSpPr>
          <p:cNvPr id="30" name="矩形 29">
            <a:hlinkClick r:id="" action="ppaction://hlinkshowjump?jump=firstslide"/>
          </p:cNvPr>
          <p:cNvSpPr/>
          <p:nvPr/>
        </p:nvSpPr>
        <p:spPr>
          <a:xfrm>
            <a:off x="6740525" y="4732338"/>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dirty="0">
              <a:solidFill>
                <a:prstClr val="white"/>
              </a:solidFill>
              <a:latin typeface="方正舒体" panose="02010601030101010101" pitchFamily="2" charset="-122"/>
              <a:ea typeface="方正舒体" panose="02010601030101010101" pitchFamily="2" charset="-122"/>
            </a:endParaRPr>
          </a:p>
        </p:txBody>
      </p:sp>
      <p:sp>
        <p:nvSpPr>
          <p:cNvPr id="8203" name="矩形 16">
            <a:hlinkClick r:id="" action="ppaction://hlinkshowjump?jump=nextslide"/>
          </p:cNvPr>
          <p:cNvSpPr>
            <a:spLocks noChangeArrowheads="1"/>
          </p:cNvSpPr>
          <p:nvPr/>
        </p:nvSpPr>
        <p:spPr bwMode="auto">
          <a:xfrm>
            <a:off x="8361363" y="4732338"/>
            <a:ext cx="684212" cy="292100"/>
          </a:xfrm>
          <a:prstGeom prst="rect">
            <a:avLst/>
          </a:prstGeom>
          <a:noFill/>
          <a:ln>
            <a:noFill/>
          </a:ln>
          <a:extLst>
            <a:ext uri="{909E8E84-426E-40DD-AFC4-6F175D3DCCD1}"/>
            <a:ext uri="{91240B29-F687-4F45-9708-019B960494DF}"/>
          </a:extLst>
        </p:spPr>
        <p:txBody>
          <a:bodyPr wrap="none">
            <a:spAutoFit/>
          </a:bodyPr>
          <a:lstStyle/>
          <a:p>
            <a:pPr>
              <a:defRPr/>
            </a:pPr>
            <a:r>
              <a:rPr lang="zh-CN" altLang="en-US" sz="1300">
                <a:solidFill>
                  <a:srgbClr val="FFFFFF"/>
                </a:solidFill>
                <a:latin typeface="方正舒体" pitchFamily="2" charset="-122"/>
                <a:ea typeface="方正舒体" pitchFamily="2" charset="-122"/>
              </a:rPr>
              <a:t>下一页</a:t>
            </a:r>
          </a:p>
        </p:txBody>
      </p:sp>
      <p:sp>
        <p:nvSpPr>
          <p:cNvPr id="8204" name="矩形 30">
            <a:hlinkClick r:id="" action="ppaction://hlinkshowjump?jump=previousslide"/>
          </p:cNvPr>
          <p:cNvSpPr>
            <a:spLocks noChangeArrowheads="1"/>
          </p:cNvSpPr>
          <p:nvPr/>
        </p:nvSpPr>
        <p:spPr bwMode="auto">
          <a:xfrm>
            <a:off x="7539038" y="4732338"/>
            <a:ext cx="684212" cy="292100"/>
          </a:xfrm>
          <a:prstGeom prst="rect">
            <a:avLst/>
          </a:prstGeom>
          <a:noFill/>
          <a:ln>
            <a:noFill/>
          </a:ln>
          <a:extLst>
            <a:ext uri="{909E8E84-426E-40DD-AFC4-6F175D3DCCD1}"/>
            <a:ext uri="{91240B29-F687-4F45-9708-019B960494DF}"/>
          </a:extLst>
        </p:spPr>
        <p:txBody>
          <a:bodyPr wrap="none">
            <a:spAutoFit/>
          </a:bodyPr>
          <a:lstStyle/>
          <a:p>
            <a:pPr>
              <a:defRPr/>
            </a:pPr>
            <a:r>
              <a:rPr lang="zh-CN" altLang="en-US" sz="1300">
                <a:solidFill>
                  <a:srgbClr val="FFFFFF"/>
                </a:solidFill>
                <a:latin typeface="方正舒体" pitchFamily="2" charset="-122"/>
                <a:ea typeface="方正舒体" pitchFamily="2" charset="-122"/>
              </a:rPr>
              <a:t>上一页</a:t>
            </a:r>
          </a:p>
        </p:txBody>
      </p:sp>
      <p:sp>
        <p:nvSpPr>
          <p:cNvPr id="8205" name="矩形 1024">
            <a:hlinkClick r:id="" action="ppaction://hlinkshowjump?jump=firstslide"/>
          </p:cNvPr>
          <p:cNvSpPr>
            <a:spLocks noChangeArrowheads="1"/>
          </p:cNvSpPr>
          <p:nvPr/>
        </p:nvSpPr>
        <p:spPr bwMode="auto">
          <a:xfrm>
            <a:off x="6767513" y="4727575"/>
            <a:ext cx="684212" cy="292100"/>
          </a:xfrm>
          <a:prstGeom prst="rect">
            <a:avLst/>
          </a:prstGeom>
          <a:noFill/>
          <a:ln>
            <a:noFill/>
          </a:ln>
          <a:extLst>
            <a:ext uri="{909E8E84-426E-40DD-AFC4-6F175D3DCCD1}"/>
            <a:ext uri="{91240B29-F687-4F45-9708-019B960494DF}"/>
          </a:extLst>
        </p:spPr>
        <p:txBody>
          <a:bodyPr wrap="none">
            <a:spAutoFit/>
          </a:bodyPr>
          <a:lstStyle/>
          <a:p>
            <a:pPr>
              <a:defRPr/>
            </a:pPr>
            <a:r>
              <a:rPr lang="zh-CN" altLang="en-US" sz="1300">
                <a:solidFill>
                  <a:srgbClr val="FFFFFF"/>
                </a:solidFill>
                <a:latin typeface="方正舒体" pitchFamily="2" charset="-122"/>
                <a:ea typeface="方正舒体" pitchFamily="2" charset="-122"/>
              </a:rPr>
              <a:t>节目录</a:t>
            </a:r>
          </a:p>
        </p:txBody>
      </p:sp>
      <p:sp>
        <p:nvSpPr>
          <p:cNvPr id="38" name="矩形 37">
            <a:hlinkClick r:id="rId18" action="ppaction://hlinkpres?slideindex=1&amp;slidetitle="/>
          </p:cNvPr>
          <p:cNvSpPr/>
          <p:nvPr/>
        </p:nvSpPr>
        <p:spPr>
          <a:xfrm>
            <a:off x="5938838" y="4730750"/>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dirty="0">
              <a:solidFill>
                <a:prstClr val="white"/>
              </a:solidFill>
              <a:latin typeface="方正舒体" panose="02010601030101010101" pitchFamily="2" charset="-122"/>
              <a:ea typeface="方正舒体" panose="02010601030101010101" pitchFamily="2" charset="-122"/>
            </a:endParaRPr>
          </a:p>
        </p:txBody>
      </p:sp>
      <p:sp>
        <p:nvSpPr>
          <p:cNvPr id="8207" name="矩形 36">
            <a:hlinkClick r:id="rId18" action="ppaction://hlinkpres?slideindex=1&amp;slidetitle="/>
          </p:cNvPr>
          <p:cNvSpPr>
            <a:spLocks noChangeArrowheads="1"/>
          </p:cNvSpPr>
          <p:nvPr/>
        </p:nvSpPr>
        <p:spPr bwMode="auto">
          <a:xfrm>
            <a:off x="5938838" y="4732338"/>
            <a:ext cx="685800" cy="292100"/>
          </a:xfrm>
          <a:prstGeom prst="rect">
            <a:avLst/>
          </a:prstGeom>
          <a:noFill/>
          <a:ln>
            <a:noFill/>
          </a:ln>
          <a:extLst>
            <a:ext uri="{909E8E84-426E-40DD-AFC4-6F175D3DCCD1}"/>
            <a:ext uri="{91240B29-F687-4F45-9708-019B960494DF}"/>
          </a:extLst>
        </p:spPr>
        <p:txBody>
          <a:bodyPr wrap="none">
            <a:spAutoFit/>
          </a:bodyPr>
          <a:lstStyle/>
          <a:p>
            <a:pPr>
              <a:defRPr/>
            </a:pPr>
            <a:r>
              <a:rPr lang="zh-CN" altLang="en-US" sz="1300" dirty="0">
                <a:solidFill>
                  <a:srgbClr val="FFFFFF"/>
                </a:solidFill>
                <a:latin typeface="方正舒体" pitchFamily="2" charset="-122"/>
                <a:ea typeface="方正舒体" pitchFamily="2" charset="-122"/>
              </a:rPr>
              <a:t>章目录</a:t>
            </a:r>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78" r:id="rId11"/>
    <p:sldLayoutId id="2147483677" r:id="rId12"/>
    <p:sldLayoutId id="2147483676" r:id="rId13"/>
    <p:sldLayoutId id="2147483675" r:id="rId14"/>
    <p:sldLayoutId id="2147483674" r:id="rId15"/>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audio" Target="../media/audio1.wav"/><Relationship Id="rId7" Type="http://schemas.openxmlformats.org/officeDocument/2006/relationships/slide" Target="slide39.xml"/><Relationship Id="rId2" Type="http://schemas.openxmlformats.org/officeDocument/2006/relationships/slide" Target="slide3.xml"/><Relationship Id="rId1" Type="http://schemas.openxmlformats.org/officeDocument/2006/relationships/slideLayout" Target="../slideLayouts/slideLayout1.xml"/><Relationship Id="rId6" Type="http://schemas.openxmlformats.org/officeDocument/2006/relationships/slide" Target="slide30.xml"/><Relationship Id="rId5" Type="http://schemas.openxmlformats.org/officeDocument/2006/relationships/slide" Target="slide21.xml"/><Relationship Id="rId4" Type="http://schemas.openxmlformats.org/officeDocument/2006/relationships/slide" Target="slide1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vmlDrawing" Target="../drawings/vmlDrawing1.v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vmlDrawing" Target="../drawings/vmlDrawing2.v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oleObject" Target="../embeddings/oleObject11.bin"/><Relationship Id="rId18" Type="http://schemas.openxmlformats.org/officeDocument/2006/relationships/oleObject" Target="../embeddings/oleObject16.bin"/><Relationship Id="rId3" Type="http://schemas.openxmlformats.org/officeDocument/2006/relationships/oleObject" Target="../embeddings/oleObject1.bin"/><Relationship Id="rId7" Type="http://schemas.openxmlformats.org/officeDocument/2006/relationships/oleObject" Target="../embeddings/oleObject5.bin"/><Relationship Id="rId12" Type="http://schemas.openxmlformats.org/officeDocument/2006/relationships/oleObject" Target="../embeddings/oleObject10.bin"/><Relationship Id="rId17" Type="http://schemas.openxmlformats.org/officeDocument/2006/relationships/oleObject" Target="../embeddings/oleObject15.bin"/><Relationship Id="rId2" Type="http://schemas.openxmlformats.org/officeDocument/2006/relationships/slideLayout" Target="../slideLayouts/slideLayout3.xml"/><Relationship Id="rId16" Type="http://schemas.openxmlformats.org/officeDocument/2006/relationships/oleObject" Target="../embeddings/oleObject14.bin"/><Relationship Id="rId20" Type="http://schemas.openxmlformats.org/officeDocument/2006/relationships/oleObject" Target="../embeddings/oleObject18.bin"/><Relationship Id="rId1" Type="http://schemas.openxmlformats.org/officeDocument/2006/relationships/vmlDrawing" Target="../drawings/vmlDrawing3.vml"/><Relationship Id="rId6" Type="http://schemas.openxmlformats.org/officeDocument/2006/relationships/oleObject" Target="../embeddings/oleObject4.bin"/><Relationship Id="rId11" Type="http://schemas.openxmlformats.org/officeDocument/2006/relationships/oleObject" Target="../embeddings/oleObject9.bin"/><Relationship Id="rId5" Type="http://schemas.openxmlformats.org/officeDocument/2006/relationships/oleObject" Target="../embeddings/oleObject3.bin"/><Relationship Id="rId15" Type="http://schemas.openxmlformats.org/officeDocument/2006/relationships/oleObject" Target="../embeddings/oleObject13.bin"/><Relationship Id="rId10" Type="http://schemas.openxmlformats.org/officeDocument/2006/relationships/oleObject" Target="../embeddings/oleObject8.bin"/><Relationship Id="rId19" Type="http://schemas.openxmlformats.org/officeDocument/2006/relationships/oleObject" Target="../embeddings/oleObject17.bin"/><Relationship Id="rId4" Type="http://schemas.openxmlformats.org/officeDocument/2006/relationships/oleObject" Target="../embeddings/oleObject2.bin"/><Relationship Id="rId9" Type="http://schemas.openxmlformats.org/officeDocument/2006/relationships/oleObject" Target="../embeddings/oleObject7.bin"/><Relationship Id="rId14" Type="http://schemas.openxmlformats.org/officeDocument/2006/relationships/oleObject" Target="../embeddings/oleObject12.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oleObject" Target="../embeddings/oleObject19.bin"/><Relationship Id="rId7" Type="http://schemas.openxmlformats.org/officeDocument/2006/relationships/oleObject" Target="../embeddings/oleObject23.bin"/><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oleObject" Target="../embeddings/oleObject22.bin"/><Relationship Id="rId5" Type="http://schemas.openxmlformats.org/officeDocument/2006/relationships/oleObject" Target="../embeddings/oleObject21.bin"/><Relationship Id="rId4" Type="http://schemas.openxmlformats.org/officeDocument/2006/relationships/oleObject" Target="../embeddings/oleObject20.bin"/><Relationship Id="rId9" Type="http://schemas.openxmlformats.org/officeDocument/2006/relationships/oleObject" Target="../embeddings/oleObject25.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6.bin"/><Relationship Id="rId7" Type="http://schemas.openxmlformats.org/officeDocument/2006/relationships/image" Target="../media/image31.jpeg"/><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oleObject" Target="../embeddings/oleObject29.bin"/><Relationship Id="rId5" Type="http://schemas.openxmlformats.org/officeDocument/2006/relationships/oleObject" Target="../embeddings/oleObject28.bin"/><Relationship Id="rId4" Type="http://schemas.openxmlformats.org/officeDocument/2006/relationships/oleObject" Target="../embeddings/oleObject27.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3.xml"/><Relationship Id="rId1" Type="http://schemas.openxmlformats.org/officeDocument/2006/relationships/vmlDrawing" Target="../drawings/vmlDrawing6.vml"/><Relationship Id="rId5" Type="http://schemas.openxmlformats.org/officeDocument/2006/relationships/oleObject" Target="../embeddings/oleObject32.bin"/><Relationship Id="rId4" Type="http://schemas.openxmlformats.org/officeDocument/2006/relationships/oleObject" Target="../embeddings/oleObject31.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3.xml"/><Relationship Id="rId1" Type="http://schemas.openxmlformats.org/officeDocument/2006/relationships/vmlDrawing" Target="../drawings/vmlDrawing7.v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oleObject" Target="../embeddings/oleObject37.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oleObject" Target="../embeddings/oleObject36.bin"/><Relationship Id="rId5" Type="http://schemas.openxmlformats.org/officeDocument/2006/relationships/oleObject" Target="../embeddings/oleObject35.bin"/><Relationship Id="rId4" Type="http://schemas.openxmlformats.org/officeDocument/2006/relationships/oleObject" Target="../embeddings/oleObject34.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oleObject" Target="../embeddings/oleObject38.bin"/><Relationship Id="rId7" Type="http://schemas.openxmlformats.org/officeDocument/2006/relationships/oleObject" Target="../embeddings/oleObject42.bin"/><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oleObject" Target="../embeddings/oleObject41.bin"/><Relationship Id="rId5" Type="http://schemas.openxmlformats.org/officeDocument/2006/relationships/oleObject" Target="../embeddings/oleObject40.bin"/><Relationship Id="rId10" Type="http://schemas.openxmlformats.org/officeDocument/2006/relationships/oleObject" Target="../embeddings/oleObject45.bin"/><Relationship Id="rId4" Type="http://schemas.openxmlformats.org/officeDocument/2006/relationships/oleObject" Target="../embeddings/oleObject39.bin"/><Relationship Id="rId9" Type="http://schemas.openxmlformats.org/officeDocument/2006/relationships/oleObject" Target="../embeddings/oleObject44.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51.bin"/><Relationship Id="rId3" Type="http://schemas.openxmlformats.org/officeDocument/2006/relationships/oleObject" Target="../embeddings/oleObject46.bin"/><Relationship Id="rId7" Type="http://schemas.openxmlformats.org/officeDocument/2006/relationships/oleObject" Target="../embeddings/oleObject50.bin"/><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oleObject" Target="../embeddings/oleObject49.bin"/><Relationship Id="rId11" Type="http://schemas.openxmlformats.org/officeDocument/2006/relationships/oleObject" Target="../embeddings/oleObject54.bin"/><Relationship Id="rId5" Type="http://schemas.openxmlformats.org/officeDocument/2006/relationships/oleObject" Target="../embeddings/oleObject48.bin"/><Relationship Id="rId10" Type="http://schemas.openxmlformats.org/officeDocument/2006/relationships/oleObject" Target="../embeddings/oleObject53.bin"/><Relationship Id="rId4" Type="http://schemas.openxmlformats.org/officeDocument/2006/relationships/oleObject" Target="../embeddings/oleObject47.bin"/><Relationship Id="rId9" Type="http://schemas.openxmlformats.org/officeDocument/2006/relationships/oleObject" Target="../embeddings/oleObject52.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oleObject" Target="../embeddings/oleObject58.bin"/><Relationship Id="rId5" Type="http://schemas.openxmlformats.org/officeDocument/2006/relationships/oleObject" Target="../embeddings/oleObject57.bin"/><Relationship Id="rId4" Type="http://schemas.openxmlformats.org/officeDocument/2006/relationships/oleObject" Target="../embeddings/oleObject56.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9.bin"/><Relationship Id="rId7" Type="http://schemas.openxmlformats.org/officeDocument/2006/relationships/oleObject" Target="../embeddings/oleObject63.bin"/><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oleObject" Target="../embeddings/oleObject62.bin"/><Relationship Id="rId5" Type="http://schemas.openxmlformats.org/officeDocument/2006/relationships/oleObject" Target="../embeddings/oleObject61.bin"/><Relationship Id="rId4" Type="http://schemas.openxmlformats.org/officeDocument/2006/relationships/oleObject" Target="../embeddings/oleObject60.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4.xml"/><Relationship Id="rId1" Type="http://schemas.openxmlformats.org/officeDocument/2006/relationships/vmlDrawing" Target="../drawings/vmlDrawing13.vml"/><Relationship Id="rId6" Type="http://schemas.openxmlformats.org/officeDocument/2006/relationships/oleObject" Target="../embeddings/oleObject67.bin"/><Relationship Id="rId5" Type="http://schemas.openxmlformats.org/officeDocument/2006/relationships/oleObject" Target="../embeddings/oleObject66.bin"/><Relationship Id="rId4" Type="http://schemas.openxmlformats.org/officeDocument/2006/relationships/oleObject" Target="../embeddings/oleObject65.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4.xml"/><Relationship Id="rId1" Type="http://schemas.openxmlformats.org/officeDocument/2006/relationships/vmlDrawing" Target="../drawings/vmlDrawing14.vml"/><Relationship Id="rId4" Type="http://schemas.openxmlformats.org/officeDocument/2006/relationships/image" Target="../media/image68.gi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73.bin"/><Relationship Id="rId3" Type="http://schemas.openxmlformats.org/officeDocument/2006/relationships/audio" Target="../media/audio1.wav"/><Relationship Id="rId7" Type="http://schemas.openxmlformats.org/officeDocument/2006/relationships/oleObject" Target="../embeddings/oleObject72.bin"/><Relationship Id="rId2" Type="http://schemas.openxmlformats.org/officeDocument/2006/relationships/slideLayout" Target="../slideLayouts/slideLayout4.xml"/><Relationship Id="rId1" Type="http://schemas.openxmlformats.org/officeDocument/2006/relationships/vmlDrawing" Target="../drawings/vmlDrawing15.vml"/><Relationship Id="rId6" Type="http://schemas.openxmlformats.org/officeDocument/2006/relationships/oleObject" Target="../embeddings/oleObject71.bin"/><Relationship Id="rId11" Type="http://schemas.openxmlformats.org/officeDocument/2006/relationships/oleObject" Target="../embeddings/oleObject76.bin"/><Relationship Id="rId5" Type="http://schemas.openxmlformats.org/officeDocument/2006/relationships/oleObject" Target="../embeddings/oleObject70.bin"/><Relationship Id="rId10" Type="http://schemas.openxmlformats.org/officeDocument/2006/relationships/oleObject" Target="../embeddings/oleObject75.bin"/><Relationship Id="rId4" Type="http://schemas.openxmlformats.org/officeDocument/2006/relationships/oleObject" Target="../embeddings/oleObject69.bin"/><Relationship Id="rId9" Type="http://schemas.openxmlformats.org/officeDocument/2006/relationships/oleObject" Target="../embeddings/oleObject74.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82.bin"/><Relationship Id="rId13" Type="http://schemas.openxmlformats.org/officeDocument/2006/relationships/oleObject" Target="../embeddings/oleObject87.bin"/><Relationship Id="rId3" Type="http://schemas.openxmlformats.org/officeDocument/2006/relationships/oleObject" Target="../embeddings/oleObject77.bin"/><Relationship Id="rId7" Type="http://schemas.openxmlformats.org/officeDocument/2006/relationships/oleObject" Target="../embeddings/oleObject81.bin"/><Relationship Id="rId12" Type="http://schemas.openxmlformats.org/officeDocument/2006/relationships/oleObject" Target="../embeddings/oleObject86.bin"/><Relationship Id="rId2" Type="http://schemas.openxmlformats.org/officeDocument/2006/relationships/slideLayout" Target="../slideLayouts/slideLayout4.xml"/><Relationship Id="rId1" Type="http://schemas.openxmlformats.org/officeDocument/2006/relationships/vmlDrawing" Target="../drawings/vmlDrawing16.vml"/><Relationship Id="rId6" Type="http://schemas.openxmlformats.org/officeDocument/2006/relationships/oleObject" Target="../embeddings/oleObject80.bin"/><Relationship Id="rId11" Type="http://schemas.openxmlformats.org/officeDocument/2006/relationships/oleObject" Target="../embeddings/oleObject85.bin"/><Relationship Id="rId5" Type="http://schemas.openxmlformats.org/officeDocument/2006/relationships/oleObject" Target="../embeddings/oleObject79.bin"/><Relationship Id="rId15" Type="http://schemas.openxmlformats.org/officeDocument/2006/relationships/oleObject" Target="../embeddings/oleObject89.bin"/><Relationship Id="rId10" Type="http://schemas.openxmlformats.org/officeDocument/2006/relationships/oleObject" Target="../embeddings/oleObject84.bin"/><Relationship Id="rId4" Type="http://schemas.openxmlformats.org/officeDocument/2006/relationships/oleObject" Target="../embeddings/oleObject78.bin"/><Relationship Id="rId9" Type="http://schemas.openxmlformats.org/officeDocument/2006/relationships/oleObject" Target="../embeddings/oleObject83.bin"/><Relationship Id="rId14" Type="http://schemas.openxmlformats.org/officeDocument/2006/relationships/oleObject" Target="../embeddings/oleObject88.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94.bin"/><Relationship Id="rId13" Type="http://schemas.openxmlformats.org/officeDocument/2006/relationships/oleObject" Target="../embeddings/oleObject99.bin"/><Relationship Id="rId3" Type="http://schemas.openxmlformats.org/officeDocument/2006/relationships/audio" Target="../media/audio2.wav"/><Relationship Id="rId7" Type="http://schemas.openxmlformats.org/officeDocument/2006/relationships/oleObject" Target="../embeddings/oleObject93.bin"/><Relationship Id="rId12" Type="http://schemas.openxmlformats.org/officeDocument/2006/relationships/oleObject" Target="../embeddings/oleObject98.bin"/><Relationship Id="rId2" Type="http://schemas.openxmlformats.org/officeDocument/2006/relationships/slideLayout" Target="../slideLayouts/slideLayout5.xml"/><Relationship Id="rId1" Type="http://schemas.openxmlformats.org/officeDocument/2006/relationships/vmlDrawing" Target="../drawings/vmlDrawing17.vml"/><Relationship Id="rId6" Type="http://schemas.openxmlformats.org/officeDocument/2006/relationships/oleObject" Target="../embeddings/oleObject92.bin"/><Relationship Id="rId11" Type="http://schemas.openxmlformats.org/officeDocument/2006/relationships/oleObject" Target="../embeddings/oleObject97.bin"/><Relationship Id="rId5" Type="http://schemas.openxmlformats.org/officeDocument/2006/relationships/oleObject" Target="../embeddings/oleObject91.bin"/><Relationship Id="rId10" Type="http://schemas.openxmlformats.org/officeDocument/2006/relationships/oleObject" Target="../embeddings/oleObject96.bin"/><Relationship Id="rId4" Type="http://schemas.openxmlformats.org/officeDocument/2006/relationships/oleObject" Target="../embeddings/oleObject90.bin"/><Relationship Id="rId9" Type="http://schemas.openxmlformats.org/officeDocument/2006/relationships/oleObject" Target="../embeddings/oleObject95.bin"/><Relationship Id="rId14" Type="http://schemas.openxmlformats.org/officeDocument/2006/relationships/oleObject" Target="../embeddings/oleObject100.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04.bin"/><Relationship Id="rId13" Type="http://schemas.openxmlformats.org/officeDocument/2006/relationships/oleObject" Target="../embeddings/oleObject109.bin"/><Relationship Id="rId18" Type="http://schemas.openxmlformats.org/officeDocument/2006/relationships/oleObject" Target="../embeddings/oleObject114.bin"/><Relationship Id="rId3" Type="http://schemas.openxmlformats.org/officeDocument/2006/relationships/audio" Target="../media/audio2.wav"/><Relationship Id="rId7" Type="http://schemas.openxmlformats.org/officeDocument/2006/relationships/oleObject" Target="../embeddings/oleObject103.bin"/><Relationship Id="rId12" Type="http://schemas.openxmlformats.org/officeDocument/2006/relationships/oleObject" Target="../embeddings/oleObject108.bin"/><Relationship Id="rId17" Type="http://schemas.openxmlformats.org/officeDocument/2006/relationships/oleObject" Target="../embeddings/oleObject113.bin"/><Relationship Id="rId2" Type="http://schemas.openxmlformats.org/officeDocument/2006/relationships/slideLayout" Target="../slideLayouts/slideLayout5.xml"/><Relationship Id="rId16" Type="http://schemas.openxmlformats.org/officeDocument/2006/relationships/oleObject" Target="../embeddings/oleObject112.bin"/><Relationship Id="rId1" Type="http://schemas.openxmlformats.org/officeDocument/2006/relationships/vmlDrawing" Target="../drawings/vmlDrawing18.vml"/><Relationship Id="rId6" Type="http://schemas.openxmlformats.org/officeDocument/2006/relationships/oleObject" Target="../embeddings/oleObject102.bin"/><Relationship Id="rId11" Type="http://schemas.openxmlformats.org/officeDocument/2006/relationships/oleObject" Target="../embeddings/oleObject107.bin"/><Relationship Id="rId5" Type="http://schemas.openxmlformats.org/officeDocument/2006/relationships/oleObject" Target="../embeddings/oleObject101.bin"/><Relationship Id="rId15" Type="http://schemas.openxmlformats.org/officeDocument/2006/relationships/oleObject" Target="../embeddings/oleObject111.bin"/><Relationship Id="rId10" Type="http://schemas.openxmlformats.org/officeDocument/2006/relationships/oleObject" Target="../embeddings/oleObject106.bin"/><Relationship Id="rId4" Type="http://schemas.openxmlformats.org/officeDocument/2006/relationships/audio" Target="../media/audio3.wav"/><Relationship Id="rId9" Type="http://schemas.openxmlformats.org/officeDocument/2006/relationships/oleObject" Target="../embeddings/oleObject105.bin"/><Relationship Id="rId14" Type="http://schemas.openxmlformats.org/officeDocument/2006/relationships/oleObject" Target="../embeddings/oleObject110.bin"/></Relationships>
</file>

<file path=ppt/slides/_rels/slide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5.xml"/><Relationship Id="rId1" Type="http://schemas.openxmlformats.org/officeDocument/2006/relationships/vmlDrawing" Target="../drawings/vmlDrawing19.vml"/><Relationship Id="rId5" Type="http://schemas.openxmlformats.org/officeDocument/2006/relationships/oleObject" Target="../embeddings/oleObject115.bin"/><Relationship Id="rId4" Type="http://schemas.openxmlformats.org/officeDocument/2006/relationships/audio" Target="../media/audio2.wav"/></Relationships>
</file>

<file path=ppt/slides/_rels/slide2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Layout" Target="../slideLayouts/slideLayout5.xml"/><Relationship Id="rId1" Type="http://schemas.openxmlformats.org/officeDocument/2006/relationships/vmlDrawing" Target="../drawings/vmlDrawing20.vml"/><Relationship Id="rId4" Type="http://schemas.openxmlformats.org/officeDocument/2006/relationships/oleObject" Target="../embeddings/oleObject116.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22.bin"/><Relationship Id="rId3" Type="http://schemas.openxmlformats.org/officeDocument/2006/relationships/oleObject" Target="../embeddings/oleObject117.bin"/><Relationship Id="rId7" Type="http://schemas.openxmlformats.org/officeDocument/2006/relationships/oleObject" Target="../embeddings/oleObject121.bin"/><Relationship Id="rId2" Type="http://schemas.openxmlformats.org/officeDocument/2006/relationships/slideLayout" Target="../slideLayouts/slideLayout5.xml"/><Relationship Id="rId1" Type="http://schemas.openxmlformats.org/officeDocument/2006/relationships/vmlDrawing" Target="../drawings/vmlDrawing21.vml"/><Relationship Id="rId6" Type="http://schemas.openxmlformats.org/officeDocument/2006/relationships/oleObject" Target="../embeddings/oleObject120.bin"/><Relationship Id="rId5" Type="http://schemas.openxmlformats.org/officeDocument/2006/relationships/oleObject" Target="../embeddings/oleObject119.bin"/><Relationship Id="rId4" Type="http://schemas.openxmlformats.org/officeDocument/2006/relationships/oleObject" Target="../embeddings/oleObject118.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23.bin"/><Relationship Id="rId7" Type="http://schemas.openxmlformats.org/officeDocument/2006/relationships/oleObject" Target="../embeddings/oleObject127.bin"/><Relationship Id="rId2" Type="http://schemas.openxmlformats.org/officeDocument/2006/relationships/slideLayout" Target="../slideLayouts/slideLayout5.xml"/><Relationship Id="rId1" Type="http://schemas.openxmlformats.org/officeDocument/2006/relationships/vmlDrawing" Target="../drawings/vmlDrawing22.vml"/><Relationship Id="rId6" Type="http://schemas.openxmlformats.org/officeDocument/2006/relationships/oleObject" Target="../embeddings/oleObject126.bin"/><Relationship Id="rId5" Type="http://schemas.openxmlformats.org/officeDocument/2006/relationships/oleObject" Target="../embeddings/oleObject125.bin"/><Relationship Id="rId4" Type="http://schemas.openxmlformats.org/officeDocument/2006/relationships/oleObject" Target="../embeddings/oleObject124.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32.bin"/><Relationship Id="rId3" Type="http://schemas.openxmlformats.org/officeDocument/2006/relationships/audio" Target="../media/audio2.wav"/><Relationship Id="rId7" Type="http://schemas.openxmlformats.org/officeDocument/2006/relationships/oleObject" Target="../embeddings/oleObject131.bin"/><Relationship Id="rId2" Type="http://schemas.openxmlformats.org/officeDocument/2006/relationships/slideLayout" Target="../slideLayouts/slideLayout5.xml"/><Relationship Id="rId1" Type="http://schemas.openxmlformats.org/officeDocument/2006/relationships/vmlDrawing" Target="../drawings/vmlDrawing23.vml"/><Relationship Id="rId6" Type="http://schemas.openxmlformats.org/officeDocument/2006/relationships/oleObject" Target="../embeddings/oleObject130.bin"/><Relationship Id="rId11" Type="http://schemas.openxmlformats.org/officeDocument/2006/relationships/oleObject" Target="../embeddings/oleObject135.bin"/><Relationship Id="rId5" Type="http://schemas.openxmlformats.org/officeDocument/2006/relationships/oleObject" Target="../embeddings/oleObject129.bin"/><Relationship Id="rId10" Type="http://schemas.openxmlformats.org/officeDocument/2006/relationships/oleObject" Target="../embeddings/oleObject134.bin"/><Relationship Id="rId4" Type="http://schemas.openxmlformats.org/officeDocument/2006/relationships/oleObject" Target="../embeddings/oleObject128.bin"/><Relationship Id="rId9" Type="http://schemas.openxmlformats.org/officeDocument/2006/relationships/oleObject" Target="../embeddings/oleObject133.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40.bin"/><Relationship Id="rId13" Type="http://schemas.openxmlformats.org/officeDocument/2006/relationships/oleObject" Target="../embeddings/oleObject145.bin"/><Relationship Id="rId3" Type="http://schemas.openxmlformats.org/officeDocument/2006/relationships/audio" Target="../media/audio2.wav"/><Relationship Id="rId7" Type="http://schemas.openxmlformats.org/officeDocument/2006/relationships/oleObject" Target="../embeddings/oleObject139.bin"/><Relationship Id="rId12" Type="http://schemas.openxmlformats.org/officeDocument/2006/relationships/oleObject" Target="../embeddings/oleObject144.bin"/><Relationship Id="rId2" Type="http://schemas.openxmlformats.org/officeDocument/2006/relationships/slideLayout" Target="../slideLayouts/slideLayout5.xml"/><Relationship Id="rId1" Type="http://schemas.openxmlformats.org/officeDocument/2006/relationships/vmlDrawing" Target="../drawings/vmlDrawing24.vml"/><Relationship Id="rId6" Type="http://schemas.openxmlformats.org/officeDocument/2006/relationships/oleObject" Target="../embeddings/oleObject138.bin"/><Relationship Id="rId11" Type="http://schemas.openxmlformats.org/officeDocument/2006/relationships/oleObject" Target="../embeddings/oleObject143.bin"/><Relationship Id="rId5" Type="http://schemas.openxmlformats.org/officeDocument/2006/relationships/oleObject" Target="../embeddings/oleObject137.bin"/><Relationship Id="rId15" Type="http://schemas.openxmlformats.org/officeDocument/2006/relationships/oleObject" Target="../embeddings/oleObject147.bin"/><Relationship Id="rId10" Type="http://schemas.openxmlformats.org/officeDocument/2006/relationships/oleObject" Target="../embeddings/oleObject142.bin"/><Relationship Id="rId4" Type="http://schemas.openxmlformats.org/officeDocument/2006/relationships/oleObject" Target="../embeddings/oleObject136.bin"/><Relationship Id="rId9" Type="http://schemas.openxmlformats.org/officeDocument/2006/relationships/oleObject" Target="../embeddings/oleObject141.bin"/><Relationship Id="rId14" Type="http://schemas.openxmlformats.org/officeDocument/2006/relationships/oleObject" Target="../embeddings/oleObject146.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51.bin"/><Relationship Id="rId3" Type="http://schemas.openxmlformats.org/officeDocument/2006/relationships/notesSlide" Target="../notesSlides/notesSlide3.xml"/><Relationship Id="rId7" Type="http://schemas.openxmlformats.org/officeDocument/2006/relationships/oleObject" Target="../embeddings/oleObject150.bin"/><Relationship Id="rId2" Type="http://schemas.openxmlformats.org/officeDocument/2006/relationships/slideLayout" Target="../slideLayouts/slideLayout5.xml"/><Relationship Id="rId1" Type="http://schemas.openxmlformats.org/officeDocument/2006/relationships/vmlDrawing" Target="../drawings/vmlDrawing25.vml"/><Relationship Id="rId6" Type="http://schemas.openxmlformats.org/officeDocument/2006/relationships/oleObject" Target="../embeddings/oleObject149.bin"/><Relationship Id="rId5" Type="http://schemas.openxmlformats.org/officeDocument/2006/relationships/oleObject" Target="../embeddings/oleObject148.bin"/><Relationship Id="rId4" Type="http://schemas.openxmlformats.org/officeDocument/2006/relationships/audio" Target="../media/audio2.wav"/></Relationships>
</file>

<file path=ppt/slides/_rels/slide30.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46.gif"/><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50.jpeg"/><Relationship Id="rId2" Type="http://schemas.openxmlformats.org/officeDocument/2006/relationships/slideLayout" Target="../slideLayouts/slideLayout6.xml"/><Relationship Id="rId1" Type="http://schemas.openxmlformats.org/officeDocument/2006/relationships/vmlDrawing" Target="../drawings/vmlDrawing26.vml"/><Relationship Id="rId6" Type="http://schemas.openxmlformats.org/officeDocument/2006/relationships/oleObject" Target="../embeddings/oleObject154.bin"/><Relationship Id="rId5" Type="http://schemas.openxmlformats.org/officeDocument/2006/relationships/oleObject" Target="../embeddings/oleObject153.bin"/><Relationship Id="rId4" Type="http://schemas.openxmlformats.org/officeDocument/2006/relationships/oleObject" Target="../embeddings/oleObject152.bin"/></Relationships>
</file>

<file path=ppt/slides/_rels/slide33.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gif"/><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54.gif"/><Relationship Id="rId2" Type="http://schemas.openxmlformats.org/officeDocument/2006/relationships/image" Target="../media/image153.jpe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55.bin"/><Relationship Id="rId2" Type="http://schemas.openxmlformats.org/officeDocument/2006/relationships/slideLayout" Target="../slideLayouts/slideLayout6.xml"/><Relationship Id="rId1" Type="http://schemas.openxmlformats.org/officeDocument/2006/relationships/vmlDrawing" Target="../drawings/vmlDrawing27.vml"/><Relationship Id="rId6" Type="http://schemas.openxmlformats.org/officeDocument/2006/relationships/oleObject" Target="../embeddings/oleObject158.bin"/><Relationship Id="rId5" Type="http://schemas.openxmlformats.org/officeDocument/2006/relationships/oleObject" Target="../embeddings/oleObject157.bin"/><Relationship Id="rId4" Type="http://schemas.openxmlformats.org/officeDocument/2006/relationships/oleObject" Target="../embeddings/oleObject156.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63.bin"/><Relationship Id="rId3" Type="http://schemas.openxmlformats.org/officeDocument/2006/relationships/audio" Target="../media/audio2.wav"/><Relationship Id="rId7" Type="http://schemas.openxmlformats.org/officeDocument/2006/relationships/oleObject" Target="../embeddings/oleObject162.bin"/><Relationship Id="rId2" Type="http://schemas.openxmlformats.org/officeDocument/2006/relationships/slideLayout" Target="../slideLayouts/slideLayout6.xml"/><Relationship Id="rId1" Type="http://schemas.openxmlformats.org/officeDocument/2006/relationships/vmlDrawing" Target="../drawings/vmlDrawing28.vml"/><Relationship Id="rId6" Type="http://schemas.openxmlformats.org/officeDocument/2006/relationships/oleObject" Target="../embeddings/oleObject161.bin"/><Relationship Id="rId5" Type="http://schemas.openxmlformats.org/officeDocument/2006/relationships/oleObject" Target="../embeddings/oleObject160.bin"/><Relationship Id="rId4" Type="http://schemas.openxmlformats.org/officeDocument/2006/relationships/oleObject" Target="../embeddings/oleObject159.bin"/><Relationship Id="rId9" Type="http://schemas.openxmlformats.org/officeDocument/2006/relationships/oleObject" Target="../embeddings/oleObject164.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69.bin"/><Relationship Id="rId3" Type="http://schemas.openxmlformats.org/officeDocument/2006/relationships/audio" Target="../media/audio2.wav"/><Relationship Id="rId7" Type="http://schemas.openxmlformats.org/officeDocument/2006/relationships/oleObject" Target="../embeddings/oleObject168.bin"/><Relationship Id="rId2" Type="http://schemas.openxmlformats.org/officeDocument/2006/relationships/slideLayout" Target="../slideLayouts/slideLayout6.xml"/><Relationship Id="rId1" Type="http://schemas.openxmlformats.org/officeDocument/2006/relationships/vmlDrawing" Target="../drawings/vmlDrawing29.vml"/><Relationship Id="rId6" Type="http://schemas.openxmlformats.org/officeDocument/2006/relationships/oleObject" Target="../embeddings/oleObject167.bin"/><Relationship Id="rId11" Type="http://schemas.openxmlformats.org/officeDocument/2006/relationships/slide" Target="slide67.xml"/><Relationship Id="rId5" Type="http://schemas.openxmlformats.org/officeDocument/2006/relationships/oleObject" Target="../embeddings/oleObject166.bin"/><Relationship Id="rId10" Type="http://schemas.openxmlformats.org/officeDocument/2006/relationships/oleObject" Target="../embeddings/oleObject171.bin"/><Relationship Id="rId4" Type="http://schemas.openxmlformats.org/officeDocument/2006/relationships/oleObject" Target="../embeddings/oleObject165.bin"/><Relationship Id="rId9" Type="http://schemas.openxmlformats.org/officeDocument/2006/relationships/oleObject" Target="../embeddings/oleObject170.bin"/></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vmlDrawing" Target="../drawings/vmlDrawing30.vml"/></Relationships>
</file>

<file path=ppt/slides/_rels/slide39.xml.rels><?xml version="1.0" encoding="UTF-8" standalone="yes"?>
<Relationships xmlns="http://schemas.openxmlformats.org/package/2006/relationships"><Relationship Id="rId2" Type="http://schemas.openxmlformats.org/officeDocument/2006/relationships/image" Target="../media/image173.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76.bin"/><Relationship Id="rId3" Type="http://schemas.openxmlformats.org/officeDocument/2006/relationships/audio" Target="../media/audio4.wav"/><Relationship Id="rId7" Type="http://schemas.openxmlformats.org/officeDocument/2006/relationships/oleObject" Target="../embeddings/oleObject175.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174.bin"/><Relationship Id="rId5" Type="http://schemas.openxmlformats.org/officeDocument/2006/relationships/oleObject" Target="../embeddings/oleObject173.bin"/><Relationship Id="rId4" Type="http://schemas.openxmlformats.org/officeDocument/2006/relationships/oleObject" Target="../embeddings/oleObject172.bin"/><Relationship Id="rId9" Type="http://schemas.openxmlformats.org/officeDocument/2006/relationships/oleObject" Target="../embeddings/oleObject177.bin"/></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78.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oleObject" Target="../embeddings/oleObject181.bin"/><Relationship Id="rId5" Type="http://schemas.openxmlformats.org/officeDocument/2006/relationships/oleObject" Target="../embeddings/oleObject180.bin"/><Relationship Id="rId4" Type="http://schemas.openxmlformats.org/officeDocument/2006/relationships/oleObject" Target="../embeddings/oleObject179.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86.bin"/><Relationship Id="rId13" Type="http://schemas.openxmlformats.org/officeDocument/2006/relationships/oleObject" Target="../embeddings/oleObject191.bin"/><Relationship Id="rId18" Type="http://schemas.openxmlformats.org/officeDocument/2006/relationships/oleObject" Target="../embeddings/oleObject196.bin"/><Relationship Id="rId3" Type="http://schemas.openxmlformats.org/officeDocument/2006/relationships/audio" Target="../media/audio2.wav"/><Relationship Id="rId21" Type="http://schemas.openxmlformats.org/officeDocument/2006/relationships/oleObject" Target="../embeddings/oleObject199.bin"/><Relationship Id="rId7" Type="http://schemas.openxmlformats.org/officeDocument/2006/relationships/oleObject" Target="../embeddings/oleObject185.bin"/><Relationship Id="rId12" Type="http://schemas.openxmlformats.org/officeDocument/2006/relationships/oleObject" Target="../embeddings/oleObject190.bin"/><Relationship Id="rId17" Type="http://schemas.openxmlformats.org/officeDocument/2006/relationships/oleObject" Target="../embeddings/oleObject195.bin"/><Relationship Id="rId2" Type="http://schemas.openxmlformats.org/officeDocument/2006/relationships/slideLayout" Target="../slideLayouts/slideLayout7.xml"/><Relationship Id="rId16" Type="http://schemas.openxmlformats.org/officeDocument/2006/relationships/oleObject" Target="../embeddings/oleObject194.bin"/><Relationship Id="rId20" Type="http://schemas.openxmlformats.org/officeDocument/2006/relationships/oleObject" Target="../embeddings/oleObject198.bin"/><Relationship Id="rId1" Type="http://schemas.openxmlformats.org/officeDocument/2006/relationships/vmlDrawing" Target="../drawings/vmlDrawing33.vml"/><Relationship Id="rId6" Type="http://schemas.openxmlformats.org/officeDocument/2006/relationships/oleObject" Target="../embeddings/oleObject184.bin"/><Relationship Id="rId11" Type="http://schemas.openxmlformats.org/officeDocument/2006/relationships/oleObject" Target="../embeddings/oleObject189.bin"/><Relationship Id="rId5" Type="http://schemas.openxmlformats.org/officeDocument/2006/relationships/oleObject" Target="../embeddings/oleObject183.bin"/><Relationship Id="rId15" Type="http://schemas.openxmlformats.org/officeDocument/2006/relationships/oleObject" Target="../embeddings/oleObject193.bin"/><Relationship Id="rId10" Type="http://schemas.openxmlformats.org/officeDocument/2006/relationships/oleObject" Target="../embeddings/oleObject188.bin"/><Relationship Id="rId19" Type="http://schemas.openxmlformats.org/officeDocument/2006/relationships/oleObject" Target="../embeddings/oleObject197.bin"/><Relationship Id="rId4" Type="http://schemas.openxmlformats.org/officeDocument/2006/relationships/oleObject" Target="../embeddings/oleObject182.bin"/><Relationship Id="rId9" Type="http://schemas.openxmlformats.org/officeDocument/2006/relationships/oleObject" Target="../embeddings/oleObject187.bin"/><Relationship Id="rId14" Type="http://schemas.openxmlformats.org/officeDocument/2006/relationships/oleObject" Target="../embeddings/oleObject192.bin"/><Relationship Id="rId22" Type="http://schemas.openxmlformats.org/officeDocument/2006/relationships/oleObject" Target="../embeddings/oleObject200.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01.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oleObject" Target="../embeddings/oleObject204.bin"/><Relationship Id="rId5" Type="http://schemas.openxmlformats.org/officeDocument/2006/relationships/oleObject" Target="../embeddings/oleObject203.bin"/><Relationship Id="rId4" Type="http://schemas.openxmlformats.org/officeDocument/2006/relationships/oleObject" Target="../embeddings/oleObject202.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05.bin"/><Relationship Id="rId7" Type="http://schemas.openxmlformats.org/officeDocument/2006/relationships/oleObject" Target="../embeddings/oleObject208.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oleObject" Target="../embeddings/oleObject207.bin"/><Relationship Id="rId5" Type="http://schemas.openxmlformats.org/officeDocument/2006/relationships/image" Target="../media/image210.png"/><Relationship Id="rId4" Type="http://schemas.openxmlformats.org/officeDocument/2006/relationships/oleObject" Target="../embeddings/oleObject206.bin"/></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09.bin"/><Relationship Id="rId7" Type="http://schemas.openxmlformats.org/officeDocument/2006/relationships/oleObject" Target="../embeddings/oleObject213.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oleObject" Target="../embeddings/oleObject212.bin"/><Relationship Id="rId5" Type="http://schemas.openxmlformats.org/officeDocument/2006/relationships/oleObject" Target="../embeddings/oleObject211.bin"/><Relationship Id="rId4" Type="http://schemas.openxmlformats.org/officeDocument/2006/relationships/oleObject" Target="../embeddings/oleObject210.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219.bin"/><Relationship Id="rId3" Type="http://schemas.openxmlformats.org/officeDocument/2006/relationships/oleObject" Target="../embeddings/oleObject214.bin"/><Relationship Id="rId7" Type="http://schemas.openxmlformats.org/officeDocument/2006/relationships/oleObject" Target="../embeddings/oleObject218.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oleObject" Target="../embeddings/oleObject217.bin"/><Relationship Id="rId11" Type="http://schemas.openxmlformats.org/officeDocument/2006/relationships/oleObject" Target="../embeddings/oleObject222.bin"/><Relationship Id="rId5" Type="http://schemas.openxmlformats.org/officeDocument/2006/relationships/oleObject" Target="../embeddings/oleObject216.bin"/><Relationship Id="rId10" Type="http://schemas.openxmlformats.org/officeDocument/2006/relationships/oleObject" Target="../embeddings/oleObject221.bin"/><Relationship Id="rId4" Type="http://schemas.openxmlformats.org/officeDocument/2006/relationships/oleObject" Target="../embeddings/oleObject215.bin"/><Relationship Id="rId9" Type="http://schemas.openxmlformats.org/officeDocument/2006/relationships/oleObject" Target="../embeddings/oleObject220.bin"/></Relationships>
</file>

<file path=ppt/slides/_rels/slide49.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slideLayout" Target="../slideLayouts/slideLayout8.xml"/><Relationship Id="rId1" Type="http://schemas.openxmlformats.org/officeDocument/2006/relationships/video" Target="file:///F:\Alex&#24037;&#20316;\2017\&#36164;&#28304;&#21046;&#20316;\&#21776;&#21688;&#33635;\&#22823;&#23398;&#29289;&#29702;&#23398;&#65288;&#19978;&#20876;&#65289;&#65288;&#31532;5&#29256;&#65289;-&#36213;&#36817;&#33459;\&#22823;&#23398;&#29289;&#29702;&#31532;&#20116;&#29256;&#20840;&#37096;&#35838;&#20214;&#65288;&#32993;&#26607;&#65289;\&#19978;&#20876;PPT-&#33406;&#20908;&#20908;\&#32032;&#26448;\&#30005;&#24433;.wmv"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226.jpeg"/><Relationship Id="rId2" Type="http://schemas.openxmlformats.org/officeDocument/2006/relationships/slideLayout" Target="../slideLayouts/slideLayout8.xml"/><Relationship Id="rId1" Type="http://schemas.openxmlformats.org/officeDocument/2006/relationships/tags" Target="../tags/tag1.xml"/></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226.bin"/><Relationship Id="rId3" Type="http://schemas.openxmlformats.org/officeDocument/2006/relationships/slideLayout" Target="../slideLayouts/slideLayout8.xml"/><Relationship Id="rId7" Type="http://schemas.openxmlformats.org/officeDocument/2006/relationships/oleObject" Target="../embeddings/oleObject225.bin"/><Relationship Id="rId12" Type="http://schemas.openxmlformats.org/officeDocument/2006/relationships/oleObject" Target="../embeddings/oleObject230.bin"/><Relationship Id="rId2" Type="http://schemas.openxmlformats.org/officeDocument/2006/relationships/tags" Target="../tags/tag2.xml"/><Relationship Id="rId1" Type="http://schemas.openxmlformats.org/officeDocument/2006/relationships/vmlDrawing" Target="../drawings/vmlDrawing38.vml"/><Relationship Id="rId6" Type="http://schemas.openxmlformats.org/officeDocument/2006/relationships/image" Target="../media/image236.jpeg"/><Relationship Id="rId11" Type="http://schemas.openxmlformats.org/officeDocument/2006/relationships/oleObject" Target="../embeddings/oleObject229.bin"/><Relationship Id="rId5" Type="http://schemas.openxmlformats.org/officeDocument/2006/relationships/oleObject" Target="../embeddings/oleObject224.bin"/><Relationship Id="rId10" Type="http://schemas.openxmlformats.org/officeDocument/2006/relationships/oleObject" Target="../embeddings/oleObject228.bin"/><Relationship Id="rId4" Type="http://schemas.openxmlformats.org/officeDocument/2006/relationships/oleObject" Target="../embeddings/oleObject223.bin"/><Relationship Id="rId9" Type="http://schemas.openxmlformats.org/officeDocument/2006/relationships/oleObject" Target="../embeddings/oleObject227.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235.bin"/><Relationship Id="rId3" Type="http://schemas.openxmlformats.org/officeDocument/2006/relationships/slideLayout" Target="../slideLayouts/slideLayout8.xml"/><Relationship Id="rId7" Type="http://schemas.openxmlformats.org/officeDocument/2006/relationships/oleObject" Target="../embeddings/oleObject234.bin"/><Relationship Id="rId2" Type="http://schemas.openxmlformats.org/officeDocument/2006/relationships/tags" Target="../tags/tag3.xml"/><Relationship Id="rId1" Type="http://schemas.openxmlformats.org/officeDocument/2006/relationships/vmlDrawing" Target="../drawings/vmlDrawing39.vml"/><Relationship Id="rId6" Type="http://schemas.openxmlformats.org/officeDocument/2006/relationships/oleObject" Target="../embeddings/oleObject233.bin"/><Relationship Id="rId11" Type="http://schemas.openxmlformats.org/officeDocument/2006/relationships/oleObject" Target="../embeddings/oleObject238.bin"/><Relationship Id="rId5" Type="http://schemas.openxmlformats.org/officeDocument/2006/relationships/oleObject" Target="../embeddings/oleObject232.bin"/><Relationship Id="rId10" Type="http://schemas.openxmlformats.org/officeDocument/2006/relationships/oleObject" Target="../embeddings/oleObject237.bin"/><Relationship Id="rId4" Type="http://schemas.openxmlformats.org/officeDocument/2006/relationships/oleObject" Target="../embeddings/oleObject231.bin"/><Relationship Id="rId9" Type="http://schemas.openxmlformats.org/officeDocument/2006/relationships/oleObject" Target="../embeddings/oleObject236.bin"/></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39.bin"/><Relationship Id="rId2" Type="http://schemas.openxmlformats.org/officeDocument/2006/relationships/slideLayout" Target="../slideLayouts/slideLayout8.xml"/><Relationship Id="rId1" Type="http://schemas.openxmlformats.org/officeDocument/2006/relationships/vmlDrawing" Target="../drawings/vmlDrawing40.vml"/></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243.bin"/><Relationship Id="rId13" Type="http://schemas.openxmlformats.org/officeDocument/2006/relationships/oleObject" Target="../embeddings/oleObject248.bin"/><Relationship Id="rId18" Type="http://schemas.openxmlformats.org/officeDocument/2006/relationships/oleObject" Target="../embeddings/oleObject253.bin"/><Relationship Id="rId3" Type="http://schemas.openxmlformats.org/officeDocument/2006/relationships/slideLayout" Target="../slideLayouts/slideLayout8.xml"/><Relationship Id="rId7" Type="http://schemas.openxmlformats.org/officeDocument/2006/relationships/oleObject" Target="../embeddings/oleObject242.bin"/><Relationship Id="rId12" Type="http://schemas.openxmlformats.org/officeDocument/2006/relationships/oleObject" Target="../embeddings/oleObject247.bin"/><Relationship Id="rId17" Type="http://schemas.openxmlformats.org/officeDocument/2006/relationships/oleObject" Target="../embeddings/oleObject252.bin"/><Relationship Id="rId2" Type="http://schemas.openxmlformats.org/officeDocument/2006/relationships/tags" Target="../tags/tag4.xml"/><Relationship Id="rId16" Type="http://schemas.openxmlformats.org/officeDocument/2006/relationships/oleObject" Target="../embeddings/oleObject251.bin"/><Relationship Id="rId1" Type="http://schemas.openxmlformats.org/officeDocument/2006/relationships/vmlDrawing" Target="../drawings/vmlDrawing41.vml"/><Relationship Id="rId6" Type="http://schemas.openxmlformats.org/officeDocument/2006/relationships/oleObject" Target="../embeddings/oleObject241.bin"/><Relationship Id="rId11" Type="http://schemas.openxmlformats.org/officeDocument/2006/relationships/oleObject" Target="../embeddings/oleObject246.bin"/><Relationship Id="rId5" Type="http://schemas.openxmlformats.org/officeDocument/2006/relationships/oleObject" Target="../embeddings/oleObject240.bin"/><Relationship Id="rId15" Type="http://schemas.openxmlformats.org/officeDocument/2006/relationships/oleObject" Target="../embeddings/oleObject250.bin"/><Relationship Id="rId10" Type="http://schemas.openxmlformats.org/officeDocument/2006/relationships/oleObject" Target="../embeddings/oleObject245.bin"/><Relationship Id="rId4" Type="http://schemas.openxmlformats.org/officeDocument/2006/relationships/image" Target="../media/image261.jpeg"/><Relationship Id="rId9" Type="http://schemas.openxmlformats.org/officeDocument/2006/relationships/oleObject" Target="../embeddings/oleObject244.bin"/><Relationship Id="rId14" Type="http://schemas.openxmlformats.org/officeDocument/2006/relationships/oleObject" Target="../embeddings/oleObject249.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54.bin"/><Relationship Id="rId2" Type="http://schemas.openxmlformats.org/officeDocument/2006/relationships/slideLayout" Target="../slideLayouts/slideLayout8.xml"/><Relationship Id="rId1" Type="http://schemas.openxmlformats.org/officeDocument/2006/relationships/vmlDrawing" Target="../drawings/vmlDrawing42.vml"/><Relationship Id="rId5" Type="http://schemas.openxmlformats.org/officeDocument/2006/relationships/oleObject" Target="../embeddings/oleObject256.bin"/><Relationship Id="rId4" Type="http://schemas.openxmlformats.org/officeDocument/2006/relationships/oleObject" Target="../embeddings/oleObject255.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260.bin"/><Relationship Id="rId3" Type="http://schemas.openxmlformats.org/officeDocument/2006/relationships/slideLayout" Target="../slideLayouts/slideLayout8.xml"/><Relationship Id="rId7" Type="http://schemas.openxmlformats.org/officeDocument/2006/relationships/oleObject" Target="../embeddings/oleObject259.bin"/><Relationship Id="rId2" Type="http://schemas.openxmlformats.org/officeDocument/2006/relationships/tags" Target="../tags/tag5.xml"/><Relationship Id="rId1" Type="http://schemas.openxmlformats.org/officeDocument/2006/relationships/vmlDrawing" Target="../drawings/vmlDrawing43.vml"/><Relationship Id="rId6" Type="http://schemas.openxmlformats.org/officeDocument/2006/relationships/image" Target="../media/image236.jpeg"/><Relationship Id="rId5" Type="http://schemas.openxmlformats.org/officeDocument/2006/relationships/oleObject" Target="../embeddings/oleObject258.bin"/><Relationship Id="rId10" Type="http://schemas.openxmlformats.org/officeDocument/2006/relationships/oleObject" Target="../embeddings/oleObject262.bin"/><Relationship Id="rId4" Type="http://schemas.openxmlformats.org/officeDocument/2006/relationships/oleObject" Target="../embeddings/oleObject257.bin"/><Relationship Id="rId9" Type="http://schemas.openxmlformats.org/officeDocument/2006/relationships/oleObject" Target="../embeddings/oleObject261.bin"/></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oleObject" Target="../embeddings/oleObject266.bin"/><Relationship Id="rId2" Type="http://schemas.openxmlformats.org/officeDocument/2006/relationships/tags" Target="../tags/tag6.xml"/><Relationship Id="rId1" Type="http://schemas.openxmlformats.org/officeDocument/2006/relationships/vmlDrawing" Target="../drawings/vmlDrawing44.vml"/><Relationship Id="rId6" Type="http://schemas.openxmlformats.org/officeDocument/2006/relationships/oleObject" Target="../embeddings/oleObject265.bin"/><Relationship Id="rId5" Type="http://schemas.openxmlformats.org/officeDocument/2006/relationships/oleObject" Target="../embeddings/oleObject264.bin"/><Relationship Id="rId4" Type="http://schemas.openxmlformats.org/officeDocument/2006/relationships/oleObject" Target="../embeddings/oleObject263.bin"/></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vmlDrawing" Target="../drawings/vmlDrawing45.v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video" Target="file:///F:\Alex&#24037;&#20316;\2017\&#36164;&#28304;&#21046;&#20316;\&#21776;&#21688;&#33635;\&#22823;&#23398;&#29289;&#29702;&#23398;&#65288;&#19978;&#20876;&#65289;&#65288;&#31532;5&#29256;&#65289;-&#36213;&#36817;&#33459;\&#22823;&#23398;&#29289;&#29702;&#31532;&#20116;&#29256;&#20840;&#37096;&#35838;&#20214;&#65288;&#32993;&#26607;&#65289;\&#19978;&#20876;PPT-&#33406;&#20908;&#20908;\&#32032;&#26448;\&#20914;&#20987;&#27874;.wmv" TargetMode="External"/><Relationship Id="rId4" Type="http://schemas.openxmlformats.org/officeDocument/2006/relationships/image" Target="../media/image276.png"/></Relationships>
</file>

<file path=ppt/slides/_rels/slide60.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slideLayout" Target="../slideLayouts/slideLayout8.xml"/><Relationship Id="rId1" Type="http://schemas.openxmlformats.org/officeDocument/2006/relationships/vmlDrawing" Target="../drawings/vmlDrawing46.vml"/><Relationship Id="rId6" Type="http://schemas.openxmlformats.org/officeDocument/2006/relationships/oleObject" Target="../embeddings/oleObject269.bin"/><Relationship Id="rId5" Type="http://schemas.openxmlformats.org/officeDocument/2006/relationships/oleObject" Target="../embeddings/oleObject268.bin"/><Relationship Id="rId4" Type="http://schemas.openxmlformats.org/officeDocument/2006/relationships/oleObject" Target="../embeddings/oleObject267.bin"/></Relationships>
</file>

<file path=ppt/slides/_rels/slide61.xml.rels><?xml version="1.0" encoding="UTF-8" standalone="yes"?>
<Relationships xmlns="http://schemas.openxmlformats.org/package/2006/relationships"><Relationship Id="rId8" Type="http://schemas.openxmlformats.org/officeDocument/2006/relationships/image" Target="../media/image292.jpeg"/><Relationship Id="rId13" Type="http://schemas.openxmlformats.org/officeDocument/2006/relationships/oleObject" Target="../embeddings/oleObject274.bin"/><Relationship Id="rId18" Type="http://schemas.openxmlformats.org/officeDocument/2006/relationships/oleObject" Target="../embeddings/oleObject279.bin"/><Relationship Id="rId3" Type="http://schemas.openxmlformats.org/officeDocument/2006/relationships/slide" Target="slide63.xml"/><Relationship Id="rId7" Type="http://schemas.openxmlformats.org/officeDocument/2006/relationships/slide" Target="slide51.xml"/><Relationship Id="rId12" Type="http://schemas.openxmlformats.org/officeDocument/2006/relationships/oleObject" Target="../embeddings/oleObject273.bin"/><Relationship Id="rId17" Type="http://schemas.openxmlformats.org/officeDocument/2006/relationships/oleObject" Target="../embeddings/oleObject278.bin"/><Relationship Id="rId2" Type="http://schemas.openxmlformats.org/officeDocument/2006/relationships/slideLayout" Target="../slideLayouts/slideLayout8.xml"/><Relationship Id="rId16" Type="http://schemas.openxmlformats.org/officeDocument/2006/relationships/oleObject" Target="../embeddings/oleObject277.bin"/><Relationship Id="rId1" Type="http://schemas.openxmlformats.org/officeDocument/2006/relationships/vmlDrawing" Target="../drawings/vmlDrawing47.vml"/><Relationship Id="rId6" Type="http://schemas.openxmlformats.org/officeDocument/2006/relationships/image" Target="../media/image291.jpeg"/><Relationship Id="rId11" Type="http://schemas.openxmlformats.org/officeDocument/2006/relationships/oleObject" Target="../embeddings/oleObject272.bin"/><Relationship Id="rId5" Type="http://schemas.openxmlformats.org/officeDocument/2006/relationships/slide" Target="slide62.xml"/><Relationship Id="rId15" Type="http://schemas.openxmlformats.org/officeDocument/2006/relationships/oleObject" Target="../embeddings/oleObject276.bin"/><Relationship Id="rId10" Type="http://schemas.openxmlformats.org/officeDocument/2006/relationships/oleObject" Target="../embeddings/oleObject271.bin"/><Relationship Id="rId4" Type="http://schemas.openxmlformats.org/officeDocument/2006/relationships/image" Target="../media/image290.jpeg"/><Relationship Id="rId9" Type="http://schemas.openxmlformats.org/officeDocument/2006/relationships/oleObject" Target="../embeddings/oleObject270.bin"/><Relationship Id="rId14" Type="http://schemas.openxmlformats.org/officeDocument/2006/relationships/oleObject" Target="../embeddings/oleObject275.bin"/></Relationships>
</file>

<file path=ppt/slides/_rels/slide62.xml.rels><?xml version="1.0" encoding="UTF-8" standalone="yes"?>
<Relationships xmlns="http://schemas.openxmlformats.org/package/2006/relationships"><Relationship Id="rId3" Type="http://schemas.openxmlformats.org/officeDocument/2006/relationships/image" Target="../media/image290.jpeg"/><Relationship Id="rId7" Type="http://schemas.openxmlformats.org/officeDocument/2006/relationships/image" Target="../media/image293.jpeg"/><Relationship Id="rId2" Type="http://schemas.openxmlformats.org/officeDocument/2006/relationships/slide" Target="slide63.xml"/><Relationship Id="rId1" Type="http://schemas.openxmlformats.org/officeDocument/2006/relationships/slideLayout" Target="../slideLayouts/slideLayout8.xml"/><Relationship Id="rId6" Type="http://schemas.openxmlformats.org/officeDocument/2006/relationships/slide" Target="slide51.xml"/><Relationship Id="rId5" Type="http://schemas.openxmlformats.org/officeDocument/2006/relationships/image" Target="../media/image291.jpeg"/><Relationship Id="rId4" Type="http://schemas.openxmlformats.org/officeDocument/2006/relationships/slide" Target="slide62.xml"/></Relationships>
</file>

<file path=ppt/slides/_rels/slide63.xml.rels><?xml version="1.0" encoding="UTF-8" standalone="yes"?>
<Relationships xmlns="http://schemas.openxmlformats.org/package/2006/relationships"><Relationship Id="rId8" Type="http://schemas.openxmlformats.org/officeDocument/2006/relationships/image" Target="../media/image291.jpeg"/><Relationship Id="rId3" Type="http://schemas.openxmlformats.org/officeDocument/2006/relationships/slide" Target="slide51.xml"/><Relationship Id="rId7" Type="http://schemas.openxmlformats.org/officeDocument/2006/relationships/slide" Target="slide62.xml"/><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290.jpeg"/><Relationship Id="rId5" Type="http://schemas.openxmlformats.org/officeDocument/2006/relationships/slide" Target="slide63.xml"/><Relationship Id="rId4" Type="http://schemas.openxmlformats.org/officeDocument/2006/relationships/image" Target="../media/image294.jpeg"/><Relationship Id="rId9" Type="http://schemas.openxmlformats.org/officeDocument/2006/relationships/image" Target="../media/image292.jpeg"/></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280.bin"/><Relationship Id="rId2" Type="http://schemas.openxmlformats.org/officeDocument/2006/relationships/slideLayout" Target="../slideLayouts/slideLayout8.xml"/><Relationship Id="rId1" Type="http://schemas.openxmlformats.org/officeDocument/2006/relationships/vmlDrawing" Target="../drawings/vmlDrawing48.vml"/><Relationship Id="rId5" Type="http://schemas.openxmlformats.org/officeDocument/2006/relationships/oleObject" Target="../embeddings/oleObject282.bin"/><Relationship Id="rId4" Type="http://schemas.openxmlformats.org/officeDocument/2006/relationships/oleObject" Target="../embeddings/oleObject281.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288.bin"/><Relationship Id="rId3" Type="http://schemas.openxmlformats.org/officeDocument/2006/relationships/oleObject" Target="../embeddings/oleObject283.bin"/><Relationship Id="rId7" Type="http://schemas.openxmlformats.org/officeDocument/2006/relationships/oleObject" Target="../embeddings/oleObject287.bin"/><Relationship Id="rId12" Type="http://schemas.openxmlformats.org/officeDocument/2006/relationships/oleObject" Target="../embeddings/oleObject292.bin"/><Relationship Id="rId2" Type="http://schemas.openxmlformats.org/officeDocument/2006/relationships/slideLayout" Target="../slideLayouts/slideLayout9.xml"/><Relationship Id="rId1" Type="http://schemas.openxmlformats.org/officeDocument/2006/relationships/vmlDrawing" Target="../drawings/vmlDrawing49.vml"/><Relationship Id="rId6" Type="http://schemas.openxmlformats.org/officeDocument/2006/relationships/oleObject" Target="../embeddings/oleObject286.bin"/><Relationship Id="rId11" Type="http://schemas.openxmlformats.org/officeDocument/2006/relationships/oleObject" Target="../embeddings/oleObject291.bin"/><Relationship Id="rId5" Type="http://schemas.openxmlformats.org/officeDocument/2006/relationships/oleObject" Target="../embeddings/oleObject285.bin"/><Relationship Id="rId10" Type="http://schemas.openxmlformats.org/officeDocument/2006/relationships/oleObject" Target="../embeddings/oleObject290.bin"/><Relationship Id="rId4" Type="http://schemas.openxmlformats.org/officeDocument/2006/relationships/oleObject" Target="../embeddings/oleObject284.bin"/><Relationship Id="rId9" Type="http://schemas.openxmlformats.org/officeDocument/2006/relationships/oleObject" Target="../embeddings/oleObject289.bin"/></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298.bin"/><Relationship Id="rId13" Type="http://schemas.openxmlformats.org/officeDocument/2006/relationships/oleObject" Target="../embeddings/oleObject303.bin"/><Relationship Id="rId3" Type="http://schemas.openxmlformats.org/officeDocument/2006/relationships/oleObject" Target="../embeddings/oleObject293.bin"/><Relationship Id="rId7" Type="http://schemas.openxmlformats.org/officeDocument/2006/relationships/oleObject" Target="../embeddings/oleObject297.bin"/><Relationship Id="rId12" Type="http://schemas.openxmlformats.org/officeDocument/2006/relationships/oleObject" Target="../embeddings/oleObject302.bin"/><Relationship Id="rId2" Type="http://schemas.openxmlformats.org/officeDocument/2006/relationships/slideLayout" Target="../slideLayouts/slideLayout9.xml"/><Relationship Id="rId1" Type="http://schemas.openxmlformats.org/officeDocument/2006/relationships/vmlDrawing" Target="../drawings/vmlDrawing50.vml"/><Relationship Id="rId6" Type="http://schemas.openxmlformats.org/officeDocument/2006/relationships/oleObject" Target="../embeddings/oleObject296.bin"/><Relationship Id="rId11" Type="http://schemas.openxmlformats.org/officeDocument/2006/relationships/oleObject" Target="../embeddings/oleObject301.bin"/><Relationship Id="rId5" Type="http://schemas.openxmlformats.org/officeDocument/2006/relationships/oleObject" Target="../embeddings/oleObject295.bin"/><Relationship Id="rId10" Type="http://schemas.openxmlformats.org/officeDocument/2006/relationships/oleObject" Target="../embeddings/oleObject300.bin"/><Relationship Id="rId4" Type="http://schemas.openxmlformats.org/officeDocument/2006/relationships/oleObject" Target="../embeddings/oleObject294.bin"/><Relationship Id="rId9" Type="http://schemas.openxmlformats.org/officeDocument/2006/relationships/oleObject" Target="../embeddings/oleObject299.bin"/><Relationship Id="rId14" Type="http://schemas.openxmlformats.org/officeDocument/2006/relationships/oleObject" Target="../embeddings/oleObject304.bin"/></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310.bin"/><Relationship Id="rId13" Type="http://schemas.openxmlformats.org/officeDocument/2006/relationships/oleObject" Target="../embeddings/oleObject315.bin"/><Relationship Id="rId3" Type="http://schemas.openxmlformats.org/officeDocument/2006/relationships/oleObject" Target="../embeddings/oleObject305.bin"/><Relationship Id="rId7" Type="http://schemas.openxmlformats.org/officeDocument/2006/relationships/oleObject" Target="../embeddings/oleObject309.bin"/><Relationship Id="rId12" Type="http://schemas.openxmlformats.org/officeDocument/2006/relationships/oleObject" Target="../embeddings/oleObject314.bin"/><Relationship Id="rId2" Type="http://schemas.openxmlformats.org/officeDocument/2006/relationships/slideLayout" Target="../slideLayouts/slideLayout9.xml"/><Relationship Id="rId1" Type="http://schemas.openxmlformats.org/officeDocument/2006/relationships/vmlDrawing" Target="../drawings/vmlDrawing51.vml"/><Relationship Id="rId6" Type="http://schemas.openxmlformats.org/officeDocument/2006/relationships/oleObject" Target="../embeddings/oleObject308.bin"/><Relationship Id="rId11" Type="http://schemas.openxmlformats.org/officeDocument/2006/relationships/oleObject" Target="../embeddings/oleObject313.bin"/><Relationship Id="rId5" Type="http://schemas.openxmlformats.org/officeDocument/2006/relationships/oleObject" Target="../embeddings/oleObject307.bin"/><Relationship Id="rId15" Type="http://schemas.openxmlformats.org/officeDocument/2006/relationships/oleObject" Target="../embeddings/oleObject317.bin"/><Relationship Id="rId10" Type="http://schemas.openxmlformats.org/officeDocument/2006/relationships/oleObject" Target="../embeddings/oleObject312.bin"/><Relationship Id="rId4" Type="http://schemas.openxmlformats.org/officeDocument/2006/relationships/oleObject" Target="../embeddings/oleObject306.bin"/><Relationship Id="rId9" Type="http://schemas.openxmlformats.org/officeDocument/2006/relationships/oleObject" Target="../embeddings/oleObject311.bin"/><Relationship Id="rId14" Type="http://schemas.openxmlformats.org/officeDocument/2006/relationships/oleObject" Target="../embeddings/oleObject316.bin"/></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3" name="AutoShape 4">
            <a:hlinkClick r:id="rId2" action="ppaction://hlinksldjump" highlightClick="1">
              <a:snd r:embed="rId3" name="CAMERA.WAV"/>
            </a:hlinkClick>
          </p:cNvPr>
          <p:cNvSpPr>
            <a:spLocks noChangeArrowheads="1"/>
          </p:cNvSpPr>
          <p:nvPr/>
        </p:nvSpPr>
        <p:spPr bwMode="auto">
          <a:xfrm>
            <a:off x="1276350" y="1484313"/>
            <a:ext cx="6837363" cy="368300"/>
          </a:xfrm>
          <a:prstGeom prst="actionButtonBlank">
            <a:avLst/>
          </a:prstGeom>
          <a:noFill/>
          <a:ln w="9525">
            <a:noFill/>
            <a:miter lim="800000"/>
            <a:headEnd/>
            <a:tailEnd/>
          </a:ln>
        </p:spPr>
        <p:txBody>
          <a:bodyPr anchor="ctr">
            <a:spAutoFit/>
          </a:bodyPr>
          <a:lstStyle/>
          <a:p>
            <a:r>
              <a:rPr lang="en-US" altLang="zh-CN" sz="1800" b="1">
                <a:latin typeface="华文中宋"/>
                <a:ea typeface="华文中宋"/>
                <a:cs typeface="华文中宋"/>
              </a:rPr>
              <a:t>§6-1  </a:t>
            </a:r>
            <a:r>
              <a:rPr lang="zh-CN" altLang="en-US" sz="1800" b="1">
                <a:latin typeface="华文中宋"/>
                <a:ea typeface="华文中宋"/>
                <a:cs typeface="华文中宋"/>
              </a:rPr>
              <a:t>机械波的形成和传播</a:t>
            </a:r>
          </a:p>
        </p:txBody>
      </p:sp>
      <p:sp>
        <p:nvSpPr>
          <p:cNvPr id="18434" name="AutoShape 5">
            <a:hlinkClick r:id="rId4" action="ppaction://hlinksldjump" highlightClick="1">
              <a:snd r:embed="rId3" name="CAMERA.WAV"/>
            </a:hlinkClick>
          </p:cNvPr>
          <p:cNvSpPr>
            <a:spLocks noChangeArrowheads="1"/>
          </p:cNvSpPr>
          <p:nvPr/>
        </p:nvSpPr>
        <p:spPr bwMode="auto">
          <a:xfrm>
            <a:off x="1277938" y="1901825"/>
            <a:ext cx="6835775" cy="369888"/>
          </a:xfrm>
          <a:prstGeom prst="actionButtonBlank">
            <a:avLst/>
          </a:prstGeom>
          <a:noFill/>
          <a:ln w="9525">
            <a:noFill/>
            <a:miter lim="800000"/>
            <a:headEnd/>
            <a:tailEnd/>
          </a:ln>
        </p:spPr>
        <p:txBody>
          <a:bodyPr anchor="ctr">
            <a:spAutoFit/>
          </a:bodyPr>
          <a:lstStyle/>
          <a:p>
            <a:r>
              <a:rPr lang="en-US" altLang="zh-CN" sz="1800" b="1">
                <a:latin typeface="华文中宋"/>
                <a:ea typeface="华文中宋"/>
                <a:cs typeface="华文中宋"/>
              </a:rPr>
              <a:t>§6-2  </a:t>
            </a:r>
            <a:r>
              <a:rPr lang="zh-CN" altLang="en-US" sz="1800" b="1">
                <a:latin typeface="华文中宋"/>
                <a:ea typeface="华文中宋"/>
                <a:cs typeface="华文中宋"/>
              </a:rPr>
              <a:t>平面简谐波的波动方程</a:t>
            </a:r>
          </a:p>
        </p:txBody>
      </p:sp>
      <p:sp>
        <p:nvSpPr>
          <p:cNvPr id="18435" name="AutoShape 6">
            <a:hlinkClick r:id="rId5" action="ppaction://hlinksldjump" highlightClick="1">
              <a:snd r:embed="rId3" name="CAMERA.WAV"/>
            </a:hlinkClick>
          </p:cNvPr>
          <p:cNvSpPr>
            <a:spLocks noChangeArrowheads="1"/>
          </p:cNvSpPr>
          <p:nvPr/>
        </p:nvSpPr>
        <p:spPr bwMode="auto">
          <a:xfrm>
            <a:off x="1279525" y="2300288"/>
            <a:ext cx="6832600" cy="369887"/>
          </a:xfrm>
          <a:prstGeom prst="actionButtonBlank">
            <a:avLst/>
          </a:prstGeom>
          <a:noFill/>
          <a:ln w="9525">
            <a:noFill/>
            <a:miter lim="800000"/>
            <a:headEnd/>
            <a:tailEnd/>
          </a:ln>
        </p:spPr>
        <p:txBody>
          <a:bodyPr anchor="ctr">
            <a:spAutoFit/>
          </a:bodyPr>
          <a:lstStyle/>
          <a:p>
            <a:r>
              <a:rPr lang="en-US" altLang="zh-CN" sz="1800" b="1">
                <a:latin typeface="华文中宋"/>
                <a:ea typeface="华文中宋"/>
                <a:cs typeface="华文中宋"/>
              </a:rPr>
              <a:t>§6-3  </a:t>
            </a:r>
            <a:r>
              <a:rPr lang="zh-CN" altLang="en-US" sz="1800" b="1">
                <a:latin typeface="华文中宋"/>
                <a:ea typeface="华文中宋"/>
                <a:cs typeface="华文中宋"/>
              </a:rPr>
              <a:t>波的能量</a:t>
            </a:r>
          </a:p>
        </p:txBody>
      </p:sp>
      <p:sp>
        <p:nvSpPr>
          <p:cNvPr id="18436" name="AutoShape 7">
            <a:hlinkClick r:id="rId6" action="ppaction://hlinksldjump" highlightClick="1">
              <a:snd r:embed="rId3" name="CAMERA.WAV"/>
            </a:hlinkClick>
          </p:cNvPr>
          <p:cNvSpPr>
            <a:spLocks noChangeArrowheads="1"/>
          </p:cNvSpPr>
          <p:nvPr/>
        </p:nvSpPr>
        <p:spPr bwMode="auto">
          <a:xfrm>
            <a:off x="1273175" y="2695575"/>
            <a:ext cx="7151688" cy="369888"/>
          </a:xfrm>
          <a:prstGeom prst="actionButtonBlank">
            <a:avLst/>
          </a:prstGeom>
          <a:noFill/>
          <a:ln w="9525">
            <a:noFill/>
            <a:miter lim="800000"/>
            <a:headEnd/>
            <a:tailEnd/>
          </a:ln>
        </p:spPr>
        <p:txBody>
          <a:bodyPr anchor="ctr">
            <a:spAutoFit/>
          </a:bodyPr>
          <a:lstStyle/>
          <a:p>
            <a:r>
              <a:rPr lang="en-US" altLang="zh-CN" sz="1800" b="1">
                <a:latin typeface="华文中宋"/>
                <a:ea typeface="华文中宋"/>
                <a:cs typeface="华文中宋"/>
              </a:rPr>
              <a:t>§6-4  </a:t>
            </a:r>
            <a:r>
              <a:rPr lang="zh-CN" altLang="en-US" sz="1800" b="1">
                <a:latin typeface="华文中宋"/>
                <a:ea typeface="华文中宋"/>
                <a:cs typeface="华文中宋"/>
              </a:rPr>
              <a:t>惠更斯原理、波的叠加和干涉</a:t>
            </a:r>
          </a:p>
        </p:txBody>
      </p:sp>
      <p:sp>
        <p:nvSpPr>
          <p:cNvPr id="18437" name="AutoShape 8">
            <a:hlinkClick r:id="rId7" action="ppaction://hlinksldjump" highlightClick="1">
              <a:snd r:embed="rId3" name="CAMERA.WAV"/>
            </a:hlinkClick>
          </p:cNvPr>
          <p:cNvSpPr>
            <a:spLocks noChangeArrowheads="1"/>
          </p:cNvSpPr>
          <p:nvPr/>
        </p:nvSpPr>
        <p:spPr bwMode="auto">
          <a:xfrm>
            <a:off x="1285875" y="3086100"/>
            <a:ext cx="6834188" cy="369888"/>
          </a:xfrm>
          <a:prstGeom prst="actionButtonBlank">
            <a:avLst/>
          </a:prstGeom>
          <a:noFill/>
          <a:ln w="9525">
            <a:noFill/>
            <a:miter lim="800000"/>
            <a:headEnd/>
            <a:tailEnd/>
          </a:ln>
        </p:spPr>
        <p:txBody>
          <a:bodyPr anchor="ctr">
            <a:spAutoFit/>
          </a:bodyPr>
          <a:lstStyle/>
          <a:p>
            <a:r>
              <a:rPr lang="en-US" altLang="zh-CN" sz="1800" b="1">
                <a:latin typeface="华文中宋"/>
                <a:ea typeface="华文中宋"/>
                <a:cs typeface="华文中宋"/>
              </a:rPr>
              <a:t>§6-5  </a:t>
            </a:r>
            <a:r>
              <a:rPr lang="zh-CN" altLang="en-US" sz="1800" b="1">
                <a:latin typeface="华文中宋"/>
                <a:ea typeface="华文中宋"/>
                <a:cs typeface="华文中宋"/>
              </a:rPr>
              <a:t>驻波</a:t>
            </a:r>
          </a:p>
        </p:txBody>
      </p:sp>
      <p:sp>
        <p:nvSpPr>
          <p:cNvPr id="18438" name="AutoShape 9">
            <a:hlinkClick r:id="rId8" action="ppaction://hlinksldjump" highlightClick="1">
              <a:snd r:embed="rId3" name="CAMERA.WAV"/>
            </a:hlinkClick>
          </p:cNvPr>
          <p:cNvSpPr>
            <a:spLocks noChangeArrowheads="1"/>
          </p:cNvSpPr>
          <p:nvPr/>
        </p:nvSpPr>
        <p:spPr bwMode="auto">
          <a:xfrm>
            <a:off x="1290638" y="3494088"/>
            <a:ext cx="6834187" cy="368300"/>
          </a:xfrm>
          <a:prstGeom prst="actionButtonBlank">
            <a:avLst/>
          </a:prstGeom>
          <a:noFill/>
          <a:ln w="9525">
            <a:noFill/>
            <a:miter lim="800000"/>
            <a:headEnd/>
            <a:tailEnd/>
          </a:ln>
        </p:spPr>
        <p:txBody>
          <a:bodyPr anchor="ctr">
            <a:spAutoFit/>
          </a:bodyPr>
          <a:lstStyle/>
          <a:p>
            <a:r>
              <a:rPr lang="en-US" altLang="zh-CN" sz="1800" b="1">
                <a:latin typeface="华文中宋"/>
                <a:ea typeface="华文中宋"/>
                <a:cs typeface="华文中宋"/>
              </a:rPr>
              <a:t>§6-6  </a:t>
            </a:r>
            <a:r>
              <a:rPr lang="zh-CN" altLang="en-US" sz="1800" b="1">
                <a:latin typeface="华文中宋"/>
                <a:ea typeface="华文中宋"/>
                <a:cs typeface="华文中宋"/>
              </a:rPr>
              <a:t>多普勒效应</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67" name="Text Box 231"/>
          <p:cNvSpPr txBox="1">
            <a:spLocks noChangeArrowheads="1"/>
          </p:cNvSpPr>
          <p:nvPr/>
        </p:nvSpPr>
        <p:spPr bwMode="auto">
          <a:xfrm>
            <a:off x="228600" y="890588"/>
            <a:ext cx="2903538" cy="368300"/>
          </a:xfrm>
          <a:prstGeom prst="rect">
            <a:avLst/>
          </a:prstGeom>
          <a:noFill/>
          <a:ln w="9525">
            <a:noFill/>
            <a:miter lim="800000"/>
            <a:headEnd/>
            <a:tailEnd/>
          </a:ln>
        </p:spPr>
        <p:txBody>
          <a:bodyPr>
            <a:spAutoFit/>
          </a:bodyPr>
          <a:lstStyle/>
          <a:p>
            <a:r>
              <a:rPr lang="en-US" altLang="zh-CN" sz="1800" b="1">
                <a:solidFill>
                  <a:srgbClr val="0000FF"/>
                </a:solidFill>
                <a:latin typeface="华文中宋"/>
                <a:ea typeface="华文中宋"/>
                <a:cs typeface="华文中宋"/>
              </a:rPr>
              <a:t>1</a:t>
            </a:r>
            <a:r>
              <a:rPr lang="zh-CN" altLang="en-US" sz="1800" b="1">
                <a:solidFill>
                  <a:srgbClr val="0000FF"/>
                </a:solidFill>
                <a:latin typeface="华文中宋"/>
                <a:ea typeface="华文中宋"/>
                <a:cs typeface="华文中宋"/>
              </a:rPr>
              <a:t>、什么是波动</a:t>
            </a:r>
          </a:p>
        </p:txBody>
      </p:sp>
      <p:sp>
        <p:nvSpPr>
          <p:cNvPr id="14568" name="Text Box 232"/>
          <p:cNvSpPr txBox="1">
            <a:spLocks noChangeArrowheads="1"/>
          </p:cNvSpPr>
          <p:nvPr/>
        </p:nvSpPr>
        <p:spPr bwMode="auto">
          <a:xfrm>
            <a:off x="755650" y="1662113"/>
            <a:ext cx="1512888" cy="369887"/>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rPr>
              <a:t>常见的波有：</a:t>
            </a:r>
          </a:p>
        </p:txBody>
      </p:sp>
      <p:sp>
        <p:nvSpPr>
          <p:cNvPr id="14569" name="Rectangle 233"/>
          <p:cNvSpPr>
            <a:spLocks noChangeArrowheads="1"/>
          </p:cNvSpPr>
          <p:nvPr/>
        </p:nvSpPr>
        <p:spPr bwMode="auto">
          <a:xfrm>
            <a:off x="755650" y="1285875"/>
            <a:ext cx="6840538" cy="368300"/>
          </a:xfrm>
          <a:prstGeom prst="rect">
            <a:avLst/>
          </a:prstGeom>
          <a:noFill/>
          <a:ln w="9525">
            <a:noFill/>
            <a:miter lim="800000"/>
            <a:headEnd/>
            <a:tailEnd/>
          </a:ln>
        </p:spPr>
        <p:txBody>
          <a:bodyPr>
            <a:spAutoFit/>
          </a:bodyPr>
          <a:lstStyle/>
          <a:p>
            <a:r>
              <a:rPr lang="zh-CN" altLang="en-US" sz="1800" b="1">
                <a:solidFill>
                  <a:srgbClr val="FF0000"/>
                </a:solidFill>
                <a:latin typeface="华文中宋"/>
                <a:ea typeface="华文中宋"/>
                <a:cs typeface="华文中宋"/>
              </a:rPr>
              <a:t>波动是振动在空间上的传播过程。</a:t>
            </a:r>
          </a:p>
        </p:txBody>
      </p:sp>
      <p:sp>
        <p:nvSpPr>
          <p:cNvPr id="14582" name="Text Box 246"/>
          <p:cNvSpPr txBox="1">
            <a:spLocks noChangeArrowheads="1"/>
          </p:cNvSpPr>
          <p:nvPr/>
        </p:nvSpPr>
        <p:spPr bwMode="auto">
          <a:xfrm>
            <a:off x="755650" y="2019300"/>
            <a:ext cx="5473700" cy="646113"/>
          </a:xfrm>
          <a:prstGeom prst="rect">
            <a:avLst/>
          </a:prstGeom>
          <a:noFill/>
          <a:ln w="9525">
            <a:noFill/>
            <a:miter lim="800000"/>
            <a:headEnd/>
            <a:tailEnd/>
          </a:ln>
        </p:spPr>
        <p:txBody>
          <a:bodyPr>
            <a:spAutoFit/>
          </a:bodyPr>
          <a:lstStyle/>
          <a:p>
            <a:r>
              <a:rPr lang="en-US" altLang="zh-CN" sz="1800" b="1">
                <a:latin typeface="华文中宋"/>
                <a:ea typeface="华文中宋"/>
                <a:cs typeface="华文中宋"/>
              </a:rPr>
              <a:t>1</a:t>
            </a:r>
            <a:r>
              <a:rPr lang="zh-CN" altLang="en-US" sz="1800" b="1">
                <a:latin typeface="华文中宋"/>
                <a:ea typeface="华文中宋"/>
                <a:cs typeface="华文中宋"/>
              </a:rPr>
              <a:t>）机械波：机械振动在连续弹性介质中的传播。例如声波、水波等。</a:t>
            </a:r>
          </a:p>
        </p:txBody>
      </p:sp>
      <p:sp>
        <p:nvSpPr>
          <p:cNvPr id="14583" name="Text Box 247"/>
          <p:cNvSpPr txBox="1">
            <a:spLocks noChangeArrowheads="1"/>
          </p:cNvSpPr>
          <p:nvPr/>
        </p:nvSpPr>
        <p:spPr bwMode="auto">
          <a:xfrm>
            <a:off x="755650" y="2752725"/>
            <a:ext cx="5183188" cy="369888"/>
          </a:xfrm>
          <a:prstGeom prst="rect">
            <a:avLst/>
          </a:prstGeom>
          <a:noFill/>
          <a:ln w="9525">
            <a:noFill/>
            <a:miter lim="800000"/>
            <a:headEnd/>
            <a:tailEnd/>
          </a:ln>
        </p:spPr>
        <p:txBody>
          <a:bodyPr>
            <a:spAutoFit/>
          </a:bodyPr>
          <a:lstStyle/>
          <a:p>
            <a:r>
              <a:rPr lang="en-US" altLang="zh-CN" sz="1800" b="1">
                <a:latin typeface="华文中宋"/>
                <a:ea typeface="华文中宋"/>
                <a:cs typeface="华文中宋"/>
              </a:rPr>
              <a:t>2</a:t>
            </a:r>
            <a:r>
              <a:rPr lang="zh-CN" altLang="en-US" sz="1800" b="1">
                <a:latin typeface="华文中宋"/>
                <a:ea typeface="华文中宋"/>
                <a:cs typeface="华文中宋"/>
              </a:rPr>
              <a:t>）电磁波：交变电磁场在真空或介质中的传播。</a:t>
            </a:r>
          </a:p>
        </p:txBody>
      </p:sp>
      <p:sp>
        <p:nvSpPr>
          <p:cNvPr id="14584" name="Text Box 248"/>
          <p:cNvSpPr txBox="1">
            <a:spLocks noChangeArrowheads="1"/>
          </p:cNvSpPr>
          <p:nvPr/>
        </p:nvSpPr>
        <p:spPr bwMode="auto">
          <a:xfrm>
            <a:off x="755650" y="3209925"/>
            <a:ext cx="4535488" cy="369888"/>
          </a:xfrm>
          <a:prstGeom prst="rect">
            <a:avLst/>
          </a:prstGeom>
          <a:noFill/>
          <a:ln w="9525">
            <a:noFill/>
            <a:miter lim="800000"/>
            <a:headEnd/>
            <a:tailEnd/>
          </a:ln>
        </p:spPr>
        <p:txBody>
          <a:bodyPr>
            <a:spAutoFit/>
          </a:bodyPr>
          <a:lstStyle/>
          <a:p>
            <a:r>
              <a:rPr lang="en-US" altLang="zh-CN" sz="1800" b="1">
                <a:latin typeface="华文中宋"/>
                <a:ea typeface="华文中宋"/>
                <a:cs typeface="华文中宋"/>
              </a:rPr>
              <a:t>3</a:t>
            </a:r>
            <a:r>
              <a:rPr lang="zh-CN" altLang="en-US" sz="1800" b="1">
                <a:latin typeface="华文中宋"/>
                <a:ea typeface="华文中宋"/>
                <a:cs typeface="华文中宋"/>
              </a:rPr>
              <a:t>）物质波：实物所表现的波动性。</a:t>
            </a:r>
          </a:p>
        </p:txBody>
      </p:sp>
      <p:pic>
        <p:nvPicPr>
          <p:cNvPr id="14586" name="Picture 250" descr="IMG353~1"/>
          <p:cNvPicPr preferRelativeResize="0">
            <a:picLocks noChangeAspect="1" noChangeArrowheads="1"/>
          </p:cNvPicPr>
          <p:nvPr/>
        </p:nvPicPr>
        <p:blipFill>
          <a:blip r:embed="rId2"/>
          <a:srcRect/>
          <a:stretch>
            <a:fillRect/>
          </a:stretch>
        </p:blipFill>
        <p:spPr bwMode="auto">
          <a:xfrm>
            <a:off x="6154738" y="887413"/>
            <a:ext cx="2520950" cy="1323975"/>
          </a:xfrm>
          <a:prstGeom prst="rect">
            <a:avLst/>
          </a:prstGeom>
          <a:noFill/>
          <a:ln w="9525">
            <a:noFill/>
            <a:miter lim="800000"/>
            <a:headEnd/>
            <a:tailEnd/>
          </a:ln>
        </p:spPr>
      </p:pic>
      <p:pic>
        <p:nvPicPr>
          <p:cNvPr id="14588" name="Picture 252" descr="275814~1"/>
          <p:cNvPicPr preferRelativeResize="0">
            <a:picLocks noChangeAspect="1" noChangeArrowheads="1"/>
          </p:cNvPicPr>
          <p:nvPr/>
        </p:nvPicPr>
        <p:blipFill>
          <a:blip r:embed="rId3"/>
          <a:srcRect/>
          <a:stretch>
            <a:fillRect/>
          </a:stretch>
        </p:blipFill>
        <p:spPr bwMode="auto">
          <a:xfrm>
            <a:off x="6156325" y="2378075"/>
            <a:ext cx="2663825" cy="1501775"/>
          </a:xfrm>
          <a:prstGeom prst="rect">
            <a:avLst/>
          </a:prstGeom>
          <a:noFill/>
          <a:ln w="9525">
            <a:noFill/>
            <a:miter lim="800000"/>
            <a:headEnd/>
            <a:tailEnd/>
          </a:ln>
        </p:spPr>
      </p:pic>
      <p:sp>
        <p:nvSpPr>
          <p:cNvPr id="14589" name="Text Box 253"/>
          <p:cNvSpPr txBox="1">
            <a:spLocks noChangeArrowheads="1"/>
          </p:cNvSpPr>
          <p:nvPr/>
        </p:nvSpPr>
        <p:spPr bwMode="auto">
          <a:xfrm>
            <a:off x="250825" y="3571875"/>
            <a:ext cx="5903913" cy="646113"/>
          </a:xfrm>
          <a:prstGeom prst="rect">
            <a:avLst/>
          </a:prstGeom>
          <a:noFill/>
          <a:ln w="9525">
            <a:noFill/>
            <a:miter lim="800000"/>
            <a:headEnd/>
            <a:tailEnd/>
          </a:ln>
        </p:spPr>
        <p:txBody>
          <a:bodyPr>
            <a:spAutoFit/>
          </a:bodyPr>
          <a:lstStyle/>
          <a:p>
            <a:pPr eaLnBrk="0" hangingPunct="0"/>
            <a:r>
              <a:rPr kumimoji="0" lang="en-US" altLang="zh-CN" sz="1800" b="1">
                <a:solidFill>
                  <a:srgbClr val="0000FF"/>
                </a:solidFill>
                <a:latin typeface="华文中宋"/>
                <a:ea typeface="华文中宋"/>
                <a:cs typeface="华文中宋"/>
              </a:rPr>
              <a:t>2</a:t>
            </a:r>
            <a:r>
              <a:rPr kumimoji="0" lang="zh-CN" altLang="en-US" sz="1800" b="1">
                <a:solidFill>
                  <a:srgbClr val="0000FF"/>
                </a:solidFill>
                <a:latin typeface="华文中宋"/>
                <a:ea typeface="华文中宋"/>
                <a:cs typeface="华文中宋"/>
              </a:rPr>
              <a:t>、机械波与电磁波本质不同，传播机理不同，基本传播规律却相同。</a:t>
            </a:r>
          </a:p>
        </p:txBody>
      </p:sp>
      <p:sp>
        <p:nvSpPr>
          <p:cNvPr id="14591" name="Text Box 255"/>
          <p:cNvSpPr txBox="1">
            <a:spLocks noChangeArrowheads="1"/>
          </p:cNvSpPr>
          <p:nvPr/>
        </p:nvSpPr>
        <p:spPr bwMode="auto">
          <a:xfrm>
            <a:off x="323850" y="4227513"/>
            <a:ext cx="8351838" cy="339725"/>
          </a:xfrm>
          <a:prstGeom prst="rect">
            <a:avLst/>
          </a:prstGeom>
          <a:noFill/>
          <a:ln w="9525">
            <a:noFill/>
            <a:miter lim="800000"/>
            <a:headEnd/>
            <a:tailEnd/>
          </a:ln>
        </p:spPr>
        <p:txBody>
          <a:bodyPr>
            <a:spAutoFit/>
          </a:bodyPr>
          <a:lstStyle/>
          <a:p>
            <a:pPr eaLnBrk="0" hangingPunct="0"/>
            <a:r>
              <a:rPr kumimoji="0" lang="zh-CN" altLang="en-US" sz="1600" b="1">
                <a:latin typeface="华文中宋"/>
                <a:ea typeface="华文中宋"/>
                <a:cs typeface="华文中宋"/>
              </a:rPr>
              <a:t>类似的波动方程，传播过程中均伴有能量的传播，能产生反射、折射、干涉、衍射等现象。</a:t>
            </a:r>
          </a:p>
        </p:txBody>
      </p:sp>
      <p:sp>
        <p:nvSpPr>
          <p:cNvPr id="14592" name="Rectangle 256"/>
          <p:cNvSpPr>
            <a:spLocks noChangeArrowheads="1"/>
          </p:cNvSpPr>
          <p:nvPr/>
        </p:nvSpPr>
        <p:spPr bwMode="auto">
          <a:xfrm>
            <a:off x="6589713" y="1889125"/>
            <a:ext cx="1727200" cy="322263"/>
          </a:xfrm>
          <a:prstGeom prst="rect">
            <a:avLst/>
          </a:prstGeom>
          <a:solidFill>
            <a:schemeClr val="bg1"/>
          </a:solidFill>
          <a:ln w="9525">
            <a:noFill/>
            <a:miter lim="800000"/>
            <a:headEnd/>
            <a:tailEnd/>
          </a:ln>
        </p:spPr>
        <p:txBody>
          <a:bodyPr anchor="ctr">
            <a:spAutoFit/>
          </a:bodyPr>
          <a:lstStyle/>
          <a:p>
            <a:pPr algn="ctr"/>
            <a:r>
              <a:rPr lang="zh-CN" altLang="en-US" sz="1500" b="1">
                <a:latin typeface="华文中宋"/>
                <a:ea typeface="华文中宋"/>
                <a:cs typeface="华文中宋"/>
              </a:rPr>
              <a:t>声波</a:t>
            </a:r>
          </a:p>
        </p:txBody>
      </p:sp>
      <p:sp>
        <p:nvSpPr>
          <p:cNvPr id="14593" name="Rectangle 257"/>
          <p:cNvSpPr>
            <a:spLocks noChangeArrowheads="1"/>
          </p:cNvSpPr>
          <p:nvPr/>
        </p:nvSpPr>
        <p:spPr bwMode="auto">
          <a:xfrm>
            <a:off x="6659563" y="3905250"/>
            <a:ext cx="1727200" cy="322263"/>
          </a:xfrm>
          <a:prstGeom prst="rect">
            <a:avLst/>
          </a:prstGeom>
          <a:solidFill>
            <a:schemeClr val="bg1"/>
          </a:solidFill>
          <a:ln w="9525">
            <a:noFill/>
            <a:miter lim="800000"/>
            <a:headEnd/>
            <a:tailEnd/>
          </a:ln>
        </p:spPr>
        <p:txBody>
          <a:bodyPr anchor="ctr">
            <a:spAutoFit/>
          </a:bodyPr>
          <a:lstStyle/>
          <a:p>
            <a:pPr algn="ctr"/>
            <a:r>
              <a:rPr lang="zh-CN" altLang="en-US" sz="1500" b="1">
                <a:latin typeface="华文中宋"/>
                <a:ea typeface="华文中宋"/>
                <a:cs typeface="华文中宋"/>
              </a:rPr>
              <a:t>水波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567"/>
                                        </p:tgtEl>
                                        <p:attrNameLst>
                                          <p:attrName>style.visibility</p:attrName>
                                        </p:attrNameLst>
                                      </p:cBhvr>
                                      <p:to>
                                        <p:strVal val="visible"/>
                                      </p:to>
                                    </p:set>
                                    <p:animEffect transition="in" filter="checkerboard(across)">
                                      <p:cBhvr>
                                        <p:cTn id="7" dur="500"/>
                                        <p:tgtEl>
                                          <p:spTgt spid="145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569"/>
                                        </p:tgtEl>
                                        <p:attrNameLst>
                                          <p:attrName>style.visibility</p:attrName>
                                        </p:attrNameLst>
                                      </p:cBhvr>
                                      <p:to>
                                        <p:strVal val="visible"/>
                                      </p:to>
                                    </p:set>
                                    <p:animEffect transition="in" filter="checkerboard(across)">
                                      <p:cBhvr>
                                        <p:cTn id="12" dur="500"/>
                                        <p:tgtEl>
                                          <p:spTgt spid="145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568"/>
                                        </p:tgtEl>
                                        <p:attrNameLst>
                                          <p:attrName>style.visibility</p:attrName>
                                        </p:attrNameLst>
                                      </p:cBhvr>
                                      <p:to>
                                        <p:strVal val="visible"/>
                                      </p:to>
                                    </p:set>
                                    <p:animEffect transition="in" filter="checkerboard(across)">
                                      <p:cBhvr>
                                        <p:cTn id="17" dur="500"/>
                                        <p:tgtEl>
                                          <p:spTgt spid="145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582"/>
                                        </p:tgtEl>
                                        <p:attrNameLst>
                                          <p:attrName>style.visibility</p:attrName>
                                        </p:attrNameLst>
                                      </p:cBhvr>
                                      <p:to>
                                        <p:strVal val="visible"/>
                                      </p:to>
                                    </p:set>
                                    <p:animEffect transition="in" filter="checkerboard(across)">
                                      <p:cBhvr>
                                        <p:cTn id="22" dur="500"/>
                                        <p:tgtEl>
                                          <p:spTgt spid="1458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4588"/>
                                        </p:tgtEl>
                                        <p:attrNameLst>
                                          <p:attrName>style.visibility</p:attrName>
                                        </p:attrNameLst>
                                      </p:cBhvr>
                                      <p:to>
                                        <p:strVal val="visible"/>
                                      </p:to>
                                    </p:set>
                                    <p:animEffect transition="in" filter="blinds(horizontal)">
                                      <p:cBhvr>
                                        <p:cTn id="27" dur="500"/>
                                        <p:tgtEl>
                                          <p:spTgt spid="14588"/>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4593"/>
                                        </p:tgtEl>
                                        <p:attrNameLst>
                                          <p:attrName>style.visibility</p:attrName>
                                        </p:attrNameLst>
                                      </p:cBhvr>
                                      <p:to>
                                        <p:strVal val="visible"/>
                                      </p:to>
                                    </p:set>
                                    <p:animEffect transition="in" filter="blinds(horizontal)">
                                      <p:cBhvr>
                                        <p:cTn id="30" dur="500"/>
                                        <p:tgtEl>
                                          <p:spTgt spid="14593"/>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4592"/>
                                        </p:tgtEl>
                                        <p:attrNameLst>
                                          <p:attrName>style.visibility</p:attrName>
                                        </p:attrNameLst>
                                      </p:cBhvr>
                                      <p:to>
                                        <p:strVal val="visible"/>
                                      </p:to>
                                    </p:set>
                                    <p:animEffect transition="in" filter="blinds(horizontal)">
                                      <p:cBhvr>
                                        <p:cTn id="33" dur="500"/>
                                        <p:tgtEl>
                                          <p:spTgt spid="14592"/>
                                        </p:tgtEl>
                                      </p:cBhvr>
                                    </p:animEffect>
                                  </p:childTnLst>
                                </p:cTn>
                              </p:par>
                              <p:par>
                                <p:cTn id="34" presetID="3" presetClass="entr" presetSubtype="10" fill="hold" nodeType="withEffect">
                                  <p:stCondLst>
                                    <p:cond delay="0"/>
                                  </p:stCondLst>
                                  <p:childTnLst>
                                    <p:set>
                                      <p:cBhvr>
                                        <p:cTn id="35" dur="1" fill="hold">
                                          <p:stCondLst>
                                            <p:cond delay="0"/>
                                          </p:stCondLst>
                                        </p:cTn>
                                        <p:tgtEl>
                                          <p:spTgt spid="14586"/>
                                        </p:tgtEl>
                                        <p:attrNameLst>
                                          <p:attrName>style.visibility</p:attrName>
                                        </p:attrNameLst>
                                      </p:cBhvr>
                                      <p:to>
                                        <p:strVal val="visible"/>
                                      </p:to>
                                    </p:set>
                                    <p:animEffect transition="in" filter="blinds(horizontal)">
                                      <p:cBhvr>
                                        <p:cTn id="36" dur="500"/>
                                        <p:tgtEl>
                                          <p:spTgt spid="1458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14583"/>
                                        </p:tgtEl>
                                        <p:attrNameLst>
                                          <p:attrName>style.visibility</p:attrName>
                                        </p:attrNameLst>
                                      </p:cBhvr>
                                      <p:to>
                                        <p:strVal val="visible"/>
                                      </p:to>
                                    </p:set>
                                    <p:animEffect transition="in" filter="checkerboard(across)">
                                      <p:cBhvr>
                                        <p:cTn id="41" dur="500"/>
                                        <p:tgtEl>
                                          <p:spTgt spid="1458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14584"/>
                                        </p:tgtEl>
                                        <p:attrNameLst>
                                          <p:attrName>style.visibility</p:attrName>
                                        </p:attrNameLst>
                                      </p:cBhvr>
                                      <p:to>
                                        <p:strVal val="visible"/>
                                      </p:to>
                                    </p:set>
                                    <p:animEffect transition="in" filter="checkerboard(across)">
                                      <p:cBhvr>
                                        <p:cTn id="46" dur="500"/>
                                        <p:tgtEl>
                                          <p:spTgt spid="1458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14589"/>
                                        </p:tgtEl>
                                        <p:attrNameLst>
                                          <p:attrName>style.visibility</p:attrName>
                                        </p:attrNameLst>
                                      </p:cBhvr>
                                      <p:to>
                                        <p:strVal val="visible"/>
                                      </p:to>
                                    </p:set>
                                    <p:animEffect transition="in" filter="checkerboard(across)">
                                      <p:cBhvr>
                                        <p:cTn id="51" dur="500"/>
                                        <p:tgtEl>
                                          <p:spTgt spid="1458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 presetClass="entr" presetSubtype="10" fill="hold" grpId="0" nodeType="clickEffect">
                                  <p:stCondLst>
                                    <p:cond delay="0"/>
                                  </p:stCondLst>
                                  <p:childTnLst>
                                    <p:set>
                                      <p:cBhvr>
                                        <p:cTn id="55" dur="1" fill="hold">
                                          <p:stCondLst>
                                            <p:cond delay="0"/>
                                          </p:stCondLst>
                                        </p:cTn>
                                        <p:tgtEl>
                                          <p:spTgt spid="14591"/>
                                        </p:tgtEl>
                                        <p:attrNameLst>
                                          <p:attrName>style.visibility</p:attrName>
                                        </p:attrNameLst>
                                      </p:cBhvr>
                                      <p:to>
                                        <p:strVal val="visible"/>
                                      </p:to>
                                    </p:set>
                                    <p:animEffect transition="in" filter="checkerboard(across)">
                                      <p:cBhvr>
                                        <p:cTn id="56" dur="500"/>
                                        <p:tgtEl>
                                          <p:spTgt spid="14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67" grpId="0" autoUpdateAnimBg="0"/>
      <p:bldP spid="14568" grpId="0" autoUpdateAnimBg="0"/>
      <p:bldP spid="14569" grpId="0" autoUpdateAnimBg="0"/>
      <p:bldP spid="14582" grpId="0" autoUpdateAnimBg="0"/>
      <p:bldP spid="14583" grpId="0" autoUpdateAnimBg="0"/>
      <p:bldP spid="14584" grpId="0" autoUpdateAnimBg="0"/>
      <p:bldP spid="14589" grpId="0" autoUpdateAnimBg="0"/>
      <p:bldP spid="14591" grpId="0" autoUpdateAnimBg="0"/>
      <p:bldP spid="14592" grpId="0" animBg="1"/>
      <p:bldP spid="1459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7" name="Text Box 209"/>
          <p:cNvSpPr txBox="1">
            <a:spLocks noChangeArrowheads="1"/>
          </p:cNvSpPr>
          <p:nvPr/>
        </p:nvSpPr>
        <p:spPr bwMode="auto">
          <a:xfrm>
            <a:off x="1258888" y="1665288"/>
            <a:ext cx="6121400" cy="396875"/>
          </a:xfrm>
          <a:prstGeom prst="rect">
            <a:avLst/>
          </a:prstGeom>
          <a:noFill/>
          <a:ln w="9525">
            <a:noFill/>
            <a:miter lim="800000"/>
            <a:headEnd/>
            <a:tailEnd/>
          </a:ln>
        </p:spPr>
        <p:txBody>
          <a:bodyPr>
            <a:spAutoFit/>
          </a:bodyPr>
          <a:lstStyle/>
          <a:p>
            <a:pPr eaLnBrk="0" hangingPunct="0">
              <a:lnSpc>
                <a:spcPct val="120000"/>
              </a:lnSpc>
            </a:pPr>
            <a:r>
              <a:rPr kumimoji="0" lang="en-US" altLang="zh-CN" sz="1800" b="1">
                <a:latin typeface="华文中宋"/>
                <a:ea typeface="华文中宋"/>
                <a:cs typeface="华文中宋"/>
              </a:rPr>
              <a:t>1</a:t>
            </a:r>
            <a:r>
              <a:rPr kumimoji="0" lang="zh-CN" altLang="en-US" sz="1800" b="1">
                <a:latin typeface="华文中宋"/>
                <a:ea typeface="华文中宋"/>
                <a:cs typeface="华文中宋"/>
              </a:rPr>
              <a:t>、波源（振源）：有作机械振动的物体。</a:t>
            </a:r>
          </a:p>
        </p:txBody>
      </p:sp>
      <p:sp>
        <p:nvSpPr>
          <p:cNvPr id="16" name="Text Box 3"/>
          <p:cNvSpPr txBox="1">
            <a:spLocks noChangeArrowheads="1"/>
          </p:cNvSpPr>
          <p:nvPr/>
        </p:nvSpPr>
        <p:spPr bwMode="auto">
          <a:xfrm>
            <a:off x="1187450" y="1336675"/>
            <a:ext cx="7272338" cy="368300"/>
          </a:xfrm>
          <a:prstGeom prst="rect">
            <a:avLst/>
          </a:prstGeom>
          <a:noFill/>
          <a:ln w="9525">
            <a:noFill/>
            <a:miter lim="800000"/>
            <a:headEnd/>
            <a:tailEnd/>
          </a:ln>
        </p:spPr>
        <p:txBody>
          <a:bodyPr>
            <a:spAutoFit/>
          </a:bodyPr>
          <a:lstStyle/>
          <a:p>
            <a:pPr algn="ctr" eaLnBrk="0" hangingPunct="0"/>
            <a:r>
              <a:rPr kumimoji="0" lang="zh-CN" altLang="en-US" sz="1800" b="1">
                <a:solidFill>
                  <a:srgbClr val="0000FF"/>
                </a:solidFill>
                <a:latin typeface="华文中宋"/>
                <a:ea typeface="华文中宋"/>
                <a:cs typeface="华文中宋"/>
              </a:rPr>
              <a:t>机械波：机械振动在连续介质内的传播叫做机械波。</a:t>
            </a:r>
          </a:p>
        </p:txBody>
      </p:sp>
      <p:sp>
        <p:nvSpPr>
          <p:cNvPr id="7395" name="Rectangle 227"/>
          <p:cNvSpPr>
            <a:spLocks noChangeArrowheads="1"/>
          </p:cNvSpPr>
          <p:nvPr/>
        </p:nvSpPr>
        <p:spPr bwMode="auto">
          <a:xfrm>
            <a:off x="1258888" y="2022475"/>
            <a:ext cx="6121400" cy="396875"/>
          </a:xfrm>
          <a:prstGeom prst="rect">
            <a:avLst/>
          </a:prstGeom>
          <a:noFill/>
          <a:ln w="9525">
            <a:noFill/>
            <a:miter lim="800000"/>
            <a:headEnd/>
            <a:tailEnd/>
          </a:ln>
        </p:spPr>
        <p:txBody>
          <a:bodyPr>
            <a:spAutoFit/>
          </a:bodyPr>
          <a:lstStyle/>
          <a:p>
            <a:pPr eaLnBrk="0" hangingPunct="0">
              <a:lnSpc>
                <a:spcPct val="120000"/>
              </a:lnSpc>
            </a:pPr>
            <a:r>
              <a:rPr kumimoji="0" lang="en-US" altLang="zh-CN" sz="1800" b="1">
                <a:latin typeface="华文中宋"/>
                <a:ea typeface="华文中宋"/>
                <a:cs typeface="华文中宋"/>
              </a:rPr>
              <a:t>2</a:t>
            </a:r>
            <a:r>
              <a:rPr kumimoji="0" lang="zh-CN" altLang="en-US" sz="1800" b="1">
                <a:latin typeface="华文中宋"/>
                <a:ea typeface="华文中宋"/>
                <a:cs typeface="华文中宋"/>
              </a:rPr>
              <a:t>、连续介质：承担传播振动的物质。</a:t>
            </a:r>
          </a:p>
        </p:txBody>
      </p:sp>
      <p:sp>
        <p:nvSpPr>
          <p:cNvPr id="7396" name="Text Box 228"/>
          <p:cNvSpPr txBox="1">
            <a:spLocks noChangeArrowheads="1"/>
          </p:cNvSpPr>
          <p:nvPr/>
        </p:nvSpPr>
        <p:spPr bwMode="auto">
          <a:xfrm>
            <a:off x="396875" y="2379663"/>
            <a:ext cx="8351838" cy="423862"/>
          </a:xfrm>
          <a:prstGeom prst="rect">
            <a:avLst/>
          </a:prstGeom>
          <a:noFill/>
          <a:ln w="9525">
            <a:noFill/>
            <a:miter lim="800000"/>
            <a:headEnd/>
            <a:tailEnd/>
          </a:ln>
        </p:spPr>
        <p:txBody>
          <a:bodyPr>
            <a:spAutoFit/>
          </a:bodyPr>
          <a:lstStyle/>
          <a:p>
            <a:pPr eaLnBrk="0" hangingPunct="0">
              <a:lnSpc>
                <a:spcPct val="120000"/>
              </a:lnSpc>
            </a:pPr>
            <a:r>
              <a:rPr kumimoji="0" lang="zh-CN" altLang="en-US" sz="1800" b="1">
                <a:latin typeface="华文中宋"/>
                <a:ea typeface="华文中宋"/>
                <a:cs typeface="华文中宋"/>
              </a:rPr>
              <a:t>如果波动中使介质各部分振动的回复力是弹性力，则称为</a:t>
            </a:r>
            <a:r>
              <a:rPr kumimoji="0" lang="zh-CN" altLang="en-US" sz="1800" b="1">
                <a:solidFill>
                  <a:srgbClr val="0000FF"/>
                </a:solidFill>
                <a:latin typeface="华文中宋"/>
                <a:ea typeface="华文中宋"/>
                <a:cs typeface="华文中宋"/>
              </a:rPr>
              <a:t>弹性波</a:t>
            </a:r>
            <a:r>
              <a:rPr kumimoji="0" lang="zh-CN" altLang="en-US" sz="1800" b="1">
                <a:latin typeface="华文中宋"/>
                <a:ea typeface="华文中宋"/>
                <a:cs typeface="华文中宋"/>
              </a:rPr>
              <a:t>。</a:t>
            </a:r>
          </a:p>
        </p:txBody>
      </p:sp>
      <p:sp>
        <p:nvSpPr>
          <p:cNvPr id="7399" name="Text Box 231"/>
          <p:cNvSpPr txBox="1">
            <a:spLocks noChangeArrowheads="1"/>
          </p:cNvSpPr>
          <p:nvPr/>
        </p:nvSpPr>
        <p:spPr bwMode="auto">
          <a:xfrm>
            <a:off x="935038" y="3867150"/>
            <a:ext cx="7885112" cy="396875"/>
          </a:xfrm>
          <a:prstGeom prst="rect">
            <a:avLst/>
          </a:prstGeom>
          <a:noFill/>
          <a:ln w="9525">
            <a:noFill/>
            <a:miter lim="800000"/>
            <a:headEnd/>
            <a:tailEnd/>
          </a:ln>
        </p:spPr>
        <p:txBody>
          <a:bodyPr>
            <a:spAutoFit/>
          </a:bodyPr>
          <a:lstStyle/>
          <a:p>
            <a:pPr eaLnBrk="0" hangingPunct="0">
              <a:lnSpc>
                <a:spcPct val="120000"/>
              </a:lnSpc>
            </a:pPr>
            <a:r>
              <a:rPr kumimoji="0" lang="zh-CN" altLang="en-US" sz="1800" b="1">
                <a:solidFill>
                  <a:srgbClr val="0000FF"/>
                </a:solidFill>
                <a:latin typeface="华文中宋"/>
                <a:ea typeface="华文中宋"/>
                <a:cs typeface="华文中宋"/>
              </a:rPr>
              <a:t>横波：</a:t>
            </a:r>
            <a:r>
              <a:rPr kumimoji="0" lang="zh-CN" altLang="en-US" sz="1800" b="1">
                <a:latin typeface="华文中宋"/>
                <a:ea typeface="华文中宋"/>
                <a:cs typeface="华文中宋"/>
              </a:rPr>
              <a:t>介质个部分振动的振动方向与波的传播方向</a:t>
            </a:r>
            <a:r>
              <a:rPr kumimoji="0" lang="zh-CN" altLang="en-US" sz="1800" b="1">
                <a:solidFill>
                  <a:srgbClr val="FF0000"/>
                </a:solidFill>
                <a:latin typeface="华文中宋"/>
                <a:ea typeface="华文中宋"/>
                <a:cs typeface="华文中宋"/>
              </a:rPr>
              <a:t>垂直</a:t>
            </a:r>
            <a:r>
              <a:rPr kumimoji="0" lang="zh-CN" altLang="en-US" sz="1800" b="1">
                <a:latin typeface="华文中宋"/>
                <a:ea typeface="华文中宋"/>
                <a:cs typeface="华文中宋"/>
              </a:rPr>
              <a:t>。</a:t>
            </a:r>
          </a:p>
        </p:txBody>
      </p:sp>
      <p:sp>
        <p:nvSpPr>
          <p:cNvPr id="7400" name="Rectangle 232"/>
          <p:cNvSpPr>
            <a:spLocks noChangeArrowheads="1"/>
          </p:cNvSpPr>
          <p:nvPr/>
        </p:nvSpPr>
        <p:spPr bwMode="auto">
          <a:xfrm>
            <a:off x="935038" y="4244975"/>
            <a:ext cx="7885112" cy="396875"/>
          </a:xfrm>
          <a:prstGeom prst="rect">
            <a:avLst/>
          </a:prstGeom>
          <a:noFill/>
          <a:ln w="9525">
            <a:noFill/>
            <a:miter lim="800000"/>
            <a:headEnd/>
            <a:tailEnd/>
          </a:ln>
        </p:spPr>
        <p:txBody>
          <a:bodyPr>
            <a:spAutoFit/>
          </a:bodyPr>
          <a:lstStyle/>
          <a:p>
            <a:pPr eaLnBrk="0" hangingPunct="0">
              <a:lnSpc>
                <a:spcPct val="120000"/>
              </a:lnSpc>
            </a:pPr>
            <a:r>
              <a:rPr kumimoji="0" lang="zh-CN" altLang="en-US" sz="1800" b="1">
                <a:solidFill>
                  <a:srgbClr val="0000FF"/>
                </a:solidFill>
                <a:latin typeface="华文中宋"/>
                <a:ea typeface="华文中宋"/>
                <a:cs typeface="华文中宋"/>
              </a:rPr>
              <a:t>纵波：</a:t>
            </a:r>
            <a:r>
              <a:rPr kumimoji="0" lang="zh-CN" altLang="en-US" sz="1800" b="1">
                <a:latin typeface="华文中宋"/>
                <a:ea typeface="华文中宋"/>
                <a:cs typeface="华文中宋"/>
              </a:rPr>
              <a:t>介质个部分振动的振动方向与波的传播方向</a:t>
            </a:r>
            <a:r>
              <a:rPr kumimoji="0" lang="zh-CN" altLang="en-US" sz="1800" b="1">
                <a:solidFill>
                  <a:srgbClr val="FF0000"/>
                </a:solidFill>
                <a:latin typeface="华文中宋"/>
                <a:ea typeface="华文中宋"/>
                <a:cs typeface="华文中宋"/>
              </a:rPr>
              <a:t>平行</a:t>
            </a:r>
            <a:r>
              <a:rPr kumimoji="0" lang="zh-CN" altLang="en-US" sz="1800" b="1">
                <a:latin typeface="华文中宋"/>
                <a:ea typeface="华文中宋"/>
                <a:cs typeface="华文中宋"/>
              </a:rPr>
              <a:t>。</a:t>
            </a:r>
          </a:p>
        </p:txBody>
      </p:sp>
      <p:sp>
        <p:nvSpPr>
          <p:cNvPr id="7401" name="Text Box 233"/>
          <p:cNvSpPr txBox="1">
            <a:spLocks noChangeArrowheads="1"/>
          </p:cNvSpPr>
          <p:nvPr/>
        </p:nvSpPr>
        <p:spPr bwMode="auto">
          <a:xfrm>
            <a:off x="395288" y="2763838"/>
            <a:ext cx="8208962" cy="757237"/>
          </a:xfrm>
          <a:prstGeom prst="rect">
            <a:avLst/>
          </a:prstGeom>
          <a:noFill/>
          <a:ln w="9525">
            <a:noFill/>
            <a:miter lim="800000"/>
            <a:headEnd/>
            <a:tailEnd/>
          </a:ln>
        </p:spPr>
        <p:txBody>
          <a:bodyPr>
            <a:spAutoFit/>
          </a:bodyPr>
          <a:lstStyle/>
          <a:p>
            <a:pPr eaLnBrk="0" hangingPunct="0">
              <a:lnSpc>
                <a:spcPct val="120000"/>
              </a:lnSpc>
            </a:pPr>
            <a:r>
              <a:rPr kumimoji="0" lang="zh-CN" altLang="en-US" sz="1800" b="1">
                <a:latin typeface="华文中宋"/>
                <a:ea typeface="华文中宋"/>
                <a:cs typeface="华文中宋"/>
              </a:rPr>
              <a:t>如果波源是简谐振动且介质是理想介质（各向同性均匀无限大）各部分振动的回复力是弹性力，则称为</a:t>
            </a:r>
            <a:r>
              <a:rPr kumimoji="0" lang="zh-CN" altLang="en-US" sz="1800" b="1">
                <a:solidFill>
                  <a:srgbClr val="0000FF"/>
                </a:solidFill>
                <a:latin typeface="华文中宋"/>
                <a:ea typeface="华文中宋"/>
                <a:cs typeface="华文中宋"/>
              </a:rPr>
              <a:t>简谐波</a:t>
            </a:r>
            <a:r>
              <a:rPr kumimoji="0" lang="zh-CN" altLang="en-US" sz="1800" b="1">
                <a:latin typeface="华文中宋"/>
                <a:ea typeface="华文中宋"/>
                <a:cs typeface="华文中宋"/>
              </a:rPr>
              <a:t>。</a:t>
            </a:r>
          </a:p>
        </p:txBody>
      </p:sp>
      <p:sp>
        <p:nvSpPr>
          <p:cNvPr id="20488" name="Text Box 2"/>
          <p:cNvSpPr>
            <a:spLocks noChangeArrowheads="1"/>
          </p:cNvSpPr>
          <p:nvPr/>
        </p:nvSpPr>
        <p:spPr bwMode="auto">
          <a:xfrm>
            <a:off x="839788" y="874713"/>
            <a:ext cx="2940050" cy="400050"/>
          </a:xfrm>
          <a:prstGeom prst="homePlate">
            <a:avLst>
              <a:gd name="adj" fmla="val 49879"/>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一、机械波产生的条件</a:t>
            </a:r>
          </a:p>
        </p:txBody>
      </p:sp>
      <p:sp>
        <p:nvSpPr>
          <p:cNvPr id="12" name="Text Box 2"/>
          <p:cNvSpPr>
            <a:spLocks noChangeArrowheads="1"/>
          </p:cNvSpPr>
          <p:nvPr/>
        </p:nvSpPr>
        <p:spPr bwMode="auto">
          <a:xfrm>
            <a:off x="858838" y="3540125"/>
            <a:ext cx="2200275" cy="400050"/>
          </a:xfrm>
          <a:prstGeom prst="homePlate">
            <a:avLst>
              <a:gd name="adj" fmla="val 49856"/>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二、横波与纵波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7377"/>
                                        </p:tgtEl>
                                        <p:attrNameLst>
                                          <p:attrName>style.visibility</p:attrName>
                                        </p:attrNameLst>
                                      </p:cBhvr>
                                      <p:to>
                                        <p:strVal val="visible"/>
                                      </p:to>
                                    </p:set>
                                    <p:anim calcmode="lin" valueType="num">
                                      <p:cBhvr>
                                        <p:cTn id="12" dur="500" fill="hold"/>
                                        <p:tgtEl>
                                          <p:spTgt spid="7377"/>
                                        </p:tgtEl>
                                        <p:attrNameLst>
                                          <p:attrName>ppt_w</p:attrName>
                                        </p:attrNameLst>
                                      </p:cBhvr>
                                      <p:tavLst>
                                        <p:tav tm="0">
                                          <p:val>
                                            <p:fltVal val="0"/>
                                          </p:val>
                                        </p:tav>
                                        <p:tav tm="100000">
                                          <p:val>
                                            <p:strVal val="#ppt_w"/>
                                          </p:val>
                                        </p:tav>
                                      </p:tavLst>
                                    </p:anim>
                                    <p:anim calcmode="lin" valueType="num">
                                      <p:cBhvr>
                                        <p:cTn id="13" dur="500" fill="hold"/>
                                        <p:tgtEl>
                                          <p:spTgt spid="7377"/>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7395"/>
                                        </p:tgtEl>
                                        <p:attrNameLst>
                                          <p:attrName>style.visibility</p:attrName>
                                        </p:attrNameLst>
                                      </p:cBhvr>
                                      <p:to>
                                        <p:strVal val="visible"/>
                                      </p:to>
                                    </p:set>
                                    <p:animEffect transition="in" filter="blinds(horizontal)">
                                      <p:cBhvr>
                                        <p:cTn id="18" dur="500"/>
                                        <p:tgtEl>
                                          <p:spTgt spid="739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396"/>
                                        </p:tgtEl>
                                        <p:attrNameLst>
                                          <p:attrName>style.visibility</p:attrName>
                                        </p:attrNameLst>
                                      </p:cBhvr>
                                      <p:to>
                                        <p:strVal val="visible"/>
                                      </p:to>
                                    </p:set>
                                    <p:animEffect transition="in" filter="wipe(left)">
                                      <p:cBhvr>
                                        <p:cTn id="23" dur="500"/>
                                        <p:tgtEl>
                                          <p:spTgt spid="739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401"/>
                                        </p:tgtEl>
                                        <p:attrNameLst>
                                          <p:attrName>style.visibility</p:attrName>
                                        </p:attrNameLst>
                                      </p:cBhvr>
                                      <p:to>
                                        <p:strVal val="visible"/>
                                      </p:to>
                                    </p:set>
                                    <p:animEffect transition="in" filter="wipe(left)">
                                      <p:cBhvr>
                                        <p:cTn id="28" dur="500"/>
                                        <p:tgtEl>
                                          <p:spTgt spid="740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7399"/>
                                        </p:tgtEl>
                                        <p:attrNameLst>
                                          <p:attrName>style.visibility</p:attrName>
                                        </p:attrNameLst>
                                      </p:cBhvr>
                                      <p:to>
                                        <p:strVal val="visible"/>
                                      </p:to>
                                    </p:set>
                                    <p:anim calcmode="lin" valueType="num">
                                      <p:cBhvr>
                                        <p:cTn id="38" dur="500" fill="hold"/>
                                        <p:tgtEl>
                                          <p:spTgt spid="7399"/>
                                        </p:tgtEl>
                                        <p:attrNameLst>
                                          <p:attrName>ppt_w</p:attrName>
                                        </p:attrNameLst>
                                      </p:cBhvr>
                                      <p:tavLst>
                                        <p:tav tm="0">
                                          <p:val>
                                            <p:fltVal val="0"/>
                                          </p:val>
                                        </p:tav>
                                        <p:tav tm="100000">
                                          <p:val>
                                            <p:strVal val="#ppt_w"/>
                                          </p:val>
                                        </p:tav>
                                      </p:tavLst>
                                    </p:anim>
                                    <p:anim calcmode="lin" valueType="num">
                                      <p:cBhvr>
                                        <p:cTn id="39" dur="500" fill="hold"/>
                                        <p:tgtEl>
                                          <p:spTgt spid="7399"/>
                                        </p:tgtEl>
                                        <p:attrNameLst>
                                          <p:attrName>ppt_h</p:attrName>
                                        </p:attrNameLst>
                                      </p:cBhvr>
                                      <p:tavLst>
                                        <p:tav tm="0">
                                          <p:val>
                                            <p:fltVal val="0"/>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7400"/>
                                        </p:tgtEl>
                                        <p:attrNameLst>
                                          <p:attrName>style.visibility</p:attrName>
                                        </p:attrNameLst>
                                      </p:cBhvr>
                                      <p:to>
                                        <p:strVal val="visible"/>
                                      </p:to>
                                    </p:set>
                                    <p:animEffect transition="in" filter="blinds(horizontal)">
                                      <p:cBhvr>
                                        <p:cTn id="44" dur="500"/>
                                        <p:tgtEl>
                                          <p:spTgt spid="7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7" grpId="0" autoUpdateAnimBg="0"/>
      <p:bldP spid="16" grpId="0" build="p"/>
      <p:bldP spid="7395" grpId="0"/>
      <p:bldP spid="7396" grpId="0" autoUpdateAnimBg="0"/>
      <p:bldP spid="7399" grpId="0" autoUpdateAnimBg="0"/>
      <p:bldP spid="7400" grpId="0"/>
      <p:bldP spid="7401" grpId="0" autoUpdateAnimBg="0"/>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Text Box 5"/>
          <p:cNvSpPr txBox="1">
            <a:spLocks noChangeArrowheads="1"/>
          </p:cNvSpPr>
          <p:nvPr/>
        </p:nvSpPr>
        <p:spPr bwMode="auto">
          <a:xfrm>
            <a:off x="611188" y="906463"/>
            <a:ext cx="2232025" cy="369887"/>
          </a:xfrm>
          <a:prstGeom prst="rect">
            <a:avLst/>
          </a:prstGeom>
          <a:noFill/>
          <a:ln w="9525">
            <a:noFill/>
            <a:miter lim="800000"/>
            <a:headEnd/>
            <a:tailEnd/>
          </a:ln>
        </p:spPr>
        <p:txBody>
          <a:bodyPr>
            <a:spAutoFit/>
          </a:bodyPr>
          <a:lstStyle/>
          <a:p>
            <a:r>
              <a:rPr lang="en-US" altLang="zh-CN" sz="1800" b="1">
                <a:solidFill>
                  <a:srgbClr val="0000FF"/>
                </a:solidFill>
                <a:latin typeface="华文中宋"/>
                <a:ea typeface="华文中宋"/>
                <a:cs typeface="华文中宋"/>
              </a:rPr>
              <a:t>1</a:t>
            </a:r>
            <a:r>
              <a:rPr lang="zh-CN" altLang="en-US" sz="1800" b="1">
                <a:solidFill>
                  <a:srgbClr val="0000FF"/>
                </a:solidFill>
                <a:latin typeface="华文中宋"/>
                <a:ea typeface="华文中宋"/>
                <a:cs typeface="华文中宋"/>
              </a:rPr>
              <a:t>、横波</a:t>
            </a:r>
            <a:endParaRPr lang="zh-CN" altLang="en-US" sz="1800">
              <a:solidFill>
                <a:srgbClr val="0000FF"/>
              </a:solidFill>
              <a:latin typeface="华文中宋"/>
              <a:ea typeface="华文中宋"/>
              <a:cs typeface="华文中宋"/>
            </a:endParaRPr>
          </a:p>
        </p:txBody>
      </p:sp>
      <p:sp>
        <p:nvSpPr>
          <p:cNvPr id="137423" name="Text Box 207"/>
          <p:cNvSpPr txBox="1">
            <a:spLocks noChangeArrowheads="1"/>
          </p:cNvSpPr>
          <p:nvPr/>
        </p:nvSpPr>
        <p:spPr bwMode="auto">
          <a:xfrm>
            <a:off x="280988" y="3444875"/>
            <a:ext cx="8683625" cy="369888"/>
          </a:xfrm>
          <a:prstGeom prst="rect">
            <a:avLst/>
          </a:prstGeom>
          <a:noFill/>
          <a:ln w="9525">
            <a:noFill/>
            <a:miter lim="800000"/>
            <a:headEnd/>
            <a:tailEnd/>
          </a:ln>
        </p:spPr>
        <p:txBody>
          <a:bodyPr>
            <a:spAutoFit/>
          </a:bodyPr>
          <a:lstStyle/>
          <a:p>
            <a:pPr>
              <a:buFont typeface="宋体" charset="-122"/>
              <a:buNone/>
            </a:pPr>
            <a:r>
              <a:rPr lang="zh-CN" altLang="en-US" sz="1800" b="1">
                <a:latin typeface="华文中宋"/>
                <a:ea typeface="华文中宋"/>
                <a:cs typeface="华文中宋"/>
              </a:rPr>
              <a:t>（</a:t>
            </a:r>
            <a:r>
              <a:rPr lang="en-US" altLang="zh-CN" sz="1800" b="1">
                <a:latin typeface="华文中宋"/>
                <a:ea typeface="华文中宋"/>
                <a:cs typeface="华文中宋"/>
              </a:rPr>
              <a:t>1</a:t>
            </a:r>
            <a:r>
              <a:rPr lang="zh-CN" altLang="en-US" sz="1800" b="1">
                <a:latin typeface="华文中宋"/>
                <a:ea typeface="华文中宋"/>
                <a:cs typeface="华文中宋"/>
              </a:rPr>
              <a:t>）当波源完成一个周期的振动，就发出一个完整的波形。</a:t>
            </a:r>
          </a:p>
        </p:txBody>
      </p:sp>
      <p:sp>
        <p:nvSpPr>
          <p:cNvPr id="137424" name="Text Box 208"/>
          <p:cNvSpPr txBox="1">
            <a:spLocks noChangeArrowheads="1"/>
          </p:cNvSpPr>
          <p:nvPr/>
        </p:nvSpPr>
        <p:spPr bwMode="auto">
          <a:xfrm>
            <a:off x="274638" y="3836988"/>
            <a:ext cx="8618537" cy="368300"/>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rPr>
              <a:t>（</a:t>
            </a:r>
            <a:r>
              <a:rPr lang="en-US" altLang="zh-CN" sz="1800" b="1">
                <a:latin typeface="华文中宋"/>
                <a:ea typeface="华文中宋"/>
                <a:cs typeface="华文中宋"/>
              </a:rPr>
              <a:t>2</a:t>
            </a:r>
            <a:r>
              <a:rPr lang="zh-CN" altLang="en-US" sz="1800" b="1">
                <a:latin typeface="华文中宋"/>
                <a:ea typeface="华文中宋"/>
                <a:cs typeface="华文中宋"/>
              </a:rPr>
              <a:t>）沿着波的传播方向向前看去，前面质元的振动位相落后于波源的位相。</a:t>
            </a:r>
          </a:p>
        </p:txBody>
      </p:sp>
      <p:sp>
        <p:nvSpPr>
          <p:cNvPr id="137425" name="Text Box 209"/>
          <p:cNvSpPr txBox="1">
            <a:spLocks noChangeArrowheads="1"/>
          </p:cNvSpPr>
          <p:nvPr/>
        </p:nvSpPr>
        <p:spPr bwMode="auto">
          <a:xfrm>
            <a:off x="249238" y="4227513"/>
            <a:ext cx="8666162" cy="369887"/>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sym typeface="Monotype Sorts"/>
              </a:rPr>
              <a:t>（</a:t>
            </a:r>
            <a:r>
              <a:rPr lang="en-US" altLang="zh-CN" sz="1800" b="1">
                <a:latin typeface="华文中宋"/>
                <a:ea typeface="华文中宋"/>
                <a:cs typeface="华文中宋"/>
                <a:sym typeface="Monotype Sorts"/>
              </a:rPr>
              <a:t>3</a:t>
            </a:r>
            <a:r>
              <a:rPr lang="zh-CN" altLang="en-US" sz="1800" b="1">
                <a:latin typeface="华文中宋"/>
                <a:ea typeface="华文中宋"/>
                <a:cs typeface="华文中宋"/>
                <a:sym typeface="Monotype Sorts"/>
              </a:rPr>
              <a:t>）</a:t>
            </a:r>
            <a:r>
              <a:rPr lang="zh-CN" altLang="en-US" sz="1800" b="1">
                <a:latin typeface="华文中宋"/>
                <a:ea typeface="华文中宋"/>
                <a:cs typeface="华文中宋"/>
              </a:rPr>
              <a:t>横波使介质产生切变，只有能承受切变的物体（固体）才能传递横波。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37423"/>
                                        </p:tgtEl>
                                        <p:attrNameLst>
                                          <p:attrName>style.visibility</p:attrName>
                                        </p:attrNameLst>
                                      </p:cBhvr>
                                      <p:to>
                                        <p:strVal val="visible"/>
                                      </p:to>
                                    </p:set>
                                    <p:animEffect transition="in" filter="barn(outHorizontal)">
                                      <p:cBhvr>
                                        <p:cTn id="7" dur="500"/>
                                        <p:tgtEl>
                                          <p:spTgt spid="1374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37424"/>
                                        </p:tgtEl>
                                        <p:attrNameLst>
                                          <p:attrName>style.visibility</p:attrName>
                                        </p:attrNameLst>
                                      </p:cBhvr>
                                      <p:to>
                                        <p:strVal val="visible"/>
                                      </p:to>
                                    </p:set>
                                    <p:animEffect transition="in" filter="barn(outHorizontal)">
                                      <p:cBhvr>
                                        <p:cTn id="12" dur="500"/>
                                        <p:tgtEl>
                                          <p:spTgt spid="1374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137425"/>
                                        </p:tgtEl>
                                        <p:attrNameLst>
                                          <p:attrName>style.visibility</p:attrName>
                                        </p:attrNameLst>
                                      </p:cBhvr>
                                      <p:to>
                                        <p:strVal val="visible"/>
                                      </p:to>
                                    </p:set>
                                    <p:animEffect transition="in" filter="barn(outHorizontal)">
                                      <p:cBhvr>
                                        <p:cTn id="17" dur="500"/>
                                        <p:tgtEl>
                                          <p:spTgt spid="137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423" grpId="0" autoUpdateAnimBg="0"/>
      <p:bldP spid="137424" grpId="0" autoUpdateAnimBg="0"/>
      <p:bldP spid="137425"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Text Box 12"/>
          <p:cNvSpPr txBox="1">
            <a:spLocks noChangeArrowheads="1"/>
          </p:cNvSpPr>
          <p:nvPr/>
        </p:nvSpPr>
        <p:spPr bwMode="auto">
          <a:xfrm>
            <a:off x="539750" y="874713"/>
            <a:ext cx="1368425" cy="369887"/>
          </a:xfrm>
          <a:prstGeom prst="rect">
            <a:avLst/>
          </a:prstGeom>
          <a:noFill/>
          <a:ln w="9525">
            <a:noFill/>
            <a:miter lim="800000"/>
            <a:headEnd/>
            <a:tailEnd/>
          </a:ln>
        </p:spPr>
        <p:txBody>
          <a:bodyPr>
            <a:spAutoFit/>
          </a:bodyPr>
          <a:lstStyle/>
          <a:p>
            <a:r>
              <a:rPr kumimoji="0" lang="en-US" altLang="zh-CN" sz="1800" b="1">
                <a:solidFill>
                  <a:srgbClr val="0000FF"/>
                </a:solidFill>
                <a:latin typeface="华文中宋"/>
                <a:ea typeface="华文中宋"/>
                <a:cs typeface="华文中宋"/>
              </a:rPr>
              <a:t>2</a:t>
            </a:r>
            <a:r>
              <a:rPr kumimoji="0" lang="zh-CN" altLang="en-US" sz="1800" b="1">
                <a:solidFill>
                  <a:srgbClr val="0000FF"/>
                </a:solidFill>
                <a:latin typeface="华文中宋"/>
                <a:ea typeface="华文中宋"/>
                <a:cs typeface="华文中宋"/>
              </a:rPr>
              <a:t>、纵</a:t>
            </a:r>
            <a:r>
              <a:rPr lang="zh-CN" altLang="en-US" sz="1800" b="1">
                <a:solidFill>
                  <a:srgbClr val="0000FF"/>
                </a:solidFill>
                <a:latin typeface="华文中宋"/>
                <a:ea typeface="华文中宋"/>
                <a:cs typeface="华文中宋"/>
              </a:rPr>
              <a:t>波</a:t>
            </a:r>
            <a:endParaRPr lang="zh-CN" altLang="en-US" sz="1800">
              <a:solidFill>
                <a:srgbClr val="0000FF"/>
              </a:solidFill>
              <a:latin typeface="华文中宋"/>
              <a:ea typeface="华文中宋"/>
              <a:cs typeface="华文中宋"/>
            </a:endParaRPr>
          </a:p>
        </p:txBody>
      </p:sp>
      <p:sp>
        <p:nvSpPr>
          <p:cNvPr id="112782" name="Text Box 142"/>
          <p:cNvSpPr txBox="1">
            <a:spLocks noChangeArrowheads="1"/>
          </p:cNvSpPr>
          <p:nvPr/>
        </p:nvSpPr>
        <p:spPr bwMode="auto">
          <a:xfrm>
            <a:off x="280988" y="3057525"/>
            <a:ext cx="8683625" cy="369888"/>
          </a:xfrm>
          <a:prstGeom prst="rect">
            <a:avLst/>
          </a:prstGeom>
          <a:noFill/>
          <a:ln w="9525">
            <a:noFill/>
            <a:miter lim="800000"/>
            <a:headEnd/>
            <a:tailEnd/>
          </a:ln>
        </p:spPr>
        <p:txBody>
          <a:bodyPr>
            <a:spAutoFit/>
          </a:bodyPr>
          <a:lstStyle/>
          <a:p>
            <a:pPr>
              <a:buFont typeface="宋体" charset="-122"/>
              <a:buNone/>
            </a:pPr>
            <a:r>
              <a:rPr lang="zh-CN" altLang="en-US" sz="1800" b="1">
                <a:latin typeface="华文中宋"/>
                <a:ea typeface="华文中宋"/>
                <a:cs typeface="华文中宋"/>
              </a:rPr>
              <a:t>（</a:t>
            </a:r>
            <a:r>
              <a:rPr lang="en-US" altLang="zh-CN" sz="1800" b="1">
                <a:latin typeface="华文中宋"/>
                <a:ea typeface="华文中宋"/>
                <a:cs typeface="华文中宋"/>
              </a:rPr>
              <a:t>1</a:t>
            </a:r>
            <a:r>
              <a:rPr lang="zh-CN" altLang="en-US" sz="1800" b="1">
                <a:latin typeface="华文中宋"/>
                <a:ea typeface="华文中宋"/>
                <a:cs typeface="华文中宋"/>
              </a:rPr>
              <a:t>）当波源完成一个周期的振动，就发出一个完整的波形。</a:t>
            </a:r>
          </a:p>
        </p:txBody>
      </p:sp>
      <p:sp>
        <p:nvSpPr>
          <p:cNvPr id="112783" name="Text Box 143"/>
          <p:cNvSpPr txBox="1">
            <a:spLocks noChangeArrowheads="1"/>
          </p:cNvSpPr>
          <p:nvPr/>
        </p:nvSpPr>
        <p:spPr bwMode="auto">
          <a:xfrm>
            <a:off x="274638" y="3498850"/>
            <a:ext cx="8618537" cy="369888"/>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rPr>
              <a:t>（</a:t>
            </a:r>
            <a:r>
              <a:rPr lang="en-US" altLang="zh-CN" sz="1800" b="1">
                <a:latin typeface="华文中宋"/>
                <a:ea typeface="华文中宋"/>
                <a:cs typeface="华文中宋"/>
              </a:rPr>
              <a:t>2</a:t>
            </a:r>
            <a:r>
              <a:rPr lang="zh-CN" altLang="en-US" sz="1800" b="1">
                <a:latin typeface="华文中宋"/>
                <a:ea typeface="华文中宋"/>
                <a:cs typeface="华文中宋"/>
              </a:rPr>
              <a:t>）沿着波的传播方向向前看去，前面质元的振动位相落后于波源的位相。</a:t>
            </a:r>
          </a:p>
        </p:txBody>
      </p:sp>
      <p:sp>
        <p:nvSpPr>
          <p:cNvPr id="112784" name="Text Box 144"/>
          <p:cNvSpPr txBox="1">
            <a:spLocks noChangeArrowheads="1"/>
          </p:cNvSpPr>
          <p:nvPr/>
        </p:nvSpPr>
        <p:spPr bwMode="auto">
          <a:xfrm>
            <a:off x="249238" y="3940175"/>
            <a:ext cx="8666162" cy="646113"/>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sym typeface="Monotype Sorts"/>
              </a:rPr>
              <a:t>（</a:t>
            </a:r>
            <a:r>
              <a:rPr lang="en-US" altLang="zh-CN" sz="1800" b="1">
                <a:latin typeface="华文中宋"/>
                <a:ea typeface="华文中宋"/>
                <a:cs typeface="华文中宋"/>
                <a:sym typeface="Monotype Sorts"/>
              </a:rPr>
              <a:t>3</a:t>
            </a:r>
            <a:r>
              <a:rPr lang="zh-CN" altLang="en-US" sz="1800" b="1">
                <a:latin typeface="华文中宋"/>
                <a:ea typeface="华文中宋"/>
                <a:cs typeface="华文中宋"/>
                <a:sym typeface="Monotype Sorts"/>
              </a:rPr>
              <a:t>）</a:t>
            </a:r>
            <a:r>
              <a:rPr lang="zh-CN" altLang="en-US" sz="1800" b="1">
                <a:latin typeface="华文中宋"/>
                <a:ea typeface="华文中宋"/>
                <a:cs typeface="华文中宋"/>
              </a:rPr>
              <a:t>纵波使介质产生体变或长变，固体、气体、液体都能承受这些形变，所以纵波在三种介质中都能传播。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12782"/>
                                        </p:tgtEl>
                                        <p:attrNameLst>
                                          <p:attrName>style.visibility</p:attrName>
                                        </p:attrNameLst>
                                      </p:cBhvr>
                                      <p:to>
                                        <p:strVal val="visible"/>
                                      </p:to>
                                    </p:set>
                                    <p:animEffect transition="in" filter="barn(outHorizontal)">
                                      <p:cBhvr>
                                        <p:cTn id="7" dur="500"/>
                                        <p:tgtEl>
                                          <p:spTgt spid="1127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12783"/>
                                        </p:tgtEl>
                                        <p:attrNameLst>
                                          <p:attrName>style.visibility</p:attrName>
                                        </p:attrNameLst>
                                      </p:cBhvr>
                                      <p:to>
                                        <p:strVal val="visible"/>
                                      </p:to>
                                    </p:set>
                                    <p:animEffect transition="in" filter="barn(outHorizontal)">
                                      <p:cBhvr>
                                        <p:cTn id="12" dur="500"/>
                                        <p:tgtEl>
                                          <p:spTgt spid="1127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112784"/>
                                        </p:tgtEl>
                                        <p:attrNameLst>
                                          <p:attrName>style.visibility</p:attrName>
                                        </p:attrNameLst>
                                      </p:cBhvr>
                                      <p:to>
                                        <p:strVal val="visible"/>
                                      </p:to>
                                    </p:set>
                                    <p:animEffect transition="in" filter="barn(outHorizontal)">
                                      <p:cBhvr>
                                        <p:cTn id="17" dur="500"/>
                                        <p:tgtEl>
                                          <p:spTgt spid="1127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82" grpId="0" autoUpdateAnimBg="0"/>
      <p:bldP spid="112783" grpId="0" autoUpdateAnimBg="0"/>
      <p:bldP spid="11278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20" name="Text Box 132"/>
          <p:cNvSpPr txBox="1">
            <a:spLocks noChangeArrowheads="1"/>
          </p:cNvSpPr>
          <p:nvPr/>
        </p:nvSpPr>
        <p:spPr bwMode="auto">
          <a:xfrm>
            <a:off x="5219700" y="3579813"/>
            <a:ext cx="3600450" cy="368300"/>
          </a:xfrm>
          <a:prstGeom prst="rect">
            <a:avLst/>
          </a:prstGeom>
          <a:noFill/>
          <a:ln w="9525">
            <a:noFill/>
            <a:miter lim="800000"/>
            <a:headEnd/>
            <a:tailEnd/>
          </a:ln>
        </p:spPr>
        <p:txBody>
          <a:bodyPr>
            <a:spAutoFit/>
          </a:bodyPr>
          <a:lstStyle/>
          <a:p>
            <a:pPr>
              <a:spcBef>
                <a:spcPct val="50000"/>
              </a:spcBef>
            </a:pPr>
            <a:r>
              <a:rPr lang="zh-CN" altLang="en-US" sz="1800" b="1">
                <a:solidFill>
                  <a:srgbClr val="0000FF"/>
                </a:solidFill>
                <a:latin typeface="楷体_GB2312"/>
                <a:ea typeface="华文中宋"/>
                <a:cs typeface="华文中宋"/>
              </a:rPr>
              <a:t>波线：</a:t>
            </a:r>
            <a:r>
              <a:rPr lang="zh-CN" altLang="en-US" sz="1800" b="1">
                <a:latin typeface="楷体_GB2312"/>
                <a:ea typeface="华文中宋"/>
                <a:cs typeface="华文中宋"/>
              </a:rPr>
              <a:t>代表波的传播方向的射线。</a:t>
            </a:r>
          </a:p>
        </p:txBody>
      </p:sp>
      <p:sp>
        <p:nvSpPr>
          <p:cNvPr id="12421" name="Text Box 133"/>
          <p:cNvSpPr txBox="1">
            <a:spLocks noChangeArrowheads="1"/>
          </p:cNvSpPr>
          <p:nvPr/>
        </p:nvSpPr>
        <p:spPr bwMode="auto">
          <a:xfrm>
            <a:off x="625475" y="3579813"/>
            <a:ext cx="3600450" cy="368300"/>
          </a:xfrm>
          <a:prstGeom prst="rect">
            <a:avLst/>
          </a:prstGeom>
          <a:noFill/>
          <a:ln w="9525">
            <a:noFill/>
            <a:miter lim="800000"/>
            <a:headEnd/>
            <a:tailEnd/>
          </a:ln>
          <a:effectLst>
            <a:prstShdw prst="shdw17" dist="17961" dir="2700000">
              <a:srgbClr val="993D00"/>
            </a:prstShdw>
          </a:effectLst>
        </p:spPr>
        <p:txBody>
          <a:bodyPr>
            <a:spAutoFit/>
          </a:bodyPr>
          <a:lstStyle/>
          <a:p>
            <a:r>
              <a:rPr lang="zh-CN" altLang="en-US" sz="1800" b="1">
                <a:solidFill>
                  <a:srgbClr val="0000FF"/>
                </a:solidFill>
                <a:latin typeface="楷体_GB2312"/>
                <a:ea typeface="华文中宋"/>
                <a:cs typeface="华文中宋"/>
              </a:rPr>
              <a:t>波场：</a:t>
            </a:r>
            <a:r>
              <a:rPr lang="zh-CN" altLang="en-US" sz="1800" b="1">
                <a:latin typeface="楷体_GB2312"/>
                <a:ea typeface="华文中宋"/>
                <a:cs typeface="华文中宋"/>
              </a:rPr>
              <a:t>波所传播到的空间。</a:t>
            </a:r>
          </a:p>
        </p:txBody>
      </p:sp>
      <p:sp>
        <p:nvSpPr>
          <p:cNvPr id="12489" name="Rectangle 201"/>
          <p:cNvSpPr>
            <a:spLocks noChangeArrowheads="1"/>
          </p:cNvSpPr>
          <p:nvPr/>
        </p:nvSpPr>
        <p:spPr bwMode="auto">
          <a:xfrm>
            <a:off x="611188" y="3930650"/>
            <a:ext cx="4752975" cy="369888"/>
          </a:xfrm>
          <a:prstGeom prst="rect">
            <a:avLst/>
          </a:prstGeom>
          <a:noFill/>
          <a:ln w="9525">
            <a:noFill/>
            <a:miter lim="800000"/>
            <a:headEnd/>
            <a:tailEnd/>
          </a:ln>
        </p:spPr>
        <p:txBody>
          <a:bodyPr>
            <a:spAutoFit/>
          </a:bodyPr>
          <a:lstStyle/>
          <a:p>
            <a:r>
              <a:rPr lang="zh-CN" altLang="en-US" sz="1800" b="1">
                <a:solidFill>
                  <a:srgbClr val="0000FF"/>
                </a:solidFill>
                <a:latin typeface="楷体_GB2312"/>
                <a:ea typeface="华文中宋"/>
                <a:cs typeface="华文中宋"/>
              </a:rPr>
              <a:t>波面：</a:t>
            </a:r>
            <a:r>
              <a:rPr lang="zh-CN" altLang="en-US" sz="1800" b="1">
                <a:latin typeface="楷体_GB2312"/>
                <a:ea typeface="华文中宋"/>
                <a:cs typeface="华文中宋"/>
              </a:rPr>
              <a:t>振动传播时相位相同的点所组成的面。</a:t>
            </a:r>
          </a:p>
        </p:txBody>
      </p:sp>
      <p:sp>
        <p:nvSpPr>
          <p:cNvPr id="12490" name="Rectangle 202"/>
          <p:cNvSpPr>
            <a:spLocks noChangeArrowheads="1"/>
          </p:cNvSpPr>
          <p:nvPr/>
        </p:nvSpPr>
        <p:spPr bwMode="auto">
          <a:xfrm>
            <a:off x="1331913" y="4300538"/>
            <a:ext cx="6551612" cy="314325"/>
          </a:xfrm>
          <a:prstGeom prst="rect">
            <a:avLst/>
          </a:prstGeom>
          <a:noFill/>
          <a:ln w="9525">
            <a:noFill/>
            <a:miter lim="800000"/>
            <a:headEnd/>
            <a:tailEnd/>
          </a:ln>
        </p:spPr>
        <p:txBody>
          <a:bodyPr>
            <a:spAutoFit/>
          </a:bodyPr>
          <a:lstStyle/>
          <a:p>
            <a:pPr algn="ctr">
              <a:lnSpc>
                <a:spcPct val="80000"/>
              </a:lnSpc>
              <a:spcBef>
                <a:spcPct val="50000"/>
              </a:spcBef>
            </a:pPr>
            <a:r>
              <a:rPr lang="zh-CN" altLang="en-US" sz="1800" b="1">
                <a:latin typeface="楷体_GB2312"/>
                <a:ea typeface="华文中宋"/>
                <a:cs typeface="华文中宋"/>
              </a:rPr>
              <a:t>在各向同性的介质中，波线恒与波面垂直。</a:t>
            </a:r>
          </a:p>
        </p:txBody>
      </p:sp>
      <p:sp>
        <p:nvSpPr>
          <p:cNvPr id="12491" name="Rectangle 203"/>
          <p:cNvSpPr>
            <a:spLocks noChangeArrowheads="1"/>
          </p:cNvSpPr>
          <p:nvPr/>
        </p:nvSpPr>
        <p:spPr bwMode="auto">
          <a:xfrm>
            <a:off x="5218113" y="3913188"/>
            <a:ext cx="4033837" cy="368300"/>
          </a:xfrm>
          <a:prstGeom prst="rect">
            <a:avLst/>
          </a:prstGeom>
          <a:noFill/>
          <a:ln w="9525">
            <a:noFill/>
            <a:miter lim="800000"/>
            <a:headEnd/>
            <a:tailEnd/>
          </a:ln>
        </p:spPr>
        <p:txBody>
          <a:bodyPr>
            <a:spAutoFit/>
          </a:bodyPr>
          <a:lstStyle/>
          <a:p>
            <a:pPr>
              <a:spcBef>
                <a:spcPct val="50000"/>
              </a:spcBef>
            </a:pPr>
            <a:r>
              <a:rPr lang="zh-CN" altLang="en-US" sz="1800" b="1">
                <a:solidFill>
                  <a:srgbClr val="0000FF"/>
                </a:solidFill>
                <a:latin typeface="楷体_GB2312"/>
                <a:ea typeface="华文中宋"/>
                <a:cs typeface="华文中宋"/>
              </a:rPr>
              <a:t>波前（波阵面）：</a:t>
            </a:r>
            <a:r>
              <a:rPr lang="zh-CN" altLang="en-US" sz="1800" b="1">
                <a:latin typeface="楷体_GB2312"/>
                <a:ea typeface="华文中宋"/>
                <a:cs typeface="华文中宋"/>
              </a:rPr>
              <a:t>最前面的一个波面。</a:t>
            </a:r>
          </a:p>
        </p:txBody>
      </p:sp>
      <p:sp>
        <p:nvSpPr>
          <p:cNvPr id="17445" name="Text Box 1061"/>
          <p:cNvSpPr txBox="1">
            <a:spLocks noChangeArrowheads="1"/>
          </p:cNvSpPr>
          <p:nvPr/>
        </p:nvSpPr>
        <p:spPr bwMode="auto">
          <a:xfrm>
            <a:off x="6086475" y="3165475"/>
            <a:ext cx="1958975" cy="323850"/>
          </a:xfrm>
          <a:prstGeom prst="rect">
            <a:avLst/>
          </a:prstGeom>
          <a:noFill/>
          <a:ln w="9525">
            <a:noFill/>
            <a:miter lim="800000"/>
            <a:headEnd/>
            <a:tailEnd/>
          </a:ln>
        </p:spPr>
        <p:txBody>
          <a:bodyPr>
            <a:spAutoFit/>
          </a:bodyPr>
          <a:lstStyle/>
          <a:p>
            <a:pPr algn="ctr">
              <a:spcBef>
                <a:spcPct val="50000"/>
              </a:spcBef>
            </a:pPr>
            <a:r>
              <a:rPr lang="zh-CN" altLang="zh-CN" sz="1500" b="1">
                <a:latin typeface="楷体_GB2312"/>
                <a:ea typeface="华文中宋"/>
                <a:cs typeface="华文中宋"/>
              </a:rPr>
              <a:t>球面波</a:t>
            </a:r>
            <a:endParaRPr lang="zh-CN" altLang="en-US" sz="1500" b="1">
              <a:latin typeface="楷体_GB2312"/>
              <a:ea typeface="华文中宋"/>
              <a:cs typeface="华文中宋"/>
            </a:endParaRPr>
          </a:p>
        </p:txBody>
      </p:sp>
      <p:sp>
        <p:nvSpPr>
          <p:cNvPr id="17467" name="Text Box 1083"/>
          <p:cNvSpPr txBox="1">
            <a:spLocks noChangeArrowheads="1"/>
          </p:cNvSpPr>
          <p:nvPr/>
        </p:nvSpPr>
        <p:spPr bwMode="auto">
          <a:xfrm>
            <a:off x="1781175" y="3184525"/>
            <a:ext cx="1797050" cy="323850"/>
          </a:xfrm>
          <a:prstGeom prst="rect">
            <a:avLst/>
          </a:prstGeom>
          <a:noFill/>
          <a:ln w="9525">
            <a:noFill/>
            <a:miter lim="800000"/>
            <a:headEnd/>
            <a:tailEnd/>
          </a:ln>
        </p:spPr>
        <p:txBody>
          <a:bodyPr>
            <a:spAutoFit/>
          </a:bodyPr>
          <a:lstStyle/>
          <a:p>
            <a:pPr algn="ctr">
              <a:spcBef>
                <a:spcPct val="50000"/>
              </a:spcBef>
            </a:pPr>
            <a:r>
              <a:rPr lang="zh-CN" altLang="zh-CN" sz="1500" b="1">
                <a:latin typeface="楷体_GB2312"/>
                <a:ea typeface="华文中宋"/>
                <a:cs typeface="华文中宋"/>
              </a:rPr>
              <a:t>平面波</a:t>
            </a:r>
            <a:endParaRPr lang="zh-CN" altLang="en-US" sz="1500" b="1">
              <a:latin typeface="楷体_GB2312"/>
              <a:ea typeface="华文中宋"/>
              <a:cs typeface="华文中宋"/>
            </a:endParaRPr>
          </a:p>
        </p:txBody>
      </p:sp>
      <p:grpSp>
        <p:nvGrpSpPr>
          <p:cNvPr id="2" name="Group 1151"/>
          <p:cNvGrpSpPr>
            <a:grpSpLocks/>
          </p:cNvGrpSpPr>
          <p:nvPr/>
        </p:nvGrpSpPr>
        <p:grpSpPr bwMode="auto">
          <a:xfrm>
            <a:off x="5237163" y="1833563"/>
            <a:ext cx="3656012" cy="1081087"/>
            <a:chOff x="3107" y="799"/>
            <a:chExt cx="2303" cy="907"/>
          </a:xfrm>
        </p:grpSpPr>
        <p:sp>
          <p:nvSpPr>
            <p:cNvPr id="60454" name="Line 1115"/>
            <p:cNvSpPr>
              <a:spLocks noChangeShapeType="1"/>
            </p:cNvSpPr>
            <p:nvPr/>
          </p:nvSpPr>
          <p:spPr bwMode="auto">
            <a:xfrm flipV="1">
              <a:off x="3758" y="1188"/>
              <a:ext cx="309" cy="9"/>
            </a:xfrm>
            <a:prstGeom prst="line">
              <a:avLst/>
            </a:prstGeom>
            <a:noFill/>
            <a:ln w="19050">
              <a:solidFill>
                <a:schemeClr val="tx1"/>
              </a:solidFill>
              <a:round/>
              <a:headEnd/>
              <a:tailEnd/>
            </a:ln>
          </p:spPr>
          <p:txBody>
            <a:bodyPr wrap="none" anchor="ctr"/>
            <a:lstStyle/>
            <a:p>
              <a:endParaRPr lang="zh-CN" altLang="en-US"/>
            </a:p>
          </p:txBody>
        </p:sp>
        <p:sp>
          <p:nvSpPr>
            <p:cNvPr id="60455" name="Line 1116"/>
            <p:cNvSpPr>
              <a:spLocks noChangeShapeType="1"/>
            </p:cNvSpPr>
            <p:nvPr/>
          </p:nvSpPr>
          <p:spPr bwMode="auto">
            <a:xfrm>
              <a:off x="3107" y="1220"/>
              <a:ext cx="1989" cy="259"/>
            </a:xfrm>
            <a:prstGeom prst="line">
              <a:avLst/>
            </a:prstGeom>
            <a:noFill/>
            <a:ln w="19050">
              <a:solidFill>
                <a:schemeClr val="tx1"/>
              </a:solidFill>
              <a:round/>
              <a:headEnd/>
              <a:tailEnd type="triangle" w="med" len="med"/>
            </a:ln>
          </p:spPr>
          <p:txBody>
            <a:bodyPr wrap="none" anchor="ctr"/>
            <a:lstStyle/>
            <a:p>
              <a:endParaRPr lang="zh-CN" altLang="en-US"/>
            </a:p>
          </p:txBody>
        </p:sp>
        <p:sp>
          <p:nvSpPr>
            <p:cNvPr id="60456" name="Line 1117"/>
            <p:cNvSpPr>
              <a:spLocks noChangeShapeType="1"/>
            </p:cNvSpPr>
            <p:nvPr/>
          </p:nvSpPr>
          <p:spPr bwMode="auto">
            <a:xfrm>
              <a:off x="3107" y="1220"/>
              <a:ext cx="1749" cy="486"/>
            </a:xfrm>
            <a:prstGeom prst="line">
              <a:avLst/>
            </a:prstGeom>
            <a:noFill/>
            <a:ln w="19050">
              <a:solidFill>
                <a:schemeClr val="tx1"/>
              </a:solidFill>
              <a:round/>
              <a:headEnd/>
              <a:tailEnd type="triangle" w="med" len="med"/>
            </a:ln>
          </p:spPr>
          <p:txBody>
            <a:bodyPr wrap="none" anchor="ctr"/>
            <a:lstStyle/>
            <a:p>
              <a:endParaRPr lang="zh-CN" altLang="en-US"/>
            </a:p>
          </p:txBody>
        </p:sp>
        <p:sp>
          <p:nvSpPr>
            <p:cNvPr id="60457" name="Line 1118"/>
            <p:cNvSpPr>
              <a:spLocks noChangeShapeType="1"/>
            </p:cNvSpPr>
            <p:nvPr/>
          </p:nvSpPr>
          <p:spPr bwMode="auto">
            <a:xfrm flipV="1">
              <a:off x="3107" y="799"/>
              <a:ext cx="1920" cy="421"/>
            </a:xfrm>
            <a:prstGeom prst="line">
              <a:avLst/>
            </a:prstGeom>
            <a:noFill/>
            <a:ln w="19050">
              <a:solidFill>
                <a:schemeClr val="tx1"/>
              </a:solidFill>
              <a:round/>
              <a:headEnd/>
              <a:tailEnd type="triangle" w="med" len="med"/>
            </a:ln>
          </p:spPr>
          <p:txBody>
            <a:bodyPr wrap="none" anchor="ctr"/>
            <a:lstStyle/>
            <a:p>
              <a:endParaRPr lang="zh-CN" altLang="en-US"/>
            </a:p>
          </p:txBody>
        </p:sp>
        <p:grpSp>
          <p:nvGrpSpPr>
            <p:cNvPr id="60458" name="Group 1119"/>
            <p:cNvGrpSpPr>
              <a:grpSpLocks/>
            </p:cNvGrpSpPr>
            <p:nvPr/>
          </p:nvGrpSpPr>
          <p:grpSpPr bwMode="auto">
            <a:xfrm>
              <a:off x="3964" y="961"/>
              <a:ext cx="240" cy="528"/>
              <a:chOff x="3004" y="1481"/>
              <a:chExt cx="336" cy="782"/>
            </a:xfrm>
          </p:grpSpPr>
          <p:sp>
            <p:nvSpPr>
              <p:cNvPr id="60480" name="AutoShape 1120"/>
              <p:cNvSpPr>
                <a:spLocks noChangeArrowheads="1"/>
              </p:cNvSpPr>
              <p:nvPr/>
            </p:nvSpPr>
            <p:spPr bwMode="auto">
              <a:xfrm rot="16200000" flipH="1">
                <a:off x="2794" y="1718"/>
                <a:ext cx="768" cy="308"/>
              </a:xfrm>
              <a:prstGeom prst="parallelogram">
                <a:avLst>
                  <a:gd name="adj" fmla="val 47457"/>
                </a:avLst>
              </a:prstGeom>
              <a:solidFill>
                <a:srgbClr val="FF9900"/>
              </a:solidFill>
              <a:ln w="9525">
                <a:noFill/>
                <a:miter lim="800000"/>
                <a:headEnd/>
                <a:tailEnd/>
              </a:ln>
            </p:spPr>
            <p:txBody>
              <a:bodyPr wrap="none" anchor="ctr"/>
              <a:lstStyle/>
              <a:p>
                <a:endParaRPr lang="zh-CN" altLang="en-US"/>
              </a:p>
            </p:txBody>
          </p:sp>
          <p:sp>
            <p:nvSpPr>
              <p:cNvPr id="60481" name="Freeform 1121"/>
              <p:cNvSpPr>
                <a:spLocks/>
              </p:cNvSpPr>
              <p:nvPr/>
            </p:nvSpPr>
            <p:spPr bwMode="auto">
              <a:xfrm>
                <a:off x="3024" y="1632"/>
                <a:ext cx="42" cy="617"/>
              </a:xfrm>
              <a:custGeom>
                <a:avLst/>
                <a:gdLst>
                  <a:gd name="T0" fmla="*/ 0 w 144"/>
                  <a:gd name="T1" fmla="*/ 0 h 1968"/>
                  <a:gd name="T2" fmla="*/ 0 w 144"/>
                  <a:gd name="T3" fmla="*/ 0 h 1968"/>
                  <a:gd name="T4" fmla="*/ 0 w 144"/>
                  <a:gd name="T5" fmla="*/ 0 h 1968"/>
                  <a:gd name="T6" fmla="*/ 0 60000 65536"/>
                  <a:gd name="T7" fmla="*/ 0 60000 65536"/>
                  <a:gd name="T8" fmla="*/ 0 60000 65536"/>
                  <a:gd name="T9" fmla="*/ 0 w 144"/>
                  <a:gd name="T10" fmla="*/ 0 h 1968"/>
                  <a:gd name="T11" fmla="*/ 144 w 144"/>
                  <a:gd name="T12" fmla="*/ 1968 h 1968"/>
                </a:gdLst>
                <a:ahLst/>
                <a:cxnLst>
                  <a:cxn ang="T6">
                    <a:pos x="T0" y="T1"/>
                  </a:cxn>
                  <a:cxn ang="T7">
                    <a:pos x="T2" y="T3"/>
                  </a:cxn>
                  <a:cxn ang="T8">
                    <a:pos x="T4" y="T5"/>
                  </a:cxn>
                </a:cxnLst>
                <a:rect l="T9" t="T10" r="T11" b="T12"/>
                <a:pathLst>
                  <a:path w="144" h="1968">
                    <a:moveTo>
                      <a:pt x="0" y="0"/>
                    </a:moveTo>
                    <a:cubicBezTo>
                      <a:pt x="72" y="364"/>
                      <a:pt x="144" y="728"/>
                      <a:pt x="144" y="1056"/>
                    </a:cubicBezTo>
                    <a:cubicBezTo>
                      <a:pt x="144" y="1384"/>
                      <a:pt x="72" y="1676"/>
                      <a:pt x="0" y="1968"/>
                    </a:cubicBezTo>
                  </a:path>
                </a:pathLst>
              </a:custGeom>
              <a:solidFill>
                <a:schemeClr val="bg2"/>
              </a:solidFill>
              <a:ln w="19050" cap="flat" cmpd="sng">
                <a:solidFill>
                  <a:schemeClr val="tx1"/>
                </a:solidFill>
                <a:prstDash val="solid"/>
                <a:round/>
                <a:headEnd type="none" w="med" len="med"/>
                <a:tailEnd type="none" w="med" len="med"/>
              </a:ln>
            </p:spPr>
            <p:txBody>
              <a:bodyPr wrap="none" anchor="ctr"/>
              <a:lstStyle/>
              <a:p>
                <a:endParaRPr lang="zh-CN" altLang="en-US"/>
              </a:p>
            </p:txBody>
          </p:sp>
          <p:sp>
            <p:nvSpPr>
              <p:cNvPr id="60482" name="Freeform 1122"/>
              <p:cNvSpPr>
                <a:spLocks/>
              </p:cNvSpPr>
              <p:nvPr/>
            </p:nvSpPr>
            <p:spPr bwMode="auto">
              <a:xfrm>
                <a:off x="3312" y="1536"/>
                <a:ext cx="28" cy="617"/>
              </a:xfrm>
              <a:custGeom>
                <a:avLst/>
                <a:gdLst>
                  <a:gd name="T0" fmla="*/ 0 w 96"/>
                  <a:gd name="T1" fmla="*/ 0 h 1968"/>
                  <a:gd name="T2" fmla="*/ 0 w 96"/>
                  <a:gd name="T3" fmla="*/ 0 h 1968"/>
                  <a:gd name="T4" fmla="*/ 0 w 96"/>
                  <a:gd name="T5" fmla="*/ 0 h 1968"/>
                  <a:gd name="T6" fmla="*/ 0 60000 65536"/>
                  <a:gd name="T7" fmla="*/ 0 60000 65536"/>
                  <a:gd name="T8" fmla="*/ 0 60000 65536"/>
                  <a:gd name="T9" fmla="*/ 0 w 96"/>
                  <a:gd name="T10" fmla="*/ 0 h 1968"/>
                  <a:gd name="T11" fmla="*/ 96 w 96"/>
                  <a:gd name="T12" fmla="*/ 1968 h 1968"/>
                </a:gdLst>
                <a:ahLst/>
                <a:cxnLst>
                  <a:cxn ang="T6">
                    <a:pos x="T0" y="T1"/>
                  </a:cxn>
                  <a:cxn ang="T7">
                    <a:pos x="T2" y="T3"/>
                  </a:cxn>
                  <a:cxn ang="T8">
                    <a:pos x="T4" y="T5"/>
                  </a:cxn>
                </a:cxnLst>
                <a:rect l="T9" t="T10" r="T11" b="T12"/>
                <a:pathLst>
                  <a:path w="96" h="1968">
                    <a:moveTo>
                      <a:pt x="0" y="0"/>
                    </a:moveTo>
                    <a:cubicBezTo>
                      <a:pt x="48" y="316"/>
                      <a:pt x="96" y="632"/>
                      <a:pt x="96" y="960"/>
                    </a:cubicBezTo>
                    <a:cubicBezTo>
                      <a:pt x="96" y="1288"/>
                      <a:pt x="48" y="1628"/>
                      <a:pt x="0" y="1968"/>
                    </a:cubicBezTo>
                  </a:path>
                </a:pathLst>
              </a:custGeom>
              <a:solidFill>
                <a:srgbClr val="FF9900"/>
              </a:solidFill>
              <a:ln w="19050" cap="flat" cmpd="sng">
                <a:solidFill>
                  <a:schemeClr val="tx1"/>
                </a:solidFill>
                <a:prstDash val="solid"/>
                <a:round/>
                <a:headEnd type="none" w="med" len="med"/>
                <a:tailEnd type="none" w="med" len="med"/>
              </a:ln>
            </p:spPr>
            <p:txBody>
              <a:bodyPr wrap="none" anchor="ctr"/>
              <a:lstStyle/>
              <a:p>
                <a:endParaRPr lang="zh-CN" altLang="en-US"/>
              </a:p>
            </p:txBody>
          </p:sp>
          <p:sp>
            <p:nvSpPr>
              <p:cNvPr id="60483" name="Freeform 1123"/>
              <p:cNvSpPr>
                <a:spLocks/>
              </p:cNvSpPr>
              <p:nvPr/>
            </p:nvSpPr>
            <p:spPr bwMode="auto">
              <a:xfrm>
                <a:off x="3004" y="1481"/>
                <a:ext cx="308" cy="151"/>
              </a:xfrm>
              <a:custGeom>
                <a:avLst/>
                <a:gdLst>
                  <a:gd name="T0" fmla="*/ 0 w 1056"/>
                  <a:gd name="T1" fmla="*/ 0 h 480"/>
                  <a:gd name="T2" fmla="*/ 0 w 1056"/>
                  <a:gd name="T3" fmla="*/ 0 h 480"/>
                  <a:gd name="T4" fmla="*/ 0 w 1056"/>
                  <a:gd name="T5" fmla="*/ 0 h 480"/>
                  <a:gd name="T6" fmla="*/ 0 w 1056"/>
                  <a:gd name="T7" fmla="*/ 0 h 480"/>
                  <a:gd name="T8" fmla="*/ 0 60000 65536"/>
                  <a:gd name="T9" fmla="*/ 0 60000 65536"/>
                  <a:gd name="T10" fmla="*/ 0 60000 65536"/>
                  <a:gd name="T11" fmla="*/ 0 60000 65536"/>
                  <a:gd name="T12" fmla="*/ 0 w 1056"/>
                  <a:gd name="T13" fmla="*/ 0 h 480"/>
                  <a:gd name="T14" fmla="*/ 1056 w 1056"/>
                  <a:gd name="T15" fmla="*/ 480 h 480"/>
                </a:gdLst>
                <a:ahLst/>
                <a:cxnLst>
                  <a:cxn ang="T8">
                    <a:pos x="T0" y="T1"/>
                  </a:cxn>
                  <a:cxn ang="T9">
                    <a:pos x="T2" y="T3"/>
                  </a:cxn>
                  <a:cxn ang="T10">
                    <a:pos x="T4" y="T5"/>
                  </a:cxn>
                  <a:cxn ang="T11">
                    <a:pos x="T6" y="T7"/>
                  </a:cxn>
                </a:cxnLst>
                <a:rect l="T12" t="T13" r="T14" b="T15"/>
                <a:pathLst>
                  <a:path w="1056" h="480">
                    <a:moveTo>
                      <a:pt x="0" y="480"/>
                    </a:moveTo>
                    <a:cubicBezTo>
                      <a:pt x="172" y="452"/>
                      <a:pt x="344" y="424"/>
                      <a:pt x="480" y="384"/>
                    </a:cubicBezTo>
                    <a:cubicBezTo>
                      <a:pt x="616" y="344"/>
                      <a:pt x="720" y="304"/>
                      <a:pt x="816" y="240"/>
                    </a:cubicBezTo>
                    <a:cubicBezTo>
                      <a:pt x="912" y="176"/>
                      <a:pt x="984" y="88"/>
                      <a:pt x="1056" y="0"/>
                    </a:cubicBezTo>
                  </a:path>
                </a:pathLst>
              </a:custGeom>
              <a:solidFill>
                <a:schemeClr val="bg2"/>
              </a:solidFill>
              <a:ln w="19050" cap="flat" cmpd="sng">
                <a:solidFill>
                  <a:schemeClr val="tx1"/>
                </a:solidFill>
                <a:prstDash val="solid"/>
                <a:round/>
                <a:headEnd type="none" w="med" len="med"/>
                <a:tailEnd type="none" w="med" len="med"/>
              </a:ln>
            </p:spPr>
            <p:txBody>
              <a:bodyPr wrap="none" anchor="ctr"/>
              <a:lstStyle/>
              <a:p>
                <a:endParaRPr lang="zh-CN" altLang="en-US"/>
              </a:p>
            </p:txBody>
          </p:sp>
          <p:sp>
            <p:nvSpPr>
              <p:cNvPr id="60484" name="Freeform 1124"/>
              <p:cNvSpPr>
                <a:spLocks/>
              </p:cNvSpPr>
              <p:nvPr/>
            </p:nvSpPr>
            <p:spPr bwMode="auto">
              <a:xfrm>
                <a:off x="3024" y="2112"/>
                <a:ext cx="308" cy="151"/>
              </a:xfrm>
              <a:custGeom>
                <a:avLst/>
                <a:gdLst>
                  <a:gd name="T0" fmla="*/ 0 w 1056"/>
                  <a:gd name="T1" fmla="*/ 0 h 480"/>
                  <a:gd name="T2" fmla="*/ 0 w 1056"/>
                  <a:gd name="T3" fmla="*/ 0 h 480"/>
                  <a:gd name="T4" fmla="*/ 0 w 1056"/>
                  <a:gd name="T5" fmla="*/ 0 h 480"/>
                  <a:gd name="T6" fmla="*/ 0 60000 65536"/>
                  <a:gd name="T7" fmla="*/ 0 60000 65536"/>
                  <a:gd name="T8" fmla="*/ 0 60000 65536"/>
                  <a:gd name="T9" fmla="*/ 0 w 1056"/>
                  <a:gd name="T10" fmla="*/ 0 h 480"/>
                  <a:gd name="T11" fmla="*/ 1056 w 1056"/>
                  <a:gd name="T12" fmla="*/ 480 h 480"/>
                </a:gdLst>
                <a:ahLst/>
                <a:cxnLst>
                  <a:cxn ang="T6">
                    <a:pos x="T0" y="T1"/>
                  </a:cxn>
                  <a:cxn ang="T7">
                    <a:pos x="T2" y="T3"/>
                  </a:cxn>
                  <a:cxn ang="T8">
                    <a:pos x="T4" y="T5"/>
                  </a:cxn>
                </a:cxnLst>
                <a:rect l="T9" t="T10" r="T11" b="T12"/>
                <a:pathLst>
                  <a:path w="1056" h="480">
                    <a:moveTo>
                      <a:pt x="0" y="480"/>
                    </a:moveTo>
                    <a:cubicBezTo>
                      <a:pt x="248" y="400"/>
                      <a:pt x="496" y="320"/>
                      <a:pt x="672" y="240"/>
                    </a:cubicBezTo>
                    <a:cubicBezTo>
                      <a:pt x="848" y="160"/>
                      <a:pt x="952" y="80"/>
                      <a:pt x="1056" y="0"/>
                    </a:cubicBezTo>
                  </a:path>
                </a:pathLst>
              </a:custGeom>
              <a:solidFill>
                <a:srgbClr val="FF9900"/>
              </a:solidFill>
              <a:ln w="19050" cap="flat" cmpd="sng">
                <a:solidFill>
                  <a:schemeClr val="tx1"/>
                </a:solidFill>
                <a:prstDash val="solid"/>
                <a:round/>
                <a:headEnd type="none" w="med" len="med"/>
                <a:tailEnd type="none" w="med" len="med"/>
              </a:ln>
            </p:spPr>
            <p:txBody>
              <a:bodyPr wrap="none" anchor="ctr"/>
              <a:lstStyle/>
              <a:p>
                <a:endParaRPr lang="zh-CN" altLang="en-US"/>
              </a:p>
            </p:txBody>
          </p:sp>
          <p:sp>
            <p:nvSpPr>
              <p:cNvPr id="60485" name="Line 1125"/>
              <p:cNvSpPr>
                <a:spLocks noChangeShapeType="1"/>
              </p:cNvSpPr>
              <p:nvPr/>
            </p:nvSpPr>
            <p:spPr bwMode="auto">
              <a:xfrm flipH="1">
                <a:off x="3046" y="2135"/>
                <a:ext cx="266" cy="121"/>
              </a:xfrm>
              <a:prstGeom prst="line">
                <a:avLst/>
              </a:prstGeom>
              <a:noFill/>
              <a:ln w="57150">
                <a:solidFill>
                  <a:schemeClr val="bg2"/>
                </a:solidFill>
                <a:round/>
                <a:headEnd/>
                <a:tailEnd/>
              </a:ln>
            </p:spPr>
            <p:txBody>
              <a:bodyPr wrap="none" anchor="ctr"/>
              <a:lstStyle/>
              <a:p>
                <a:endParaRPr lang="zh-CN" altLang="en-US"/>
              </a:p>
            </p:txBody>
          </p:sp>
        </p:grpSp>
        <p:sp>
          <p:nvSpPr>
            <p:cNvPr id="60459" name="Line 1126"/>
            <p:cNvSpPr>
              <a:spLocks noChangeShapeType="1"/>
            </p:cNvSpPr>
            <p:nvPr/>
          </p:nvSpPr>
          <p:spPr bwMode="auto">
            <a:xfrm flipV="1">
              <a:off x="3107" y="896"/>
              <a:ext cx="1989" cy="324"/>
            </a:xfrm>
            <a:prstGeom prst="line">
              <a:avLst/>
            </a:prstGeom>
            <a:noFill/>
            <a:ln w="19050">
              <a:solidFill>
                <a:schemeClr val="tx1"/>
              </a:solidFill>
              <a:round/>
              <a:headEnd/>
              <a:tailEnd type="triangle" w="med" len="med"/>
            </a:ln>
          </p:spPr>
          <p:txBody>
            <a:bodyPr wrap="none" anchor="ctr"/>
            <a:lstStyle/>
            <a:p>
              <a:endParaRPr lang="zh-CN" altLang="en-US"/>
            </a:p>
          </p:txBody>
        </p:sp>
        <p:sp>
          <p:nvSpPr>
            <p:cNvPr id="60460" name="Line 1127"/>
            <p:cNvSpPr>
              <a:spLocks noChangeShapeType="1"/>
            </p:cNvSpPr>
            <p:nvPr/>
          </p:nvSpPr>
          <p:spPr bwMode="auto">
            <a:xfrm>
              <a:off x="4204" y="1188"/>
              <a:ext cx="412" cy="0"/>
            </a:xfrm>
            <a:prstGeom prst="line">
              <a:avLst/>
            </a:prstGeom>
            <a:noFill/>
            <a:ln w="19050">
              <a:solidFill>
                <a:schemeClr val="tx1"/>
              </a:solidFill>
              <a:round/>
              <a:headEnd/>
              <a:tailEnd/>
            </a:ln>
          </p:spPr>
          <p:txBody>
            <a:bodyPr wrap="none" anchor="ctr"/>
            <a:lstStyle/>
            <a:p>
              <a:endParaRPr lang="zh-CN" altLang="en-US"/>
            </a:p>
          </p:txBody>
        </p:sp>
        <p:sp>
          <p:nvSpPr>
            <p:cNvPr id="60461" name="Line 1128"/>
            <p:cNvSpPr>
              <a:spLocks noChangeShapeType="1"/>
            </p:cNvSpPr>
            <p:nvPr/>
          </p:nvSpPr>
          <p:spPr bwMode="auto">
            <a:xfrm>
              <a:off x="4753" y="1188"/>
              <a:ext cx="343" cy="0"/>
            </a:xfrm>
            <a:prstGeom prst="line">
              <a:avLst/>
            </a:prstGeom>
            <a:noFill/>
            <a:ln w="19050">
              <a:solidFill>
                <a:srgbClr val="FFFF00"/>
              </a:solidFill>
              <a:round/>
              <a:headEnd/>
              <a:tailEnd/>
            </a:ln>
          </p:spPr>
          <p:txBody>
            <a:bodyPr wrap="none" anchor="ctr"/>
            <a:lstStyle/>
            <a:p>
              <a:endParaRPr lang="zh-CN" altLang="en-US"/>
            </a:p>
          </p:txBody>
        </p:sp>
        <p:sp>
          <p:nvSpPr>
            <p:cNvPr id="60462" name="Line 1129"/>
            <p:cNvSpPr>
              <a:spLocks noChangeShapeType="1"/>
            </p:cNvSpPr>
            <p:nvPr/>
          </p:nvSpPr>
          <p:spPr bwMode="auto">
            <a:xfrm>
              <a:off x="4753" y="1188"/>
              <a:ext cx="411" cy="0"/>
            </a:xfrm>
            <a:prstGeom prst="line">
              <a:avLst/>
            </a:prstGeom>
            <a:noFill/>
            <a:ln w="19050">
              <a:solidFill>
                <a:schemeClr val="tx1"/>
              </a:solidFill>
              <a:round/>
              <a:headEnd/>
              <a:tailEnd type="triangle" w="med" len="med"/>
            </a:ln>
          </p:spPr>
          <p:txBody>
            <a:bodyPr wrap="none" anchor="ctr"/>
            <a:lstStyle/>
            <a:p>
              <a:endParaRPr lang="zh-CN" altLang="en-US"/>
            </a:p>
          </p:txBody>
        </p:sp>
        <p:sp>
          <p:nvSpPr>
            <p:cNvPr id="60463" name="Line 1130"/>
            <p:cNvSpPr>
              <a:spLocks noChangeShapeType="1"/>
            </p:cNvSpPr>
            <p:nvPr/>
          </p:nvSpPr>
          <p:spPr bwMode="auto">
            <a:xfrm>
              <a:off x="3141" y="1220"/>
              <a:ext cx="480" cy="0"/>
            </a:xfrm>
            <a:prstGeom prst="line">
              <a:avLst/>
            </a:prstGeom>
            <a:noFill/>
            <a:ln w="19050">
              <a:solidFill>
                <a:schemeClr val="tx1"/>
              </a:solidFill>
              <a:round/>
              <a:headEnd/>
              <a:tailEnd/>
            </a:ln>
          </p:spPr>
          <p:txBody>
            <a:bodyPr wrap="none" anchor="ctr"/>
            <a:lstStyle/>
            <a:p>
              <a:endParaRPr lang="zh-CN" altLang="en-US"/>
            </a:p>
          </p:txBody>
        </p:sp>
        <p:sp>
          <p:nvSpPr>
            <p:cNvPr id="60464" name="Text Box 1131"/>
            <p:cNvSpPr txBox="1">
              <a:spLocks noChangeArrowheads="1"/>
            </p:cNvSpPr>
            <p:nvPr/>
          </p:nvSpPr>
          <p:spPr bwMode="auto">
            <a:xfrm>
              <a:off x="4844" y="876"/>
              <a:ext cx="566" cy="271"/>
            </a:xfrm>
            <a:prstGeom prst="rect">
              <a:avLst/>
            </a:prstGeom>
            <a:noFill/>
            <a:ln w="9525">
              <a:noFill/>
              <a:miter lim="800000"/>
              <a:headEnd/>
              <a:tailEnd/>
            </a:ln>
          </p:spPr>
          <p:txBody>
            <a:bodyPr anchor="ctr">
              <a:spAutoFit/>
            </a:bodyPr>
            <a:lstStyle/>
            <a:p>
              <a:pPr algn="ctr" eaLnBrk="0" hangingPunct="0"/>
              <a:r>
                <a:rPr lang="zh-CN" altLang="en-US" sz="1500" b="1">
                  <a:solidFill>
                    <a:srgbClr val="0000FF"/>
                  </a:solidFill>
                  <a:latin typeface="Bookman Old Style" pitchFamily="18" charset="0"/>
                  <a:ea typeface="华文中宋"/>
                  <a:cs typeface="华文中宋"/>
                </a:rPr>
                <a:t>波线</a:t>
              </a:r>
            </a:p>
          </p:txBody>
        </p:sp>
        <p:grpSp>
          <p:nvGrpSpPr>
            <p:cNvPr id="60465" name="Group 1132"/>
            <p:cNvGrpSpPr>
              <a:grpSpLocks/>
            </p:cNvGrpSpPr>
            <p:nvPr/>
          </p:nvGrpSpPr>
          <p:grpSpPr bwMode="auto">
            <a:xfrm>
              <a:off x="3553" y="1091"/>
              <a:ext cx="171" cy="259"/>
              <a:chOff x="480" y="3696"/>
              <a:chExt cx="240" cy="384"/>
            </a:xfrm>
          </p:grpSpPr>
          <p:sp>
            <p:nvSpPr>
              <p:cNvPr id="60474" name="AutoShape 1133"/>
              <p:cNvSpPr>
                <a:spLocks noChangeArrowheads="1"/>
              </p:cNvSpPr>
              <p:nvPr/>
            </p:nvSpPr>
            <p:spPr bwMode="auto">
              <a:xfrm rot="16200000" flipH="1">
                <a:off x="398" y="3778"/>
                <a:ext cx="384" cy="220"/>
              </a:xfrm>
              <a:prstGeom prst="parallelogram">
                <a:avLst>
                  <a:gd name="adj" fmla="val 33220"/>
                </a:avLst>
              </a:prstGeom>
              <a:solidFill>
                <a:srgbClr val="FF9900"/>
              </a:solidFill>
              <a:ln w="9525">
                <a:noFill/>
                <a:miter lim="800000"/>
                <a:headEnd/>
                <a:tailEnd/>
              </a:ln>
            </p:spPr>
            <p:txBody>
              <a:bodyPr wrap="none" anchor="ctr"/>
              <a:lstStyle/>
              <a:p>
                <a:endParaRPr lang="zh-CN" altLang="en-US"/>
              </a:p>
            </p:txBody>
          </p:sp>
          <p:sp>
            <p:nvSpPr>
              <p:cNvPr id="60475" name="Freeform 1134"/>
              <p:cNvSpPr>
                <a:spLocks/>
              </p:cNvSpPr>
              <p:nvPr/>
            </p:nvSpPr>
            <p:spPr bwMode="auto">
              <a:xfrm>
                <a:off x="480" y="3771"/>
                <a:ext cx="30" cy="309"/>
              </a:xfrm>
              <a:custGeom>
                <a:avLst/>
                <a:gdLst>
                  <a:gd name="T0" fmla="*/ 0 w 144"/>
                  <a:gd name="T1" fmla="*/ 0 h 1968"/>
                  <a:gd name="T2" fmla="*/ 0 w 144"/>
                  <a:gd name="T3" fmla="*/ 0 h 1968"/>
                  <a:gd name="T4" fmla="*/ 0 w 144"/>
                  <a:gd name="T5" fmla="*/ 0 h 1968"/>
                  <a:gd name="T6" fmla="*/ 0 60000 65536"/>
                  <a:gd name="T7" fmla="*/ 0 60000 65536"/>
                  <a:gd name="T8" fmla="*/ 0 60000 65536"/>
                  <a:gd name="T9" fmla="*/ 0 w 144"/>
                  <a:gd name="T10" fmla="*/ 0 h 1968"/>
                  <a:gd name="T11" fmla="*/ 144 w 144"/>
                  <a:gd name="T12" fmla="*/ 1968 h 1968"/>
                </a:gdLst>
                <a:ahLst/>
                <a:cxnLst>
                  <a:cxn ang="T6">
                    <a:pos x="T0" y="T1"/>
                  </a:cxn>
                  <a:cxn ang="T7">
                    <a:pos x="T2" y="T3"/>
                  </a:cxn>
                  <a:cxn ang="T8">
                    <a:pos x="T4" y="T5"/>
                  </a:cxn>
                </a:cxnLst>
                <a:rect l="T9" t="T10" r="T11" b="T12"/>
                <a:pathLst>
                  <a:path w="144" h="1968">
                    <a:moveTo>
                      <a:pt x="0" y="0"/>
                    </a:moveTo>
                    <a:cubicBezTo>
                      <a:pt x="72" y="364"/>
                      <a:pt x="144" y="728"/>
                      <a:pt x="144" y="1056"/>
                    </a:cubicBezTo>
                    <a:cubicBezTo>
                      <a:pt x="144" y="1384"/>
                      <a:pt x="72" y="1676"/>
                      <a:pt x="0" y="1968"/>
                    </a:cubicBezTo>
                  </a:path>
                </a:pathLst>
              </a:custGeom>
              <a:solidFill>
                <a:schemeClr val="bg2"/>
              </a:solidFill>
              <a:ln w="19050" cap="flat" cmpd="sng">
                <a:solidFill>
                  <a:schemeClr val="tx1"/>
                </a:solidFill>
                <a:prstDash val="solid"/>
                <a:round/>
                <a:headEnd type="none" w="med" len="med"/>
                <a:tailEnd type="none" w="med" len="med"/>
              </a:ln>
            </p:spPr>
            <p:txBody>
              <a:bodyPr wrap="none" anchor="ctr"/>
              <a:lstStyle/>
              <a:p>
                <a:endParaRPr lang="zh-CN" altLang="en-US"/>
              </a:p>
            </p:txBody>
          </p:sp>
          <p:sp>
            <p:nvSpPr>
              <p:cNvPr id="60476" name="Freeform 1135"/>
              <p:cNvSpPr>
                <a:spLocks/>
              </p:cNvSpPr>
              <p:nvPr/>
            </p:nvSpPr>
            <p:spPr bwMode="auto">
              <a:xfrm>
                <a:off x="700" y="3696"/>
                <a:ext cx="20" cy="309"/>
              </a:xfrm>
              <a:custGeom>
                <a:avLst/>
                <a:gdLst>
                  <a:gd name="T0" fmla="*/ 0 w 96"/>
                  <a:gd name="T1" fmla="*/ 0 h 1968"/>
                  <a:gd name="T2" fmla="*/ 0 w 96"/>
                  <a:gd name="T3" fmla="*/ 0 h 1968"/>
                  <a:gd name="T4" fmla="*/ 0 w 96"/>
                  <a:gd name="T5" fmla="*/ 0 h 1968"/>
                  <a:gd name="T6" fmla="*/ 0 60000 65536"/>
                  <a:gd name="T7" fmla="*/ 0 60000 65536"/>
                  <a:gd name="T8" fmla="*/ 0 60000 65536"/>
                  <a:gd name="T9" fmla="*/ 0 w 96"/>
                  <a:gd name="T10" fmla="*/ 0 h 1968"/>
                  <a:gd name="T11" fmla="*/ 96 w 96"/>
                  <a:gd name="T12" fmla="*/ 1968 h 1968"/>
                </a:gdLst>
                <a:ahLst/>
                <a:cxnLst>
                  <a:cxn ang="T6">
                    <a:pos x="T0" y="T1"/>
                  </a:cxn>
                  <a:cxn ang="T7">
                    <a:pos x="T2" y="T3"/>
                  </a:cxn>
                  <a:cxn ang="T8">
                    <a:pos x="T4" y="T5"/>
                  </a:cxn>
                </a:cxnLst>
                <a:rect l="T9" t="T10" r="T11" b="T12"/>
                <a:pathLst>
                  <a:path w="96" h="1968">
                    <a:moveTo>
                      <a:pt x="0" y="0"/>
                    </a:moveTo>
                    <a:cubicBezTo>
                      <a:pt x="48" y="316"/>
                      <a:pt x="96" y="632"/>
                      <a:pt x="96" y="960"/>
                    </a:cubicBezTo>
                    <a:cubicBezTo>
                      <a:pt x="96" y="1288"/>
                      <a:pt x="48" y="1628"/>
                      <a:pt x="0" y="1968"/>
                    </a:cubicBezTo>
                  </a:path>
                </a:pathLst>
              </a:custGeom>
              <a:solidFill>
                <a:srgbClr val="FF9900"/>
              </a:solidFill>
              <a:ln w="19050" cap="flat" cmpd="sng">
                <a:solidFill>
                  <a:schemeClr val="tx1"/>
                </a:solidFill>
                <a:prstDash val="solid"/>
                <a:round/>
                <a:headEnd type="none" w="med" len="med"/>
                <a:tailEnd type="none" w="med" len="med"/>
              </a:ln>
            </p:spPr>
            <p:txBody>
              <a:bodyPr wrap="none" anchor="ctr"/>
              <a:lstStyle/>
              <a:p>
                <a:endParaRPr lang="zh-CN" altLang="en-US"/>
              </a:p>
            </p:txBody>
          </p:sp>
          <p:sp>
            <p:nvSpPr>
              <p:cNvPr id="60477" name="Freeform 1136"/>
              <p:cNvSpPr>
                <a:spLocks/>
              </p:cNvSpPr>
              <p:nvPr/>
            </p:nvSpPr>
            <p:spPr bwMode="auto">
              <a:xfrm>
                <a:off x="480" y="3696"/>
                <a:ext cx="220" cy="75"/>
              </a:xfrm>
              <a:custGeom>
                <a:avLst/>
                <a:gdLst>
                  <a:gd name="T0" fmla="*/ 0 w 1056"/>
                  <a:gd name="T1" fmla="*/ 0 h 480"/>
                  <a:gd name="T2" fmla="*/ 0 w 1056"/>
                  <a:gd name="T3" fmla="*/ 0 h 480"/>
                  <a:gd name="T4" fmla="*/ 0 w 1056"/>
                  <a:gd name="T5" fmla="*/ 0 h 480"/>
                  <a:gd name="T6" fmla="*/ 0 w 1056"/>
                  <a:gd name="T7" fmla="*/ 0 h 480"/>
                  <a:gd name="T8" fmla="*/ 0 60000 65536"/>
                  <a:gd name="T9" fmla="*/ 0 60000 65536"/>
                  <a:gd name="T10" fmla="*/ 0 60000 65536"/>
                  <a:gd name="T11" fmla="*/ 0 60000 65536"/>
                  <a:gd name="T12" fmla="*/ 0 w 1056"/>
                  <a:gd name="T13" fmla="*/ 0 h 480"/>
                  <a:gd name="T14" fmla="*/ 1056 w 1056"/>
                  <a:gd name="T15" fmla="*/ 480 h 480"/>
                </a:gdLst>
                <a:ahLst/>
                <a:cxnLst>
                  <a:cxn ang="T8">
                    <a:pos x="T0" y="T1"/>
                  </a:cxn>
                  <a:cxn ang="T9">
                    <a:pos x="T2" y="T3"/>
                  </a:cxn>
                  <a:cxn ang="T10">
                    <a:pos x="T4" y="T5"/>
                  </a:cxn>
                  <a:cxn ang="T11">
                    <a:pos x="T6" y="T7"/>
                  </a:cxn>
                </a:cxnLst>
                <a:rect l="T12" t="T13" r="T14" b="T15"/>
                <a:pathLst>
                  <a:path w="1056" h="480">
                    <a:moveTo>
                      <a:pt x="0" y="480"/>
                    </a:moveTo>
                    <a:cubicBezTo>
                      <a:pt x="172" y="452"/>
                      <a:pt x="344" y="424"/>
                      <a:pt x="480" y="384"/>
                    </a:cubicBezTo>
                    <a:cubicBezTo>
                      <a:pt x="616" y="344"/>
                      <a:pt x="720" y="304"/>
                      <a:pt x="816" y="240"/>
                    </a:cubicBezTo>
                    <a:cubicBezTo>
                      <a:pt x="912" y="176"/>
                      <a:pt x="984" y="88"/>
                      <a:pt x="1056" y="0"/>
                    </a:cubicBezTo>
                  </a:path>
                </a:pathLst>
              </a:custGeom>
              <a:solidFill>
                <a:srgbClr val="33CCCC"/>
              </a:solidFill>
              <a:ln w="19050" cap="flat" cmpd="sng">
                <a:solidFill>
                  <a:schemeClr val="tx1"/>
                </a:solidFill>
                <a:prstDash val="solid"/>
                <a:round/>
                <a:headEnd type="none" w="med" len="med"/>
                <a:tailEnd type="none" w="med" len="med"/>
              </a:ln>
            </p:spPr>
            <p:txBody>
              <a:bodyPr wrap="none" anchor="ctr"/>
              <a:lstStyle/>
              <a:p>
                <a:endParaRPr lang="zh-CN" altLang="en-US"/>
              </a:p>
            </p:txBody>
          </p:sp>
          <p:sp>
            <p:nvSpPr>
              <p:cNvPr id="60478" name="Freeform 1137"/>
              <p:cNvSpPr>
                <a:spLocks/>
              </p:cNvSpPr>
              <p:nvPr/>
            </p:nvSpPr>
            <p:spPr bwMode="auto">
              <a:xfrm>
                <a:off x="480" y="4005"/>
                <a:ext cx="220" cy="75"/>
              </a:xfrm>
              <a:custGeom>
                <a:avLst/>
                <a:gdLst>
                  <a:gd name="T0" fmla="*/ 0 w 1056"/>
                  <a:gd name="T1" fmla="*/ 0 h 480"/>
                  <a:gd name="T2" fmla="*/ 0 w 1056"/>
                  <a:gd name="T3" fmla="*/ 0 h 480"/>
                  <a:gd name="T4" fmla="*/ 0 w 1056"/>
                  <a:gd name="T5" fmla="*/ 0 h 480"/>
                  <a:gd name="T6" fmla="*/ 0 60000 65536"/>
                  <a:gd name="T7" fmla="*/ 0 60000 65536"/>
                  <a:gd name="T8" fmla="*/ 0 60000 65536"/>
                  <a:gd name="T9" fmla="*/ 0 w 1056"/>
                  <a:gd name="T10" fmla="*/ 0 h 480"/>
                  <a:gd name="T11" fmla="*/ 1056 w 1056"/>
                  <a:gd name="T12" fmla="*/ 480 h 480"/>
                </a:gdLst>
                <a:ahLst/>
                <a:cxnLst>
                  <a:cxn ang="T6">
                    <a:pos x="T0" y="T1"/>
                  </a:cxn>
                  <a:cxn ang="T7">
                    <a:pos x="T2" y="T3"/>
                  </a:cxn>
                  <a:cxn ang="T8">
                    <a:pos x="T4" y="T5"/>
                  </a:cxn>
                </a:cxnLst>
                <a:rect l="T9" t="T10" r="T11" b="T12"/>
                <a:pathLst>
                  <a:path w="1056" h="480">
                    <a:moveTo>
                      <a:pt x="0" y="480"/>
                    </a:moveTo>
                    <a:cubicBezTo>
                      <a:pt x="248" y="400"/>
                      <a:pt x="496" y="320"/>
                      <a:pt x="672" y="240"/>
                    </a:cubicBezTo>
                    <a:cubicBezTo>
                      <a:pt x="848" y="160"/>
                      <a:pt x="952" y="80"/>
                      <a:pt x="1056" y="0"/>
                    </a:cubicBezTo>
                  </a:path>
                </a:pathLst>
              </a:custGeom>
              <a:solidFill>
                <a:srgbClr val="FF9900"/>
              </a:solidFill>
              <a:ln w="19050" cap="flat" cmpd="sng">
                <a:solidFill>
                  <a:schemeClr val="tx1"/>
                </a:solidFill>
                <a:prstDash val="solid"/>
                <a:round/>
                <a:headEnd type="none" w="med" len="med"/>
                <a:tailEnd type="none" w="med" len="med"/>
              </a:ln>
            </p:spPr>
            <p:txBody>
              <a:bodyPr wrap="none" anchor="ctr"/>
              <a:lstStyle/>
              <a:p>
                <a:endParaRPr lang="zh-CN" altLang="en-US"/>
              </a:p>
            </p:txBody>
          </p:sp>
          <p:sp>
            <p:nvSpPr>
              <p:cNvPr id="60479" name="Line 1138"/>
              <p:cNvSpPr>
                <a:spLocks noChangeShapeType="1"/>
              </p:cNvSpPr>
              <p:nvPr/>
            </p:nvSpPr>
            <p:spPr bwMode="auto">
              <a:xfrm flipH="1">
                <a:off x="490" y="3704"/>
                <a:ext cx="190" cy="60"/>
              </a:xfrm>
              <a:prstGeom prst="line">
                <a:avLst/>
              </a:prstGeom>
              <a:noFill/>
              <a:ln w="57150">
                <a:solidFill>
                  <a:schemeClr val="bg2"/>
                </a:solidFill>
                <a:round/>
                <a:headEnd/>
                <a:tailEnd/>
              </a:ln>
            </p:spPr>
            <p:txBody>
              <a:bodyPr wrap="none" anchor="ctr"/>
              <a:lstStyle/>
              <a:p>
                <a:endParaRPr lang="zh-CN" altLang="en-US"/>
              </a:p>
            </p:txBody>
          </p:sp>
        </p:grpSp>
        <p:grpSp>
          <p:nvGrpSpPr>
            <p:cNvPr id="60466" name="Group 1139"/>
            <p:cNvGrpSpPr>
              <a:grpSpLocks/>
            </p:cNvGrpSpPr>
            <p:nvPr/>
          </p:nvGrpSpPr>
          <p:grpSpPr bwMode="auto">
            <a:xfrm>
              <a:off x="4410" y="799"/>
              <a:ext cx="343" cy="810"/>
              <a:chOff x="4848" y="912"/>
              <a:chExt cx="480" cy="1200"/>
            </a:xfrm>
          </p:grpSpPr>
          <p:sp>
            <p:nvSpPr>
              <p:cNvPr id="60468" name="AutoShape 1140"/>
              <p:cNvSpPr>
                <a:spLocks noChangeArrowheads="1"/>
              </p:cNvSpPr>
              <p:nvPr/>
            </p:nvSpPr>
            <p:spPr bwMode="auto">
              <a:xfrm rot="16200000" flipH="1">
                <a:off x="4468" y="1292"/>
                <a:ext cx="1200" cy="440"/>
              </a:xfrm>
              <a:prstGeom prst="parallelogram">
                <a:avLst>
                  <a:gd name="adj" fmla="val 51907"/>
                </a:avLst>
              </a:prstGeom>
              <a:solidFill>
                <a:srgbClr val="FF9900"/>
              </a:solidFill>
              <a:ln w="9525">
                <a:noFill/>
                <a:miter lim="800000"/>
                <a:headEnd/>
                <a:tailEnd/>
              </a:ln>
            </p:spPr>
            <p:txBody>
              <a:bodyPr wrap="none" anchor="ctr"/>
              <a:lstStyle/>
              <a:p>
                <a:endParaRPr lang="zh-CN" altLang="en-US"/>
              </a:p>
            </p:txBody>
          </p:sp>
          <p:sp>
            <p:nvSpPr>
              <p:cNvPr id="60469" name="Freeform 1141"/>
              <p:cNvSpPr>
                <a:spLocks/>
              </p:cNvSpPr>
              <p:nvPr/>
            </p:nvSpPr>
            <p:spPr bwMode="auto">
              <a:xfrm>
                <a:off x="4848" y="1147"/>
                <a:ext cx="60" cy="965"/>
              </a:xfrm>
              <a:custGeom>
                <a:avLst/>
                <a:gdLst>
                  <a:gd name="T0" fmla="*/ 0 w 144"/>
                  <a:gd name="T1" fmla="*/ 0 h 1968"/>
                  <a:gd name="T2" fmla="*/ 0 w 144"/>
                  <a:gd name="T3" fmla="*/ 0 h 1968"/>
                  <a:gd name="T4" fmla="*/ 0 w 144"/>
                  <a:gd name="T5" fmla="*/ 0 h 1968"/>
                  <a:gd name="T6" fmla="*/ 0 60000 65536"/>
                  <a:gd name="T7" fmla="*/ 0 60000 65536"/>
                  <a:gd name="T8" fmla="*/ 0 60000 65536"/>
                  <a:gd name="T9" fmla="*/ 0 w 144"/>
                  <a:gd name="T10" fmla="*/ 0 h 1968"/>
                  <a:gd name="T11" fmla="*/ 144 w 144"/>
                  <a:gd name="T12" fmla="*/ 1968 h 1968"/>
                </a:gdLst>
                <a:ahLst/>
                <a:cxnLst>
                  <a:cxn ang="T6">
                    <a:pos x="T0" y="T1"/>
                  </a:cxn>
                  <a:cxn ang="T7">
                    <a:pos x="T2" y="T3"/>
                  </a:cxn>
                  <a:cxn ang="T8">
                    <a:pos x="T4" y="T5"/>
                  </a:cxn>
                </a:cxnLst>
                <a:rect l="T9" t="T10" r="T11" b="T12"/>
                <a:pathLst>
                  <a:path w="144" h="1968">
                    <a:moveTo>
                      <a:pt x="0" y="0"/>
                    </a:moveTo>
                    <a:cubicBezTo>
                      <a:pt x="72" y="364"/>
                      <a:pt x="144" y="728"/>
                      <a:pt x="144" y="1056"/>
                    </a:cubicBezTo>
                    <a:cubicBezTo>
                      <a:pt x="144" y="1384"/>
                      <a:pt x="72" y="1676"/>
                      <a:pt x="0" y="1968"/>
                    </a:cubicBezTo>
                  </a:path>
                </a:pathLst>
              </a:custGeom>
              <a:solidFill>
                <a:schemeClr val="bg2"/>
              </a:solidFill>
              <a:ln w="19050" cap="flat" cmpd="sng">
                <a:solidFill>
                  <a:schemeClr val="tx1"/>
                </a:solidFill>
                <a:prstDash val="solid"/>
                <a:round/>
                <a:headEnd type="none" w="med" len="med"/>
                <a:tailEnd type="none" w="med" len="med"/>
              </a:ln>
            </p:spPr>
            <p:txBody>
              <a:bodyPr wrap="none" anchor="ctr"/>
              <a:lstStyle/>
              <a:p>
                <a:endParaRPr lang="zh-CN" altLang="en-US"/>
              </a:p>
            </p:txBody>
          </p:sp>
          <p:sp>
            <p:nvSpPr>
              <p:cNvPr id="60470" name="Freeform 1142"/>
              <p:cNvSpPr>
                <a:spLocks/>
              </p:cNvSpPr>
              <p:nvPr/>
            </p:nvSpPr>
            <p:spPr bwMode="auto">
              <a:xfrm>
                <a:off x="5288" y="912"/>
                <a:ext cx="40" cy="965"/>
              </a:xfrm>
              <a:custGeom>
                <a:avLst/>
                <a:gdLst>
                  <a:gd name="T0" fmla="*/ 0 w 96"/>
                  <a:gd name="T1" fmla="*/ 0 h 1968"/>
                  <a:gd name="T2" fmla="*/ 0 w 96"/>
                  <a:gd name="T3" fmla="*/ 0 h 1968"/>
                  <a:gd name="T4" fmla="*/ 0 w 96"/>
                  <a:gd name="T5" fmla="*/ 0 h 1968"/>
                  <a:gd name="T6" fmla="*/ 0 60000 65536"/>
                  <a:gd name="T7" fmla="*/ 0 60000 65536"/>
                  <a:gd name="T8" fmla="*/ 0 60000 65536"/>
                  <a:gd name="T9" fmla="*/ 0 w 96"/>
                  <a:gd name="T10" fmla="*/ 0 h 1968"/>
                  <a:gd name="T11" fmla="*/ 96 w 96"/>
                  <a:gd name="T12" fmla="*/ 1968 h 1968"/>
                </a:gdLst>
                <a:ahLst/>
                <a:cxnLst>
                  <a:cxn ang="T6">
                    <a:pos x="T0" y="T1"/>
                  </a:cxn>
                  <a:cxn ang="T7">
                    <a:pos x="T2" y="T3"/>
                  </a:cxn>
                  <a:cxn ang="T8">
                    <a:pos x="T4" y="T5"/>
                  </a:cxn>
                </a:cxnLst>
                <a:rect l="T9" t="T10" r="T11" b="T12"/>
                <a:pathLst>
                  <a:path w="96" h="1968">
                    <a:moveTo>
                      <a:pt x="0" y="0"/>
                    </a:moveTo>
                    <a:cubicBezTo>
                      <a:pt x="48" y="316"/>
                      <a:pt x="96" y="632"/>
                      <a:pt x="96" y="960"/>
                    </a:cubicBezTo>
                    <a:cubicBezTo>
                      <a:pt x="96" y="1288"/>
                      <a:pt x="48" y="1628"/>
                      <a:pt x="0" y="1968"/>
                    </a:cubicBezTo>
                  </a:path>
                </a:pathLst>
              </a:custGeom>
              <a:solidFill>
                <a:srgbClr val="FF9900"/>
              </a:solidFill>
              <a:ln w="19050" cap="flat" cmpd="sng">
                <a:solidFill>
                  <a:schemeClr val="tx1"/>
                </a:solidFill>
                <a:prstDash val="solid"/>
                <a:round/>
                <a:headEnd type="none" w="med" len="med"/>
                <a:tailEnd type="none" w="med" len="med"/>
              </a:ln>
            </p:spPr>
            <p:txBody>
              <a:bodyPr wrap="none" anchor="ctr"/>
              <a:lstStyle/>
              <a:p>
                <a:endParaRPr lang="zh-CN" altLang="en-US"/>
              </a:p>
            </p:txBody>
          </p:sp>
          <p:sp>
            <p:nvSpPr>
              <p:cNvPr id="60471" name="Freeform 1143"/>
              <p:cNvSpPr>
                <a:spLocks/>
              </p:cNvSpPr>
              <p:nvPr/>
            </p:nvSpPr>
            <p:spPr bwMode="auto">
              <a:xfrm>
                <a:off x="4848" y="917"/>
                <a:ext cx="440" cy="235"/>
              </a:xfrm>
              <a:custGeom>
                <a:avLst/>
                <a:gdLst>
                  <a:gd name="T0" fmla="*/ 0 w 1056"/>
                  <a:gd name="T1" fmla="*/ 0 h 480"/>
                  <a:gd name="T2" fmla="*/ 0 w 1056"/>
                  <a:gd name="T3" fmla="*/ 0 h 480"/>
                  <a:gd name="T4" fmla="*/ 0 w 1056"/>
                  <a:gd name="T5" fmla="*/ 0 h 480"/>
                  <a:gd name="T6" fmla="*/ 0 w 1056"/>
                  <a:gd name="T7" fmla="*/ 0 h 480"/>
                  <a:gd name="T8" fmla="*/ 0 60000 65536"/>
                  <a:gd name="T9" fmla="*/ 0 60000 65536"/>
                  <a:gd name="T10" fmla="*/ 0 60000 65536"/>
                  <a:gd name="T11" fmla="*/ 0 60000 65536"/>
                  <a:gd name="T12" fmla="*/ 0 w 1056"/>
                  <a:gd name="T13" fmla="*/ 0 h 480"/>
                  <a:gd name="T14" fmla="*/ 1056 w 1056"/>
                  <a:gd name="T15" fmla="*/ 480 h 480"/>
                </a:gdLst>
                <a:ahLst/>
                <a:cxnLst>
                  <a:cxn ang="T8">
                    <a:pos x="T0" y="T1"/>
                  </a:cxn>
                  <a:cxn ang="T9">
                    <a:pos x="T2" y="T3"/>
                  </a:cxn>
                  <a:cxn ang="T10">
                    <a:pos x="T4" y="T5"/>
                  </a:cxn>
                  <a:cxn ang="T11">
                    <a:pos x="T6" y="T7"/>
                  </a:cxn>
                </a:cxnLst>
                <a:rect l="T12" t="T13" r="T14" b="T15"/>
                <a:pathLst>
                  <a:path w="1056" h="480">
                    <a:moveTo>
                      <a:pt x="0" y="480"/>
                    </a:moveTo>
                    <a:cubicBezTo>
                      <a:pt x="172" y="452"/>
                      <a:pt x="344" y="424"/>
                      <a:pt x="480" y="384"/>
                    </a:cubicBezTo>
                    <a:cubicBezTo>
                      <a:pt x="616" y="344"/>
                      <a:pt x="720" y="304"/>
                      <a:pt x="816" y="240"/>
                    </a:cubicBezTo>
                    <a:cubicBezTo>
                      <a:pt x="912" y="176"/>
                      <a:pt x="984" y="88"/>
                      <a:pt x="1056" y="0"/>
                    </a:cubicBezTo>
                  </a:path>
                </a:pathLst>
              </a:custGeom>
              <a:solidFill>
                <a:schemeClr val="bg2"/>
              </a:solidFill>
              <a:ln w="19050" cap="flat" cmpd="sng">
                <a:solidFill>
                  <a:schemeClr val="tx1"/>
                </a:solidFill>
                <a:prstDash val="solid"/>
                <a:round/>
                <a:headEnd type="none" w="med" len="med"/>
                <a:tailEnd type="none" w="med" len="med"/>
              </a:ln>
            </p:spPr>
            <p:txBody>
              <a:bodyPr wrap="none" anchor="ctr"/>
              <a:lstStyle/>
              <a:p>
                <a:endParaRPr lang="zh-CN" altLang="en-US"/>
              </a:p>
            </p:txBody>
          </p:sp>
          <p:sp>
            <p:nvSpPr>
              <p:cNvPr id="60472" name="Freeform 1144"/>
              <p:cNvSpPr>
                <a:spLocks/>
              </p:cNvSpPr>
              <p:nvPr/>
            </p:nvSpPr>
            <p:spPr bwMode="auto">
              <a:xfrm>
                <a:off x="4848" y="1877"/>
                <a:ext cx="440" cy="235"/>
              </a:xfrm>
              <a:custGeom>
                <a:avLst/>
                <a:gdLst>
                  <a:gd name="T0" fmla="*/ 0 w 1056"/>
                  <a:gd name="T1" fmla="*/ 0 h 480"/>
                  <a:gd name="T2" fmla="*/ 0 w 1056"/>
                  <a:gd name="T3" fmla="*/ 0 h 480"/>
                  <a:gd name="T4" fmla="*/ 0 w 1056"/>
                  <a:gd name="T5" fmla="*/ 0 h 480"/>
                  <a:gd name="T6" fmla="*/ 0 60000 65536"/>
                  <a:gd name="T7" fmla="*/ 0 60000 65536"/>
                  <a:gd name="T8" fmla="*/ 0 60000 65536"/>
                  <a:gd name="T9" fmla="*/ 0 w 1056"/>
                  <a:gd name="T10" fmla="*/ 0 h 480"/>
                  <a:gd name="T11" fmla="*/ 1056 w 1056"/>
                  <a:gd name="T12" fmla="*/ 480 h 480"/>
                </a:gdLst>
                <a:ahLst/>
                <a:cxnLst>
                  <a:cxn ang="T6">
                    <a:pos x="T0" y="T1"/>
                  </a:cxn>
                  <a:cxn ang="T7">
                    <a:pos x="T2" y="T3"/>
                  </a:cxn>
                  <a:cxn ang="T8">
                    <a:pos x="T4" y="T5"/>
                  </a:cxn>
                </a:cxnLst>
                <a:rect l="T9" t="T10" r="T11" b="T12"/>
                <a:pathLst>
                  <a:path w="1056" h="480">
                    <a:moveTo>
                      <a:pt x="0" y="480"/>
                    </a:moveTo>
                    <a:cubicBezTo>
                      <a:pt x="248" y="400"/>
                      <a:pt x="496" y="320"/>
                      <a:pt x="672" y="240"/>
                    </a:cubicBezTo>
                    <a:cubicBezTo>
                      <a:pt x="848" y="160"/>
                      <a:pt x="952" y="80"/>
                      <a:pt x="1056" y="0"/>
                    </a:cubicBezTo>
                  </a:path>
                </a:pathLst>
              </a:custGeom>
              <a:solidFill>
                <a:srgbClr val="FF9900"/>
              </a:solidFill>
              <a:ln w="19050" cap="flat" cmpd="sng">
                <a:solidFill>
                  <a:schemeClr val="tx1"/>
                </a:solidFill>
                <a:prstDash val="solid"/>
                <a:round/>
                <a:headEnd type="none" w="med" len="med"/>
                <a:tailEnd type="none" w="med" len="med"/>
              </a:ln>
            </p:spPr>
            <p:txBody>
              <a:bodyPr wrap="none" anchor="ctr"/>
              <a:lstStyle/>
              <a:p>
                <a:endParaRPr lang="zh-CN" altLang="en-US"/>
              </a:p>
            </p:txBody>
          </p:sp>
          <p:sp>
            <p:nvSpPr>
              <p:cNvPr id="60473" name="Line 1145"/>
              <p:cNvSpPr>
                <a:spLocks noChangeShapeType="1"/>
              </p:cNvSpPr>
              <p:nvPr/>
            </p:nvSpPr>
            <p:spPr bwMode="auto">
              <a:xfrm flipH="1">
                <a:off x="4868" y="936"/>
                <a:ext cx="380" cy="188"/>
              </a:xfrm>
              <a:prstGeom prst="line">
                <a:avLst/>
              </a:prstGeom>
              <a:noFill/>
              <a:ln w="9525">
                <a:noFill/>
                <a:round/>
                <a:headEnd/>
                <a:tailEnd/>
              </a:ln>
            </p:spPr>
            <p:txBody>
              <a:bodyPr wrap="none" anchor="ctr"/>
              <a:lstStyle/>
              <a:p>
                <a:endParaRPr lang="zh-CN" altLang="en-US"/>
              </a:p>
            </p:txBody>
          </p:sp>
        </p:grpSp>
        <p:sp>
          <p:nvSpPr>
            <p:cNvPr id="60467" name="Text Box 1146"/>
            <p:cNvSpPr txBox="1">
              <a:spLocks noChangeArrowheads="1"/>
            </p:cNvSpPr>
            <p:nvPr/>
          </p:nvSpPr>
          <p:spPr bwMode="auto">
            <a:xfrm>
              <a:off x="4456" y="1027"/>
              <a:ext cx="228" cy="465"/>
            </a:xfrm>
            <a:prstGeom prst="rect">
              <a:avLst/>
            </a:prstGeom>
            <a:noFill/>
            <a:ln w="9525">
              <a:noFill/>
              <a:miter lim="800000"/>
              <a:headEnd/>
              <a:tailEnd/>
            </a:ln>
          </p:spPr>
          <p:txBody>
            <a:bodyPr anchor="ctr">
              <a:spAutoFit/>
            </a:bodyPr>
            <a:lstStyle/>
            <a:p>
              <a:pPr algn="ctr" eaLnBrk="0" hangingPunct="0"/>
              <a:r>
                <a:rPr lang="zh-CN" altLang="en-US" sz="1500" b="1">
                  <a:solidFill>
                    <a:srgbClr val="0000FF"/>
                  </a:solidFill>
                  <a:latin typeface="Bookman Old Style" pitchFamily="18" charset="0"/>
                  <a:ea typeface="华文中宋"/>
                  <a:cs typeface="华文中宋"/>
                </a:rPr>
                <a:t>波面</a:t>
              </a:r>
            </a:p>
          </p:txBody>
        </p:sp>
      </p:grpSp>
      <p:grpSp>
        <p:nvGrpSpPr>
          <p:cNvPr id="6" name="Group 1150"/>
          <p:cNvGrpSpPr>
            <a:grpSpLocks/>
          </p:cNvGrpSpPr>
          <p:nvPr/>
        </p:nvGrpSpPr>
        <p:grpSpPr bwMode="auto">
          <a:xfrm>
            <a:off x="628650" y="1628775"/>
            <a:ext cx="3663950" cy="1495425"/>
            <a:chOff x="204" y="626"/>
            <a:chExt cx="2308" cy="1257"/>
          </a:xfrm>
        </p:grpSpPr>
        <p:grpSp>
          <p:nvGrpSpPr>
            <p:cNvPr id="60427" name="Group 1089"/>
            <p:cNvGrpSpPr>
              <a:grpSpLocks/>
            </p:cNvGrpSpPr>
            <p:nvPr/>
          </p:nvGrpSpPr>
          <p:grpSpPr bwMode="auto">
            <a:xfrm>
              <a:off x="385" y="892"/>
              <a:ext cx="494" cy="786"/>
              <a:chOff x="480" y="1536"/>
              <a:chExt cx="720" cy="1104"/>
            </a:xfrm>
          </p:grpSpPr>
          <p:sp>
            <p:nvSpPr>
              <p:cNvPr id="60448" name="Line 1090"/>
              <p:cNvSpPr>
                <a:spLocks noChangeShapeType="1"/>
              </p:cNvSpPr>
              <p:nvPr/>
            </p:nvSpPr>
            <p:spPr bwMode="auto">
              <a:xfrm>
                <a:off x="480" y="2160"/>
                <a:ext cx="720" cy="0"/>
              </a:xfrm>
              <a:prstGeom prst="line">
                <a:avLst/>
              </a:prstGeom>
              <a:noFill/>
              <a:ln w="19050">
                <a:solidFill>
                  <a:srgbClr val="0000FF"/>
                </a:solidFill>
                <a:round/>
                <a:headEnd/>
                <a:tailEnd/>
              </a:ln>
            </p:spPr>
            <p:txBody>
              <a:bodyPr wrap="none" anchor="ctr"/>
              <a:lstStyle/>
              <a:p>
                <a:endParaRPr lang="zh-CN" altLang="en-US"/>
              </a:p>
            </p:txBody>
          </p:sp>
          <p:sp>
            <p:nvSpPr>
              <p:cNvPr id="60449" name="Line 1091"/>
              <p:cNvSpPr>
                <a:spLocks noChangeShapeType="1"/>
              </p:cNvSpPr>
              <p:nvPr/>
            </p:nvSpPr>
            <p:spPr bwMode="auto">
              <a:xfrm flipH="1">
                <a:off x="816" y="1967"/>
                <a:ext cx="384" cy="0"/>
              </a:xfrm>
              <a:prstGeom prst="line">
                <a:avLst/>
              </a:prstGeom>
              <a:noFill/>
              <a:ln w="19050">
                <a:solidFill>
                  <a:schemeClr val="accent2"/>
                </a:solidFill>
                <a:round/>
                <a:headEnd/>
                <a:tailEnd/>
              </a:ln>
            </p:spPr>
            <p:txBody>
              <a:bodyPr wrap="none" anchor="ctr"/>
              <a:lstStyle/>
              <a:p>
                <a:endParaRPr lang="zh-CN" altLang="en-US"/>
              </a:p>
            </p:txBody>
          </p:sp>
          <p:sp>
            <p:nvSpPr>
              <p:cNvPr id="60450" name="Line 1092"/>
              <p:cNvSpPr>
                <a:spLocks noChangeShapeType="1"/>
              </p:cNvSpPr>
              <p:nvPr/>
            </p:nvSpPr>
            <p:spPr bwMode="auto">
              <a:xfrm>
                <a:off x="480" y="2640"/>
                <a:ext cx="720" cy="0"/>
              </a:xfrm>
              <a:prstGeom prst="line">
                <a:avLst/>
              </a:prstGeom>
              <a:noFill/>
              <a:ln w="19050">
                <a:solidFill>
                  <a:srgbClr val="0000FF"/>
                </a:solidFill>
                <a:round/>
                <a:headEnd/>
                <a:tailEnd/>
              </a:ln>
            </p:spPr>
            <p:txBody>
              <a:bodyPr wrap="none" anchor="ctr"/>
              <a:lstStyle/>
              <a:p>
                <a:endParaRPr lang="zh-CN" altLang="en-US"/>
              </a:p>
            </p:txBody>
          </p:sp>
          <p:sp>
            <p:nvSpPr>
              <p:cNvPr id="60451" name="Line 1093"/>
              <p:cNvSpPr>
                <a:spLocks noChangeShapeType="1"/>
              </p:cNvSpPr>
              <p:nvPr/>
            </p:nvSpPr>
            <p:spPr bwMode="auto">
              <a:xfrm flipH="1">
                <a:off x="816" y="2447"/>
                <a:ext cx="384" cy="0"/>
              </a:xfrm>
              <a:prstGeom prst="line">
                <a:avLst/>
              </a:prstGeom>
              <a:noFill/>
              <a:ln w="19050">
                <a:solidFill>
                  <a:schemeClr val="accent2"/>
                </a:solidFill>
                <a:round/>
                <a:headEnd/>
                <a:tailEnd/>
              </a:ln>
            </p:spPr>
            <p:txBody>
              <a:bodyPr wrap="none" anchor="ctr"/>
              <a:lstStyle/>
              <a:p>
                <a:endParaRPr lang="zh-CN" altLang="en-US"/>
              </a:p>
            </p:txBody>
          </p:sp>
          <p:sp>
            <p:nvSpPr>
              <p:cNvPr id="60452" name="Line 1094"/>
              <p:cNvSpPr>
                <a:spLocks noChangeShapeType="1"/>
              </p:cNvSpPr>
              <p:nvPr/>
            </p:nvSpPr>
            <p:spPr bwMode="auto">
              <a:xfrm>
                <a:off x="480" y="1729"/>
                <a:ext cx="720" cy="0"/>
              </a:xfrm>
              <a:prstGeom prst="line">
                <a:avLst/>
              </a:prstGeom>
              <a:noFill/>
              <a:ln w="19050">
                <a:solidFill>
                  <a:srgbClr val="0000FF"/>
                </a:solidFill>
                <a:round/>
                <a:headEnd/>
                <a:tailEnd/>
              </a:ln>
            </p:spPr>
            <p:txBody>
              <a:bodyPr wrap="none" anchor="ctr"/>
              <a:lstStyle/>
              <a:p>
                <a:endParaRPr lang="zh-CN" altLang="en-US"/>
              </a:p>
            </p:txBody>
          </p:sp>
          <p:sp>
            <p:nvSpPr>
              <p:cNvPr id="60453" name="Line 1095"/>
              <p:cNvSpPr>
                <a:spLocks noChangeShapeType="1"/>
              </p:cNvSpPr>
              <p:nvPr/>
            </p:nvSpPr>
            <p:spPr bwMode="auto">
              <a:xfrm flipH="1">
                <a:off x="816" y="1536"/>
                <a:ext cx="384" cy="0"/>
              </a:xfrm>
              <a:prstGeom prst="line">
                <a:avLst/>
              </a:prstGeom>
              <a:noFill/>
              <a:ln w="19050">
                <a:solidFill>
                  <a:schemeClr val="accent2"/>
                </a:solidFill>
                <a:round/>
                <a:headEnd/>
                <a:tailEnd/>
              </a:ln>
            </p:spPr>
            <p:txBody>
              <a:bodyPr wrap="none" anchor="ctr"/>
              <a:lstStyle/>
              <a:p>
                <a:endParaRPr lang="zh-CN" altLang="en-US"/>
              </a:p>
            </p:txBody>
          </p:sp>
        </p:grpSp>
        <p:sp>
          <p:nvSpPr>
            <p:cNvPr id="60428" name="AutoShape 1096"/>
            <p:cNvSpPr>
              <a:spLocks noChangeArrowheads="1"/>
            </p:cNvSpPr>
            <p:nvPr/>
          </p:nvSpPr>
          <p:spPr bwMode="auto">
            <a:xfrm rot="5400000" flipH="1">
              <a:off x="463" y="1037"/>
              <a:ext cx="1196" cy="495"/>
            </a:xfrm>
            <a:prstGeom prst="parallelogram">
              <a:avLst>
                <a:gd name="adj" fmla="val 46735"/>
              </a:avLst>
            </a:prstGeom>
            <a:solidFill>
              <a:srgbClr val="FF9900"/>
            </a:solidFill>
            <a:ln w="19050">
              <a:solidFill>
                <a:schemeClr val="tx1"/>
              </a:solidFill>
              <a:miter lim="800000"/>
              <a:headEnd/>
              <a:tailEnd/>
            </a:ln>
          </p:spPr>
          <p:txBody>
            <a:bodyPr wrap="none" anchor="ctr"/>
            <a:lstStyle/>
            <a:p>
              <a:endParaRPr lang="zh-CN" altLang="en-US"/>
            </a:p>
          </p:txBody>
        </p:sp>
        <p:grpSp>
          <p:nvGrpSpPr>
            <p:cNvPr id="60429" name="Group 1098"/>
            <p:cNvGrpSpPr>
              <a:grpSpLocks/>
            </p:cNvGrpSpPr>
            <p:nvPr/>
          </p:nvGrpSpPr>
          <p:grpSpPr bwMode="auto">
            <a:xfrm>
              <a:off x="978" y="892"/>
              <a:ext cx="494" cy="786"/>
              <a:chOff x="480" y="1536"/>
              <a:chExt cx="720" cy="1104"/>
            </a:xfrm>
          </p:grpSpPr>
          <p:sp>
            <p:nvSpPr>
              <p:cNvPr id="60442" name="Line 1099"/>
              <p:cNvSpPr>
                <a:spLocks noChangeShapeType="1"/>
              </p:cNvSpPr>
              <p:nvPr/>
            </p:nvSpPr>
            <p:spPr bwMode="auto">
              <a:xfrm>
                <a:off x="480" y="2160"/>
                <a:ext cx="720" cy="0"/>
              </a:xfrm>
              <a:prstGeom prst="line">
                <a:avLst/>
              </a:prstGeom>
              <a:noFill/>
              <a:ln w="19050">
                <a:solidFill>
                  <a:srgbClr val="0000FF"/>
                </a:solidFill>
                <a:round/>
                <a:headEnd/>
                <a:tailEnd/>
              </a:ln>
            </p:spPr>
            <p:txBody>
              <a:bodyPr wrap="none" anchor="ctr"/>
              <a:lstStyle/>
              <a:p>
                <a:endParaRPr lang="zh-CN" altLang="en-US"/>
              </a:p>
            </p:txBody>
          </p:sp>
          <p:sp>
            <p:nvSpPr>
              <p:cNvPr id="60443" name="Line 1100"/>
              <p:cNvSpPr>
                <a:spLocks noChangeShapeType="1"/>
              </p:cNvSpPr>
              <p:nvPr/>
            </p:nvSpPr>
            <p:spPr bwMode="auto">
              <a:xfrm flipH="1">
                <a:off x="816" y="1967"/>
                <a:ext cx="384" cy="0"/>
              </a:xfrm>
              <a:prstGeom prst="line">
                <a:avLst/>
              </a:prstGeom>
              <a:noFill/>
              <a:ln w="19050">
                <a:solidFill>
                  <a:schemeClr val="accent2"/>
                </a:solidFill>
                <a:round/>
                <a:headEnd/>
                <a:tailEnd/>
              </a:ln>
            </p:spPr>
            <p:txBody>
              <a:bodyPr wrap="none" anchor="ctr"/>
              <a:lstStyle/>
              <a:p>
                <a:endParaRPr lang="zh-CN" altLang="en-US"/>
              </a:p>
            </p:txBody>
          </p:sp>
          <p:sp>
            <p:nvSpPr>
              <p:cNvPr id="60444" name="Line 1101"/>
              <p:cNvSpPr>
                <a:spLocks noChangeShapeType="1"/>
              </p:cNvSpPr>
              <p:nvPr/>
            </p:nvSpPr>
            <p:spPr bwMode="auto">
              <a:xfrm>
                <a:off x="480" y="2640"/>
                <a:ext cx="720" cy="0"/>
              </a:xfrm>
              <a:prstGeom prst="line">
                <a:avLst/>
              </a:prstGeom>
              <a:noFill/>
              <a:ln w="19050">
                <a:solidFill>
                  <a:srgbClr val="0000FF"/>
                </a:solidFill>
                <a:round/>
                <a:headEnd/>
                <a:tailEnd/>
              </a:ln>
            </p:spPr>
            <p:txBody>
              <a:bodyPr wrap="none" anchor="ctr"/>
              <a:lstStyle/>
              <a:p>
                <a:endParaRPr lang="zh-CN" altLang="en-US"/>
              </a:p>
            </p:txBody>
          </p:sp>
          <p:sp>
            <p:nvSpPr>
              <p:cNvPr id="60445" name="Line 1102"/>
              <p:cNvSpPr>
                <a:spLocks noChangeShapeType="1"/>
              </p:cNvSpPr>
              <p:nvPr/>
            </p:nvSpPr>
            <p:spPr bwMode="auto">
              <a:xfrm flipH="1">
                <a:off x="816" y="2447"/>
                <a:ext cx="384" cy="0"/>
              </a:xfrm>
              <a:prstGeom prst="line">
                <a:avLst/>
              </a:prstGeom>
              <a:noFill/>
              <a:ln w="19050">
                <a:solidFill>
                  <a:schemeClr val="accent2"/>
                </a:solidFill>
                <a:round/>
                <a:headEnd/>
                <a:tailEnd/>
              </a:ln>
            </p:spPr>
            <p:txBody>
              <a:bodyPr wrap="none" anchor="ctr"/>
              <a:lstStyle/>
              <a:p>
                <a:endParaRPr lang="zh-CN" altLang="en-US"/>
              </a:p>
            </p:txBody>
          </p:sp>
          <p:sp>
            <p:nvSpPr>
              <p:cNvPr id="60446" name="Line 1103"/>
              <p:cNvSpPr>
                <a:spLocks noChangeShapeType="1"/>
              </p:cNvSpPr>
              <p:nvPr/>
            </p:nvSpPr>
            <p:spPr bwMode="auto">
              <a:xfrm>
                <a:off x="480" y="1729"/>
                <a:ext cx="720" cy="0"/>
              </a:xfrm>
              <a:prstGeom prst="line">
                <a:avLst/>
              </a:prstGeom>
              <a:noFill/>
              <a:ln w="19050">
                <a:solidFill>
                  <a:srgbClr val="0000FF"/>
                </a:solidFill>
                <a:round/>
                <a:headEnd/>
                <a:tailEnd/>
              </a:ln>
            </p:spPr>
            <p:txBody>
              <a:bodyPr wrap="none" anchor="ctr"/>
              <a:lstStyle/>
              <a:p>
                <a:endParaRPr lang="zh-CN" altLang="en-US"/>
              </a:p>
            </p:txBody>
          </p:sp>
          <p:sp>
            <p:nvSpPr>
              <p:cNvPr id="60447" name="Line 1104"/>
              <p:cNvSpPr>
                <a:spLocks noChangeShapeType="1"/>
              </p:cNvSpPr>
              <p:nvPr/>
            </p:nvSpPr>
            <p:spPr bwMode="auto">
              <a:xfrm flipH="1">
                <a:off x="816" y="1536"/>
                <a:ext cx="384" cy="0"/>
              </a:xfrm>
              <a:prstGeom prst="line">
                <a:avLst/>
              </a:prstGeom>
              <a:noFill/>
              <a:ln w="19050">
                <a:solidFill>
                  <a:schemeClr val="accent2"/>
                </a:solidFill>
                <a:round/>
                <a:headEnd/>
                <a:tailEnd/>
              </a:ln>
            </p:spPr>
            <p:txBody>
              <a:bodyPr wrap="none" anchor="ctr"/>
              <a:lstStyle/>
              <a:p>
                <a:endParaRPr lang="zh-CN" altLang="en-US"/>
              </a:p>
            </p:txBody>
          </p:sp>
        </p:grpSp>
        <p:sp>
          <p:nvSpPr>
            <p:cNvPr id="60430" name="AutoShape 1105"/>
            <p:cNvSpPr>
              <a:spLocks noChangeArrowheads="1"/>
            </p:cNvSpPr>
            <p:nvPr/>
          </p:nvSpPr>
          <p:spPr bwMode="auto">
            <a:xfrm rot="5400000" flipH="1">
              <a:off x="1056" y="1038"/>
              <a:ext cx="1196" cy="494"/>
            </a:xfrm>
            <a:prstGeom prst="parallelogram">
              <a:avLst>
                <a:gd name="adj" fmla="val 46829"/>
              </a:avLst>
            </a:prstGeom>
            <a:solidFill>
              <a:srgbClr val="FF9900"/>
            </a:solidFill>
            <a:ln w="19050">
              <a:solidFill>
                <a:schemeClr val="tx1"/>
              </a:solidFill>
              <a:miter lim="800000"/>
              <a:headEnd/>
              <a:tailEnd/>
            </a:ln>
          </p:spPr>
          <p:txBody>
            <a:bodyPr wrap="none" anchor="ctr"/>
            <a:lstStyle/>
            <a:p>
              <a:endParaRPr lang="zh-CN" altLang="en-US"/>
            </a:p>
          </p:txBody>
        </p:sp>
        <p:sp>
          <p:nvSpPr>
            <p:cNvPr id="60431" name="Line 1106"/>
            <p:cNvSpPr>
              <a:spLocks noChangeShapeType="1"/>
            </p:cNvSpPr>
            <p:nvPr/>
          </p:nvSpPr>
          <p:spPr bwMode="auto">
            <a:xfrm>
              <a:off x="1505" y="1336"/>
              <a:ext cx="495" cy="0"/>
            </a:xfrm>
            <a:prstGeom prst="line">
              <a:avLst/>
            </a:prstGeom>
            <a:noFill/>
            <a:ln w="19050">
              <a:solidFill>
                <a:srgbClr val="0000FF"/>
              </a:solidFill>
              <a:round/>
              <a:headEnd/>
              <a:tailEnd type="triangle" w="med" len="med"/>
            </a:ln>
          </p:spPr>
          <p:txBody>
            <a:bodyPr wrap="none" anchor="ctr"/>
            <a:lstStyle/>
            <a:p>
              <a:endParaRPr lang="zh-CN" altLang="en-US"/>
            </a:p>
          </p:txBody>
        </p:sp>
        <p:sp>
          <p:nvSpPr>
            <p:cNvPr id="60432" name="Line 1107"/>
            <p:cNvSpPr>
              <a:spLocks noChangeShapeType="1"/>
            </p:cNvSpPr>
            <p:nvPr/>
          </p:nvSpPr>
          <p:spPr bwMode="auto">
            <a:xfrm flipH="1">
              <a:off x="1736" y="1199"/>
              <a:ext cx="461" cy="0"/>
            </a:xfrm>
            <a:prstGeom prst="line">
              <a:avLst/>
            </a:prstGeom>
            <a:noFill/>
            <a:ln w="19050">
              <a:solidFill>
                <a:schemeClr val="accent2"/>
              </a:solidFill>
              <a:round/>
              <a:headEnd type="triangle" w="med" len="med"/>
              <a:tailEnd/>
            </a:ln>
          </p:spPr>
          <p:txBody>
            <a:bodyPr wrap="none" anchor="ctr"/>
            <a:lstStyle/>
            <a:p>
              <a:endParaRPr lang="zh-CN" altLang="en-US"/>
            </a:p>
          </p:txBody>
        </p:sp>
        <p:sp>
          <p:nvSpPr>
            <p:cNvPr id="60433" name="Line 1108"/>
            <p:cNvSpPr>
              <a:spLocks noChangeShapeType="1"/>
            </p:cNvSpPr>
            <p:nvPr/>
          </p:nvSpPr>
          <p:spPr bwMode="auto">
            <a:xfrm>
              <a:off x="1505" y="1678"/>
              <a:ext cx="495" cy="0"/>
            </a:xfrm>
            <a:prstGeom prst="line">
              <a:avLst/>
            </a:prstGeom>
            <a:noFill/>
            <a:ln w="19050">
              <a:solidFill>
                <a:srgbClr val="0000FF"/>
              </a:solidFill>
              <a:round/>
              <a:headEnd/>
              <a:tailEnd type="triangle" w="med" len="med"/>
            </a:ln>
          </p:spPr>
          <p:txBody>
            <a:bodyPr wrap="none" anchor="ctr"/>
            <a:lstStyle/>
            <a:p>
              <a:endParaRPr lang="zh-CN" altLang="en-US"/>
            </a:p>
          </p:txBody>
        </p:sp>
        <p:sp>
          <p:nvSpPr>
            <p:cNvPr id="60434" name="Line 1109"/>
            <p:cNvSpPr>
              <a:spLocks noChangeShapeType="1"/>
            </p:cNvSpPr>
            <p:nvPr/>
          </p:nvSpPr>
          <p:spPr bwMode="auto">
            <a:xfrm flipH="1">
              <a:off x="1736" y="1541"/>
              <a:ext cx="461" cy="0"/>
            </a:xfrm>
            <a:prstGeom prst="line">
              <a:avLst/>
            </a:prstGeom>
            <a:noFill/>
            <a:ln w="19050">
              <a:solidFill>
                <a:schemeClr val="accent2"/>
              </a:solidFill>
              <a:round/>
              <a:headEnd type="triangle" w="med" len="med"/>
              <a:tailEnd/>
            </a:ln>
          </p:spPr>
          <p:txBody>
            <a:bodyPr wrap="none" anchor="ctr"/>
            <a:lstStyle/>
            <a:p>
              <a:endParaRPr lang="zh-CN" altLang="en-US"/>
            </a:p>
          </p:txBody>
        </p:sp>
        <p:sp>
          <p:nvSpPr>
            <p:cNvPr id="60435" name="Line 1110"/>
            <p:cNvSpPr>
              <a:spLocks noChangeShapeType="1"/>
            </p:cNvSpPr>
            <p:nvPr/>
          </p:nvSpPr>
          <p:spPr bwMode="auto">
            <a:xfrm>
              <a:off x="1505" y="1029"/>
              <a:ext cx="495" cy="0"/>
            </a:xfrm>
            <a:prstGeom prst="line">
              <a:avLst/>
            </a:prstGeom>
            <a:noFill/>
            <a:ln w="19050">
              <a:solidFill>
                <a:srgbClr val="0000FF"/>
              </a:solidFill>
              <a:round/>
              <a:headEnd/>
              <a:tailEnd type="triangle" w="med" len="med"/>
            </a:ln>
          </p:spPr>
          <p:txBody>
            <a:bodyPr wrap="none" anchor="ctr"/>
            <a:lstStyle/>
            <a:p>
              <a:endParaRPr lang="zh-CN" altLang="en-US"/>
            </a:p>
          </p:txBody>
        </p:sp>
        <p:sp>
          <p:nvSpPr>
            <p:cNvPr id="60436" name="Line 1111"/>
            <p:cNvSpPr>
              <a:spLocks noChangeShapeType="1"/>
            </p:cNvSpPr>
            <p:nvPr/>
          </p:nvSpPr>
          <p:spPr bwMode="auto">
            <a:xfrm flipH="1">
              <a:off x="1736" y="892"/>
              <a:ext cx="461" cy="0"/>
            </a:xfrm>
            <a:prstGeom prst="line">
              <a:avLst/>
            </a:prstGeom>
            <a:noFill/>
            <a:ln w="19050">
              <a:solidFill>
                <a:schemeClr val="accent2"/>
              </a:solidFill>
              <a:round/>
              <a:headEnd type="triangle" w="med" len="med"/>
              <a:tailEnd/>
            </a:ln>
          </p:spPr>
          <p:txBody>
            <a:bodyPr wrap="none" anchor="ctr"/>
            <a:lstStyle/>
            <a:p>
              <a:endParaRPr lang="zh-CN" altLang="en-US"/>
            </a:p>
          </p:txBody>
        </p:sp>
        <p:sp>
          <p:nvSpPr>
            <p:cNvPr id="60437" name="Text Box 1112"/>
            <p:cNvSpPr txBox="1">
              <a:spLocks noChangeArrowheads="1"/>
            </p:cNvSpPr>
            <p:nvPr/>
          </p:nvSpPr>
          <p:spPr bwMode="auto">
            <a:xfrm>
              <a:off x="1395" y="1378"/>
              <a:ext cx="502" cy="271"/>
            </a:xfrm>
            <a:prstGeom prst="rect">
              <a:avLst/>
            </a:prstGeom>
            <a:noFill/>
            <a:ln w="9525">
              <a:noFill/>
              <a:miter lim="800000"/>
              <a:headEnd/>
              <a:tailEnd/>
            </a:ln>
          </p:spPr>
          <p:txBody>
            <a:bodyPr anchor="ctr">
              <a:spAutoFit/>
            </a:bodyPr>
            <a:lstStyle/>
            <a:p>
              <a:pPr algn="ctr" eaLnBrk="0" hangingPunct="0"/>
              <a:r>
                <a:rPr lang="zh-CN" altLang="en-US" sz="1500" b="1">
                  <a:solidFill>
                    <a:srgbClr val="0000FF"/>
                  </a:solidFill>
                  <a:latin typeface="Bookman Old Style" pitchFamily="18" charset="0"/>
                  <a:ea typeface="华文中宋"/>
                  <a:cs typeface="华文中宋"/>
                </a:rPr>
                <a:t>波面</a:t>
              </a:r>
            </a:p>
          </p:txBody>
        </p:sp>
        <p:sp>
          <p:nvSpPr>
            <p:cNvPr id="60438" name="Text Box 1113"/>
            <p:cNvSpPr txBox="1">
              <a:spLocks noChangeArrowheads="1"/>
            </p:cNvSpPr>
            <p:nvPr/>
          </p:nvSpPr>
          <p:spPr bwMode="auto">
            <a:xfrm>
              <a:off x="385" y="626"/>
              <a:ext cx="502" cy="271"/>
            </a:xfrm>
            <a:prstGeom prst="rect">
              <a:avLst/>
            </a:prstGeom>
            <a:noFill/>
            <a:ln w="9525">
              <a:noFill/>
              <a:miter lim="800000"/>
              <a:headEnd/>
              <a:tailEnd/>
            </a:ln>
          </p:spPr>
          <p:txBody>
            <a:bodyPr anchor="ctr">
              <a:spAutoFit/>
            </a:bodyPr>
            <a:lstStyle/>
            <a:p>
              <a:pPr algn="ctr" eaLnBrk="0" hangingPunct="0"/>
              <a:r>
                <a:rPr lang="zh-CN" altLang="en-US" sz="1500" b="1">
                  <a:solidFill>
                    <a:srgbClr val="0000FF"/>
                  </a:solidFill>
                  <a:latin typeface="Bookman Old Style" pitchFamily="18" charset="0"/>
                  <a:ea typeface="华文中宋"/>
                  <a:cs typeface="华文中宋"/>
                </a:rPr>
                <a:t>波线</a:t>
              </a:r>
            </a:p>
          </p:txBody>
        </p:sp>
        <p:sp>
          <p:nvSpPr>
            <p:cNvPr id="60439" name="Rectangle 1086"/>
            <p:cNvSpPr>
              <a:spLocks noChangeArrowheads="1"/>
            </p:cNvSpPr>
            <p:nvPr/>
          </p:nvSpPr>
          <p:spPr bwMode="auto">
            <a:xfrm>
              <a:off x="204" y="1175"/>
              <a:ext cx="502" cy="271"/>
            </a:xfrm>
            <a:prstGeom prst="rect">
              <a:avLst/>
            </a:prstGeom>
            <a:solidFill>
              <a:schemeClr val="bg1"/>
            </a:solidFill>
            <a:ln w="9525">
              <a:noFill/>
              <a:miter lim="800000"/>
              <a:headEnd/>
              <a:tailEnd/>
            </a:ln>
          </p:spPr>
          <p:txBody>
            <a:bodyPr>
              <a:spAutoFit/>
            </a:bodyPr>
            <a:lstStyle/>
            <a:p>
              <a:r>
                <a:rPr lang="zh-CN" altLang="en-US" sz="1500" b="1">
                  <a:solidFill>
                    <a:srgbClr val="0000FF"/>
                  </a:solidFill>
                  <a:ea typeface="华文中宋"/>
                  <a:cs typeface="华文中宋"/>
                </a:rPr>
                <a:t>波场</a:t>
              </a:r>
            </a:p>
          </p:txBody>
        </p:sp>
        <p:sp>
          <p:nvSpPr>
            <p:cNvPr id="60440" name="AutoShape 1149"/>
            <p:cNvSpPr>
              <a:spLocks noChangeArrowheads="1"/>
            </p:cNvSpPr>
            <p:nvPr/>
          </p:nvSpPr>
          <p:spPr bwMode="auto">
            <a:xfrm rot="5400000" flipH="1">
              <a:off x="1667" y="1014"/>
              <a:ext cx="1196" cy="494"/>
            </a:xfrm>
            <a:prstGeom prst="parallelogram">
              <a:avLst>
                <a:gd name="adj" fmla="val 46829"/>
              </a:avLst>
            </a:prstGeom>
            <a:solidFill>
              <a:srgbClr val="FF9900"/>
            </a:solidFill>
            <a:ln w="19050">
              <a:solidFill>
                <a:schemeClr val="tx1"/>
              </a:solidFill>
              <a:miter lim="800000"/>
              <a:headEnd/>
              <a:tailEnd/>
            </a:ln>
          </p:spPr>
          <p:txBody>
            <a:bodyPr wrap="none" anchor="ctr"/>
            <a:lstStyle/>
            <a:p>
              <a:endParaRPr lang="zh-CN" altLang="en-US"/>
            </a:p>
          </p:txBody>
        </p:sp>
        <p:sp>
          <p:nvSpPr>
            <p:cNvPr id="60441" name="Rectangle 1075"/>
            <p:cNvSpPr>
              <a:spLocks noChangeArrowheads="1"/>
            </p:cNvSpPr>
            <p:nvPr/>
          </p:nvSpPr>
          <p:spPr bwMode="auto">
            <a:xfrm>
              <a:off x="2155" y="981"/>
              <a:ext cx="317" cy="465"/>
            </a:xfrm>
            <a:prstGeom prst="rect">
              <a:avLst/>
            </a:prstGeom>
            <a:noFill/>
            <a:ln w="9525">
              <a:noFill/>
              <a:miter lim="800000"/>
              <a:headEnd/>
              <a:tailEnd/>
            </a:ln>
          </p:spPr>
          <p:txBody>
            <a:bodyPr>
              <a:spAutoFit/>
            </a:bodyPr>
            <a:lstStyle/>
            <a:p>
              <a:r>
                <a:rPr lang="zh-CN" altLang="en-US" sz="1500" b="1">
                  <a:solidFill>
                    <a:srgbClr val="0000FF"/>
                  </a:solidFill>
                  <a:latin typeface="楷体_GB2312"/>
                  <a:ea typeface="华文中宋"/>
                  <a:cs typeface="华文中宋"/>
                </a:rPr>
                <a:t>波</a:t>
              </a:r>
            </a:p>
            <a:p>
              <a:r>
                <a:rPr lang="zh-CN" altLang="en-US" sz="1500" b="1">
                  <a:solidFill>
                    <a:srgbClr val="0000FF"/>
                  </a:solidFill>
                  <a:latin typeface="楷体_GB2312"/>
                  <a:ea typeface="华文中宋"/>
                  <a:cs typeface="华文中宋"/>
                </a:rPr>
                <a:t>前</a:t>
              </a:r>
            </a:p>
          </p:txBody>
        </p:sp>
      </p:grpSp>
      <p:sp>
        <p:nvSpPr>
          <p:cNvPr id="71" name="Text Box 2"/>
          <p:cNvSpPr>
            <a:spLocks noChangeArrowheads="1"/>
          </p:cNvSpPr>
          <p:nvPr/>
        </p:nvSpPr>
        <p:spPr bwMode="auto">
          <a:xfrm>
            <a:off x="722313" y="876300"/>
            <a:ext cx="2200275" cy="400050"/>
          </a:xfrm>
          <a:prstGeom prst="homePlate">
            <a:avLst>
              <a:gd name="adj" fmla="val 49856"/>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三、波线与波面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left)">
                                      <p:cBhvr>
                                        <p:cTn id="7" dur="500"/>
                                        <p:tgtEl>
                                          <p:spTgt spid="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7467"/>
                                        </p:tgtEl>
                                        <p:attrNameLst>
                                          <p:attrName>style.visibility</p:attrName>
                                        </p:attrNameLst>
                                      </p:cBhvr>
                                      <p:to>
                                        <p:strVal val="visible"/>
                                      </p:to>
                                    </p:set>
                                    <p:animEffect transition="in" filter="blinds(horizontal)">
                                      <p:cBhvr>
                                        <p:cTn id="15" dur="500"/>
                                        <p:tgtEl>
                                          <p:spTgt spid="1746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7445"/>
                                        </p:tgtEl>
                                        <p:attrNameLst>
                                          <p:attrName>style.visibility</p:attrName>
                                        </p:attrNameLst>
                                      </p:cBhvr>
                                      <p:to>
                                        <p:strVal val="visible"/>
                                      </p:to>
                                    </p:set>
                                    <p:animEffect transition="in" filter="blinds(horizontal)">
                                      <p:cBhvr>
                                        <p:cTn id="23" dur="500"/>
                                        <p:tgtEl>
                                          <p:spTgt spid="1744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2421">
                                            <p:txEl>
                                              <p:pRg st="0" end="0"/>
                                            </p:txEl>
                                          </p:spTgt>
                                        </p:tgtEl>
                                        <p:attrNameLst>
                                          <p:attrName>style.visibility</p:attrName>
                                        </p:attrNameLst>
                                      </p:cBhvr>
                                      <p:to>
                                        <p:strVal val="visible"/>
                                      </p:to>
                                    </p:set>
                                    <p:animEffect transition="in" filter="box(out)">
                                      <p:cBhvr>
                                        <p:cTn id="28" dur="500"/>
                                        <p:tgtEl>
                                          <p:spTgt spid="12421">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2420">
                                            <p:txEl>
                                              <p:pRg st="0" end="0"/>
                                            </p:txEl>
                                          </p:spTgt>
                                        </p:tgtEl>
                                        <p:attrNameLst>
                                          <p:attrName>style.visibility</p:attrName>
                                        </p:attrNameLst>
                                      </p:cBhvr>
                                      <p:to>
                                        <p:strVal val="visible"/>
                                      </p:to>
                                    </p:set>
                                    <p:animEffect transition="in" filter="box(out)">
                                      <p:cBhvr>
                                        <p:cTn id="33" dur="500"/>
                                        <p:tgtEl>
                                          <p:spTgt spid="12420">
                                            <p:txEl>
                                              <p:pRg st="0" end="0"/>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2489">
                                            <p:txEl>
                                              <p:pRg st="0" end="0"/>
                                            </p:txEl>
                                          </p:spTgt>
                                        </p:tgtEl>
                                        <p:attrNameLst>
                                          <p:attrName>style.visibility</p:attrName>
                                        </p:attrNameLst>
                                      </p:cBhvr>
                                      <p:to>
                                        <p:strVal val="visible"/>
                                      </p:to>
                                    </p:set>
                                    <p:animEffect transition="in" filter="box(out)">
                                      <p:cBhvr>
                                        <p:cTn id="38" dur="500"/>
                                        <p:tgtEl>
                                          <p:spTgt spid="12489">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12491"/>
                                        </p:tgtEl>
                                        <p:attrNameLst>
                                          <p:attrName>style.visibility</p:attrName>
                                        </p:attrNameLst>
                                      </p:cBhvr>
                                      <p:to>
                                        <p:strVal val="visible"/>
                                      </p:to>
                                    </p:set>
                                    <p:animEffect transition="in" filter="box(in)">
                                      <p:cBhvr>
                                        <p:cTn id="43" dur="500"/>
                                        <p:tgtEl>
                                          <p:spTgt spid="1249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16" fill="hold" grpId="0" nodeType="clickEffect">
                                  <p:stCondLst>
                                    <p:cond delay="0"/>
                                  </p:stCondLst>
                                  <p:childTnLst>
                                    <p:set>
                                      <p:cBhvr>
                                        <p:cTn id="47" dur="1" fill="hold">
                                          <p:stCondLst>
                                            <p:cond delay="0"/>
                                          </p:stCondLst>
                                        </p:cTn>
                                        <p:tgtEl>
                                          <p:spTgt spid="12490"/>
                                        </p:tgtEl>
                                        <p:attrNameLst>
                                          <p:attrName>style.visibility</p:attrName>
                                        </p:attrNameLst>
                                      </p:cBhvr>
                                      <p:to>
                                        <p:strVal val="visible"/>
                                      </p:to>
                                    </p:set>
                                    <p:animEffect transition="in" filter="box(in)">
                                      <p:cBhvr>
                                        <p:cTn id="48" dur="500"/>
                                        <p:tgtEl>
                                          <p:spTgt spid="12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20" grpId="0" build="p" autoUpdateAnimBg="0"/>
      <p:bldP spid="12421" grpId="0" build="p" autoUpdateAnimBg="0"/>
      <p:bldP spid="12489" grpId="0" build="p" autoUpdateAnimBg="0"/>
      <p:bldP spid="12490" grpId="0" autoUpdateAnimBg="0"/>
      <p:bldP spid="12491" grpId="0" autoUpdateAnimBg="0"/>
      <p:bldP spid="17445" grpId="0"/>
      <p:bldP spid="17467" grpId="0"/>
      <p:bldP spid="7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96" name="Text Box 536"/>
          <p:cNvSpPr txBox="1">
            <a:spLocks noChangeArrowheads="1"/>
          </p:cNvSpPr>
          <p:nvPr/>
        </p:nvSpPr>
        <p:spPr bwMode="auto">
          <a:xfrm>
            <a:off x="2001838" y="842963"/>
            <a:ext cx="2786062" cy="647700"/>
          </a:xfrm>
          <a:prstGeom prst="rect">
            <a:avLst/>
          </a:prstGeom>
          <a:noFill/>
          <a:ln w="9525">
            <a:noFill/>
            <a:miter lim="800000"/>
            <a:headEnd/>
            <a:tailEnd/>
          </a:ln>
        </p:spPr>
        <p:txBody>
          <a:bodyPr anchor="ctr">
            <a:spAutoFit/>
          </a:bodyPr>
          <a:lstStyle/>
          <a:p>
            <a:pPr algn="ctr"/>
            <a:r>
              <a:rPr lang="zh-CN" altLang="en-US" sz="1800" b="1">
                <a:solidFill>
                  <a:srgbClr val="0000FF"/>
                </a:solidFill>
                <a:latin typeface="楷体_GB2312"/>
                <a:ea typeface="华文中宋"/>
                <a:cs typeface="华文中宋"/>
              </a:rPr>
              <a:t>１、形变的分类</a:t>
            </a:r>
          </a:p>
          <a:p>
            <a:pPr algn="ctr"/>
            <a:r>
              <a:rPr lang="zh-CN" altLang="en-US" sz="1800" b="1">
                <a:latin typeface="楷体_GB2312"/>
                <a:ea typeface="华文中宋"/>
                <a:cs typeface="华文中宋"/>
              </a:rPr>
              <a:t>长变、容变、切变</a:t>
            </a:r>
          </a:p>
        </p:txBody>
      </p:sp>
      <p:sp>
        <p:nvSpPr>
          <p:cNvPr id="15898" name="Text Box 538"/>
          <p:cNvSpPr txBox="1">
            <a:spLocks noChangeArrowheads="1"/>
          </p:cNvSpPr>
          <p:nvPr/>
        </p:nvSpPr>
        <p:spPr bwMode="auto">
          <a:xfrm>
            <a:off x="5435600" y="844550"/>
            <a:ext cx="3097213" cy="647700"/>
          </a:xfrm>
          <a:prstGeom prst="rect">
            <a:avLst/>
          </a:prstGeom>
          <a:noFill/>
          <a:ln w="9525">
            <a:noFill/>
            <a:miter lim="800000"/>
            <a:headEnd/>
            <a:tailEnd/>
          </a:ln>
        </p:spPr>
        <p:txBody>
          <a:bodyPr anchor="ctr">
            <a:spAutoFit/>
          </a:bodyPr>
          <a:lstStyle/>
          <a:p>
            <a:pPr algn="ctr"/>
            <a:r>
              <a:rPr lang="zh-CN" altLang="en-US" sz="1800" b="1">
                <a:solidFill>
                  <a:srgbClr val="0000FF"/>
                </a:solidFill>
                <a:latin typeface="楷体_GB2312"/>
                <a:ea typeface="华文中宋"/>
                <a:cs typeface="华文中宋"/>
              </a:rPr>
              <a:t>２、形变的度量</a:t>
            </a:r>
          </a:p>
          <a:p>
            <a:pPr algn="ctr"/>
            <a:r>
              <a:rPr lang="zh-CN" altLang="en-US" sz="1800" b="1">
                <a:latin typeface="楷体_GB2312"/>
                <a:ea typeface="华文中宋"/>
                <a:cs typeface="华文中宋"/>
              </a:rPr>
              <a:t>胁变（应变）</a:t>
            </a:r>
          </a:p>
        </p:txBody>
      </p:sp>
      <p:sp>
        <p:nvSpPr>
          <p:cNvPr id="15900" name="Text Box 540"/>
          <p:cNvSpPr txBox="1">
            <a:spLocks noChangeArrowheads="1"/>
          </p:cNvSpPr>
          <p:nvPr/>
        </p:nvSpPr>
        <p:spPr bwMode="auto">
          <a:xfrm>
            <a:off x="5462588" y="1690688"/>
            <a:ext cx="1409700" cy="369887"/>
          </a:xfrm>
          <a:prstGeom prst="rect">
            <a:avLst/>
          </a:prstGeom>
          <a:noFill/>
          <a:ln w="9525">
            <a:noFill/>
            <a:miter lim="800000"/>
            <a:headEnd/>
            <a:tailEnd/>
          </a:ln>
        </p:spPr>
        <p:txBody>
          <a:bodyPr anchor="ctr">
            <a:spAutoFit/>
          </a:bodyPr>
          <a:lstStyle/>
          <a:p>
            <a:pPr algn="ctr"/>
            <a:r>
              <a:rPr lang="zh-CN" altLang="en-US" sz="1800" b="1">
                <a:latin typeface="黑体" pitchFamily="49" charset="-122"/>
                <a:ea typeface="华文中宋"/>
                <a:cs typeface="华文中宋"/>
              </a:rPr>
              <a:t>长胁变：</a:t>
            </a:r>
          </a:p>
        </p:txBody>
      </p:sp>
      <p:graphicFrame>
        <p:nvGraphicFramePr>
          <p:cNvPr id="15901" name="Object 172"/>
          <p:cNvGraphicFramePr>
            <a:graphicFrameLocks noChangeAspect="1"/>
          </p:cNvGraphicFramePr>
          <p:nvPr/>
        </p:nvGraphicFramePr>
        <p:xfrm>
          <a:off x="6945313" y="1600200"/>
          <a:ext cx="1227137" cy="588963"/>
        </p:xfrm>
        <a:graphic>
          <a:graphicData uri="http://schemas.openxmlformats.org/presentationml/2006/ole">
            <p:oleObj spid="_x0000_s23724" name="公式" r:id="rId3" imgW="520474" imgH="317362" progId="Equation.3">
              <p:embed/>
            </p:oleObj>
          </a:graphicData>
        </a:graphic>
      </p:graphicFrame>
      <p:sp>
        <p:nvSpPr>
          <p:cNvPr id="15903" name="Text Box 543"/>
          <p:cNvSpPr txBox="1">
            <a:spLocks noChangeArrowheads="1"/>
          </p:cNvSpPr>
          <p:nvPr/>
        </p:nvSpPr>
        <p:spPr bwMode="auto">
          <a:xfrm>
            <a:off x="5435600" y="2741613"/>
            <a:ext cx="1409700" cy="369887"/>
          </a:xfrm>
          <a:prstGeom prst="rect">
            <a:avLst/>
          </a:prstGeom>
          <a:noFill/>
          <a:ln w="9525">
            <a:noFill/>
            <a:miter lim="800000"/>
            <a:headEnd/>
            <a:tailEnd/>
          </a:ln>
        </p:spPr>
        <p:txBody>
          <a:bodyPr anchor="ctr">
            <a:spAutoFit/>
          </a:bodyPr>
          <a:lstStyle/>
          <a:p>
            <a:pPr algn="ctr"/>
            <a:r>
              <a:rPr lang="zh-CN" altLang="en-US" sz="1800" b="1">
                <a:latin typeface="黑体" pitchFamily="49" charset="-122"/>
                <a:ea typeface="华文中宋"/>
                <a:cs typeface="华文中宋"/>
              </a:rPr>
              <a:t>容胁变：</a:t>
            </a:r>
          </a:p>
        </p:txBody>
      </p:sp>
      <p:graphicFrame>
        <p:nvGraphicFramePr>
          <p:cNvPr id="15904" name="Object 173"/>
          <p:cNvGraphicFramePr>
            <a:graphicFrameLocks noChangeAspect="1"/>
          </p:cNvGraphicFramePr>
          <p:nvPr/>
        </p:nvGraphicFramePr>
        <p:xfrm>
          <a:off x="6837363" y="2679700"/>
          <a:ext cx="1443037" cy="528638"/>
        </p:xfrm>
        <a:graphic>
          <a:graphicData uri="http://schemas.openxmlformats.org/presentationml/2006/ole">
            <p:oleObj spid="_x0000_s23725" name="公式" r:id="rId4" imgW="634449" imgH="317225" progId="Equation.3">
              <p:embed/>
            </p:oleObj>
          </a:graphicData>
        </a:graphic>
      </p:graphicFrame>
      <p:graphicFrame>
        <p:nvGraphicFramePr>
          <p:cNvPr id="15906" name="Object 174"/>
          <p:cNvGraphicFramePr>
            <a:graphicFrameLocks noChangeAspect="1"/>
          </p:cNvGraphicFramePr>
          <p:nvPr/>
        </p:nvGraphicFramePr>
        <p:xfrm>
          <a:off x="6708775" y="3914775"/>
          <a:ext cx="1679575" cy="554038"/>
        </p:xfrm>
        <a:graphic>
          <a:graphicData uri="http://schemas.openxmlformats.org/presentationml/2006/ole">
            <p:oleObj spid="_x0000_s23726" name="Equation" r:id="rId5" imgW="863225" imgH="393529" progId="Equation.DSMT4">
              <p:embed/>
            </p:oleObj>
          </a:graphicData>
        </a:graphic>
      </p:graphicFrame>
      <p:sp>
        <p:nvSpPr>
          <p:cNvPr id="15911" name="Text Box 551"/>
          <p:cNvSpPr txBox="1">
            <a:spLocks noChangeArrowheads="1"/>
          </p:cNvSpPr>
          <p:nvPr/>
        </p:nvSpPr>
        <p:spPr bwMode="auto">
          <a:xfrm>
            <a:off x="1031875" y="1563688"/>
            <a:ext cx="1031875" cy="323850"/>
          </a:xfrm>
          <a:prstGeom prst="rect">
            <a:avLst/>
          </a:prstGeom>
          <a:noFill/>
          <a:ln w="9525">
            <a:noFill/>
            <a:miter lim="800000"/>
            <a:headEnd/>
            <a:tailEnd/>
          </a:ln>
        </p:spPr>
        <p:txBody>
          <a:bodyPr anchor="ctr">
            <a:spAutoFit/>
          </a:bodyPr>
          <a:lstStyle/>
          <a:p>
            <a:pPr algn="ctr"/>
            <a:r>
              <a:rPr lang="zh-CN" altLang="en-US" sz="1500" b="1">
                <a:latin typeface="楷体_GB2312"/>
                <a:ea typeface="华文中宋"/>
                <a:cs typeface="华文中宋"/>
              </a:rPr>
              <a:t>长变：</a:t>
            </a:r>
          </a:p>
        </p:txBody>
      </p:sp>
      <p:grpSp>
        <p:nvGrpSpPr>
          <p:cNvPr id="2" name="Group 663"/>
          <p:cNvGrpSpPr>
            <a:grpSpLocks/>
          </p:cNvGrpSpPr>
          <p:nvPr/>
        </p:nvGrpSpPr>
        <p:grpSpPr bwMode="auto">
          <a:xfrm>
            <a:off x="1985963" y="1492250"/>
            <a:ext cx="3306762" cy="669925"/>
            <a:chOff x="721" y="1071"/>
            <a:chExt cx="2115" cy="717"/>
          </a:xfrm>
        </p:grpSpPr>
        <p:grpSp>
          <p:nvGrpSpPr>
            <p:cNvPr id="23826" name="Group 552"/>
            <p:cNvGrpSpPr>
              <a:grpSpLocks/>
            </p:cNvGrpSpPr>
            <p:nvPr/>
          </p:nvGrpSpPr>
          <p:grpSpPr bwMode="auto">
            <a:xfrm>
              <a:off x="721" y="1290"/>
              <a:ext cx="2115" cy="498"/>
              <a:chOff x="672" y="768"/>
              <a:chExt cx="2319" cy="535"/>
            </a:xfrm>
          </p:grpSpPr>
          <p:grpSp>
            <p:nvGrpSpPr>
              <p:cNvPr id="23827" name="Group 553"/>
              <p:cNvGrpSpPr>
                <a:grpSpLocks/>
              </p:cNvGrpSpPr>
              <p:nvPr/>
            </p:nvGrpSpPr>
            <p:grpSpPr bwMode="auto">
              <a:xfrm>
                <a:off x="672" y="768"/>
                <a:ext cx="2304" cy="535"/>
                <a:chOff x="672" y="768"/>
                <a:chExt cx="2304" cy="535"/>
              </a:xfrm>
            </p:grpSpPr>
            <p:grpSp>
              <p:nvGrpSpPr>
                <p:cNvPr id="23828" name="Group 554"/>
                <p:cNvGrpSpPr>
                  <a:grpSpLocks/>
                </p:cNvGrpSpPr>
                <p:nvPr/>
              </p:nvGrpSpPr>
              <p:grpSpPr bwMode="auto">
                <a:xfrm>
                  <a:off x="672" y="768"/>
                  <a:ext cx="2304" cy="96"/>
                  <a:chOff x="480" y="864"/>
                  <a:chExt cx="2976" cy="192"/>
                </a:xfrm>
              </p:grpSpPr>
              <p:grpSp>
                <p:nvGrpSpPr>
                  <p:cNvPr id="23835" name="Group 555"/>
                  <p:cNvGrpSpPr>
                    <a:grpSpLocks/>
                  </p:cNvGrpSpPr>
                  <p:nvPr/>
                </p:nvGrpSpPr>
                <p:grpSpPr bwMode="auto">
                  <a:xfrm>
                    <a:off x="816" y="864"/>
                    <a:ext cx="2304" cy="192"/>
                    <a:chOff x="432" y="864"/>
                    <a:chExt cx="2304" cy="192"/>
                  </a:xfrm>
                </p:grpSpPr>
                <p:sp>
                  <p:nvSpPr>
                    <p:cNvPr id="23838" name="Rectangle 556"/>
                    <p:cNvSpPr>
                      <a:spLocks noChangeArrowheads="1"/>
                    </p:cNvSpPr>
                    <p:nvPr/>
                  </p:nvSpPr>
                  <p:spPr bwMode="auto">
                    <a:xfrm>
                      <a:off x="432" y="912"/>
                      <a:ext cx="2304" cy="96"/>
                    </a:xfrm>
                    <a:prstGeom prst="rect">
                      <a:avLst/>
                    </a:prstGeom>
                    <a:solidFill>
                      <a:srgbClr val="D5FDFF"/>
                    </a:solidFill>
                    <a:ln w="9525">
                      <a:solidFill>
                        <a:schemeClr val="tx1"/>
                      </a:solidFill>
                      <a:prstDash val="sysDot"/>
                      <a:miter lim="800000"/>
                      <a:headEnd/>
                      <a:tailEnd/>
                    </a:ln>
                  </p:spPr>
                  <p:txBody>
                    <a:bodyPr wrap="none" anchor="ctr"/>
                    <a:lstStyle/>
                    <a:p>
                      <a:endParaRPr lang="zh-CN" altLang="en-US"/>
                    </a:p>
                  </p:txBody>
                </p:sp>
                <p:sp>
                  <p:nvSpPr>
                    <p:cNvPr id="23839" name="Rectangle 557"/>
                    <p:cNvSpPr>
                      <a:spLocks noChangeArrowheads="1"/>
                    </p:cNvSpPr>
                    <p:nvPr/>
                  </p:nvSpPr>
                  <p:spPr bwMode="auto">
                    <a:xfrm>
                      <a:off x="672" y="864"/>
                      <a:ext cx="1824" cy="192"/>
                    </a:xfrm>
                    <a:prstGeom prst="rect">
                      <a:avLst/>
                    </a:prstGeom>
                    <a:solidFill>
                      <a:srgbClr val="D5FDFF"/>
                    </a:solidFill>
                    <a:ln w="9525">
                      <a:solidFill>
                        <a:schemeClr val="tx1"/>
                      </a:solidFill>
                      <a:miter lim="800000"/>
                      <a:headEnd/>
                      <a:tailEnd/>
                    </a:ln>
                  </p:spPr>
                  <p:txBody>
                    <a:bodyPr wrap="none" anchor="ctr"/>
                    <a:lstStyle/>
                    <a:p>
                      <a:endParaRPr lang="zh-CN" altLang="en-US"/>
                    </a:p>
                  </p:txBody>
                </p:sp>
              </p:grpSp>
              <p:sp>
                <p:nvSpPr>
                  <p:cNvPr id="23836" name="Line 558"/>
                  <p:cNvSpPr>
                    <a:spLocks noChangeShapeType="1"/>
                  </p:cNvSpPr>
                  <p:nvPr/>
                </p:nvSpPr>
                <p:spPr bwMode="auto">
                  <a:xfrm>
                    <a:off x="3120" y="960"/>
                    <a:ext cx="336" cy="0"/>
                  </a:xfrm>
                  <a:prstGeom prst="line">
                    <a:avLst/>
                  </a:prstGeom>
                  <a:noFill/>
                  <a:ln w="38100">
                    <a:solidFill>
                      <a:schemeClr val="accent2"/>
                    </a:solidFill>
                    <a:round/>
                    <a:headEnd/>
                    <a:tailEnd type="triangle" w="med" len="med"/>
                  </a:ln>
                </p:spPr>
                <p:txBody>
                  <a:bodyPr wrap="none" anchor="ctr"/>
                  <a:lstStyle/>
                  <a:p>
                    <a:endParaRPr lang="zh-CN" altLang="en-US"/>
                  </a:p>
                </p:txBody>
              </p:sp>
              <p:sp>
                <p:nvSpPr>
                  <p:cNvPr id="23837" name="Line 559"/>
                  <p:cNvSpPr>
                    <a:spLocks noChangeShapeType="1"/>
                  </p:cNvSpPr>
                  <p:nvPr/>
                </p:nvSpPr>
                <p:spPr bwMode="auto">
                  <a:xfrm>
                    <a:off x="480" y="960"/>
                    <a:ext cx="336" cy="0"/>
                  </a:xfrm>
                  <a:prstGeom prst="line">
                    <a:avLst/>
                  </a:prstGeom>
                  <a:noFill/>
                  <a:ln w="38100">
                    <a:solidFill>
                      <a:schemeClr val="accent2"/>
                    </a:solidFill>
                    <a:round/>
                    <a:headEnd type="triangle" w="med" len="med"/>
                    <a:tailEnd/>
                  </a:ln>
                </p:spPr>
                <p:txBody>
                  <a:bodyPr wrap="none" anchor="ctr"/>
                  <a:lstStyle/>
                  <a:p>
                    <a:endParaRPr lang="zh-CN" altLang="en-US"/>
                  </a:p>
                </p:txBody>
              </p:sp>
            </p:grpSp>
            <p:sp>
              <p:nvSpPr>
                <p:cNvPr id="23829" name="Line 560"/>
                <p:cNvSpPr>
                  <a:spLocks noChangeShapeType="1"/>
                </p:cNvSpPr>
                <p:nvPr/>
              </p:nvSpPr>
              <p:spPr bwMode="auto">
                <a:xfrm>
                  <a:off x="960" y="816"/>
                  <a:ext cx="0" cy="336"/>
                </a:xfrm>
                <a:prstGeom prst="line">
                  <a:avLst/>
                </a:prstGeom>
                <a:noFill/>
                <a:ln w="9525">
                  <a:solidFill>
                    <a:schemeClr val="tx1"/>
                  </a:solidFill>
                  <a:round/>
                  <a:headEnd/>
                  <a:tailEnd/>
                </a:ln>
              </p:spPr>
              <p:txBody>
                <a:bodyPr wrap="none" anchor="ctr"/>
                <a:lstStyle/>
                <a:p>
                  <a:endParaRPr lang="zh-CN" altLang="en-US"/>
                </a:p>
              </p:txBody>
            </p:sp>
            <p:sp>
              <p:nvSpPr>
                <p:cNvPr id="23830" name="Line 561"/>
                <p:cNvSpPr>
                  <a:spLocks noChangeShapeType="1"/>
                </p:cNvSpPr>
                <p:nvPr/>
              </p:nvSpPr>
              <p:spPr bwMode="auto">
                <a:xfrm>
                  <a:off x="2688" y="816"/>
                  <a:ext cx="0" cy="336"/>
                </a:xfrm>
                <a:prstGeom prst="line">
                  <a:avLst/>
                </a:prstGeom>
                <a:noFill/>
                <a:ln w="9525">
                  <a:solidFill>
                    <a:schemeClr val="tx1"/>
                  </a:solidFill>
                  <a:round/>
                  <a:headEnd/>
                  <a:tailEnd/>
                </a:ln>
              </p:spPr>
              <p:txBody>
                <a:bodyPr wrap="none" anchor="ctr"/>
                <a:lstStyle/>
                <a:p>
                  <a:endParaRPr lang="zh-CN" altLang="en-US"/>
                </a:p>
              </p:txBody>
            </p:sp>
            <p:sp>
              <p:nvSpPr>
                <p:cNvPr id="23831" name="Line 562"/>
                <p:cNvSpPr>
                  <a:spLocks noChangeShapeType="1"/>
                </p:cNvSpPr>
                <p:nvPr/>
              </p:nvSpPr>
              <p:spPr bwMode="auto">
                <a:xfrm>
                  <a:off x="2544" y="768"/>
                  <a:ext cx="0" cy="288"/>
                </a:xfrm>
                <a:prstGeom prst="line">
                  <a:avLst/>
                </a:prstGeom>
                <a:noFill/>
                <a:ln w="9525">
                  <a:solidFill>
                    <a:schemeClr val="tx1"/>
                  </a:solidFill>
                  <a:round/>
                  <a:headEnd/>
                  <a:tailEnd/>
                </a:ln>
              </p:spPr>
              <p:txBody>
                <a:bodyPr wrap="none" anchor="ctr"/>
                <a:lstStyle/>
                <a:p>
                  <a:endParaRPr lang="zh-CN" altLang="en-US"/>
                </a:p>
              </p:txBody>
            </p:sp>
            <p:sp>
              <p:nvSpPr>
                <p:cNvPr id="23832" name="Line 563"/>
                <p:cNvSpPr>
                  <a:spLocks noChangeShapeType="1"/>
                </p:cNvSpPr>
                <p:nvPr/>
              </p:nvSpPr>
              <p:spPr bwMode="auto">
                <a:xfrm>
                  <a:off x="1104" y="768"/>
                  <a:ext cx="0" cy="288"/>
                </a:xfrm>
                <a:prstGeom prst="line">
                  <a:avLst/>
                </a:prstGeom>
                <a:noFill/>
                <a:ln w="9525">
                  <a:solidFill>
                    <a:schemeClr val="tx1"/>
                  </a:solidFill>
                  <a:round/>
                  <a:headEnd/>
                  <a:tailEnd/>
                </a:ln>
              </p:spPr>
              <p:txBody>
                <a:bodyPr wrap="none" anchor="ctr"/>
                <a:lstStyle/>
                <a:p>
                  <a:endParaRPr lang="zh-CN" altLang="en-US"/>
                </a:p>
              </p:txBody>
            </p:sp>
            <p:sp>
              <p:nvSpPr>
                <p:cNvPr id="23833" name="Line 564"/>
                <p:cNvSpPr>
                  <a:spLocks noChangeShapeType="1"/>
                </p:cNvSpPr>
                <p:nvPr/>
              </p:nvSpPr>
              <p:spPr bwMode="auto">
                <a:xfrm>
                  <a:off x="1104" y="960"/>
                  <a:ext cx="1392" cy="0"/>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23834" name="Line 565"/>
                <p:cNvSpPr>
                  <a:spLocks noChangeShapeType="1"/>
                </p:cNvSpPr>
                <p:nvPr/>
              </p:nvSpPr>
              <p:spPr bwMode="auto">
                <a:xfrm>
                  <a:off x="960" y="1104"/>
                  <a:ext cx="1728" cy="0"/>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graphicFrame>
              <p:nvGraphicFramePr>
                <p:cNvPr id="23727" name="Object 175"/>
                <p:cNvGraphicFramePr>
                  <a:graphicFrameLocks noChangeAspect="1"/>
                </p:cNvGraphicFramePr>
                <p:nvPr/>
              </p:nvGraphicFramePr>
              <p:xfrm>
                <a:off x="1728" y="816"/>
                <a:ext cx="184" cy="336"/>
              </p:xfrm>
              <a:graphic>
                <a:graphicData uri="http://schemas.openxmlformats.org/presentationml/2006/ole">
                  <p:oleObj spid="_x0000_s23727" name="公式" r:id="rId6" imgW="126890" imgH="228402" progId="Equation.3">
                    <p:embed/>
                  </p:oleObj>
                </a:graphicData>
              </a:graphic>
            </p:graphicFrame>
            <p:graphicFrame>
              <p:nvGraphicFramePr>
                <p:cNvPr id="23728" name="Object 176"/>
                <p:cNvGraphicFramePr>
                  <a:graphicFrameLocks noChangeAspect="1"/>
                </p:cNvGraphicFramePr>
                <p:nvPr/>
              </p:nvGraphicFramePr>
              <p:xfrm>
                <a:off x="1246" y="1008"/>
                <a:ext cx="146" cy="295"/>
              </p:xfrm>
              <a:graphic>
                <a:graphicData uri="http://schemas.openxmlformats.org/presentationml/2006/ole">
                  <p:oleObj spid="_x0000_s23728" name="公式" r:id="rId7" imgW="88669" imgH="177338" progId="Equation.3">
                    <p:embed/>
                  </p:oleObj>
                </a:graphicData>
              </a:graphic>
            </p:graphicFrame>
          </p:grpSp>
          <p:graphicFrame>
            <p:nvGraphicFramePr>
              <p:cNvPr id="23729" name="Object 177"/>
              <p:cNvGraphicFramePr>
                <a:graphicFrameLocks noChangeAspect="1"/>
              </p:cNvGraphicFramePr>
              <p:nvPr/>
            </p:nvGraphicFramePr>
            <p:xfrm>
              <a:off x="2784" y="912"/>
              <a:ext cx="207" cy="255"/>
            </p:xfrm>
            <a:graphic>
              <a:graphicData uri="http://schemas.openxmlformats.org/presentationml/2006/ole">
                <p:oleObj spid="_x0000_s23729" name="公式" r:id="rId8" imgW="164957" imgH="203024" progId="Equation.3">
                  <p:embed/>
                </p:oleObj>
              </a:graphicData>
            </a:graphic>
          </p:graphicFrame>
          <p:graphicFrame>
            <p:nvGraphicFramePr>
              <p:cNvPr id="23730" name="Object 178"/>
              <p:cNvGraphicFramePr>
                <a:graphicFrameLocks noChangeAspect="1"/>
              </p:cNvGraphicFramePr>
              <p:nvPr/>
            </p:nvGraphicFramePr>
            <p:xfrm>
              <a:off x="672" y="864"/>
              <a:ext cx="207" cy="255"/>
            </p:xfrm>
            <a:graphic>
              <a:graphicData uri="http://schemas.openxmlformats.org/presentationml/2006/ole">
                <p:oleObj spid="_x0000_s23730" name="公式" r:id="rId9" imgW="164957" imgH="203024" progId="Equation.3">
                  <p:embed/>
                </p:oleObj>
              </a:graphicData>
            </a:graphic>
          </p:graphicFrame>
        </p:grpSp>
        <p:graphicFrame>
          <p:nvGraphicFramePr>
            <p:cNvPr id="23731" name="Object 179"/>
            <p:cNvGraphicFramePr>
              <a:graphicFrameLocks noChangeAspect="1"/>
            </p:cNvGraphicFramePr>
            <p:nvPr/>
          </p:nvGraphicFramePr>
          <p:xfrm>
            <a:off x="2401" y="1071"/>
            <a:ext cx="150" cy="193"/>
          </p:xfrm>
          <a:graphic>
            <a:graphicData uri="http://schemas.openxmlformats.org/presentationml/2006/ole">
              <p:oleObj spid="_x0000_s23731" name="公式" r:id="rId10" imgW="139579" imgH="177646" progId="Equation.3">
                <p:embed/>
              </p:oleObj>
            </a:graphicData>
          </a:graphic>
        </p:graphicFrame>
      </p:grpSp>
      <p:sp>
        <p:nvSpPr>
          <p:cNvPr id="15966" name="Text Box 606"/>
          <p:cNvSpPr txBox="1">
            <a:spLocks noChangeArrowheads="1"/>
          </p:cNvSpPr>
          <p:nvPr/>
        </p:nvSpPr>
        <p:spPr bwMode="auto">
          <a:xfrm>
            <a:off x="1031875" y="2752725"/>
            <a:ext cx="1031875" cy="323850"/>
          </a:xfrm>
          <a:prstGeom prst="rect">
            <a:avLst/>
          </a:prstGeom>
          <a:noFill/>
          <a:ln w="9525">
            <a:noFill/>
            <a:miter lim="800000"/>
            <a:headEnd/>
            <a:tailEnd/>
          </a:ln>
        </p:spPr>
        <p:txBody>
          <a:bodyPr anchor="ctr">
            <a:spAutoFit/>
          </a:bodyPr>
          <a:lstStyle/>
          <a:p>
            <a:pPr algn="ctr"/>
            <a:r>
              <a:rPr lang="zh-CN" altLang="en-US" sz="1500" b="1">
                <a:latin typeface="楷体_GB2312"/>
                <a:ea typeface="华文中宋"/>
                <a:cs typeface="华文中宋"/>
              </a:rPr>
              <a:t>容变：</a:t>
            </a:r>
            <a:endParaRPr lang="zh-CN" altLang="en-US" sz="1500">
              <a:latin typeface="楷体_GB2312"/>
              <a:ea typeface="华文中宋"/>
              <a:cs typeface="华文中宋"/>
            </a:endParaRPr>
          </a:p>
        </p:txBody>
      </p:sp>
      <p:sp>
        <p:nvSpPr>
          <p:cNvPr id="15975" name="Text Box 615"/>
          <p:cNvSpPr txBox="1">
            <a:spLocks noChangeArrowheads="1"/>
          </p:cNvSpPr>
          <p:nvPr/>
        </p:nvSpPr>
        <p:spPr bwMode="auto">
          <a:xfrm>
            <a:off x="1031875" y="3905250"/>
            <a:ext cx="1031875" cy="323850"/>
          </a:xfrm>
          <a:prstGeom prst="rect">
            <a:avLst/>
          </a:prstGeom>
          <a:noFill/>
          <a:ln w="9525">
            <a:noFill/>
            <a:miter lim="800000"/>
            <a:headEnd/>
            <a:tailEnd/>
          </a:ln>
        </p:spPr>
        <p:txBody>
          <a:bodyPr anchor="ctr">
            <a:spAutoFit/>
          </a:bodyPr>
          <a:lstStyle/>
          <a:p>
            <a:pPr algn="ctr"/>
            <a:r>
              <a:rPr lang="zh-CN" altLang="en-US" sz="1500" b="1">
                <a:latin typeface="楷体_GB2312"/>
                <a:ea typeface="华文中宋"/>
                <a:cs typeface="华文中宋"/>
              </a:rPr>
              <a:t>切变：</a:t>
            </a:r>
          </a:p>
        </p:txBody>
      </p:sp>
      <p:grpSp>
        <p:nvGrpSpPr>
          <p:cNvPr id="7" name="Group 670"/>
          <p:cNvGrpSpPr>
            <a:grpSpLocks/>
          </p:cNvGrpSpPr>
          <p:nvPr/>
        </p:nvGrpSpPr>
        <p:grpSpPr bwMode="auto">
          <a:xfrm>
            <a:off x="2257425" y="3671888"/>
            <a:ext cx="3041650" cy="866775"/>
            <a:chOff x="889" y="3067"/>
            <a:chExt cx="1946" cy="927"/>
          </a:xfrm>
        </p:grpSpPr>
        <p:grpSp>
          <p:nvGrpSpPr>
            <p:cNvPr id="23785" name="Group 616"/>
            <p:cNvGrpSpPr>
              <a:grpSpLocks/>
            </p:cNvGrpSpPr>
            <p:nvPr/>
          </p:nvGrpSpPr>
          <p:grpSpPr bwMode="auto">
            <a:xfrm>
              <a:off x="1041" y="3274"/>
              <a:ext cx="1574" cy="720"/>
              <a:chOff x="2736" y="2256"/>
              <a:chExt cx="1922" cy="720"/>
            </a:xfrm>
          </p:grpSpPr>
          <p:sp>
            <p:nvSpPr>
              <p:cNvPr id="23812" name="AutoShape 617"/>
              <p:cNvSpPr>
                <a:spLocks noChangeArrowheads="1"/>
              </p:cNvSpPr>
              <p:nvPr/>
            </p:nvSpPr>
            <p:spPr bwMode="auto">
              <a:xfrm rot="-1009443">
                <a:off x="3984" y="2352"/>
                <a:ext cx="674" cy="541"/>
              </a:xfrm>
              <a:prstGeom prst="parallelogram">
                <a:avLst>
                  <a:gd name="adj" fmla="val 31146"/>
                </a:avLst>
              </a:prstGeom>
              <a:solidFill>
                <a:srgbClr val="E9E7FF"/>
              </a:solidFill>
              <a:ln w="38100">
                <a:solidFill>
                  <a:schemeClr val="accent2"/>
                </a:solidFill>
                <a:prstDash val="dash"/>
                <a:miter lim="800000"/>
                <a:headEnd/>
                <a:tailEnd/>
              </a:ln>
            </p:spPr>
            <p:txBody>
              <a:bodyPr wrap="none" anchor="ctr"/>
              <a:lstStyle/>
              <a:p>
                <a:endParaRPr lang="zh-CN" altLang="en-US"/>
              </a:p>
            </p:txBody>
          </p:sp>
          <p:sp>
            <p:nvSpPr>
              <p:cNvPr id="23813" name="AutoShape 618"/>
              <p:cNvSpPr>
                <a:spLocks noChangeArrowheads="1"/>
              </p:cNvSpPr>
              <p:nvPr/>
            </p:nvSpPr>
            <p:spPr bwMode="auto">
              <a:xfrm rot="-1009443">
                <a:off x="2736" y="2352"/>
                <a:ext cx="674" cy="541"/>
              </a:xfrm>
              <a:prstGeom prst="parallelogram">
                <a:avLst>
                  <a:gd name="adj" fmla="val 31146"/>
                </a:avLst>
              </a:prstGeom>
              <a:solidFill>
                <a:srgbClr val="E9E7FF"/>
              </a:solidFill>
              <a:ln w="38100">
                <a:solidFill>
                  <a:schemeClr val="accent2"/>
                </a:solidFill>
                <a:prstDash val="dash"/>
                <a:miter lim="800000"/>
                <a:headEnd/>
                <a:tailEnd/>
              </a:ln>
            </p:spPr>
            <p:txBody>
              <a:bodyPr wrap="none" anchor="ctr"/>
              <a:lstStyle/>
              <a:p>
                <a:endParaRPr lang="zh-CN" altLang="en-US"/>
              </a:p>
            </p:txBody>
          </p:sp>
          <p:grpSp>
            <p:nvGrpSpPr>
              <p:cNvPr id="23814" name="Group 619"/>
              <p:cNvGrpSpPr>
                <a:grpSpLocks/>
              </p:cNvGrpSpPr>
              <p:nvPr/>
            </p:nvGrpSpPr>
            <p:grpSpPr bwMode="auto">
              <a:xfrm>
                <a:off x="2832" y="2400"/>
                <a:ext cx="1296" cy="576"/>
                <a:chOff x="2832" y="2400"/>
                <a:chExt cx="1296" cy="672"/>
              </a:xfrm>
            </p:grpSpPr>
            <p:sp>
              <p:nvSpPr>
                <p:cNvPr id="23821" name="Line 620"/>
                <p:cNvSpPr>
                  <a:spLocks noChangeShapeType="1"/>
                </p:cNvSpPr>
                <p:nvPr/>
              </p:nvSpPr>
              <p:spPr bwMode="auto">
                <a:xfrm>
                  <a:off x="4080" y="2400"/>
                  <a:ext cx="0" cy="672"/>
                </a:xfrm>
                <a:prstGeom prst="line">
                  <a:avLst/>
                </a:prstGeom>
                <a:noFill/>
                <a:ln w="38100">
                  <a:solidFill>
                    <a:schemeClr val="accent2"/>
                  </a:solidFill>
                  <a:round/>
                  <a:headEnd/>
                  <a:tailEnd/>
                </a:ln>
              </p:spPr>
              <p:txBody>
                <a:bodyPr wrap="none" anchor="ctr"/>
                <a:lstStyle/>
                <a:p>
                  <a:endParaRPr lang="zh-CN" altLang="en-US"/>
                </a:p>
              </p:txBody>
            </p:sp>
            <p:grpSp>
              <p:nvGrpSpPr>
                <p:cNvPr id="23822" name="Group 621"/>
                <p:cNvGrpSpPr>
                  <a:grpSpLocks/>
                </p:cNvGrpSpPr>
                <p:nvPr/>
              </p:nvGrpSpPr>
              <p:grpSpPr bwMode="auto">
                <a:xfrm>
                  <a:off x="2832" y="2400"/>
                  <a:ext cx="1296" cy="672"/>
                  <a:chOff x="1968" y="3168"/>
                  <a:chExt cx="1296" cy="672"/>
                </a:xfrm>
              </p:grpSpPr>
              <p:sp>
                <p:nvSpPr>
                  <p:cNvPr id="23823" name="Line 622"/>
                  <p:cNvSpPr>
                    <a:spLocks noChangeShapeType="1"/>
                  </p:cNvSpPr>
                  <p:nvPr/>
                </p:nvSpPr>
                <p:spPr bwMode="auto">
                  <a:xfrm>
                    <a:off x="1968" y="3168"/>
                    <a:ext cx="1296" cy="0"/>
                  </a:xfrm>
                  <a:prstGeom prst="line">
                    <a:avLst/>
                  </a:prstGeom>
                  <a:noFill/>
                  <a:ln w="38100">
                    <a:solidFill>
                      <a:schemeClr val="accent2"/>
                    </a:solidFill>
                    <a:round/>
                    <a:headEnd/>
                    <a:tailEnd/>
                  </a:ln>
                </p:spPr>
                <p:txBody>
                  <a:bodyPr wrap="none" anchor="ctr"/>
                  <a:lstStyle/>
                  <a:p>
                    <a:endParaRPr lang="zh-CN" altLang="en-US"/>
                  </a:p>
                </p:txBody>
              </p:sp>
              <p:sp>
                <p:nvSpPr>
                  <p:cNvPr id="23824" name="Line 623"/>
                  <p:cNvSpPr>
                    <a:spLocks noChangeShapeType="1"/>
                  </p:cNvSpPr>
                  <p:nvPr/>
                </p:nvSpPr>
                <p:spPr bwMode="auto">
                  <a:xfrm>
                    <a:off x="1968" y="3840"/>
                    <a:ext cx="1296" cy="0"/>
                  </a:xfrm>
                  <a:prstGeom prst="line">
                    <a:avLst/>
                  </a:prstGeom>
                  <a:noFill/>
                  <a:ln w="38100">
                    <a:solidFill>
                      <a:schemeClr val="accent2"/>
                    </a:solidFill>
                    <a:round/>
                    <a:headEnd/>
                    <a:tailEnd/>
                  </a:ln>
                </p:spPr>
                <p:txBody>
                  <a:bodyPr wrap="none" anchor="ctr"/>
                  <a:lstStyle/>
                  <a:p>
                    <a:endParaRPr lang="zh-CN" altLang="en-US"/>
                  </a:p>
                </p:txBody>
              </p:sp>
              <p:sp>
                <p:nvSpPr>
                  <p:cNvPr id="23825" name="Line 624"/>
                  <p:cNvSpPr>
                    <a:spLocks noChangeShapeType="1"/>
                  </p:cNvSpPr>
                  <p:nvPr/>
                </p:nvSpPr>
                <p:spPr bwMode="auto">
                  <a:xfrm>
                    <a:off x="1968" y="3168"/>
                    <a:ext cx="0" cy="672"/>
                  </a:xfrm>
                  <a:prstGeom prst="line">
                    <a:avLst/>
                  </a:prstGeom>
                  <a:noFill/>
                  <a:ln w="38100">
                    <a:solidFill>
                      <a:schemeClr val="accent2"/>
                    </a:solidFill>
                    <a:round/>
                    <a:headEnd/>
                    <a:tailEnd/>
                  </a:ln>
                </p:spPr>
                <p:txBody>
                  <a:bodyPr wrap="none" anchor="ctr"/>
                  <a:lstStyle/>
                  <a:p>
                    <a:endParaRPr lang="zh-CN" altLang="en-US"/>
                  </a:p>
                </p:txBody>
              </p:sp>
            </p:grpSp>
          </p:grpSp>
          <p:grpSp>
            <p:nvGrpSpPr>
              <p:cNvPr id="23815" name="Group 625"/>
              <p:cNvGrpSpPr>
                <a:grpSpLocks/>
              </p:cNvGrpSpPr>
              <p:nvPr/>
            </p:nvGrpSpPr>
            <p:grpSpPr bwMode="auto">
              <a:xfrm>
                <a:off x="3312" y="2256"/>
                <a:ext cx="1296" cy="576"/>
                <a:chOff x="2832" y="2400"/>
                <a:chExt cx="1296" cy="672"/>
              </a:xfrm>
            </p:grpSpPr>
            <p:sp>
              <p:nvSpPr>
                <p:cNvPr id="23816" name="Line 626"/>
                <p:cNvSpPr>
                  <a:spLocks noChangeShapeType="1"/>
                </p:cNvSpPr>
                <p:nvPr/>
              </p:nvSpPr>
              <p:spPr bwMode="auto">
                <a:xfrm>
                  <a:off x="4080" y="2400"/>
                  <a:ext cx="0" cy="672"/>
                </a:xfrm>
                <a:prstGeom prst="line">
                  <a:avLst/>
                </a:prstGeom>
                <a:noFill/>
                <a:ln w="38100">
                  <a:solidFill>
                    <a:schemeClr val="accent2"/>
                  </a:solidFill>
                  <a:prstDash val="dash"/>
                  <a:round/>
                  <a:headEnd/>
                  <a:tailEnd/>
                </a:ln>
              </p:spPr>
              <p:txBody>
                <a:bodyPr wrap="none" anchor="ctr"/>
                <a:lstStyle/>
                <a:p>
                  <a:endParaRPr lang="zh-CN" altLang="en-US"/>
                </a:p>
              </p:txBody>
            </p:sp>
            <p:grpSp>
              <p:nvGrpSpPr>
                <p:cNvPr id="23817" name="Group 627"/>
                <p:cNvGrpSpPr>
                  <a:grpSpLocks/>
                </p:cNvGrpSpPr>
                <p:nvPr/>
              </p:nvGrpSpPr>
              <p:grpSpPr bwMode="auto">
                <a:xfrm>
                  <a:off x="2832" y="2400"/>
                  <a:ext cx="1296" cy="672"/>
                  <a:chOff x="1968" y="3168"/>
                  <a:chExt cx="1296" cy="672"/>
                </a:xfrm>
              </p:grpSpPr>
              <p:sp>
                <p:nvSpPr>
                  <p:cNvPr id="23818" name="Line 628"/>
                  <p:cNvSpPr>
                    <a:spLocks noChangeShapeType="1"/>
                  </p:cNvSpPr>
                  <p:nvPr/>
                </p:nvSpPr>
                <p:spPr bwMode="auto">
                  <a:xfrm>
                    <a:off x="1968" y="3168"/>
                    <a:ext cx="1296" cy="0"/>
                  </a:xfrm>
                  <a:prstGeom prst="line">
                    <a:avLst/>
                  </a:prstGeom>
                  <a:noFill/>
                  <a:ln w="38100">
                    <a:solidFill>
                      <a:schemeClr val="accent2"/>
                    </a:solidFill>
                    <a:prstDash val="dash"/>
                    <a:round/>
                    <a:headEnd/>
                    <a:tailEnd/>
                  </a:ln>
                </p:spPr>
                <p:txBody>
                  <a:bodyPr wrap="none" anchor="ctr"/>
                  <a:lstStyle/>
                  <a:p>
                    <a:endParaRPr lang="zh-CN" altLang="en-US"/>
                  </a:p>
                </p:txBody>
              </p:sp>
              <p:sp>
                <p:nvSpPr>
                  <p:cNvPr id="23819" name="Line 629"/>
                  <p:cNvSpPr>
                    <a:spLocks noChangeShapeType="1"/>
                  </p:cNvSpPr>
                  <p:nvPr/>
                </p:nvSpPr>
                <p:spPr bwMode="auto">
                  <a:xfrm>
                    <a:off x="1968" y="3840"/>
                    <a:ext cx="1296" cy="0"/>
                  </a:xfrm>
                  <a:prstGeom prst="line">
                    <a:avLst/>
                  </a:prstGeom>
                  <a:noFill/>
                  <a:ln w="38100">
                    <a:solidFill>
                      <a:schemeClr val="accent2"/>
                    </a:solidFill>
                    <a:prstDash val="dash"/>
                    <a:round/>
                    <a:headEnd/>
                    <a:tailEnd/>
                  </a:ln>
                </p:spPr>
                <p:txBody>
                  <a:bodyPr wrap="none" anchor="ctr"/>
                  <a:lstStyle/>
                  <a:p>
                    <a:endParaRPr lang="zh-CN" altLang="en-US"/>
                  </a:p>
                </p:txBody>
              </p:sp>
              <p:sp>
                <p:nvSpPr>
                  <p:cNvPr id="23820" name="Line 630"/>
                  <p:cNvSpPr>
                    <a:spLocks noChangeShapeType="1"/>
                  </p:cNvSpPr>
                  <p:nvPr/>
                </p:nvSpPr>
                <p:spPr bwMode="auto">
                  <a:xfrm>
                    <a:off x="1968" y="3168"/>
                    <a:ext cx="0" cy="672"/>
                  </a:xfrm>
                  <a:prstGeom prst="line">
                    <a:avLst/>
                  </a:prstGeom>
                  <a:noFill/>
                  <a:ln w="38100">
                    <a:solidFill>
                      <a:schemeClr val="accent2"/>
                    </a:solidFill>
                    <a:prstDash val="dash"/>
                    <a:round/>
                    <a:headEnd/>
                    <a:tailEnd/>
                  </a:ln>
                </p:spPr>
                <p:txBody>
                  <a:bodyPr wrap="none" anchor="ctr"/>
                  <a:lstStyle/>
                  <a:p>
                    <a:endParaRPr lang="zh-CN" altLang="en-US"/>
                  </a:p>
                </p:txBody>
              </p:sp>
            </p:grpSp>
          </p:grpSp>
        </p:grpSp>
        <p:grpSp>
          <p:nvGrpSpPr>
            <p:cNvPr id="23786" name="Group 631"/>
            <p:cNvGrpSpPr>
              <a:grpSpLocks/>
            </p:cNvGrpSpPr>
            <p:nvPr/>
          </p:nvGrpSpPr>
          <p:grpSpPr bwMode="auto">
            <a:xfrm>
              <a:off x="1137" y="3263"/>
              <a:ext cx="1698" cy="720"/>
              <a:chOff x="2823" y="2256"/>
              <a:chExt cx="2073" cy="720"/>
            </a:xfrm>
          </p:grpSpPr>
          <p:grpSp>
            <p:nvGrpSpPr>
              <p:cNvPr id="23795" name="Group 632"/>
              <p:cNvGrpSpPr>
                <a:grpSpLocks/>
              </p:cNvGrpSpPr>
              <p:nvPr/>
            </p:nvGrpSpPr>
            <p:grpSpPr bwMode="auto">
              <a:xfrm>
                <a:off x="2832" y="2256"/>
                <a:ext cx="2064" cy="720"/>
                <a:chOff x="2832" y="2256"/>
                <a:chExt cx="2064" cy="720"/>
              </a:xfrm>
            </p:grpSpPr>
            <p:grpSp>
              <p:nvGrpSpPr>
                <p:cNvPr id="23798" name="Group 633"/>
                <p:cNvGrpSpPr>
                  <a:grpSpLocks/>
                </p:cNvGrpSpPr>
                <p:nvPr/>
              </p:nvGrpSpPr>
              <p:grpSpPr bwMode="auto">
                <a:xfrm>
                  <a:off x="2832" y="2256"/>
                  <a:ext cx="2064" cy="720"/>
                  <a:chOff x="2832" y="2256"/>
                  <a:chExt cx="2064" cy="720"/>
                </a:xfrm>
              </p:grpSpPr>
              <p:grpSp>
                <p:nvGrpSpPr>
                  <p:cNvPr id="23802" name="Group 634"/>
                  <p:cNvGrpSpPr>
                    <a:grpSpLocks/>
                  </p:cNvGrpSpPr>
                  <p:nvPr/>
                </p:nvGrpSpPr>
                <p:grpSpPr bwMode="auto">
                  <a:xfrm>
                    <a:off x="2832" y="2256"/>
                    <a:ext cx="816" cy="720"/>
                    <a:chOff x="2832" y="2256"/>
                    <a:chExt cx="816" cy="720"/>
                  </a:xfrm>
                </p:grpSpPr>
                <p:sp>
                  <p:nvSpPr>
                    <p:cNvPr id="23810" name="Line 635"/>
                    <p:cNvSpPr>
                      <a:spLocks noChangeShapeType="1"/>
                    </p:cNvSpPr>
                    <p:nvPr/>
                  </p:nvSpPr>
                  <p:spPr bwMode="auto">
                    <a:xfrm flipH="1">
                      <a:off x="2832" y="2400"/>
                      <a:ext cx="336" cy="576"/>
                    </a:xfrm>
                    <a:prstGeom prst="line">
                      <a:avLst/>
                    </a:prstGeom>
                    <a:noFill/>
                    <a:ln w="38100">
                      <a:solidFill>
                        <a:srgbClr val="CC6600"/>
                      </a:solidFill>
                      <a:prstDash val="dash"/>
                      <a:round/>
                      <a:headEnd/>
                      <a:tailEnd/>
                    </a:ln>
                  </p:spPr>
                  <p:txBody>
                    <a:bodyPr wrap="none" anchor="ctr"/>
                    <a:lstStyle/>
                    <a:p>
                      <a:endParaRPr lang="zh-CN" altLang="en-US"/>
                    </a:p>
                  </p:txBody>
                </p:sp>
                <p:sp>
                  <p:nvSpPr>
                    <p:cNvPr id="23811" name="Line 636"/>
                    <p:cNvSpPr>
                      <a:spLocks noChangeShapeType="1"/>
                    </p:cNvSpPr>
                    <p:nvPr/>
                  </p:nvSpPr>
                  <p:spPr bwMode="auto">
                    <a:xfrm flipH="1">
                      <a:off x="3312" y="2256"/>
                      <a:ext cx="336" cy="576"/>
                    </a:xfrm>
                    <a:prstGeom prst="line">
                      <a:avLst/>
                    </a:prstGeom>
                    <a:noFill/>
                    <a:ln w="38100">
                      <a:solidFill>
                        <a:srgbClr val="CC6600"/>
                      </a:solidFill>
                      <a:prstDash val="dash"/>
                      <a:round/>
                      <a:headEnd/>
                      <a:tailEnd/>
                    </a:ln>
                  </p:spPr>
                  <p:txBody>
                    <a:bodyPr wrap="none" anchor="ctr"/>
                    <a:lstStyle/>
                    <a:p>
                      <a:endParaRPr lang="zh-CN" altLang="en-US"/>
                    </a:p>
                  </p:txBody>
                </p:sp>
              </p:grpSp>
              <p:grpSp>
                <p:nvGrpSpPr>
                  <p:cNvPr id="23803" name="Group 637"/>
                  <p:cNvGrpSpPr>
                    <a:grpSpLocks/>
                  </p:cNvGrpSpPr>
                  <p:nvPr/>
                </p:nvGrpSpPr>
                <p:grpSpPr bwMode="auto">
                  <a:xfrm>
                    <a:off x="4080" y="2256"/>
                    <a:ext cx="816" cy="720"/>
                    <a:chOff x="2832" y="2256"/>
                    <a:chExt cx="816" cy="720"/>
                  </a:xfrm>
                </p:grpSpPr>
                <p:sp>
                  <p:nvSpPr>
                    <p:cNvPr id="23808" name="Line 638"/>
                    <p:cNvSpPr>
                      <a:spLocks noChangeShapeType="1"/>
                    </p:cNvSpPr>
                    <p:nvPr/>
                  </p:nvSpPr>
                  <p:spPr bwMode="auto">
                    <a:xfrm flipH="1">
                      <a:off x="2832" y="2400"/>
                      <a:ext cx="336" cy="576"/>
                    </a:xfrm>
                    <a:prstGeom prst="line">
                      <a:avLst/>
                    </a:prstGeom>
                    <a:noFill/>
                    <a:ln w="38100">
                      <a:solidFill>
                        <a:srgbClr val="CC6600"/>
                      </a:solidFill>
                      <a:prstDash val="dash"/>
                      <a:round/>
                      <a:headEnd/>
                      <a:tailEnd/>
                    </a:ln>
                  </p:spPr>
                  <p:txBody>
                    <a:bodyPr wrap="none" anchor="ctr"/>
                    <a:lstStyle/>
                    <a:p>
                      <a:endParaRPr lang="zh-CN" altLang="en-US"/>
                    </a:p>
                  </p:txBody>
                </p:sp>
                <p:sp>
                  <p:nvSpPr>
                    <p:cNvPr id="23809" name="Line 639"/>
                    <p:cNvSpPr>
                      <a:spLocks noChangeShapeType="1"/>
                    </p:cNvSpPr>
                    <p:nvPr/>
                  </p:nvSpPr>
                  <p:spPr bwMode="auto">
                    <a:xfrm flipH="1">
                      <a:off x="3312" y="2256"/>
                      <a:ext cx="336" cy="576"/>
                    </a:xfrm>
                    <a:prstGeom prst="line">
                      <a:avLst/>
                    </a:prstGeom>
                    <a:noFill/>
                    <a:ln w="38100">
                      <a:solidFill>
                        <a:srgbClr val="CC6600"/>
                      </a:solidFill>
                      <a:prstDash val="dash"/>
                      <a:round/>
                      <a:headEnd/>
                      <a:tailEnd/>
                    </a:ln>
                  </p:spPr>
                  <p:txBody>
                    <a:bodyPr wrap="none" anchor="ctr"/>
                    <a:lstStyle/>
                    <a:p>
                      <a:endParaRPr lang="zh-CN" altLang="en-US"/>
                    </a:p>
                  </p:txBody>
                </p:sp>
              </p:grpSp>
              <p:sp>
                <p:nvSpPr>
                  <p:cNvPr id="23804" name="Line 640"/>
                  <p:cNvSpPr>
                    <a:spLocks noChangeShapeType="1"/>
                  </p:cNvSpPr>
                  <p:nvPr/>
                </p:nvSpPr>
                <p:spPr bwMode="auto">
                  <a:xfrm>
                    <a:off x="3168" y="2400"/>
                    <a:ext cx="1248" cy="0"/>
                  </a:xfrm>
                  <a:prstGeom prst="line">
                    <a:avLst/>
                  </a:prstGeom>
                  <a:noFill/>
                  <a:ln w="38100">
                    <a:solidFill>
                      <a:srgbClr val="CC6600"/>
                    </a:solidFill>
                    <a:prstDash val="dash"/>
                    <a:round/>
                    <a:headEnd/>
                    <a:tailEnd/>
                  </a:ln>
                </p:spPr>
                <p:txBody>
                  <a:bodyPr wrap="none" anchor="ctr"/>
                  <a:lstStyle/>
                  <a:p>
                    <a:endParaRPr lang="zh-CN" altLang="en-US"/>
                  </a:p>
                </p:txBody>
              </p:sp>
              <p:sp>
                <p:nvSpPr>
                  <p:cNvPr id="23805" name="Line 641"/>
                  <p:cNvSpPr>
                    <a:spLocks noChangeShapeType="1"/>
                  </p:cNvSpPr>
                  <p:nvPr/>
                </p:nvSpPr>
                <p:spPr bwMode="auto">
                  <a:xfrm>
                    <a:off x="3648" y="2256"/>
                    <a:ext cx="1248" cy="0"/>
                  </a:xfrm>
                  <a:prstGeom prst="line">
                    <a:avLst/>
                  </a:prstGeom>
                  <a:noFill/>
                  <a:ln w="38100">
                    <a:solidFill>
                      <a:srgbClr val="CC6600"/>
                    </a:solidFill>
                    <a:prstDash val="dash"/>
                    <a:round/>
                    <a:headEnd/>
                    <a:tailEnd/>
                  </a:ln>
                </p:spPr>
                <p:txBody>
                  <a:bodyPr wrap="none" anchor="ctr"/>
                  <a:lstStyle/>
                  <a:p>
                    <a:endParaRPr lang="zh-CN" altLang="en-US"/>
                  </a:p>
                </p:txBody>
              </p:sp>
              <p:sp>
                <p:nvSpPr>
                  <p:cNvPr id="23806" name="Line 642"/>
                  <p:cNvSpPr>
                    <a:spLocks noChangeShapeType="1"/>
                  </p:cNvSpPr>
                  <p:nvPr/>
                </p:nvSpPr>
                <p:spPr bwMode="auto">
                  <a:xfrm flipV="1">
                    <a:off x="3168" y="2256"/>
                    <a:ext cx="480" cy="144"/>
                  </a:xfrm>
                  <a:prstGeom prst="line">
                    <a:avLst/>
                  </a:prstGeom>
                  <a:noFill/>
                  <a:ln w="38100">
                    <a:solidFill>
                      <a:srgbClr val="CC6600"/>
                    </a:solidFill>
                    <a:prstDash val="dash"/>
                    <a:round/>
                    <a:headEnd/>
                    <a:tailEnd/>
                  </a:ln>
                </p:spPr>
                <p:txBody>
                  <a:bodyPr wrap="none" anchor="ctr"/>
                  <a:lstStyle/>
                  <a:p>
                    <a:endParaRPr lang="zh-CN" altLang="en-US"/>
                  </a:p>
                </p:txBody>
              </p:sp>
              <p:sp>
                <p:nvSpPr>
                  <p:cNvPr id="23807" name="Line 643"/>
                  <p:cNvSpPr>
                    <a:spLocks noChangeShapeType="1"/>
                  </p:cNvSpPr>
                  <p:nvPr/>
                </p:nvSpPr>
                <p:spPr bwMode="auto">
                  <a:xfrm flipV="1">
                    <a:off x="4416" y="2256"/>
                    <a:ext cx="480" cy="144"/>
                  </a:xfrm>
                  <a:prstGeom prst="line">
                    <a:avLst/>
                  </a:prstGeom>
                  <a:noFill/>
                  <a:ln w="38100">
                    <a:solidFill>
                      <a:srgbClr val="CC6600"/>
                    </a:solidFill>
                    <a:prstDash val="dash"/>
                    <a:round/>
                    <a:headEnd/>
                    <a:tailEnd/>
                  </a:ln>
                </p:spPr>
                <p:txBody>
                  <a:bodyPr wrap="none" anchor="ctr"/>
                  <a:lstStyle/>
                  <a:p>
                    <a:endParaRPr lang="zh-CN" altLang="en-US"/>
                  </a:p>
                </p:txBody>
              </p:sp>
            </p:grpSp>
            <p:grpSp>
              <p:nvGrpSpPr>
                <p:cNvPr id="23799" name="Group 644"/>
                <p:cNvGrpSpPr>
                  <a:grpSpLocks/>
                </p:cNvGrpSpPr>
                <p:nvPr/>
              </p:nvGrpSpPr>
              <p:grpSpPr bwMode="auto">
                <a:xfrm>
                  <a:off x="3600" y="2304"/>
                  <a:ext cx="576" cy="48"/>
                  <a:chOff x="3408" y="2304"/>
                  <a:chExt cx="576" cy="48"/>
                </a:xfrm>
              </p:grpSpPr>
              <p:sp>
                <p:nvSpPr>
                  <p:cNvPr id="23800" name="Line 645"/>
                  <p:cNvSpPr>
                    <a:spLocks noChangeShapeType="1"/>
                  </p:cNvSpPr>
                  <p:nvPr/>
                </p:nvSpPr>
                <p:spPr bwMode="auto">
                  <a:xfrm>
                    <a:off x="3408" y="2352"/>
                    <a:ext cx="432" cy="0"/>
                  </a:xfrm>
                  <a:prstGeom prst="line">
                    <a:avLst/>
                  </a:prstGeom>
                  <a:noFill/>
                  <a:ln w="38100">
                    <a:solidFill>
                      <a:srgbClr val="9999FF"/>
                    </a:solidFill>
                    <a:round/>
                    <a:headEnd/>
                    <a:tailEnd type="triangle" w="med" len="med"/>
                  </a:ln>
                </p:spPr>
                <p:txBody>
                  <a:bodyPr wrap="none" anchor="ctr"/>
                  <a:lstStyle/>
                  <a:p>
                    <a:endParaRPr lang="zh-CN" altLang="en-US"/>
                  </a:p>
                </p:txBody>
              </p:sp>
              <p:sp>
                <p:nvSpPr>
                  <p:cNvPr id="23801" name="Line 646"/>
                  <p:cNvSpPr>
                    <a:spLocks noChangeShapeType="1"/>
                  </p:cNvSpPr>
                  <p:nvPr/>
                </p:nvSpPr>
                <p:spPr bwMode="auto">
                  <a:xfrm>
                    <a:off x="3552" y="2304"/>
                    <a:ext cx="432" cy="0"/>
                  </a:xfrm>
                  <a:prstGeom prst="line">
                    <a:avLst/>
                  </a:prstGeom>
                  <a:noFill/>
                  <a:ln w="38100">
                    <a:solidFill>
                      <a:srgbClr val="9999FF"/>
                    </a:solidFill>
                    <a:round/>
                    <a:headEnd/>
                    <a:tailEnd type="triangle" w="med" len="med"/>
                  </a:ln>
                </p:spPr>
                <p:txBody>
                  <a:bodyPr wrap="none" anchor="ctr"/>
                  <a:lstStyle/>
                  <a:p>
                    <a:endParaRPr lang="zh-CN" altLang="en-US"/>
                  </a:p>
                </p:txBody>
              </p:sp>
            </p:grpSp>
          </p:grpSp>
          <p:sp>
            <p:nvSpPr>
              <p:cNvPr id="23796" name="Freeform 647"/>
              <p:cNvSpPr>
                <a:spLocks/>
              </p:cNvSpPr>
              <p:nvPr/>
            </p:nvSpPr>
            <p:spPr bwMode="auto">
              <a:xfrm>
                <a:off x="2823" y="2700"/>
                <a:ext cx="122" cy="89"/>
              </a:xfrm>
              <a:custGeom>
                <a:avLst/>
                <a:gdLst>
                  <a:gd name="T0" fmla="*/ 0 w 122"/>
                  <a:gd name="T1" fmla="*/ 0 h 89"/>
                  <a:gd name="T2" fmla="*/ 100 w 122"/>
                  <a:gd name="T3" fmla="*/ 44 h 89"/>
                  <a:gd name="T4" fmla="*/ 122 w 122"/>
                  <a:gd name="T5" fmla="*/ 89 h 89"/>
                  <a:gd name="T6" fmla="*/ 0 60000 65536"/>
                  <a:gd name="T7" fmla="*/ 0 60000 65536"/>
                  <a:gd name="T8" fmla="*/ 0 60000 65536"/>
                  <a:gd name="T9" fmla="*/ 0 w 122"/>
                  <a:gd name="T10" fmla="*/ 0 h 89"/>
                  <a:gd name="T11" fmla="*/ 122 w 122"/>
                  <a:gd name="T12" fmla="*/ 89 h 89"/>
                </a:gdLst>
                <a:ahLst/>
                <a:cxnLst>
                  <a:cxn ang="T6">
                    <a:pos x="T0" y="T1"/>
                  </a:cxn>
                  <a:cxn ang="T7">
                    <a:pos x="T2" y="T3"/>
                  </a:cxn>
                  <a:cxn ang="T8">
                    <a:pos x="T4" y="T5"/>
                  </a:cxn>
                </a:cxnLst>
                <a:rect l="T9" t="T10" r="T11" b="T12"/>
                <a:pathLst>
                  <a:path w="122" h="89">
                    <a:moveTo>
                      <a:pt x="0" y="0"/>
                    </a:moveTo>
                    <a:cubicBezTo>
                      <a:pt x="42" y="10"/>
                      <a:pt x="69" y="14"/>
                      <a:pt x="100" y="44"/>
                    </a:cubicBezTo>
                    <a:cubicBezTo>
                      <a:pt x="107" y="59"/>
                      <a:pt x="122" y="89"/>
                      <a:pt x="122" y="89"/>
                    </a:cubicBezTo>
                  </a:path>
                </a:pathLst>
              </a:custGeom>
              <a:noFill/>
              <a:ln w="9525" cap="flat" cmpd="sng">
                <a:solidFill>
                  <a:schemeClr val="tx1"/>
                </a:solidFill>
                <a:prstDash val="solid"/>
                <a:round/>
                <a:headEnd type="none" w="med" len="med"/>
                <a:tailEnd type="triangle" w="med" len="med"/>
              </a:ln>
            </p:spPr>
            <p:txBody>
              <a:bodyPr wrap="none" anchor="ctr"/>
              <a:lstStyle/>
              <a:p>
                <a:endParaRPr lang="zh-CN" altLang="en-US"/>
              </a:p>
            </p:txBody>
          </p:sp>
          <p:sp>
            <p:nvSpPr>
              <p:cNvPr id="23797" name="Freeform 648"/>
              <p:cNvSpPr>
                <a:spLocks/>
              </p:cNvSpPr>
              <p:nvPr/>
            </p:nvSpPr>
            <p:spPr bwMode="auto">
              <a:xfrm>
                <a:off x="4080" y="2695"/>
                <a:ext cx="122" cy="89"/>
              </a:xfrm>
              <a:custGeom>
                <a:avLst/>
                <a:gdLst>
                  <a:gd name="T0" fmla="*/ 0 w 122"/>
                  <a:gd name="T1" fmla="*/ 0 h 89"/>
                  <a:gd name="T2" fmla="*/ 100 w 122"/>
                  <a:gd name="T3" fmla="*/ 44 h 89"/>
                  <a:gd name="T4" fmla="*/ 122 w 122"/>
                  <a:gd name="T5" fmla="*/ 89 h 89"/>
                  <a:gd name="T6" fmla="*/ 0 60000 65536"/>
                  <a:gd name="T7" fmla="*/ 0 60000 65536"/>
                  <a:gd name="T8" fmla="*/ 0 60000 65536"/>
                  <a:gd name="T9" fmla="*/ 0 w 122"/>
                  <a:gd name="T10" fmla="*/ 0 h 89"/>
                  <a:gd name="T11" fmla="*/ 122 w 122"/>
                  <a:gd name="T12" fmla="*/ 89 h 89"/>
                </a:gdLst>
                <a:ahLst/>
                <a:cxnLst>
                  <a:cxn ang="T6">
                    <a:pos x="T0" y="T1"/>
                  </a:cxn>
                  <a:cxn ang="T7">
                    <a:pos x="T2" y="T3"/>
                  </a:cxn>
                  <a:cxn ang="T8">
                    <a:pos x="T4" y="T5"/>
                  </a:cxn>
                </a:cxnLst>
                <a:rect l="T9" t="T10" r="T11" b="T12"/>
                <a:pathLst>
                  <a:path w="122" h="89">
                    <a:moveTo>
                      <a:pt x="0" y="0"/>
                    </a:moveTo>
                    <a:cubicBezTo>
                      <a:pt x="42" y="10"/>
                      <a:pt x="69" y="14"/>
                      <a:pt x="100" y="44"/>
                    </a:cubicBezTo>
                    <a:cubicBezTo>
                      <a:pt x="107" y="59"/>
                      <a:pt x="122" y="89"/>
                      <a:pt x="122" y="89"/>
                    </a:cubicBezTo>
                  </a:path>
                </a:pathLst>
              </a:custGeom>
              <a:noFill/>
              <a:ln w="9525" cap="flat" cmpd="sng">
                <a:solidFill>
                  <a:schemeClr val="tx1"/>
                </a:solidFill>
                <a:prstDash val="solid"/>
                <a:round/>
                <a:headEnd type="none" w="med" len="med"/>
                <a:tailEnd type="triangle" w="med" len="med"/>
              </a:ln>
            </p:spPr>
            <p:txBody>
              <a:bodyPr wrap="none" anchor="ctr"/>
              <a:lstStyle/>
              <a:p>
                <a:endParaRPr lang="zh-CN" altLang="en-US"/>
              </a:p>
            </p:txBody>
          </p:sp>
        </p:grpSp>
        <p:grpSp>
          <p:nvGrpSpPr>
            <p:cNvPr id="23787" name="Group 649"/>
            <p:cNvGrpSpPr>
              <a:grpSpLocks/>
            </p:cNvGrpSpPr>
            <p:nvPr/>
          </p:nvGrpSpPr>
          <p:grpSpPr bwMode="auto">
            <a:xfrm>
              <a:off x="889" y="3067"/>
              <a:ext cx="1400" cy="917"/>
              <a:chOff x="776" y="1449"/>
              <a:chExt cx="1400" cy="917"/>
            </a:xfrm>
          </p:grpSpPr>
          <p:graphicFrame>
            <p:nvGraphicFramePr>
              <p:cNvPr id="23732" name="Object 180"/>
              <p:cNvGraphicFramePr>
                <a:graphicFrameLocks noChangeAspect="1"/>
              </p:cNvGraphicFramePr>
              <p:nvPr/>
            </p:nvGraphicFramePr>
            <p:xfrm>
              <a:off x="1418" y="1627"/>
              <a:ext cx="118" cy="182"/>
            </p:xfrm>
            <a:graphic>
              <a:graphicData uri="http://schemas.openxmlformats.org/presentationml/2006/ole">
                <p:oleObj spid="_x0000_s23732" name="公式" r:id="rId11" imgW="139579" imgH="177646" progId="Equation.3">
                  <p:embed/>
                </p:oleObj>
              </a:graphicData>
            </a:graphic>
          </p:graphicFrame>
          <p:graphicFrame>
            <p:nvGraphicFramePr>
              <p:cNvPr id="23733" name="Object 181"/>
              <p:cNvGraphicFramePr>
                <a:graphicFrameLocks noChangeAspect="1"/>
              </p:cNvGraphicFramePr>
              <p:nvPr/>
            </p:nvGraphicFramePr>
            <p:xfrm>
              <a:off x="2032" y="1604"/>
              <a:ext cx="125" cy="188"/>
            </p:xfrm>
            <a:graphic>
              <a:graphicData uri="http://schemas.openxmlformats.org/presentationml/2006/ole">
                <p:oleObj spid="_x0000_s23733" name="公式" r:id="rId12" imgW="164957" imgH="203024" progId="Equation.3">
                  <p:embed/>
                </p:oleObj>
              </a:graphicData>
            </a:graphic>
          </p:graphicFrame>
          <p:graphicFrame>
            <p:nvGraphicFramePr>
              <p:cNvPr id="23734" name="Object 182"/>
              <p:cNvGraphicFramePr>
                <a:graphicFrameLocks noChangeAspect="1"/>
              </p:cNvGraphicFramePr>
              <p:nvPr/>
            </p:nvGraphicFramePr>
            <p:xfrm>
              <a:off x="2047" y="1842"/>
              <a:ext cx="129" cy="253"/>
            </p:xfrm>
            <a:graphic>
              <a:graphicData uri="http://schemas.openxmlformats.org/presentationml/2006/ole">
                <p:oleObj spid="_x0000_s23734" name="公式" r:id="rId13" imgW="126835" imgH="202936" progId="Equation.3">
                  <p:embed/>
                </p:oleObj>
              </a:graphicData>
            </a:graphic>
          </p:graphicFrame>
          <p:grpSp>
            <p:nvGrpSpPr>
              <p:cNvPr id="23788" name="Group 653"/>
              <p:cNvGrpSpPr>
                <a:grpSpLocks/>
              </p:cNvGrpSpPr>
              <p:nvPr/>
            </p:nvGrpSpPr>
            <p:grpSpPr bwMode="auto">
              <a:xfrm>
                <a:off x="789" y="1550"/>
                <a:ext cx="550" cy="816"/>
                <a:chOff x="432" y="3264"/>
                <a:chExt cx="672" cy="816"/>
              </a:xfrm>
            </p:grpSpPr>
            <p:sp>
              <p:nvSpPr>
                <p:cNvPr id="23789" name="Line 654"/>
                <p:cNvSpPr>
                  <a:spLocks noChangeShapeType="1"/>
                </p:cNvSpPr>
                <p:nvPr/>
              </p:nvSpPr>
              <p:spPr bwMode="auto">
                <a:xfrm>
                  <a:off x="480" y="3504"/>
                  <a:ext cx="288" cy="0"/>
                </a:xfrm>
                <a:prstGeom prst="line">
                  <a:avLst/>
                </a:prstGeom>
                <a:noFill/>
                <a:ln w="9525">
                  <a:solidFill>
                    <a:schemeClr val="tx1"/>
                  </a:solidFill>
                  <a:round/>
                  <a:headEnd/>
                  <a:tailEnd/>
                </a:ln>
              </p:spPr>
              <p:txBody>
                <a:bodyPr wrap="none" anchor="ctr"/>
                <a:lstStyle/>
                <a:p>
                  <a:endParaRPr lang="zh-CN" altLang="en-US"/>
                </a:p>
              </p:txBody>
            </p:sp>
            <p:sp>
              <p:nvSpPr>
                <p:cNvPr id="23790" name="Line 655"/>
                <p:cNvSpPr>
                  <a:spLocks noChangeShapeType="1"/>
                </p:cNvSpPr>
                <p:nvPr/>
              </p:nvSpPr>
              <p:spPr bwMode="auto">
                <a:xfrm>
                  <a:off x="432" y="4080"/>
                  <a:ext cx="288" cy="0"/>
                </a:xfrm>
                <a:prstGeom prst="line">
                  <a:avLst/>
                </a:prstGeom>
                <a:noFill/>
                <a:ln w="9525">
                  <a:solidFill>
                    <a:schemeClr val="tx1"/>
                  </a:solidFill>
                  <a:round/>
                  <a:headEnd/>
                  <a:tailEnd/>
                </a:ln>
              </p:spPr>
              <p:txBody>
                <a:bodyPr wrap="none" anchor="ctr"/>
                <a:lstStyle/>
                <a:p>
                  <a:endParaRPr lang="zh-CN" altLang="en-US"/>
                </a:p>
              </p:txBody>
            </p:sp>
            <p:sp>
              <p:nvSpPr>
                <p:cNvPr id="23791" name="Line 656"/>
                <p:cNvSpPr>
                  <a:spLocks noChangeShapeType="1"/>
                </p:cNvSpPr>
                <p:nvPr/>
              </p:nvSpPr>
              <p:spPr bwMode="auto">
                <a:xfrm>
                  <a:off x="576" y="3504"/>
                  <a:ext cx="0" cy="576"/>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23792" name="Line 657"/>
                <p:cNvSpPr>
                  <a:spLocks noChangeShapeType="1"/>
                </p:cNvSpPr>
                <p:nvPr/>
              </p:nvSpPr>
              <p:spPr bwMode="auto">
                <a:xfrm>
                  <a:off x="1104" y="3264"/>
                  <a:ext cx="0" cy="192"/>
                </a:xfrm>
                <a:prstGeom prst="line">
                  <a:avLst/>
                </a:prstGeom>
                <a:noFill/>
                <a:ln w="9525">
                  <a:solidFill>
                    <a:schemeClr val="tx1"/>
                  </a:solidFill>
                  <a:round/>
                  <a:headEnd/>
                  <a:tailEnd/>
                </a:ln>
              </p:spPr>
              <p:txBody>
                <a:bodyPr wrap="none" anchor="ctr"/>
                <a:lstStyle/>
                <a:p>
                  <a:endParaRPr lang="zh-CN" altLang="en-US"/>
                </a:p>
              </p:txBody>
            </p:sp>
            <p:sp>
              <p:nvSpPr>
                <p:cNvPr id="23793" name="Line 658"/>
                <p:cNvSpPr>
                  <a:spLocks noChangeShapeType="1"/>
                </p:cNvSpPr>
                <p:nvPr/>
              </p:nvSpPr>
              <p:spPr bwMode="auto">
                <a:xfrm>
                  <a:off x="720" y="3312"/>
                  <a:ext cx="0" cy="192"/>
                </a:xfrm>
                <a:prstGeom prst="line">
                  <a:avLst/>
                </a:prstGeom>
                <a:noFill/>
                <a:ln w="9525">
                  <a:solidFill>
                    <a:schemeClr val="tx1"/>
                  </a:solidFill>
                  <a:round/>
                  <a:headEnd/>
                  <a:tailEnd/>
                </a:ln>
              </p:spPr>
              <p:txBody>
                <a:bodyPr wrap="none" anchor="ctr"/>
                <a:lstStyle/>
                <a:p>
                  <a:endParaRPr lang="zh-CN" altLang="en-US"/>
                </a:p>
              </p:txBody>
            </p:sp>
            <p:sp>
              <p:nvSpPr>
                <p:cNvPr id="23794" name="Line 659"/>
                <p:cNvSpPr>
                  <a:spLocks noChangeShapeType="1"/>
                </p:cNvSpPr>
                <p:nvPr/>
              </p:nvSpPr>
              <p:spPr bwMode="auto">
                <a:xfrm>
                  <a:off x="720" y="3360"/>
                  <a:ext cx="384" cy="0"/>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grpSp>
          <p:graphicFrame>
            <p:nvGraphicFramePr>
              <p:cNvPr id="23735" name="Object 183"/>
              <p:cNvGraphicFramePr>
                <a:graphicFrameLocks noChangeAspect="1"/>
              </p:cNvGraphicFramePr>
              <p:nvPr/>
            </p:nvGraphicFramePr>
            <p:xfrm>
              <a:off x="776" y="1960"/>
              <a:ext cx="115" cy="197"/>
            </p:xfrm>
            <a:graphic>
              <a:graphicData uri="http://schemas.openxmlformats.org/presentationml/2006/ole">
                <p:oleObj spid="_x0000_s23735" name="公式" r:id="rId14" imgW="126725" imgH="177415" progId="Equation.3">
                  <p:embed/>
                </p:oleObj>
              </a:graphicData>
            </a:graphic>
          </p:graphicFrame>
          <p:graphicFrame>
            <p:nvGraphicFramePr>
              <p:cNvPr id="23736" name="Object 184"/>
              <p:cNvGraphicFramePr>
                <a:graphicFrameLocks noChangeAspect="1"/>
              </p:cNvGraphicFramePr>
              <p:nvPr/>
            </p:nvGraphicFramePr>
            <p:xfrm>
              <a:off x="1100" y="1449"/>
              <a:ext cx="136" cy="209"/>
            </p:xfrm>
            <a:graphic>
              <a:graphicData uri="http://schemas.openxmlformats.org/presentationml/2006/ole">
                <p:oleObj spid="_x0000_s23736" name="公式" r:id="rId15" imgW="139579" imgH="177646" progId="Equation.3">
                  <p:embed/>
                </p:oleObj>
              </a:graphicData>
            </a:graphic>
          </p:graphicFrame>
          <p:graphicFrame>
            <p:nvGraphicFramePr>
              <p:cNvPr id="23737" name="Object 185"/>
              <p:cNvGraphicFramePr>
                <a:graphicFrameLocks noChangeAspect="1"/>
              </p:cNvGraphicFramePr>
              <p:nvPr/>
            </p:nvGraphicFramePr>
            <p:xfrm>
              <a:off x="1077" y="1855"/>
              <a:ext cx="123" cy="240"/>
            </p:xfrm>
            <a:graphic>
              <a:graphicData uri="http://schemas.openxmlformats.org/presentationml/2006/ole">
                <p:oleObj spid="_x0000_s23737" name="公式" r:id="rId16" imgW="126835" imgH="202936" progId="Equation.3">
                  <p:embed/>
                </p:oleObj>
              </a:graphicData>
            </a:graphic>
          </p:graphicFrame>
        </p:grpSp>
      </p:grpSp>
      <p:grpSp>
        <p:nvGrpSpPr>
          <p:cNvPr id="21" name="Group 668"/>
          <p:cNvGrpSpPr>
            <a:grpSpLocks/>
          </p:cNvGrpSpPr>
          <p:nvPr/>
        </p:nvGrpSpPr>
        <p:grpSpPr bwMode="auto">
          <a:xfrm>
            <a:off x="2281238" y="2486025"/>
            <a:ext cx="2811462" cy="863600"/>
            <a:chOff x="900" y="1998"/>
            <a:chExt cx="1799" cy="925"/>
          </a:xfrm>
        </p:grpSpPr>
        <p:grpSp>
          <p:nvGrpSpPr>
            <p:cNvPr id="23754" name="Group 575"/>
            <p:cNvGrpSpPr>
              <a:grpSpLocks/>
            </p:cNvGrpSpPr>
            <p:nvPr/>
          </p:nvGrpSpPr>
          <p:grpSpPr bwMode="auto">
            <a:xfrm>
              <a:off x="1291" y="2212"/>
              <a:ext cx="1017" cy="523"/>
              <a:chOff x="3696" y="720"/>
              <a:chExt cx="1248" cy="1200"/>
            </a:xfrm>
          </p:grpSpPr>
          <p:sp>
            <p:nvSpPr>
              <p:cNvPr id="23783" name="Rectangle 576"/>
              <p:cNvSpPr>
                <a:spLocks noChangeArrowheads="1"/>
              </p:cNvSpPr>
              <p:nvPr/>
            </p:nvSpPr>
            <p:spPr bwMode="auto">
              <a:xfrm>
                <a:off x="3696" y="720"/>
                <a:ext cx="1248" cy="1200"/>
              </a:xfrm>
              <a:prstGeom prst="rect">
                <a:avLst/>
              </a:prstGeom>
              <a:solidFill>
                <a:schemeClr val="bg1"/>
              </a:solidFill>
              <a:ln w="9525">
                <a:solidFill>
                  <a:schemeClr val="tx1"/>
                </a:solidFill>
                <a:miter lim="800000"/>
                <a:headEnd/>
                <a:tailEnd/>
              </a:ln>
            </p:spPr>
            <p:txBody>
              <a:bodyPr wrap="none" anchor="ctr"/>
              <a:lstStyle/>
              <a:p>
                <a:endParaRPr lang="zh-CN" altLang="en-US"/>
              </a:p>
            </p:txBody>
          </p:sp>
          <p:sp>
            <p:nvSpPr>
              <p:cNvPr id="23784" name="Rectangle 577"/>
              <p:cNvSpPr>
                <a:spLocks noChangeArrowheads="1"/>
              </p:cNvSpPr>
              <p:nvPr/>
            </p:nvSpPr>
            <p:spPr bwMode="auto">
              <a:xfrm>
                <a:off x="3792" y="864"/>
                <a:ext cx="1056" cy="960"/>
              </a:xfrm>
              <a:prstGeom prst="rect">
                <a:avLst/>
              </a:prstGeom>
              <a:solidFill>
                <a:schemeClr val="bg1"/>
              </a:solidFill>
              <a:ln w="9525">
                <a:solidFill>
                  <a:schemeClr val="tx1"/>
                </a:solidFill>
                <a:prstDash val="dash"/>
                <a:miter lim="800000"/>
                <a:headEnd/>
                <a:tailEnd/>
              </a:ln>
            </p:spPr>
            <p:txBody>
              <a:bodyPr wrap="none" anchor="ctr"/>
              <a:lstStyle/>
              <a:p>
                <a:endParaRPr lang="zh-CN" altLang="en-US"/>
              </a:p>
            </p:txBody>
          </p:sp>
        </p:grpSp>
        <p:grpSp>
          <p:nvGrpSpPr>
            <p:cNvPr id="23755" name="Group 578"/>
            <p:cNvGrpSpPr>
              <a:grpSpLocks/>
            </p:cNvGrpSpPr>
            <p:nvPr/>
          </p:nvGrpSpPr>
          <p:grpSpPr bwMode="auto">
            <a:xfrm>
              <a:off x="1486" y="2024"/>
              <a:ext cx="587" cy="188"/>
              <a:chOff x="2592" y="1152"/>
              <a:chExt cx="720" cy="432"/>
            </a:xfrm>
          </p:grpSpPr>
          <p:grpSp>
            <p:nvGrpSpPr>
              <p:cNvPr id="23777" name="Group 579"/>
              <p:cNvGrpSpPr>
                <a:grpSpLocks/>
              </p:cNvGrpSpPr>
              <p:nvPr/>
            </p:nvGrpSpPr>
            <p:grpSpPr bwMode="auto">
              <a:xfrm>
                <a:off x="2592" y="1152"/>
                <a:ext cx="240" cy="432"/>
                <a:chOff x="2592" y="1152"/>
                <a:chExt cx="240" cy="432"/>
              </a:xfrm>
            </p:grpSpPr>
            <p:sp>
              <p:nvSpPr>
                <p:cNvPr id="23781" name="Line 580"/>
                <p:cNvSpPr>
                  <a:spLocks noChangeShapeType="1"/>
                </p:cNvSpPr>
                <p:nvPr/>
              </p:nvSpPr>
              <p:spPr bwMode="auto">
                <a:xfrm>
                  <a:off x="2592" y="1152"/>
                  <a:ext cx="0" cy="432"/>
                </a:xfrm>
                <a:prstGeom prst="line">
                  <a:avLst/>
                </a:prstGeom>
                <a:noFill/>
                <a:ln w="38100">
                  <a:solidFill>
                    <a:schemeClr val="accent2"/>
                  </a:solidFill>
                  <a:round/>
                  <a:headEnd/>
                  <a:tailEnd type="triangle" w="med" len="med"/>
                </a:ln>
              </p:spPr>
              <p:txBody>
                <a:bodyPr wrap="none" anchor="ctr"/>
                <a:lstStyle/>
                <a:p>
                  <a:endParaRPr lang="zh-CN" altLang="en-US"/>
                </a:p>
              </p:txBody>
            </p:sp>
            <p:sp>
              <p:nvSpPr>
                <p:cNvPr id="23782" name="Line 581"/>
                <p:cNvSpPr>
                  <a:spLocks noChangeShapeType="1"/>
                </p:cNvSpPr>
                <p:nvPr/>
              </p:nvSpPr>
              <p:spPr bwMode="auto">
                <a:xfrm>
                  <a:off x="2832" y="1152"/>
                  <a:ext cx="0" cy="432"/>
                </a:xfrm>
                <a:prstGeom prst="line">
                  <a:avLst/>
                </a:prstGeom>
                <a:noFill/>
                <a:ln w="38100">
                  <a:solidFill>
                    <a:schemeClr val="accent2"/>
                  </a:solidFill>
                  <a:round/>
                  <a:headEnd/>
                  <a:tailEnd type="triangle" w="med" len="med"/>
                </a:ln>
              </p:spPr>
              <p:txBody>
                <a:bodyPr wrap="none" anchor="ctr"/>
                <a:lstStyle/>
                <a:p>
                  <a:endParaRPr lang="zh-CN" altLang="en-US"/>
                </a:p>
              </p:txBody>
            </p:sp>
          </p:grpSp>
          <p:grpSp>
            <p:nvGrpSpPr>
              <p:cNvPr id="23778" name="Group 582"/>
              <p:cNvGrpSpPr>
                <a:grpSpLocks/>
              </p:cNvGrpSpPr>
              <p:nvPr/>
            </p:nvGrpSpPr>
            <p:grpSpPr bwMode="auto">
              <a:xfrm>
                <a:off x="3072" y="1152"/>
                <a:ext cx="240" cy="432"/>
                <a:chOff x="2592" y="1152"/>
                <a:chExt cx="240" cy="432"/>
              </a:xfrm>
            </p:grpSpPr>
            <p:sp>
              <p:nvSpPr>
                <p:cNvPr id="23779" name="Line 583"/>
                <p:cNvSpPr>
                  <a:spLocks noChangeShapeType="1"/>
                </p:cNvSpPr>
                <p:nvPr/>
              </p:nvSpPr>
              <p:spPr bwMode="auto">
                <a:xfrm>
                  <a:off x="2592" y="1152"/>
                  <a:ext cx="0" cy="432"/>
                </a:xfrm>
                <a:prstGeom prst="line">
                  <a:avLst/>
                </a:prstGeom>
                <a:noFill/>
                <a:ln w="38100">
                  <a:solidFill>
                    <a:schemeClr val="accent2"/>
                  </a:solidFill>
                  <a:round/>
                  <a:headEnd/>
                  <a:tailEnd type="triangle" w="med" len="med"/>
                </a:ln>
              </p:spPr>
              <p:txBody>
                <a:bodyPr wrap="none" anchor="ctr"/>
                <a:lstStyle/>
                <a:p>
                  <a:endParaRPr lang="zh-CN" altLang="en-US"/>
                </a:p>
              </p:txBody>
            </p:sp>
            <p:sp>
              <p:nvSpPr>
                <p:cNvPr id="23780" name="Line 584"/>
                <p:cNvSpPr>
                  <a:spLocks noChangeShapeType="1"/>
                </p:cNvSpPr>
                <p:nvPr/>
              </p:nvSpPr>
              <p:spPr bwMode="auto">
                <a:xfrm>
                  <a:off x="2832" y="1152"/>
                  <a:ext cx="0" cy="432"/>
                </a:xfrm>
                <a:prstGeom prst="line">
                  <a:avLst/>
                </a:prstGeom>
                <a:noFill/>
                <a:ln w="38100">
                  <a:solidFill>
                    <a:schemeClr val="accent2"/>
                  </a:solidFill>
                  <a:round/>
                  <a:headEnd/>
                  <a:tailEnd type="triangle" w="med" len="med"/>
                </a:ln>
              </p:spPr>
              <p:txBody>
                <a:bodyPr wrap="none" anchor="ctr"/>
                <a:lstStyle/>
                <a:p>
                  <a:endParaRPr lang="zh-CN" altLang="en-US"/>
                </a:p>
              </p:txBody>
            </p:sp>
          </p:grpSp>
        </p:grpSp>
        <p:grpSp>
          <p:nvGrpSpPr>
            <p:cNvPr id="23756" name="Group 585"/>
            <p:cNvGrpSpPr>
              <a:grpSpLocks/>
            </p:cNvGrpSpPr>
            <p:nvPr/>
          </p:nvGrpSpPr>
          <p:grpSpPr bwMode="auto">
            <a:xfrm>
              <a:off x="1525" y="2735"/>
              <a:ext cx="587" cy="188"/>
              <a:chOff x="2592" y="1152"/>
              <a:chExt cx="720" cy="432"/>
            </a:xfrm>
          </p:grpSpPr>
          <p:grpSp>
            <p:nvGrpSpPr>
              <p:cNvPr id="23771" name="Group 586"/>
              <p:cNvGrpSpPr>
                <a:grpSpLocks/>
              </p:cNvGrpSpPr>
              <p:nvPr/>
            </p:nvGrpSpPr>
            <p:grpSpPr bwMode="auto">
              <a:xfrm>
                <a:off x="2592" y="1152"/>
                <a:ext cx="240" cy="432"/>
                <a:chOff x="2592" y="1152"/>
                <a:chExt cx="240" cy="432"/>
              </a:xfrm>
            </p:grpSpPr>
            <p:sp>
              <p:nvSpPr>
                <p:cNvPr id="23775" name="Line 587"/>
                <p:cNvSpPr>
                  <a:spLocks noChangeShapeType="1"/>
                </p:cNvSpPr>
                <p:nvPr/>
              </p:nvSpPr>
              <p:spPr bwMode="auto">
                <a:xfrm>
                  <a:off x="2592" y="1152"/>
                  <a:ext cx="0" cy="432"/>
                </a:xfrm>
                <a:prstGeom prst="line">
                  <a:avLst/>
                </a:prstGeom>
                <a:noFill/>
                <a:ln w="38100">
                  <a:solidFill>
                    <a:schemeClr val="accent2"/>
                  </a:solidFill>
                  <a:round/>
                  <a:headEnd type="triangle" w="med" len="med"/>
                  <a:tailEnd/>
                </a:ln>
              </p:spPr>
              <p:txBody>
                <a:bodyPr wrap="none" anchor="ctr"/>
                <a:lstStyle/>
                <a:p>
                  <a:endParaRPr lang="zh-CN" altLang="en-US"/>
                </a:p>
              </p:txBody>
            </p:sp>
            <p:sp>
              <p:nvSpPr>
                <p:cNvPr id="23776" name="Line 588"/>
                <p:cNvSpPr>
                  <a:spLocks noChangeShapeType="1"/>
                </p:cNvSpPr>
                <p:nvPr/>
              </p:nvSpPr>
              <p:spPr bwMode="auto">
                <a:xfrm>
                  <a:off x="2832" y="1152"/>
                  <a:ext cx="0" cy="432"/>
                </a:xfrm>
                <a:prstGeom prst="line">
                  <a:avLst/>
                </a:prstGeom>
                <a:noFill/>
                <a:ln w="38100">
                  <a:solidFill>
                    <a:schemeClr val="accent2"/>
                  </a:solidFill>
                  <a:round/>
                  <a:headEnd type="triangle" w="med" len="med"/>
                  <a:tailEnd/>
                </a:ln>
              </p:spPr>
              <p:txBody>
                <a:bodyPr wrap="none" anchor="ctr"/>
                <a:lstStyle/>
                <a:p>
                  <a:endParaRPr lang="zh-CN" altLang="en-US"/>
                </a:p>
              </p:txBody>
            </p:sp>
          </p:grpSp>
          <p:grpSp>
            <p:nvGrpSpPr>
              <p:cNvPr id="23772" name="Group 589"/>
              <p:cNvGrpSpPr>
                <a:grpSpLocks/>
              </p:cNvGrpSpPr>
              <p:nvPr/>
            </p:nvGrpSpPr>
            <p:grpSpPr bwMode="auto">
              <a:xfrm>
                <a:off x="3072" y="1152"/>
                <a:ext cx="240" cy="432"/>
                <a:chOff x="2592" y="1152"/>
                <a:chExt cx="240" cy="432"/>
              </a:xfrm>
            </p:grpSpPr>
            <p:sp>
              <p:nvSpPr>
                <p:cNvPr id="23773" name="Line 590"/>
                <p:cNvSpPr>
                  <a:spLocks noChangeShapeType="1"/>
                </p:cNvSpPr>
                <p:nvPr/>
              </p:nvSpPr>
              <p:spPr bwMode="auto">
                <a:xfrm>
                  <a:off x="2592" y="1152"/>
                  <a:ext cx="0" cy="432"/>
                </a:xfrm>
                <a:prstGeom prst="line">
                  <a:avLst/>
                </a:prstGeom>
                <a:noFill/>
                <a:ln w="38100">
                  <a:solidFill>
                    <a:schemeClr val="accent2"/>
                  </a:solidFill>
                  <a:round/>
                  <a:headEnd type="triangle" w="med" len="med"/>
                  <a:tailEnd/>
                </a:ln>
              </p:spPr>
              <p:txBody>
                <a:bodyPr wrap="none" anchor="ctr"/>
                <a:lstStyle/>
                <a:p>
                  <a:endParaRPr lang="zh-CN" altLang="en-US"/>
                </a:p>
              </p:txBody>
            </p:sp>
            <p:sp>
              <p:nvSpPr>
                <p:cNvPr id="23774" name="Line 591"/>
                <p:cNvSpPr>
                  <a:spLocks noChangeShapeType="1"/>
                </p:cNvSpPr>
                <p:nvPr/>
              </p:nvSpPr>
              <p:spPr bwMode="auto">
                <a:xfrm>
                  <a:off x="2832" y="1152"/>
                  <a:ext cx="0" cy="432"/>
                </a:xfrm>
                <a:prstGeom prst="line">
                  <a:avLst/>
                </a:prstGeom>
                <a:noFill/>
                <a:ln w="38100">
                  <a:solidFill>
                    <a:schemeClr val="accent2"/>
                  </a:solidFill>
                  <a:round/>
                  <a:headEnd type="triangle" w="med" len="med"/>
                  <a:tailEnd/>
                </a:ln>
              </p:spPr>
              <p:txBody>
                <a:bodyPr wrap="none" anchor="ctr"/>
                <a:lstStyle/>
                <a:p>
                  <a:endParaRPr lang="zh-CN" altLang="en-US"/>
                </a:p>
              </p:txBody>
            </p:sp>
          </p:grpSp>
        </p:grpSp>
        <p:grpSp>
          <p:nvGrpSpPr>
            <p:cNvPr id="23757" name="Group 592"/>
            <p:cNvGrpSpPr>
              <a:grpSpLocks/>
            </p:cNvGrpSpPr>
            <p:nvPr/>
          </p:nvGrpSpPr>
          <p:grpSpPr bwMode="auto">
            <a:xfrm>
              <a:off x="900" y="2338"/>
              <a:ext cx="391" cy="250"/>
              <a:chOff x="1584" y="1872"/>
              <a:chExt cx="480" cy="576"/>
            </a:xfrm>
          </p:grpSpPr>
          <p:grpSp>
            <p:nvGrpSpPr>
              <p:cNvPr id="23765" name="Group 593"/>
              <p:cNvGrpSpPr>
                <a:grpSpLocks/>
              </p:cNvGrpSpPr>
              <p:nvPr/>
            </p:nvGrpSpPr>
            <p:grpSpPr bwMode="auto">
              <a:xfrm>
                <a:off x="1584" y="1872"/>
                <a:ext cx="480" cy="192"/>
                <a:chOff x="1584" y="1872"/>
                <a:chExt cx="480" cy="192"/>
              </a:xfrm>
            </p:grpSpPr>
            <p:sp>
              <p:nvSpPr>
                <p:cNvPr id="23769" name="Line 594"/>
                <p:cNvSpPr>
                  <a:spLocks noChangeShapeType="1"/>
                </p:cNvSpPr>
                <p:nvPr/>
              </p:nvSpPr>
              <p:spPr bwMode="auto">
                <a:xfrm>
                  <a:off x="1584" y="1872"/>
                  <a:ext cx="480" cy="0"/>
                </a:xfrm>
                <a:prstGeom prst="line">
                  <a:avLst/>
                </a:prstGeom>
                <a:noFill/>
                <a:ln w="38100">
                  <a:solidFill>
                    <a:schemeClr val="accent2"/>
                  </a:solidFill>
                  <a:round/>
                  <a:headEnd/>
                  <a:tailEnd type="triangle" w="med" len="med"/>
                </a:ln>
              </p:spPr>
              <p:txBody>
                <a:bodyPr wrap="none" anchor="ctr"/>
                <a:lstStyle/>
                <a:p>
                  <a:endParaRPr lang="zh-CN" altLang="en-US"/>
                </a:p>
              </p:txBody>
            </p:sp>
            <p:sp>
              <p:nvSpPr>
                <p:cNvPr id="23770" name="Line 595"/>
                <p:cNvSpPr>
                  <a:spLocks noChangeShapeType="1"/>
                </p:cNvSpPr>
                <p:nvPr/>
              </p:nvSpPr>
              <p:spPr bwMode="auto">
                <a:xfrm>
                  <a:off x="1584" y="2064"/>
                  <a:ext cx="480" cy="0"/>
                </a:xfrm>
                <a:prstGeom prst="line">
                  <a:avLst/>
                </a:prstGeom>
                <a:noFill/>
                <a:ln w="38100">
                  <a:solidFill>
                    <a:schemeClr val="accent2"/>
                  </a:solidFill>
                  <a:round/>
                  <a:headEnd/>
                  <a:tailEnd type="triangle" w="med" len="med"/>
                </a:ln>
              </p:spPr>
              <p:txBody>
                <a:bodyPr wrap="none" anchor="ctr"/>
                <a:lstStyle/>
                <a:p>
                  <a:endParaRPr lang="zh-CN" altLang="en-US"/>
                </a:p>
              </p:txBody>
            </p:sp>
          </p:grpSp>
          <p:grpSp>
            <p:nvGrpSpPr>
              <p:cNvPr id="23766" name="Group 596"/>
              <p:cNvGrpSpPr>
                <a:grpSpLocks/>
              </p:cNvGrpSpPr>
              <p:nvPr/>
            </p:nvGrpSpPr>
            <p:grpSpPr bwMode="auto">
              <a:xfrm>
                <a:off x="1584" y="2256"/>
                <a:ext cx="480" cy="192"/>
                <a:chOff x="1584" y="1872"/>
                <a:chExt cx="480" cy="192"/>
              </a:xfrm>
            </p:grpSpPr>
            <p:sp>
              <p:nvSpPr>
                <p:cNvPr id="23767" name="Line 597"/>
                <p:cNvSpPr>
                  <a:spLocks noChangeShapeType="1"/>
                </p:cNvSpPr>
                <p:nvPr/>
              </p:nvSpPr>
              <p:spPr bwMode="auto">
                <a:xfrm>
                  <a:off x="1584" y="1872"/>
                  <a:ext cx="480" cy="0"/>
                </a:xfrm>
                <a:prstGeom prst="line">
                  <a:avLst/>
                </a:prstGeom>
                <a:noFill/>
                <a:ln w="38100">
                  <a:solidFill>
                    <a:schemeClr val="accent2"/>
                  </a:solidFill>
                  <a:round/>
                  <a:headEnd/>
                  <a:tailEnd type="triangle" w="med" len="med"/>
                </a:ln>
              </p:spPr>
              <p:txBody>
                <a:bodyPr wrap="none" anchor="ctr"/>
                <a:lstStyle/>
                <a:p>
                  <a:endParaRPr lang="zh-CN" altLang="en-US"/>
                </a:p>
              </p:txBody>
            </p:sp>
            <p:sp>
              <p:nvSpPr>
                <p:cNvPr id="23768" name="Line 598"/>
                <p:cNvSpPr>
                  <a:spLocks noChangeShapeType="1"/>
                </p:cNvSpPr>
                <p:nvPr/>
              </p:nvSpPr>
              <p:spPr bwMode="auto">
                <a:xfrm>
                  <a:off x="1584" y="2064"/>
                  <a:ext cx="480" cy="0"/>
                </a:xfrm>
                <a:prstGeom prst="line">
                  <a:avLst/>
                </a:prstGeom>
                <a:noFill/>
                <a:ln w="38100">
                  <a:solidFill>
                    <a:schemeClr val="accent2"/>
                  </a:solidFill>
                  <a:round/>
                  <a:headEnd/>
                  <a:tailEnd type="triangle" w="med" len="med"/>
                </a:ln>
              </p:spPr>
              <p:txBody>
                <a:bodyPr wrap="none" anchor="ctr"/>
                <a:lstStyle/>
                <a:p>
                  <a:endParaRPr lang="zh-CN" altLang="en-US"/>
                </a:p>
              </p:txBody>
            </p:sp>
          </p:grpSp>
        </p:grpSp>
        <p:grpSp>
          <p:nvGrpSpPr>
            <p:cNvPr id="23758" name="Group 599"/>
            <p:cNvGrpSpPr>
              <a:grpSpLocks/>
            </p:cNvGrpSpPr>
            <p:nvPr/>
          </p:nvGrpSpPr>
          <p:grpSpPr bwMode="auto">
            <a:xfrm>
              <a:off x="2308" y="2338"/>
              <a:ext cx="391" cy="250"/>
              <a:chOff x="1584" y="1872"/>
              <a:chExt cx="480" cy="576"/>
            </a:xfrm>
          </p:grpSpPr>
          <p:grpSp>
            <p:nvGrpSpPr>
              <p:cNvPr id="23759" name="Group 600"/>
              <p:cNvGrpSpPr>
                <a:grpSpLocks/>
              </p:cNvGrpSpPr>
              <p:nvPr/>
            </p:nvGrpSpPr>
            <p:grpSpPr bwMode="auto">
              <a:xfrm>
                <a:off x="1584" y="1872"/>
                <a:ext cx="480" cy="192"/>
                <a:chOff x="1584" y="1872"/>
                <a:chExt cx="480" cy="192"/>
              </a:xfrm>
            </p:grpSpPr>
            <p:sp>
              <p:nvSpPr>
                <p:cNvPr id="23763" name="Line 601"/>
                <p:cNvSpPr>
                  <a:spLocks noChangeShapeType="1"/>
                </p:cNvSpPr>
                <p:nvPr/>
              </p:nvSpPr>
              <p:spPr bwMode="auto">
                <a:xfrm>
                  <a:off x="1584" y="1872"/>
                  <a:ext cx="480" cy="0"/>
                </a:xfrm>
                <a:prstGeom prst="line">
                  <a:avLst/>
                </a:prstGeom>
                <a:noFill/>
                <a:ln w="38100">
                  <a:solidFill>
                    <a:schemeClr val="accent2"/>
                  </a:solidFill>
                  <a:round/>
                  <a:headEnd type="triangle" w="med" len="med"/>
                  <a:tailEnd/>
                </a:ln>
              </p:spPr>
              <p:txBody>
                <a:bodyPr wrap="none" anchor="ctr"/>
                <a:lstStyle/>
                <a:p>
                  <a:endParaRPr lang="zh-CN" altLang="en-US"/>
                </a:p>
              </p:txBody>
            </p:sp>
            <p:sp>
              <p:nvSpPr>
                <p:cNvPr id="23764" name="Line 602"/>
                <p:cNvSpPr>
                  <a:spLocks noChangeShapeType="1"/>
                </p:cNvSpPr>
                <p:nvPr/>
              </p:nvSpPr>
              <p:spPr bwMode="auto">
                <a:xfrm>
                  <a:off x="1584" y="2064"/>
                  <a:ext cx="480" cy="0"/>
                </a:xfrm>
                <a:prstGeom prst="line">
                  <a:avLst/>
                </a:prstGeom>
                <a:noFill/>
                <a:ln w="38100">
                  <a:solidFill>
                    <a:schemeClr val="accent2"/>
                  </a:solidFill>
                  <a:round/>
                  <a:headEnd type="triangle" w="med" len="med"/>
                  <a:tailEnd/>
                </a:ln>
              </p:spPr>
              <p:txBody>
                <a:bodyPr wrap="none" anchor="ctr"/>
                <a:lstStyle/>
                <a:p>
                  <a:endParaRPr lang="zh-CN" altLang="en-US"/>
                </a:p>
              </p:txBody>
            </p:sp>
          </p:grpSp>
          <p:grpSp>
            <p:nvGrpSpPr>
              <p:cNvPr id="23760" name="Group 603"/>
              <p:cNvGrpSpPr>
                <a:grpSpLocks/>
              </p:cNvGrpSpPr>
              <p:nvPr/>
            </p:nvGrpSpPr>
            <p:grpSpPr bwMode="auto">
              <a:xfrm>
                <a:off x="1584" y="2256"/>
                <a:ext cx="480" cy="192"/>
                <a:chOff x="1584" y="1872"/>
                <a:chExt cx="480" cy="192"/>
              </a:xfrm>
            </p:grpSpPr>
            <p:sp>
              <p:nvSpPr>
                <p:cNvPr id="23761" name="Line 604"/>
                <p:cNvSpPr>
                  <a:spLocks noChangeShapeType="1"/>
                </p:cNvSpPr>
                <p:nvPr/>
              </p:nvSpPr>
              <p:spPr bwMode="auto">
                <a:xfrm>
                  <a:off x="1584" y="1872"/>
                  <a:ext cx="480" cy="0"/>
                </a:xfrm>
                <a:prstGeom prst="line">
                  <a:avLst/>
                </a:prstGeom>
                <a:noFill/>
                <a:ln w="38100">
                  <a:solidFill>
                    <a:schemeClr val="accent2"/>
                  </a:solidFill>
                  <a:round/>
                  <a:headEnd type="triangle" w="med" len="med"/>
                  <a:tailEnd/>
                </a:ln>
              </p:spPr>
              <p:txBody>
                <a:bodyPr wrap="none" anchor="ctr"/>
                <a:lstStyle/>
                <a:p>
                  <a:endParaRPr lang="zh-CN" altLang="en-US"/>
                </a:p>
              </p:txBody>
            </p:sp>
            <p:sp>
              <p:nvSpPr>
                <p:cNvPr id="23762" name="Line 605"/>
                <p:cNvSpPr>
                  <a:spLocks noChangeShapeType="1"/>
                </p:cNvSpPr>
                <p:nvPr/>
              </p:nvSpPr>
              <p:spPr bwMode="auto">
                <a:xfrm>
                  <a:off x="1584" y="2064"/>
                  <a:ext cx="480" cy="0"/>
                </a:xfrm>
                <a:prstGeom prst="line">
                  <a:avLst/>
                </a:prstGeom>
                <a:noFill/>
                <a:ln w="38100">
                  <a:solidFill>
                    <a:schemeClr val="accent2"/>
                  </a:solidFill>
                  <a:round/>
                  <a:headEnd type="triangle" w="med" len="med"/>
                  <a:tailEnd/>
                </a:ln>
              </p:spPr>
              <p:txBody>
                <a:bodyPr wrap="none" anchor="ctr"/>
                <a:lstStyle/>
                <a:p>
                  <a:endParaRPr lang="zh-CN" altLang="en-US"/>
                </a:p>
              </p:txBody>
            </p:sp>
          </p:grpSp>
        </p:grpSp>
        <p:graphicFrame>
          <p:nvGraphicFramePr>
            <p:cNvPr id="23738" name="Object 186"/>
            <p:cNvGraphicFramePr>
              <a:graphicFrameLocks noChangeAspect="1"/>
            </p:cNvGraphicFramePr>
            <p:nvPr/>
          </p:nvGraphicFramePr>
          <p:xfrm>
            <a:off x="1565" y="2341"/>
            <a:ext cx="195" cy="227"/>
          </p:xfrm>
          <a:graphic>
            <a:graphicData uri="http://schemas.openxmlformats.org/presentationml/2006/ole">
              <p:oleObj spid="_x0000_s23738" name="Equation" r:id="rId17" imgW="152202" imgH="177569" progId="Equation.DSMT4">
                <p:embed/>
              </p:oleObj>
            </a:graphicData>
          </a:graphic>
        </p:graphicFrame>
        <p:graphicFrame>
          <p:nvGraphicFramePr>
            <p:cNvPr id="23739" name="Object 187"/>
            <p:cNvGraphicFramePr>
              <a:graphicFrameLocks noChangeAspect="1"/>
            </p:cNvGraphicFramePr>
            <p:nvPr/>
          </p:nvGraphicFramePr>
          <p:xfrm>
            <a:off x="2154" y="1998"/>
            <a:ext cx="197" cy="253"/>
          </p:xfrm>
          <a:graphic>
            <a:graphicData uri="http://schemas.openxmlformats.org/presentationml/2006/ole">
              <p:oleObj spid="_x0000_s23739" name="Equation" r:id="rId18" imgW="177646" imgH="228402" progId="Equation.DSMT4">
                <p:embed/>
              </p:oleObj>
            </a:graphicData>
          </a:graphic>
        </p:graphicFrame>
        <p:graphicFrame>
          <p:nvGraphicFramePr>
            <p:cNvPr id="23740" name="Object 188"/>
            <p:cNvGraphicFramePr>
              <a:graphicFrameLocks noChangeAspect="1"/>
            </p:cNvGraphicFramePr>
            <p:nvPr/>
          </p:nvGraphicFramePr>
          <p:xfrm>
            <a:off x="2290" y="2568"/>
            <a:ext cx="203" cy="237"/>
          </p:xfrm>
          <a:graphic>
            <a:graphicData uri="http://schemas.openxmlformats.org/presentationml/2006/ole">
              <p:oleObj spid="_x0000_s23740" name="Equation" r:id="rId19" imgW="152202" imgH="177569" progId="Equation.DSMT4">
                <p:embed/>
              </p:oleObj>
            </a:graphicData>
          </a:graphic>
        </p:graphicFrame>
        <p:graphicFrame>
          <p:nvGraphicFramePr>
            <p:cNvPr id="23741" name="Object 189"/>
            <p:cNvGraphicFramePr>
              <a:graphicFrameLocks noChangeAspect="1"/>
            </p:cNvGraphicFramePr>
            <p:nvPr/>
          </p:nvGraphicFramePr>
          <p:xfrm>
            <a:off x="1066" y="2614"/>
            <a:ext cx="188" cy="188"/>
          </p:xfrm>
          <a:graphic>
            <a:graphicData uri="http://schemas.openxmlformats.org/presentationml/2006/ole">
              <p:oleObj spid="_x0000_s23741" name="Equation" r:id="rId20" imgW="164885" imgH="164885" progId="Equation.DSMT4">
                <p:embed/>
              </p:oleObj>
            </a:graphicData>
          </a:graphic>
        </p:graphicFrame>
      </p:grpSp>
      <p:sp>
        <p:nvSpPr>
          <p:cNvPr id="16029" name="Rectangle 669"/>
          <p:cNvSpPr>
            <a:spLocks noChangeArrowheads="1"/>
          </p:cNvSpPr>
          <p:nvPr/>
        </p:nvSpPr>
        <p:spPr bwMode="auto">
          <a:xfrm>
            <a:off x="5624513" y="3949700"/>
            <a:ext cx="1323975" cy="369888"/>
          </a:xfrm>
          <a:prstGeom prst="rect">
            <a:avLst/>
          </a:prstGeom>
          <a:noFill/>
          <a:ln w="9525">
            <a:noFill/>
            <a:miter lim="800000"/>
            <a:headEnd/>
            <a:tailEnd/>
          </a:ln>
        </p:spPr>
        <p:txBody>
          <a:bodyPr>
            <a:spAutoFit/>
          </a:bodyPr>
          <a:lstStyle/>
          <a:p>
            <a:r>
              <a:rPr lang="zh-CN" altLang="en-US" sz="1800" b="1">
                <a:ea typeface="华文中宋"/>
                <a:cs typeface="华文中宋"/>
              </a:rPr>
              <a:t>切胁变：</a:t>
            </a:r>
          </a:p>
        </p:txBody>
      </p:sp>
      <p:sp>
        <p:nvSpPr>
          <p:cNvPr id="119" name="Text Box 2"/>
          <p:cNvSpPr>
            <a:spLocks noChangeArrowheads="1"/>
          </p:cNvSpPr>
          <p:nvPr/>
        </p:nvSpPr>
        <p:spPr bwMode="auto">
          <a:xfrm>
            <a:off x="107950" y="876300"/>
            <a:ext cx="2438400" cy="400050"/>
          </a:xfrm>
          <a:prstGeom prst="homePlate">
            <a:avLst>
              <a:gd name="adj" fmla="val 49862"/>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四、物体弹性形变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wipe(left)">
                                      <p:cBhvr>
                                        <p:cTn id="7" dur="500"/>
                                        <p:tgtEl>
                                          <p:spTgt spid="1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15896"/>
                                        </p:tgtEl>
                                        <p:attrNameLst>
                                          <p:attrName>style.visibility</p:attrName>
                                        </p:attrNameLst>
                                      </p:cBhvr>
                                      <p:to>
                                        <p:strVal val="visible"/>
                                      </p:to>
                                    </p:set>
                                    <p:anim calcmode="lin" valueType="num">
                                      <p:cBhvr>
                                        <p:cTn id="12" dur="500" fill="hold"/>
                                        <p:tgtEl>
                                          <p:spTgt spid="15896"/>
                                        </p:tgtEl>
                                        <p:attrNameLst>
                                          <p:attrName>ppt_w</p:attrName>
                                        </p:attrNameLst>
                                      </p:cBhvr>
                                      <p:tavLst>
                                        <p:tav tm="0">
                                          <p:val>
                                            <p:fltVal val="0"/>
                                          </p:val>
                                        </p:tav>
                                        <p:tav tm="100000">
                                          <p:val>
                                            <p:strVal val="#ppt_w"/>
                                          </p:val>
                                        </p:tav>
                                      </p:tavLst>
                                    </p:anim>
                                    <p:anim calcmode="lin" valueType="num">
                                      <p:cBhvr>
                                        <p:cTn id="13" dur="500" fill="hold"/>
                                        <p:tgtEl>
                                          <p:spTgt spid="15896"/>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15898"/>
                                        </p:tgtEl>
                                        <p:attrNameLst>
                                          <p:attrName>style.visibility</p:attrName>
                                        </p:attrNameLst>
                                      </p:cBhvr>
                                      <p:to>
                                        <p:strVal val="visible"/>
                                      </p:to>
                                    </p:set>
                                    <p:anim calcmode="lin" valueType="num">
                                      <p:cBhvr>
                                        <p:cTn id="18" dur="500" fill="hold"/>
                                        <p:tgtEl>
                                          <p:spTgt spid="15898"/>
                                        </p:tgtEl>
                                        <p:attrNameLst>
                                          <p:attrName>ppt_w</p:attrName>
                                        </p:attrNameLst>
                                      </p:cBhvr>
                                      <p:tavLst>
                                        <p:tav tm="0">
                                          <p:val>
                                            <p:fltVal val="0"/>
                                          </p:val>
                                        </p:tav>
                                        <p:tav tm="100000">
                                          <p:val>
                                            <p:strVal val="#ppt_w"/>
                                          </p:val>
                                        </p:tav>
                                      </p:tavLst>
                                    </p:anim>
                                    <p:anim calcmode="lin" valueType="num">
                                      <p:cBhvr>
                                        <p:cTn id="19" dur="500" fill="hold"/>
                                        <p:tgtEl>
                                          <p:spTgt spid="15898"/>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5911"/>
                                        </p:tgtEl>
                                        <p:attrNameLst>
                                          <p:attrName>style.visibility</p:attrName>
                                        </p:attrNameLst>
                                      </p:cBhvr>
                                      <p:to>
                                        <p:strVal val="visible"/>
                                      </p:to>
                                    </p:set>
                                    <p:animEffect transition="in" filter="blinds(horizontal)">
                                      <p:cBhvr>
                                        <p:cTn id="27" dur="500"/>
                                        <p:tgtEl>
                                          <p:spTgt spid="159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5901"/>
                                        </p:tgtEl>
                                        <p:attrNameLst>
                                          <p:attrName>style.visibility</p:attrName>
                                        </p:attrNameLst>
                                      </p:cBhvr>
                                      <p:to>
                                        <p:strVal val="visible"/>
                                      </p:to>
                                    </p:set>
                                    <p:animEffect transition="in" filter="blinds(horizontal)">
                                      <p:cBhvr>
                                        <p:cTn id="32" dur="500"/>
                                        <p:tgtEl>
                                          <p:spTgt spid="15901"/>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5900"/>
                                        </p:tgtEl>
                                        <p:attrNameLst>
                                          <p:attrName>style.visibility</p:attrName>
                                        </p:attrNameLst>
                                      </p:cBhvr>
                                      <p:to>
                                        <p:strVal val="visible"/>
                                      </p:to>
                                    </p:set>
                                    <p:animEffect transition="in" filter="blinds(horizontal)">
                                      <p:cBhvr>
                                        <p:cTn id="35" dur="500"/>
                                        <p:tgtEl>
                                          <p:spTgt spid="1590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blinds(horizontal)">
                                      <p:cBhvr>
                                        <p:cTn id="40" dur="500"/>
                                        <p:tgtEl>
                                          <p:spTgt spid="21"/>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5966"/>
                                        </p:tgtEl>
                                        <p:attrNameLst>
                                          <p:attrName>style.visibility</p:attrName>
                                        </p:attrNameLst>
                                      </p:cBhvr>
                                      <p:to>
                                        <p:strVal val="visible"/>
                                      </p:to>
                                    </p:set>
                                    <p:animEffect transition="in" filter="blinds(horizontal)">
                                      <p:cBhvr>
                                        <p:cTn id="43" dur="500"/>
                                        <p:tgtEl>
                                          <p:spTgt spid="1596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15904"/>
                                        </p:tgtEl>
                                        <p:attrNameLst>
                                          <p:attrName>style.visibility</p:attrName>
                                        </p:attrNameLst>
                                      </p:cBhvr>
                                      <p:to>
                                        <p:strVal val="visible"/>
                                      </p:to>
                                    </p:set>
                                    <p:animEffect transition="in" filter="blinds(horizontal)">
                                      <p:cBhvr>
                                        <p:cTn id="48" dur="500"/>
                                        <p:tgtEl>
                                          <p:spTgt spid="15904"/>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5903"/>
                                        </p:tgtEl>
                                        <p:attrNameLst>
                                          <p:attrName>style.visibility</p:attrName>
                                        </p:attrNameLst>
                                      </p:cBhvr>
                                      <p:to>
                                        <p:strVal val="visible"/>
                                      </p:to>
                                    </p:set>
                                    <p:animEffect transition="in" filter="blinds(horizontal)">
                                      <p:cBhvr>
                                        <p:cTn id="51" dur="500"/>
                                        <p:tgtEl>
                                          <p:spTgt spid="1590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blinds(horizontal)">
                                      <p:cBhvr>
                                        <p:cTn id="56" dur="500"/>
                                        <p:tgtEl>
                                          <p:spTgt spid="7"/>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15975"/>
                                        </p:tgtEl>
                                        <p:attrNameLst>
                                          <p:attrName>style.visibility</p:attrName>
                                        </p:attrNameLst>
                                      </p:cBhvr>
                                      <p:to>
                                        <p:strVal val="visible"/>
                                      </p:to>
                                    </p:set>
                                    <p:animEffect transition="in" filter="blinds(horizontal)">
                                      <p:cBhvr>
                                        <p:cTn id="59" dur="500"/>
                                        <p:tgtEl>
                                          <p:spTgt spid="1597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nodeType="clickEffect">
                                  <p:stCondLst>
                                    <p:cond delay="0"/>
                                  </p:stCondLst>
                                  <p:childTnLst>
                                    <p:set>
                                      <p:cBhvr>
                                        <p:cTn id="63" dur="1" fill="hold">
                                          <p:stCondLst>
                                            <p:cond delay="0"/>
                                          </p:stCondLst>
                                        </p:cTn>
                                        <p:tgtEl>
                                          <p:spTgt spid="15906"/>
                                        </p:tgtEl>
                                        <p:attrNameLst>
                                          <p:attrName>style.visibility</p:attrName>
                                        </p:attrNameLst>
                                      </p:cBhvr>
                                      <p:to>
                                        <p:strVal val="visible"/>
                                      </p:to>
                                    </p:set>
                                    <p:animEffect transition="in" filter="blinds(horizontal)">
                                      <p:cBhvr>
                                        <p:cTn id="64" dur="500"/>
                                        <p:tgtEl>
                                          <p:spTgt spid="15906"/>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16029"/>
                                        </p:tgtEl>
                                        <p:attrNameLst>
                                          <p:attrName>style.visibility</p:attrName>
                                        </p:attrNameLst>
                                      </p:cBhvr>
                                      <p:to>
                                        <p:strVal val="visible"/>
                                      </p:to>
                                    </p:set>
                                    <p:animEffect transition="in" filter="blinds(horizontal)">
                                      <p:cBhvr>
                                        <p:cTn id="67" dur="500"/>
                                        <p:tgtEl>
                                          <p:spTgt spid="16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96" grpId="0" autoUpdateAnimBg="0"/>
      <p:bldP spid="15898" grpId="0" autoUpdateAnimBg="0"/>
      <p:bldP spid="15900" grpId="0"/>
      <p:bldP spid="15903" grpId="0"/>
      <p:bldP spid="15911" grpId="0"/>
      <p:bldP spid="15966" grpId="0"/>
      <p:bldP spid="15975" grpId="0"/>
      <p:bldP spid="16029" grpId="0"/>
      <p:bldP spid="1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 name="Text Box 645"/>
          <p:cNvSpPr txBox="1">
            <a:spLocks noChangeArrowheads="1"/>
          </p:cNvSpPr>
          <p:nvPr/>
        </p:nvSpPr>
        <p:spPr bwMode="auto">
          <a:xfrm>
            <a:off x="546100" y="835025"/>
            <a:ext cx="2225675" cy="368300"/>
          </a:xfrm>
          <a:prstGeom prst="rect">
            <a:avLst/>
          </a:prstGeom>
          <a:noFill/>
          <a:ln w="9525">
            <a:noFill/>
            <a:miter lim="800000"/>
            <a:headEnd/>
            <a:tailEnd/>
          </a:ln>
        </p:spPr>
        <p:txBody>
          <a:bodyPr anchor="ctr">
            <a:spAutoFit/>
          </a:bodyPr>
          <a:lstStyle/>
          <a:p>
            <a:r>
              <a:rPr lang="zh-CN" altLang="en-US" sz="1800" b="1">
                <a:solidFill>
                  <a:srgbClr val="0000FF"/>
                </a:solidFill>
                <a:latin typeface="华文中宋"/>
                <a:ea typeface="华文中宋"/>
                <a:cs typeface="华文中宋"/>
              </a:rPr>
              <a:t>３、胁强（应力）</a:t>
            </a:r>
          </a:p>
        </p:txBody>
      </p:sp>
      <p:sp>
        <p:nvSpPr>
          <p:cNvPr id="5766" name="Text Box 646"/>
          <p:cNvSpPr txBox="1">
            <a:spLocks noChangeArrowheads="1"/>
          </p:cNvSpPr>
          <p:nvPr/>
        </p:nvSpPr>
        <p:spPr bwMode="auto">
          <a:xfrm>
            <a:off x="539750" y="1122363"/>
            <a:ext cx="5113338" cy="369887"/>
          </a:xfrm>
          <a:prstGeom prst="rect">
            <a:avLst/>
          </a:prstGeom>
          <a:noFill/>
          <a:ln w="9525">
            <a:noFill/>
            <a:miter lim="800000"/>
            <a:headEnd/>
            <a:tailEnd/>
          </a:ln>
        </p:spPr>
        <p:txBody>
          <a:bodyPr anchor="ctr">
            <a:spAutoFit/>
          </a:bodyPr>
          <a:lstStyle/>
          <a:p>
            <a:pPr algn="ctr"/>
            <a:r>
              <a:rPr lang="zh-CN" altLang="en-US" sz="1800" b="1">
                <a:solidFill>
                  <a:srgbClr val="0000FF"/>
                </a:solidFill>
                <a:latin typeface="华文中宋"/>
                <a:ea typeface="华文中宋"/>
                <a:cs typeface="华文中宋"/>
              </a:rPr>
              <a:t>虎克定律：</a:t>
            </a:r>
            <a:r>
              <a:rPr lang="zh-CN" altLang="en-US" sz="1800" b="1">
                <a:latin typeface="华文中宋"/>
                <a:ea typeface="华文中宋"/>
                <a:cs typeface="华文中宋"/>
              </a:rPr>
              <a:t>协变（应变）与胁强（应力）成正比</a:t>
            </a:r>
          </a:p>
        </p:txBody>
      </p:sp>
      <p:sp>
        <p:nvSpPr>
          <p:cNvPr id="5770" name="Text Box 650"/>
          <p:cNvSpPr txBox="1">
            <a:spLocks noChangeArrowheads="1"/>
          </p:cNvSpPr>
          <p:nvPr/>
        </p:nvSpPr>
        <p:spPr bwMode="auto">
          <a:xfrm>
            <a:off x="6189663" y="1050925"/>
            <a:ext cx="1982787" cy="368300"/>
          </a:xfrm>
          <a:prstGeom prst="rect">
            <a:avLst/>
          </a:prstGeom>
          <a:noFill/>
          <a:ln w="9525">
            <a:noFill/>
            <a:miter lim="800000"/>
            <a:headEnd/>
            <a:tailEnd/>
          </a:ln>
        </p:spPr>
        <p:txBody>
          <a:bodyPr anchor="ctr">
            <a:spAutoFit/>
          </a:bodyPr>
          <a:lstStyle/>
          <a:p>
            <a:pPr algn="ctr"/>
            <a:r>
              <a:rPr lang="zh-CN" altLang="en-US" sz="1800" b="1">
                <a:solidFill>
                  <a:schemeClr val="accent2"/>
                </a:solidFill>
                <a:latin typeface="华文中宋"/>
                <a:ea typeface="华文中宋"/>
                <a:cs typeface="华文中宋"/>
              </a:rPr>
              <a:t>弹性模量</a:t>
            </a:r>
          </a:p>
        </p:txBody>
      </p:sp>
      <p:sp>
        <p:nvSpPr>
          <p:cNvPr id="24629" name="Text Box 652"/>
          <p:cNvSpPr txBox="1">
            <a:spLocks noChangeArrowheads="1"/>
          </p:cNvSpPr>
          <p:nvPr/>
        </p:nvSpPr>
        <p:spPr bwMode="auto">
          <a:xfrm>
            <a:off x="3152775" y="3297238"/>
            <a:ext cx="184150" cy="523875"/>
          </a:xfrm>
          <a:prstGeom prst="rect">
            <a:avLst/>
          </a:prstGeom>
          <a:noFill/>
          <a:ln w="9525">
            <a:noFill/>
            <a:miter lim="800000"/>
            <a:headEnd/>
            <a:tailEnd/>
          </a:ln>
        </p:spPr>
        <p:txBody>
          <a:bodyPr anchor="ctr">
            <a:spAutoFit/>
          </a:bodyPr>
          <a:lstStyle/>
          <a:p>
            <a:pPr algn="ctr"/>
            <a:endParaRPr lang="zh-CN" altLang="zh-CN" b="1"/>
          </a:p>
        </p:txBody>
      </p:sp>
      <p:sp>
        <p:nvSpPr>
          <p:cNvPr id="5775" name="Text Box 655"/>
          <p:cNvSpPr txBox="1">
            <a:spLocks noChangeArrowheads="1"/>
          </p:cNvSpPr>
          <p:nvPr/>
        </p:nvSpPr>
        <p:spPr bwMode="auto">
          <a:xfrm>
            <a:off x="179388" y="3386138"/>
            <a:ext cx="3398837" cy="368300"/>
          </a:xfrm>
          <a:prstGeom prst="rect">
            <a:avLst/>
          </a:prstGeom>
          <a:noFill/>
          <a:ln w="9525">
            <a:noFill/>
            <a:miter lim="800000"/>
            <a:headEnd/>
            <a:tailEnd/>
          </a:ln>
        </p:spPr>
        <p:txBody>
          <a:bodyPr anchor="ctr">
            <a:spAutoFit/>
          </a:bodyPr>
          <a:lstStyle/>
          <a:p>
            <a:pPr algn="ctr"/>
            <a:r>
              <a:rPr lang="zh-CN" altLang="en-US" sz="1800" b="1">
                <a:solidFill>
                  <a:srgbClr val="0000FF"/>
                </a:solidFill>
                <a:latin typeface="华文中宋"/>
                <a:ea typeface="华文中宋"/>
                <a:cs typeface="华文中宋"/>
              </a:rPr>
              <a:t>５、形变能量密度：</a:t>
            </a:r>
          </a:p>
        </p:txBody>
      </p:sp>
      <p:sp>
        <p:nvSpPr>
          <p:cNvPr id="5779" name="Rectangle 659"/>
          <p:cNvSpPr>
            <a:spLocks noChangeArrowheads="1"/>
          </p:cNvSpPr>
          <p:nvPr/>
        </p:nvSpPr>
        <p:spPr bwMode="auto">
          <a:xfrm>
            <a:off x="6229350" y="2855913"/>
            <a:ext cx="2519363" cy="369887"/>
          </a:xfrm>
          <a:prstGeom prst="rect">
            <a:avLst/>
          </a:prstGeom>
          <a:noFill/>
          <a:ln w="9525">
            <a:noFill/>
            <a:miter lim="800000"/>
            <a:headEnd/>
            <a:tailEnd/>
          </a:ln>
        </p:spPr>
        <p:txBody>
          <a:bodyPr>
            <a:spAutoFit/>
          </a:bodyPr>
          <a:lstStyle/>
          <a:p>
            <a:r>
              <a:rPr lang="en-US" altLang="zh-CN" sz="1800" b="1">
                <a:solidFill>
                  <a:srgbClr val="CC6600"/>
                </a:solidFill>
                <a:latin typeface="华文中宋"/>
                <a:ea typeface="华文中宋"/>
                <a:cs typeface="华文中宋"/>
              </a:rPr>
              <a:t>G──</a:t>
            </a:r>
            <a:r>
              <a:rPr lang="zh-CN" altLang="en-US" sz="1800" b="1">
                <a:solidFill>
                  <a:srgbClr val="CC6600"/>
                </a:solidFill>
                <a:latin typeface="华文中宋"/>
                <a:ea typeface="华文中宋"/>
                <a:cs typeface="华文中宋"/>
              </a:rPr>
              <a:t>切变模量</a:t>
            </a:r>
          </a:p>
        </p:txBody>
      </p:sp>
      <p:graphicFrame>
        <p:nvGraphicFramePr>
          <p:cNvPr id="5780" name="Object 43"/>
          <p:cNvGraphicFramePr>
            <a:graphicFrameLocks noChangeAspect="1"/>
          </p:cNvGraphicFramePr>
          <p:nvPr/>
        </p:nvGraphicFramePr>
        <p:xfrm>
          <a:off x="2773363" y="1558925"/>
          <a:ext cx="1296987" cy="600075"/>
        </p:xfrm>
        <a:graphic>
          <a:graphicData uri="http://schemas.openxmlformats.org/presentationml/2006/ole">
            <p:oleObj spid="_x0000_s24619" name="Equation" r:id="rId3" imgW="660113" imgH="406224" progId="Equation.DSMT4">
              <p:embed/>
            </p:oleObj>
          </a:graphicData>
        </a:graphic>
      </p:graphicFrame>
      <p:sp>
        <p:nvSpPr>
          <p:cNvPr id="5781" name="Rectangle 661"/>
          <p:cNvSpPr>
            <a:spLocks noChangeArrowheads="1"/>
          </p:cNvSpPr>
          <p:nvPr/>
        </p:nvSpPr>
        <p:spPr bwMode="auto">
          <a:xfrm>
            <a:off x="6227763" y="1506538"/>
            <a:ext cx="2520950" cy="369887"/>
          </a:xfrm>
          <a:prstGeom prst="rect">
            <a:avLst/>
          </a:prstGeom>
          <a:noFill/>
          <a:ln w="9525">
            <a:noFill/>
            <a:miter lim="800000"/>
            <a:headEnd/>
            <a:tailEnd/>
          </a:ln>
        </p:spPr>
        <p:txBody>
          <a:bodyPr>
            <a:spAutoFit/>
          </a:bodyPr>
          <a:lstStyle/>
          <a:p>
            <a:r>
              <a:rPr lang="en-US" altLang="zh-CN" sz="1800" b="1">
                <a:solidFill>
                  <a:srgbClr val="CC6600"/>
                </a:solidFill>
                <a:latin typeface="华文中宋"/>
                <a:ea typeface="华文中宋"/>
                <a:cs typeface="华文中宋"/>
              </a:rPr>
              <a:t>E──</a:t>
            </a:r>
            <a:r>
              <a:rPr lang="zh-CN" altLang="en-US" sz="1800" b="1">
                <a:solidFill>
                  <a:srgbClr val="CC6600"/>
                </a:solidFill>
                <a:latin typeface="华文中宋"/>
                <a:ea typeface="华文中宋"/>
                <a:cs typeface="华文中宋"/>
              </a:rPr>
              <a:t>杨氏模量</a:t>
            </a:r>
          </a:p>
        </p:txBody>
      </p:sp>
      <p:sp>
        <p:nvSpPr>
          <p:cNvPr id="5782" name="Rectangle 662"/>
          <p:cNvSpPr>
            <a:spLocks noChangeArrowheads="1"/>
          </p:cNvSpPr>
          <p:nvPr/>
        </p:nvSpPr>
        <p:spPr bwMode="auto">
          <a:xfrm>
            <a:off x="6227763" y="2197100"/>
            <a:ext cx="2520950" cy="369888"/>
          </a:xfrm>
          <a:prstGeom prst="rect">
            <a:avLst/>
          </a:prstGeom>
          <a:noFill/>
          <a:ln w="9525">
            <a:noFill/>
            <a:miter lim="800000"/>
            <a:headEnd/>
            <a:tailEnd/>
          </a:ln>
        </p:spPr>
        <p:txBody>
          <a:bodyPr>
            <a:spAutoFit/>
          </a:bodyPr>
          <a:lstStyle/>
          <a:p>
            <a:r>
              <a:rPr lang="en-US" altLang="zh-CN" sz="1800" b="1">
                <a:solidFill>
                  <a:srgbClr val="CC6600"/>
                </a:solidFill>
                <a:latin typeface="华文中宋"/>
                <a:ea typeface="华文中宋"/>
                <a:cs typeface="华文中宋"/>
              </a:rPr>
              <a:t>B──</a:t>
            </a:r>
            <a:r>
              <a:rPr lang="zh-CN" altLang="en-US" sz="1800" b="1">
                <a:solidFill>
                  <a:srgbClr val="CC6600"/>
                </a:solidFill>
                <a:latin typeface="华文中宋"/>
                <a:ea typeface="华文中宋"/>
                <a:cs typeface="华文中宋"/>
              </a:rPr>
              <a:t>体变模量</a:t>
            </a:r>
          </a:p>
        </p:txBody>
      </p:sp>
      <p:graphicFrame>
        <p:nvGraphicFramePr>
          <p:cNvPr id="5783" name="Object 44"/>
          <p:cNvGraphicFramePr>
            <a:graphicFrameLocks noChangeAspect="1"/>
          </p:cNvGraphicFramePr>
          <p:nvPr/>
        </p:nvGraphicFramePr>
        <p:xfrm>
          <a:off x="2773363" y="2801938"/>
          <a:ext cx="1008062" cy="561975"/>
        </p:xfrm>
        <a:graphic>
          <a:graphicData uri="http://schemas.openxmlformats.org/presentationml/2006/ole">
            <p:oleObj spid="_x0000_s24620" name="Equation" r:id="rId4" imgW="545626" imgH="406048" progId="Equation.DSMT4">
              <p:embed/>
            </p:oleObj>
          </a:graphicData>
        </a:graphic>
      </p:graphicFrame>
      <p:graphicFrame>
        <p:nvGraphicFramePr>
          <p:cNvPr id="5784" name="Object 45"/>
          <p:cNvGraphicFramePr>
            <a:graphicFrameLocks noChangeAspect="1"/>
          </p:cNvGraphicFramePr>
          <p:nvPr/>
        </p:nvGraphicFramePr>
        <p:xfrm>
          <a:off x="2773363" y="2206625"/>
          <a:ext cx="1511300" cy="639763"/>
        </p:xfrm>
        <a:graphic>
          <a:graphicData uri="http://schemas.openxmlformats.org/presentationml/2006/ole">
            <p:oleObj spid="_x0000_s24621" name="Equation" r:id="rId5" imgW="787058" imgH="444307" progId="Equation.DSMT4">
              <p:embed/>
            </p:oleObj>
          </a:graphicData>
        </a:graphic>
      </p:graphicFrame>
      <p:sp>
        <p:nvSpPr>
          <p:cNvPr id="5785" name="Rectangle 665"/>
          <p:cNvSpPr>
            <a:spLocks noChangeArrowheads="1"/>
          </p:cNvSpPr>
          <p:nvPr/>
        </p:nvSpPr>
        <p:spPr bwMode="auto">
          <a:xfrm>
            <a:off x="1476375" y="2874963"/>
            <a:ext cx="898525" cy="369887"/>
          </a:xfrm>
          <a:prstGeom prst="rect">
            <a:avLst/>
          </a:prstGeom>
          <a:noFill/>
          <a:ln w="9525">
            <a:noFill/>
            <a:miter lim="800000"/>
            <a:headEnd/>
            <a:tailEnd/>
          </a:ln>
        </p:spPr>
        <p:txBody>
          <a:bodyPr>
            <a:spAutoFit/>
          </a:bodyPr>
          <a:lstStyle/>
          <a:p>
            <a:r>
              <a:rPr lang="zh-CN" altLang="en-US" sz="1800" b="1">
                <a:solidFill>
                  <a:srgbClr val="CC6600"/>
                </a:solidFill>
                <a:latin typeface="华文中宋"/>
                <a:ea typeface="华文中宋"/>
                <a:cs typeface="华文中宋"/>
              </a:rPr>
              <a:t>切变</a:t>
            </a:r>
          </a:p>
        </p:txBody>
      </p:sp>
      <p:sp>
        <p:nvSpPr>
          <p:cNvPr id="5786" name="Rectangle 666"/>
          <p:cNvSpPr>
            <a:spLocks noChangeArrowheads="1"/>
          </p:cNvSpPr>
          <p:nvPr/>
        </p:nvSpPr>
        <p:spPr bwMode="auto">
          <a:xfrm>
            <a:off x="1476375" y="1631950"/>
            <a:ext cx="898525" cy="369888"/>
          </a:xfrm>
          <a:prstGeom prst="rect">
            <a:avLst/>
          </a:prstGeom>
          <a:noFill/>
          <a:ln w="9525">
            <a:noFill/>
            <a:miter lim="800000"/>
            <a:headEnd/>
            <a:tailEnd/>
          </a:ln>
        </p:spPr>
        <p:txBody>
          <a:bodyPr>
            <a:spAutoFit/>
          </a:bodyPr>
          <a:lstStyle/>
          <a:p>
            <a:r>
              <a:rPr lang="zh-CN" altLang="en-US" sz="1800" b="1">
                <a:solidFill>
                  <a:srgbClr val="CC6600"/>
                </a:solidFill>
                <a:latin typeface="华文中宋"/>
                <a:ea typeface="华文中宋"/>
                <a:cs typeface="华文中宋"/>
              </a:rPr>
              <a:t>长变</a:t>
            </a:r>
          </a:p>
        </p:txBody>
      </p:sp>
      <p:sp>
        <p:nvSpPr>
          <p:cNvPr id="5787" name="Rectangle 667"/>
          <p:cNvSpPr>
            <a:spLocks noChangeArrowheads="1"/>
          </p:cNvSpPr>
          <p:nvPr/>
        </p:nvSpPr>
        <p:spPr bwMode="auto">
          <a:xfrm>
            <a:off x="1476375" y="2279650"/>
            <a:ext cx="898525" cy="369888"/>
          </a:xfrm>
          <a:prstGeom prst="rect">
            <a:avLst/>
          </a:prstGeom>
          <a:noFill/>
          <a:ln w="9525">
            <a:noFill/>
            <a:miter lim="800000"/>
            <a:headEnd/>
            <a:tailEnd/>
          </a:ln>
        </p:spPr>
        <p:txBody>
          <a:bodyPr>
            <a:spAutoFit/>
          </a:bodyPr>
          <a:lstStyle/>
          <a:p>
            <a:r>
              <a:rPr lang="zh-CN" altLang="en-US" sz="1800" b="1">
                <a:solidFill>
                  <a:srgbClr val="CC6600"/>
                </a:solidFill>
                <a:latin typeface="华文中宋"/>
                <a:ea typeface="华文中宋"/>
                <a:cs typeface="华文中宋"/>
              </a:rPr>
              <a:t>体变</a:t>
            </a:r>
          </a:p>
        </p:txBody>
      </p:sp>
      <p:graphicFrame>
        <p:nvGraphicFramePr>
          <p:cNvPr id="5790" name="Object 46"/>
          <p:cNvGraphicFramePr>
            <a:graphicFrameLocks noChangeAspect="1"/>
          </p:cNvGraphicFramePr>
          <p:nvPr/>
        </p:nvGraphicFramePr>
        <p:xfrm>
          <a:off x="1042988" y="3994150"/>
          <a:ext cx="1584325" cy="555625"/>
        </p:xfrm>
        <a:graphic>
          <a:graphicData uri="http://schemas.openxmlformats.org/presentationml/2006/ole">
            <p:oleObj spid="_x0000_s24622" name="Equation" r:id="rId6" imgW="952087" imgH="444307" progId="Equation.DSMT4">
              <p:embed/>
            </p:oleObj>
          </a:graphicData>
        </a:graphic>
      </p:graphicFrame>
      <p:graphicFrame>
        <p:nvGraphicFramePr>
          <p:cNvPr id="5791" name="Object 47"/>
          <p:cNvGraphicFramePr>
            <a:graphicFrameLocks noChangeAspect="1"/>
          </p:cNvGraphicFramePr>
          <p:nvPr/>
        </p:nvGraphicFramePr>
        <p:xfrm>
          <a:off x="3203575" y="3994150"/>
          <a:ext cx="1728788" cy="566738"/>
        </p:xfrm>
        <a:graphic>
          <a:graphicData uri="http://schemas.openxmlformats.org/presentationml/2006/ole">
            <p:oleObj spid="_x0000_s24623" name="Equation" r:id="rId7" imgW="1015559" imgH="444307" progId="Equation.DSMT4">
              <p:embed/>
            </p:oleObj>
          </a:graphicData>
        </a:graphic>
      </p:graphicFrame>
      <p:graphicFrame>
        <p:nvGraphicFramePr>
          <p:cNvPr id="5792" name="Object 48"/>
          <p:cNvGraphicFramePr>
            <a:graphicFrameLocks noChangeAspect="1"/>
          </p:cNvGraphicFramePr>
          <p:nvPr/>
        </p:nvGraphicFramePr>
        <p:xfrm>
          <a:off x="5578475" y="3941763"/>
          <a:ext cx="2687638" cy="574675"/>
        </p:xfrm>
        <a:graphic>
          <a:graphicData uri="http://schemas.openxmlformats.org/presentationml/2006/ole">
            <p:oleObj spid="_x0000_s24624" name="Equation" r:id="rId8" imgW="1422400" imgH="406400" progId="Equation.DSMT4">
              <p:embed/>
            </p:oleObj>
          </a:graphicData>
        </a:graphic>
      </p:graphicFrame>
      <p:grpSp>
        <p:nvGrpSpPr>
          <p:cNvPr id="2" name="Group 674"/>
          <p:cNvGrpSpPr>
            <a:grpSpLocks/>
          </p:cNvGrpSpPr>
          <p:nvPr/>
        </p:nvGrpSpPr>
        <p:grpSpPr bwMode="auto">
          <a:xfrm>
            <a:off x="3606800" y="3275013"/>
            <a:ext cx="2981325" cy="600075"/>
            <a:chOff x="3270" y="2478"/>
            <a:chExt cx="1878" cy="504"/>
          </a:xfrm>
        </p:grpSpPr>
        <p:graphicFrame>
          <p:nvGraphicFramePr>
            <p:cNvPr id="24625" name="Object 49"/>
            <p:cNvGraphicFramePr>
              <a:graphicFrameLocks noChangeAspect="1"/>
            </p:cNvGraphicFramePr>
            <p:nvPr/>
          </p:nvGraphicFramePr>
          <p:xfrm>
            <a:off x="3270" y="2478"/>
            <a:ext cx="599" cy="504"/>
          </p:xfrm>
          <a:graphic>
            <a:graphicData uri="http://schemas.openxmlformats.org/presentationml/2006/ole">
              <p:oleObj spid="_x0000_s24625" name="Equation" r:id="rId9" imgW="482391" imgH="406224" progId="Equation.DSMT4">
                <p:embed/>
              </p:oleObj>
            </a:graphicData>
          </a:graphic>
        </p:graphicFrame>
        <p:sp>
          <p:nvSpPr>
            <p:cNvPr id="24638" name="Text Box 673"/>
            <p:cNvSpPr txBox="1">
              <a:spLocks noChangeArrowheads="1"/>
            </p:cNvSpPr>
            <p:nvPr/>
          </p:nvSpPr>
          <p:spPr bwMode="auto">
            <a:xfrm>
              <a:off x="3651" y="2577"/>
              <a:ext cx="1497" cy="310"/>
            </a:xfrm>
            <a:prstGeom prst="rect">
              <a:avLst/>
            </a:prstGeom>
            <a:noFill/>
            <a:ln w="9525">
              <a:noFill/>
              <a:miter lim="800000"/>
              <a:headEnd/>
              <a:tailEnd/>
            </a:ln>
          </p:spPr>
          <p:txBody>
            <a:bodyPr anchor="ctr">
              <a:spAutoFit/>
            </a:bodyPr>
            <a:lstStyle/>
            <a:p>
              <a:pPr algn="ctr"/>
              <a:r>
                <a:rPr lang="en-US" altLang="zh-CN" sz="1800" b="1">
                  <a:latin typeface="华文中宋"/>
                  <a:ea typeface="华文中宋"/>
                  <a:cs typeface="华文中宋"/>
                </a:rPr>
                <a:t>(</a:t>
              </a:r>
              <a:r>
                <a:rPr lang="zh-CN" altLang="en-US" sz="1800" b="1">
                  <a:latin typeface="华文中宋"/>
                  <a:ea typeface="华文中宋"/>
                  <a:cs typeface="华文中宋"/>
                </a:rPr>
                <a:t>弹性模量</a:t>
              </a:r>
              <a:r>
                <a:rPr lang="en-US" altLang="zh-CN" sz="1800" b="1">
                  <a:latin typeface="华文中宋"/>
                  <a:ea typeface="华文中宋"/>
                  <a:cs typeface="华文中宋"/>
                </a:rPr>
                <a:t>)(</a:t>
              </a:r>
              <a:r>
                <a:rPr lang="zh-CN" altLang="en-US" sz="1800" b="1">
                  <a:latin typeface="华文中宋"/>
                  <a:ea typeface="华文中宋"/>
                  <a:cs typeface="华文中宋"/>
                </a:rPr>
                <a:t>应变</a:t>
              </a:r>
              <a:r>
                <a:rPr lang="en-US" altLang="zh-CN" sz="1800" b="1">
                  <a:latin typeface="华文中宋"/>
                  <a:ea typeface="华文中宋"/>
                  <a:cs typeface="华文中宋"/>
                </a:rPr>
                <a:t>)</a:t>
              </a:r>
              <a:r>
                <a:rPr lang="en-US" altLang="zh-CN" sz="1800" b="1" baseline="30000">
                  <a:latin typeface="华文中宋"/>
                  <a:ea typeface="华文中宋"/>
                  <a:cs typeface="华文中宋"/>
                </a:rPr>
                <a:t>2</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5765"/>
                                        </p:tgtEl>
                                        <p:attrNameLst>
                                          <p:attrName>style.visibility</p:attrName>
                                        </p:attrNameLst>
                                      </p:cBhvr>
                                      <p:to>
                                        <p:strVal val="visible"/>
                                      </p:to>
                                    </p:set>
                                    <p:anim calcmode="lin" valueType="num">
                                      <p:cBhvr>
                                        <p:cTn id="7" dur="500" fill="hold"/>
                                        <p:tgtEl>
                                          <p:spTgt spid="5765"/>
                                        </p:tgtEl>
                                        <p:attrNameLst>
                                          <p:attrName>ppt_w</p:attrName>
                                        </p:attrNameLst>
                                      </p:cBhvr>
                                      <p:tavLst>
                                        <p:tav tm="0">
                                          <p:val>
                                            <p:fltVal val="0"/>
                                          </p:val>
                                        </p:tav>
                                        <p:tav tm="100000">
                                          <p:val>
                                            <p:strVal val="#ppt_w"/>
                                          </p:val>
                                        </p:tav>
                                      </p:tavLst>
                                    </p:anim>
                                    <p:anim calcmode="lin" valueType="num">
                                      <p:cBhvr>
                                        <p:cTn id="8" dur="500" fill="hold"/>
                                        <p:tgtEl>
                                          <p:spTgt spid="5765"/>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5766"/>
                                        </p:tgtEl>
                                        <p:attrNameLst>
                                          <p:attrName>style.visibility</p:attrName>
                                        </p:attrNameLst>
                                      </p:cBhvr>
                                      <p:to>
                                        <p:strVal val="visible"/>
                                      </p:to>
                                    </p:set>
                                    <p:anim calcmode="lin" valueType="num">
                                      <p:cBhvr>
                                        <p:cTn id="13" dur="500" fill="hold"/>
                                        <p:tgtEl>
                                          <p:spTgt spid="5766"/>
                                        </p:tgtEl>
                                        <p:attrNameLst>
                                          <p:attrName>ppt_w</p:attrName>
                                        </p:attrNameLst>
                                      </p:cBhvr>
                                      <p:tavLst>
                                        <p:tav tm="0">
                                          <p:val>
                                            <p:fltVal val="0"/>
                                          </p:val>
                                        </p:tav>
                                        <p:tav tm="100000">
                                          <p:val>
                                            <p:strVal val="#ppt_w"/>
                                          </p:val>
                                        </p:tav>
                                      </p:tavLst>
                                    </p:anim>
                                    <p:anim calcmode="lin" valueType="num">
                                      <p:cBhvr>
                                        <p:cTn id="14" dur="500" fill="hold"/>
                                        <p:tgtEl>
                                          <p:spTgt spid="5766"/>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5786"/>
                                        </p:tgtEl>
                                        <p:attrNameLst>
                                          <p:attrName>style.visibility</p:attrName>
                                        </p:attrNameLst>
                                      </p:cBhvr>
                                      <p:to>
                                        <p:strVal val="visible"/>
                                      </p:to>
                                    </p:set>
                                    <p:animEffect transition="in" filter="blinds(horizontal)">
                                      <p:cBhvr>
                                        <p:cTn id="19" dur="500"/>
                                        <p:tgtEl>
                                          <p:spTgt spid="5786"/>
                                        </p:tgtEl>
                                      </p:cBhvr>
                                    </p:animEffect>
                                  </p:childTnLst>
                                </p:cTn>
                              </p:par>
                              <p:par>
                                <p:cTn id="20" presetID="3" presetClass="entr" presetSubtype="10" fill="hold" nodeType="withEffect">
                                  <p:stCondLst>
                                    <p:cond delay="0"/>
                                  </p:stCondLst>
                                  <p:childTnLst>
                                    <p:set>
                                      <p:cBhvr>
                                        <p:cTn id="21" dur="1" fill="hold">
                                          <p:stCondLst>
                                            <p:cond delay="0"/>
                                          </p:stCondLst>
                                        </p:cTn>
                                        <p:tgtEl>
                                          <p:spTgt spid="5780"/>
                                        </p:tgtEl>
                                        <p:attrNameLst>
                                          <p:attrName>style.visibility</p:attrName>
                                        </p:attrNameLst>
                                      </p:cBhvr>
                                      <p:to>
                                        <p:strVal val="visible"/>
                                      </p:to>
                                    </p:set>
                                    <p:animEffect transition="in" filter="blinds(horizontal)">
                                      <p:cBhvr>
                                        <p:cTn id="22" dur="500"/>
                                        <p:tgtEl>
                                          <p:spTgt spid="5780"/>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787"/>
                                        </p:tgtEl>
                                        <p:attrNameLst>
                                          <p:attrName>style.visibility</p:attrName>
                                        </p:attrNameLst>
                                      </p:cBhvr>
                                      <p:to>
                                        <p:strVal val="visible"/>
                                      </p:to>
                                    </p:set>
                                    <p:animEffect transition="in" filter="blinds(horizontal)">
                                      <p:cBhvr>
                                        <p:cTn id="25" dur="500"/>
                                        <p:tgtEl>
                                          <p:spTgt spid="5787"/>
                                        </p:tgtEl>
                                      </p:cBhvr>
                                    </p:animEffect>
                                  </p:childTnLst>
                                </p:cTn>
                              </p:par>
                              <p:par>
                                <p:cTn id="26" presetID="3" presetClass="entr" presetSubtype="10" fill="hold" nodeType="withEffect">
                                  <p:stCondLst>
                                    <p:cond delay="0"/>
                                  </p:stCondLst>
                                  <p:childTnLst>
                                    <p:set>
                                      <p:cBhvr>
                                        <p:cTn id="27" dur="1" fill="hold">
                                          <p:stCondLst>
                                            <p:cond delay="0"/>
                                          </p:stCondLst>
                                        </p:cTn>
                                        <p:tgtEl>
                                          <p:spTgt spid="5784"/>
                                        </p:tgtEl>
                                        <p:attrNameLst>
                                          <p:attrName>style.visibility</p:attrName>
                                        </p:attrNameLst>
                                      </p:cBhvr>
                                      <p:to>
                                        <p:strVal val="visible"/>
                                      </p:to>
                                    </p:set>
                                    <p:animEffect transition="in" filter="blinds(horizontal)">
                                      <p:cBhvr>
                                        <p:cTn id="28" dur="500"/>
                                        <p:tgtEl>
                                          <p:spTgt spid="5784"/>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5785"/>
                                        </p:tgtEl>
                                        <p:attrNameLst>
                                          <p:attrName>style.visibility</p:attrName>
                                        </p:attrNameLst>
                                      </p:cBhvr>
                                      <p:to>
                                        <p:strVal val="visible"/>
                                      </p:to>
                                    </p:set>
                                    <p:animEffect transition="in" filter="blinds(horizontal)">
                                      <p:cBhvr>
                                        <p:cTn id="31" dur="500"/>
                                        <p:tgtEl>
                                          <p:spTgt spid="5785"/>
                                        </p:tgtEl>
                                      </p:cBhvr>
                                    </p:animEffect>
                                  </p:childTnLst>
                                </p:cTn>
                              </p:par>
                              <p:par>
                                <p:cTn id="32" presetID="3" presetClass="entr" presetSubtype="10" fill="hold" nodeType="withEffect">
                                  <p:stCondLst>
                                    <p:cond delay="0"/>
                                  </p:stCondLst>
                                  <p:childTnLst>
                                    <p:set>
                                      <p:cBhvr>
                                        <p:cTn id="33" dur="1" fill="hold">
                                          <p:stCondLst>
                                            <p:cond delay="0"/>
                                          </p:stCondLst>
                                        </p:cTn>
                                        <p:tgtEl>
                                          <p:spTgt spid="5783"/>
                                        </p:tgtEl>
                                        <p:attrNameLst>
                                          <p:attrName>style.visibility</p:attrName>
                                        </p:attrNameLst>
                                      </p:cBhvr>
                                      <p:to>
                                        <p:strVal val="visible"/>
                                      </p:to>
                                    </p:set>
                                    <p:animEffect transition="in" filter="blinds(horizontal)">
                                      <p:cBhvr>
                                        <p:cTn id="34" dur="500"/>
                                        <p:tgtEl>
                                          <p:spTgt spid="578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10" fill="hold" grpId="0" nodeType="clickEffect">
                                  <p:stCondLst>
                                    <p:cond delay="0"/>
                                  </p:stCondLst>
                                  <p:childTnLst>
                                    <p:set>
                                      <p:cBhvr>
                                        <p:cTn id="38" dur="1" fill="hold">
                                          <p:stCondLst>
                                            <p:cond delay="0"/>
                                          </p:stCondLst>
                                        </p:cTn>
                                        <p:tgtEl>
                                          <p:spTgt spid="5770"/>
                                        </p:tgtEl>
                                        <p:attrNameLst>
                                          <p:attrName>style.visibility</p:attrName>
                                        </p:attrNameLst>
                                      </p:cBhvr>
                                      <p:to>
                                        <p:strVal val="visible"/>
                                      </p:to>
                                    </p:set>
                                    <p:anim calcmode="lin" valueType="num">
                                      <p:cBhvr>
                                        <p:cTn id="39" dur="500" fill="hold"/>
                                        <p:tgtEl>
                                          <p:spTgt spid="5770"/>
                                        </p:tgtEl>
                                        <p:attrNameLst>
                                          <p:attrName>ppt_w</p:attrName>
                                        </p:attrNameLst>
                                      </p:cBhvr>
                                      <p:tavLst>
                                        <p:tav tm="0">
                                          <p:val>
                                            <p:fltVal val="0"/>
                                          </p:val>
                                        </p:tav>
                                        <p:tav tm="100000">
                                          <p:val>
                                            <p:strVal val="#ppt_w"/>
                                          </p:val>
                                        </p:tav>
                                      </p:tavLst>
                                    </p:anim>
                                    <p:anim calcmode="lin" valueType="num">
                                      <p:cBhvr>
                                        <p:cTn id="40" dur="500" fill="hold"/>
                                        <p:tgtEl>
                                          <p:spTgt spid="5770"/>
                                        </p:tgtEl>
                                        <p:attrNameLst>
                                          <p:attrName>ppt_h</p:attrName>
                                        </p:attrNameLst>
                                      </p:cBhvr>
                                      <p:tavLst>
                                        <p:tav tm="0">
                                          <p:val>
                                            <p:strVal val="#ppt_h"/>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5781"/>
                                        </p:tgtEl>
                                        <p:attrNameLst>
                                          <p:attrName>style.visibility</p:attrName>
                                        </p:attrNameLst>
                                      </p:cBhvr>
                                      <p:to>
                                        <p:strVal val="visible"/>
                                      </p:to>
                                    </p:set>
                                    <p:animEffect transition="in" filter="blinds(horizontal)">
                                      <p:cBhvr>
                                        <p:cTn id="45" dur="500"/>
                                        <p:tgtEl>
                                          <p:spTgt spid="5781"/>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5782"/>
                                        </p:tgtEl>
                                        <p:attrNameLst>
                                          <p:attrName>style.visibility</p:attrName>
                                        </p:attrNameLst>
                                      </p:cBhvr>
                                      <p:to>
                                        <p:strVal val="visible"/>
                                      </p:to>
                                    </p:set>
                                    <p:animEffect transition="in" filter="blinds(horizontal)">
                                      <p:cBhvr>
                                        <p:cTn id="48" dur="500"/>
                                        <p:tgtEl>
                                          <p:spTgt spid="5782"/>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5779"/>
                                        </p:tgtEl>
                                        <p:attrNameLst>
                                          <p:attrName>style.visibility</p:attrName>
                                        </p:attrNameLst>
                                      </p:cBhvr>
                                      <p:to>
                                        <p:strVal val="visible"/>
                                      </p:to>
                                    </p:set>
                                    <p:animEffect transition="in" filter="blinds(horizontal)">
                                      <p:cBhvr>
                                        <p:cTn id="51" dur="500"/>
                                        <p:tgtEl>
                                          <p:spTgt spid="577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7" presetClass="entr" presetSubtype="10" fill="hold" grpId="0" nodeType="clickEffect">
                                  <p:stCondLst>
                                    <p:cond delay="0"/>
                                  </p:stCondLst>
                                  <p:childTnLst>
                                    <p:set>
                                      <p:cBhvr>
                                        <p:cTn id="55" dur="1" fill="hold">
                                          <p:stCondLst>
                                            <p:cond delay="0"/>
                                          </p:stCondLst>
                                        </p:cTn>
                                        <p:tgtEl>
                                          <p:spTgt spid="5775"/>
                                        </p:tgtEl>
                                        <p:attrNameLst>
                                          <p:attrName>style.visibility</p:attrName>
                                        </p:attrNameLst>
                                      </p:cBhvr>
                                      <p:to>
                                        <p:strVal val="visible"/>
                                      </p:to>
                                    </p:set>
                                    <p:anim calcmode="lin" valueType="num">
                                      <p:cBhvr>
                                        <p:cTn id="56" dur="500" fill="hold"/>
                                        <p:tgtEl>
                                          <p:spTgt spid="5775"/>
                                        </p:tgtEl>
                                        <p:attrNameLst>
                                          <p:attrName>ppt_w</p:attrName>
                                        </p:attrNameLst>
                                      </p:cBhvr>
                                      <p:tavLst>
                                        <p:tav tm="0">
                                          <p:val>
                                            <p:fltVal val="0"/>
                                          </p:val>
                                        </p:tav>
                                        <p:tav tm="100000">
                                          <p:val>
                                            <p:strVal val="#ppt_w"/>
                                          </p:val>
                                        </p:tav>
                                      </p:tavLst>
                                    </p:anim>
                                    <p:anim calcmode="lin" valueType="num">
                                      <p:cBhvr>
                                        <p:cTn id="57" dur="500" fill="hold"/>
                                        <p:tgtEl>
                                          <p:spTgt spid="5775"/>
                                        </p:tgtEl>
                                        <p:attrNameLst>
                                          <p:attrName>ppt_h</p:attrName>
                                        </p:attrNameLst>
                                      </p:cBhvr>
                                      <p:tavLst>
                                        <p:tav tm="0">
                                          <p:val>
                                            <p:strVal val="#ppt_h"/>
                                          </p:val>
                                        </p:tav>
                                        <p:tav tm="100000">
                                          <p:val>
                                            <p:strVal val="#ppt_h"/>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blinds(horizontal)">
                                      <p:cBhvr>
                                        <p:cTn id="62" dur="500"/>
                                        <p:tgtEl>
                                          <p:spTgt spid="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5790"/>
                                        </p:tgtEl>
                                        <p:attrNameLst>
                                          <p:attrName>style.visibility</p:attrName>
                                        </p:attrNameLst>
                                      </p:cBhvr>
                                      <p:to>
                                        <p:strVal val="visible"/>
                                      </p:to>
                                    </p:set>
                                    <p:animEffect transition="in" filter="blinds(horizontal)">
                                      <p:cBhvr>
                                        <p:cTn id="67" dur="500"/>
                                        <p:tgtEl>
                                          <p:spTgt spid="5790"/>
                                        </p:tgtEl>
                                      </p:cBhvr>
                                    </p:animEffect>
                                  </p:childTnLst>
                                </p:cTn>
                              </p:par>
                              <p:par>
                                <p:cTn id="68" presetID="3" presetClass="entr" presetSubtype="10" fill="hold" nodeType="withEffect">
                                  <p:stCondLst>
                                    <p:cond delay="0"/>
                                  </p:stCondLst>
                                  <p:childTnLst>
                                    <p:set>
                                      <p:cBhvr>
                                        <p:cTn id="69" dur="1" fill="hold">
                                          <p:stCondLst>
                                            <p:cond delay="0"/>
                                          </p:stCondLst>
                                        </p:cTn>
                                        <p:tgtEl>
                                          <p:spTgt spid="5791"/>
                                        </p:tgtEl>
                                        <p:attrNameLst>
                                          <p:attrName>style.visibility</p:attrName>
                                        </p:attrNameLst>
                                      </p:cBhvr>
                                      <p:to>
                                        <p:strVal val="visible"/>
                                      </p:to>
                                    </p:set>
                                    <p:animEffect transition="in" filter="blinds(horizontal)">
                                      <p:cBhvr>
                                        <p:cTn id="70" dur="500"/>
                                        <p:tgtEl>
                                          <p:spTgt spid="5791"/>
                                        </p:tgtEl>
                                      </p:cBhvr>
                                    </p:animEffect>
                                  </p:childTnLst>
                                </p:cTn>
                              </p:par>
                              <p:par>
                                <p:cTn id="71" presetID="3" presetClass="entr" presetSubtype="10" fill="hold" nodeType="withEffect">
                                  <p:stCondLst>
                                    <p:cond delay="0"/>
                                  </p:stCondLst>
                                  <p:childTnLst>
                                    <p:set>
                                      <p:cBhvr>
                                        <p:cTn id="72" dur="1" fill="hold">
                                          <p:stCondLst>
                                            <p:cond delay="0"/>
                                          </p:stCondLst>
                                        </p:cTn>
                                        <p:tgtEl>
                                          <p:spTgt spid="5792"/>
                                        </p:tgtEl>
                                        <p:attrNameLst>
                                          <p:attrName>style.visibility</p:attrName>
                                        </p:attrNameLst>
                                      </p:cBhvr>
                                      <p:to>
                                        <p:strVal val="visible"/>
                                      </p:to>
                                    </p:set>
                                    <p:animEffect transition="in" filter="blinds(horizontal)">
                                      <p:cBhvr>
                                        <p:cTn id="73" dur="500"/>
                                        <p:tgtEl>
                                          <p:spTgt spid="57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5" grpId="0" autoUpdateAnimBg="0"/>
      <p:bldP spid="5766" grpId="0" autoUpdateAnimBg="0"/>
      <p:bldP spid="5770" grpId="0" autoUpdateAnimBg="0"/>
      <p:bldP spid="5775" grpId="0" autoUpdateAnimBg="0"/>
      <p:bldP spid="5779" grpId="0"/>
      <p:bldP spid="5781" grpId="0"/>
      <p:bldP spid="5782" grpId="0"/>
      <p:bldP spid="5785" grpId="0"/>
      <p:bldP spid="5786" grpId="0"/>
      <p:bldP spid="578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3" name="Text Box 107"/>
          <p:cNvSpPr txBox="1">
            <a:spLocks noChangeArrowheads="1"/>
          </p:cNvSpPr>
          <p:nvPr/>
        </p:nvSpPr>
        <p:spPr bwMode="auto">
          <a:xfrm>
            <a:off x="5403850" y="906463"/>
            <a:ext cx="1328738" cy="369887"/>
          </a:xfrm>
          <a:prstGeom prst="rect">
            <a:avLst/>
          </a:prstGeom>
          <a:noFill/>
          <a:ln w="9525">
            <a:noFill/>
            <a:miter lim="800000"/>
            <a:headEnd/>
            <a:tailEnd/>
          </a:ln>
        </p:spPr>
        <p:txBody>
          <a:bodyPr>
            <a:spAutoFit/>
          </a:bodyPr>
          <a:lstStyle/>
          <a:p>
            <a:r>
              <a:rPr lang="en-US" altLang="zh-CN" sz="1800" b="1">
                <a:solidFill>
                  <a:srgbClr val="0000FF"/>
                </a:solidFill>
                <a:ea typeface="华文中宋"/>
                <a:cs typeface="华文中宋"/>
              </a:rPr>
              <a:t>1</a:t>
            </a:r>
            <a:r>
              <a:rPr lang="zh-CN" altLang="en-US" sz="1800" b="1">
                <a:solidFill>
                  <a:srgbClr val="0000FF"/>
                </a:solidFill>
                <a:ea typeface="华文中宋"/>
                <a:cs typeface="华文中宋"/>
              </a:rPr>
              <a:t>、波速</a:t>
            </a:r>
            <a:r>
              <a:rPr lang="en-US" altLang="zh-CN" sz="1800" b="1" i="1">
                <a:solidFill>
                  <a:srgbClr val="0000FF"/>
                </a:solidFill>
                <a:ea typeface="华文中宋"/>
                <a:cs typeface="华文中宋"/>
              </a:rPr>
              <a:t>u</a:t>
            </a:r>
            <a:endParaRPr lang="en-US" altLang="zh-CN" sz="1800" i="1">
              <a:solidFill>
                <a:srgbClr val="0000FF"/>
              </a:solidFill>
              <a:ea typeface="华文中宋"/>
              <a:cs typeface="华文中宋"/>
            </a:endParaRPr>
          </a:p>
        </p:txBody>
      </p:sp>
      <p:sp>
        <p:nvSpPr>
          <p:cNvPr id="9324" name="Rectangle 108"/>
          <p:cNvSpPr>
            <a:spLocks noChangeArrowheads="1"/>
          </p:cNvSpPr>
          <p:nvPr/>
        </p:nvSpPr>
        <p:spPr bwMode="auto">
          <a:xfrm>
            <a:off x="323850" y="1266825"/>
            <a:ext cx="5400675" cy="646113"/>
          </a:xfrm>
          <a:prstGeom prst="rect">
            <a:avLst/>
          </a:prstGeom>
          <a:noFill/>
          <a:ln w="9525">
            <a:noFill/>
            <a:miter lim="800000"/>
            <a:headEnd/>
            <a:tailEnd/>
          </a:ln>
        </p:spPr>
        <p:txBody>
          <a:bodyPr>
            <a:spAutoFit/>
          </a:bodyPr>
          <a:lstStyle/>
          <a:p>
            <a:pPr>
              <a:buSzPct val="110000"/>
            </a:pPr>
            <a:r>
              <a:rPr lang="en-US" altLang="zh-CN" sz="1800" b="1">
                <a:ea typeface="华文中宋"/>
                <a:cs typeface="华文中宋"/>
              </a:rPr>
              <a:t>        </a:t>
            </a:r>
            <a:r>
              <a:rPr lang="zh-CN" altLang="en-US" sz="1800" b="1">
                <a:ea typeface="华文中宋"/>
                <a:cs typeface="华文中宋"/>
              </a:rPr>
              <a:t>某个振动状态（即位相）在介质中传播的速度，波速又叫相速。 </a:t>
            </a:r>
            <a:endParaRPr lang="zh-CN" altLang="en-US" sz="1800" b="1" i="1">
              <a:ea typeface="华文中宋"/>
              <a:cs typeface="华文中宋"/>
            </a:endParaRPr>
          </a:p>
        </p:txBody>
      </p:sp>
      <p:sp>
        <p:nvSpPr>
          <p:cNvPr id="9325" name="Rectangle 109"/>
          <p:cNvSpPr>
            <a:spLocks noChangeArrowheads="1"/>
          </p:cNvSpPr>
          <p:nvPr/>
        </p:nvSpPr>
        <p:spPr bwMode="auto">
          <a:xfrm>
            <a:off x="323850" y="1854200"/>
            <a:ext cx="5327650" cy="646113"/>
          </a:xfrm>
          <a:prstGeom prst="rect">
            <a:avLst/>
          </a:prstGeom>
          <a:noFill/>
          <a:ln w="9525">
            <a:noFill/>
            <a:miter lim="800000"/>
            <a:headEnd/>
            <a:tailEnd/>
          </a:ln>
        </p:spPr>
        <p:txBody>
          <a:bodyPr>
            <a:spAutoFit/>
          </a:bodyPr>
          <a:lstStyle/>
          <a:p>
            <a:pPr algn="just"/>
            <a:r>
              <a:rPr lang="en-US" altLang="zh-CN" sz="1800" b="1">
                <a:latin typeface="华文中宋"/>
                <a:ea typeface="华文中宋"/>
                <a:cs typeface="华文中宋"/>
              </a:rPr>
              <a:t>       </a:t>
            </a:r>
            <a:r>
              <a:rPr lang="zh-CN" altLang="en-US" sz="1800" b="1">
                <a:latin typeface="华文中宋"/>
                <a:ea typeface="华文中宋"/>
                <a:cs typeface="华文中宋"/>
              </a:rPr>
              <a:t>波速决定于介质的力学性质：弹性和惯性（介质的弹性模量和密度）。</a:t>
            </a:r>
          </a:p>
        </p:txBody>
      </p:sp>
      <p:graphicFrame>
        <p:nvGraphicFramePr>
          <p:cNvPr id="18448" name="Object 29"/>
          <p:cNvGraphicFramePr>
            <a:graphicFrameLocks noChangeAspect="1"/>
          </p:cNvGraphicFramePr>
          <p:nvPr/>
        </p:nvGraphicFramePr>
        <p:xfrm>
          <a:off x="3306763" y="2598738"/>
          <a:ext cx="1265237" cy="508000"/>
        </p:xfrm>
        <a:graphic>
          <a:graphicData uri="http://schemas.openxmlformats.org/presentationml/2006/ole">
            <p:oleObj spid="_x0000_s25629" name="公式" r:id="rId3" imgW="520474" imgH="279279" progId="Equation.3">
              <p:embed/>
            </p:oleObj>
          </a:graphicData>
        </a:graphic>
      </p:graphicFrame>
      <p:graphicFrame>
        <p:nvGraphicFramePr>
          <p:cNvPr id="18449" name="Object 30"/>
          <p:cNvGraphicFramePr>
            <a:graphicFrameLocks noChangeAspect="1"/>
          </p:cNvGraphicFramePr>
          <p:nvPr/>
        </p:nvGraphicFramePr>
        <p:xfrm>
          <a:off x="3276600" y="3084513"/>
          <a:ext cx="1404938" cy="566737"/>
        </p:xfrm>
        <a:graphic>
          <a:graphicData uri="http://schemas.openxmlformats.org/presentationml/2006/ole">
            <p:oleObj spid="_x0000_s25630" name="公式" r:id="rId4" imgW="520474" imgH="279279" progId="Equation.3">
              <p:embed/>
            </p:oleObj>
          </a:graphicData>
        </a:graphic>
      </p:graphicFrame>
      <p:sp>
        <p:nvSpPr>
          <p:cNvPr id="9329" name="Text Box 113"/>
          <p:cNvSpPr txBox="1">
            <a:spLocks noChangeArrowheads="1"/>
          </p:cNvSpPr>
          <p:nvPr/>
        </p:nvSpPr>
        <p:spPr bwMode="auto">
          <a:xfrm>
            <a:off x="539750" y="2667000"/>
            <a:ext cx="2635250" cy="369888"/>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rPr>
              <a:t>固体中横波的波速</a:t>
            </a:r>
          </a:p>
        </p:txBody>
      </p:sp>
      <p:graphicFrame>
        <p:nvGraphicFramePr>
          <p:cNvPr id="18450" name="Object 31"/>
          <p:cNvGraphicFramePr>
            <a:graphicFrameLocks noChangeAspect="1"/>
          </p:cNvGraphicFramePr>
          <p:nvPr/>
        </p:nvGraphicFramePr>
        <p:xfrm>
          <a:off x="5002213" y="4084638"/>
          <a:ext cx="1441450" cy="581025"/>
        </p:xfrm>
        <a:graphic>
          <a:graphicData uri="http://schemas.openxmlformats.org/presentationml/2006/ole">
            <p:oleObj spid="_x0000_s25631" name="公式" r:id="rId5" imgW="520474" imgH="279279" progId="Equation.3">
              <p:embed/>
            </p:oleObj>
          </a:graphicData>
        </a:graphic>
      </p:graphicFrame>
      <p:sp>
        <p:nvSpPr>
          <p:cNvPr id="9332" name="Text Box 116"/>
          <p:cNvSpPr txBox="1">
            <a:spLocks noChangeArrowheads="1"/>
          </p:cNvSpPr>
          <p:nvPr/>
        </p:nvSpPr>
        <p:spPr bwMode="auto">
          <a:xfrm>
            <a:off x="1162050" y="4206875"/>
            <a:ext cx="3554413" cy="368300"/>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rPr>
              <a:t>液体和气体中纵波的波速</a:t>
            </a:r>
          </a:p>
        </p:txBody>
      </p:sp>
      <p:sp>
        <p:nvSpPr>
          <p:cNvPr id="18441" name="Text Box 9"/>
          <p:cNvSpPr txBox="1">
            <a:spLocks noChangeArrowheads="1"/>
          </p:cNvSpPr>
          <p:nvPr/>
        </p:nvSpPr>
        <p:spPr bwMode="auto">
          <a:xfrm>
            <a:off x="1219200" y="3189288"/>
            <a:ext cx="1441450" cy="369887"/>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rPr>
              <a:t>纵波的波速</a:t>
            </a:r>
          </a:p>
        </p:txBody>
      </p:sp>
      <p:grpSp>
        <p:nvGrpSpPr>
          <p:cNvPr id="2" name="组合 4"/>
          <p:cNvGrpSpPr>
            <a:grpSpLocks/>
          </p:cNvGrpSpPr>
          <p:nvPr/>
        </p:nvGrpSpPr>
        <p:grpSpPr bwMode="auto">
          <a:xfrm>
            <a:off x="755650" y="3724275"/>
            <a:ext cx="3455988" cy="368300"/>
            <a:chOff x="4562638" y="4024983"/>
            <a:chExt cx="3456816" cy="492462"/>
          </a:xfrm>
        </p:grpSpPr>
        <p:sp>
          <p:nvSpPr>
            <p:cNvPr id="25643" name="Text Box 10"/>
            <p:cNvSpPr txBox="1">
              <a:spLocks noChangeArrowheads="1"/>
            </p:cNvSpPr>
            <p:nvPr/>
          </p:nvSpPr>
          <p:spPr bwMode="auto">
            <a:xfrm>
              <a:off x="4562638" y="4024983"/>
              <a:ext cx="1800425" cy="492462"/>
            </a:xfrm>
            <a:prstGeom prst="rect">
              <a:avLst/>
            </a:prstGeom>
            <a:noFill/>
            <a:ln w="9525">
              <a:noFill/>
              <a:miter lim="800000"/>
              <a:headEnd/>
              <a:tailEnd/>
            </a:ln>
          </p:spPr>
          <p:txBody>
            <a:bodyPr>
              <a:spAutoFit/>
            </a:bodyPr>
            <a:lstStyle/>
            <a:p>
              <a:pPr eaLnBrk="0" hangingPunct="0"/>
              <a:r>
                <a:rPr kumimoji="0" lang="zh-CN" altLang="en-US" sz="1800" b="1">
                  <a:latin typeface="华文中宋"/>
                  <a:ea typeface="华文中宋"/>
                  <a:cs typeface="华文中宋"/>
                </a:rPr>
                <a:t>同一固体媒质中</a:t>
              </a:r>
              <a:endParaRPr lang="zh-CN" altLang="en-US" sz="1800" b="1">
                <a:latin typeface="华文中宋"/>
                <a:ea typeface="华文中宋"/>
                <a:cs typeface="华文中宋"/>
              </a:endParaRPr>
            </a:p>
          </p:txBody>
        </p:sp>
        <p:graphicFrame>
          <p:nvGraphicFramePr>
            <p:cNvPr id="25632" name="Object 32"/>
            <p:cNvGraphicFramePr>
              <a:graphicFrameLocks noChangeAspect="1"/>
            </p:cNvGraphicFramePr>
            <p:nvPr/>
          </p:nvGraphicFramePr>
          <p:xfrm>
            <a:off x="7107281" y="4096504"/>
            <a:ext cx="912173" cy="409508"/>
          </p:xfrm>
          <a:graphic>
            <a:graphicData uri="http://schemas.openxmlformats.org/presentationml/2006/ole">
              <p:oleObj spid="_x0000_s25632" name="公式" r:id="rId6" imgW="508000" imgH="228600" progId="Equation.3">
                <p:embed/>
              </p:oleObj>
            </a:graphicData>
          </a:graphic>
        </p:graphicFrame>
      </p:grpSp>
      <p:sp>
        <p:nvSpPr>
          <p:cNvPr id="18445" name="Rectangle 13"/>
          <p:cNvSpPr>
            <a:spLocks noChangeArrowheads="1"/>
          </p:cNvSpPr>
          <p:nvPr/>
        </p:nvSpPr>
        <p:spPr bwMode="auto">
          <a:xfrm>
            <a:off x="5365750" y="3575050"/>
            <a:ext cx="3527425" cy="550863"/>
          </a:xfrm>
          <a:prstGeom prst="rect">
            <a:avLst/>
          </a:prstGeom>
          <a:noFill/>
          <a:ln w="9525">
            <a:noFill/>
            <a:miter lim="800000"/>
            <a:headEnd/>
            <a:tailEnd/>
          </a:ln>
        </p:spPr>
        <p:txBody>
          <a:bodyPr lIns="0" tIns="0" rIns="0" bIns="88872" anchor="ctr">
            <a:spAutoFit/>
          </a:bodyPr>
          <a:lstStyle/>
          <a:p>
            <a:pPr algn="ctr"/>
            <a:r>
              <a:rPr lang="zh-CN" altLang="en-US" sz="1500" b="1">
                <a:latin typeface="华文中宋"/>
                <a:ea typeface="华文中宋"/>
                <a:cs typeface="华文中宋"/>
              </a:rPr>
              <a:t>地震时，纵波总是先到达地表，而横波总落后一步 </a:t>
            </a:r>
          </a:p>
        </p:txBody>
      </p:sp>
      <p:pic>
        <p:nvPicPr>
          <p:cNvPr id="18447" name="Picture 15" descr="U_2659~1"/>
          <p:cNvPicPr preferRelativeResize="0">
            <a:picLocks noChangeAspect="1" noChangeArrowheads="1"/>
          </p:cNvPicPr>
          <p:nvPr/>
        </p:nvPicPr>
        <p:blipFill>
          <a:blip r:embed="rId7"/>
          <a:srcRect/>
          <a:stretch>
            <a:fillRect/>
          </a:stretch>
        </p:blipFill>
        <p:spPr bwMode="auto">
          <a:xfrm>
            <a:off x="5724525" y="2032000"/>
            <a:ext cx="2697163" cy="1516063"/>
          </a:xfrm>
          <a:prstGeom prst="rect">
            <a:avLst/>
          </a:prstGeom>
          <a:noFill/>
          <a:ln w="9525">
            <a:noFill/>
            <a:miter lim="800000"/>
            <a:headEnd/>
            <a:tailEnd/>
          </a:ln>
        </p:spPr>
      </p:pic>
      <p:sp>
        <p:nvSpPr>
          <p:cNvPr id="17" name="Text Box 2"/>
          <p:cNvSpPr>
            <a:spLocks noChangeArrowheads="1"/>
          </p:cNvSpPr>
          <p:nvPr/>
        </p:nvSpPr>
        <p:spPr bwMode="auto">
          <a:xfrm>
            <a:off x="107950" y="876300"/>
            <a:ext cx="3498850" cy="400050"/>
          </a:xfrm>
          <a:prstGeom prst="homePlate">
            <a:avLst>
              <a:gd name="adj" fmla="val 49844"/>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五、描述波动的几个物理量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272" fill="hold" grpId="0" nodeType="clickEffect">
                                  <p:stCondLst>
                                    <p:cond delay="0"/>
                                  </p:stCondLst>
                                  <p:childTnLst>
                                    <p:set>
                                      <p:cBhvr>
                                        <p:cTn id="11" dur="1" fill="hold">
                                          <p:stCondLst>
                                            <p:cond delay="0"/>
                                          </p:stCondLst>
                                        </p:cTn>
                                        <p:tgtEl>
                                          <p:spTgt spid="9323"/>
                                        </p:tgtEl>
                                        <p:attrNameLst>
                                          <p:attrName>style.visibility</p:attrName>
                                        </p:attrNameLst>
                                      </p:cBhvr>
                                      <p:to>
                                        <p:strVal val="visible"/>
                                      </p:to>
                                    </p:set>
                                    <p:anim calcmode="lin" valueType="num">
                                      <p:cBhvr>
                                        <p:cTn id="12" dur="500" fill="hold"/>
                                        <p:tgtEl>
                                          <p:spTgt spid="9323"/>
                                        </p:tgtEl>
                                        <p:attrNameLst>
                                          <p:attrName>ppt_w</p:attrName>
                                        </p:attrNameLst>
                                      </p:cBhvr>
                                      <p:tavLst>
                                        <p:tav tm="0">
                                          <p:val>
                                            <p:strVal val="2/3*#ppt_w"/>
                                          </p:val>
                                        </p:tav>
                                        <p:tav tm="100000">
                                          <p:val>
                                            <p:strVal val="#ppt_w"/>
                                          </p:val>
                                        </p:tav>
                                      </p:tavLst>
                                    </p:anim>
                                    <p:anim calcmode="lin" valueType="num">
                                      <p:cBhvr>
                                        <p:cTn id="13" dur="500" fill="hold"/>
                                        <p:tgtEl>
                                          <p:spTgt spid="9323"/>
                                        </p:tgtEl>
                                        <p:attrNameLst>
                                          <p:attrName>ppt_h</p:attrName>
                                        </p:attrNameLst>
                                      </p:cBhvr>
                                      <p:tavLst>
                                        <p:tav tm="0">
                                          <p:val>
                                            <p:strVal val="2/3*#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272" fill="hold" grpId="0" nodeType="clickEffect">
                                  <p:stCondLst>
                                    <p:cond delay="0"/>
                                  </p:stCondLst>
                                  <p:childTnLst>
                                    <p:set>
                                      <p:cBhvr>
                                        <p:cTn id="17" dur="1" fill="hold">
                                          <p:stCondLst>
                                            <p:cond delay="0"/>
                                          </p:stCondLst>
                                        </p:cTn>
                                        <p:tgtEl>
                                          <p:spTgt spid="9324"/>
                                        </p:tgtEl>
                                        <p:attrNameLst>
                                          <p:attrName>style.visibility</p:attrName>
                                        </p:attrNameLst>
                                      </p:cBhvr>
                                      <p:to>
                                        <p:strVal val="visible"/>
                                      </p:to>
                                    </p:set>
                                    <p:anim calcmode="lin" valueType="num">
                                      <p:cBhvr>
                                        <p:cTn id="18" dur="500" fill="hold"/>
                                        <p:tgtEl>
                                          <p:spTgt spid="9324"/>
                                        </p:tgtEl>
                                        <p:attrNameLst>
                                          <p:attrName>ppt_w</p:attrName>
                                        </p:attrNameLst>
                                      </p:cBhvr>
                                      <p:tavLst>
                                        <p:tav tm="0">
                                          <p:val>
                                            <p:strVal val="2/3*#ppt_w"/>
                                          </p:val>
                                        </p:tav>
                                        <p:tav tm="100000">
                                          <p:val>
                                            <p:strVal val="#ppt_w"/>
                                          </p:val>
                                        </p:tav>
                                      </p:tavLst>
                                    </p:anim>
                                    <p:anim calcmode="lin" valueType="num">
                                      <p:cBhvr>
                                        <p:cTn id="19" dur="500" fill="hold"/>
                                        <p:tgtEl>
                                          <p:spTgt spid="9324"/>
                                        </p:tgtEl>
                                        <p:attrNameLst>
                                          <p:attrName>ppt_h</p:attrName>
                                        </p:attrNameLst>
                                      </p:cBhvr>
                                      <p:tavLst>
                                        <p:tav tm="0">
                                          <p:val>
                                            <p:strVal val="2/3*#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272" fill="hold" grpId="0" nodeType="clickEffect">
                                  <p:stCondLst>
                                    <p:cond delay="0"/>
                                  </p:stCondLst>
                                  <p:childTnLst>
                                    <p:set>
                                      <p:cBhvr>
                                        <p:cTn id="23" dur="1" fill="hold">
                                          <p:stCondLst>
                                            <p:cond delay="0"/>
                                          </p:stCondLst>
                                        </p:cTn>
                                        <p:tgtEl>
                                          <p:spTgt spid="9325"/>
                                        </p:tgtEl>
                                        <p:attrNameLst>
                                          <p:attrName>style.visibility</p:attrName>
                                        </p:attrNameLst>
                                      </p:cBhvr>
                                      <p:to>
                                        <p:strVal val="visible"/>
                                      </p:to>
                                    </p:set>
                                    <p:anim calcmode="lin" valueType="num">
                                      <p:cBhvr>
                                        <p:cTn id="24" dur="500" fill="hold"/>
                                        <p:tgtEl>
                                          <p:spTgt spid="9325"/>
                                        </p:tgtEl>
                                        <p:attrNameLst>
                                          <p:attrName>ppt_w</p:attrName>
                                        </p:attrNameLst>
                                      </p:cBhvr>
                                      <p:tavLst>
                                        <p:tav tm="0">
                                          <p:val>
                                            <p:strVal val="2/3*#ppt_w"/>
                                          </p:val>
                                        </p:tav>
                                        <p:tav tm="100000">
                                          <p:val>
                                            <p:strVal val="#ppt_w"/>
                                          </p:val>
                                        </p:tav>
                                      </p:tavLst>
                                    </p:anim>
                                    <p:anim calcmode="lin" valueType="num">
                                      <p:cBhvr>
                                        <p:cTn id="25" dur="500" fill="hold"/>
                                        <p:tgtEl>
                                          <p:spTgt spid="9325"/>
                                        </p:tgtEl>
                                        <p:attrNameLst>
                                          <p:attrName>ppt_h</p:attrName>
                                        </p:attrNameLst>
                                      </p:cBhvr>
                                      <p:tavLst>
                                        <p:tav tm="0">
                                          <p:val>
                                            <p:strVal val="2/3*#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9329"/>
                                        </p:tgtEl>
                                        <p:attrNameLst>
                                          <p:attrName>style.visibility</p:attrName>
                                        </p:attrNameLst>
                                      </p:cBhvr>
                                      <p:to>
                                        <p:strVal val="visible"/>
                                      </p:to>
                                    </p:set>
                                    <p:animEffect transition="in" filter="blinds(horizontal)">
                                      <p:cBhvr>
                                        <p:cTn id="30" dur="500"/>
                                        <p:tgtEl>
                                          <p:spTgt spid="9329"/>
                                        </p:tgtEl>
                                      </p:cBhvr>
                                    </p:animEffect>
                                  </p:childTnLst>
                                </p:cTn>
                              </p:par>
                              <p:par>
                                <p:cTn id="31" presetID="3" presetClass="entr" presetSubtype="10" fill="hold" nodeType="withEffect">
                                  <p:stCondLst>
                                    <p:cond delay="0"/>
                                  </p:stCondLst>
                                  <p:childTnLst>
                                    <p:set>
                                      <p:cBhvr>
                                        <p:cTn id="32" dur="1" fill="hold">
                                          <p:stCondLst>
                                            <p:cond delay="0"/>
                                          </p:stCondLst>
                                        </p:cTn>
                                        <p:tgtEl>
                                          <p:spTgt spid="18448"/>
                                        </p:tgtEl>
                                        <p:attrNameLst>
                                          <p:attrName>style.visibility</p:attrName>
                                        </p:attrNameLst>
                                      </p:cBhvr>
                                      <p:to>
                                        <p:strVal val="visible"/>
                                      </p:to>
                                    </p:set>
                                    <p:animEffect transition="in" filter="blinds(horizontal)">
                                      <p:cBhvr>
                                        <p:cTn id="33" dur="500"/>
                                        <p:tgtEl>
                                          <p:spTgt spid="1844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8441"/>
                                        </p:tgtEl>
                                        <p:attrNameLst>
                                          <p:attrName>style.visibility</p:attrName>
                                        </p:attrNameLst>
                                      </p:cBhvr>
                                      <p:to>
                                        <p:strVal val="visible"/>
                                      </p:to>
                                    </p:set>
                                    <p:animEffect transition="in" filter="blinds(horizontal)">
                                      <p:cBhvr>
                                        <p:cTn id="38" dur="500"/>
                                        <p:tgtEl>
                                          <p:spTgt spid="18441"/>
                                        </p:tgtEl>
                                      </p:cBhvr>
                                    </p:animEffect>
                                  </p:childTnLst>
                                </p:cTn>
                              </p:par>
                              <p:par>
                                <p:cTn id="39" presetID="3" presetClass="entr" presetSubtype="10" fill="hold" nodeType="withEffect">
                                  <p:stCondLst>
                                    <p:cond delay="0"/>
                                  </p:stCondLst>
                                  <p:childTnLst>
                                    <p:set>
                                      <p:cBhvr>
                                        <p:cTn id="40" dur="1" fill="hold">
                                          <p:stCondLst>
                                            <p:cond delay="0"/>
                                          </p:stCondLst>
                                        </p:cTn>
                                        <p:tgtEl>
                                          <p:spTgt spid="18449"/>
                                        </p:tgtEl>
                                        <p:attrNameLst>
                                          <p:attrName>style.visibility</p:attrName>
                                        </p:attrNameLst>
                                      </p:cBhvr>
                                      <p:to>
                                        <p:strVal val="visible"/>
                                      </p:to>
                                    </p:set>
                                    <p:animEffect transition="in" filter="blinds(horizontal)">
                                      <p:cBhvr>
                                        <p:cTn id="41" dur="500"/>
                                        <p:tgtEl>
                                          <p:spTgt spid="1844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3" presetClass="entr" presetSubtype="16"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 calcmode="lin" valueType="num">
                                      <p:cBhvr>
                                        <p:cTn id="46" dur="500" fill="hold"/>
                                        <p:tgtEl>
                                          <p:spTgt spid="2"/>
                                        </p:tgtEl>
                                        <p:attrNameLst>
                                          <p:attrName>ppt_w</p:attrName>
                                        </p:attrNameLst>
                                      </p:cBhvr>
                                      <p:tavLst>
                                        <p:tav tm="0">
                                          <p:val>
                                            <p:fltVal val="0"/>
                                          </p:val>
                                        </p:tav>
                                        <p:tav tm="100000">
                                          <p:val>
                                            <p:strVal val="#ppt_w"/>
                                          </p:val>
                                        </p:tav>
                                      </p:tavLst>
                                    </p:anim>
                                    <p:anim calcmode="lin" valueType="num">
                                      <p:cBhvr>
                                        <p:cTn id="47" dur="500" fill="hold"/>
                                        <p:tgtEl>
                                          <p:spTgt spid="2"/>
                                        </p:tgtEl>
                                        <p:attrNameLst>
                                          <p:attrName>ppt_h</p:attrName>
                                        </p:attrNameLst>
                                      </p:cBhvr>
                                      <p:tavLst>
                                        <p:tav tm="0">
                                          <p:val>
                                            <p:fltVal val="0"/>
                                          </p:val>
                                        </p:tav>
                                        <p:tav tm="100000">
                                          <p:val>
                                            <p:strVal val="#ppt_h"/>
                                          </p:val>
                                        </p:tav>
                                      </p:tavLst>
                                    </p:anim>
                                    <p:animEffect transition="in" filter="fade">
                                      <p:cBhvr>
                                        <p:cTn id="48" dur="500"/>
                                        <p:tgtEl>
                                          <p:spTgt spid="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nodeType="clickEffect">
                                  <p:stCondLst>
                                    <p:cond delay="0"/>
                                  </p:stCondLst>
                                  <p:childTnLst>
                                    <p:set>
                                      <p:cBhvr>
                                        <p:cTn id="52" dur="1" fill="hold">
                                          <p:stCondLst>
                                            <p:cond delay="0"/>
                                          </p:stCondLst>
                                        </p:cTn>
                                        <p:tgtEl>
                                          <p:spTgt spid="18447"/>
                                        </p:tgtEl>
                                        <p:attrNameLst>
                                          <p:attrName>style.visibility</p:attrName>
                                        </p:attrNameLst>
                                      </p:cBhvr>
                                      <p:to>
                                        <p:strVal val="visible"/>
                                      </p:to>
                                    </p:set>
                                    <p:animEffect transition="in" filter="blinds(horizontal)">
                                      <p:cBhvr>
                                        <p:cTn id="53" dur="500"/>
                                        <p:tgtEl>
                                          <p:spTgt spid="18447"/>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18445"/>
                                        </p:tgtEl>
                                        <p:attrNameLst>
                                          <p:attrName>style.visibility</p:attrName>
                                        </p:attrNameLst>
                                      </p:cBhvr>
                                      <p:to>
                                        <p:strVal val="visible"/>
                                      </p:to>
                                    </p:set>
                                    <p:animEffect transition="in" filter="blinds(horizontal)">
                                      <p:cBhvr>
                                        <p:cTn id="56" dur="500"/>
                                        <p:tgtEl>
                                          <p:spTgt spid="1844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9332"/>
                                        </p:tgtEl>
                                        <p:attrNameLst>
                                          <p:attrName>style.visibility</p:attrName>
                                        </p:attrNameLst>
                                      </p:cBhvr>
                                      <p:to>
                                        <p:strVal val="visible"/>
                                      </p:to>
                                    </p:set>
                                    <p:animEffect transition="in" filter="blinds(horizontal)">
                                      <p:cBhvr>
                                        <p:cTn id="61" dur="500"/>
                                        <p:tgtEl>
                                          <p:spTgt spid="9332"/>
                                        </p:tgtEl>
                                      </p:cBhvr>
                                    </p:animEffect>
                                  </p:childTnLst>
                                </p:cTn>
                              </p:par>
                              <p:par>
                                <p:cTn id="62" presetID="3" presetClass="entr" presetSubtype="10" fill="hold" nodeType="withEffect">
                                  <p:stCondLst>
                                    <p:cond delay="0"/>
                                  </p:stCondLst>
                                  <p:childTnLst>
                                    <p:set>
                                      <p:cBhvr>
                                        <p:cTn id="63" dur="1" fill="hold">
                                          <p:stCondLst>
                                            <p:cond delay="0"/>
                                          </p:stCondLst>
                                        </p:cTn>
                                        <p:tgtEl>
                                          <p:spTgt spid="18450"/>
                                        </p:tgtEl>
                                        <p:attrNameLst>
                                          <p:attrName>style.visibility</p:attrName>
                                        </p:attrNameLst>
                                      </p:cBhvr>
                                      <p:to>
                                        <p:strVal val="visible"/>
                                      </p:to>
                                    </p:set>
                                    <p:animEffect transition="in" filter="blinds(horizontal)">
                                      <p:cBhvr>
                                        <p:cTn id="64" dur="500"/>
                                        <p:tgtEl>
                                          <p:spTgt spid="18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3" grpId="0" autoUpdateAnimBg="0"/>
      <p:bldP spid="9324" grpId="0" autoUpdateAnimBg="0"/>
      <p:bldP spid="9325" grpId="0" autoUpdateAnimBg="0"/>
      <p:bldP spid="9329" grpId="0"/>
      <p:bldP spid="9332" grpId="0"/>
      <p:bldP spid="18441" grpId="0"/>
      <p:bldP spid="18445" grpId="0"/>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4"/>
          <p:cNvSpPr>
            <a:spLocks noChangeArrowheads="1"/>
          </p:cNvSpPr>
          <p:nvPr/>
        </p:nvSpPr>
        <p:spPr bwMode="auto">
          <a:xfrm>
            <a:off x="685800" y="835025"/>
            <a:ext cx="3554413" cy="368300"/>
          </a:xfrm>
          <a:prstGeom prst="rect">
            <a:avLst/>
          </a:prstGeom>
          <a:noFill/>
          <a:ln w="9525">
            <a:noFill/>
            <a:miter lim="800000"/>
            <a:headEnd/>
            <a:tailEnd/>
          </a:ln>
        </p:spPr>
        <p:txBody>
          <a:bodyPr>
            <a:spAutoFit/>
          </a:bodyPr>
          <a:lstStyle/>
          <a:p>
            <a:pPr eaLnBrk="0" hangingPunct="0"/>
            <a:r>
              <a:rPr kumimoji="0" lang="zh-CN" altLang="en-US" sz="1800" b="1">
                <a:latin typeface="华文中宋"/>
                <a:ea typeface="华文中宋"/>
                <a:cs typeface="华文中宋"/>
              </a:rPr>
              <a:t>注意波速与振速的区别：</a:t>
            </a:r>
          </a:p>
        </p:txBody>
      </p:sp>
      <p:graphicFrame>
        <p:nvGraphicFramePr>
          <p:cNvPr id="19475" name="Object 20"/>
          <p:cNvGraphicFramePr>
            <a:graphicFrameLocks noChangeAspect="1"/>
          </p:cNvGraphicFramePr>
          <p:nvPr/>
        </p:nvGraphicFramePr>
        <p:xfrm>
          <a:off x="2906713" y="1174750"/>
          <a:ext cx="3997325" cy="579438"/>
        </p:xfrm>
        <a:graphic>
          <a:graphicData uri="http://schemas.openxmlformats.org/presentationml/2006/ole">
            <p:oleObj spid="_x0000_s26644" name="Equation" r:id="rId3" imgW="1511300" imgH="292100" progId="Equation.DSMT4">
              <p:embed/>
            </p:oleObj>
          </a:graphicData>
        </a:graphic>
      </p:graphicFrame>
      <p:graphicFrame>
        <p:nvGraphicFramePr>
          <p:cNvPr id="19476" name="Object 21"/>
          <p:cNvGraphicFramePr>
            <a:graphicFrameLocks noChangeAspect="1"/>
          </p:cNvGraphicFramePr>
          <p:nvPr/>
        </p:nvGraphicFramePr>
        <p:xfrm>
          <a:off x="2943225" y="1841500"/>
          <a:ext cx="1236663" cy="585788"/>
        </p:xfrm>
        <a:graphic>
          <a:graphicData uri="http://schemas.openxmlformats.org/presentationml/2006/ole">
            <p:oleObj spid="_x0000_s26645" name="Equation" r:id="rId4" imgW="545863" imgH="393529" progId="Equation.DSMT4">
              <p:embed/>
            </p:oleObj>
          </a:graphicData>
        </a:graphic>
      </p:graphicFrame>
      <p:sp>
        <p:nvSpPr>
          <p:cNvPr id="18439" name="Rectangle 7"/>
          <p:cNvSpPr>
            <a:spLocks noChangeArrowheads="1"/>
          </p:cNvSpPr>
          <p:nvPr/>
        </p:nvSpPr>
        <p:spPr bwMode="auto">
          <a:xfrm>
            <a:off x="4240213" y="1946275"/>
            <a:ext cx="3211512" cy="338138"/>
          </a:xfrm>
          <a:prstGeom prst="rect">
            <a:avLst/>
          </a:prstGeom>
          <a:noFill/>
          <a:ln w="9525">
            <a:noFill/>
            <a:miter lim="800000"/>
            <a:headEnd/>
            <a:tailEnd/>
          </a:ln>
        </p:spPr>
        <p:txBody>
          <a:bodyPr>
            <a:spAutoFit/>
          </a:bodyPr>
          <a:lstStyle/>
          <a:p>
            <a:pPr eaLnBrk="0" hangingPunct="0"/>
            <a:r>
              <a:rPr kumimoji="0" lang="zh-CN" altLang="en-US" sz="1600" b="1">
                <a:latin typeface="华文中宋"/>
                <a:ea typeface="华文中宋"/>
                <a:cs typeface="华文中宋"/>
              </a:rPr>
              <a:t>波速决定于介质的力学性质</a:t>
            </a:r>
          </a:p>
        </p:txBody>
      </p:sp>
      <p:sp>
        <p:nvSpPr>
          <p:cNvPr id="22" name="Text Box 8"/>
          <p:cNvSpPr txBox="1">
            <a:spLocks noChangeArrowheads="1"/>
          </p:cNvSpPr>
          <p:nvPr/>
        </p:nvSpPr>
        <p:spPr bwMode="auto">
          <a:xfrm>
            <a:off x="527050" y="2179638"/>
            <a:ext cx="2251075" cy="369887"/>
          </a:xfrm>
          <a:prstGeom prst="rect">
            <a:avLst/>
          </a:prstGeom>
          <a:noFill/>
          <a:ln w="9525">
            <a:noFill/>
            <a:miter lim="800000"/>
            <a:headEnd/>
            <a:tailEnd/>
          </a:ln>
        </p:spPr>
        <p:txBody>
          <a:bodyPr>
            <a:spAutoFit/>
          </a:bodyPr>
          <a:lstStyle/>
          <a:p>
            <a:pPr algn="just" eaLnBrk="0" hangingPunct="0"/>
            <a:r>
              <a:rPr kumimoji="0" lang="en-US" altLang="zh-CN" sz="1800" b="1">
                <a:solidFill>
                  <a:srgbClr val="0000FF"/>
                </a:solidFill>
                <a:latin typeface="华文中宋"/>
                <a:ea typeface="华文中宋"/>
                <a:cs typeface="华文中宋"/>
              </a:rPr>
              <a:t>2</a:t>
            </a:r>
            <a:r>
              <a:rPr kumimoji="0" lang="zh-CN" altLang="en-US" sz="1800" b="1">
                <a:solidFill>
                  <a:srgbClr val="0000FF"/>
                </a:solidFill>
                <a:latin typeface="华文中宋"/>
                <a:ea typeface="华文中宋"/>
                <a:cs typeface="华文中宋"/>
              </a:rPr>
              <a:t>、波动周期</a:t>
            </a:r>
          </a:p>
        </p:txBody>
      </p:sp>
      <p:sp>
        <p:nvSpPr>
          <p:cNvPr id="23" name="Text Box 9"/>
          <p:cNvSpPr txBox="1">
            <a:spLocks noChangeArrowheads="1"/>
          </p:cNvSpPr>
          <p:nvPr/>
        </p:nvSpPr>
        <p:spPr bwMode="auto">
          <a:xfrm>
            <a:off x="468313" y="2689225"/>
            <a:ext cx="8266112" cy="369888"/>
          </a:xfrm>
          <a:prstGeom prst="rect">
            <a:avLst/>
          </a:prstGeom>
          <a:noFill/>
          <a:ln w="9525">
            <a:noFill/>
            <a:miter lim="800000"/>
            <a:headEnd/>
            <a:tailEnd/>
          </a:ln>
        </p:spPr>
        <p:txBody>
          <a:bodyPr>
            <a:spAutoFit/>
          </a:bodyPr>
          <a:lstStyle/>
          <a:p>
            <a:pPr eaLnBrk="0" hangingPunct="0"/>
            <a:r>
              <a:rPr kumimoji="0" lang="zh-CN" altLang="en-US" sz="1800" b="1">
                <a:solidFill>
                  <a:srgbClr val="FF0000"/>
                </a:solidFill>
                <a:latin typeface="华文中宋"/>
                <a:ea typeface="华文中宋"/>
                <a:cs typeface="Times New Roman" pitchFamily="18" charset="0"/>
              </a:rPr>
              <a:t>周期</a:t>
            </a:r>
            <a:r>
              <a:rPr kumimoji="0" lang="en-US" altLang="zh-CN" sz="1800" b="1" i="1">
                <a:solidFill>
                  <a:srgbClr val="FF0000"/>
                </a:solidFill>
                <a:ea typeface="华文中宋"/>
                <a:cs typeface="Times New Roman" pitchFamily="18" charset="0"/>
              </a:rPr>
              <a:t>T</a:t>
            </a:r>
            <a:r>
              <a:rPr kumimoji="0" lang="en-US" altLang="zh-CN" sz="1800" b="1" i="1">
                <a:solidFill>
                  <a:srgbClr val="FF0000"/>
                </a:solidFill>
                <a:latin typeface="华文中宋"/>
                <a:ea typeface="华文中宋"/>
                <a:cs typeface="Times New Roman" pitchFamily="18" charset="0"/>
              </a:rPr>
              <a:t> </a:t>
            </a:r>
            <a:r>
              <a:rPr kumimoji="0" lang="zh-CN" altLang="en-US" sz="1800" b="1">
                <a:solidFill>
                  <a:srgbClr val="FF0000"/>
                </a:solidFill>
                <a:latin typeface="华文中宋"/>
                <a:ea typeface="华文中宋"/>
                <a:cs typeface="Times New Roman" pitchFamily="18" charset="0"/>
              </a:rPr>
              <a:t>：</a:t>
            </a:r>
            <a:r>
              <a:rPr lang="zh-CN" altLang="en-US" sz="1800" b="1">
                <a:latin typeface="华文中宋"/>
                <a:ea typeface="华文中宋"/>
                <a:cs typeface="Times New Roman" pitchFamily="18" charset="0"/>
              </a:rPr>
              <a:t>一个完整</a:t>
            </a:r>
            <a:r>
              <a:rPr kumimoji="0" lang="zh-CN" altLang="en-US" sz="1800" b="1">
                <a:latin typeface="华文中宋"/>
                <a:ea typeface="华文中宋"/>
                <a:cs typeface="Times New Roman" pitchFamily="18" charset="0"/>
              </a:rPr>
              <a:t>波形</a:t>
            </a:r>
            <a:r>
              <a:rPr lang="zh-CN" altLang="en-US" sz="1800" b="1">
                <a:latin typeface="华文中宋"/>
                <a:ea typeface="华文中宋"/>
                <a:cs typeface="Times New Roman" pitchFamily="18" charset="0"/>
              </a:rPr>
              <a:t>通过波线上的某</a:t>
            </a:r>
            <a:r>
              <a:rPr kumimoji="0" lang="zh-CN" altLang="en-US" sz="1800" b="1">
                <a:latin typeface="华文中宋"/>
                <a:ea typeface="华文中宋"/>
                <a:cs typeface="Times New Roman" pitchFamily="18" charset="0"/>
              </a:rPr>
              <a:t>固定</a:t>
            </a:r>
            <a:r>
              <a:rPr lang="zh-CN" altLang="en-US" sz="1800" b="1">
                <a:latin typeface="华文中宋"/>
                <a:ea typeface="华文中宋"/>
                <a:cs typeface="Times New Roman" pitchFamily="18" charset="0"/>
              </a:rPr>
              <a:t>点所需的时间</a:t>
            </a:r>
            <a:r>
              <a:rPr kumimoji="0" lang="zh-CN" altLang="en-US" sz="1800" b="1">
                <a:latin typeface="华文中宋"/>
                <a:ea typeface="华文中宋"/>
                <a:cs typeface="Times New Roman" pitchFamily="18" charset="0"/>
                <a:sym typeface="Symbol" pitchFamily="18" charset="2"/>
              </a:rPr>
              <a:t>。</a:t>
            </a:r>
          </a:p>
        </p:txBody>
      </p:sp>
      <p:sp>
        <p:nvSpPr>
          <p:cNvPr id="11" name="Text Box 10"/>
          <p:cNvSpPr txBox="1">
            <a:spLocks noChangeArrowheads="1"/>
          </p:cNvSpPr>
          <p:nvPr/>
        </p:nvSpPr>
        <p:spPr bwMode="auto">
          <a:xfrm>
            <a:off x="468313" y="3074988"/>
            <a:ext cx="7970837" cy="369887"/>
          </a:xfrm>
          <a:prstGeom prst="rect">
            <a:avLst/>
          </a:prstGeom>
          <a:noFill/>
          <a:ln w="9525">
            <a:noFill/>
            <a:miter lim="800000"/>
            <a:headEnd/>
            <a:tailEnd/>
          </a:ln>
        </p:spPr>
        <p:txBody>
          <a:bodyPr>
            <a:spAutoFit/>
          </a:bodyPr>
          <a:lstStyle/>
          <a:p>
            <a:pPr eaLnBrk="0" hangingPunct="0"/>
            <a:r>
              <a:rPr kumimoji="0" lang="zh-CN" altLang="en-US" sz="1800" b="1">
                <a:solidFill>
                  <a:srgbClr val="FF0000"/>
                </a:solidFill>
                <a:latin typeface="华文中宋"/>
                <a:ea typeface="华文中宋"/>
                <a:cs typeface="Times New Roman" pitchFamily="18" charset="0"/>
              </a:rPr>
              <a:t>频率</a:t>
            </a:r>
            <a:r>
              <a:rPr kumimoji="0" lang="zh-CN" altLang="zh-CN" sz="1800" b="1" i="1">
                <a:solidFill>
                  <a:srgbClr val="FF0000"/>
                </a:solidFill>
                <a:ea typeface="华文中宋"/>
                <a:cs typeface="Times New Roman" pitchFamily="18" charset="0"/>
                <a:sym typeface="Symbol" pitchFamily="18" charset="2"/>
              </a:rPr>
              <a:t></a:t>
            </a:r>
            <a:r>
              <a:rPr kumimoji="0" lang="zh-CN" altLang="en-US" sz="1800">
                <a:solidFill>
                  <a:srgbClr val="FF0000"/>
                </a:solidFill>
                <a:latin typeface="华文中宋"/>
                <a:ea typeface="华文中宋"/>
                <a:cs typeface="Times New Roman" pitchFamily="18" charset="0"/>
                <a:sym typeface="Symbol" pitchFamily="18" charset="2"/>
              </a:rPr>
              <a:t> </a:t>
            </a:r>
            <a:r>
              <a:rPr kumimoji="0" lang="zh-CN" altLang="en-US" sz="1800" b="1">
                <a:solidFill>
                  <a:srgbClr val="FF0000"/>
                </a:solidFill>
                <a:latin typeface="华文中宋"/>
                <a:ea typeface="华文中宋"/>
                <a:cs typeface="Times New Roman" pitchFamily="18" charset="0"/>
              </a:rPr>
              <a:t>：</a:t>
            </a:r>
            <a:r>
              <a:rPr kumimoji="0" lang="zh-CN" altLang="en-US" sz="1800" b="1">
                <a:latin typeface="华文中宋"/>
                <a:ea typeface="华文中宋"/>
                <a:cs typeface="Times New Roman" pitchFamily="18" charset="0"/>
              </a:rPr>
              <a:t>单位时间内通过介质中某固定点完整波的数目</a:t>
            </a:r>
            <a:r>
              <a:rPr kumimoji="0" lang="zh-CN" altLang="en-US" sz="1800" b="1">
                <a:latin typeface="华文中宋"/>
                <a:ea typeface="华文中宋"/>
                <a:cs typeface="Times New Roman" pitchFamily="18" charset="0"/>
                <a:sym typeface="Symbol" pitchFamily="18" charset="2"/>
              </a:rPr>
              <a:t>。</a:t>
            </a:r>
          </a:p>
        </p:txBody>
      </p:sp>
      <p:graphicFrame>
        <p:nvGraphicFramePr>
          <p:cNvPr id="12" name="Object 22"/>
          <p:cNvGraphicFramePr>
            <a:graphicFrameLocks noChangeAspect="1"/>
          </p:cNvGraphicFramePr>
          <p:nvPr/>
        </p:nvGraphicFramePr>
        <p:xfrm>
          <a:off x="3387725" y="3490913"/>
          <a:ext cx="1536700" cy="612775"/>
        </p:xfrm>
        <a:graphic>
          <a:graphicData uri="http://schemas.openxmlformats.org/presentationml/2006/ole">
            <p:oleObj spid="_x0000_s26646" name="Equation" r:id="rId5" imgW="736280" imgH="393529" progId="Equation.DSMT4">
              <p:embed/>
            </p:oleObj>
          </a:graphicData>
        </a:graphic>
      </p:graphicFrame>
      <p:sp>
        <p:nvSpPr>
          <p:cNvPr id="19474" name="Rectangle 18"/>
          <p:cNvSpPr>
            <a:spLocks noChangeArrowheads="1"/>
          </p:cNvSpPr>
          <p:nvPr/>
        </p:nvSpPr>
        <p:spPr bwMode="auto">
          <a:xfrm>
            <a:off x="382588" y="4217988"/>
            <a:ext cx="8150225" cy="369887"/>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rPr>
              <a:t>在波源相对于介质为静止时，波动周期等于波源振动周期。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 calcmode="lin" valueType="num">
                                      <p:cBhvr>
                                        <p:cTn id="7" dur="500" fill="hold"/>
                                        <p:tgtEl>
                                          <p:spTgt spid="18436"/>
                                        </p:tgtEl>
                                        <p:attrNameLst>
                                          <p:attrName>ppt_w</p:attrName>
                                        </p:attrNameLst>
                                      </p:cBhvr>
                                      <p:tavLst>
                                        <p:tav tm="0">
                                          <p:val>
                                            <p:strVal val="2/3*#ppt_w"/>
                                          </p:val>
                                        </p:tav>
                                        <p:tav tm="100000">
                                          <p:val>
                                            <p:strVal val="#ppt_w"/>
                                          </p:val>
                                        </p:tav>
                                      </p:tavLst>
                                    </p:anim>
                                    <p:anim calcmode="lin" valueType="num">
                                      <p:cBhvr>
                                        <p:cTn id="8" dur="500" fill="hold"/>
                                        <p:tgtEl>
                                          <p:spTgt spid="18436"/>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272" fill="hold" nodeType="clickEffect">
                                  <p:stCondLst>
                                    <p:cond delay="0"/>
                                  </p:stCondLst>
                                  <p:childTnLst>
                                    <p:set>
                                      <p:cBhvr>
                                        <p:cTn id="12" dur="1" fill="hold">
                                          <p:stCondLst>
                                            <p:cond delay="0"/>
                                          </p:stCondLst>
                                        </p:cTn>
                                        <p:tgtEl>
                                          <p:spTgt spid="19475"/>
                                        </p:tgtEl>
                                        <p:attrNameLst>
                                          <p:attrName>style.visibility</p:attrName>
                                        </p:attrNameLst>
                                      </p:cBhvr>
                                      <p:to>
                                        <p:strVal val="visible"/>
                                      </p:to>
                                    </p:set>
                                    <p:anim calcmode="lin" valueType="num">
                                      <p:cBhvr>
                                        <p:cTn id="13" dur="500" fill="hold"/>
                                        <p:tgtEl>
                                          <p:spTgt spid="19475"/>
                                        </p:tgtEl>
                                        <p:attrNameLst>
                                          <p:attrName>ppt_w</p:attrName>
                                        </p:attrNameLst>
                                      </p:cBhvr>
                                      <p:tavLst>
                                        <p:tav tm="0">
                                          <p:val>
                                            <p:strVal val="2/3*#ppt_w"/>
                                          </p:val>
                                        </p:tav>
                                        <p:tav tm="100000">
                                          <p:val>
                                            <p:strVal val="#ppt_w"/>
                                          </p:val>
                                        </p:tav>
                                      </p:tavLst>
                                    </p:anim>
                                    <p:anim calcmode="lin" valueType="num">
                                      <p:cBhvr>
                                        <p:cTn id="14" dur="500" fill="hold"/>
                                        <p:tgtEl>
                                          <p:spTgt spid="19475"/>
                                        </p:tgtEl>
                                        <p:attrNameLst>
                                          <p:attrName>ppt_h</p:attrName>
                                        </p:attrNameLst>
                                      </p:cBhvr>
                                      <p:tavLst>
                                        <p:tav tm="0">
                                          <p:val>
                                            <p:strVal val="2/3*#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272" fill="hold" nodeType="clickEffect">
                                  <p:stCondLst>
                                    <p:cond delay="0"/>
                                  </p:stCondLst>
                                  <p:childTnLst>
                                    <p:set>
                                      <p:cBhvr>
                                        <p:cTn id="18" dur="1" fill="hold">
                                          <p:stCondLst>
                                            <p:cond delay="0"/>
                                          </p:stCondLst>
                                        </p:cTn>
                                        <p:tgtEl>
                                          <p:spTgt spid="19476"/>
                                        </p:tgtEl>
                                        <p:attrNameLst>
                                          <p:attrName>style.visibility</p:attrName>
                                        </p:attrNameLst>
                                      </p:cBhvr>
                                      <p:to>
                                        <p:strVal val="visible"/>
                                      </p:to>
                                    </p:set>
                                    <p:anim calcmode="lin" valueType="num">
                                      <p:cBhvr>
                                        <p:cTn id="19" dur="500" fill="hold"/>
                                        <p:tgtEl>
                                          <p:spTgt spid="19476"/>
                                        </p:tgtEl>
                                        <p:attrNameLst>
                                          <p:attrName>ppt_w</p:attrName>
                                        </p:attrNameLst>
                                      </p:cBhvr>
                                      <p:tavLst>
                                        <p:tav tm="0">
                                          <p:val>
                                            <p:strVal val="2/3*#ppt_w"/>
                                          </p:val>
                                        </p:tav>
                                        <p:tav tm="100000">
                                          <p:val>
                                            <p:strVal val="#ppt_w"/>
                                          </p:val>
                                        </p:tav>
                                      </p:tavLst>
                                    </p:anim>
                                    <p:anim calcmode="lin" valueType="num">
                                      <p:cBhvr>
                                        <p:cTn id="20" dur="500" fill="hold"/>
                                        <p:tgtEl>
                                          <p:spTgt spid="19476"/>
                                        </p:tgtEl>
                                        <p:attrNameLst>
                                          <p:attrName>ppt_h</p:attrName>
                                        </p:attrNameLst>
                                      </p:cBhvr>
                                      <p:tavLst>
                                        <p:tav tm="0">
                                          <p:val>
                                            <p:strVal val="2/3*#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272" fill="hold" grpId="0" nodeType="clickEffect">
                                  <p:stCondLst>
                                    <p:cond delay="0"/>
                                  </p:stCondLst>
                                  <p:childTnLst>
                                    <p:set>
                                      <p:cBhvr>
                                        <p:cTn id="24" dur="1" fill="hold">
                                          <p:stCondLst>
                                            <p:cond delay="0"/>
                                          </p:stCondLst>
                                        </p:cTn>
                                        <p:tgtEl>
                                          <p:spTgt spid="18439"/>
                                        </p:tgtEl>
                                        <p:attrNameLst>
                                          <p:attrName>style.visibility</p:attrName>
                                        </p:attrNameLst>
                                      </p:cBhvr>
                                      <p:to>
                                        <p:strVal val="visible"/>
                                      </p:to>
                                    </p:set>
                                    <p:anim calcmode="lin" valueType="num">
                                      <p:cBhvr>
                                        <p:cTn id="25" dur="500" fill="hold"/>
                                        <p:tgtEl>
                                          <p:spTgt spid="18439"/>
                                        </p:tgtEl>
                                        <p:attrNameLst>
                                          <p:attrName>ppt_w</p:attrName>
                                        </p:attrNameLst>
                                      </p:cBhvr>
                                      <p:tavLst>
                                        <p:tav tm="0">
                                          <p:val>
                                            <p:strVal val="2/3*#ppt_w"/>
                                          </p:val>
                                        </p:tav>
                                        <p:tav tm="100000">
                                          <p:val>
                                            <p:strVal val="#ppt_w"/>
                                          </p:val>
                                        </p:tav>
                                      </p:tavLst>
                                    </p:anim>
                                    <p:anim calcmode="lin" valueType="num">
                                      <p:cBhvr>
                                        <p:cTn id="26" dur="500" fill="hold"/>
                                        <p:tgtEl>
                                          <p:spTgt spid="18439"/>
                                        </p:tgtEl>
                                        <p:attrNameLst>
                                          <p:attrName>ppt_h</p:attrName>
                                        </p:attrNameLst>
                                      </p:cBhvr>
                                      <p:tavLst>
                                        <p:tav tm="0">
                                          <p:val>
                                            <p:strVal val="2/3*#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left)">
                                      <p:cBhvr>
                                        <p:cTn id="31" dur="500"/>
                                        <p:tgtEl>
                                          <p:spTgt spid="2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wipe(left)">
                                      <p:cBhvr>
                                        <p:cTn id="36" dur="500"/>
                                        <p:tgtEl>
                                          <p:spTgt spid="2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left)">
                                      <p:cBhvr>
                                        <p:cTn id="46" dur="500"/>
                                        <p:tgtEl>
                                          <p:spTgt spid="1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32" fill="hold" grpId="0" nodeType="clickEffect">
                                  <p:stCondLst>
                                    <p:cond delay="0"/>
                                  </p:stCondLst>
                                  <p:childTnLst>
                                    <p:set>
                                      <p:cBhvr>
                                        <p:cTn id="50" dur="1" fill="hold">
                                          <p:stCondLst>
                                            <p:cond delay="0"/>
                                          </p:stCondLst>
                                        </p:cTn>
                                        <p:tgtEl>
                                          <p:spTgt spid="19474"/>
                                        </p:tgtEl>
                                        <p:attrNameLst>
                                          <p:attrName>style.visibility</p:attrName>
                                        </p:attrNameLst>
                                      </p:cBhvr>
                                      <p:to>
                                        <p:strVal val="visible"/>
                                      </p:to>
                                    </p:set>
                                    <p:animEffect transition="in" filter="box(out)">
                                      <p:cBhvr>
                                        <p:cTn id="51" dur="500"/>
                                        <p:tgtEl>
                                          <p:spTgt spid="19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utoUpdateAnimBg="0"/>
      <p:bldP spid="18439" grpId="0" autoUpdateAnimBg="0"/>
      <p:bldP spid="22" grpId="0" autoUpdateAnimBg="0"/>
      <p:bldP spid="23" grpId="0" autoUpdateAnimBg="0"/>
      <p:bldP spid="11" grpId="0" autoUpdateAnimBg="0"/>
      <p:bldP spid="19474"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7" name="Text Box 1033"/>
          <p:cNvSpPr txBox="1">
            <a:spLocks noChangeArrowheads="1"/>
          </p:cNvSpPr>
          <p:nvPr/>
        </p:nvSpPr>
        <p:spPr bwMode="auto">
          <a:xfrm>
            <a:off x="273050" y="771525"/>
            <a:ext cx="2786063" cy="369888"/>
          </a:xfrm>
          <a:prstGeom prst="rect">
            <a:avLst/>
          </a:prstGeom>
          <a:noFill/>
          <a:ln w="9525">
            <a:noFill/>
            <a:miter lim="800000"/>
            <a:headEnd/>
            <a:tailEnd/>
          </a:ln>
        </p:spPr>
        <p:txBody>
          <a:bodyPr>
            <a:spAutoFit/>
          </a:bodyPr>
          <a:lstStyle/>
          <a:p>
            <a:r>
              <a:rPr lang="en-US" altLang="zh-CN" sz="1800" b="1">
                <a:solidFill>
                  <a:srgbClr val="0000FF"/>
                </a:solidFill>
                <a:latin typeface="华文中宋"/>
                <a:ea typeface="华文中宋"/>
                <a:cs typeface="华文中宋"/>
              </a:rPr>
              <a:t>3</a:t>
            </a:r>
            <a:r>
              <a:rPr lang="zh-CN" altLang="en-US" sz="1800" b="1">
                <a:solidFill>
                  <a:srgbClr val="0000FF"/>
                </a:solidFill>
                <a:latin typeface="华文中宋"/>
                <a:ea typeface="华文中宋"/>
                <a:cs typeface="华文中宋"/>
              </a:rPr>
              <a:t>、波长</a:t>
            </a:r>
            <a:r>
              <a:rPr lang="zh-CN" altLang="en-US" sz="1800" b="1" i="1">
                <a:solidFill>
                  <a:srgbClr val="0000FF"/>
                </a:solidFill>
                <a:latin typeface="华文中宋"/>
                <a:ea typeface="华文中宋"/>
                <a:cs typeface="华文中宋"/>
                <a:sym typeface="Symbol" pitchFamily="18" charset="2"/>
              </a:rPr>
              <a:t></a:t>
            </a:r>
            <a:endParaRPr lang="zh-CN" altLang="en-US" sz="1800" i="1">
              <a:solidFill>
                <a:srgbClr val="0000FF"/>
              </a:solidFill>
              <a:latin typeface="华文中宋"/>
              <a:ea typeface="华文中宋"/>
              <a:cs typeface="华文中宋"/>
            </a:endParaRPr>
          </a:p>
        </p:txBody>
      </p:sp>
      <p:sp>
        <p:nvSpPr>
          <p:cNvPr id="17443" name="Text Box 1059"/>
          <p:cNvSpPr txBox="1">
            <a:spLocks noChangeArrowheads="1"/>
          </p:cNvSpPr>
          <p:nvPr/>
        </p:nvSpPr>
        <p:spPr bwMode="auto">
          <a:xfrm>
            <a:off x="511175" y="1149350"/>
            <a:ext cx="8093075" cy="369888"/>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rPr>
              <a:t>同一波线上振动位相差为</a:t>
            </a:r>
            <a:r>
              <a:rPr lang="en-US" altLang="zh-CN" sz="1800" b="1">
                <a:latin typeface="华文中宋"/>
                <a:ea typeface="华文中宋"/>
                <a:cs typeface="华文中宋"/>
              </a:rPr>
              <a:t>2π</a:t>
            </a:r>
            <a:r>
              <a:rPr lang="zh-CN" altLang="en-US" sz="1800" b="1">
                <a:latin typeface="华文中宋"/>
                <a:ea typeface="华文中宋"/>
                <a:cs typeface="华文中宋"/>
              </a:rPr>
              <a:t>的相邻的两质点间的距离。</a:t>
            </a:r>
          </a:p>
        </p:txBody>
      </p:sp>
      <p:sp>
        <p:nvSpPr>
          <p:cNvPr id="17444" name="Text Box 1060"/>
          <p:cNvSpPr txBox="1">
            <a:spLocks noChangeArrowheads="1"/>
          </p:cNvSpPr>
          <p:nvPr/>
        </p:nvSpPr>
        <p:spPr bwMode="auto">
          <a:xfrm>
            <a:off x="550863" y="1554163"/>
            <a:ext cx="7981950" cy="369887"/>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rPr>
              <a:t>或 某个振动状态在一个周期内传播的距离为波长。</a:t>
            </a:r>
          </a:p>
        </p:txBody>
      </p:sp>
      <p:graphicFrame>
        <p:nvGraphicFramePr>
          <p:cNvPr id="9345" name="Object 31"/>
          <p:cNvGraphicFramePr>
            <a:graphicFrameLocks noChangeAspect="1"/>
          </p:cNvGraphicFramePr>
          <p:nvPr/>
        </p:nvGraphicFramePr>
        <p:xfrm>
          <a:off x="2867025" y="3640138"/>
          <a:ext cx="3505200" cy="803275"/>
        </p:xfrm>
        <a:graphic>
          <a:graphicData uri="http://schemas.openxmlformats.org/presentationml/2006/ole">
            <p:oleObj spid="_x0000_s27679" name="Equation" r:id="rId3" imgW="1282700" imgH="393700" progId="Equation.DSMT4">
              <p:embed/>
            </p:oleObj>
          </a:graphicData>
        </a:graphic>
      </p:graphicFrame>
      <p:sp>
        <p:nvSpPr>
          <p:cNvPr id="9346" name="Text Box 130"/>
          <p:cNvSpPr txBox="1">
            <a:spLocks noChangeArrowheads="1"/>
          </p:cNvSpPr>
          <p:nvPr/>
        </p:nvSpPr>
        <p:spPr bwMode="auto">
          <a:xfrm>
            <a:off x="250825" y="3067050"/>
            <a:ext cx="6553200" cy="368300"/>
          </a:xfrm>
          <a:prstGeom prst="rect">
            <a:avLst/>
          </a:prstGeom>
          <a:noFill/>
          <a:ln w="9525">
            <a:noFill/>
            <a:miter lim="800000"/>
            <a:headEnd/>
            <a:tailEnd/>
          </a:ln>
        </p:spPr>
        <p:txBody>
          <a:bodyPr>
            <a:spAutoFit/>
          </a:bodyPr>
          <a:lstStyle/>
          <a:p>
            <a:r>
              <a:rPr lang="en-US" altLang="zh-CN" sz="1800" b="1">
                <a:solidFill>
                  <a:srgbClr val="0000FF"/>
                </a:solidFill>
                <a:latin typeface="华文中宋"/>
                <a:ea typeface="华文中宋"/>
                <a:cs typeface="华文中宋"/>
              </a:rPr>
              <a:t>4</a:t>
            </a:r>
            <a:r>
              <a:rPr lang="zh-CN" altLang="en-US" sz="1800" b="1">
                <a:solidFill>
                  <a:srgbClr val="0000FF"/>
                </a:solidFill>
                <a:latin typeface="华文中宋"/>
                <a:ea typeface="华文中宋"/>
                <a:cs typeface="华文中宋"/>
              </a:rPr>
              <a:t>、波长、波速、周期三者间关系</a:t>
            </a:r>
          </a:p>
        </p:txBody>
      </p:sp>
      <p:grpSp>
        <p:nvGrpSpPr>
          <p:cNvPr id="2" name="Group 135"/>
          <p:cNvGrpSpPr>
            <a:grpSpLocks/>
          </p:cNvGrpSpPr>
          <p:nvPr/>
        </p:nvGrpSpPr>
        <p:grpSpPr bwMode="auto">
          <a:xfrm>
            <a:off x="1035050" y="2051050"/>
            <a:ext cx="6507163" cy="1025525"/>
            <a:chOff x="652" y="1436"/>
            <a:chExt cx="4099" cy="860"/>
          </a:xfrm>
        </p:grpSpPr>
        <p:sp>
          <p:nvSpPr>
            <p:cNvPr id="27685" name="Line 1038"/>
            <p:cNvSpPr>
              <a:spLocks noChangeShapeType="1"/>
            </p:cNvSpPr>
            <p:nvPr/>
          </p:nvSpPr>
          <p:spPr bwMode="auto">
            <a:xfrm>
              <a:off x="652" y="1712"/>
              <a:ext cx="4099" cy="0"/>
            </a:xfrm>
            <a:prstGeom prst="line">
              <a:avLst/>
            </a:prstGeom>
            <a:noFill/>
            <a:ln w="28575">
              <a:solidFill>
                <a:srgbClr val="FF0000"/>
              </a:solidFill>
              <a:round/>
              <a:headEnd/>
              <a:tailEnd type="triangle" w="med" len="med"/>
            </a:ln>
          </p:spPr>
          <p:txBody>
            <a:bodyPr wrap="none" anchor="ctr"/>
            <a:lstStyle/>
            <a:p>
              <a:endParaRPr lang="zh-CN" altLang="en-US"/>
            </a:p>
          </p:txBody>
        </p:sp>
        <p:grpSp>
          <p:nvGrpSpPr>
            <p:cNvPr id="27686" name="Group 1039"/>
            <p:cNvGrpSpPr>
              <a:grpSpLocks/>
            </p:cNvGrpSpPr>
            <p:nvPr/>
          </p:nvGrpSpPr>
          <p:grpSpPr bwMode="auto">
            <a:xfrm>
              <a:off x="1253" y="1436"/>
              <a:ext cx="2933" cy="580"/>
              <a:chOff x="817" y="1485"/>
              <a:chExt cx="4447" cy="875"/>
            </a:xfrm>
          </p:grpSpPr>
          <p:sp>
            <p:nvSpPr>
              <p:cNvPr id="27703" name="Freeform 1040"/>
              <p:cNvSpPr>
                <a:spLocks/>
              </p:cNvSpPr>
              <p:nvPr/>
            </p:nvSpPr>
            <p:spPr bwMode="auto">
              <a:xfrm>
                <a:off x="817" y="1487"/>
                <a:ext cx="2559" cy="873"/>
              </a:xfrm>
              <a:custGeom>
                <a:avLst/>
                <a:gdLst>
                  <a:gd name="T0" fmla="*/ 0 w 2559"/>
                  <a:gd name="T1" fmla="*/ 442 h 873"/>
                  <a:gd name="T2" fmla="*/ 255 w 2559"/>
                  <a:gd name="T3" fmla="*/ 13 h 873"/>
                  <a:gd name="T4" fmla="*/ 576 w 2559"/>
                  <a:gd name="T5" fmla="*/ 455 h 873"/>
                  <a:gd name="T6" fmla="*/ 911 w 2559"/>
                  <a:gd name="T7" fmla="*/ 871 h 873"/>
                  <a:gd name="T8" fmla="*/ 1219 w 2559"/>
                  <a:gd name="T9" fmla="*/ 442 h 873"/>
                  <a:gd name="T10" fmla="*/ 1541 w 2559"/>
                  <a:gd name="T11" fmla="*/ 0 h 873"/>
                  <a:gd name="T12" fmla="*/ 1875 w 2559"/>
                  <a:gd name="T13" fmla="*/ 442 h 873"/>
                  <a:gd name="T14" fmla="*/ 2224 w 2559"/>
                  <a:gd name="T15" fmla="*/ 871 h 873"/>
                  <a:gd name="T16" fmla="*/ 2559 w 2559"/>
                  <a:gd name="T17" fmla="*/ 455 h 87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59"/>
                  <a:gd name="T28" fmla="*/ 0 h 873"/>
                  <a:gd name="T29" fmla="*/ 2559 w 2559"/>
                  <a:gd name="T30" fmla="*/ 873 h 87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59" h="873">
                    <a:moveTo>
                      <a:pt x="0" y="442"/>
                    </a:moveTo>
                    <a:cubicBezTo>
                      <a:pt x="42" y="371"/>
                      <a:pt x="159" y="11"/>
                      <a:pt x="255" y="13"/>
                    </a:cubicBezTo>
                    <a:cubicBezTo>
                      <a:pt x="351" y="15"/>
                      <a:pt x="467" y="312"/>
                      <a:pt x="576" y="455"/>
                    </a:cubicBezTo>
                    <a:cubicBezTo>
                      <a:pt x="685" y="598"/>
                      <a:pt x="804" y="873"/>
                      <a:pt x="911" y="871"/>
                    </a:cubicBezTo>
                    <a:cubicBezTo>
                      <a:pt x="1018" y="869"/>
                      <a:pt x="1114" y="587"/>
                      <a:pt x="1219" y="442"/>
                    </a:cubicBezTo>
                    <a:cubicBezTo>
                      <a:pt x="1324" y="297"/>
                      <a:pt x="1432" y="0"/>
                      <a:pt x="1541" y="0"/>
                    </a:cubicBezTo>
                    <a:cubicBezTo>
                      <a:pt x="1650" y="0"/>
                      <a:pt x="1761" y="297"/>
                      <a:pt x="1875" y="442"/>
                    </a:cubicBezTo>
                    <a:cubicBezTo>
                      <a:pt x="1989" y="587"/>
                      <a:pt x="2110" y="869"/>
                      <a:pt x="2224" y="871"/>
                    </a:cubicBezTo>
                    <a:cubicBezTo>
                      <a:pt x="2338" y="873"/>
                      <a:pt x="2489" y="542"/>
                      <a:pt x="2559" y="455"/>
                    </a:cubicBezTo>
                  </a:path>
                </a:pathLst>
              </a:custGeom>
              <a:noFill/>
              <a:ln w="38100" cap="flat" cmpd="sng">
                <a:solidFill>
                  <a:schemeClr val="accent2"/>
                </a:solidFill>
                <a:prstDash val="solid"/>
                <a:round/>
                <a:headEnd/>
                <a:tailEnd/>
              </a:ln>
            </p:spPr>
            <p:txBody>
              <a:bodyPr wrap="none" anchor="ctr"/>
              <a:lstStyle/>
              <a:p>
                <a:endParaRPr lang="zh-CN" altLang="en-US"/>
              </a:p>
            </p:txBody>
          </p:sp>
          <p:sp>
            <p:nvSpPr>
              <p:cNvPr id="27704" name="Freeform 1041"/>
              <p:cNvSpPr>
                <a:spLocks/>
              </p:cNvSpPr>
              <p:nvPr/>
            </p:nvSpPr>
            <p:spPr bwMode="auto">
              <a:xfrm flipH="1">
                <a:off x="2705" y="1485"/>
                <a:ext cx="2559" cy="873"/>
              </a:xfrm>
              <a:custGeom>
                <a:avLst/>
                <a:gdLst>
                  <a:gd name="T0" fmla="*/ 0 w 2559"/>
                  <a:gd name="T1" fmla="*/ 442 h 873"/>
                  <a:gd name="T2" fmla="*/ 255 w 2559"/>
                  <a:gd name="T3" fmla="*/ 13 h 873"/>
                  <a:gd name="T4" fmla="*/ 576 w 2559"/>
                  <a:gd name="T5" fmla="*/ 455 h 873"/>
                  <a:gd name="T6" fmla="*/ 911 w 2559"/>
                  <a:gd name="T7" fmla="*/ 871 h 873"/>
                  <a:gd name="T8" fmla="*/ 1219 w 2559"/>
                  <a:gd name="T9" fmla="*/ 442 h 873"/>
                  <a:gd name="T10" fmla="*/ 1541 w 2559"/>
                  <a:gd name="T11" fmla="*/ 0 h 873"/>
                  <a:gd name="T12" fmla="*/ 1875 w 2559"/>
                  <a:gd name="T13" fmla="*/ 442 h 873"/>
                  <a:gd name="T14" fmla="*/ 2224 w 2559"/>
                  <a:gd name="T15" fmla="*/ 871 h 873"/>
                  <a:gd name="T16" fmla="*/ 2559 w 2559"/>
                  <a:gd name="T17" fmla="*/ 455 h 87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59"/>
                  <a:gd name="T28" fmla="*/ 0 h 873"/>
                  <a:gd name="T29" fmla="*/ 2559 w 2559"/>
                  <a:gd name="T30" fmla="*/ 873 h 87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59" h="873">
                    <a:moveTo>
                      <a:pt x="0" y="442"/>
                    </a:moveTo>
                    <a:cubicBezTo>
                      <a:pt x="42" y="371"/>
                      <a:pt x="159" y="11"/>
                      <a:pt x="255" y="13"/>
                    </a:cubicBezTo>
                    <a:cubicBezTo>
                      <a:pt x="351" y="15"/>
                      <a:pt x="467" y="312"/>
                      <a:pt x="576" y="455"/>
                    </a:cubicBezTo>
                    <a:cubicBezTo>
                      <a:pt x="685" y="598"/>
                      <a:pt x="804" y="873"/>
                      <a:pt x="911" y="871"/>
                    </a:cubicBezTo>
                    <a:cubicBezTo>
                      <a:pt x="1018" y="869"/>
                      <a:pt x="1114" y="587"/>
                      <a:pt x="1219" y="442"/>
                    </a:cubicBezTo>
                    <a:cubicBezTo>
                      <a:pt x="1324" y="297"/>
                      <a:pt x="1432" y="0"/>
                      <a:pt x="1541" y="0"/>
                    </a:cubicBezTo>
                    <a:cubicBezTo>
                      <a:pt x="1650" y="0"/>
                      <a:pt x="1761" y="297"/>
                      <a:pt x="1875" y="442"/>
                    </a:cubicBezTo>
                    <a:cubicBezTo>
                      <a:pt x="1989" y="587"/>
                      <a:pt x="2110" y="869"/>
                      <a:pt x="2224" y="871"/>
                    </a:cubicBezTo>
                    <a:cubicBezTo>
                      <a:pt x="2338" y="873"/>
                      <a:pt x="2489" y="542"/>
                      <a:pt x="2559" y="455"/>
                    </a:cubicBezTo>
                  </a:path>
                </a:pathLst>
              </a:custGeom>
              <a:noFill/>
              <a:ln w="38100" cap="flat" cmpd="sng">
                <a:solidFill>
                  <a:schemeClr val="accent2"/>
                </a:solidFill>
                <a:prstDash val="solid"/>
                <a:round/>
                <a:headEnd/>
                <a:tailEnd/>
              </a:ln>
            </p:spPr>
            <p:txBody>
              <a:bodyPr wrap="none" anchor="ctr"/>
              <a:lstStyle/>
              <a:p>
                <a:endParaRPr lang="zh-CN" altLang="en-US"/>
              </a:p>
            </p:txBody>
          </p:sp>
        </p:grpSp>
        <p:grpSp>
          <p:nvGrpSpPr>
            <p:cNvPr id="27687" name="Group 1044"/>
            <p:cNvGrpSpPr>
              <a:grpSpLocks/>
            </p:cNvGrpSpPr>
            <p:nvPr/>
          </p:nvGrpSpPr>
          <p:grpSpPr bwMode="auto">
            <a:xfrm>
              <a:off x="1837" y="1903"/>
              <a:ext cx="899" cy="348"/>
              <a:chOff x="1767" y="978"/>
              <a:chExt cx="899" cy="911"/>
            </a:xfrm>
          </p:grpSpPr>
          <p:sp>
            <p:nvSpPr>
              <p:cNvPr id="27701" name="Line 1045"/>
              <p:cNvSpPr>
                <a:spLocks noChangeShapeType="1"/>
              </p:cNvSpPr>
              <p:nvPr/>
            </p:nvSpPr>
            <p:spPr bwMode="auto">
              <a:xfrm>
                <a:off x="1767" y="1005"/>
                <a:ext cx="0" cy="884"/>
              </a:xfrm>
              <a:prstGeom prst="line">
                <a:avLst/>
              </a:prstGeom>
              <a:noFill/>
              <a:ln w="19050">
                <a:solidFill>
                  <a:schemeClr val="accent2"/>
                </a:solidFill>
                <a:prstDash val="dash"/>
                <a:round/>
                <a:headEnd/>
                <a:tailEnd/>
              </a:ln>
            </p:spPr>
            <p:txBody>
              <a:bodyPr wrap="none" anchor="ctr"/>
              <a:lstStyle/>
              <a:p>
                <a:endParaRPr lang="zh-CN" altLang="en-US"/>
              </a:p>
            </p:txBody>
          </p:sp>
          <p:sp>
            <p:nvSpPr>
              <p:cNvPr id="27702" name="Line 1046"/>
              <p:cNvSpPr>
                <a:spLocks noChangeShapeType="1"/>
              </p:cNvSpPr>
              <p:nvPr/>
            </p:nvSpPr>
            <p:spPr bwMode="auto">
              <a:xfrm>
                <a:off x="2666" y="978"/>
                <a:ext cx="0" cy="884"/>
              </a:xfrm>
              <a:prstGeom prst="line">
                <a:avLst/>
              </a:prstGeom>
              <a:noFill/>
              <a:ln w="19050">
                <a:solidFill>
                  <a:schemeClr val="accent2"/>
                </a:solidFill>
                <a:prstDash val="dash"/>
                <a:round/>
                <a:headEnd/>
                <a:tailEnd/>
              </a:ln>
            </p:spPr>
            <p:txBody>
              <a:bodyPr wrap="none" anchor="ctr"/>
              <a:lstStyle/>
              <a:p>
                <a:endParaRPr lang="zh-CN" altLang="en-US"/>
              </a:p>
            </p:txBody>
          </p:sp>
        </p:grpSp>
        <p:sp>
          <p:nvSpPr>
            <p:cNvPr id="27688" name="Rectangle 1047"/>
            <p:cNvSpPr>
              <a:spLocks noChangeArrowheads="1"/>
            </p:cNvSpPr>
            <p:nvPr/>
          </p:nvSpPr>
          <p:spPr bwMode="auto">
            <a:xfrm>
              <a:off x="2064" y="1979"/>
              <a:ext cx="170" cy="271"/>
            </a:xfrm>
            <a:prstGeom prst="rect">
              <a:avLst/>
            </a:prstGeom>
            <a:noFill/>
            <a:ln w="9525">
              <a:noFill/>
              <a:miter lim="800000"/>
              <a:headEnd/>
              <a:tailEnd/>
            </a:ln>
            <a:effectLst>
              <a:prstShdw prst="shdw17" dist="17961" dir="2700000">
                <a:srgbClr val="993D00"/>
              </a:prstShdw>
            </a:effectLst>
          </p:spPr>
          <p:txBody>
            <a:bodyPr wrap="none">
              <a:spAutoFit/>
            </a:bodyPr>
            <a:lstStyle/>
            <a:p>
              <a:r>
                <a:rPr lang="en-US" altLang="zh-CN" sz="1500" b="1" i="1">
                  <a:cs typeface="Times New Roman" pitchFamily="18" charset="0"/>
                </a:rPr>
                <a:t>λ</a:t>
              </a:r>
            </a:p>
          </p:txBody>
        </p:sp>
        <p:sp>
          <p:nvSpPr>
            <p:cNvPr id="27689" name="Oval 1048"/>
            <p:cNvSpPr>
              <a:spLocks noChangeArrowheads="1"/>
            </p:cNvSpPr>
            <p:nvPr/>
          </p:nvSpPr>
          <p:spPr bwMode="auto">
            <a:xfrm>
              <a:off x="1815" y="1979"/>
              <a:ext cx="67" cy="67"/>
            </a:xfrm>
            <a:prstGeom prst="ellipse">
              <a:avLst/>
            </a:prstGeom>
            <a:solidFill>
              <a:srgbClr val="FF5050"/>
            </a:solidFill>
            <a:ln w="9525">
              <a:noFill/>
              <a:round/>
              <a:headEnd/>
              <a:tailEnd/>
            </a:ln>
          </p:spPr>
          <p:txBody>
            <a:bodyPr wrap="none" anchor="ctr"/>
            <a:lstStyle/>
            <a:p>
              <a:endParaRPr lang="zh-CN" altLang="en-US"/>
            </a:p>
          </p:txBody>
        </p:sp>
        <p:sp>
          <p:nvSpPr>
            <p:cNvPr id="27690" name="Oval 1049"/>
            <p:cNvSpPr>
              <a:spLocks noChangeArrowheads="1"/>
            </p:cNvSpPr>
            <p:nvPr/>
          </p:nvSpPr>
          <p:spPr bwMode="auto">
            <a:xfrm>
              <a:off x="2699" y="1979"/>
              <a:ext cx="67" cy="67"/>
            </a:xfrm>
            <a:prstGeom prst="ellipse">
              <a:avLst/>
            </a:prstGeom>
            <a:solidFill>
              <a:srgbClr val="FF5050"/>
            </a:solidFill>
            <a:ln w="9525">
              <a:noFill/>
              <a:round/>
              <a:headEnd/>
              <a:tailEnd/>
            </a:ln>
          </p:spPr>
          <p:txBody>
            <a:bodyPr wrap="none" anchor="ctr"/>
            <a:lstStyle/>
            <a:p>
              <a:endParaRPr lang="zh-CN" altLang="en-US"/>
            </a:p>
          </p:txBody>
        </p:sp>
        <p:grpSp>
          <p:nvGrpSpPr>
            <p:cNvPr id="27691" name="Group 1052"/>
            <p:cNvGrpSpPr>
              <a:grpSpLocks/>
            </p:cNvGrpSpPr>
            <p:nvPr/>
          </p:nvGrpSpPr>
          <p:grpSpPr bwMode="auto">
            <a:xfrm>
              <a:off x="3045" y="1522"/>
              <a:ext cx="899" cy="774"/>
              <a:chOff x="1767" y="978"/>
              <a:chExt cx="899" cy="911"/>
            </a:xfrm>
          </p:grpSpPr>
          <p:sp>
            <p:nvSpPr>
              <p:cNvPr id="27699" name="Line 1053"/>
              <p:cNvSpPr>
                <a:spLocks noChangeShapeType="1"/>
              </p:cNvSpPr>
              <p:nvPr/>
            </p:nvSpPr>
            <p:spPr bwMode="auto">
              <a:xfrm>
                <a:off x="1767" y="1005"/>
                <a:ext cx="0" cy="884"/>
              </a:xfrm>
              <a:prstGeom prst="line">
                <a:avLst/>
              </a:prstGeom>
              <a:noFill/>
              <a:ln w="19050">
                <a:solidFill>
                  <a:srgbClr val="FF66FF"/>
                </a:solidFill>
                <a:prstDash val="dash"/>
                <a:round/>
                <a:headEnd/>
                <a:tailEnd/>
              </a:ln>
            </p:spPr>
            <p:txBody>
              <a:bodyPr wrap="none" anchor="ctr"/>
              <a:lstStyle/>
              <a:p>
                <a:endParaRPr lang="zh-CN" altLang="en-US"/>
              </a:p>
            </p:txBody>
          </p:sp>
          <p:sp>
            <p:nvSpPr>
              <p:cNvPr id="27700" name="Line 1054"/>
              <p:cNvSpPr>
                <a:spLocks noChangeShapeType="1"/>
              </p:cNvSpPr>
              <p:nvPr/>
            </p:nvSpPr>
            <p:spPr bwMode="auto">
              <a:xfrm>
                <a:off x="2666" y="978"/>
                <a:ext cx="0" cy="884"/>
              </a:xfrm>
              <a:prstGeom prst="line">
                <a:avLst/>
              </a:prstGeom>
              <a:noFill/>
              <a:ln w="19050">
                <a:solidFill>
                  <a:srgbClr val="FF66FF"/>
                </a:solidFill>
                <a:prstDash val="dash"/>
                <a:round/>
                <a:headEnd/>
                <a:tailEnd/>
              </a:ln>
            </p:spPr>
            <p:txBody>
              <a:bodyPr wrap="none" anchor="ctr"/>
              <a:lstStyle/>
              <a:p>
                <a:endParaRPr lang="zh-CN" altLang="en-US"/>
              </a:p>
            </p:txBody>
          </p:sp>
        </p:grpSp>
        <p:sp>
          <p:nvSpPr>
            <p:cNvPr id="27692" name="Rectangle 1055"/>
            <p:cNvSpPr>
              <a:spLocks noChangeArrowheads="1"/>
            </p:cNvSpPr>
            <p:nvPr/>
          </p:nvSpPr>
          <p:spPr bwMode="auto">
            <a:xfrm>
              <a:off x="3379" y="1979"/>
              <a:ext cx="170" cy="271"/>
            </a:xfrm>
            <a:prstGeom prst="rect">
              <a:avLst/>
            </a:prstGeom>
            <a:noFill/>
            <a:ln w="9525">
              <a:noFill/>
              <a:miter lim="800000"/>
              <a:headEnd/>
              <a:tailEnd/>
            </a:ln>
            <a:effectLst>
              <a:prstShdw prst="shdw17" dist="17961" dir="2700000">
                <a:srgbClr val="993D00"/>
              </a:prstShdw>
            </a:effectLst>
          </p:spPr>
          <p:txBody>
            <a:bodyPr wrap="none">
              <a:spAutoFit/>
            </a:bodyPr>
            <a:lstStyle/>
            <a:p>
              <a:r>
                <a:rPr lang="en-US" altLang="zh-CN" sz="1500" b="1" i="1">
                  <a:cs typeface="Times New Roman" pitchFamily="18" charset="0"/>
                </a:rPr>
                <a:t>λ</a:t>
              </a:r>
            </a:p>
          </p:txBody>
        </p:sp>
        <p:sp>
          <p:nvSpPr>
            <p:cNvPr id="27693" name="Oval 1056"/>
            <p:cNvSpPr>
              <a:spLocks noChangeArrowheads="1"/>
            </p:cNvSpPr>
            <p:nvPr/>
          </p:nvSpPr>
          <p:spPr bwMode="auto">
            <a:xfrm>
              <a:off x="3017" y="1533"/>
              <a:ext cx="67" cy="67"/>
            </a:xfrm>
            <a:prstGeom prst="ellipse">
              <a:avLst/>
            </a:prstGeom>
            <a:solidFill>
              <a:srgbClr val="FF5050"/>
            </a:solidFill>
            <a:ln w="9525">
              <a:noFill/>
              <a:round/>
              <a:headEnd/>
              <a:tailEnd/>
            </a:ln>
          </p:spPr>
          <p:txBody>
            <a:bodyPr wrap="none" anchor="ctr"/>
            <a:lstStyle/>
            <a:p>
              <a:endParaRPr lang="zh-CN" altLang="en-US"/>
            </a:p>
          </p:txBody>
        </p:sp>
        <p:sp>
          <p:nvSpPr>
            <p:cNvPr id="27694" name="Oval 1057"/>
            <p:cNvSpPr>
              <a:spLocks noChangeArrowheads="1"/>
            </p:cNvSpPr>
            <p:nvPr/>
          </p:nvSpPr>
          <p:spPr bwMode="auto">
            <a:xfrm>
              <a:off x="3901" y="1519"/>
              <a:ext cx="67" cy="67"/>
            </a:xfrm>
            <a:prstGeom prst="ellipse">
              <a:avLst/>
            </a:prstGeom>
            <a:solidFill>
              <a:srgbClr val="FF5050"/>
            </a:solidFill>
            <a:ln w="9525">
              <a:noFill/>
              <a:round/>
              <a:headEnd/>
              <a:tailEnd/>
            </a:ln>
          </p:spPr>
          <p:txBody>
            <a:bodyPr wrap="none" anchor="ctr"/>
            <a:lstStyle/>
            <a:p>
              <a:endParaRPr lang="zh-CN" altLang="en-US"/>
            </a:p>
          </p:txBody>
        </p:sp>
        <p:sp>
          <p:nvSpPr>
            <p:cNvPr id="27695" name="Line 131"/>
            <p:cNvSpPr>
              <a:spLocks noChangeShapeType="1"/>
            </p:cNvSpPr>
            <p:nvPr/>
          </p:nvSpPr>
          <p:spPr bwMode="auto">
            <a:xfrm>
              <a:off x="2336" y="2160"/>
              <a:ext cx="408" cy="0"/>
            </a:xfrm>
            <a:prstGeom prst="line">
              <a:avLst/>
            </a:prstGeom>
            <a:noFill/>
            <a:ln w="9525">
              <a:solidFill>
                <a:schemeClr val="tx1"/>
              </a:solidFill>
              <a:round/>
              <a:headEnd/>
              <a:tailEnd type="triangle" w="med" len="med"/>
            </a:ln>
          </p:spPr>
          <p:txBody>
            <a:bodyPr/>
            <a:lstStyle/>
            <a:p>
              <a:endParaRPr lang="zh-CN" altLang="en-US"/>
            </a:p>
          </p:txBody>
        </p:sp>
        <p:sp>
          <p:nvSpPr>
            <p:cNvPr id="27696" name="Line 132"/>
            <p:cNvSpPr>
              <a:spLocks noChangeShapeType="1"/>
            </p:cNvSpPr>
            <p:nvPr/>
          </p:nvSpPr>
          <p:spPr bwMode="auto">
            <a:xfrm flipH="1">
              <a:off x="1837" y="2160"/>
              <a:ext cx="363" cy="0"/>
            </a:xfrm>
            <a:prstGeom prst="line">
              <a:avLst/>
            </a:prstGeom>
            <a:noFill/>
            <a:ln w="9525">
              <a:solidFill>
                <a:schemeClr val="tx1"/>
              </a:solidFill>
              <a:round/>
              <a:headEnd/>
              <a:tailEnd type="triangle" w="med" len="med"/>
            </a:ln>
          </p:spPr>
          <p:txBody>
            <a:bodyPr/>
            <a:lstStyle/>
            <a:p>
              <a:endParaRPr lang="zh-CN" altLang="en-US"/>
            </a:p>
          </p:txBody>
        </p:sp>
        <p:sp>
          <p:nvSpPr>
            <p:cNvPr id="27697" name="Line 133"/>
            <p:cNvSpPr>
              <a:spLocks noChangeShapeType="1"/>
            </p:cNvSpPr>
            <p:nvPr/>
          </p:nvSpPr>
          <p:spPr bwMode="auto">
            <a:xfrm>
              <a:off x="3560" y="2160"/>
              <a:ext cx="408" cy="0"/>
            </a:xfrm>
            <a:prstGeom prst="line">
              <a:avLst/>
            </a:prstGeom>
            <a:noFill/>
            <a:ln w="9525">
              <a:solidFill>
                <a:schemeClr val="tx1"/>
              </a:solidFill>
              <a:round/>
              <a:headEnd/>
              <a:tailEnd type="triangle" w="med" len="med"/>
            </a:ln>
          </p:spPr>
          <p:txBody>
            <a:bodyPr/>
            <a:lstStyle/>
            <a:p>
              <a:endParaRPr lang="zh-CN" altLang="en-US"/>
            </a:p>
          </p:txBody>
        </p:sp>
        <p:sp>
          <p:nvSpPr>
            <p:cNvPr id="27698" name="Line 134"/>
            <p:cNvSpPr>
              <a:spLocks noChangeShapeType="1"/>
            </p:cNvSpPr>
            <p:nvPr/>
          </p:nvSpPr>
          <p:spPr bwMode="auto">
            <a:xfrm flipH="1">
              <a:off x="3016" y="2160"/>
              <a:ext cx="363" cy="0"/>
            </a:xfrm>
            <a:prstGeom prst="line">
              <a:avLst/>
            </a:prstGeom>
            <a:noFill/>
            <a:ln w="9525">
              <a:solidFill>
                <a:schemeClr val="tx1"/>
              </a:solidFill>
              <a:round/>
              <a:headEnd/>
              <a:tailEnd type="triangl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7417"/>
                                        </p:tgtEl>
                                        <p:attrNameLst>
                                          <p:attrName>style.visibility</p:attrName>
                                        </p:attrNameLst>
                                      </p:cBhvr>
                                      <p:to>
                                        <p:strVal val="visible"/>
                                      </p:to>
                                    </p:set>
                                    <p:anim calcmode="lin" valueType="num">
                                      <p:cBhvr>
                                        <p:cTn id="7" dur="500" fill="hold"/>
                                        <p:tgtEl>
                                          <p:spTgt spid="17417"/>
                                        </p:tgtEl>
                                        <p:attrNameLst>
                                          <p:attrName>ppt_w</p:attrName>
                                        </p:attrNameLst>
                                      </p:cBhvr>
                                      <p:tavLst>
                                        <p:tav tm="0">
                                          <p:val>
                                            <p:fltVal val="0"/>
                                          </p:val>
                                        </p:tav>
                                        <p:tav tm="100000">
                                          <p:val>
                                            <p:strVal val="#ppt_w"/>
                                          </p:val>
                                        </p:tav>
                                      </p:tavLst>
                                    </p:anim>
                                    <p:anim calcmode="lin" valueType="num">
                                      <p:cBhvr>
                                        <p:cTn id="8" dur="500" fill="hold"/>
                                        <p:tgtEl>
                                          <p:spTgt spid="17417"/>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7443"/>
                                        </p:tgtEl>
                                        <p:attrNameLst>
                                          <p:attrName>style.visibility</p:attrName>
                                        </p:attrNameLst>
                                      </p:cBhvr>
                                      <p:to>
                                        <p:strVal val="visible"/>
                                      </p:to>
                                    </p:set>
                                    <p:anim calcmode="lin" valueType="num">
                                      <p:cBhvr>
                                        <p:cTn id="13" dur="500" fill="hold"/>
                                        <p:tgtEl>
                                          <p:spTgt spid="17443"/>
                                        </p:tgtEl>
                                        <p:attrNameLst>
                                          <p:attrName>ppt_w</p:attrName>
                                        </p:attrNameLst>
                                      </p:cBhvr>
                                      <p:tavLst>
                                        <p:tav tm="0">
                                          <p:val>
                                            <p:fltVal val="0"/>
                                          </p:val>
                                        </p:tav>
                                        <p:tav tm="100000">
                                          <p:val>
                                            <p:strVal val="#ppt_w"/>
                                          </p:val>
                                        </p:tav>
                                      </p:tavLst>
                                    </p:anim>
                                    <p:anim calcmode="lin" valueType="num">
                                      <p:cBhvr>
                                        <p:cTn id="14" dur="500" fill="hold"/>
                                        <p:tgtEl>
                                          <p:spTgt spid="17443"/>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7444"/>
                                        </p:tgtEl>
                                        <p:attrNameLst>
                                          <p:attrName>style.visibility</p:attrName>
                                        </p:attrNameLst>
                                      </p:cBhvr>
                                      <p:to>
                                        <p:strVal val="visible"/>
                                      </p:to>
                                    </p:set>
                                    <p:anim calcmode="lin" valueType="num">
                                      <p:cBhvr>
                                        <p:cTn id="19" dur="500" fill="hold"/>
                                        <p:tgtEl>
                                          <p:spTgt spid="17444"/>
                                        </p:tgtEl>
                                        <p:attrNameLst>
                                          <p:attrName>ppt_w</p:attrName>
                                        </p:attrNameLst>
                                      </p:cBhvr>
                                      <p:tavLst>
                                        <p:tav tm="0">
                                          <p:val>
                                            <p:fltVal val="0"/>
                                          </p:val>
                                        </p:tav>
                                        <p:tav tm="100000">
                                          <p:val>
                                            <p:strVal val="#ppt_w"/>
                                          </p:val>
                                        </p:tav>
                                      </p:tavLst>
                                    </p:anim>
                                    <p:anim calcmode="lin" valueType="num">
                                      <p:cBhvr>
                                        <p:cTn id="20" dur="500" fill="hold"/>
                                        <p:tgtEl>
                                          <p:spTgt spid="17444"/>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linds(horizontal)">
                                      <p:cBhvr>
                                        <p:cTn id="25" dur="500"/>
                                        <p:tgtEl>
                                          <p:spTgt spid="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272" fill="hold" grpId="0" nodeType="clickEffect">
                                  <p:stCondLst>
                                    <p:cond delay="0"/>
                                  </p:stCondLst>
                                  <p:childTnLst>
                                    <p:set>
                                      <p:cBhvr>
                                        <p:cTn id="29" dur="1" fill="hold">
                                          <p:stCondLst>
                                            <p:cond delay="0"/>
                                          </p:stCondLst>
                                        </p:cTn>
                                        <p:tgtEl>
                                          <p:spTgt spid="9346"/>
                                        </p:tgtEl>
                                        <p:attrNameLst>
                                          <p:attrName>style.visibility</p:attrName>
                                        </p:attrNameLst>
                                      </p:cBhvr>
                                      <p:to>
                                        <p:strVal val="visible"/>
                                      </p:to>
                                    </p:set>
                                    <p:anim calcmode="lin" valueType="num">
                                      <p:cBhvr>
                                        <p:cTn id="30" dur="500" fill="hold"/>
                                        <p:tgtEl>
                                          <p:spTgt spid="9346"/>
                                        </p:tgtEl>
                                        <p:attrNameLst>
                                          <p:attrName>ppt_w</p:attrName>
                                        </p:attrNameLst>
                                      </p:cBhvr>
                                      <p:tavLst>
                                        <p:tav tm="0">
                                          <p:val>
                                            <p:strVal val="2/3*#ppt_w"/>
                                          </p:val>
                                        </p:tav>
                                        <p:tav tm="100000">
                                          <p:val>
                                            <p:strVal val="#ppt_w"/>
                                          </p:val>
                                        </p:tav>
                                      </p:tavLst>
                                    </p:anim>
                                    <p:anim calcmode="lin" valueType="num">
                                      <p:cBhvr>
                                        <p:cTn id="31" dur="500" fill="hold"/>
                                        <p:tgtEl>
                                          <p:spTgt spid="9346"/>
                                        </p:tgtEl>
                                        <p:attrNameLst>
                                          <p:attrName>ppt_h</p:attrName>
                                        </p:attrNameLst>
                                      </p:cBhvr>
                                      <p:tavLst>
                                        <p:tav tm="0">
                                          <p:val>
                                            <p:strVal val="2/3*#ppt_h"/>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272" fill="hold" nodeType="clickEffect">
                                  <p:stCondLst>
                                    <p:cond delay="0"/>
                                  </p:stCondLst>
                                  <p:childTnLst>
                                    <p:set>
                                      <p:cBhvr>
                                        <p:cTn id="35" dur="1" fill="hold">
                                          <p:stCondLst>
                                            <p:cond delay="0"/>
                                          </p:stCondLst>
                                        </p:cTn>
                                        <p:tgtEl>
                                          <p:spTgt spid="9345"/>
                                        </p:tgtEl>
                                        <p:attrNameLst>
                                          <p:attrName>style.visibility</p:attrName>
                                        </p:attrNameLst>
                                      </p:cBhvr>
                                      <p:to>
                                        <p:strVal val="visible"/>
                                      </p:to>
                                    </p:set>
                                    <p:anim calcmode="lin" valueType="num">
                                      <p:cBhvr>
                                        <p:cTn id="36" dur="500" fill="hold"/>
                                        <p:tgtEl>
                                          <p:spTgt spid="9345"/>
                                        </p:tgtEl>
                                        <p:attrNameLst>
                                          <p:attrName>ppt_w</p:attrName>
                                        </p:attrNameLst>
                                      </p:cBhvr>
                                      <p:tavLst>
                                        <p:tav tm="0">
                                          <p:val>
                                            <p:strVal val="2/3*#ppt_w"/>
                                          </p:val>
                                        </p:tav>
                                        <p:tav tm="100000">
                                          <p:val>
                                            <p:strVal val="#ppt_w"/>
                                          </p:val>
                                        </p:tav>
                                      </p:tavLst>
                                    </p:anim>
                                    <p:anim calcmode="lin" valueType="num">
                                      <p:cBhvr>
                                        <p:cTn id="37" dur="500" fill="hold"/>
                                        <p:tgtEl>
                                          <p:spTgt spid="9345"/>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7" grpId="0" autoUpdateAnimBg="0"/>
      <p:bldP spid="17443" grpId="0" autoUpdateAnimBg="0"/>
      <p:bldP spid="17444" grpId="0" autoUpdateAnimBg="0"/>
      <p:bldP spid="9346"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5"/>
          <p:cNvSpPr>
            <a:spLocks noChangeArrowheads="1"/>
          </p:cNvSpPr>
          <p:nvPr/>
        </p:nvSpPr>
        <p:spPr bwMode="auto">
          <a:xfrm>
            <a:off x="1187450" y="1390650"/>
            <a:ext cx="6618288" cy="369888"/>
          </a:xfrm>
          <a:prstGeom prst="rect">
            <a:avLst/>
          </a:prstGeom>
          <a:noFill/>
          <a:ln w="9525">
            <a:noFill/>
            <a:miter lim="800000"/>
            <a:headEnd/>
            <a:tailEnd/>
          </a:ln>
        </p:spPr>
        <p:txBody>
          <a:bodyPr>
            <a:spAutoFit/>
          </a:bodyPr>
          <a:lstStyle/>
          <a:p>
            <a:pPr eaLnBrk="0" hangingPunct="0"/>
            <a:r>
              <a:rPr kumimoji="0" lang="zh-CN" altLang="en-US" sz="1800" b="1">
                <a:latin typeface="华文中宋"/>
                <a:ea typeface="华文中宋"/>
                <a:cs typeface="华文中宋"/>
              </a:rPr>
              <a:t>波动是介质中大量质点参与的集体运动（振动）</a:t>
            </a:r>
          </a:p>
        </p:txBody>
      </p:sp>
      <p:grpSp>
        <p:nvGrpSpPr>
          <p:cNvPr id="2" name="Group 8"/>
          <p:cNvGrpSpPr>
            <a:grpSpLocks/>
          </p:cNvGrpSpPr>
          <p:nvPr/>
        </p:nvGrpSpPr>
        <p:grpSpPr bwMode="auto">
          <a:xfrm>
            <a:off x="4932363" y="3219450"/>
            <a:ext cx="3702050" cy="1255713"/>
            <a:chOff x="1434" y="41"/>
            <a:chExt cx="2332" cy="1054"/>
          </a:xfrm>
        </p:grpSpPr>
        <p:grpSp>
          <p:nvGrpSpPr>
            <p:cNvPr id="28722" name="Group 9"/>
            <p:cNvGrpSpPr>
              <a:grpSpLocks/>
            </p:cNvGrpSpPr>
            <p:nvPr/>
          </p:nvGrpSpPr>
          <p:grpSpPr bwMode="auto">
            <a:xfrm>
              <a:off x="1434" y="119"/>
              <a:ext cx="2332" cy="976"/>
              <a:chOff x="2823" y="232"/>
              <a:chExt cx="2332" cy="976"/>
            </a:xfrm>
          </p:grpSpPr>
          <p:sp>
            <p:nvSpPr>
              <p:cNvPr id="28724" name="Line 10"/>
              <p:cNvSpPr>
                <a:spLocks noChangeShapeType="1"/>
              </p:cNvSpPr>
              <p:nvPr/>
            </p:nvSpPr>
            <p:spPr bwMode="auto">
              <a:xfrm>
                <a:off x="2823" y="685"/>
                <a:ext cx="2325" cy="0"/>
              </a:xfrm>
              <a:prstGeom prst="line">
                <a:avLst/>
              </a:prstGeom>
              <a:noFill/>
              <a:ln w="9525">
                <a:solidFill>
                  <a:srgbClr val="00B0F0"/>
                </a:solidFill>
                <a:round/>
                <a:headEnd/>
                <a:tailEnd type="triangle" w="med" len="med"/>
              </a:ln>
            </p:spPr>
            <p:txBody>
              <a:bodyPr/>
              <a:lstStyle/>
              <a:p>
                <a:endParaRPr lang="zh-CN" altLang="en-US"/>
              </a:p>
            </p:txBody>
          </p:sp>
          <p:sp>
            <p:nvSpPr>
              <p:cNvPr id="28725" name="Line 11"/>
              <p:cNvSpPr>
                <a:spLocks noChangeShapeType="1"/>
              </p:cNvSpPr>
              <p:nvPr/>
            </p:nvSpPr>
            <p:spPr bwMode="auto">
              <a:xfrm flipV="1">
                <a:off x="3276" y="317"/>
                <a:ext cx="0" cy="737"/>
              </a:xfrm>
              <a:prstGeom prst="line">
                <a:avLst/>
              </a:prstGeom>
              <a:noFill/>
              <a:ln w="9525">
                <a:solidFill>
                  <a:srgbClr val="00B0F0"/>
                </a:solidFill>
                <a:round/>
                <a:headEnd/>
                <a:tailEnd type="triangle" w="med" len="med"/>
              </a:ln>
            </p:spPr>
            <p:txBody>
              <a:bodyPr/>
              <a:lstStyle/>
              <a:p>
                <a:endParaRPr lang="zh-CN" altLang="en-US"/>
              </a:p>
            </p:txBody>
          </p:sp>
          <p:grpSp>
            <p:nvGrpSpPr>
              <p:cNvPr id="28726" name="Group 12"/>
              <p:cNvGrpSpPr>
                <a:grpSpLocks/>
              </p:cNvGrpSpPr>
              <p:nvPr/>
            </p:nvGrpSpPr>
            <p:grpSpPr bwMode="auto">
              <a:xfrm>
                <a:off x="2992" y="402"/>
                <a:ext cx="1928" cy="596"/>
                <a:chOff x="2992" y="458"/>
                <a:chExt cx="1928" cy="482"/>
              </a:xfrm>
            </p:grpSpPr>
            <p:sp>
              <p:nvSpPr>
                <p:cNvPr id="28736" name="Freeform 13"/>
                <p:cNvSpPr>
                  <a:spLocks/>
                </p:cNvSpPr>
                <p:nvPr/>
              </p:nvSpPr>
              <p:spPr bwMode="auto">
                <a:xfrm>
                  <a:off x="3956" y="458"/>
                  <a:ext cx="964" cy="482"/>
                </a:xfrm>
                <a:custGeom>
                  <a:avLst/>
                  <a:gdLst>
                    <a:gd name="T0" fmla="*/ 0 w 2154"/>
                    <a:gd name="T1" fmla="*/ 0 h 1078"/>
                    <a:gd name="T2" fmla="*/ 0 w 2154"/>
                    <a:gd name="T3" fmla="*/ 0 h 1078"/>
                    <a:gd name="T4" fmla="*/ 0 w 2154"/>
                    <a:gd name="T5" fmla="*/ 0 h 1078"/>
                    <a:gd name="T6" fmla="*/ 0 w 2154"/>
                    <a:gd name="T7" fmla="*/ 0 h 1078"/>
                    <a:gd name="T8" fmla="*/ 0 w 2154"/>
                    <a:gd name="T9" fmla="*/ 0 h 1078"/>
                    <a:gd name="T10" fmla="*/ 0 60000 65536"/>
                    <a:gd name="T11" fmla="*/ 0 60000 65536"/>
                    <a:gd name="T12" fmla="*/ 0 60000 65536"/>
                    <a:gd name="T13" fmla="*/ 0 60000 65536"/>
                    <a:gd name="T14" fmla="*/ 0 60000 65536"/>
                    <a:gd name="T15" fmla="*/ 0 w 2154"/>
                    <a:gd name="T16" fmla="*/ 0 h 1078"/>
                    <a:gd name="T17" fmla="*/ 2154 w 2154"/>
                    <a:gd name="T18" fmla="*/ 1078 h 1078"/>
                  </a:gdLst>
                  <a:ahLst/>
                  <a:cxnLst>
                    <a:cxn ang="T10">
                      <a:pos x="T0" y="T1"/>
                    </a:cxn>
                    <a:cxn ang="T11">
                      <a:pos x="T2" y="T3"/>
                    </a:cxn>
                    <a:cxn ang="T12">
                      <a:pos x="T4" y="T5"/>
                    </a:cxn>
                    <a:cxn ang="T13">
                      <a:pos x="T6" y="T7"/>
                    </a:cxn>
                    <a:cxn ang="T14">
                      <a:pos x="T8" y="T9"/>
                    </a:cxn>
                  </a:cxnLst>
                  <a:rect l="T15" t="T16" r="T17" b="T18"/>
                  <a:pathLst>
                    <a:path w="2154" h="1078">
                      <a:moveTo>
                        <a:pt x="0" y="539"/>
                      </a:moveTo>
                      <a:cubicBezTo>
                        <a:pt x="179" y="269"/>
                        <a:pt x="359" y="0"/>
                        <a:pt x="538" y="0"/>
                      </a:cubicBezTo>
                      <a:cubicBezTo>
                        <a:pt x="717" y="0"/>
                        <a:pt x="935" y="352"/>
                        <a:pt x="1077" y="539"/>
                      </a:cubicBezTo>
                      <a:cubicBezTo>
                        <a:pt x="1219" y="726"/>
                        <a:pt x="1437" y="1078"/>
                        <a:pt x="1616" y="1078"/>
                      </a:cubicBezTo>
                      <a:cubicBezTo>
                        <a:pt x="1795" y="1078"/>
                        <a:pt x="1974" y="808"/>
                        <a:pt x="2154" y="539"/>
                      </a:cubicBezTo>
                    </a:path>
                  </a:pathLst>
                </a:custGeom>
                <a:noFill/>
                <a:ln w="19050">
                  <a:solidFill>
                    <a:srgbClr val="0000FF"/>
                  </a:solidFill>
                  <a:round/>
                  <a:headEnd/>
                  <a:tailEnd/>
                </a:ln>
              </p:spPr>
              <p:txBody>
                <a:bodyPr/>
                <a:lstStyle/>
                <a:p>
                  <a:endParaRPr lang="zh-CN" altLang="en-US"/>
                </a:p>
              </p:txBody>
            </p:sp>
            <p:sp>
              <p:nvSpPr>
                <p:cNvPr id="28737" name="Freeform 14"/>
                <p:cNvSpPr>
                  <a:spLocks/>
                </p:cNvSpPr>
                <p:nvPr/>
              </p:nvSpPr>
              <p:spPr bwMode="auto">
                <a:xfrm>
                  <a:off x="2992" y="458"/>
                  <a:ext cx="964" cy="482"/>
                </a:xfrm>
                <a:custGeom>
                  <a:avLst/>
                  <a:gdLst>
                    <a:gd name="T0" fmla="*/ 0 w 2154"/>
                    <a:gd name="T1" fmla="*/ 0 h 1078"/>
                    <a:gd name="T2" fmla="*/ 0 w 2154"/>
                    <a:gd name="T3" fmla="*/ 0 h 1078"/>
                    <a:gd name="T4" fmla="*/ 0 w 2154"/>
                    <a:gd name="T5" fmla="*/ 0 h 1078"/>
                    <a:gd name="T6" fmla="*/ 0 w 2154"/>
                    <a:gd name="T7" fmla="*/ 0 h 1078"/>
                    <a:gd name="T8" fmla="*/ 0 w 2154"/>
                    <a:gd name="T9" fmla="*/ 0 h 1078"/>
                    <a:gd name="T10" fmla="*/ 0 60000 65536"/>
                    <a:gd name="T11" fmla="*/ 0 60000 65536"/>
                    <a:gd name="T12" fmla="*/ 0 60000 65536"/>
                    <a:gd name="T13" fmla="*/ 0 60000 65536"/>
                    <a:gd name="T14" fmla="*/ 0 60000 65536"/>
                    <a:gd name="T15" fmla="*/ 0 w 2154"/>
                    <a:gd name="T16" fmla="*/ 0 h 1078"/>
                    <a:gd name="T17" fmla="*/ 2154 w 2154"/>
                    <a:gd name="T18" fmla="*/ 1078 h 1078"/>
                  </a:gdLst>
                  <a:ahLst/>
                  <a:cxnLst>
                    <a:cxn ang="T10">
                      <a:pos x="T0" y="T1"/>
                    </a:cxn>
                    <a:cxn ang="T11">
                      <a:pos x="T2" y="T3"/>
                    </a:cxn>
                    <a:cxn ang="T12">
                      <a:pos x="T4" y="T5"/>
                    </a:cxn>
                    <a:cxn ang="T13">
                      <a:pos x="T6" y="T7"/>
                    </a:cxn>
                    <a:cxn ang="T14">
                      <a:pos x="T8" y="T9"/>
                    </a:cxn>
                  </a:cxnLst>
                  <a:rect l="T15" t="T16" r="T17" b="T18"/>
                  <a:pathLst>
                    <a:path w="2154" h="1078">
                      <a:moveTo>
                        <a:pt x="0" y="539"/>
                      </a:moveTo>
                      <a:cubicBezTo>
                        <a:pt x="179" y="269"/>
                        <a:pt x="359" y="0"/>
                        <a:pt x="538" y="0"/>
                      </a:cubicBezTo>
                      <a:cubicBezTo>
                        <a:pt x="717" y="0"/>
                        <a:pt x="935" y="352"/>
                        <a:pt x="1077" y="539"/>
                      </a:cubicBezTo>
                      <a:cubicBezTo>
                        <a:pt x="1219" y="726"/>
                        <a:pt x="1437" y="1078"/>
                        <a:pt x="1616" y="1078"/>
                      </a:cubicBezTo>
                      <a:cubicBezTo>
                        <a:pt x="1795" y="1078"/>
                        <a:pt x="1974" y="808"/>
                        <a:pt x="2154" y="539"/>
                      </a:cubicBezTo>
                    </a:path>
                  </a:pathLst>
                </a:custGeom>
                <a:noFill/>
                <a:ln w="19050">
                  <a:solidFill>
                    <a:srgbClr val="0000FF"/>
                  </a:solidFill>
                  <a:round/>
                  <a:headEnd/>
                  <a:tailEnd/>
                </a:ln>
              </p:spPr>
              <p:txBody>
                <a:bodyPr/>
                <a:lstStyle/>
                <a:p>
                  <a:endParaRPr lang="zh-CN" altLang="en-US"/>
                </a:p>
              </p:txBody>
            </p:sp>
          </p:grpSp>
          <p:sp>
            <p:nvSpPr>
              <p:cNvPr id="28727" name="Text Box 15"/>
              <p:cNvSpPr txBox="1">
                <a:spLocks noChangeArrowheads="1"/>
              </p:cNvSpPr>
              <p:nvPr/>
            </p:nvSpPr>
            <p:spPr bwMode="auto">
              <a:xfrm>
                <a:off x="4978" y="633"/>
                <a:ext cx="177" cy="271"/>
              </a:xfrm>
              <a:prstGeom prst="rect">
                <a:avLst/>
              </a:prstGeom>
              <a:noFill/>
              <a:ln w="9525">
                <a:noFill/>
                <a:miter lim="800000"/>
                <a:headEnd/>
                <a:tailEnd/>
              </a:ln>
            </p:spPr>
            <p:txBody>
              <a:bodyPr wrap="none">
                <a:spAutoFit/>
              </a:bodyPr>
              <a:lstStyle/>
              <a:p>
                <a:r>
                  <a:rPr kumimoji="0" lang="en-US" altLang="zh-CN" sz="1500" b="1" i="1"/>
                  <a:t>x</a:t>
                </a:r>
              </a:p>
            </p:txBody>
          </p:sp>
          <p:sp>
            <p:nvSpPr>
              <p:cNvPr id="28728" name="Line 16"/>
              <p:cNvSpPr>
                <a:spLocks noChangeShapeType="1"/>
              </p:cNvSpPr>
              <p:nvPr/>
            </p:nvSpPr>
            <p:spPr bwMode="auto">
              <a:xfrm>
                <a:off x="3447" y="459"/>
                <a:ext cx="340" cy="0"/>
              </a:xfrm>
              <a:prstGeom prst="line">
                <a:avLst/>
              </a:prstGeom>
              <a:noFill/>
              <a:ln w="19050">
                <a:solidFill>
                  <a:srgbClr val="FF00FF"/>
                </a:solidFill>
                <a:round/>
                <a:headEnd/>
                <a:tailEnd type="triangle" w="med" len="med"/>
              </a:ln>
            </p:spPr>
            <p:txBody>
              <a:bodyPr/>
              <a:lstStyle/>
              <a:p>
                <a:endParaRPr lang="zh-CN" altLang="en-US"/>
              </a:p>
            </p:txBody>
          </p:sp>
          <p:graphicFrame>
            <p:nvGraphicFramePr>
              <p:cNvPr id="28712" name="Object 40"/>
              <p:cNvGraphicFramePr>
                <a:graphicFrameLocks noChangeAspect="1"/>
              </p:cNvGraphicFramePr>
              <p:nvPr/>
            </p:nvGraphicFramePr>
            <p:xfrm>
              <a:off x="3532" y="232"/>
              <a:ext cx="178" cy="226"/>
            </p:xfrm>
            <a:graphic>
              <a:graphicData uri="http://schemas.openxmlformats.org/presentationml/2006/ole">
                <p:oleObj spid="_x0000_s28712" name="公式" r:id="rId4" imgW="139579" imgH="177646" progId="Equation.3">
                  <p:embed/>
                </p:oleObj>
              </a:graphicData>
            </a:graphic>
          </p:graphicFrame>
          <p:sp>
            <p:nvSpPr>
              <p:cNvPr id="28729" name="Line 18"/>
              <p:cNvSpPr>
                <a:spLocks noChangeShapeType="1"/>
              </p:cNvSpPr>
              <p:nvPr/>
            </p:nvSpPr>
            <p:spPr bwMode="auto">
              <a:xfrm>
                <a:off x="4297" y="487"/>
                <a:ext cx="0" cy="199"/>
              </a:xfrm>
              <a:prstGeom prst="line">
                <a:avLst/>
              </a:prstGeom>
              <a:noFill/>
              <a:ln w="9525">
                <a:solidFill>
                  <a:schemeClr val="tx1"/>
                </a:solidFill>
                <a:prstDash val="dash"/>
                <a:round/>
                <a:headEnd/>
                <a:tailEnd/>
              </a:ln>
            </p:spPr>
            <p:txBody>
              <a:bodyPr/>
              <a:lstStyle/>
              <a:p>
                <a:endParaRPr lang="zh-CN" altLang="en-US"/>
              </a:p>
            </p:txBody>
          </p:sp>
          <p:sp>
            <p:nvSpPr>
              <p:cNvPr id="28730" name="Oval 19"/>
              <p:cNvSpPr>
                <a:spLocks noChangeArrowheads="1"/>
              </p:cNvSpPr>
              <p:nvPr/>
            </p:nvSpPr>
            <p:spPr bwMode="auto">
              <a:xfrm>
                <a:off x="4269" y="459"/>
                <a:ext cx="56" cy="56"/>
              </a:xfrm>
              <a:prstGeom prst="ellipse">
                <a:avLst/>
              </a:prstGeom>
              <a:solidFill>
                <a:srgbClr val="00FF00"/>
              </a:solidFill>
              <a:ln w="9525">
                <a:solidFill>
                  <a:schemeClr val="tx1"/>
                </a:solidFill>
                <a:round/>
                <a:headEnd/>
                <a:tailEnd/>
              </a:ln>
            </p:spPr>
            <p:txBody>
              <a:bodyPr wrap="none" anchor="ctr"/>
              <a:lstStyle/>
              <a:p>
                <a:endParaRPr kumimoji="0" lang="zh-CN" altLang="zh-CN" sz="1800"/>
              </a:p>
            </p:txBody>
          </p:sp>
          <p:sp>
            <p:nvSpPr>
              <p:cNvPr id="28731" name="Text Box 20"/>
              <p:cNvSpPr txBox="1">
                <a:spLocks noChangeArrowheads="1"/>
              </p:cNvSpPr>
              <p:nvPr/>
            </p:nvSpPr>
            <p:spPr bwMode="auto">
              <a:xfrm>
                <a:off x="3078" y="633"/>
                <a:ext cx="204" cy="271"/>
              </a:xfrm>
              <a:prstGeom prst="rect">
                <a:avLst/>
              </a:prstGeom>
              <a:noFill/>
              <a:ln w="9525">
                <a:noFill/>
                <a:miter lim="800000"/>
                <a:headEnd/>
                <a:tailEnd/>
              </a:ln>
            </p:spPr>
            <p:txBody>
              <a:bodyPr wrap="none">
                <a:spAutoFit/>
              </a:bodyPr>
              <a:lstStyle/>
              <a:p>
                <a:r>
                  <a:rPr kumimoji="0" lang="en-US" altLang="zh-CN" sz="1500" b="1" i="1"/>
                  <a:t>O</a:t>
                </a:r>
              </a:p>
            </p:txBody>
          </p:sp>
          <p:sp>
            <p:nvSpPr>
              <p:cNvPr id="28732" name="Text Box 21"/>
              <p:cNvSpPr txBox="1">
                <a:spLocks noChangeArrowheads="1"/>
              </p:cNvSpPr>
              <p:nvPr/>
            </p:nvSpPr>
            <p:spPr bwMode="auto">
              <a:xfrm>
                <a:off x="4297" y="628"/>
                <a:ext cx="177" cy="271"/>
              </a:xfrm>
              <a:prstGeom prst="rect">
                <a:avLst/>
              </a:prstGeom>
              <a:noFill/>
              <a:ln w="9525">
                <a:noFill/>
                <a:miter lim="800000"/>
                <a:headEnd/>
                <a:tailEnd/>
              </a:ln>
            </p:spPr>
            <p:txBody>
              <a:bodyPr wrap="none">
                <a:spAutoFit/>
              </a:bodyPr>
              <a:lstStyle/>
              <a:p>
                <a:r>
                  <a:rPr kumimoji="0" lang="en-US" altLang="zh-CN" sz="1500" b="1" i="1"/>
                  <a:t>p</a:t>
                </a:r>
              </a:p>
            </p:txBody>
          </p:sp>
          <p:sp>
            <p:nvSpPr>
              <p:cNvPr id="28733" name="Line 22"/>
              <p:cNvSpPr>
                <a:spLocks noChangeShapeType="1"/>
              </p:cNvSpPr>
              <p:nvPr/>
            </p:nvSpPr>
            <p:spPr bwMode="auto">
              <a:xfrm>
                <a:off x="3277" y="1026"/>
                <a:ext cx="1020" cy="0"/>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28734" name="Line 23"/>
              <p:cNvSpPr>
                <a:spLocks noChangeShapeType="1"/>
              </p:cNvSpPr>
              <p:nvPr/>
            </p:nvSpPr>
            <p:spPr bwMode="auto">
              <a:xfrm>
                <a:off x="4297" y="686"/>
                <a:ext cx="0" cy="340"/>
              </a:xfrm>
              <a:prstGeom prst="line">
                <a:avLst/>
              </a:prstGeom>
              <a:noFill/>
              <a:ln w="9525">
                <a:solidFill>
                  <a:schemeClr val="tx1"/>
                </a:solidFill>
                <a:round/>
                <a:headEnd/>
                <a:tailEnd/>
              </a:ln>
            </p:spPr>
            <p:txBody>
              <a:bodyPr/>
              <a:lstStyle/>
              <a:p>
                <a:endParaRPr lang="zh-CN" altLang="en-US"/>
              </a:p>
            </p:txBody>
          </p:sp>
          <p:sp>
            <p:nvSpPr>
              <p:cNvPr id="28735" name="Text Box 24"/>
              <p:cNvSpPr txBox="1">
                <a:spLocks noChangeArrowheads="1"/>
              </p:cNvSpPr>
              <p:nvPr/>
            </p:nvSpPr>
            <p:spPr bwMode="auto">
              <a:xfrm>
                <a:off x="3860" y="898"/>
                <a:ext cx="189" cy="310"/>
              </a:xfrm>
              <a:prstGeom prst="rect">
                <a:avLst/>
              </a:prstGeom>
              <a:solidFill>
                <a:schemeClr val="bg1"/>
              </a:solidFill>
              <a:ln w="9525">
                <a:noFill/>
                <a:miter lim="800000"/>
                <a:headEnd/>
                <a:tailEnd/>
              </a:ln>
            </p:spPr>
            <p:txBody>
              <a:bodyPr wrap="none">
                <a:spAutoFit/>
              </a:bodyPr>
              <a:lstStyle/>
              <a:p>
                <a:r>
                  <a:rPr kumimoji="0" lang="en-US" altLang="zh-CN" sz="1800" b="1" i="1"/>
                  <a:t>x</a:t>
                </a:r>
              </a:p>
            </p:txBody>
          </p:sp>
        </p:grpSp>
        <p:sp>
          <p:nvSpPr>
            <p:cNvPr id="28723" name="Text Box 25"/>
            <p:cNvSpPr txBox="1">
              <a:spLocks noChangeArrowheads="1"/>
            </p:cNvSpPr>
            <p:nvPr/>
          </p:nvSpPr>
          <p:spPr bwMode="auto">
            <a:xfrm>
              <a:off x="1745" y="41"/>
              <a:ext cx="170" cy="271"/>
            </a:xfrm>
            <a:prstGeom prst="rect">
              <a:avLst/>
            </a:prstGeom>
            <a:noFill/>
            <a:ln w="9525">
              <a:noFill/>
              <a:miter lim="800000"/>
              <a:headEnd/>
              <a:tailEnd/>
            </a:ln>
          </p:spPr>
          <p:txBody>
            <a:bodyPr wrap="none">
              <a:spAutoFit/>
            </a:bodyPr>
            <a:lstStyle/>
            <a:p>
              <a:r>
                <a:rPr kumimoji="0" lang="en-US" altLang="zh-CN" sz="1500" b="1" i="1"/>
                <a:t>y</a:t>
              </a:r>
            </a:p>
          </p:txBody>
        </p:sp>
      </p:grpSp>
      <p:sp>
        <p:nvSpPr>
          <p:cNvPr id="20517" name="Rectangle 37"/>
          <p:cNvSpPr>
            <a:spLocks noChangeArrowheads="1"/>
          </p:cNvSpPr>
          <p:nvPr/>
        </p:nvSpPr>
        <p:spPr bwMode="auto">
          <a:xfrm>
            <a:off x="1187450" y="1746250"/>
            <a:ext cx="5699125" cy="369888"/>
          </a:xfrm>
          <a:prstGeom prst="rect">
            <a:avLst/>
          </a:prstGeom>
          <a:noFill/>
          <a:ln w="9525">
            <a:noFill/>
            <a:miter lim="800000"/>
            <a:headEnd/>
            <a:tailEnd/>
          </a:ln>
        </p:spPr>
        <p:txBody>
          <a:bodyPr>
            <a:spAutoFit/>
          </a:bodyPr>
          <a:lstStyle/>
          <a:p>
            <a:pPr eaLnBrk="0" hangingPunct="0"/>
            <a:r>
              <a:rPr kumimoji="0" lang="zh-CN" altLang="en-US" sz="1800" b="1">
                <a:latin typeface="华文中宋"/>
                <a:ea typeface="华文中宋"/>
                <a:cs typeface="华文中宋"/>
              </a:rPr>
              <a:t>设波源在坐标原点，波源的振动方程为：</a:t>
            </a:r>
          </a:p>
        </p:txBody>
      </p:sp>
      <p:graphicFrame>
        <p:nvGraphicFramePr>
          <p:cNvPr id="20518" name="Object 41"/>
          <p:cNvGraphicFramePr>
            <a:graphicFrameLocks noChangeAspect="1"/>
          </p:cNvGraphicFramePr>
          <p:nvPr/>
        </p:nvGraphicFramePr>
        <p:xfrm>
          <a:off x="2700338" y="2100263"/>
          <a:ext cx="3455987" cy="342900"/>
        </p:xfrm>
        <a:graphic>
          <a:graphicData uri="http://schemas.openxmlformats.org/presentationml/2006/ole">
            <p:oleObj spid="_x0000_s28713" name="Equation" r:id="rId5" imgW="1727200" imgH="228600" progId="Equation.DSMT4">
              <p:embed/>
            </p:oleObj>
          </a:graphicData>
        </a:graphic>
      </p:graphicFrame>
      <p:sp>
        <p:nvSpPr>
          <p:cNvPr id="20519" name="Rectangle 39"/>
          <p:cNvSpPr>
            <a:spLocks noChangeArrowheads="1"/>
          </p:cNvSpPr>
          <p:nvPr/>
        </p:nvSpPr>
        <p:spPr bwMode="auto">
          <a:xfrm>
            <a:off x="539750" y="2428875"/>
            <a:ext cx="8280400" cy="647700"/>
          </a:xfrm>
          <a:prstGeom prst="rect">
            <a:avLst/>
          </a:prstGeom>
          <a:noFill/>
          <a:ln w="9525">
            <a:noFill/>
            <a:miter lim="800000"/>
            <a:headEnd/>
            <a:tailEnd/>
          </a:ln>
        </p:spPr>
        <p:txBody>
          <a:bodyPr>
            <a:spAutoFit/>
          </a:bodyPr>
          <a:lstStyle/>
          <a:p>
            <a:pPr eaLnBrk="0" hangingPunct="0"/>
            <a:r>
              <a:rPr kumimoji="0" lang="zh-CN" altLang="en-US" sz="1800" b="1">
                <a:ea typeface="华文中宋"/>
                <a:cs typeface="华文中宋"/>
              </a:rPr>
              <a:t>设波沿</a:t>
            </a:r>
            <a:r>
              <a:rPr kumimoji="0" lang="en-US" altLang="zh-CN" sz="1800" b="1" i="1">
                <a:ea typeface="华文中宋"/>
                <a:cs typeface="华文中宋"/>
              </a:rPr>
              <a:t>x</a:t>
            </a:r>
            <a:r>
              <a:rPr kumimoji="0" lang="zh-CN" altLang="en-US" sz="1800" b="1">
                <a:ea typeface="华文中宋"/>
                <a:cs typeface="华文中宋"/>
              </a:rPr>
              <a:t>轴正方向传播，波速为</a:t>
            </a:r>
            <a:r>
              <a:rPr kumimoji="0" lang="en-US" altLang="zh-CN" sz="1800" b="1" i="1">
                <a:ea typeface="华文中宋"/>
                <a:cs typeface="华文中宋"/>
              </a:rPr>
              <a:t>u</a:t>
            </a:r>
            <a:r>
              <a:rPr kumimoji="0" lang="zh-CN" altLang="en-US" sz="1800" b="1">
                <a:ea typeface="华文中宋"/>
                <a:cs typeface="华文中宋"/>
              </a:rPr>
              <a:t>，沿着波的传播方向，各质点的位相依次落后，任意取一点</a:t>
            </a:r>
            <a:r>
              <a:rPr kumimoji="0" lang="en-US" altLang="zh-CN" sz="1800" b="1" i="1">
                <a:ea typeface="华文中宋"/>
                <a:cs typeface="华文中宋"/>
              </a:rPr>
              <a:t>P</a:t>
            </a:r>
            <a:r>
              <a:rPr kumimoji="0" lang="zh-CN" altLang="en-US" sz="1800" b="1">
                <a:ea typeface="华文中宋"/>
                <a:cs typeface="华文中宋"/>
              </a:rPr>
              <a:t>点，那么</a:t>
            </a:r>
            <a:r>
              <a:rPr kumimoji="0" lang="en-US" altLang="zh-CN" sz="1800" b="1">
                <a:ea typeface="华文中宋"/>
                <a:cs typeface="华文中宋"/>
              </a:rPr>
              <a:t>P</a:t>
            </a:r>
            <a:r>
              <a:rPr kumimoji="0" lang="zh-CN" altLang="en-US" sz="1800" b="1">
                <a:ea typeface="华文中宋"/>
                <a:cs typeface="华文中宋"/>
              </a:rPr>
              <a:t>点振动状态落后于原点。</a:t>
            </a:r>
          </a:p>
        </p:txBody>
      </p:sp>
      <p:graphicFrame>
        <p:nvGraphicFramePr>
          <p:cNvPr id="20520" name="Object 42"/>
          <p:cNvGraphicFramePr>
            <a:graphicFrameLocks noChangeAspect="1"/>
          </p:cNvGraphicFramePr>
          <p:nvPr/>
        </p:nvGraphicFramePr>
        <p:xfrm>
          <a:off x="2484438" y="3414713"/>
          <a:ext cx="936625" cy="608012"/>
        </p:xfrm>
        <a:graphic>
          <a:graphicData uri="http://schemas.openxmlformats.org/presentationml/2006/ole">
            <p:oleObj spid="_x0000_s28714" name="Equation" r:id="rId6" imgW="469696" imgH="406224" progId="Equation.DSMT4">
              <p:embed/>
            </p:oleObj>
          </a:graphicData>
        </a:graphic>
      </p:graphicFrame>
      <p:graphicFrame>
        <p:nvGraphicFramePr>
          <p:cNvPr id="20521" name="Object 43"/>
          <p:cNvGraphicFramePr>
            <a:graphicFrameLocks noChangeAspect="1"/>
          </p:cNvGraphicFramePr>
          <p:nvPr/>
        </p:nvGraphicFramePr>
        <p:xfrm>
          <a:off x="1079500" y="3887788"/>
          <a:ext cx="3600450" cy="585787"/>
        </p:xfrm>
        <a:graphic>
          <a:graphicData uri="http://schemas.openxmlformats.org/presentationml/2006/ole">
            <p:oleObj spid="_x0000_s28715" name="Equation" r:id="rId7" imgW="1866090" imgH="406224" progId="Equation.DSMT4">
              <p:embed/>
            </p:oleObj>
          </a:graphicData>
        </a:graphic>
      </p:graphicFrame>
      <p:sp>
        <p:nvSpPr>
          <p:cNvPr id="20523" name="Rectangle 43"/>
          <p:cNvSpPr>
            <a:spLocks noChangeArrowheads="1"/>
          </p:cNvSpPr>
          <p:nvPr/>
        </p:nvSpPr>
        <p:spPr bwMode="auto">
          <a:xfrm>
            <a:off x="684213" y="3181350"/>
            <a:ext cx="3860800" cy="369888"/>
          </a:xfrm>
          <a:prstGeom prst="rect">
            <a:avLst/>
          </a:prstGeom>
          <a:noFill/>
          <a:ln w="9525">
            <a:noFill/>
            <a:miter lim="800000"/>
            <a:headEnd/>
            <a:tailEnd/>
          </a:ln>
        </p:spPr>
        <p:txBody>
          <a:bodyPr>
            <a:spAutoFit/>
          </a:bodyPr>
          <a:lstStyle/>
          <a:p>
            <a:r>
              <a:rPr kumimoji="0" lang="zh-CN" altLang="en-US" sz="1800" b="1">
                <a:solidFill>
                  <a:srgbClr val="FF0000"/>
                </a:solidFill>
                <a:latin typeface="华文中宋"/>
                <a:ea typeface="华文中宋"/>
                <a:cs typeface="华文中宋"/>
              </a:rPr>
              <a:t>时间角度：</a:t>
            </a:r>
            <a:r>
              <a:rPr kumimoji="0" lang="zh-CN" altLang="en-US" sz="1800" b="1">
                <a:latin typeface="华文中宋"/>
                <a:ea typeface="华文中宋"/>
                <a:cs typeface="华文中宋"/>
              </a:rPr>
              <a:t>落后的时间为：</a:t>
            </a:r>
          </a:p>
        </p:txBody>
      </p:sp>
      <p:sp>
        <p:nvSpPr>
          <p:cNvPr id="29" name="Text Box 2"/>
          <p:cNvSpPr>
            <a:spLocks noChangeArrowheads="1"/>
          </p:cNvSpPr>
          <p:nvPr/>
        </p:nvSpPr>
        <p:spPr bwMode="auto">
          <a:xfrm>
            <a:off x="107950" y="876300"/>
            <a:ext cx="3498850" cy="400050"/>
          </a:xfrm>
          <a:prstGeom prst="homePlate">
            <a:avLst>
              <a:gd name="adj" fmla="val 49844"/>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一、平面简谐波的波函数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19461"/>
                                        </p:tgtEl>
                                        <p:attrNameLst>
                                          <p:attrName>style.visibility</p:attrName>
                                        </p:attrNameLst>
                                      </p:cBhvr>
                                      <p:to>
                                        <p:strVal val="visible"/>
                                      </p:to>
                                    </p:set>
                                    <p:anim calcmode="lin" valueType="num">
                                      <p:cBhvr>
                                        <p:cTn id="12" dur="500" fill="hold"/>
                                        <p:tgtEl>
                                          <p:spTgt spid="19461"/>
                                        </p:tgtEl>
                                        <p:attrNameLst>
                                          <p:attrName>ppt_w</p:attrName>
                                        </p:attrNameLst>
                                      </p:cBhvr>
                                      <p:tavLst>
                                        <p:tav tm="0">
                                          <p:val>
                                            <p:fltVal val="0"/>
                                          </p:val>
                                        </p:tav>
                                        <p:tav tm="100000">
                                          <p:val>
                                            <p:strVal val="#ppt_w"/>
                                          </p:val>
                                        </p:tav>
                                      </p:tavLst>
                                    </p:anim>
                                    <p:anim calcmode="lin" valueType="num">
                                      <p:cBhvr>
                                        <p:cTn id="13" dur="500" fill="hold"/>
                                        <p:tgtEl>
                                          <p:spTgt spid="19461"/>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20517"/>
                                        </p:tgtEl>
                                        <p:attrNameLst>
                                          <p:attrName>style.visibility</p:attrName>
                                        </p:attrNameLst>
                                      </p:cBhvr>
                                      <p:to>
                                        <p:strVal val="visible"/>
                                      </p:to>
                                    </p:set>
                                    <p:anim calcmode="lin" valueType="num">
                                      <p:cBhvr>
                                        <p:cTn id="18" dur="500" fill="hold"/>
                                        <p:tgtEl>
                                          <p:spTgt spid="20517"/>
                                        </p:tgtEl>
                                        <p:attrNameLst>
                                          <p:attrName>ppt_w</p:attrName>
                                        </p:attrNameLst>
                                      </p:cBhvr>
                                      <p:tavLst>
                                        <p:tav tm="0">
                                          <p:val>
                                            <p:fltVal val="0"/>
                                          </p:val>
                                        </p:tav>
                                        <p:tav tm="100000">
                                          <p:val>
                                            <p:strVal val="#ppt_w"/>
                                          </p:val>
                                        </p:tav>
                                      </p:tavLst>
                                    </p:anim>
                                    <p:anim calcmode="lin" valueType="num">
                                      <p:cBhvr>
                                        <p:cTn id="19" dur="500" fill="hold"/>
                                        <p:tgtEl>
                                          <p:spTgt spid="20517"/>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20518"/>
                                        </p:tgtEl>
                                        <p:attrNameLst>
                                          <p:attrName>style.visibility</p:attrName>
                                        </p:attrNameLst>
                                      </p:cBhvr>
                                      <p:to>
                                        <p:strVal val="visible"/>
                                      </p:to>
                                    </p:set>
                                    <p:animEffect transition="in" filter="blinds(horizontal)">
                                      <p:cBhvr>
                                        <p:cTn id="24" dur="500"/>
                                        <p:tgtEl>
                                          <p:spTgt spid="2051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10" fill="hold" grpId="0" nodeType="clickEffect">
                                  <p:stCondLst>
                                    <p:cond delay="0"/>
                                  </p:stCondLst>
                                  <p:childTnLst>
                                    <p:set>
                                      <p:cBhvr>
                                        <p:cTn id="28" dur="1" fill="hold">
                                          <p:stCondLst>
                                            <p:cond delay="0"/>
                                          </p:stCondLst>
                                        </p:cTn>
                                        <p:tgtEl>
                                          <p:spTgt spid="20519"/>
                                        </p:tgtEl>
                                        <p:attrNameLst>
                                          <p:attrName>style.visibility</p:attrName>
                                        </p:attrNameLst>
                                      </p:cBhvr>
                                      <p:to>
                                        <p:strVal val="visible"/>
                                      </p:to>
                                    </p:set>
                                    <p:anim calcmode="lin" valueType="num">
                                      <p:cBhvr>
                                        <p:cTn id="29" dur="500" fill="hold"/>
                                        <p:tgtEl>
                                          <p:spTgt spid="20519"/>
                                        </p:tgtEl>
                                        <p:attrNameLst>
                                          <p:attrName>ppt_w</p:attrName>
                                        </p:attrNameLst>
                                      </p:cBhvr>
                                      <p:tavLst>
                                        <p:tav tm="0">
                                          <p:val>
                                            <p:fltVal val="0"/>
                                          </p:val>
                                        </p:tav>
                                        <p:tav tm="100000">
                                          <p:val>
                                            <p:strVal val="#ppt_w"/>
                                          </p:val>
                                        </p:tav>
                                      </p:tavLst>
                                    </p:anim>
                                    <p:anim calcmode="lin" valueType="num">
                                      <p:cBhvr>
                                        <p:cTn id="30" dur="500" fill="hold"/>
                                        <p:tgtEl>
                                          <p:spTgt spid="20519"/>
                                        </p:tgtEl>
                                        <p:attrNameLst>
                                          <p:attrName>ppt_h</p:attrName>
                                        </p:attrNameLst>
                                      </p:cBhvr>
                                      <p:tavLst>
                                        <p:tav tm="0">
                                          <p:val>
                                            <p:strVal val="#ppt_h"/>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0523"/>
                                        </p:tgtEl>
                                        <p:attrNameLst>
                                          <p:attrName>style.visibility</p:attrName>
                                        </p:attrNameLst>
                                      </p:cBhvr>
                                      <p:to>
                                        <p:strVal val="visible"/>
                                      </p:to>
                                    </p:set>
                                    <p:animEffect transition="in" filter="blinds(horizontal)">
                                      <p:cBhvr>
                                        <p:cTn id="35" dur="500"/>
                                        <p:tgtEl>
                                          <p:spTgt spid="2052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3" presetClass="entr" presetSubtype="16"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 calcmode="lin" valueType="num">
                                      <p:cBhvr>
                                        <p:cTn id="40" dur="500" fill="hold"/>
                                        <p:tgtEl>
                                          <p:spTgt spid="2"/>
                                        </p:tgtEl>
                                        <p:attrNameLst>
                                          <p:attrName>ppt_w</p:attrName>
                                        </p:attrNameLst>
                                      </p:cBhvr>
                                      <p:tavLst>
                                        <p:tav tm="0">
                                          <p:val>
                                            <p:fltVal val="0"/>
                                          </p:val>
                                        </p:tav>
                                        <p:tav tm="100000">
                                          <p:val>
                                            <p:strVal val="#ppt_w"/>
                                          </p:val>
                                        </p:tav>
                                      </p:tavLst>
                                    </p:anim>
                                    <p:anim calcmode="lin" valueType="num">
                                      <p:cBhvr>
                                        <p:cTn id="41"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nodeType="clickEffect">
                                  <p:stCondLst>
                                    <p:cond delay="0"/>
                                  </p:stCondLst>
                                  <p:childTnLst>
                                    <p:set>
                                      <p:cBhvr>
                                        <p:cTn id="45" dur="1" fill="hold">
                                          <p:stCondLst>
                                            <p:cond delay="0"/>
                                          </p:stCondLst>
                                        </p:cTn>
                                        <p:tgtEl>
                                          <p:spTgt spid="20520"/>
                                        </p:tgtEl>
                                        <p:attrNameLst>
                                          <p:attrName>style.visibility</p:attrName>
                                        </p:attrNameLst>
                                      </p:cBhvr>
                                      <p:to>
                                        <p:strVal val="visible"/>
                                      </p:to>
                                    </p:set>
                                    <p:animEffect transition="in" filter="blinds(horizontal)">
                                      <p:cBhvr>
                                        <p:cTn id="46" dur="500"/>
                                        <p:tgtEl>
                                          <p:spTgt spid="2052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nodeType="clickEffect">
                                  <p:stCondLst>
                                    <p:cond delay="0"/>
                                  </p:stCondLst>
                                  <p:childTnLst>
                                    <p:set>
                                      <p:cBhvr>
                                        <p:cTn id="50" dur="1" fill="hold">
                                          <p:stCondLst>
                                            <p:cond delay="0"/>
                                          </p:stCondLst>
                                        </p:cTn>
                                        <p:tgtEl>
                                          <p:spTgt spid="20521"/>
                                        </p:tgtEl>
                                        <p:attrNameLst>
                                          <p:attrName>style.visibility</p:attrName>
                                        </p:attrNameLst>
                                      </p:cBhvr>
                                      <p:to>
                                        <p:strVal val="visible"/>
                                      </p:to>
                                    </p:set>
                                    <p:animEffect transition="in" filter="blinds(horizontal)">
                                      <p:cBhvr>
                                        <p:cTn id="51" dur="500"/>
                                        <p:tgtEl>
                                          <p:spTgt spid="20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autoUpdateAnimBg="0"/>
      <p:bldP spid="20517" grpId="0" autoUpdateAnimBg="0"/>
      <p:bldP spid="20519" grpId="0" autoUpdateAnimBg="0"/>
      <p:bldP spid="20523" grpId="0"/>
      <p:bldP spid="2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2" name="Rectangle 4"/>
          <p:cNvSpPr>
            <a:spLocks noChangeArrowheads="1"/>
          </p:cNvSpPr>
          <p:nvPr/>
        </p:nvSpPr>
        <p:spPr bwMode="auto">
          <a:xfrm>
            <a:off x="539750" y="2571750"/>
            <a:ext cx="8569325" cy="369888"/>
          </a:xfrm>
          <a:prstGeom prst="rect">
            <a:avLst/>
          </a:prstGeom>
          <a:noFill/>
          <a:ln w="9525">
            <a:noFill/>
            <a:miter lim="800000"/>
            <a:headEnd/>
            <a:tailEnd/>
          </a:ln>
        </p:spPr>
        <p:txBody>
          <a:bodyPr>
            <a:spAutoFit/>
          </a:bodyPr>
          <a:lstStyle/>
          <a:p>
            <a:r>
              <a:rPr lang="zh-CN" altLang="en-US" sz="1800" b="1">
                <a:solidFill>
                  <a:srgbClr val="0000FF"/>
                </a:solidFill>
                <a:ea typeface="华文中宋"/>
                <a:cs typeface="华文中宋"/>
              </a:rPr>
              <a:t>波沿</a:t>
            </a:r>
            <a:r>
              <a:rPr lang="en-US" altLang="zh-CN" sz="1800" b="1" i="1">
                <a:solidFill>
                  <a:srgbClr val="0000FF"/>
                </a:solidFill>
                <a:ea typeface="华文中宋"/>
                <a:cs typeface="华文中宋"/>
              </a:rPr>
              <a:t>x</a:t>
            </a:r>
            <a:r>
              <a:rPr lang="zh-CN" altLang="en-US" sz="1800" b="1">
                <a:solidFill>
                  <a:srgbClr val="0000FF"/>
                </a:solidFill>
                <a:ea typeface="华文中宋"/>
                <a:cs typeface="华文中宋"/>
              </a:rPr>
              <a:t>轴负向传播时，</a:t>
            </a:r>
            <a:r>
              <a:rPr lang="zh-CN" altLang="en-US" sz="1800" b="1">
                <a:ea typeface="华文中宋"/>
                <a:cs typeface="华文中宋"/>
              </a:rPr>
              <a:t>即</a:t>
            </a:r>
            <a:r>
              <a:rPr lang="en-US" altLang="zh-CN" sz="1800" b="1" i="1">
                <a:ea typeface="华文中宋"/>
                <a:cs typeface="华文中宋"/>
              </a:rPr>
              <a:t>u</a:t>
            </a:r>
            <a:r>
              <a:rPr lang="zh-CN" altLang="en-US" sz="1800" b="1">
                <a:ea typeface="华文中宋"/>
                <a:cs typeface="华文中宋"/>
              </a:rPr>
              <a:t>改为</a:t>
            </a:r>
            <a:r>
              <a:rPr lang="en-US" altLang="zh-CN" sz="1800" b="1">
                <a:ea typeface="华文中宋"/>
                <a:cs typeface="华文中宋"/>
              </a:rPr>
              <a:t>-</a:t>
            </a:r>
            <a:r>
              <a:rPr lang="en-US" altLang="zh-CN" sz="1800" b="1" i="1">
                <a:ea typeface="华文中宋"/>
                <a:cs typeface="华文中宋"/>
              </a:rPr>
              <a:t>u</a:t>
            </a:r>
            <a:r>
              <a:rPr lang="zh-CN" altLang="en-US" sz="1800" b="1">
                <a:ea typeface="华文中宋"/>
                <a:cs typeface="华文中宋"/>
              </a:rPr>
              <a:t>，也就是说</a:t>
            </a:r>
            <a:r>
              <a:rPr lang="en-US" altLang="zh-CN" sz="1800" b="1" i="1">
                <a:ea typeface="华文中宋"/>
                <a:cs typeface="华文中宋"/>
              </a:rPr>
              <a:t>P</a:t>
            </a:r>
            <a:r>
              <a:rPr lang="zh-CN" altLang="en-US" sz="1800" b="1">
                <a:ea typeface="华文中宋"/>
                <a:cs typeface="华文中宋"/>
              </a:rPr>
              <a:t>点超前于</a:t>
            </a:r>
            <a:r>
              <a:rPr lang="en-US" altLang="zh-CN" sz="1800" b="1" i="1">
                <a:ea typeface="华文中宋"/>
                <a:cs typeface="华文中宋"/>
              </a:rPr>
              <a:t>O</a:t>
            </a:r>
            <a:r>
              <a:rPr lang="zh-CN" altLang="en-US" sz="1800" b="1">
                <a:ea typeface="华文中宋"/>
                <a:cs typeface="华文中宋"/>
              </a:rPr>
              <a:t>点的振动，所以同理可得：</a:t>
            </a:r>
          </a:p>
        </p:txBody>
      </p:sp>
      <p:grpSp>
        <p:nvGrpSpPr>
          <p:cNvPr id="2" name="Group 24"/>
          <p:cNvGrpSpPr>
            <a:grpSpLocks/>
          </p:cNvGrpSpPr>
          <p:nvPr/>
        </p:nvGrpSpPr>
        <p:grpSpPr bwMode="auto">
          <a:xfrm>
            <a:off x="5076825" y="2895600"/>
            <a:ext cx="3702050" cy="1209675"/>
            <a:chOff x="3016" y="527"/>
            <a:chExt cx="2332" cy="1015"/>
          </a:xfrm>
        </p:grpSpPr>
        <p:sp>
          <p:nvSpPr>
            <p:cNvPr id="29801" name="Line 10"/>
            <p:cNvSpPr>
              <a:spLocks noChangeShapeType="1"/>
            </p:cNvSpPr>
            <p:nvPr/>
          </p:nvSpPr>
          <p:spPr bwMode="auto">
            <a:xfrm>
              <a:off x="3016" y="1058"/>
              <a:ext cx="2325" cy="0"/>
            </a:xfrm>
            <a:prstGeom prst="line">
              <a:avLst/>
            </a:prstGeom>
            <a:noFill/>
            <a:ln w="9525">
              <a:solidFill>
                <a:srgbClr val="00B0F0"/>
              </a:solidFill>
              <a:round/>
              <a:headEnd/>
              <a:tailEnd type="triangle" w="med" len="med"/>
            </a:ln>
          </p:spPr>
          <p:txBody>
            <a:bodyPr/>
            <a:lstStyle/>
            <a:p>
              <a:endParaRPr lang="zh-CN" altLang="en-US"/>
            </a:p>
          </p:txBody>
        </p:sp>
        <p:sp>
          <p:nvSpPr>
            <p:cNvPr id="29802" name="Line 11"/>
            <p:cNvSpPr>
              <a:spLocks noChangeShapeType="1"/>
            </p:cNvSpPr>
            <p:nvPr/>
          </p:nvSpPr>
          <p:spPr bwMode="auto">
            <a:xfrm flipV="1">
              <a:off x="3469" y="690"/>
              <a:ext cx="0" cy="737"/>
            </a:xfrm>
            <a:prstGeom prst="line">
              <a:avLst/>
            </a:prstGeom>
            <a:noFill/>
            <a:ln w="9525">
              <a:solidFill>
                <a:srgbClr val="00B0F0"/>
              </a:solidFill>
              <a:round/>
              <a:headEnd/>
              <a:tailEnd type="triangle" w="med" len="med"/>
            </a:ln>
          </p:spPr>
          <p:txBody>
            <a:bodyPr/>
            <a:lstStyle/>
            <a:p>
              <a:endParaRPr lang="zh-CN" altLang="en-US"/>
            </a:p>
          </p:txBody>
        </p:sp>
        <p:grpSp>
          <p:nvGrpSpPr>
            <p:cNvPr id="29803" name="Group 12"/>
            <p:cNvGrpSpPr>
              <a:grpSpLocks/>
            </p:cNvGrpSpPr>
            <p:nvPr/>
          </p:nvGrpSpPr>
          <p:grpSpPr bwMode="auto">
            <a:xfrm>
              <a:off x="3185" y="775"/>
              <a:ext cx="1928" cy="596"/>
              <a:chOff x="2992" y="458"/>
              <a:chExt cx="1928" cy="482"/>
            </a:xfrm>
          </p:grpSpPr>
          <p:sp>
            <p:nvSpPr>
              <p:cNvPr id="29814" name="Freeform 13"/>
              <p:cNvSpPr>
                <a:spLocks/>
              </p:cNvSpPr>
              <p:nvPr/>
            </p:nvSpPr>
            <p:spPr bwMode="auto">
              <a:xfrm>
                <a:off x="3956" y="458"/>
                <a:ext cx="964" cy="482"/>
              </a:xfrm>
              <a:custGeom>
                <a:avLst/>
                <a:gdLst>
                  <a:gd name="T0" fmla="*/ 0 w 2154"/>
                  <a:gd name="T1" fmla="*/ 0 h 1078"/>
                  <a:gd name="T2" fmla="*/ 0 w 2154"/>
                  <a:gd name="T3" fmla="*/ 0 h 1078"/>
                  <a:gd name="T4" fmla="*/ 0 w 2154"/>
                  <a:gd name="T5" fmla="*/ 0 h 1078"/>
                  <a:gd name="T6" fmla="*/ 0 w 2154"/>
                  <a:gd name="T7" fmla="*/ 0 h 1078"/>
                  <a:gd name="T8" fmla="*/ 0 w 2154"/>
                  <a:gd name="T9" fmla="*/ 0 h 1078"/>
                  <a:gd name="T10" fmla="*/ 0 60000 65536"/>
                  <a:gd name="T11" fmla="*/ 0 60000 65536"/>
                  <a:gd name="T12" fmla="*/ 0 60000 65536"/>
                  <a:gd name="T13" fmla="*/ 0 60000 65536"/>
                  <a:gd name="T14" fmla="*/ 0 60000 65536"/>
                  <a:gd name="T15" fmla="*/ 0 w 2154"/>
                  <a:gd name="T16" fmla="*/ 0 h 1078"/>
                  <a:gd name="T17" fmla="*/ 2154 w 2154"/>
                  <a:gd name="T18" fmla="*/ 1078 h 1078"/>
                </a:gdLst>
                <a:ahLst/>
                <a:cxnLst>
                  <a:cxn ang="T10">
                    <a:pos x="T0" y="T1"/>
                  </a:cxn>
                  <a:cxn ang="T11">
                    <a:pos x="T2" y="T3"/>
                  </a:cxn>
                  <a:cxn ang="T12">
                    <a:pos x="T4" y="T5"/>
                  </a:cxn>
                  <a:cxn ang="T13">
                    <a:pos x="T6" y="T7"/>
                  </a:cxn>
                  <a:cxn ang="T14">
                    <a:pos x="T8" y="T9"/>
                  </a:cxn>
                </a:cxnLst>
                <a:rect l="T15" t="T16" r="T17" b="T18"/>
                <a:pathLst>
                  <a:path w="2154" h="1078">
                    <a:moveTo>
                      <a:pt x="0" y="539"/>
                    </a:moveTo>
                    <a:cubicBezTo>
                      <a:pt x="179" y="269"/>
                      <a:pt x="359" y="0"/>
                      <a:pt x="538" y="0"/>
                    </a:cubicBezTo>
                    <a:cubicBezTo>
                      <a:pt x="717" y="0"/>
                      <a:pt x="935" y="352"/>
                      <a:pt x="1077" y="539"/>
                    </a:cubicBezTo>
                    <a:cubicBezTo>
                      <a:pt x="1219" y="726"/>
                      <a:pt x="1437" y="1078"/>
                      <a:pt x="1616" y="1078"/>
                    </a:cubicBezTo>
                    <a:cubicBezTo>
                      <a:pt x="1795" y="1078"/>
                      <a:pt x="1974" y="808"/>
                      <a:pt x="2154" y="539"/>
                    </a:cubicBezTo>
                  </a:path>
                </a:pathLst>
              </a:custGeom>
              <a:noFill/>
              <a:ln w="19050">
                <a:solidFill>
                  <a:srgbClr val="0000FF"/>
                </a:solidFill>
                <a:round/>
                <a:headEnd/>
                <a:tailEnd/>
              </a:ln>
            </p:spPr>
            <p:txBody>
              <a:bodyPr/>
              <a:lstStyle/>
              <a:p>
                <a:endParaRPr lang="zh-CN" altLang="en-US"/>
              </a:p>
            </p:txBody>
          </p:sp>
          <p:sp>
            <p:nvSpPr>
              <p:cNvPr id="29815" name="Freeform 14"/>
              <p:cNvSpPr>
                <a:spLocks/>
              </p:cNvSpPr>
              <p:nvPr/>
            </p:nvSpPr>
            <p:spPr bwMode="auto">
              <a:xfrm>
                <a:off x="2992" y="458"/>
                <a:ext cx="964" cy="482"/>
              </a:xfrm>
              <a:custGeom>
                <a:avLst/>
                <a:gdLst>
                  <a:gd name="T0" fmla="*/ 0 w 2154"/>
                  <a:gd name="T1" fmla="*/ 0 h 1078"/>
                  <a:gd name="T2" fmla="*/ 0 w 2154"/>
                  <a:gd name="T3" fmla="*/ 0 h 1078"/>
                  <a:gd name="T4" fmla="*/ 0 w 2154"/>
                  <a:gd name="T5" fmla="*/ 0 h 1078"/>
                  <a:gd name="T6" fmla="*/ 0 w 2154"/>
                  <a:gd name="T7" fmla="*/ 0 h 1078"/>
                  <a:gd name="T8" fmla="*/ 0 w 2154"/>
                  <a:gd name="T9" fmla="*/ 0 h 1078"/>
                  <a:gd name="T10" fmla="*/ 0 60000 65536"/>
                  <a:gd name="T11" fmla="*/ 0 60000 65536"/>
                  <a:gd name="T12" fmla="*/ 0 60000 65536"/>
                  <a:gd name="T13" fmla="*/ 0 60000 65536"/>
                  <a:gd name="T14" fmla="*/ 0 60000 65536"/>
                  <a:gd name="T15" fmla="*/ 0 w 2154"/>
                  <a:gd name="T16" fmla="*/ 0 h 1078"/>
                  <a:gd name="T17" fmla="*/ 2154 w 2154"/>
                  <a:gd name="T18" fmla="*/ 1078 h 1078"/>
                </a:gdLst>
                <a:ahLst/>
                <a:cxnLst>
                  <a:cxn ang="T10">
                    <a:pos x="T0" y="T1"/>
                  </a:cxn>
                  <a:cxn ang="T11">
                    <a:pos x="T2" y="T3"/>
                  </a:cxn>
                  <a:cxn ang="T12">
                    <a:pos x="T4" y="T5"/>
                  </a:cxn>
                  <a:cxn ang="T13">
                    <a:pos x="T6" y="T7"/>
                  </a:cxn>
                  <a:cxn ang="T14">
                    <a:pos x="T8" y="T9"/>
                  </a:cxn>
                </a:cxnLst>
                <a:rect l="T15" t="T16" r="T17" b="T18"/>
                <a:pathLst>
                  <a:path w="2154" h="1078">
                    <a:moveTo>
                      <a:pt x="0" y="539"/>
                    </a:moveTo>
                    <a:cubicBezTo>
                      <a:pt x="179" y="269"/>
                      <a:pt x="359" y="0"/>
                      <a:pt x="538" y="0"/>
                    </a:cubicBezTo>
                    <a:cubicBezTo>
                      <a:pt x="717" y="0"/>
                      <a:pt x="935" y="352"/>
                      <a:pt x="1077" y="539"/>
                    </a:cubicBezTo>
                    <a:cubicBezTo>
                      <a:pt x="1219" y="726"/>
                      <a:pt x="1437" y="1078"/>
                      <a:pt x="1616" y="1078"/>
                    </a:cubicBezTo>
                    <a:cubicBezTo>
                      <a:pt x="1795" y="1078"/>
                      <a:pt x="1974" y="808"/>
                      <a:pt x="2154" y="539"/>
                    </a:cubicBezTo>
                  </a:path>
                </a:pathLst>
              </a:custGeom>
              <a:noFill/>
              <a:ln w="19050">
                <a:solidFill>
                  <a:srgbClr val="0000FF"/>
                </a:solidFill>
                <a:round/>
                <a:headEnd/>
                <a:tailEnd/>
              </a:ln>
            </p:spPr>
            <p:txBody>
              <a:bodyPr/>
              <a:lstStyle/>
              <a:p>
                <a:endParaRPr lang="zh-CN" altLang="en-US"/>
              </a:p>
            </p:txBody>
          </p:sp>
        </p:grpSp>
        <p:sp>
          <p:nvSpPr>
            <p:cNvPr id="29804" name="Text Box 15"/>
            <p:cNvSpPr txBox="1">
              <a:spLocks noChangeArrowheads="1"/>
            </p:cNvSpPr>
            <p:nvPr/>
          </p:nvSpPr>
          <p:spPr bwMode="auto">
            <a:xfrm>
              <a:off x="5171" y="1006"/>
              <a:ext cx="177" cy="271"/>
            </a:xfrm>
            <a:prstGeom prst="rect">
              <a:avLst/>
            </a:prstGeom>
            <a:noFill/>
            <a:ln w="9525">
              <a:noFill/>
              <a:miter lim="800000"/>
              <a:headEnd/>
              <a:tailEnd/>
            </a:ln>
          </p:spPr>
          <p:txBody>
            <a:bodyPr wrap="none">
              <a:spAutoFit/>
            </a:bodyPr>
            <a:lstStyle/>
            <a:p>
              <a:r>
                <a:rPr kumimoji="0" lang="en-US" altLang="zh-CN" sz="1500" b="1" i="1"/>
                <a:t>x</a:t>
              </a:r>
            </a:p>
          </p:txBody>
        </p:sp>
        <p:sp>
          <p:nvSpPr>
            <p:cNvPr id="29805" name="Line 16"/>
            <p:cNvSpPr>
              <a:spLocks noChangeShapeType="1"/>
            </p:cNvSpPr>
            <p:nvPr/>
          </p:nvSpPr>
          <p:spPr bwMode="auto">
            <a:xfrm>
              <a:off x="3640" y="832"/>
              <a:ext cx="340" cy="0"/>
            </a:xfrm>
            <a:prstGeom prst="line">
              <a:avLst/>
            </a:prstGeom>
            <a:noFill/>
            <a:ln w="19050">
              <a:solidFill>
                <a:srgbClr val="FF00FF"/>
              </a:solidFill>
              <a:round/>
              <a:headEnd type="stealth" w="lg" len="lg"/>
              <a:tailEnd/>
            </a:ln>
          </p:spPr>
          <p:txBody>
            <a:bodyPr/>
            <a:lstStyle/>
            <a:p>
              <a:endParaRPr lang="zh-CN" altLang="en-US"/>
            </a:p>
          </p:txBody>
        </p:sp>
        <p:graphicFrame>
          <p:nvGraphicFramePr>
            <p:cNvPr id="29769" name="Object 73"/>
            <p:cNvGraphicFramePr>
              <a:graphicFrameLocks noChangeAspect="1"/>
            </p:cNvGraphicFramePr>
            <p:nvPr/>
          </p:nvGraphicFramePr>
          <p:xfrm>
            <a:off x="3725" y="605"/>
            <a:ext cx="178" cy="226"/>
          </p:xfrm>
          <a:graphic>
            <a:graphicData uri="http://schemas.openxmlformats.org/presentationml/2006/ole">
              <p:oleObj spid="_x0000_s29769" name="公式" r:id="rId3" imgW="139579" imgH="177646" progId="Equation.3">
                <p:embed/>
              </p:oleObj>
            </a:graphicData>
          </a:graphic>
        </p:graphicFrame>
        <p:sp>
          <p:nvSpPr>
            <p:cNvPr id="29806" name="Line 18"/>
            <p:cNvSpPr>
              <a:spLocks noChangeShapeType="1"/>
            </p:cNvSpPr>
            <p:nvPr/>
          </p:nvSpPr>
          <p:spPr bwMode="auto">
            <a:xfrm>
              <a:off x="4490" y="860"/>
              <a:ext cx="0" cy="199"/>
            </a:xfrm>
            <a:prstGeom prst="line">
              <a:avLst/>
            </a:prstGeom>
            <a:noFill/>
            <a:ln w="9525">
              <a:solidFill>
                <a:schemeClr val="tx1"/>
              </a:solidFill>
              <a:prstDash val="dash"/>
              <a:round/>
              <a:headEnd/>
              <a:tailEnd/>
            </a:ln>
          </p:spPr>
          <p:txBody>
            <a:bodyPr/>
            <a:lstStyle/>
            <a:p>
              <a:endParaRPr lang="zh-CN" altLang="en-US"/>
            </a:p>
          </p:txBody>
        </p:sp>
        <p:sp>
          <p:nvSpPr>
            <p:cNvPr id="29807" name="Oval 19"/>
            <p:cNvSpPr>
              <a:spLocks noChangeArrowheads="1"/>
            </p:cNvSpPr>
            <p:nvPr/>
          </p:nvSpPr>
          <p:spPr bwMode="auto">
            <a:xfrm>
              <a:off x="4462" y="832"/>
              <a:ext cx="56" cy="56"/>
            </a:xfrm>
            <a:prstGeom prst="ellipse">
              <a:avLst/>
            </a:prstGeom>
            <a:solidFill>
              <a:srgbClr val="00FF00"/>
            </a:solidFill>
            <a:ln w="9525">
              <a:solidFill>
                <a:schemeClr val="tx1"/>
              </a:solidFill>
              <a:round/>
              <a:headEnd/>
              <a:tailEnd/>
            </a:ln>
          </p:spPr>
          <p:txBody>
            <a:bodyPr wrap="none" anchor="ctr"/>
            <a:lstStyle/>
            <a:p>
              <a:endParaRPr kumimoji="0" lang="zh-CN" altLang="zh-CN" sz="1800"/>
            </a:p>
          </p:txBody>
        </p:sp>
        <p:sp>
          <p:nvSpPr>
            <p:cNvPr id="29808" name="Text Box 20"/>
            <p:cNvSpPr txBox="1">
              <a:spLocks noChangeArrowheads="1"/>
            </p:cNvSpPr>
            <p:nvPr/>
          </p:nvSpPr>
          <p:spPr bwMode="auto">
            <a:xfrm>
              <a:off x="3271" y="1006"/>
              <a:ext cx="204" cy="271"/>
            </a:xfrm>
            <a:prstGeom prst="rect">
              <a:avLst/>
            </a:prstGeom>
            <a:noFill/>
            <a:ln w="9525">
              <a:noFill/>
              <a:miter lim="800000"/>
              <a:headEnd/>
              <a:tailEnd/>
            </a:ln>
          </p:spPr>
          <p:txBody>
            <a:bodyPr wrap="none">
              <a:spAutoFit/>
            </a:bodyPr>
            <a:lstStyle/>
            <a:p>
              <a:r>
                <a:rPr kumimoji="0" lang="en-US" altLang="zh-CN" sz="1500" b="1" i="1"/>
                <a:t>O</a:t>
              </a:r>
            </a:p>
          </p:txBody>
        </p:sp>
        <p:sp>
          <p:nvSpPr>
            <p:cNvPr id="29809" name="Text Box 21"/>
            <p:cNvSpPr txBox="1">
              <a:spLocks noChangeArrowheads="1"/>
            </p:cNvSpPr>
            <p:nvPr/>
          </p:nvSpPr>
          <p:spPr bwMode="auto">
            <a:xfrm>
              <a:off x="4490" y="1001"/>
              <a:ext cx="177" cy="271"/>
            </a:xfrm>
            <a:prstGeom prst="rect">
              <a:avLst/>
            </a:prstGeom>
            <a:noFill/>
            <a:ln w="9525">
              <a:noFill/>
              <a:miter lim="800000"/>
              <a:headEnd/>
              <a:tailEnd/>
            </a:ln>
          </p:spPr>
          <p:txBody>
            <a:bodyPr wrap="none">
              <a:spAutoFit/>
            </a:bodyPr>
            <a:lstStyle/>
            <a:p>
              <a:r>
                <a:rPr kumimoji="0" lang="en-US" altLang="zh-CN" sz="1500" b="1" i="1"/>
                <a:t>p</a:t>
              </a:r>
            </a:p>
          </p:txBody>
        </p:sp>
        <p:sp>
          <p:nvSpPr>
            <p:cNvPr id="29810" name="Line 22"/>
            <p:cNvSpPr>
              <a:spLocks noChangeShapeType="1"/>
            </p:cNvSpPr>
            <p:nvPr/>
          </p:nvSpPr>
          <p:spPr bwMode="auto">
            <a:xfrm>
              <a:off x="3470" y="1399"/>
              <a:ext cx="1020" cy="0"/>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29811" name="Line 23"/>
            <p:cNvSpPr>
              <a:spLocks noChangeShapeType="1"/>
            </p:cNvSpPr>
            <p:nvPr/>
          </p:nvSpPr>
          <p:spPr bwMode="auto">
            <a:xfrm>
              <a:off x="4490" y="1059"/>
              <a:ext cx="0" cy="340"/>
            </a:xfrm>
            <a:prstGeom prst="line">
              <a:avLst/>
            </a:prstGeom>
            <a:noFill/>
            <a:ln w="9525">
              <a:solidFill>
                <a:schemeClr val="tx1"/>
              </a:solidFill>
              <a:round/>
              <a:headEnd/>
              <a:tailEnd/>
            </a:ln>
          </p:spPr>
          <p:txBody>
            <a:bodyPr/>
            <a:lstStyle/>
            <a:p>
              <a:endParaRPr lang="zh-CN" altLang="en-US"/>
            </a:p>
          </p:txBody>
        </p:sp>
        <p:sp>
          <p:nvSpPr>
            <p:cNvPr id="29812" name="Text Box 24"/>
            <p:cNvSpPr txBox="1">
              <a:spLocks noChangeArrowheads="1"/>
            </p:cNvSpPr>
            <p:nvPr/>
          </p:nvSpPr>
          <p:spPr bwMode="auto">
            <a:xfrm>
              <a:off x="4053" y="1271"/>
              <a:ext cx="177" cy="271"/>
            </a:xfrm>
            <a:prstGeom prst="rect">
              <a:avLst/>
            </a:prstGeom>
            <a:solidFill>
              <a:schemeClr val="bg1"/>
            </a:solidFill>
            <a:ln w="9525">
              <a:noFill/>
              <a:miter lim="800000"/>
              <a:headEnd/>
              <a:tailEnd/>
            </a:ln>
          </p:spPr>
          <p:txBody>
            <a:bodyPr wrap="none">
              <a:spAutoFit/>
            </a:bodyPr>
            <a:lstStyle/>
            <a:p>
              <a:r>
                <a:rPr kumimoji="0" lang="en-US" altLang="zh-CN" sz="1500" b="1" i="1"/>
                <a:t>x</a:t>
              </a:r>
            </a:p>
          </p:txBody>
        </p:sp>
        <p:sp>
          <p:nvSpPr>
            <p:cNvPr id="29813" name="Text Box 25"/>
            <p:cNvSpPr txBox="1">
              <a:spLocks noChangeArrowheads="1"/>
            </p:cNvSpPr>
            <p:nvPr/>
          </p:nvSpPr>
          <p:spPr bwMode="auto">
            <a:xfrm>
              <a:off x="3327" y="527"/>
              <a:ext cx="170" cy="271"/>
            </a:xfrm>
            <a:prstGeom prst="rect">
              <a:avLst/>
            </a:prstGeom>
            <a:noFill/>
            <a:ln w="9525">
              <a:noFill/>
              <a:miter lim="800000"/>
              <a:headEnd/>
              <a:tailEnd/>
            </a:ln>
          </p:spPr>
          <p:txBody>
            <a:bodyPr wrap="none">
              <a:spAutoFit/>
            </a:bodyPr>
            <a:lstStyle/>
            <a:p>
              <a:r>
                <a:rPr kumimoji="0" lang="en-US" altLang="zh-CN" sz="1500" b="1" i="1"/>
                <a:t>y</a:t>
              </a:r>
            </a:p>
          </p:txBody>
        </p:sp>
      </p:grpSp>
      <p:graphicFrame>
        <p:nvGraphicFramePr>
          <p:cNvPr id="140311" name="Object 74"/>
          <p:cNvGraphicFramePr>
            <a:graphicFrameLocks noChangeAspect="1"/>
          </p:cNvGraphicFramePr>
          <p:nvPr/>
        </p:nvGraphicFramePr>
        <p:xfrm>
          <a:off x="1116013" y="3275013"/>
          <a:ext cx="3600450" cy="585787"/>
        </p:xfrm>
        <a:graphic>
          <a:graphicData uri="http://schemas.openxmlformats.org/presentationml/2006/ole">
            <p:oleObj spid="_x0000_s29770" name="Equation" r:id="rId4" imgW="1866090" imgH="406224" progId="Equation.DSMT4">
              <p:embed/>
            </p:oleObj>
          </a:graphicData>
        </a:graphic>
      </p:graphicFrame>
      <p:sp>
        <p:nvSpPr>
          <p:cNvPr id="140313" name="Rectangle 25"/>
          <p:cNvSpPr>
            <a:spLocks noChangeArrowheads="1"/>
          </p:cNvSpPr>
          <p:nvPr/>
        </p:nvSpPr>
        <p:spPr bwMode="auto">
          <a:xfrm>
            <a:off x="1116013" y="2208213"/>
            <a:ext cx="6696075" cy="369887"/>
          </a:xfrm>
          <a:prstGeom prst="rect">
            <a:avLst/>
          </a:prstGeom>
          <a:noFill/>
          <a:ln w="9525">
            <a:noFill/>
            <a:miter lim="800000"/>
            <a:headEnd/>
            <a:tailEnd/>
          </a:ln>
        </p:spPr>
        <p:txBody>
          <a:bodyPr>
            <a:spAutoFit/>
          </a:bodyPr>
          <a:lstStyle/>
          <a:p>
            <a:r>
              <a:rPr lang="en-US" altLang="zh-CN" sz="1800" b="1" i="1">
                <a:ea typeface="华文中宋"/>
                <a:cs typeface="华文中宋"/>
              </a:rPr>
              <a:t>P</a:t>
            </a:r>
            <a:r>
              <a:rPr lang="zh-CN" altLang="en-US" sz="1800" b="1">
                <a:ea typeface="华文中宋"/>
                <a:cs typeface="华文中宋"/>
              </a:rPr>
              <a:t>为任选的，所以此即平面简谐波的波函数。</a:t>
            </a:r>
          </a:p>
        </p:txBody>
      </p:sp>
      <p:graphicFrame>
        <p:nvGraphicFramePr>
          <p:cNvPr id="140314" name="Object 75"/>
          <p:cNvGraphicFramePr>
            <a:graphicFrameLocks noChangeAspect="1"/>
          </p:cNvGraphicFramePr>
          <p:nvPr/>
        </p:nvGraphicFramePr>
        <p:xfrm>
          <a:off x="1619250" y="1203325"/>
          <a:ext cx="1296988" cy="555625"/>
        </p:xfrm>
        <a:graphic>
          <a:graphicData uri="http://schemas.openxmlformats.org/presentationml/2006/ole">
            <p:oleObj spid="_x0000_s29771" name="Equation" r:id="rId5" imgW="710891" imgH="406224" progId="Equation.DSMT4">
              <p:embed/>
            </p:oleObj>
          </a:graphicData>
        </a:graphic>
      </p:graphicFrame>
      <p:graphicFrame>
        <p:nvGraphicFramePr>
          <p:cNvPr id="140315" name="Object 76"/>
          <p:cNvGraphicFramePr>
            <a:graphicFrameLocks noChangeAspect="1"/>
          </p:cNvGraphicFramePr>
          <p:nvPr/>
        </p:nvGraphicFramePr>
        <p:xfrm>
          <a:off x="107950" y="1741488"/>
          <a:ext cx="3455988" cy="587375"/>
        </p:xfrm>
        <a:graphic>
          <a:graphicData uri="http://schemas.openxmlformats.org/presentationml/2006/ole">
            <p:oleObj spid="_x0000_s29772" name="Equation" r:id="rId6" imgW="1954951" imgH="406224" progId="Equation.DSMT4">
              <p:embed/>
            </p:oleObj>
          </a:graphicData>
        </a:graphic>
      </p:graphicFrame>
      <p:sp>
        <p:nvSpPr>
          <p:cNvPr id="140316" name="Rectangle 28"/>
          <p:cNvSpPr>
            <a:spLocks noChangeArrowheads="1"/>
          </p:cNvSpPr>
          <p:nvPr/>
        </p:nvSpPr>
        <p:spPr bwMode="auto">
          <a:xfrm>
            <a:off x="611188" y="833438"/>
            <a:ext cx="3860800" cy="369887"/>
          </a:xfrm>
          <a:prstGeom prst="rect">
            <a:avLst/>
          </a:prstGeom>
          <a:noFill/>
          <a:ln w="9525">
            <a:noFill/>
            <a:miter lim="800000"/>
            <a:headEnd/>
            <a:tailEnd/>
          </a:ln>
        </p:spPr>
        <p:txBody>
          <a:bodyPr>
            <a:spAutoFit/>
          </a:bodyPr>
          <a:lstStyle/>
          <a:p>
            <a:r>
              <a:rPr kumimoji="0" lang="zh-CN" altLang="en-US" sz="1800" b="1">
                <a:solidFill>
                  <a:srgbClr val="FF0000"/>
                </a:solidFill>
                <a:latin typeface="华文中宋"/>
                <a:ea typeface="华文中宋"/>
                <a:cs typeface="华文中宋"/>
              </a:rPr>
              <a:t>位相角度：</a:t>
            </a:r>
            <a:r>
              <a:rPr kumimoji="0" lang="zh-CN" altLang="en-US" sz="1800" b="1">
                <a:latin typeface="华文中宋"/>
                <a:ea typeface="华文中宋"/>
                <a:cs typeface="华文中宋"/>
              </a:rPr>
              <a:t>落后的位相为：</a:t>
            </a:r>
          </a:p>
        </p:txBody>
      </p:sp>
      <p:graphicFrame>
        <p:nvGraphicFramePr>
          <p:cNvPr id="140317" name="Object 77"/>
          <p:cNvGraphicFramePr>
            <a:graphicFrameLocks noChangeAspect="1"/>
          </p:cNvGraphicFramePr>
          <p:nvPr/>
        </p:nvGraphicFramePr>
        <p:xfrm>
          <a:off x="6370638" y="1681163"/>
          <a:ext cx="1873250" cy="674687"/>
        </p:xfrm>
        <a:graphic>
          <a:graphicData uri="http://schemas.openxmlformats.org/presentationml/2006/ole">
            <p:oleObj spid="_x0000_s29773" name="Equation" r:id="rId7" imgW="1282700" imgH="393700" progId="Equation.DSMT4">
              <p:embed/>
            </p:oleObj>
          </a:graphicData>
        </a:graphic>
      </p:graphicFrame>
      <p:grpSp>
        <p:nvGrpSpPr>
          <p:cNvPr id="4" name="Group 8"/>
          <p:cNvGrpSpPr>
            <a:grpSpLocks/>
          </p:cNvGrpSpPr>
          <p:nvPr/>
        </p:nvGrpSpPr>
        <p:grpSpPr bwMode="auto">
          <a:xfrm>
            <a:off x="3779838" y="731838"/>
            <a:ext cx="3673475" cy="1112837"/>
            <a:chOff x="1434" y="41"/>
            <a:chExt cx="2333" cy="1048"/>
          </a:xfrm>
        </p:grpSpPr>
        <p:grpSp>
          <p:nvGrpSpPr>
            <p:cNvPr id="29785" name="Group 9"/>
            <p:cNvGrpSpPr>
              <a:grpSpLocks/>
            </p:cNvGrpSpPr>
            <p:nvPr/>
          </p:nvGrpSpPr>
          <p:grpSpPr bwMode="auto">
            <a:xfrm>
              <a:off x="1434" y="119"/>
              <a:ext cx="2333" cy="970"/>
              <a:chOff x="2823" y="232"/>
              <a:chExt cx="2333" cy="970"/>
            </a:xfrm>
          </p:grpSpPr>
          <p:sp>
            <p:nvSpPr>
              <p:cNvPr id="29787" name="Line 10"/>
              <p:cNvSpPr>
                <a:spLocks noChangeShapeType="1"/>
              </p:cNvSpPr>
              <p:nvPr/>
            </p:nvSpPr>
            <p:spPr bwMode="auto">
              <a:xfrm>
                <a:off x="2823" y="685"/>
                <a:ext cx="2325" cy="0"/>
              </a:xfrm>
              <a:prstGeom prst="line">
                <a:avLst/>
              </a:prstGeom>
              <a:noFill/>
              <a:ln w="9525">
                <a:solidFill>
                  <a:srgbClr val="00B0F0"/>
                </a:solidFill>
                <a:round/>
                <a:headEnd/>
                <a:tailEnd type="triangle" w="med" len="med"/>
              </a:ln>
            </p:spPr>
            <p:txBody>
              <a:bodyPr/>
              <a:lstStyle/>
              <a:p>
                <a:endParaRPr lang="zh-CN" altLang="en-US"/>
              </a:p>
            </p:txBody>
          </p:sp>
          <p:sp>
            <p:nvSpPr>
              <p:cNvPr id="29788" name="Line 11"/>
              <p:cNvSpPr>
                <a:spLocks noChangeShapeType="1"/>
              </p:cNvSpPr>
              <p:nvPr/>
            </p:nvSpPr>
            <p:spPr bwMode="auto">
              <a:xfrm flipV="1">
                <a:off x="3276" y="317"/>
                <a:ext cx="0" cy="737"/>
              </a:xfrm>
              <a:prstGeom prst="line">
                <a:avLst/>
              </a:prstGeom>
              <a:noFill/>
              <a:ln w="9525">
                <a:solidFill>
                  <a:srgbClr val="00B0F0"/>
                </a:solidFill>
                <a:round/>
                <a:headEnd/>
                <a:tailEnd type="triangle" w="med" len="med"/>
              </a:ln>
            </p:spPr>
            <p:txBody>
              <a:bodyPr/>
              <a:lstStyle/>
              <a:p>
                <a:endParaRPr lang="zh-CN" altLang="en-US"/>
              </a:p>
            </p:txBody>
          </p:sp>
          <p:grpSp>
            <p:nvGrpSpPr>
              <p:cNvPr id="29789" name="Group 12"/>
              <p:cNvGrpSpPr>
                <a:grpSpLocks/>
              </p:cNvGrpSpPr>
              <p:nvPr/>
            </p:nvGrpSpPr>
            <p:grpSpPr bwMode="auto">
              <a:xfrm>
                <a:off x="2992" y="402"/>
                <a:ext cx="1928" cy="596"/>
                <a:chOff x="2992" y="458"/>
                <a:chExt cx="1928" cy="482"/>
              </a:xfrm>
            </p:grpSpPr>
            <p:sp>
              <p:nvSpPr>
                <p:cNvPr id="29799" name="Freeform 13"/>
                <p:cNvSpPr>
                  <a:spLocks/>
                </p:cNvSpPr>
                <p:nvPr/>
              </p:nvSpPr>
              <p:spPr bwMode="auto">
                <a:xfrm>
                  <a:off x="3956" y="458"/>
                  <a:ext cx="964" cy="482"/>
                </a:xfrm>
                <a:custGeom>
                  <a:avLst/>
                  <a:gdLst>
                    <a:gd name="T0" fmla="*/ 0 w 2154"/>
                    <a:gd name="T1" fmla="*/ 0 h 1078"/>
                    <a:gd name="T2" fmla="*/ 0 w 2154"/>
                    <a:gd name="T3" fmla="*/ 0 h 1078"/>
                    <a:gd name="T4" fmla="*/ 0 w 2154"/>
                    <a:gd name="T5" fmla="*/ 0 h 1078"/>
                    <a:gd name="T6" fmla="*/ 0 w 2154"/>
                    <a:gd name="T7" fmla="*/ 0 h 1078"/>
                    <a:gd name="T8" fmla="*/ 0 w 2154"/>
                    <a:gd name="T9" fmla="*/ 0 h 1078"/>
                    <a:gd name="T10" fmla="*/ 0 60000 65536"/>
                    <a:gd name="T11" fmla="*/ 0 60000 65536"/>
                    <a:gd name="T12" fmla="*/ 0 60000 65536"/>
                    <a:gd name="T13" fmla="*/ 0 60000 65536"/>
                    <a:gd name="T14" fmla="*/ 0 60000 65536"/>
                    <a:gd name="T15" fmla="*/ 0 w 2154"/>
                    <a:gd name="T16" fmla="*/ 0 h 1078"/>
                    <a:gd name="T17" fmla="*/ 2154 w 2154"/>
                    <a:gd name="T18" fmla="*/ 1078 h 1078"/>
                  </a:gdLst>
                  <a:ahLst/>
                  <a:cxnLst>
                    <a:cxn ang="T10">
                      <a:pos x="T0" y="T1"/>
                    </a:cxn>
                    <a:cxn ang="T11">
                      <a:pos x="T2" y="T3"/>
                    </a:cxn>
                    <a:cxn ang="T12">
                      <a:pos x="T4" y="T5"/>
                    </a:cxn>
                    <a:cxn ang="T13">
                      <a:pos x="T6" y="T7"/>
                    </a:cxn>
                    <a:cxn ang="T14">
                      <a:pos x="T8" y="T9"/>
                    </a:cxn>
                  </a:cxnLst>
                  <a:rect l="T15" t="T16" r="T17" b="T18"/>
                  <a:pathLst>
                    <a:path w="2154" h="1078">
                      <a:moveTo>
                        <a:pt x="0" y="539"/>
                      </a:moveTo>
                      <a:cubicBezTo>
                        <a:pt x="179" y="269"/>
                        <a:pt x="359" y="0"/>
                        <a:pt x="538" y="0"/>
                      </a:cubicBezTo>
                      <a:cubicBezTo>
                        <a:pt x="717" y="0"/>
                        <a:pt x="935" y="352"/>
                        <a:pt x="1077" y="539"/>
                      </a:cubicBezTo>
                      <a:cubicBezTo>
                        <a:pt x="1219" y="726"/>
                        <a:pt x="1437" y="1078"/>
                        <a:pt x="1616" y="1078"/>
                      </a:cubicBezTo>
                      <a:cubicBezTo>
                        <a:pt x="1795" y="1078"/>
                        <a:pt x="1974" y="808"/>
                        <a:pt x="2154" y="539"/>
                      </a:cubicBezTo>
                    </a:path>
                  </a:pathLst>
                </a:custGeom>
                <a:noFill/>
                <a:ln w="19050">
                  <a:solidFill>
                    <a:srgbClr val="0000FF"/>
                  </a:solidFill>
                  <a:round/>
                  <a:headEnd/>
                  <a:tailEnd/>
                </a:ln>
              </p:spPr>
              <p:txBody>
                <a:bodyPr/>
                <a:lstStyle/>
                <a:p>
                  <a:endParaRPr lang="zh-CN" altLang="en-US"/>
                </a:p>
              </p:txBody>
            </p:sp>
            <p:sp>
              <p:nvSpPr>
                <p:cNvPr id="29800" name="Freeform 14"/>
                <p:cNvSpPr>
                  <a:spLocks/>
                </p:cNvSpPr>
                <p:nvPr/>
              </p:nvSpPr>
              <p:spPr bwMode="auto">
                <a:xfrm>
                  <a:off x="2992" y="458"/>
                  <a:ext cx="964" cy="482"/>
                </a:xfrm>
                <a:custGeom>
                  <a:avLst/>
                  <a:gdLst>
                    <a:gd name="T0" fmla="*/ 0 w 2154"/>
                    <a:gd name="T1" fmla="*/ 0 h 1078"/>
                    <a:gd name="T2" fmla="*/ 0 w 2154"/>
                    <a:gd name="T3" fmla="*/ 0 h 1078"/>
                    <a:gd name="T4" fmla="*/ 0 w 2154"/>
                    <a:gd name="T5" fmla="*/ 0 h 1078"/>
                    <a:gd name="T6" fmla="*/ 0 w 2154"/>
                    <a:gd name="T7" fmla="*/ 0 h 1078"/>
                    <a:gd name="T8" fmla="*/ 0 w 2154"/>
                    <a:gd name="T9" fmla="*/ 0 h 1078"/>
                    <a:gd name="T10" fmla="*/ 0 60000 65536"/>
                    <a:gd name="T11" fmla="*/ 0 60000 65536"/>
                    <a:gd name="T12" fmla="*/ 0 60000 65536"/>
                    <a:gd name="T13" fmla="*/ 0 60000 65536"/>
                    <a:gd name="T14" fmla="*/ 0 60000 65536"/>
                    <a:gd name="T15" fmla="*/ 0 w 2154"/>
                    <a:gd name="T16" fmla="*/ 0 h 1078"/>
                    <a:gd name="T17" fmla="*/ 2154 w 2154"/>
                    <a:gd name="T18" fmla="*/ 1078 h 1078"/>
                  </a:gdLst>
                  <a:ahLst/>
                  <a:cxnLst>
                    <a:cxn ang="T10">
                      <a:pos x="T0" y="T1"/>
                    </a:cxn>
                    <a:cxn ang="T11">
                      <a:pos x="T2" y="T3"/>
                    </a:cxn>
                    <a:cxn ang="T12">
                      <a:pos x="T4" y="T5"/>
                    </a:cxn>
                    <a:cxn ang="T13">
                      <a:pos x="T6" y="T7"/>
                    </a:cxn>
                    <a:cxn ang="T14">
                      <a:pos x="T8" y="T9"/>
                    </a:cxn>
                  </a:cxnLst>
                  <a:rect l="T15" t="T16" r="T17" b="T18"/>
                  <a:pathLst>
                    <a:path w="2154" h="1078">
                      <a:moveTo>
                        <a:pt x="0" y="539"/>
                      </a:moveTo>
                      <a:cubicBezTo>
                        <a:pt x="179" y="269"/>
                        <a:pt x="359" y="0"/>
                        <a:pt x="538" y="0"/>
                      </a:cubicBezTo>
                      <a:cubicBezTo>
                        <a:pt x="717" y="0"/>
                        <a:pt x="935" y="352"/>
                        <a:pt x="1077" y="539"/>
                      </a:cubicBezTo>
                      <a:cubicBezTo>
                        <a:pt x="1219" y="726"/>
                        <a:pt x="1437" y="1078"/>
                        <a:pt x="1616" y="1078"/>
                      </a:cubicBezTo>
                      <a:cubicBezTo>
                        <a:pt x="1795" y="1078"/>
                        <a:pt x="1974" y="808"/>
                        <a:pt x="2154" y="539"/>
                      </a:cubicBezTo>
                    </a:path>
                  </a:pathLst>
                </a:custGeom>
                <a:noFill/>
                <a:ln w="19050">
                  <a:solidFill>
                    <a:srgbClr val="0000FF"/>
                  </a:solidFill>
                  <a:round/>
                  <a:headEnd/>
                  <a:tailEnd/>
                </a:ln>
              </p:spPr>
              <p:txBody>
                <a:bodyPr/>
                <a:lstStyle/>
                <a:p>
                  <a:endParaRPr lang="zh-CN" altLang="en-US"/>
                </a:p>
              </p:txBody>
            </p:sp>
          </p:grpSp>
          <p:sp>
            <p:nvSpPr>
              <p:cNvPr id="29790" name="Text Box 15"/>
              <p:cNvSpPr txBox="1">
                <a:spLocks noChangeArrowheads="1"/>
              </p:cNvSpPr>
              <p:nvPr/>
            </p:nvSpPr>
            <p:spPr bwMode="auto">
              <a:xfrm>
                <a:off x="4978" y="633"/>
                <a:ext cx="178" cy="304"/>
              </a:xfrm>
              <a:prstGeom prst="rect">
                <a:avLst/>
              </a:prstGeom>
              <a:noFill/>
              <a:ln w="9525">
                <a:noFill/>
                <a:miter lim="800000"/>
                <a:headEnd/>
                <a:tailEnd/>
              </a:ln>
            </p:spPr>
            <p:txBody>
              <a:bodyPr wrap="none">
                <a:spAutoFit/>
              </a:bodyPr>
              <a:lstStyle/>
              <a:p>
                <a:r>
                  <a:rPr kumimoji="0" lang="en-US" altLang="zh-CN" sz="1500" b="1" i="1"/>
                  <a:t>x</a:t>
                </a:r>
              </a:p>
            </p:txBody>
          </p:sp>
          <p:sp>
            <p:nvSpPr>
              <p:cNvPr id="29791" name="Line 16"/>
              <p:cNvSpPr>
                <a:spLocks noChangeShapeType="1"/>
              </p:cNvSpPr>
              <p:nvPr/>
            </p:nvSpPr>
            <p:spPr bwMode="auto">
              <a:xfrm>
                <a:off x="3447" y="459"/>
                <a:ext cx="340" cy="0"/>
              </a:xfrm>
              <a:prstGeom prst="line">
                <a:avLst/>
              </a:prstGeom>
              <a:noFill/>
              <a:ln w="19050">
                <a:solidFill>
                  <a:srgbClr val="FF00FF"/>
                </a:solidFill>
                <a:round/>
                <a:headEnd/>
                <a:tailEnd type="triangle" w="med" len="med"/>
              </a:ln>
            </p:spPr>
            <p:txBody>
              <a:bodyPr/>
              <a:lstStyle/>
              <a:p>
                <a:endParaRPr lang="zh-CN" altLang="en-US"/>
              </a:p>
            </p:txBody>
          </p:sp>
          <p:graphicFrame>
            <p:nvGraphicFramePr>
              <p:cNvPr id="29774" name="Object 78"/>
              <p:cNvGraphicFramePr>
                <a:graphicFrameLocks noChangeAspect="1"/>
              </p:cNvGraphicFramePr>
              <p:nvPr/>
            </p:nvGraphicFramePr>
            <p:xfrm>
              <a:off x="3532" y="232"/>
              <a:ext cx="178" cy="226"/>
            </p:xfrm>
            <a:graphic>
              <a:graphicData uri="http://schemas.openxmlformats.org/presentationml/2006/ole">
                <p:oleObj spid="_x0000_s29774" name="公式" r:id="rId8" imgW="139579" imgH="177646" progId="Equation.3">
                  <p:embed/>
                </p:oleObj>
              </a:graphicData>
            </a:graphic>
          </p:graphicFrame>
          <p:sp>
            <p:nvSpPr>
              <p:cNvPr id="29792" name="Line 18"/>
              <p:cNvSpPr>
                <a:spLocks noChangeShapeType="1"/>
              </p:cNvSpPr>
              <p:nvPr/>
            </p:nvSpPr>
            <p:spPr bwMode="auto">
              <a:xfrm>
                <a:off x="4297" y="487"/>
                <a:ext cx="0" cy="199"/>
              </a:xfrm>
              <a:prstGeom prst="line">
                <a:avLst/>
              </a:prstGeom>
              <a:noFill/>
              <a:ln w="9525">
                <a:solidFill>
                  <a:schemeClr val="tx1"/>
                </a:solidFill>
                <a:prstDash val="dash"/>
                <a:round/>
                <a:headEnd/>
                <a:tailEnd/>
              </a:ln>
            </p:spPr>
            <p:txBody>
              <a:bodyPr/>
              <a:lstStyle/>
              <a:p>
                <a:endParaRPr lang="zh-CN" altLang="en-US"/>
              </a:p>
            </p:txBody>
          </p:sp>
          <p:sp>
            <p:nvSpPr>
              <p:cNvPr id="29793" name="Oval 19"/>
              <p:cNvSpPr>
                <a:spLocks noChangeArrowheads="1"/>
              </p:cNvSpPr>
              <p:nvPr/>
            </p:nvSpPr>
            <p:spPr bwMode="auto">
              <a:xfrm>
                <a:off x="4269" y="459"/>
                <a:ext cx="56" cy="56"/>
              </a:xfrm>
              <a:prstGeom prst="ellipse">
                <a:avLst/>
              </a:prstGeom>
              <a:solidFill>
                <a:srgbClr val="00FF00"/>
              </a:solidFill>
              <a:ln w="9525">
                <a:solidFill>
                  <a:schemeClr val="tx1"/>
                </a:solidFill>
                <a:round/>
                <a:headEnd/>
                <a:tailEnd/>
              </a:ln>
            </p:spPr>
            <p:txBody>
              <a:bodyPr wrap="none" anchor="ctr"/>
              <a:lstStyle/>
              <a:p>
                <a:endParaRPr kumimoji="0" lang="zh-CN" altLang="zh-CN" sz="1800"/>
              </a:p>
            </p:txBody>
          </p:sp>
          <p:sp>
            <p:nvSpPr>
              <p:cNvPr id="29794" name="Text Box 20"/>
              <p:cNvSpPr txBox="1">
                <a:spLocks noChangeArrowheads="1"/>
              </p:cNvSpPr>
              <p:nvPr/>
            </p:nvSpPr>
            <p:spPr bwMode="auto">
              <a:xfrm>
                <a:off x="3078" y="633"/>
                <a:ext cx="206" cy="304"/>
              </a:xfrm>
              <a:prstGeom prst="rect">
                <a:avLst/>
              </a:prstGeom>
              <a:noFill/>
              <a:ln w="9525">
                <a:noFill/>
                <a:miter lim="800000"/>
                <a:headEnd/>
                <a:tailEnd/>
              </a:ln>
            </p:spPr>
            <p:txBody>
              <a:bodyPr wrap="none">
                <a:spAutoFit/>
              </a:bodyPr>
              <a:lstStyle/>
              <a:p>
                <a:r>
                  <a:rPr kumimoji="0" lang="en-US" altLang="zh-CN" sz="1500" b="1" i="1"/>
                  <a:t>O</a:t>
                </a:r>
              </a:p>
            </p:txBody>
          </p:sp>
          <p:sp>
            <p:nvSpPr>
              <p:cNvPr id="29795" name="Text Box 21"/>
              <p:cNvSpPr txBox="1">
                <a:spLocks noChangeArrowheads="1"/>
              </p:cNvSpPr>
              <p:nvPr/>
            </p:nvSpPr>
            <p:spPr bwMode="auto">
              <a:xfrm>
                <a:off x="4297" y="628"/>
                <a:ext cx="178" cy="304"/>
              </a:xfrm>
              <a:prstGeom prst="rect">
                <a:avLst/>
              </a:prstGeom>
              <a:noFill/>
              <a:ln w="9525">
                <a:noFill/>
                <a:miter lim="800000"/>
                <a:headEnd/>
                <a:tailEnd/>
              </a:ln>
            </p:spPr>
            <p:txBody>
              <a:bodyPr wrap="none">
                <a:spAutoFit/>
              </a:bodyPr>
              <a:lstStyle/>
              <a:p>
                <a:r>
                  <a:rPr kumimoji="0" lang="en-US" altLang="zh-CN" sz="1500" b="1" i="1"/>
                  <a:t>p</a:t>
                </a:r>
              </a:p>
            </p:txBody>
          </p:sp>
          <p:sp>
            <p:nvSpPr>
              <p:cNvPr id="29796" name="Line 22"/>
              <p:cNvSpPr>
                <a:spLocks noChangeShapeType="1"/>
              </p:cNvSpPr>
              <p:nvPr/>
            </p:nvSpPr>
            <p:spPr bwMode="auto">
              <a:xfrm>
                <a:off x="3277" y="1026"/>
                <a:ext cx="1020" cy="0"/>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29797" name="Line 23"/>
              <p:cNvSpPr>
                <a:spLocks noChangeShapeType="1"/>
              </p:cNvSpPr>
              <p:nvPr/>
            </p:nvSpPr>
            <p:spPr bwMode="auto">
              <a:xfrm>
                <a:off x="4297" y="686"/>
                <a:ext cx="0" cy="340"/>
              </a:xfrm>
              <a:prstGeom prst="line">
                <a:avLst/>
              </a:prstGeom>
              <a:noFill/>
              <a:ln w="9525">
                <a:solidFill>
                  <a:schemeClr val="tx1"/>
                </a:solidFill>
                <a:round/>
                <a:headEnd/>
                <a:tailEnd/>
              </a:ln>
            </p:spPr>
            <p:txBody>
              <a:bodyPr/>
              <a:lstStyle/>
              <a:p>
                <a:endParaRPr lang="zh-CN" altLang="en-US"/>
              </a:p>
            </p:txBody>
          </p:sp>
          <p:sp>
            <p:nvSpPr>
              <p:cNvPr id="29798" name="Text Box 24"/>
              <p:cNvSpPr txBox="1">
                <a:spLocks noChangeArrowheads="1"/>
              </p:cNvSpPr>
              <p:nvPr/>
            </p:nvSpPr>
            <p:spPr bwMode="auto">
              <a:xfrm>
                <a:off x="3860" y="898"/>
                <a:ext cx="178" cy="304"/>
              </a:xfrm>
              <a:prstGeom prst="rect">
                <a:avLst/>
              </a:prstGeom>
              <a:solidFill>
                <a:schemeClr val="bg1"/>
              </a:solidFill>
              <a:ln w="9525">
                <a:noFill/>
                <a:miter lim="800000"/>
                <a:headEnd/>
                <a:tailEnd/>
              </a:ln>
            </p:spPr>
            <p:txBody>
              <a:bodyPr wrap="none">
                <a:spAutoFit/>
              </a:bodyPr>
              <a:lstStyle/>
              <a:p>
                <a:r>
                  <a:rPr kumimoji="0" lang="en-US" altLang="zh-CN" sz="1500" b="1" i="1"/>
                  <a:t>x</a:t>
                </a:r>
              </a:p>
            </p:txBody>
          </p:sp>
        </p:grpSp>
        <p:sp>
          <p:nvSpPr>
            <p:cNvPr id="29786" name="Text Box 25"/>
            <p:cNvSpPr txBox="1">
              <a:spLocks noChangeArrowheads="1"/>
            </p:cNvSpPr>
            <p:nvPr/>
          </p:nvSpPr>
          <p:spPr bwMode="auto">
            <a:xfrm>
              <a:off x="1745" y="41"/>
              <a:ext cx="171" cy="304"/>
            </a:xfrm>
            <a:prstGeom prst="rect">
              <a:avLst/>
            </a:prstGeom>
            <a:noFill/>
            <a:ln w="9525">
              <a:noFill/>
              <a:miter lim="800000"/>
              <a:headEnd/>
              <a:tailEnd/>
            </a:ln>
          </p:spPr>
          <p:txBody>
            <a:bodyPr wrap="none">
              <a:spAutoFit/>
            </a:bodyPr>
            <a:lstStyle/>
            <a:p>
              <a:r>
                <a:rPr kumimoji="0" lang="en-US" altLang="zh-CN" sz="1500" b="1" i="1"/>
                <a:t>y</a:t>
              </a:r>
            </a:p>
          </p:txBody>
        </p:sp>
      </p:grpSp>
      <p:graphicFrame>
        <p:nvGraphicFramePr>
          <p:cNvPr id="140336" name="Object 79"/>
          <p:cNvGraphicFramePr>
            <a:graphicFrameLocks noChangeAspect="1"/>
          </p:cNvGraphicFramePr>
          <p:nvPr/>
        </p:nvGraphicFramePr>
        <p:xfrm>
          <a:off x="3563938" y="1771650"/>
          <a:ext cx="2259012" cy="546100"/>
        </p:xfrm>
        <a:graphic>
          <a:graphicData uri="http://schemas.openxmlformats.org/presentationml/2006/ole">
            <p:oleObj spid="_x0000_s29775" name="Equation" r:id="rId9" imgW="1422400" imgH="406400" progId="Equation.DSMT4">
              <p:embed/>
            </p:oleObj>
          </a:graphicData>
        </a:graphic>
      </p:graphicFrame>
      <p:sp>
        <p:nvSpPr>
          <p:cNvPr id="140337" name="Line 49"/>
          <p:cNvSpPr>
            <a:spLocks noChangeShapeType="1"/>
          </p:cNvSpPr>
          <p:nvPr/>
        </p:nvSpPr>
        <p:spPr bwMode="auto">
          <a:xfrm flipH="1">
            <a:off x="5867400" y="2041525"/>
            <a:ext cx="458788" cy="0"/>
          </a:xfrm>
          <a:prstGeom prst="line">
            <a:avLst/>
          </a:prstGeom>
          <a:noFill/>
          <a:ln w="38100">
            <a:solidFill>
              <a:schemeClr val="tx1"/>
            </a:solidFill>
            <a:round/>
            <a:headEnd/>
            <a:tailEnd type="stealth" w="lg" len="lg"/>
          </a:ln>
        </p:spPr>
        <p:txBody>
          <a:bodyPr/>
          <a:lstStyle/>
          <a:p>
            <a:endParaRPr lang="zh-CN" altLang="en-US"/>
          </a:p>
        </p:txBody>
      </p:sp>
      <p:sp>
        <p:nvSpPr>
          <p:cNvPr id="140338" name="Rectangle 50"/>
          <p:cNvSpPr>
            <a:spLocks noChangeArrowheads="1"/>
          </p:cNvSpPr>
          <p:nvPr/>
        </p:nvSpPr>
        <p:spPr bwMode="auto">
          <a:xfrm>
            <a:off x="468313" y="3867150"/>
            <a:ext cx="4324350" cy="369888"/>
          </a:xfrm>
          <a:prstGeom prst="rect">
            <a:avLst/>
          </a:prstGeom>
          <a:noFill/>
          <a:ln w="9525">
            <a:noFill/>
            <a:miter lim="800000"/>
            <a:headEnd/>
            <a:tailEnd/>
          </a:ln>
        </p:spPr>
        <p:txBody>
          <a:bodyPr>
            <a:spAutoFit/>
          </a:bodyPr>
          <a:lstStyle/>
          <a:p>
            <a:r>
              <a:rPr kumimoji="0" lang="zh-CN" altLang="en-US" sz="1800" b="1">
                <a:solidFill>
                  <a:srgbClr val="0000FF"/>
                </a:solidFill>
                <a:latin typeface="华文中宋"/>
                <a:ea typeface="华文中宋"/>
                <a:cs typeface="华文中宋"/>
              </a:rPr>
              <a:t>总之，波源在坐标原点，那么波函数为：</a:t>
            </a:r>
          </a:p>
        </p:txBody>
      </p:sp>
      <p:graphicFrame>
        <p:nvGraphicFramePr>
          <p:cNvPr id="140339" name="Object 80"/>
          <p:cNvGraphicFramePr>
            <a:graphicFrameLocks noChangeAspect="1"/>
          </p:cNvGraphicFramePr>
          <p:nvPr/>
        </p:nvGraphicFramePr>
        <p:xfrm>
          <a:off x="1187450" y="4291013"/>
          <a:ext cx="3600450" cy="584200"/>
        </p:xfrm>
        <a:graphic>
          <a:graphicData uri="http://schemas.openxmlformats.org/presentationml/2006/ole">
            <p:oleObj spid="_x0000_s29776" name="Equation" r:id="rId10" imgW="1866090" imgH="406224" progId="Equation.DSMT4">
              <p:embed/>
            </p:oleObj>
          </a:graphicData>
        </a:graphic>
      </p:graphicFrame>
      <p:sp>
        <p:nvSpPr>
          <p:cNvPr id="140340" name="Rectangle 52"/>
          <p:cNvSpPr>
            <a:spLocks noChangeArrowheads="1"/>
          </p:cNvSpPr>
          <p:nvPr/>
        </p:nvSpPr>
        <p:spPr bwMode="auto">
          <a:xfrm>
            <a:off x="4932363" y="4105275"/>
            <a:ext cx="1920875" cy="554038"/>
          </a:xfrm>
          <a:prstGeom prst="rect">
            <a:avLst/>
          </a:prstGeom>
          <a:noFill/>
          <a:ln w="19050">
            <a:solidFill>
              <a:schemeClr val="tx1"/>
            </a:solidFill>
            <a:prstDash val="lgDashDot"/>
            <a:miter lim="800000"/>
            <a:headEnd/>
            <a:tailEnd/>
          </a:ln>
        </p:spPr>
        <p:txBody>
          <a:bodyPr>
            <a:spAutoFit/>
          </a:bodyPr>
          <a:lstStyle/>
          <a:p>
            <a:pPr algn="ctr"/>
            <a:r>
              <a:rPr kumimoji="0" lang="zh-CN" altLang="en-US" sz="1500" b="1">
                <a:solidFill>
                  <a:srgbClr val="FF0000"/>
                </a:solidFill>
                <a:latin typeface="华文中宋"/>
                <a:ea typeface="华文中宋"/>
                <a:cs typeface="华文中宋"/>
              </a:rPr>
              <a:t>思考：</a:t>
            </a:r>
          </a:p>
          <a:p>
            <a:pPr algn="ctr"/>
            <a:r>
              <a:rPr kumimoji="0" lang="zh-CN" altLang="en-US" sz="1500" b="1">
                <a:solidFill>
                  <a:srgbClr val="FF0000"/>
                </a:solidFill>
                <a:latin typeface="华文中宋"/>
                <a:ea typeface="华文中宋"/>
                <a:cs typeface="华文中宋"/>
              </a:rPr>
              <a:t>波源不在坐标原点？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0316"/>
                                        </p:tgtEl>
                                        <p:attrNameLst>
                                          <p:attrName>style.visibility</p:attrName>
                                        </p:attrNameLst>
                                      </p:cBhvr>
                                      <p:to>
                                        <p:strVal val="visible"/>
                                      </p:to>
                                    </p:set>
                                    <p:animEffect transition="in" filter="blinds(horizontal)">
                                      <p:cBhvr>
                                        <p:cTn id="7" dur="500"/>
                                        <p:tgtEl>
                                          <p:spTgt spid="1403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140314"/>
                                        </p:tgtEl>
                                        <p:attrNameLst>
                                          <p:attrName>style.visibility</p:attrName>
                                        </p:attrNameLst>
                                      </p:cBhvr>
                                      <p:to>
                                        <p:strVal val="visible"/>
                                      </p:to>
                                    </p:set>
                                    <p:animEffect transition="in" filter="blinds(horizontal)">
                                      <p:cBhvr>
                                        <p:cTn id="18" dur="500"/>
                                        <p:tgtEl>
                                          <p:spTgt spid="14031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40315"/>
                                        </p:tgtEl>
                                        <p:attrNameLst>
                                          <p:attrName>style.visibility</p:attrName>
                                        </p:attrNameLst>
                                      </p:cBhvr>
                                      <p:to>
                                        <p:strVal val="visible"/>
                                      </p:to>
                                    </p:set>
                                    <p:animEffect transition="in" filter="blinds(horizontal)">
                                      <p:cBhvr>
                                        <p:cTn id="23" dur="500"/>
                                        <p:tgtEl>
                                          <p:spTgt spid="14031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140336"/>
                                        </p:tgtEl>
                                        <p:attrNameLst>
                                          <p:attrName>style.visibility</p:attrName>
                                        </p:attrNameLst>
                                      </p:cBhvr>
                                      <p:to>
                                        <p:strVal val="visible"/>
                                      </p:to>
                                    </p:set>
                                    <p:animEffect transition="in" filter="blinds(horizontal)">
                                      <p:cBhvr>
                                        <p:cTn id="28" dur="500"/>
                                        <p:tgtEl>
                                          <p:spTgt spid="14033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40337"/>
                                        </p:tgtEl>
                                        <p:attrNameLst>
                                          <p:attrName>style.visibility</p:attrName>
                                        </p:attrNameLst>
                                      </p:cBhvr>
                                      <p:to>
                                        <p:strVal val="visible"/>
                                      </p:to>
                                    </p:set>
                                    <p:animEffect transition="in" filter="blinds(horizontal)">
                                      <p:cBhvr>
                                        <p:cTn id="33" dur="500"/>
                                        <p:tgtEl>
                                          <p:spTgt spid="140337"/>
                                        </p:tgtEl>
                                      </p:cBhvr>
                                    </p:animEffect>
                                  </p:childTnLst>
                                </p:cTn>
                              </p:par>
                              <p:par>
                                <p:cTn id="34" presetID="3" presetClass="entr" presetSubtype="10" fill="hold" nodeType="withEffect">
                                  <p:stCondLst>
                                    <p:cond delay="0"/>
                                  </p:stCondLst>
                                  <p:childTnLst>
                                    <p:set>
                                      <p:cBhvr>
                                        <p:cTn id="35" dur="1" fill="hold">
                                          <p:stCondLst>
                                            <p:cond delay="0"/>
                                          </p:stCondLst>
                                        </p:cTn>
                                        <p:tgtEl>
                                          <p:spTgt spid="140317"/>
                                        </p:tgtEl>
                                        <p:attrNameLst>
                                          <p:attrName>style.visibility</p:attrName>
                                        </p:attrNameLst>
                                      </p:cBhvr>
                                      <p:to>
                                        <p:strVal val="visible"/>
                                      </p:to>
                                    </p:set>
                                    <p:animEffect transition="in" filter="blinds(horizontal)">
                                      <p:cBhvr>
                                        <p:cTn id="36" dur="500"/>
                                        <p:tgtEl>
                                          <p:spTgt spid="14031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40313"/>
                                        </p:tgtEl>
                                        <p:attrNameLst>
                                          <p:attrName>style.visibility</p:attrName>
                                        </p:attrNameLst>
                                      </p:cBhvr>
                                      <p:to>
                                        <p:strVal val="visible"/>
                                      </p:to>
                                    </p:set>
                                    <p:animEffect transition="in" filter="blinds(horizontal)">
                                      <p:cBhvr>
                                        <p:cTn id="41" dur="500"/>
                                        <p:tgtEl>
                                          <p:spTgt spid="14031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40292"/>
                                        </p:tgtEl>
                                        <p:attrNameLst>
                                          <p:attrName>style.visibility</p:attrName>
                                        </p:attrNameLst>
                                      </p:cBhvr>
                                      <p:to>
                                        <p:strVal val="visible"/>
                                      </p:to>
                                    </p:set>
                                    <p:animEffect transition="in" filter="blinds(horizontal)">
                                      <p:cBhvr>
                                        <p:cTn id="46" dur="500"/>
                                        <p:tgtEl>
                                          <p:spTgt spid="14029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nodeType="click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blinds(horizontal)">
                                      <p:cBhvr>
                                        <p:cTn id="51" dur="500"/>
                                        <p:tgtEl>
                                          <p:spTgt spid="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nodeType="clickEffect">
                                  <p:stCondLst>
                                    <p:cond delay="0"/>
                                  </p:stCondLst>
                                  <p:childTnLst>
                                    <p:set>
                                      <p:cBhvr>
                                        <p:cTn id="55" dur="1" fill="hold">
                                          <p:stCondLst>
                                            <p:cond delay="0"/>
                                          </p:stCondLst>
                                        </p:cTn>
                                        <p:tgtEl>
                                          <p:spTgt spid="140311"/>
                                        </p:tgtEl>
                                        <p:attrNameLst>
                                          <p:attrName>style.visibility</p:attrName>
                                        </p:attrNameLst>
                                      </p:cBhvr>
                                      <p:to>
                                        <p:strVal val="visible"/>
                                      </p:to>
                                    </p:set>
                                    <p:animEffect transition="in" filter="blinds(horizontal)">
                                      <p:cBhvr>
                                        <p:cTn id="56" dur="500"/>
                                        <p:tgtEl>
                                          <p:spTgt spid="140311"/>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40338"/>
                                        </p:tgtEl>
                                        <p:attrNameLst>
                                          <p:attrName>style.visibility</p:attrName>
                                        </p:attrNameLst>
                                      </p:cBhvr>
                                      <p:to>
                                        <p:strVal val="visible"/>
                                      </p:to>
                                    </p:set>
                                    <p:animEffect transition="in" filter="blinds(horizontal)">
                                      <p:cBhvr>
                                        <p:cTn id="61" dur="500"/>
                                        <p:tgtEl>
                                          <p:spTgt spid="140338"/>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nodeType="clickEffect">
                                  <p:stCondLst>
                                    <p:cond delay="0"/>
                                  </p:stCondLst>
                                  <p:childTnLst>
                                    <p:set>
                                      <p:cBhvr>
                                        <p:cTn id="65" dur="1" fill="hold">
                                          <p:stCondLst>
                                            <p:cond delay="0"/>
                                          </p:stCondLst>
                                        </p:cTn>
                                        <p:tgtEl>
                                          <p:spTgt spid="140339"/>
                                        </p:tgtEl>
                                        <p:attrNameLst>
                                          <p:attrName>style.visibility</p:attrName>
                                        </p:attrNameLst>
                                      </p:cBhvr>
                                      <p:to>
                                        <p:strVal val="visible"/>
                                      </p:to>
                                    </p:set>
                                    <p:animEffect transition="in" filter="blinds(horizontal)">
                                      <p:cBhvr>
                                        <p:cTn id="66" dur="500"/>
                                        <p:tgtEl>
                                          <p:spTgt spid="14033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140340"/>
                                        </p:tgtEl>
                                        <p:attrNameLst>
                                          <p:attrName>style.visibility</p:attrName>
                                        </p:attrNameLst>
                                      </p:cBhvr>
                                      <p:to>
                                        <p:strVal val="visible"/>
                                      </p:to>
                                    </p:set>
                                    <p:animEffect transition="in" filter="blinds(horizontal)">
                                      <p:cBhvr>
                                        <p:cTn id="71" dur="500"/>
                                        <p:tgtEl>
                                          <p:spTgt spid="140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2" grpId="0"/>
      <p:bldP spid="140313" grpId="0"/>
      <p:bldP spid="140316" grpId="0"/>
      <p:bldP spid="140337" grpId="0" animBg="1"/>
      <p:bldP spid="140338" grpId="0"/>
      <p:bldP spid="14034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6" name="Rectangle 4"/>
          <p:cNvSpPr>
            <a:spLocks noChangeArrowheads="1"/>
          </p:cNvSpPr>
          <p:nvPr/>
        </p:nvSpPr>
        <p:spPr bwMode="auto">
          <a:xfrm>
            <a:off x="755650" y="842963"/>
            <a:ext cx="7704138" cy="369887"/>
          </a:xfrm>
          <a:prstGeom prst="rect">
            <a:avLst/>
          </a:prstGeom>
          <a:noFill/>
          <a:ln w="9525">
            <a:noFill/>
            <a:miter lim="800000"/>
            <a:headEnd/>
            <a:tailEnd/>
          </a:ln>
        </p:spPr>
        <p:txBody>
          <a:bodyPr>
            <a:spAutoFit/>
          </a:bodyPr>
          <a:lstStyle/>
          <a:p>
            <a:r>
              <a:rPr kumimoji="0" lang="zh-CN" altLang="en-US" sz="1800" b="1">
                <a:ea typeface="华文中宋"/>
                <a:cs typeface="华文中宋"/>
              </a:rPr>
              <a:t>假设波源所在位置坐标为</a:t>
            </a:r>
            <a:r>
              <a:rPr kumimoji="0" lang="en-US" altLang="zh-CN" sz="1800" b="1" i="1">
                <a:ea typeface="华文中宋"/>
                <a:cs typeface="华文中宋"/>
              </a:rPr>
              <a:t>x</a:t>
            </a:r>
            <a:r>
              <a:rPr kumimoji="0" lang="en-US" altLang="zh-CN" sz="1800" b="1" baseline="-25000">
                <a:ea typeface="华文中宋"/>
                <a:cs typeface="华文中宋"/>
              </a:rPr>
              <a:t>0</a:t>
            </a:r>
            <a:r>
              <a:rPr kumimoji="0" lang="zh-CN" altLang="en-US" sz="1800" b="1">
                <a:ea typeface="华文中宋"/>
                <a:cs typeface="华文中宋"/>
              </a:rPr>
              <a:t>，那么只需重新标度</a:t>
            </a:r>
            <a:r>
              <a:rPr kumimoji="0" lang="en-US" altLang="zh-CN" sz="1800" b="1" i="1">
                <a:ea typeface="华文中宋"/>
                <a:cs typeface="华文中宋"/>
              </a:rPr>
              <a:t>x</a:t>
            </a:r>
            <a:r>
              <a:rPr kumimoji="0" lang="zh-CN" altLang="en-US" sz="1800" b="1">
                <a:ea typeface="华文中宋"/>
                <a:cs typeface="华文中宋"/>
              </a:rPr>
              <a:t>轴上每一点的坐标，即：</a:t>
            </a:r>
          </a:p>
        </p:txBody>
      </p:sp>
      <p:graphicFrame>
        <p:nvGraphicFramePr>
          <p:cNvPr id="141317" name="Object 41"/>
          <p:cNvGraphicFramePr>
            <a:graphicFrameLocks noChangeAspect="1"/>
          </p:cNvGraphicFramePr>
          <p:nvPr/>
        </p:nvGraphicFramePr>
        <p:xfrm>
          <a:off x="3771900" y="1387475"/>
          <a:ext cx="1663700" cy="387350"/>
        </p:xfrm>
        <a:graphic>
          <a:graphicData uri="http://schemas.openxmlformats.org/presentationml/2006/ole">
            <p:oleObj spid="_x0000_s30761" name="Equation" r:id="rId3" imgW="736600" imgH="228600" progId="Equation.DSMT4">
              <p:embed/>
            </p:oleObj>
          </a:graphicData>
        </a:graphic>
      </p:graphicFrame>
      <p:graphicFrame>
        <p:nvGraphicFramePr>
          <p:cNvPr id="141318" name="Object 42"/>
          <p:cNvGraphicFramePr>
            <a:graphicFrameLocks noChangeAspect="1"/>
          </p:cNvGraphicFramePr>
          <p:nvPr/>
        </p:nvGraphicFramePr>
        <p:xfrm>
          <a:off x="4643438" y="1905000"/>
          <a:ext cx="3960812" cy="558800"/>
        </p:xfrm>
        <a:graphic>
          <a:graphicData uri="http://schemas.openxmlformats.org/presentationml/2006/ole">
            <p:oleObj spid="_x0000_s30762" name="Equation" r:id="rId4" imgW="2159000" imgH="406400" progId="Equation.DSMT4">
              <p:embed/>
            </p:oleObj>
          </a:graphicData>
        </a:graphic>
      </p:graphicFrame>
      <p:graphicFrame>
        <p:nvGraphicFramePr>
          <p:cNvPr id="141319" name="Object 43"/>
          <p:cNvGraphicFramePr>
            <a:graphicFrameLocks noChangeAspect="1"/>
          </p:cNvGraphicFramePr>
          <p:nvPr/>
        </p:nvGraphicFramePr>
        <p:xfrm>
          <a:off x="539750" y="1889125"/>
          <a:ext cx="3527425" cy="574675"/>
        </p:xfrm>
        <a:graphic>
          <a:graphicData uri="http://schemas.openxmlformats.org/presentationml/2006/ole">
            <p:oleObj spid="_x0000_s30763" name="Equation" r:id="rId5" imgW="1866090" imgH="406224" progId="Equation.DSMT4">
              <p:embed/>
            </p:oleObj>
          </a:graphicData>
        </a:graphic>
      </p:graphicFrame>
      <p:sp>
        <p:nvSpPr>
          <p:cNvPr id="141320" name="Line 8"/>
          <p:cNvSpPr>
            <a:spLocks noChangeShapeType="1"/>
          </p:cNvSpPr>
          <p:nvPr/>
        </p:nvSpPr>
        <p:spPr bwMode="auto">
          <a:xfrm>
            <a:off x="4140200" y="2192338"/>
            <a:ext cx="431800" cy="0"/>
          </a:xfrm>
          <a:prstGeom prst="line">
            <a:avLst/>
          </a:prstGeom>
          <a:noFill/>
          <a:ln w="38100">
            <a:solidFill>
              <a:schemeClr val="tx1"/>
            </a:solidFill>
            <a:round/>
            <a:headEnd/>
            <a:tailEnd type="stealth" w="lg" len="lg"/>
          </a:ln>
        </p:spPr>
        <p:txBody>
          <a:bodyPr/>
          <a:lstStyle/>
          <a:p>
            <a:endParaRPr lang="zh-CN" altLang="en-US"/>
          </a:p>
        </p:txBody>
      </p:sp>
      <p:graphicFrame>
        <p:nvGraphicFramePr>
          <p:cNvPr id="141323" name="Object 44"/>
          <p:cNvGraphicFramePr>
            <a:graphicFrameLocks noChangeAspect="1"/>
          </p:cNvGraphicFramePr>
          <p:nvPr/>
        </p:nvGraphicFramePr>
        <p:xfrm>
          <a:off x="593725" y="3524250"/>
          <a:ext cx="3617913" cy="560388"/>
        </p:xfrm>
        <a:graphic>
          <a:graphicData uri="http://schemas.openxmlformats.org/presentationml/2006/ole">
            <p:oleObj spid="_x0000_s30764" name="Equation" r:id="rId6" imgW="1739900" imgH="393700" progId="Equation.DSMT4">
              <p:embed/>
            </p:oleObj>
          </a:graphicData>
        </a:graphic>
      </p:graphicFrame>
      <p:graphicFrame>
        <p:nvGraphicFramePr>
          <p:cNvPr id="141324" name="Object 45"/>
          <p:cNvGraphicFramePr>
            <a:graphicFrameLocks noChangeAspect="1"/>
          </p:cNvGraphicFramePr>
          <p:nvPr/>
        </p:nvGraphicFramePr>
        <p:xfrm>
          <a:off x="4584700" y="3524250"/>
          <a:ext cx="4164013" cy="631825"/>
        </p:xfrm>
        <a:graphic>
          <a:graphicData uri="http://schemas.openxmlformats.org/presentationml/2006/ole">
            <p:oleObj spid="_x0000_s30765" name="Equation" r:id="rId7" imgW="2082800" imgH="393700" progId="Equation.DSMT4">
              <p:embed/>
            </p:oleObj>
          </a:graphicData>
        </a:graphic>
      </p:graphicFrame>
      <p:graphicFrame>
        <p:nvGraphicFramePr>
          <p:cNvPr id="141325" name="Object 46"/>
          <p:cNvGraphicFramePr>
            <a:graphicFrameLocks noChangeAspect="1"/>
          </p:cNvGraphicFramePr>
          <p:nvPr/>
        </p:nvGraphicFramePr>
        <p:xfrm>
          <a:off x="539750" y="4084638"/>
          <a:ext cx="3671888" cy="590550"/>
        </p:xfrm>
        <a:graphic>
          <a:graphicData uri="http://schemas.openxmlformats.org/presentationml/2006/ole">
            <p:oleObj spid="_x0000_s30766" name="Equation" r:id="rId8" imgW="1981200" imgH="393700" progId="Equation.DSMT4">
              <p:embed/>
            </p:oleObj>
          </a:graphicData>
        </a:graphic>
      </p:graphicFrame>
      <p:graphicFrame>
        <p:nvGraphicFramePr>
          <p:cNvPr id="141326" name="Object 47"/>
          <p:cNvGraphicFramePr>
            <a:graphicFrameLocks noChangeAspect="1"/>
          </p:cNvGraphicFramePr>
          <p:nvPr/>
        </p:nvGraphicFramePr>
        <p:xfrm>
          <a:off x="4572000" y="4156075"/>
          <a:ext cx="4248150" cy="531813"/>
        </p:xfrm>
        <a:graphic>
          <a:graphicData uri="http://schemas.openxmlformats.org/presentationml/2006/ole">
            <p:oleObj spid="_x0000_s30767" name="Equation" r:id="rId9" imgW="1993900" imgH="393700" progId="Equation.DSMT4">
              <p:embed/>
            </p:oleObj>
          </a:graphicData>
        </a:graphic>
      </p:graphicFrame>
      <p:graphicFrame>
        <p:nvGraphicFramePr>
          <p:cNvPr id="141327" name="Object 48"/>
          <p:cNvGraphicFramePr>
            <a:graphicFrameLocks noChangeAspect="1"/>
          </p:cNvGraphicFramePr>
          <p:nvPr/>
        </p:nvGraphicFramePr>
        <p:xfrm>
          <a:off x="4729163" y="3033713"/>
          <a:ext cx="1930400" cy="542925"/>
        </p:xfrm>
        <a:graphic>
          <a:graphicData uri="http://schemas.openxmlformats.org/presentationml/2006/ole">
            <p:oleObj spid="_x0000_s30768" name="Equation" r:id="rId10" imgW="761669" imgH="393529" progId="Equation.DSMT4">
              <p:embed/>
            </p:oleObj>
          </a:graphicData>
        </a:graphic>
      </p:graphicFrame>
      <p:graphicFrame>
        <p:nvGraphicFramePr>
          <p:cNvPr id="141328" name="Object 49"/>
          <p:cNvGraphicFramePr>
            <a:graphicFrameLocks noChangeAspect="1"/>
          </p:cNvGraphicFramePr>
          <p:nvPr/>
        </p:nvGraphicFramePr>
        <p:xfrm>
          <a:off x="1843088" y="3033713"/>
          <a:ext cx="2152650" cy="546100"/>
        </p:xfrm>
        <a:graphic>
          <a:graphicData uri="http://schemas.openxmlformats.org/presentationml/2006/ole">
            <p:oleObj spid="_x0000_s30769" name="Equation" r:id="rId11" imgW="901309" imgH="393529" progId="Equation.DSMT4">
              <p:embed/>
            </p:oleObj>
          </a:graphicData>
        </a:graphic>
      </p:graphicFrame>
      <p:sp>
        <p:nvSpPr>
          <p:cNvPr id="14" name="Text Box 2"/>
          <p:cNvSpPr>
            <a:spLocks noChangeArrowheads="1"/>
          </p:cNvSpPr>
          <p:nvPr/>
        </p:nvSpPr>
        <p:spPr bwMode="auto">
          <a:xfrm>
            <a:off x="828675" y="2643188"/>
            <a:ext cx="3022600" cy="400050"/>
          </a:xfrm>
          <a:prstGeom prst="homePlate">
            <a:avLst>
              <a:gd name="adj" fmla="val 49811"/>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二、波函数的多种形式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1316"/>
                                        </p:tgtEl>
                                        <p:attrNameLst>
                                          <p:attrName>style.visibility</p:attrName>
                                        </p:attrNameLst>
                                      </p:cBhvr>
                                      <p:to>
                                        <p:strVal val="visible"/>
                                      </p:to>
                                    </p:set>
                                    <p:animEffect transition="in" filter="blinds(horizontal)">
                                      <p:cBhvr>
                                        <p:cTn id="7" dur="500"/>
                                        <p:tgtEl>
                                          <p:spTgt spid="1413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41317"/>
                                        </p:tgtEl>
                                        <p:attrNameLst>
                                          <p:attrName>style.visibility</p:attrName>
                                        </p:attrNameLst>
                                      </p:cBhvr>
                                      <p:to>
                                        <p:strVal val="visible"/>
                                      </p:to>
                                    </p:set>
                                    <p:animEffect transition="in" filter="blinds(horizontal)">
                                      <p:cBhvr>
                                        <p:cTn id="12" dur="500"/>
                                        <p:tgtEl>
                                          <p:spTgt spid="1413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41319"/>
                                        </p:tgtEl>
                                        <p:attrNameLst>
                                          <p:attrName>style.visibility</p:attrName>
                                        </p:attrNameLst>
                                      </p:cBhvr>
                                      <p:to>
                                        <p:strVal val="visible"/>
                                      </p:to>
                                    </p:set>
                                    <p:animEffect transition="in" filter="blinds(horizontal)">
                                      <p:cBhvr>
                                        <p:cTn id="17" dur="500"/>
                                        <p:tgtEl>
                                          <p:spTgt spid="1413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1320"/>
                                        </p:tgtEl>
                                        <p:attrNameLst>
                                          <p:attrName>style.visibility</p:attrName>
                                        </p:attrNameLst>
                                      </p:cBhvr>
                                      <p:to>
                                        <p:strVal val="visible"/>
                                      </p:to>
                                    </p:set>
                                    <p:animEffect transition="in" filter="blinds(horizontal)">
                                      <p:cBhvr>
                                        <p:cTn id="22" dur="500"/>
                                        <p:tgtEl>
                                          <p:spTgt spid="141320"/>
                                        </p:tgtEl>
                                      </p:cBhvr>
                                    </p:animEffect>
                                  </p:childTnLst>
                                </p:cTn>
                              </p:par>
                              <p:par>
                                <p:cTn id="23" presetID="3" presetClass="entr" presetSubtype="10" fill="hold" nodeType="withEffect">
                                  <p:stCondLst>
                                    <p:cond delay="0"/>
                                  </p:stCondLst>
                                  <p:childTnLst>
                                    <p:set>
                                      <p:cBhvr>
                                        <p:cTn id="24" dur="1" fill="hold">
                                          <p:stCondLst>
                                            <p:cond delay="0"/>
                                          </p:stCondLst>
                                        </p:cTn>
                                        <p:tgtEl>
                                          <p:spTgt spid="141318"/>
                                        </p:tgtEl>
                                        <p:attrNameLst>
                                          <p:attrName>style.visibility</p:attrName>
                                        </p:attrNameLst>
                                      </p:cBhvr>
                                      <p:to>
                                        <p:strVal val="visible"/>
                                      </p:to>
                                    </p:set>
                                    <p:animEffect transition="in" filter="blinds(horizontal)">
                                      <p:cBhvr>
                                        <p:cTn id="25" dur="500"/>
                                        <p:tgtEl>
                                          <p:spTgt spid="14131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left)">
                                      <p:cBhvr>
                                        <p:cTn id="30" dur="500"/>
                                        <p:tgtEl>
                                          <p:spTgt spid="1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141328"/>
                                        </p:tgtEl>
                                        <p:attrNameLst>
                                          <p:attrName>style.visibility</p:attrName>
                                        </p:attrNameLst>
                                      </p:cBhvr>
                                      <p:to>
                                        <p:strVal val="visible"/>
                                      </p:to>
                                    </p:set>
                                    <p:animEffect transition="in" filter="blinds(horizontal)">
                                      <p:cBhvr>
                                        <p:cTn id="35" dur="500"/>
                                        <p:tgtEl>
                                          <p:spTgt spid="141328"/>
                                        </p:tgtEl>
                                      </p:cBhvr>
                                    </p:animEffect>
                                  </p:childTnLst>
                                </p:cTn>
                              </p:par>
                              <p:par>
                                <p:cTn id="36" presetID="3" presetClass="entr" presetSubtype="10" fill="hold" nodeType="withEffect">
                                  <p:stCondLst>
                                    <p:cond delay="0"/>
                                  </p:stCondLst>
                                  <p:childTnLst>
                                    <p:set>
                                      <p:cBhvr>
                                        <p:cTn id="37" dur="1" fill="hold">
                                          <p:stCondLst>
                                            <p:cond delay="0"/>
                                          </p:stCondLst>
                                        </p:cTn>
                                        <p:tgtEl>
                                          <p:spTgt spid="141327"/>
                                        </p:tgtEl>
                                        <p:attrNameLst>
                                          <p:attrName>style.visibility</p:attrName>
                                        </p:attrNameLst>
                                      </p:cBhvr>
                                      <p:to>
                                        <p:strVal val="visible"/>
                                      </p:to>
                                    </p:set>
                                    <p:animEffect transition="in" filter="blinds(horizontal)">
                                      <p:cBhvr>
                                        <p:cTn id="38" dur="500"/>
                                        <p:tgtEl>
                                          <p:spTgt spid="14132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32" fill="hold" nodeType="clickEffect">
                                  <p:stCondLst>
                                    <p:cond delay="0"/>
                                  </p:stCondLst>
                                  <p:childTnLst>
                                    <p:set>
                                      <p:cBhvr>
                                        <p:cTn id="42" dur="1" fill="hold">
                                          <p:stCondLst>
                                            <p:cond delay="0"/>
                                          </p:stCondLst>
                                        </p:cTn>
                                        <p:tgtEl>
                                          <p:spTgt spid="141323"/>
                                        </p:tgtEl>
                                        <p:attrNameLst>
                                          <p:attrName>style.visibility</p:attrName>
                                        </p:attrNameLst>
                                      </p:cBhvr>
                                      <p:to>
                                        <p:strVal val="visible"/>
                                      </p:to>
                                    </p:set>
                                    <p:animEffect transition="in" filter="box(out)">
                                      <p:cBhvr>
                                        <p:cTn id="43" dur="500"/>
                                        <p:tgtEl>
                                          <p:spTgt spid="14132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32" fill="hold" nodeType="clickEffect">
                                  <p:stCondLst>
                                    <p:cond delay="0"/>
                                  </p:stCondLst>
                                  <p:childTnLst>
                                    <p:set>
                                      <p:cBhvr>
                                        <p:cTn id="47" dur="1" fill="hold">
                                          <p:stCondLst>
                                            <p:cond delay="0"/>
                                          </p:stCondLst>
                                        </p:cTn>
                                        <p:tgtEl>
                                          <p:spTgt spid="141325"/>
                                        </p:tgtEl>
                                        <p:attrNameLst>
                                          <p:attrName>style.visibility</p:attrName>
                                        </p:attrNameLst>
                                      </p:cBhvr>
                                      <p:to>
                                        <p:strVal val="visible"/>
                                      </p:to>
                                    </p:set>
                                    <p:animEffect transition="in" filter="box(out)">
                                      <p:cBhvr>
                                        <p:cTn id="48" dur="500"/>
                                        <p:tgtEl>
                                          <p:spTgt spid="14132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4" presetClass="entr" presetSubtype="32" fill="hold" nodeType="clickEffect">
                                  <p:stCondLst>
                                    <p:cond delay="0"/>
                                  </p:stCondLst>
                                  <p:childTnLst>
                                    <p:set>
                                      <p:cBhvr>
                                        <p:cTn id="52" dur="1" fill="hold">
                                          <p:stCondLst>
                                            <p:cond delay="0"/>
                                          </p:stCondLst>
                                        </p:cTn>
                                        <p:tgtEl>
                                          <p:spTgt spid="141324"/>
                                        </p:tgtEl>
                                        <p:attrNameLst>
                                          <p:attrName>style.visibility</p:attrName>
                                        </p:attrNameLst>
                                      </p:cBhvr>
                                      <p:to>
                                        <p:strVal val="visible"/>
                                      </p:to>
                                    </p:set>
                                    <p:animEffect transition="in" filter="box(out)">
                                      <p:cBhvr>
                                        <p:cTn id="53" dur="500"/>
                                        <p:tgtEl>
                                          <p:spTgt spid="14132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4" presetClass="entr" presetSubtype="32" fill="hold" nodeType="clickEffect">
                                  <p:stCondLst>
                                    <p:cond delay="0"/>
                                  </p:stCondLst>
                                  <p:childTnLst>
                                    <p:set>
                                      <p:cBhvr>
                                        <p:cTn id="57" dur="1" fill="hold">
                                          <p:stCondLst>
                                            <p:cond delay="0"/>
                                          </p:stCondLst>
                                        </p:cTn>
                                        <p:tgtEl>
                                          <p:spTgt spid="141326"/>
                                        </p:tgtEl>
                                        <p:attrNameLst>
                                          <p:attrName>style.visibility</p:attrName>
                                        </p:attrNameLst>
                                      </p:cBhvr>
                                      <p:to>
                                        <p:strVal val="visible"/>
                                      </p:to>
                                    </p:set>
                                    <p:animEffect transition="in" filter="box(out)">
                                      <p:cBhvr>
                                        <p:cTn id="58" dur="500"/>
                                        <p:tgtEl>
                                          <p:spTgt spid="141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6" grpId="0"/>
      <p:bldP spid="141320"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Text Box 4"/>
          <p:cNvSpPr txBox="1">
            <a:spLocks noChangeArrowheads="1"/>
          </p:cNvSpPr>
          <p:nvPr/>
        </p:nvSpPr>
        <p:spPr bwMode="auto">
          <a:xfrm>
            <a:off x="966788" y="1409700"/>
            <a:ext cx="2292350" cy="369888"/>
          </a:xfrm>
          <a:prstGeom prst="rect">
            <a:avLst/>
          </a:prstGeom>
          <a:noFill/>
          <a:ln w="9525">
            <a:noFill/>
            <a:miter lim="800000"/>
            <a:headEnd/>
            <a:tailEnd/>
          </a:ln>
        </p:spPr>
        <p:txBody>
          <a:bodyPr>
            <a:spAutoFit/>
          </a:bodyPr>
          <a:lstStyle/>
          <a:p>
            <a:pPr marL="457200" indent="-457200" eaLnBrk="0" hangingPunct="0"/>
            <a:r>
              <a:rPr kumimoji="0" lang="en-US" altLang="zh-CN" sz="1800" b="1">
                <a:solidFill>
                  <a:srgbClr val="0000FF"/>
                </a:solidFill>
                <a:ea typeface="华文中宋"/>
                <a:cs typeface="华文中宋"/>
              </a:rPr>
              <a:t>1</a:t>
            </a:r>
            <a:r>
              <a:rPr kumimoji="0" lang="zh-CN" altLang="en-US" sz="1800" b="1">
                <a:solidFill>
                  <a:srgbClr val="0000FF"/>
                </a:solidFill>
                <a:ea typeface="华文中宋"/>
                <a:cs typeface="华文中宋"/>
              </a:rPr>
              <a:t>、如果给定 </a:t>
            </a:r>
            <a:r>
              <a:rPr kumimoji="0" lang="en-US" altLang="zh-CN" sz="1800" b="1" i="1">
                <a:solidFill>
                  <a:srgbClr val="0000FF"/>
                </a:solidFill>
                <a:ea typeface="华文中宋"/>
                <a:cs typeface="华文中宋"/>
              </a:rPr>
              <a:t>x = x</a:t>
            </a:r>
            <a:r>
              <a:rPr kumimoji="0" lang="en-US" altLang="zh-CN" sz="1800" b="1" i="1" baseline="-25000">
                <a:solidFill>
                  <a:srgbClr val="0000FF"/>
                </a:solidFill>
                <a:ea typeface="华文中宋"/>
                <a:cs typeface="华文中宋"/>
              </a:rPr>
              <a:t>0</a:t>
            </a:r>
            <a:endParaRPr kumimoji="0" lang="en-US" altLang="zh-CN" sz="1800" b="1" i="1">
              <a:solidFill>
                <a:srgbClr val="0000FF"/>
              </a:solidFill>
              <a:ea typeface="华文中宋"/>
              <a:cs typeface="华文中宋"/>
            </a:endParaRPr>
          </a:p>
        </p:txBody>
      </p:sp>
      <p:graphicFrame>
        <p:nvGraphicFramePr>
          <p:cNvPr id="23557" name="Object 37"/>
          <p:cNvGraphicFramePr>
            <a:graphicFrameLocks noChangeAspect="1"/>
          </p:cNvGraphicFramePr>
          <p:nvPr/>
        </p:nvGraphicFramePr>
        <p:xfrm>
          <a:off x="2268538" y="1706563"/>
          <a:ext cx="3098800" cy="577850"/>
        </p:xfrm>
        <a:graphic>
          <a:graphicData uri="http://schemas.openxmlformats.org/presentationml/2006/ole">
            <p:oleObj spid="_x0000_s31781" name="公式" r:id="rId3" imgW="1624895" imgH="406224" progId="Equation.3">
              <p:embed/>
            </p:oleObj>
          </a:graphicData>
        </a:graphic>
      </p:graphicFrame>
      <p:sp>
        <p:nvSpPr>
          <p:cNvPr id="6" name="圆角矩形 5"/>
          <p:cNvSpPr/>
          <p:nvPr/>
        </p:nvSpPr>
        <p:spPr>
          <a:xfrm>
            <a:off x="3846513" y="1776413"/>
            <a:ext cx="1376362" cy="508000"/>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0" lang="zh-CN" altLang="en-US" sz="1800"/>
          </a:p>
        </p:txBody>
      </p:sp>
      <p:graphicFrame>
        <p:nvGraphicFramePr>
          <p:cNvPr id="7" name="Object 38"/>
          <p:cNvGraphicFramePr>
            <a:graphicFrameLocks noChangeAspect="1"/>
          </p:cNvGraphicFramePr>
          <p:nvPr/>
        </p:nvGraphicFramePr>
        <p:xfrm>
          <a:off x="5899150" y="1712913"/>
          <a:ext cx="1765300" cy="520700"/>
        </p:xfrm>
        <a:graphic>
          <a:graphicData uri="http://schemas.openxmlformats.org/presentationml/2006/ole">
            <p:oleObj spid="_x0000_s31782" name="公式" r:id="rId4" imgW="1028254" imgH="406224" progId="Equation.3">
              <p:embed/>
            </p:oleObj>
          </a:graphicData>
        </a:graphic>
      </p:graphicFrame>
      <p:graphicFrame>
        <p:nvGraphicFramePr>
          <p:cNvPr id="50" name="Object 39"/>
          <p:cNvGraphicFramePr>
            <a:graphicFrameLocks noChangeAspect="1"/>
          </p:cNvGraphicFramePr>
          <p:nvPr/>
        </p:nvGraphicFramePr>
        <p:xfrm>
          <a:off x="3203575" y="2433638"/>
          <a:ext cx="2436813" cy="354012"/>
        </p:xfrm>
        <a:graphic>
          <a:graphicData uri="http://schemas.openxmlformats.org/presentationml/2006/ole">
            <p:oleObj spid="_x0000_s31783" name="公式" r:id="rId5" imgW="1181100" imgH="228600" progId="Equation.3">
              <p:embed/>
            </p:oleObj>
          </a:graphicData>
        </a:graphic>
      </p:graphicFrame>
      <p:sp>
        <p:nvSpPr>
          <p:cNvPr id="51" name="Rectangle 8"/>
          <p:cNvSpPr>
            <a:spLocks noChangeArrowheads="1"/>
          </p:cNvSpPr>
          <p:nvPr/>
        </p:nvSpPr>
        <p:spPr bwMode="auto">
          <a:xfrm>
            <a:off x="1323975" y="2787650"/>
            <a:ext cx="4184650" cy="369888"/>
          </a:xfrm>
          <a:prstGeom prst="rect">
            <a:avLst/>
          </a:prstGeom>
          <a:noFill/>
          <a:ln w="9525">
            <a:noFill/>
            <a:miter lim="800000"/>
            <a:headEnd/>
            <a:tailEnd/>
          </a:ln>
        </p:spPr>
        <p:txBody>
          <a:bodyPr>
            <a:spAutoFit/>
          </a:bodyPr>
          <a:lstStyle/>
          <a:p>
            <a:pPr eaLnBrk="0" hangingPunct="0"/>
            <a:r>
              <a:rPr kumimoji="0" lang="en-US" altLang="zh-CN" sz="1800" b="1" i="1">
                <a:ea typeface="华文中宋"/>
                <a:cs typeface="华文中宋"/>
              </a:rPr>
              <a:t>y</a:t>
            </a:r>
            <a:r>
              <a:rPr kumimoji="0" lang="en-US" altLang="zh-CN" sz="1800" b="1">
                <a:ea typeface="华文中宋"/>
                <a:cs typeface="华文中宋"/>
              </a:rPr>
              <a:t>(</a:t>
            </a:r>
            <a:r>
              <a:rPr kumimoji="0" lang="en-US" altLang="zh-CN" sz="1800" b="1" i="1">
                <a:ea typeface="华文中宋"/>
                <a:cs typeface="华文中宋"/>
              </a:rPr>
              <a:t>x,t</a:t>
            </a:r>
            <a:r>
              <a:rPr kumimoji="0" lang="en-US" altLang="zh-CN" sz="1800" b="1">
                <a:ea typeface="华文中宋"/>
                <a:cs typeface="华文中宋"/>
              </a:rPr>
              <a:t>)  </a:t>
            </a:r>
            <a:r>
              <a:rPr kumimoji="0" lang="zh-CN" altLang="en-US" sz="1800" b="1" u="sng">
                <a:ea typeface="华文中宋"/>
                <a:cs typeface="华文中宋"/>
              </a:rPr>
              <a:t>蜕变成</a:t>
            </a:r>
            <a:r>
              <a:rPr kumimoji="0" lang="zh-CN" altLang="en-US" sz="1800" b="1" i="1">
                <a:ea typeface="华文中宋"/>
                <a:cs typeface="华文中宋"/>
              </a:rPr>
              <a:t>   </a:t>
            </a:r>
            <a:r>
              <a:rPr kumimoji="0" lang="en-US" altLang="zh-CN" sz="1800" b="1" i="1">
                <a:ea typeface="华文中宋"/>
                <a:cs typeface="华文中宋"/>
              </a:rPr>
              <a:t>y</a:t>
            </a:r>
            <a:r>
              <a:rPr kumimoji="0" lang="en-US" altLang="zh-CN" sz="1800" b="1">
                <a:ea typeface="华文中宋"/>
                <a:cs typeface="华文中宋"/>
              </a:rPr>
              <a:t>(</a:t>
            </a:r>
            <a:r>
              <a:rPr kumimoji="0" lang="en-US" altLang="zh-CN" sz="1800" b="1" i="1">
                <a:ea typeface="华文中宋"/>
                <a:cs typeface="华文中宋"/>
              </a:rPr>
              <a:t>t</a:t>
            </a:r>
            <a:r>
              <a:rPr kumimoji="0" lang="en-US" altLang="zh-CN" sz="1800" b="1">
                <a:ea typeface="华文中宋"/>
                <a:cs typeface="华文中宋"/>
              </a:rPr>
              <a:t>)</a:t>
            </a:r>
            <a:r>
              <a:rPr kumimoji="0" lang="en-US" altLang="zh-CN" sz="1800" b="1" i="1">
                <a:ea typeface="华文中宋"/>
                <a:cs typeface="华文中宋"/>
              </a:rPr>
              <a:t>  </a:t>
            </a:r>
            <a:r>
              <a:rPr kumimoji="0" lang="en-US" altLang="zh-CN" sz="1800" b="1">
                <a:ea typeface="华文中宋"/>
                <a:cs typeface="华文中宋"/>
              </a:rPr>
              <a:t>→</a:t>
            </a:r>
            <a:r>
              <a:rPr kumimoji="0" lang="en-US" altLang="zh-CN" sz="1800" b="1" i="1">
                <a:ea typeface="华文中宋"/>
                <a:cs typeface="华文中宋"/>
              </a:rPr>
              <a:t>  </a:t>
            </a:r>
            <a:r>
              <a:rPr kumimoji="0" lang="en-US" altLang="zh-CN" sz="1800" b="1" i="1">
                <a:solidFill>
                  <a:srgbClr val="0000FF"/>
                </a:solidFill>
                <a:ea typeface="华文中宋"/>
                <a:cs typeface="华文中宋"/>
              </a:rPr>
              <a:t>x</a:t>
            </a:r>
            <a:r>
              <a:rPr kumimoji="0" lang="en-US" altLang="zh-CN" sz="1800" b="1" i="1" baseline="-25000">
                <a:solidFill>
                  <a:srgbClr val="0000FF"/>
                </a:solidFill>
                <a:ea typeface="华文中宋"/>
                <a:cs typeface="华文中宋"/>
              </a:rPr>
              <a:t>0</a:t>
            </a:r>
            <a:r>
              <a:rPr kumimoji="0" lang="en-US" altLang="zh-CN" sz="1800" b="1" baseline="-25000">
                <a:solidFill>
                  <a:srgbClr val="0000FF"/>
                </a:solidFill>
                <a:ea typeface="华文中宋"/>
                <a:cs typeface="华文中宋"/>
              </a:rPr>
              <a:t> </a:t>
            </a:r>
            <a:r>
              <a:rPr lang="zh-CN" altLang="en-US" sz="1800" b="1">
                <a:solidFill>
                  <a:srgbClr val="0000FF"/>
                </a:solidFill>
                <a:ea typeface="华文中宋"/>
                <a:cs typeface="华文中宋"/>
              </a:rPr>
              <a:t>点的振动方程</a:t>
            </a:r>
          </a:p>
        </p:txBody>
      </p:sp>
      <p:grpSp>
        <p:nvGrpSpPr>
          <p:cNvPr id="2" name="Group 3"/>
          <p:cNvGrpSpPr>
            <a:grpSpLocks/>
          </p:cNvGrpSpPr>
          <p:nvPr/>
        </p:nvGrpSpPr>
        <p:grpSpPr bwMode="auto">
          <a:xfrm>
            <a:off x="2800350" y="3184525"/>
            <a:ext cx="5372100" cy="1117600"/>
            <a:chOff x="913" y="869"/>
            <a:chExt cx="3384" cy="938"/>
          </a:xfrm>
        </p:grpSpPr>
        <p:sp>
          <p:nvSpPr>
            <p:cNvPr id="31791" name="Line 4"/>
            <p:cNvSpPr>
              <a:spLocks noChangeShapeType="1"/>
            </p:cNvSpPr>
            <p:nvPr/>
          </p:nvSpPr>
          <p:spPr bwMode="auto">
            <a:xfrm>
              <a:off x="3021" y="1678"/>
              <a:ext cx="794" cy="0"/>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31792" name="Text Box 5"/>
            <p:cNvSpPr txBox="1">
              <a:spLocks noChangeArrowheads="1"/>
            </p:cNvSpPr>
            <p:nvPr/>
          </p:nvSpPr>
          <p:spPr bwMode="auto">
            <a:xfrm>
              <a:off x="3333" y="1536"/>
              <a:ext cx="190" cy="271"/>
            </a:xfrm>
            <a:prstGeom prst="rect">
              <a:avLst/>
            </a:prstGeom>
            <a:solidFill>
              <a:schemeClr val="bg1"/>
            </a:solidFill>
            <a:ln w="9525">
              <a:noFill/>
              <a:miter lim="800000"/>
              <a:headEnd/>
              <a:tailEnd/>
            </a:ln>
          </p:spPr>
          <p:txBody>
            <a:bodyPr wrap="none">
              <a:spAutoFit/>
            </a:bodyPr>
            <a:lstStyle/>
            <a:p>
              <a:r>
                <a:rPr kumimoji="0" lang="en-US" altLang="zh-CN" sz="1500" b="1" i="1">
                  <a:solidFill>
                    <a:srgbClr val="FF66FF"/>
                  </a:solidFill>
                </a:rPr>
                <a:t>T</a:t>
              </a:r>
            </a:p>
          </p:txBody>
        </p:sp>
        <p:sp>
          <p:nvSpPr>
            <p:cNvPr id="31793" name="Line 6"/>
            <p:cNvSpPr>
              <a:spLocks noChangeShapeType="1"/>
            </p:cNvSpPr>
            <p:nvPr/>
          </p:nvSpPr>
          <p:spPr bwMode="auto">
            <a:xfrm>
              <a:off x="2227" y="1419"/>
              <a:ext cx="2070" cy="0"/>
            </a:xfrm>
            <a:prstGeom prst="line">
              <a:avLst/>
            </a:prstGeom>
            <a:noFill/>
            <a:ln w="9525">
              <a:solidFill>
                <a:srgbClr val="00B0F0"/>
              </a:solidFill>
              <a:round/>
              <a:headEnd/>
              <a:tailEnd type="triangle" w="med" len="med"/>
            </a:ln>
          </p:spPr>
          <p:txBody>
            <a:bodyPr/>
            <a:lstStyle/>
            <a:p>
              <a:endParaRPr lang="zh-CN" altLang="en-US"/>
            </a:p>
          </p:txBody>
        </p:sp>
        <p:sp>
          <p:nvSpPr>
            <p:cNvPr id="31794" name="Line 7"/>
            <p:cNvSpPr>
              <a:spLocks noChangeShapeType="1"/>
            </p:cNvSpPr>
            <p:nvPr/>
          </p:nvSpPr>
          <p:spPr bwMode="auto">
            <a:xfrm flipV="1">
              <a:off x="2425" y="1050"/>
              <a:ext cx="0" cy="737"/>
            </a:xfrm>
            <a:prstGeom prst="line">
              <a:avLst/>
            </a:prstGeom>
            <a:noFill/>
            <a:ln w="9525">
              <a:solidFill>
                <a:srgbClr val="00B0F0"/>
              </a:solidFill>
              <a:round/>
              <a:headEnd/>
              <a:tailEnd type="triangle" w="med" len="med"/>
            </a:ln>
          </p:spPr>
          <p:txBody>
            <a:bodyPr/>
            <a:lstStyle/>
            <a:p>
              <a:endParaRPr lang="zh-CN" altLang="en-US"/>
            </a:p>
          </p:txBody>
        </p:sp>
        <p:grpSp>
          <p:nvGrpSpPr>
            <p:cNvPr id="31795" name="Group 8"/>
            <p:cNvGrpSpPr>
              <a:grpSpLocks/>
            </p:cNvGrpSpPr>
            <p:nvPr/>
          </p:nvGrpSpPr>
          <p:grpSpPr bwMode="auto">
            <a:xfrm>
              <a:off x="2343" y="1168"/>
              <a:ext cx="1674" cy="482"/>
              <a:chOff x="2992" y="458"/>
              <a:chExt cx="1928" cy="482"/>
            </a:xfrm>
          </p:grpSpPr>
          <p:sp>
            <p:nvSpPr>
              <p:cNvPr id="31802" name="Freeform 9"/>
              <p:cNvSpPr>
                <a:spLocks/>
              </p:cNvSpPr>
              <p:nvPr/>
            </p:nvSpPr>
            <p:spPr bwMode="auto">
              <a:xfrm>
                <a:off x="3956" y="458"/>
                <a:ext cx="964" cy="482"/>
              </a:xfrm>
              <a:custGeom>
                <a:avLst/>
                <a:gdLst>
                  <a:gd name="T0" fmla="*/ 0 w 2154"/>
                  <a:gd name="T1" fmla="*/ 0 h 1078"/>
                  <a:gd name="T2" fmla="*/ 0 w 2154"/>
                  <a:gd name="T3" fmla="*/ 0 h 1078"/>
                  <a:gd name="T4" fmla="*/ 0 w 2154"/>
                  <a:gd name="T5" fmla="*/ 0 h 1078"/>
                  <a:gd name="T6" fmla="*/ 0 w 2154"/>
                  <a:gd name="T7" fmla="*/ 0 h 1078"/>
                  <a:gd name="T8" fmla="*/ 0 w 2154"/>
                  <a:gd name="T9" fmla="*/ 0 h 1078"/>
                  <a:gd name="T10" fmla="*/ 0 60000 65536"/>
                  <a:gd name="T11" fmla="*/ 0 60000 65536"/>
                  <a:gd name="T12" fmla="*/ 0 60000 65536"/>
                  <a:gd name="T13" fmla="*/ 0 60000 65536"/>
                  <a:gd name="T14" fmla="*/ 0 60000 65536"/>
                  <a:gd name="T15" fmla="*/ 0 w 2154"/>
                  <a:gd name="T16" fmla="*/ 0 h 1078"/>
                  <a:gd name="T17" fmla="*/ 2154 w 2154"/>
                  <a:gd name="T18" fmla="*/ 1078 h 1078"/>
                </a:gdLst>
                <a:ahLst/>
                <a:cxnLst>
                  <a:cxn ang="T10">
                    <a:pos x="T0" y="T1"/>
                  </a:cxn>
                  <a:cxn ang="T11">
                    <a:pos x="T2" y="T3"/>
                  </a:cxn>
                  <a:cxn ang="T12">
                    <a:pos x="T4" y="T5"/>
                  </a:cxn>
                  <a:cxn ang="T13">
                    <a:pos x="T6" y="T7"/>
                  </a:cxn>
                  <a:cxn ang="T14">
                    <a:pos x="T8" y="T9"/>
                  </a:cxn>
                </a:cxnLst>
                <a:rect l="T15" t="T16" r="T17" b="T18"/>
                <a:pathLst>
                  <a:path w="2154" h="1078">
                    <a:moveTo>
                      <a:pt x="0" y="539"/>
                    </a:moveTo>
                    <a:cubicBezTo>
                      <a:pt x="179" y="269"/>
                      <a:pt x="359" y="0"/>
                      <a:pt x="538" y="0"/>
                    </a:cubicBezTo>
                    <a:cubicBezTo>
                      <a:pt x="717" y="0"/>
                      <a:pt x="935" y="352"/>
                      <a:pt x="1077" y="539"/>
                    </a:cubicBezTo>
                    <a:cubicBezTo>
                      <a:pt x="1219" y="726"/>
                      <a:pt x="1437" y="1078"/>
                      <a:pt x="1616" y="1078"/>
                    </a:cubicBezTo>
                    <a:cubicBezTo>
                      <a:pt x="1795" y="1078"/>
                      <a:pt x="1974" y="808"/>
                      <a:pt x="2154" y="539"/>
                    </a:cubicBezTo>
                  </a:path>
                </a:pathLst>
              </a:custGeom>
              <a:noFill/>
              <a:ln w="19050">
                <a:solidFill>
                  <a:srgbClr val="0000FF"/>
                </a:solidFill>
                <a:round/>
                <a:headEnd/>
                <a:tailEnd/>
              </a:ln>
            </p:spPr>
            <p:txBody>
              <a:bodyPr/>
              <a:lstStyle/>
              <a:p>
                <a:endParaRPr lang="zh-CN" altLang="en-US"/>
              </a:p>
            </p:txBody>
          </p:sp>
          <p:sp>
            <p:nvSpPr>
              <p:cNvPr id="31803" name="Freeform 10"/>
              <p:cNvSpPr>
                <a:spLocks/>
              </p:cNvSpPr>
              <p:nvPr/>
            </p:nvSpPr>
            <p:spPr bwMode="auto">
              <a:xfrm>
                <a:off x="2992" y="458"/>
                <a:ext cx="964" cy="482"/>
              </a:xfrm>
              <a:custGeom>
                <a:avLst/>
                <a:gdLst>
                  <a:gd name="T0" fmla="*/ 0 w 2154"/>
                  <a:gd name="T1" fmla="*/ 0 h 1078"/>
                  <a:gd name="T2" fmla="*/ 0 w 2154"/>
                  <a:gd name="T3" fmla="*/ 0 h 1078"/>
                  <a:gd name="T4" fmla="*/ 0 w 2154"/>
                  <a:gd name="T5" fmla="*/ 0 h 1078"/>
                  <a:gd name="T6" fmla="*/ 0 w 2154"/>
                  <a:gd name="T7" fmla="*/ 0 h 1078"/>
                  <a:gd name="T8" fmla="*/ 0 w 2154"/>
                  <a:gd name="T9" fmla="*/ 0 h 1078"/>
                  <a:gd name="T10" fmla="*/ 0 60000 65536"/>
                  <a:gd name="T11" fmla="*/ 0 60000 65536"/>
                  <a:gd name="T12" fmla="*/ 0 60000 65536"/>
                  <a:gd name="T13" fmla="*/ 0 60000 65536"/>
                  <a:gd name="T14" fmla="*/ 0 60000 65536"/>
                  <a:gd name="T15" fmla="*/ 0 w 2154"/>
                  <a:gd name="T16" fmla="*/ 0 h 1078"/>
                  <a:gd name="T17" fmla="*/ 2154 w 2154"/>
                  <a:gd name="T18" fmla="*/ 1078 h 1078"/>
                </a:gdLst>
                <a:ahLst/>
                <a:cxnLst>
                  <a:cxn ang="T10">
                    <a:pos x="T0" y="T1"/>
                  </a:cxn>
                  <a:cxn ang="T11">
                    <a:pos x="T2" y="T3"/>
                  </a:cxn>
                  <a:cxn ang="T12">
                    <a:pos x="T4" y="T5"/>
                  </a:cxn>
                  <a:cxn ang="T13">
                    <a:pos x="T6" y="T7"/>
                  </a:cxn>
                  <a:cxn ang="T14">
                    <a:pos x="T8" y="T9"/>
                  </a:cxn>
                </a:cxnLst>
                <a:rect l="T15" t="T16" r="T17" b="T18"/>
                <a:pathLst>
                  <a:path w="2154" h="1078">
                    <a:moveTo>
                      <a:pt x="0" y="539"/>
                    </a:moveTo>
                    <a:cubicBezTo>
                      <a:pt x="179" y="269"/>
                      <a:pt x="359" y="0"/>
                      <a:pt x="538" y="0"/>
                    </a:cubicBezTo>
                    <a:cubicBezTo>
                      <a:pt x="717" y="0"/>
                      <a:pt x="935" y="352"/>
                      <a:pt x="1077" y="539"/>
                    </a:cubicBezTo>
                    <a:cubicBezTo>
                      <a:pt x="1219" y="726"/>
                      <a:pt x="1437" y="1078"/>
                      <a:pt x="1616" y="1078"/>
                    </a:cubicBezTo>
                    <a:cubicBezTo>
                      <a:pt x="1795" y="1078"/>
                      <a:pt x="1974" y="808"/>
                      <a:pt x="2154" y="539"/>
                    </a:cubicBezTo>
                  </a:path>
                </a:pathLst>
              </a:custGeom>
              <a:noFill/>
              <a:ln w="19050">
                <a:solidFill>
                  <a:srgbClr val="0000FF"/>
                </a:solidFill>
                <a:round/>
                <a:headEnd/>
                <a:tailEnd/>
              </a:ln>
            </p:spPr>
            <p:txBody>
              <a:bodyPr/>
              <a:lstStyle/>
              <a:p>
                <a:endParaRPr lang="zh-CN" altLang="en-US"/>
              </a:p>
            </p:txBody>
          </p:sp>
        </p:grpSp>
        <p:sp>
          <p:nvSpPr>
            <p:cNvPr id="31796" name="Text Box 11"/>
            <p:cNvSpPr txBox="1">
              <a:spLocks noChangeArrowheads="1"/>
            </p:cNvSpPr>
            <p:nvPr/>
          </p:nvSpPr>
          <p:spPr bwMode="auto">
            <a:xfrm>
              <a:off x="4127" y="1366"/>
              <a:ext cx="150" cy="271"/>
            </a:xfrm>
            <a:prstGeom prst="rect">
              <a:avLst/>
            </a:prstGeom>
            <a:noFill/>
            <a:ln w="9525">
              <a:noFill/>
              <a:miter lim="800000"/>
              <a:headEnd/>
              <a:tailEnd/>
            </a:ln>
          </p:spPr>
          <p:txBody>
            <a:bodyPr wrap="none">
              <a:spAutoFit/>
            </a:bodyPr>
            <a:lstStyle/>
            <a:p>
              <a:r>
                <a:rPr kumimoji="0" lang="en-US" altLang="zh-CN" sz="1500" b="1" i="1"/>
                <a:t>t</a:t>
              </a:r>
            </a:p>
          </p:txBody>
        </p:sp>
        <p:sp>
          <p:nvSpPr>
            <p:cNvPr id="31797" name="Text Box 12"/>
            <p:cNvSpPr txBox="1">
              <a:spLocks noChangeArrowheads="1"/>
            </p:cNvSpPr>
            <p:nvPr/>
          </p:nvSpPr>
          <p:spPr bwMode="auto">
            <a:xfrm>
              <a:off x="2280" y="1372"/>
              <a:ext cx="177" cy="271"/>
            </a:xfrm>
            <a:prstGeom prst="rect">
              <a:avLst/>
            </a:prstGeom>
            <a:noFill/>
            <a:ln w="9525">
              <a:noFill/>
              <a:miter lim="800000"/>
              <a:headEnd/>
              <a:tailEnd/>
            </a:ln>
          </p:spPr>
          <p:txBody>
            <a:bodyPr wrap="none">
              <a:spAutoFit/>
            </a:bodyPr>
            <a:lstStyle/>
            <a:p>
              <a:r>
                <a:rPr kumimoji="0" lang="en-US" altLang="zh-CN" sz="1500" b="1" i="1"/>
                <a:t>0</a:t>
              </a:r>
            </a:p>
          </p:txBody>
        </p:sp>
        <p:sp>
          <p:nvSpPr>
            <p:cNvPr id="31798" name="Text Box 13"/>
            <p:cNvSpPr txBox="1">
              <a:spLocks noChangeArrowheads="1"/>
            </p:cNvSpPr>
            <p:nvPr/>
          </p:nvSpPr>
          <p:spPr bwMode="auto">
            <a:xfrm>
              <a:off x="2414" y="929"/>
              <a:ext cx="170" cy="271"/>
            </a:xfrm>
            <a:prstGeom prst="rect">
              <a:avLst/>
            </a:prstGeom>
            <a:noFill/>
            <a:ln w="9525">
              <a:noFill/>
              <a:miter lim="800000"/>
              <a:headEnd/>
              <a:tailEnd/>
            </a:ln>
          </p:spPr>
          <p:txBody>
            <a:bodyPr wrap="none">
              <a:spAutoFit/>
            </a:bodyPr>
            <a:lstStyle/>
            <a:p>
              <a:r>
                <a:rPr kumimoji="0" lang="en-US" altLang="zh-CN" sz="1500" b="1" i="1"/>
                <a:t>y</a:t>
              </a:r>
            </a:p>
          </p:txBody>
        </p:sp>
        <p:sp>
          <p:nvSpPr>
            <p:cNvPr id="31799" name="Oval 14"/>
            <p:cNvSpPr>
              <a:spLocks noChangeArrowheads="1"/>
            </p:cNvSpPr>
            <p:nvPr/>
          </p:nvSpPr>
          <p:spPr bwMode="auto">
            <a:xfrm>
              <a:off x="3815" y="1646"/>
              <a:ext cx="56" cy="56"/>
            </a:xfrm>
            <a:prstGeom prst="ellipse">
              <a:avLst/>
            </a:prstGeom>
            <a:solidFill>
              <a:schemeClr val="accent1"/>
            </a:solidFill>
            <a:ln w="9525">
              <a:solidFill>
                <a:schemeClr val="tx1"/>
              </a:solidFill>
              <a:round/>
              <a:headEnd/>
              <a:tailEnd/>
            </a:ln>
          </p:spPr>
          <p:txBody>
            <a:bodyPr wrap="none" anchor="ctr"/>
            <a:lstStyle/>
            <a:p>
              <a:endParaRPr kumimoji="0" lang="zh-CN" altLang="zh-CN" sz="1800"/>
            </a:p>
          </p:txBody>
        </p:sp>
        <p:sp>
          <p:nvSpPr>
            <p:cNvPr id="31800" name="Oval 15"/>
            <p:cNvSpPr>
              <a:spLocks noChangeArrowheads="1"/>
            </p:cNvSpPr>
            <p:nvPr/>
          </p:nvSpPr>
          <p:spPr bwMode="auto">
            <a:xfrm>
              <a:off x="2965" y="1646"/>
              <a:ext cx="56" cy="56"/>
            </a:xfrm>
            <a:prstGeom prst="ellipse">
              <a:avLst/>
            </a:prstGeom>
            <a:solidFill>
              <a:schemeClr val="accent1"/>
            </a:solidFill>
            <a:ln w="9525">
              <a:solidFill>
                <a:schemeClr val="tx1"/>
              </a:solidFill>
              <a:round/>
              <a:headEnd/>
              <a:tailEnd/>
            </a:ln>
          </p:spPr>
          <p:txBody>
            <a:bodyPr wrap="none" anchor="ctr"/>
            <a:lstStyle/>
            <a:p>
              <a:endParaRPr kumimoji="0" lang="zh-CN" altLang="zh-CN" sz="1800"/>
            </a:p>
          </p:txBody>
        </p:sp>
        <p:sp>
          <p:nvSpPr>
            <p:cNvPr id="31801" name="Line 16"/>
            <p:cNvSpPr>
              <a:spLocks noChangeShapeType="1"/>
            </p:cNvSpPr>
            <p:nvPr/>
          </p:nvSpPr>
          <p:spPr bwMode="auto">
            <a:xfrm>
              <a:off x="1179" y="1253"/>
              <a:ext cx="1232" cy="0"/>
            </a:xfrm>
            <a:prstGeom prst="line">
              <a:avLst/>
            </a:prstGeom>
            <a:noFill/>
            <a:ln w="19050">
              <a:solidFill>
                <a:srgbClr val="FF0000"/>
              </a:solidFill>
              <a:round/>
              <a:headEnd/>
              <a:tailEnd type="triangle" w="med" len="med"/>
            </a:ln>
          </p:spPr>
          <p:txBody>
            <a:bodyPr wrap="none" anchor="ctr"/>
            <a:lstStyle/>
            <a:p>
              <a:endParaRPr lang="zh-CN" altLang="en-US"/>
            </a:p>
          </p:txBody>
        </p:sp>
        <p:graphicFrame>
          <p:nvGraphicFramePr>
            <p:cNvPr id="31784" name="Object 40"/>
            <p:cNvGraphicFramePr>
              <a:graphicFrameLocks noChangeAspect="1"/>
            </p:cNvGraphicFramePr>
            <p:nvPr/>
          </p:nvGraphicFramePr>
          <p:xfrm>
            <a:off x="913" y="869"/>
            <a:ext cx="1370" cy="407"/>
          </p:xfrm>
          <a:graphic>
            <a:graphicData uri="http://schemas.openxmlformats.org/presentationml/2006/ole">
              <p:oleObj spid="_x0000_s31784" name="公式" r:id="rId6" imgW="1612900" imgH="406400" progId="Equation.3">
                <p:embed/>
              </p:oleObj>
            </a:graphicData>
          </a:graphic>
        </p:graphicFrame>
      </p:grpSp>
      <p:sp>
        <p:nvSpPr>
          <p:cNvPr id="142362" name="Text Box 18"/>
          <p:cNvSpPr txBox="1">
            <a:spLocks noChangeArrowheads="1"/>
          </p:cNvSpPr>
          <p:nvPr/>
        </p:nvSpPr>
        <p:spPr bwMode="auto">
          <a:xfrm>
            <a:off x="4581525" y="4344988"/>
            <a:ext cx="2006600" cy="322262"/>
          </a:xfrm>
          <a:prstGeom prst="rect">
            <a:avLst/>
          </a:prstGeom>
          <a:noFill/>
          <a:ln w="9525">
            <a:noFill/>
            <a:miter lim="800000"/>
            <a:headEnd/>
            <a:tailEnd/>
          </a:ln>
        </p:spPr>
        <p:txBody>
          <a:bodyPr>
            <a:spAutoFit/>
          </a:bodyPr>
          <a:lstStyle/>
          <a:p>
            <a:r>
              <a:rPr kumimoji="0" lang="en-US" altLang="zh-CN" sz="1500" b="1" i="1">
                <a:ea typeface="华文中宋"/>
                <a:cs typeface="华文中宋"/>
              </a:rPr>
              <a:t>x =x</a:t>
            </a:r>
            <a:r>
              <a:rPr kumimoji="0" lang="en-US" altLang="zh-CN" sz="1500" b="1" baseline="-25000">
                <a:ea typeface="华文中宋"/>
                <a:cs typeface="华文中宋"/>
              </a:rPr>
              <a:t>0</a:t>
            </a:r>
            <a:r>
              <a:rPr lang="zh-CN" altLang="en-US" sz="1500" b="1">
                <a:ea typeface="华文中宋"/>
                <a:cs typeface="华文中宋"/>
              </a:rPr>
              <a:t>点</a:t>
            </a:r>
            <a:r>
              <a:rPr lang="zh-CN" altLang="en-US" sz="1500" b="1">
                <a:solidFill>
                  <a:srgbClr val="CC0000"/>
                </a:solidFill>
                <a:ea typeface="华文中宋"/>
                <a:cs typeface="华文中宋"/>
              </a:rPr>
              <a:t>振动曲线</a:t>
            </a:r>
            <a:endParaRPr kumimoji="0" lang="zh-CN" altLang="en-US" sz="1500" b="1" baseline="-25000">
              <a:ea typeface="华文中宋"/>
              <a:cs typeface="华文中宋"/>
            </a:endParaRPr>
          </a:p>
        </p:txBody>
      </p:sp>
      <p:sp>
        <p:nvSpPr>
          <p:cNvPr id="25" name="Text Box 2"/>
          <p:cNvSpPr>
            <a:spLocks noChangeArrowheads="1"/>
          </p:cNvSpPr>
          <p:nvPr/>
        </p:nvSpPr>
        <p:spPr bwMode="auto">
          <a:xfrm>
            <a:off x="828675" y="876300"/>
            <a:ext cx="3022600" cy="400050"/>
          </a:xfrm>
          <a:prstGeom prst="homePlate">
            <a:avLst>
              <a:gd name="adj" fmla="val 49811"/>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三、波函数的物理意义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556"/>
                                        </p:tgtEl>
                                        <p:attrNameLst>
                                          <p:attrName>style.visibility</p:attrName>
                                        </p:attrNameLst>
                                      </p:cBhvr>
                                      <p:to>
                                        <p:strVal val="visible"/>
                                      </p:to>
                                    </p:set>
                                    <p:animEffect transition="in" filter="wipe(left)">
                                      <p:cBhvr>
                                        <p:cTn id="12" dur="500"/>
                                        <p:tgtEl>
                                          <p:spTgt spid="235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3557"/>
                                        </p:tgtEl>
                                        <p:attrNameLst>
                                          <p:attrName>style.visibility</p:attrName>
                                        </p:attrNameLst>
                                      </p:cBhvr>
                                      <p:to>
                                        <p:strVal val="visible"/>
                                      </p:to>
                                    </p:set>
                                    <p:animEffect transition="in" filter="wipe(left)">
                                      <p:cBhvr>
                                        <p:cTn id="17" dur="500"/>
                                        <p:tgtEl>
                                          <p:spTgt spid="235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wipe(left)">
                                      <p:cBhvr>
                                        <p:cTn id="34" dur="500"/>
                                        <p:tgtEl>
                                          <p:spTgt spid="5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wipe(left)">
                                      <p:cBhvr>
                                        <p:cTn id="39" dur="500"/>
                                        <p:tgtEl>
                                          <p:spTgt spid="5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blinds(horizontal)">
                                      <p:cBhvr>
                                        <p:cTn id="44" dur="500"/>
                                        <p:tgtEl>
                                          <p:spTgt spid="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42362"/>
                                        </p:tgtEl>
                                        <p:attrNameLst>
                                          <p:attrName>style.visibility</p:attrName>
                                        </p:attrNameLst>
                                      </p:cBhvr>
                                      <p:to>
                                        <p:strVal val="visible"/>
                                      </p:to>
                                    </p:set>
                                    <p:animEffect transition="in" filter="blinds(horizontal)">
                                      <p:cBhvr>
                                        <p:cTn id="49" dur="500"/>
                                        <p:tgtEl>
                                          <p:spTgt spid="142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autoUpdateAnimBg="0"/>
      <p:bldP spid="6" grpId="0" animBg="1"/>
      <p:bldP spid="51" grpId="0" autoUpdateAnimBg="0"/>
      <p:bldP spid="142362" grpId="0"/>
      <p:bldP spid="2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9"/>
          <p:cNvSpPr txBox="1">
            <a:spLocks noChangeArrowheads="1"/>
          </p:cNvSpPr>
          <p:nvPr/>
        </p:nvSpPr>
        <p:spPr bwMode="auto">
          <a:xfrm>
            <a:off x="795338" y="747713"/>
            <a:ext cx="4343400" cy="369887"/>
          </a:xfrm>
          <a:prstGeom prst="rect">
            <a:avLst/>
          </a:prstGeom>
          <a:noFill/>
          <a:ln w="9525">
            <a:noFill/>
            <a:miter lim="800000"/>
            <a:headEnd/>
            <a:tailEnd/>
          </a:ln>
        </p:spPr>
        <p:txBody>
          <a:bodyPr>
            <a:spAutoFit/>
          </a:bodyPr>
          <a:lstStyle/>
          <a:p>
            <a:pPr eaLnBrk="0" hangingPunct="0"/>
            <a:r>
              <a:rPr lang="zh-CN" altLang="en-US" sz="1800" b="1">
                <a:solidFill>
                  <a:srgbClr val="FF0000"/>
                </a:solidFill>
                <a:ea typeface="华文中宋"/>
                <a:cs typeface="华文中宋"/>
              </a:rPr>
              <a:t>对</a:t>
            </a:r>
            <a:r>
              <a:rPr lang="zh-CN" altLang="en-US" sz="1800" b="1" i="1">
                <a:solidFill>
                  <a:srgbClr val="FF0000"/>
                </a:solidFill>
                <a:ea typeface="华文中宋"/>
                <a:cs typeface="华文中宋"/>
              </a:rPr>
              <a:t> </a:t>
            </a:r>
            <a:r>
              <a:rPr lang="en-US" altLang="zh-CN" sz="1800" b="1" i="1">
                <a:solidFill>
                  <a:srgbClr val="FF0000"/>
                </a:solidFill>
                <a:ea typeface="华文中宋"/>
                <a:cs typeface="华文中宋"/>
              </a:rPr>
              <a:t>x</a:t>
            </a:r>
            <a:r>
              <a:rPr lang="en-US" altLang="zh-CN" sz="1800" b="1" i="1" baseline="-25000">
                <a:solidFill>
                  <a:srgbClr val="FF0000"/>
                </a:solidFill>
                <a:ea typeface="华文中宋"/>
                <a:cs typeface="华文中宋"/>
              </a:rPr>
              <a:t>0</a:t>
            </a:r>
            <a:r>
              <a:rPr lang="zh-CN" altLang="en-US" sz="1800" b="1">
                <a:solidFill>
                  <a:srgbClr val="FF0000"/>
                </a:solidFill>
                <a:ea typeface="华文中宋"/>
                <a:cs typeface="华文中宋"/>
              </a:rPr>
              <a:t>点</a:t>
            </a:r>
            <a:r>
              <a:rPr lang="en-US" altLang="zh-CN" sz="1800" b="1">
                <a:ea typeface="华文中宋"/>
                <a:cs typeface="华文中宋"/>
              </a:rPr>
              <a:t>, </a:t>
            </a:r>
            <a:r>
              <a:rPr kumimoji="0" lang="zh-CN" altLang="en-US" sz="1800" b="1">
                <a:ea typeface="华文中宋"/>
                <a:cs typeface="华文中宋"/>
              </a:rPr>
              <a:t>两个时刻的振动位相差</a:t>
            </a:r>
          </a:p>
        </p:txBody>
      </p:sp>
      <p:graphicFrame>
        <p:nvGraphicFramePr>
          <p:cNvPr id="4" name="Object 28"/>
          <p:cNvGraphicFramePr>
            <a:graphicFrameLocks noChangeAspect="1"/>
          </p:cNvGraphicFramePr>
          <p:nvPr/>
        </p:nvGraphicFramePr>
        <p:xfrm>
          <a:off x="2200275" y="1276350"/>
          <a:ext cx="1985963" cy="330200"/>
        </p:xfrm>
        <a:graphic>
          <a:graphicData uri="http://schemas.openxmlformats.org/presentationml/2006/ole">
            <p:oleObj spid="_x0000_s32796" name="公式" r:id="rId3" imgW="977476" imgH="215806" progId="Equation.3">
              <p:embed/>
            </p:oleObj>
          </a:graphicData>
        </a:graphic>
      </p:graphicFrame>
      <p:graphicFrame>
        <p:nvGraphicFramePr>
          <p:cNvPr id="5" name="Object 29"/>
          <p:cNvGraphicFramePr>
            <a:graphicFrameLocks noChangeAspect="1"/>
          </p:cNvGraphicFramePr>
          <p:nvPr/>
        </p:nvGraphicFramePr>
        <p:xfrm>
          <a:off x="4240213" y="1150938"/>
          <a:ext cx="1349375" cy="581025"/>
        </p:xfrm>
        <a:graphic>
          <a:graphicData uri="http://schemas.openxmlformats.org/presentationml/2006/ole">
            <p:oleObj spid="_x0000_s32797" name="Equation" r:id="rId4" imgW="685800" imgH="393700" progId="Equation.DSMT4">
              <p:embed/>
            </p:oleObj>
          </a:graphicData>
        </a:graphic>
      </p:graphicFrame>
      <p:sp>
        <p:nvSpPr>
          <p:cNvPr id="6" name="Text Box 12"/>
          <p:cNvSpPr txBox="1">
            <a:spLocks noChangeArrowheads="1"/>
          </p:cNvSpPr>
          <p:nvPr/>
        </p:nvSpPr>
        <p:spPr bwMode="auto">
          <a:xfrm>
            <a:off x="1163638" y="1698625"/>
            <a:ext cx="4867275" cy="376238"/>
          </a:xfrm>
          <a:prstGeom prst="rect">
            <a:avLst/>
          </a:prstGeom>
          <a:noFill/>
          <a:ln w="9525">
            <a:noFill/>
            <a:miter lim="800000"/>
            <a:headEnd/>
            <a:tailEnd/>
          </a:ln>
        </p:spPr>
        <p:txBody>
          <a:bodyPr>
            <a:spAutoFit/>
          </a:bodyPr>
          <a:lstStyle/>
          <a:p>
            <a:pPr>
              <a:lnSpc>
                <a:spcPct val="110000"/>
              </a:lnSpc>
            </a:pPr>
            <a:r>
              <a:rPr lang="zh-CN" altLang="en-US" sz="1800" b="1">
                <a:ea typeface="华文中宋"/>
                <a:cs typeface="华文中宋"/>
              </a:rPr>
              <a:t>若        </a:t>
            </a:r>
            <a:r>
              <a:rPr lang="en-US" altLang="zh-CN" sz="1800" b="1" i="1">
                <a:ea typeface="华文中宋"/>
                <a:cs typeface="华文中宋"/>
              </a:rPr>
              <a:t>t</a:t>
            </a:r>
            <a:r>
              <a:rPr lang="en-US" altLang="zh-CN" sz="1800" b="1" baseline="-25000">
                <a:ea typeface="华文中宋"/>
                <a:cs typeface="华文中宋"/>
              </a:rPr>
              <a:t>2</a:t>
            </a:r>
            <a:r>
              <a:rPr lang="en-US" altLang="zh-CN" sz="1800" b="1">
                <a:ea typeface="华文中宋"/>
                <a:cs typeface="华文中宋"/>
              </a:rPr>
              <a:t>-</a:t>
            </a:r>
            <a:r>
              <a:rPr lang="en-US" altLang="zh-CN" sz="1800" b="1" i="1">
                <a:ea typeface="华文中宋"/>
                <a:cs typeface="华文中宋"/>
              </a:rPr>
              <a:t>t</a:t>
            </a:r>
            <a:r>
              <a:rPr lang="en-US" altLang="zh-CN" sz="1800" b="1" baseline="-25000">
                <a:ea typeface="华文中宋"/>
                <a:cs typeface="华文中宋"/>
              </a:rPr>
              <a:t>1</a:t>
            </a:r>
            <a:r>
              <a:rPr lang="en-US" altLang="zh-CN" sz="1800" b="1">
                <a:ea typeface="华文中宋"/>
                <a:cs typeface="华文中宋"/>
              </a:rPr>
              <a:t>=</a:t>
            </a:r>
            <a:r>
              <a:rPr lang="en-US" altLang="zh-CN" sz="1800" b="1" i="1">
                <a:ea typeface="华文中宋"/>
                <a:cs typeface="华文中宋"/>
              </a:rPr>
              <a:t>kT</a:t>
            </a:r>
            <a:r>
              <a:rPr lang="en-US" altLang="zh-CN" sz="1800" b="1">
                <a:ea typeface="华文中宋"/>
                <a:cs typeface="华文中宋"/>
              </a:rPr>
              <a:t>,       </a:t>
            </a:r>
            <a:r>
              <a:rPr lang="en-US" altLang="zh-CN" sz="1800" b="1" i="1">
                <a:ea typeface="华文中宋"/>
                <a:cs typeface="华文中宋"/>
                <a:sym typeface="Symbol" pitchFamily="18" charset="2"/>
              </a:rPr>
              <a:t>k </a:t>
            </a:r>
            <a:r>
              <a:rPr lang="en-US" altLang="zh-CN" sz="1800" b="1">
                <a:ea typeface="华文中宋"/>
                <a:cs typeface="华文中宋"/>
                <a:sym typeface="Symbol" pitchFamily="18" charset="2"/>
              </a:rPr>
              <a:t>=1,2,…</a:t>
            </a:r>
            <a:endParaRPr lang="en-US" altLang="zh-CN" sz="1800" b="1" u="sng">
              <a:solidFill>
                <a:srgbClr val="FF0000"/>
              </a:solidFill>
              <a:ea typeface="华文中宋"/>
              <a:cs typeface="华文中宋"/>
            </a:endParaRPr>
          </a:p>
        </p:txBody>
      </p:sp>
      <p:sp>
        <p:nvSpPr>
          <p:cNvPr id="7" name="Text Box 12"/>
          <p:cNvSpPr txBox="1">
            <a:spLocks noChangeArrowheads="1"/>
          </p:cNvSpPr>
          <p:nvPr/>
        </p:nvSpPr>
        <p:spPr bwMode="auto">
          <a:xfrm>
            <a:off x="1187450" y="2217738"/>
            <a:ext cx="5256213" cy="396875"/>
          </a:xfrm>
          <a:prstGeom prst="rect">
            <a:avLst/>
          </a:prstGeom>
          <a:noFill/>
          <a:ln w="9525">
            <a:noFill/>
            <a:miter lim="800000"/>
            <a:headEnd/>
            <a:tailEnd/>
          </a:ln>
        </p:spPr>
        <p:txBody>
          <a:bodyPr>
            <a:spAutoFit/>
          </a:bodyPr>
          <a:lstStyle/>
          <a:p>
            <a:pPr>
              <a:lnSpc>
                <a:spcPct val="110000"/>
              </a:lnSpc>
            </a:pPr>
            <a:r>
              <a:rPr lang="zh-CN" altLang="en-US" sz="1800" b="1">
                <a:ea typeface="华文中宋"/>
                <a:cs typeface="华文中宋"/>
              </a:rPr>
              <a:t>则       </a:t>
            </a:r>
            <a:r>
              <a:rPr lang="zh-CN" altLang="en-US" sz="1800" b="1">
                <a:ea typeface="华文中宋"/>
                <a:cs typeface="华文中宋"/>
                <a:sym typeface="Symbol" pitchFamily="18" charset="2"/>
              </a:rPr>
              <a:t></a:t>
            </a:r>
            <a:r>
              <a:rPr lang="zh-CN" altLang="en-US" sz="1800" b="1" i="1">
                <a:ea typeface="华文中宋"/>
                <a:cs typeface="华文中宋"/>
                <a:sym typeface="Symbol" pitchFamily="18" charset="2"/>
              </a:rPr>
              <a:t></a:t>
            </a:r>
            <a:r>
              <a:rPr lang="zh-CN" altLang="en-US" sz="1800" b="1">
                <a:ea typeface="华文中宋"/>
                <a:cs typeface="华文中宋"/>
                <a:sym typeface="Symbol" pitchFamily="18" charset="2"/>
              </a:rPr>
              <a:t>＝</a:t>
            </a:r>
            <a:r>
              <a:rPr lang="en-US" altLang="zh-CN" sz="1800" b="1">
                <a:ea typeface="华文中宋"/>
                <a:cs typeface="华文中宋"/>
                <a:sym typeface="Symbol" pitchFamily="18" charset="2"/>
              </a:rPr>
              <a:t>2</a:t>
            </a:r>
            <a:r>
              <a:rPr lang="en-US" altLang="zh-CN" sz="1800" b="1" i="1">
                <a:ea typeface="华文中宋"/>
                <a:cs typeface="华文中宋"/>
                <a:sym typeface="Symbol" pitchFamily="18" charset="2"/>
              </a:rPr>
              <a:t>k</a:t>
            </a:r>
            <a:r>
              <a:rPr lang="en-US" altLang="zh-CN" sz="1800" b="1">
                <a:ea typeface="华文中宋"/>
                <a:cs typeface="华文中宋"/>
                <a:sym typeface="Symbol" pitchFamily="18" charset="2"/>
              </a:rPr>
              <a:t>, </a:t>
            </a:r>
            <a:r>
              <a:rPr lang="en-US" altLang="zh-CN" sz="1800" b="1">
                <a:ea typeface="华文中宋"/>
                <a:cs typeface="华文中宋"/>
              </a:rPr>
              <a:t>    </a:t>
            </a:r>
            <a:r>
              <a:rPr lang="en-US" altLang="zh-CN" sz="1800" b="1" i="1">
                <a:ea typeface="华文中宋"/>
                <a:cs typeface="华文中宋"/>
              </a:rPr>
              <a:t>T </a:t>
            </a:r>
            <a:r>
              <a:rPr lang="zh-CN" altLang="en-US" sz="1800" b="1">
                <a:ea typeface="华文中宋"/>
                <a:cs typeface="华文中宋"/>
              </a:rPr>
              <a:t>反映了波动的</a:t>
            </a:r>
            <a:r>
              <a:rPr lang="zh-CN" altLang="en-US" sz="1800" b="1" u="sng">
                <a:solidFill>
                  <a:srgbClr val="FF0000"/>
                </a:solidFill>
                <a:ea typeface="华文中宋"/>
                <a:cs typeface="华文中宋"/>
              </a:rPr>
              <a:t>时间周期性</a:t>
            </a:r>
          </a:p>
        </p:txBody>
      </p:sp>
      <p:sp>
        <p:nvSpPr>
          <p:cNvPr id="8" name="Text Box 20"/>
          <p:cNvSpPr txBox="1">
            <a:spLocks noChangeArrowheads="1"/>
          </p:cNvSpPr>
          <p:nvPr/>
        </p:nvSpPr>
        <p:spPr bwMode="auto">
          <a:xfrm>
            <a:off x="723900" y="2736850"/>
            <a:ext cx="3195638" cy="376238"/>
          </a:xfrm>
          <a:prstGeom prst="rect">
            <a:avLst/>
          </a:prstGeom>
          <a:noFill/>
          <a:ln w="9525">
            <a:noFill/>
            <a:miter lim="800000"/>
            <a:headEnd/>
            <a:tailEnd/>
          </a:ln>
        </p:spPr>
        <p:txBody>
          <a:bodyPr>
            <a:spAutoFit/>
          </a:bodyPr>
          <a:lstStyle/>
          <a:p>
            <a:pPr marL="457200" indent="-457200" eaLnBrk="0" hangingPunct="0">
              <a:lnSpc>
                <a:spcPct val="110000"/>
              </a:lnSpc>
            </a:pPr>
            <a:r>
              <a:rPr kumimoji="0" lang="en-US" altLang="zh-CN" sz="1800" b="1">
                <a:solidFill>
                  <a:srgbClr val="0000FF"/>
                </a:solidFill>
                <a:ea typeface="华文中宋"/>
                <a:cs typeface="Times New Roman" pitchFamily="18" charset="0"/>
              </a:rPr>
              <a:t>2</a:t>
            </a:r>
            <a:r>
              <a:rPr kumimoji="0" lang="zh-CN" altLang="en-US" sz="1800" b="1">
                <a:solidFill>
                  <a:srgbClr val="0000FF"/>
                </a:solidFill>
                <a:ea typeface="华文中宋"/>
                <a:cs typeface="Times New Roman" pitchFamily="18" charset="0"/>
              </a:rPr>
              <a:t>、如果给定 </a:t>
            </a:r>
            <a:r>
              <a:rPr kumimoji="0" lang="en-US" altLang="zh-CN" sz="1800" b="1" i="1">
                <a:solidFill>
                  <a:srgbClr val="0000FF"/>
                </a:solidFill>
                <a:ea typeface="华文中宋"/>
                <a:cs typeface="Times New Roman" pitchFamily="18" charset="0"/>
              </a:rPr>
              <a:t>t=t</a:t>
            </a:r>
            <a:r>
              <a:rPr kumimoji="0" lang="en-US" altLang="zh-CN" sz="1800" b="1" i="1" baseline="-25000">
                <a:solidFill>
                  <a:srgbClr val="0000FF"/>
                </a:solidFill>
                <a:ea typeface="华文中宋"/>
                <a:cs typeface="Times New Roman" pitchFamily="18" charset="0"/>
              </a:rPr>
              <a:t>0</a:t>
            </a:r>
            <a:endParaRPr kumimoji="0" lang="en-US" altLang="zh-CN" sz="1800" b="1" i="1">
              <a:solidFill>
                <a:srgbClr val="0000FF"/>
              </a:solidFill>
              <a:ea typeface="华文中宋"/>
              <a:cs typeface="Times New Roman" pitchFamily="18" charset="0"/>
            </a:endParaRPr>
          </a:p>
        </p:txBody>
      </p:sp>
      <p:graphicFrame>
        <p:nvGraphicFramePr>
          <p:cNvPr id="9" name="Object 30"/>
          <p:cNvGraphicFramePr>
            <a:graphicFrameLocks noChangeAspect="1"/>
          </p:cNvGraphicFramePr>
          <p:nvPr/>
        </p:nvGraphicFramePr>
        <p:xfrm>
          <a:off x="1954213" y="3143250"/>
          <a:ext cx="3371850" cy="595313"/>
        </p:xfrm>
        <a:graphic>
          <a:graphicData uri="http://schemas.openxmlformats.org/presentationml/2006/ole">
            <p:oleObj spid="_x0000_s32798" name="公式" r:id="rId5" imgW="1713756" imgH="406224" progId="Equation.3">
              <p:embed/>
            </p:oleObj>
          </a:graphicData>
        </a:graphic>
      </p:graphicFrame>
      <p:sp>
        <p:nvSpPr>
          <p:cNvPr id="15" name="圆角矩形 14"/>
          <p:cNvSpPr/>
          <p:nvPr/>
        </p:nvSpPr>
        <p:spPr>
          <a:xfrm>
            <a:off x="3959225" y="3241675"/>
            <a:ext cx="1254125" cy="423863"/>
          </a:xfrm>
          <a:prstGeom prst="round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0" lang="zh-CN" altLang="zh-CN" sz="1800">
              <a:solidFill>
                <a:srgbClr val="FFFFFF"/>
              </a:solidFill>
              <a:ea typeface="华文中宋" pitchFamily="2" charset="-122"/>
            </a:endParaRPr>
          </a:p>
        </p:txBody>
      </p:sp>
      <p:graphicFrame>
        <p:nvGraphicFramePr>
          <p:cNvPr id="16" name="Object 31"/>
          <p:cNvGraphicFramePr>
            <a:graphicFrameLocks noChangeAspect="1"/>
          </p:cNvGraphicFramePr>
          <p:nvPr/>
        </p:nvGraphicFramePr>
        <p:xfrm>
          <a:off x="6051550" y="3259138"/>
          <a:ext cx="1890713" cy="368300"/>
        </p:xfrm>
        <a:graphic>
          <a:graphicData uri="http://schemas.openxmlformats.org/presentationml/2006/ole">
            <p:oleObj spid="_x0000_s32799" name="公式" r:id="rId6" imgW="927100" imgH="241300" progId="Equation.3">
              <p:embed/>
            </p:oleObj>
          </a:graphicData>
        </a:graphic>
      </p:graphicFrame>
      <p:graphicFrame>
        <p:nvGraphicFramePr>
          <p:cNvPr id="18" name="Object 32"/>
          <p:cNvGraphicFramePr>
            <a:graphicFrameLocks noChangeAspect="1"/>
          </p:cNvGraphicFramePr>
          <p:nvPr/>
        </p:nvGraphicFramePr>
        <p:xfrm>
          <a:off x="3103563" y="3775075"/>
          <a:ext cx="2655887" cy="596900"/>
        </p:xfrm>
        <a:graphic>
          <a:graphicData uri="http://schemas.openxmlformats.org/presentationml/2006/ole">
            <p:oleObj spid="_x0000_s32800" name="公式" r:id="rId7" imgW="1345616" imgH="406224" progId="Equation.3">
              <p:embed/>
            </p:oleObj>
          </a:graphicData>
        </a:graphic>
      </p:graphicFrame>
      <p:sp>
        <p:nvSpPr>
          <p:cNvPr id="14" name="Rectangle 24"/>
          <p:cNvSpPr>
            <a:spLocks noChangeArrowheads="1"/>
          </p:cNvSpPr>
          <p:nvPr/>
        </p:nvSpPr>
        <p:spPr bwMode="auto">
          <a:xfrm>
            <a:off x="873125" y="4291013"/>
            <a:ext cx="7515225" cy="368300"/>
          </a:xfrm>
          <a:prstGeom prst="rect">
            <a:avLst/>
          </a:prstGeom>
          <a:noFill/>
          <a:ln w="9525">
            <a:noFill/>
            <a:miter lim="800000"/>
            <a:headEnd/>
            <a:tailEnd/>
          </a:ln>
        </p:spPr>
        <p:txBody>
          <a:bodyPr>
            <a:spAutoFit/>
          </a:bodyPr>
          <a:lstStyle/>
          <a:p>
            <a:pPr eaLnBrk="0" hangingPunct="0"/>
            <a:r>
              <a:rPr kumimoji="0" lang="en-US" altLang="zh-CN" sz="1800" b="1" i="1">
                <a:ea typeface="华文中宋"/>
                <a:cs typeface="华文中宋"/>
              </a:rPr>
              <a:t>y</a:t>
            </a:r>
            <a:r>
              <a:rPr kumimoji="0" lang="en-US" altLang="zh-CN" sz="1800" b="1">
                <a:ea typeface="华文中宋"/>
                <a:cs typeface="华文中宋"/>
              </a:rPr>
              <a:t>(</a:t>
            </a:r>
            <a:r>
              <a:rPr kumimoji="0" lang="en-US" altLang="zh-CN" sz="1800" b="1" i="1">
                <a:ea typeface="华文中宋"/>
                <a:cs typeface="华文中宋"/>
              </a:rPr>
              <a:t>x,t</a:t>
            </a:r>
            <a:r>
              <a:rPr kumimoji="0" lang="en-US" altLang="zh-CN" sz="1800" b="1">
                <a:ea typeface="华文中宋"/>
                <a:cs typeface="华文中宋"/>
              </a:rPr>
              <a:t>)  </a:t>
            </a:r>
            <a:r>
              <a:rPr kumimoji="0" lang="zh-CN" altLang="en-US" sz="1800" b="1" u="sng">
                <a:ea typeface="华文中宋"/>
                <a:cs typeface="华文中宋"/>
              </a:rPr>
              <a:t>蜕变成</a:t>
            </a:r>
            <a:r>
              <a:rPr kumimoji="0" lang="zh-CN" altLang="en-US" sz="1800" b="1">
                <a:ea typeface="华文中宋"/>
                <a:cs typeface="华文中宋"/>
              </a:rPr>
              <a:t>   </a:t>
            </a:r>
            <a:r>
              <a:rPr kumimoji="0" lang="en-US" altLang="zh-CN" sz="1800" b="1" i="1">
                <a:ea typeface="华文中宋"/>
                <a:cs typeface="华文中宋"/>
              </a:rPr>
              <a:t>y</a:t>
            </a:r>
            <a:r>
              <a:rPr kumimoji="0" lang="en-US" altLang="zh-CN" sz="1800" b="1">
                <a:ea typeface="华文中宋"/>
                <a:cs typeface="华文中宋"/>
              </a:rPr>
              <a:t>(</a:t>
            </a:r>
            <a:r>
              <a:rPr kumimoji="0" lang="en-US" altLang="zh-CN" sz="1800" b="1" i="1">
                <a:ea typeface="华文中宋"/>
                <a:cs typeface="华文中宋"/>
              </a:rPr>
              <a:t>x</a:t>
            </a:r>
            <a:r>
              <a:rPr kumimoji="0" lang="en-US" altLang="zh-CN" sz="1800" b="1">
                <a:ea typeface="华文中宋"/>
                <a:cs typeface="华文中宋"/>
              </a:rPr>
              <a:t>) →  </a:t>
            </a:r>
            <a:r>
              <a:rPr lang="en-US" altLang="zh-CN" sz="1800" b="1" i="1">
                <a:solidFill>
                  <a:srgbClr val="0000FF"/>
                </a:solidFill>
                <a:ea typeface="华文中宋"/>
                <a:cs typeface="华文中宋"/>
              </a:rPr>
              <a:t>t</a:t>
            </a:r>
            <a:r>
              <a:rPr lang="en-US" altLang="zh-CN" sz="1800" b="1" i="1" baseline="-25000">
                <a:solidFill>
                  <a:srgbClr val="0000FF"/>
                </a:solidFill>
                <a:ea typeface="华文中宋"/>
                <a:cs typeface="华文中宋"/>
              </a:rPr>
              <a:t>0 </a:t>
            </a:r>
            <a:r>
              <a:rPr lang="zh-CN" altLang="en-US" sz="1800" b="1">
                <a:solidFill>
                  <a:srgbClr val="0000FF"/>
                </a:solidFill>
                <a:ea typeface="华文中宋"/>
                <a:cs typeface="华文中宋"/>
              </a:rPr>
              <a:t>时刻空间各点位移分布，即某时刻的波形方程。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wipe(left)">
                                      <p:cBhvr>
                                        <p:cTn id="22" dur="500"/>
                                        <p:tgtEl>
                                          <p:spTgt spid="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wipe(left)">
                                      <p:cBhvr>
                                        <p:cTn id="27" dur="500"/>
                                        <p:tgtEl>
                                          <p:spTgt spid="7">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p:cTn id="42" dur="500" fill="hold"/>
                                        <p:tgtEl>
                                          <p:spTgt spid="15"/>
                                        </p:tgtEl>
                                        <p:attrNameLst>
                                          <p:attrName>ppt_w</p:attrName>
                                        </p:attrNameLst>
                                      </p:cBhvr>
                                      <p:tavLst>
                                        <p:tav tm="0">
                                          <p:val>
                                            <p:fltVal val="0"/>
                                          </p:val>
                                        </p:tav>
                                        <p:tav tm="100000">
                                          <p:val>
                                            <p:strVal val="#ppt_w"/>
                                          </p:val>
                                        </p:tav>
                                      </p:tavLst>
                                    </p:anim>
                                    <p:anim calcmode="lin" valueType="num">
                                      <p:cBhvr>
                                        <p:cTn id="43" dur="500" fill="hold"/>
                                        <p:tgtEl>
                                          <p:spTgt spid="15"/>
                                        </p:tgtEl>
                                        <p:attrNameLst>
                                          <p:attrName>ppt_h</p:attrName>
                                        </p:attrNameLst>
                                      </p:cBhvr>
                                      <p:tavLst>
                                        <p:tav tm="0">
                                          <p:val>
                                            <p:fltVal val="0"/>
                                          </p:val>
                                        </p:tav>
                                        <p:tav tm="100000">
                                          <p:val>
                                            <p:strVal val="#ppt_h"/>
                                          </p:val>
                                        </p:tav>
                                      </p:tavLst>
                                    </p:anim>
                                    <p:animEffect transition="in" filter="fade">
                                      <p:cBhvr>
                                        <p:cTn id="44" dur="500"/>
                                        <p:tgtEl>
                                          <p:spTgt spid="1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left)">
                                      <p:cBhvr>
                                        <p:cTn id="49" dur="500"/>
                                        <p:tgtEl>
                                          <p:spTgt spid="1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wipe(left)">
                                      <p:cBhvr>
                                        <p:cTn id="54" dur="500"/>
                                        <p:tgtEl>
                                          <p:spTgt spid="18"/>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left)">
                                      <p:cBhvr>
                                        <p:cTn id="5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6" grpId="0" build="p"/>
      <p:bldP spid="7" grpId="0" build="p"/>
      <p:bldP spid="8" grpId="0" autoUpdateAnimBg="0"/>
      <p:bldP spid="15" grpId="0" animBg="1"/>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1658938" y="757238"/>
            <a:ext cx="5397500" cy="1112837"/>
            <a:chOff x="904" y="2443"/>
            <a:chExt cx="3400" cy="935"/>
          </a:xfrm>
        </p:grpSpPr>
        <p:sp>
          <p:nvSpPr>
            <p:cNvPr id="33855" name="Line 5"/>
            <p:cNvSpPr>
              <a:spLocks noChangeShapeType="1"/>
            </p:cNvSpPr>
            <p:nvPr/>
          </p:nvSpPr>
          <p:spPr bwMode="auto">
            <a:xfrm>
              <a:off x="2794" y="3265"/>
              <a:ext cx="794" cy="0"/>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33856" name="Text Box 6"/>
            <p:cNvSpPr txBox="1">
              <a:spLocks noChangeArrowheads="1"/>
            </p:cNvSpPr>
            <p:nvPr/>
          </p:nvSpPr>
          <p:spPr bwMode="auto">
            <a:xfrm>
              <a:off x="3107" y="3067"/>
              <a:ext cx="183" cy="271"/>
            </a:xfrm>
            <a:prstGeom prst="rect">
              <a:avLst/>
            </a:prstGeom>
            <a:solidFill>
              <a:schemeClr val="bg1"/>
            </a:solidFill>
            <a:ln w="9525">
              <a:noFill/>
              <a:miter lim="800000"/>
              <a:headEnd/>
              <a:tailEnd/>
            </a:ln>
          </p:spPr>
          <p:txBody>
            <a:bodyPr wrap="none">
              <a:spAutoFit/>
            </a:bodyPr>
            <a:lstStyle/>
            <a:p>
              <a:r>
                <a:rPr lang="en-US" altLang="zh-CN" sz="1500" b="1" i="1">
                  <a:sym typeface="Symbol" pitchFamily="18" charset="2"/>
                </a:rPr>
                <a:t></a:t>
              </a:r>
            </a:p>
          </p:txBody>
        </p:sp>
        <p:sp>
          <p:nvSpPr>
            <p:cNvPr id="33857" name="Line 7"/>
            <p:cNvSpPr>
              <a:spLocks noChangeShapeType="1"/>
            </p:cNvSpPr>
            <p:nvPr/>
          </p:nvSpPr>
          <p:spPr bwMode="auto">
            <a:xfrm>
              <a:off x="2086" y="3010"/>
              <a:ext cx="2070" cy="0"/>
            </a:xfrm>
            <a:prstGeom prst="line">
              <a:avLst/>
            </a:prstGeom>
            <a:noFill/>
            <a:ln w="9525">
              <a:solidFill>
                <a:schemeClr val="tx1"/>
              </a:solidFill>
              <a:round/>
              <a:headEnd/>
              <a:tailEnd type="triangle" w="med" len="med"/>
            </a:ln>
          </p:spPr>
          <p:txBody>
            <a:bodyPr/>
            <a:lstStyle/>
            <a:p>
              <a:endParaRPr lang="zh-CN" altLang="en-US"/>
            </a:p>
          </p:txBody>
        </p:sp>
        <p:sp>
          <p:nvSpPr>
            <p:cNvPr id="33858" name="Line 8"/>
            <p:cNvSpPr>
              <a:spLocks noChangeShapeType="1"/>
            </p:cNvSpPr>
            <p:nvPr/>
          </p:nvSpPr>
          <p:spPr bwMode="auto">
            <a:xfrm flipV="1">
              <a:off x="2425" y="2641"/>
              <a:ext cx="0" cy="737"/>
            </a:xfrm>
            <a:prstGeom prst="line">
              <a:avLst/>
            </a:prstGeom>
            <a:noFill/>
            <a:ln w="9525">
              <a:solidFill>
                <a:schemeClr val="tx1"/>
              </a:solidFill>
              <a:round/>
              <a:headEnd/>
              <a:tailEnd type="triangle" w="med" len="med"/>
            </a:ln>
          </p:spPr>
          <p:txBody>
            <a:bodyPr/>
            <a:lstStyle/>
            <a:p>
              <a:endParaRPr lang="zh-CN" altLang="en-US"/>
            </a:p>
          </p:txBody>
        </p:sp>
        <p:grpSp>
          <p:nvGrpSpPr>
            <p:cNvPr id="33859" name="Group 9"/>
            <p:cNvGrpSpPr>
              <a:grpSpLocks/>
            </p:cNvGrpSpPr>
            <p:nvPr/>
          </p:nvGrpSpPr>
          <p:grpSpPr bwMode="auto">
            <a:xfrm>
              <a:off x="2145" y="2755"/>
              <a:ext cx="1674" cy="482"/>
              <a:chOff x="2992" y="458"/>
              <a:chExt cx="1928" cy="482"/>
            </a:xfrm>
          </p:grpSpPr>
          <p:sp>
            <p:nvSpPr>
              <p:cNvPr id="33866" name="Freeform 10"/>
              <p:cNvSpPr>
                <a:spLocks/>
              </p:cNvSpPr>
              <p:nvPr/>
            </p:nvSpPr>
            <p:spPr bwMode="auto">
              <a:xfrm>
                <a:off x="3956" y="458"/>
                <a:ext cx="964" cy="482"/>
              </a:xfrm>
              <a:custGeom>
                <a:avLst/>
                <a:gdLst>
                  <a:gd name="T0" fmla="*/ 0 w 2154"/>
                  <a:gd name="T1" fmla="*/ 0 h 1078"/>
                  <a:gd name="T2" fmla="*/ 0 w 2154"/>
                  <a:gd name="T3" fmla="*/ 0 h 1078"/>
                  <a:gd name="T4" fmla="*/ 0 w 2154"/>
                  <a:gd name="T5" fmla="*/ 0 h 1078"/>
                  <a:gd name="T6" fmla="*/ 0 w 2154"/>
                  <a:gd name="T7" fmla="*/ 0 h 1078"/>
                  <a:gd name="T8" fmla="*/ 0 w 2154"/>
                  <a:gd name="T9" fmla="*/ 0 h 1078"/>
                  <a:gd name="T10" fmla="*/ 0 60000 65536"/>
                  <a:gd name="T11" fmla="*/ 0 60000 65536"/>
                  <a:gd name="T12" fmla="*/ 0 60000 65536"/>
                  <a:gd name="T13" fmla="*/ 0 60000 65536"/>
                  <a:gd name="T14" fmla="*/ 0 60000 65536"/>
                  <a:gd name="T15" fmla="*/ 0 w 2154"/>
                  <a:gd name="T16" fmla="*/ 0 h 1078"/>
                  <a:gd name="T17" fmla="*/ 2154 w 2154"/>
                  <a:gd name="T18" fmla="*/ 1078 h 1078"/>
                </a:gdLst>
                <a:ahLst/>
                <a:cxnLst>
                  <a:cxn ang="T10">
                    <a:pos x="T0" y="T1"/>
                  </a:cxn>
                  <a:cxn ang="T11">
                    <a:pos x="T2" y="T3"/>
                  </a:cxn>
                  <a:cxn ang="T12">
                    <a:pos x="T4" y="T5"/>
                  </a:cxn>
                  <a:cxn ang="T13">
                    <a:pos x="T6" y="T7"/>
                  </a:cxn>
                  <a:cxn ang="T14">
                    <a:pos x="T8" y="T9"/>
                  </a:cxn>
                </a:cxnLst>
                <a:rect l="T15" t="T16" r="T17" b="T18"/>
                <a:pathLst>
                  <a:path w="2154" h="1078">
                    <a:moveTo>
                      <a:pt x="0" y="539"/>
                    </a:moveTo>
                    <a:cubicBezTo>
                      <a:pt x="179" y="269"/>
                      <a:pt x="359" y="0"/>
                      <a:pt x="538" y="0"/>
                    </a:cubicBezTo>
                    <a:cubicBezTo>
                      <a:pt x="717" y="0"/>
                      <a:pt x="935" y="352"/>
                      <a:pt x="1077" y="539"/>
                    </a:cubicBezTo>
                    <a:cubicBezTo>
                      <a:pt x="1219" y="726"/>
                      <a:pt x="1437" y="1078"/>
                      <a:pt x="1616" y="1078"/>
                    </a:cubicBezTo>
                    <a:cubicBezTo>
                      <a:pt x="1795" y="1078"/>
                      <a:pt x="1974" y="808"/>
                      <a:pt x="2154" y="539"/>
                    </a:cubicBezTo>
                  </a:path>
                </a:pathLst>
              </a:custGeom>
              <a:noFill/>
              <a:ln w="19050">
                <a:solidFill>
                  <a:srgbClr val="0000FF"/>
                </a:solidFill>
                <a:round/>
                <a:headEnd/>
                <a:tailEnd/>
              </a:ln>
            </p:spPr>
            <p:txBody>
              <a:bodyPr/>
              <a:lstStyle/>
              <a:p>
                <a:endParaRPr lang="zh-CN" altLang="en-US"/>
              </a:p>
            </p:txBody>
          </p:sp>
          <p:sp>
            <p:nvSpPr>
              <p:cNvPr id="33867" name="Freeform 11"/>
              <p:cNvSpPr>
                <a:spLocks/>
              </p:cNvSpPr>
              <p:nvPr/>
            </p:nvSpPr>
            <p:spPr bwMode="auto">
              <a:xfrm>
                <a:off x="2992" y="458"/>
                <a:ext cx="964" cy="482"/>
              </a:xfrm>
              <a:custGeom>
                <a:avLst/>
                <a:gdLst>
                  <a:gd name="T0" fmla="*/ 0 w 2154"/>
                  <a:gd name="T1" fmla="*/ 0 h 1078"/>
                  <a:gd name="T2" fmla="*/ 0 w 2154"/>
                  <a:gd name="T3" fmla="*/ 0 h 1078"/>
                  <a:gd name="T4" fmla="*/ 0 w 2154"/>
                  <a:gd name="T5" fmla="*/ 0 h 1078"/>
                  <a:gd name="T6" fmla="*/ 0 w 2154"/>
                  <a:gd name="T7" fmla="*/ 0 h 1078"/>
                  <a:gd name="T8" fmla="*/ 0 w 2154"/>
                  <a:gd name="T9" fmla="*/ 0 h 1078"/>
                  <a:gd name="T10" fmla="*/ 0 60000 65536"/>
                  <a:gd name="T11" fmla="*/ 0 60000 65536"/>
                  <a:gd name="T12" fmla="*/ 0 60000 65536"/>
                  <a:gd name="T13" fmla="*/ 0 60000 65536"/>
                  <a:gd name="T14" fmla="*/ 0 60000 65536"/>
                  <a:gd name="T15" fmla="*/ 0 w 2154"/>
                  <a:gd name="T16" fmla="*/ 0 h 1078"/>
                  <a:gd name="T17" fmla="*/ 2154 w 2154"/>
                  <a:gd name="T18" fmla="*/ 1078 h 1078"/>
                </a:gdLst>
                <a:ahLst/>
                <a:cxnLst>
                  <a:cxn ang="T10">
                    <a:pos x="T0" y="T1"/>
                  </a:cxn>
                  <a:cxn ang="T11">
                    <a:pos x="T2" y="T3"/>
                  </a:cxn>
                  <a:cxn ang="T12">
                    <a:pos x="T4" y="T5"/>
                  </a:cxn>
                  <a:cxn ang="T13">
                    <a:pos x="T6" y="T7"/>
                  </a:cxn>
                  <a:cxn ang="T14">
                    <a:pos x="T8" y="T9"/>
                  </a:cxn>
                </a:cxnLst>
                <a:rect l="T15" t="T16" r="T17" b="T18"/>
                <a:pathLst>
                  <a:path w="2154" h="1078">
                    <a:moveTo>
                      <a:pt x="0" y="539"/>
                    </a:moveTo>
                    <a:cubicBezTo>
                      <a:pt x="179" y="269"/>
                      <a:pt x="359" y="0"/>
                      <a:pt x="538" y="0"/>
                    </a:cubicBezTo>
                    <a:cubicBezTo>
                      <a:pt x="717" y="0"/>
                      <a:pt x="935" y="352"/>
                      <a:pt x="1077" y="539"/>
                    </a:cubicBezTo>
                    <a:cubicBezTo>
                      <a:pt x="1219" y="726"/>
                      <a:pt x="1437" y="1078"/>
                      <a:pt x="1616" y="1078"/>
                    </a:cubicBezTo>
                    <a:cubicBezTo>
                      <a:pt x="1795" y="1078"/>
                      <a:pt x="1974" y="808"/>
                      <a:pt x="2154" y="539"/>
                    </a:cubicBezTo>
                  </a:path>
                </a:pathLst>
              </a:custGeom>
              <a:noFill/>
              <a:ln w="19050">
                <a:solidFill>
                  <a:srgbClr val="0000FF"/>
                </a:solidFill>
                <a:round/>
                <a:headEnd/>
                <a:tailEnd/>
              </a:ln>
            </p:spPr>
            <p:txBody>
              <a:bodyPr/>
              <a:lstStyle/>
              <a:p>
                <a:endParaRPr lang="zh-CN" altLang="en-US"/>
              </a:p>
            </p:txBody>
          </p:sp>
        </p:grpSp>
        <p:sp>
          <p:nvSpPr>
            <p:cNvPr id="33860" name="Text Box 12"/>
            <p:cNvSpPr txBox="1">
              <a:spLocks noChangeArrowheads="1"/>
            </p:cNvSpPr>
            <p:nvPr/>
          </p:nvSpPr>
          <p:spPr bwMode="auto">
            <a:xfrm>
              <a:off x="4127" y="2954"/>
              <a:ext cx="177" cy="271"/>
            </a:xfrm>
            <a:prstGeom prst="rect">
              <a:avLst/>
            </a:prstGeom>
            <a:noFill/>
            <a:ln w="9525">
              <a:noFill/>
              <a:miter lim="800000"/>
              <a:headEnd/>
              <a:tailEnd/>
            </a:ln>
          </p:spPr>
          <p:txBody>
            <a:bodyPr wrap="none">
              <a:spAutoFit/>
            </a:bodyPr>
            <a:lstStyle/>
            <a:p>
              <a:r>
                <a:rPr kumimoji="0" lang="en-US" altLang="zh-CN" sz="1500" b="1" i="1"/>
                <a:t>x</a:t>
              </a:r>
            </a:p>
          </p:txBody>
        </p:sp>
        <p:sp>
          <p:nvSpPr>
            <p:cNvPr id="33861" name="Text Box 13"/>
            <p:cNvSpPr txBox="1">
              <a:spLocks noChangeArrowheads="1"/>
            </p:cNvSpPr>
            <p:nvPr/>
          </p:nvSpPr>
          <p:spPr bwMode="auto">
            <a:xfrm>
              <a:off x="2227" y="2957"/>
              <a:ext cx="177" cy="271"/>
            </a:xfrm>
            <a:prstGeom prst="rect">
              <a:avLst/>
            </a:prstGeom>
            <a:noFill/>
            <a:ln w="9525">
              <a:noFill/>
              <a:miter lim="800000"/>
              <a:headEnd/>
              <a:tailEnd/>
            </a:ln>
          </p:spPr>
          <p:txBody>
            <a:bodyPr wrap="none">
              <a:spAutoFit/>
            </a:bodyPr>
            <a:lstStyle/>
            <a:p>
              <a:r>
                <a:rPr kumimoji="0" lang="en-US" altLang="zh-CN" sz="1500" b="1" i="1"/>
                <a:t>0</a:t>
              </a:r>
            </a:p>
          </p:txBody>
        </p:sp>
        <p:sp>
          <p:nvSpPr>
            <p:cNvPr id="33862" name="Text Box 14"/>
            <p:cNvSpPr txBox="1">
              <a:spLocks noChangeArrowheads="1"/>
            </p:cNvSpPr>
            <p:nvPr/>
          </p:nvSpPr>
          <p:spPr bwMode="auto">
            <a:xfrm>
              <a:off x="2253" y="2443"/>
              <a:ext cx="170" cy="271"/>
            </a:xfrm>
            <a:prstGeom prst="rect">
              <a:avLst/>
            </a:prstGeom>
            <a:noFill/>
            <a:ln w="9525">
              <a:noFill/>
              <a:miter lim="800000"/>
              <a:headEnd/>
              <a:tailEnd/>
            </a:ln>
          </p:spPr>
          <p:txBody>
            <a:bodyPr wrap="none">
              <a:spAutoFit/>
            </a:bodyPr>
            <a:lstStyle/>
            <a:p>
              <a:r>
                <a:rPr kumimoji="0" lang="en-US" altLang="zh-CN" sz="1500" b="1" i="1"/>
                <a:t>y</a:t>
              </a:r>
            </a:p>
          </p:txBody>
        </p:sp>
        <p:sp>
          <p:nvSpPr>
            <p:cNvPr id="33863" name="Oval 15"/>
            <p:cNvSpPr>
              <a:spLocks noChangeArrowheads="1"/>
            </p:cNvSpPr>
            <p:nvPr/>
          </p:nvSpPr>
          <p:spPr bwMode="auto">
            <a:xfrm>
              <a:off x="3588" y="3209"/>
              <a:ext cx="56" cy="56"/>
            </a:xfrm>
            <a:prstGeom prst="ellipse">
              <a:avLst/>
            </a:prstGeom>
            <a:solidFill>
              <a:schemeClr val="accent1"/>
            </a:solidFill>
            <a:ln w="9525">
              <a:solidFill>
                <a:schemeClr val="tx1"/>
              </a:solidFill>
              <a:round/>
              <a:headEnd/>
              <a:tailEnd/>
            </a:ln>
          </p:spPr>
          <p:txBody>
            <a:bodyPr wrap="none" anchor="ctr"/>
            <a:lstStyle/>
            <a:p>
              <a:endParaRPr kumimoji="0" lang="zh-CN" altLang="zh-CN" sz="1800"/>
            </a:p>
          </p:txBody>
        </p:sp>
        <p:sp>
          <p:nvSpPr>
            <p:cNvPr id="33864" name="Oval 16"/>
            <p:cNvSpPr>
              <a:spLocks noChangeArrowheads="1"/>
            </p:cNvSpPr>
            <p:nvPr/>
          </p:nvSpPr>
          <p:spPr bwMode="auto">
            <a:xfrm>
              <a:off x="2738" y="3209"/>
              <a:ext cx="56" cy="56"/>
            </a:xfrm>
            <a:prstGeom prst="ellipse">
              <a:avLst/>
            </a:prstGeom>
            <a:solidFill>
              <a:schemeClr val="accent1"/>
            </a:solidFill>
            <a:ln w="9525">
              <a:solidFill>
                <a:schemeClr val="tx1"/>
              </a:solidFill>
              <a:round/>
              <a:headEnd/>
              <a:tailEnd/>
            </a:ln>
          </p:spPr>
          <p:txBody>
            <a:bodyPr wrap="none" anchor="ctr"/>
            <a:lstStyle/>
            <a:p>
              <a:endParaRPr kumimoji="0" lang="zh-CN" altLang="zh-CN" sz="1800"/>
            </a:p>
          </p:txBody>
        </p:sp>
        <p:sp>
          <p:nvSpPr>
            <p:cNvPr id="33865" name="Line 17"/>
            <p:cNvSpPr>
              <a:spLocks noChangeShapeType="1"/>
            </p:cNvSpPr>
            <p:nvPr/>
          </p:nvSpPr>
          <p:spPr bwMode="auto">
            <a:xfrm>
              <a:off x="1179" y="2812"/>
              <a:ext cx="1232" cy="0"/>
            </a:xfrm>
            <a:prstGeom prst="line">
              <a:avLst/>
            </a:prstGeom>
            <a:noFill/>
            <a:ln w="19050">
              <a:solidFill>
                <a:srgbClr val="FF0000"/>
              </a:solidFill>
              <a:round/>
              <a:headEnd/>
              <a:tailEnd type="triangle" w="med" len="med"/>
            </a:ln>
          </p:spPr>
          <p:txBody>
            <a:bodyPr wrap="none" anchor="ctr"/>
            <a:lstStyle/>
            <a:p>
              <a:endParaRPr lang="zh-CN" altLang="en-US"/>
            </a:p>
          </p:txBody>
        </p:sp>
        <p:graphicFrame>
          <p:nvGraphicFramePr>
            <p:cNvPr id="33837" name="Object 45"/>
            <p:cNvGraphicFramePr>
              <a:graphicFrameLocks noChangeAspect="1"/>
            </p:cNvGraphicFramePr>
            <p:nvPr/>
          </p:nvGraphicFramePr>
          <p:xfrm>
            <a:off x="904" y="2581"/>
            <a:ext cx="1360" cy="245"/>
          </p:xfrm>
          <a:graphic>
            <a:graphicData uri="http://schemas.openxmlformats.org/presentationml/2006/ole">
              <p:oleObj spid="_x0000_s33837" name="公式" r:id="rId3" imgW="1422400" imgH="228600" progId="Equation.3">
                <p:embed/>
              </p:oleObj>
            </a:graphicData>
          </a:graphic>
        </p:graphicFrame>
      </p:grpSp>
      <p:sp>
        <p:nvSpPr>
          <p:cNvPr id="18" name="Text Box 20"/>
          <p:cNvSpPr txBox="1">
            <a:spLocks noChangeArrowheads="1"/>
          </p:cNvSpPr>
          <p:nvPr/>
        </p:nvSpPr>
        <p:spPr bwMode="auto">
          <a:xfrm>
            <a:off x="3898900" y="1889125"/>
            <a:ext cx="2760663" cy="322263"/>
          </a:xfrm>
          <a:prstGeom prst="rect">
            <a:avLst/>
          </a:prstGeom>
          <a:noFill/>
          <a:ln w="9525">
            <a:noFill/>
            <a:miter lim="800000"/>
            <a:headEnd/>
            <a:tailEnd/>
          </a:ln>
        </p:spPr>
        <p:txBody>
          <a:bodyPr>
            <a:spAutoFit/>
          </a:bodyPr>
          <a:lstStyle/>
          <a:p>
            <a:pPr algn="ctr" eaLnBrk="0" hangingPunct="0"/>
            <a:r>
              <a:rPr kumimoji="0" lang="en-US" altLang="zh-CN" sz="1500" b="1" i="1">
                <a:ea typeface="华文中宋"/>
                <a:cs typeface="华文中宋"/>
              </a:rPr>
              <a:t>t</a:t>
            </a:r>
            <a:r>
              <a:rPr kumimoji="0" lang="en-US" altLang="zh-CN" sz="1500" b="1">
                <a:ea typeface="华文中宋"/>
                <a:cs typeface="华文中宋"/>
              </a:rPr>
              <a:t>=</a:t>
            </a:r>
            <a:r>
              <a:rPr kumimoji="0" lang="en-US" altLang="zh-CN" sz="1500" b="1" i="1">
                <a:ea typeface="华文中宋"/>
                <a:cs typeface="华文中宋"/>
              </a:rPr>
              <a:t>t</a:t>
            </a:r>
            <a:r>
              <a:rPr kumimoji="0" lang="en-US" altLang="zh-CN" sz="1500" b="1" baseline="-25000">
                <a:ea typeface="华文中宋"/>
                <a:cs typeface="华文中宋"/>
              </a:rPr>
              <a:t>0</a:t>
            </a:r>
            <a:r>
              <a:rPr lang="zh-CN" altLang="en-US" sz="1500" b="1">
                <a:ea typeface="华文中宋"/>
                <a:cs typeface="华文中宋"/>
              </a:rPr>
              <a:t>时刻</a:t>
            </a:r>
            <a:r>
              <a:rPr kumimoji="0" lang="zh-CN" altLang="en-US" sz="1500" b="1">
                <a:solidFill>
                  <a:srgbClr val="FF0000"/>
                </a:solidFill>
                <a:ea typeface="华文中宋"/>
                <a:cs typeface="华文中宋"/>
              </a:rPr>
              <a:t>波形</a:t>
            </a:r>
            <a:r>
              <a:rPr lang="zh-CN" altLang="en-US" sz="1500" b="1">
                <a:solidFill>
                  <a:srgbClr val="FF0000"/>
                </a:solidFill>
                <a:ea typeface="华文中宋"/>
                <a:cs typeface="华文中宋"/>
              </a:rPr>
              <a:t>曲线</a:t>
            </a:r>
          </a:p>
        </p:txBody>
      </p:sp>
      <p:sp>
        <p:nvSpPr>
          <p:cNvPr id="19" name="Text Box 25"/>
          <p:cNvSpPr txBox="1">
            <a:spLocks noChangeArrowheads="1"/>
          </p:cNvSpPr>
          <p:nvPr/>
        </p:nvSpPr>
        <p:spPr bwMode="auto">
          <a:xfrm>
            <a:off x="760413" y="2247900"/>
            <a:ext cx="5875337" cy="368300"/>
          </a:xfrm>
          <a:prstGeom prst="rect">
            <a:avLst/>
          </a:prstGeom>
          <a:noFill/>
          <a:ln w="9525">
            <a:noFill/>
            <a:miter lim="800000"/>
            <a:headEnd/>
            <a:tailEnd/>
          </a:ln>
        </p:spPr>
        <p:txBody>
          <a:bodyPr>
            <a:spAutoFit/>
          </a:bodyPr>
          <a:lstStyle/>
          <a:p>
            <a:pPr eaLnBrk="0" hangingPunct="0"/>
            <a:r>
              <a:rPr kumimoji="0" lang="zh-CN" altLang="en-US" sz="1800" b="1">
                <a:ea typeface="华文中宋"/>
                <a:cs typeface="华文中宋"/>
              </a:rPr>
              <a:t>在 </a:t>
            </a:r>
            <a:r>
              <a:rPr kumimoji="0" lang="en-US" altLang="zh-CN" sz="1800" b="1" i="1">
                <a:ea typeface="华文中宋"/>
                <a:cs typeface="华文中宋"/>
              </a:rPr>
              <a:t>t</a:t>
            </a:r>
            <a:r>
              <a:rPr kumimoji="0" lang="en-US" altLang="zh-CN" sz="1800" b="1" baseline="-25000">
                <a:ea typeface="华文中宋"/>
                <a:cs typeface="华文中宋"/>
              </a:rPr>
              <a:t>0 </a:t>
            </a:r>
            <a:r>
              <a:rPr kumimoji="0" lang="zh-CN" altLang="en-US" sz="1800" b="1">
                <a:ea typeface="华文中宋"/>
                <a:cs typeface="华文中宋"/>
              </a:rPr>
              <a:t>时刻，同一波线上两点的振动位相差  </a:t>
            </a:r>
          </a:p>
        </p:txBody>
      </p:sp>
      <p:grpSp>
        <p:nvGrpSpPr>
          <p:cNvPr id="4" name="Group 26"/>
          <p:cNvGrpSpPr>
            <a:grpSpLocks/>
          </p:cNvGrpSpPr>
          <p:nvPr/>
        </p:nvGrpSpPr>
        <p:grpSpPr bwMode="auto">
          <a:xfrm>
            <a:off x="2022475" y="2755900"/>
            <a:ext cx="4605338" cy="425450"/>
            <a:chOff x="867" y="572"/>
            <a:chExt cx="2901" cy="357"/>
          </a:xfrm>
        </p:grpSpPr>
        <p:sp>
          <p:nvSpPr>
            <p:cNvPr id="33847" name="Oval 27"/>
            <p:cNvSpPr>
              <a:spLocks noChangeArrowheads="1"/>
            </p:cNvSpPr>
            <p:nvPr/>
          </p:nvSpPr>
          <p:spPr bwMode="auto">
            <a:xfrm>
              <a:off x="947" y="608"/>
              <a:ext cx="56" cy="56"/>
            </a:xfrm>
            <a:prstGeom prst="ellipse">
              <a:avLst/>
            </a:prstGeom>
            <a:solidFill>
              <a:srgbClr val="FF0000"/>
            </a:solidFill>
            <a:ln w="9525">
              <a:noFill/>
              <a:round/>
              <a:headEnd/>
              <a:tailEnd/>
            </a:ln>
          </p:spPr>
          <p:txBody>
            <a:bodyPr wrap="none" anchor="ctr"/>
            <a:lstStyle/>
            <a:p>
              <a:endParaRPr kumimoji="0" lang="zh-CN" altLang="zh-CN" sz="1800" b="1"/>
            </a:p>
          </p:txBody>
        </p:sp>
        <p:sp>
          <p:nvSpPr>
            <p:cNvPr id="33848" name="Line 28"/>
            <p:cNvSpPr>
              <a:spLocks noChangeShapeType="1"/>
            </p:cNvSpPr>
            <p:nvPr/>
          </p:nvSpPr>
          <p:spPr bwMode="auto">
            <a:xfrm>
              <a:off x="952" y="629"/>
              <a:ext cx="2816" cy="0"/>
            </a:xfrm>
            <a:prstGeom prst="line">
              <a:avLst/>
            </a:prstGeom>
            <a:noFill/>
            <a:ln w="19050">
              <a:solidFill>
                <a:srgbClr val="FF66FF"/>
              </a:solidFill>
              <a:round/>
              <a:headEnd/>
              <a:tailEnd type="triangle" w="med" len="med"/>
            </a:ln>
          </p:spPr>
          <p:txBody>
            <a:bodyPr wrap="none" anchor="ctr"/>
            <a:lstStyle/>
            <a:p>
              <a:endParaRPr lang="zh-CN" altLang="en-US"/>
            </a:p>
          </p:txBody>
        </p:sp>
        <p:sp>
          <p:nvSpPr>
            <p:cNvPr id="33849" name="Line 29"/>
            <p:cNvSpPr>
              <a:spLocks noChangeShapeType="1"/>
            </p:cNvSpPr>
            <p:nvPr/>
          </p:nvSpPr>
          <p:spPr bwMode="auto">
            <a:xfrm>
              <a:off x="1633" y="572"/>
              <a:ext cx="0" cy="120"/>
            </a:xfrm>
            <a:prstGeom prst="line">
              <a:avLst/>
            </a:prstGeom>
            <a:noFill/>
            <a:ln w="19050">
              <a:solidFill>
                <a:schemeClr val="accent2"/>
              </a:solidFill>
              <a:round/>
              <a:headEnd/>
              <a:tailEnd/>
            </a:ln>
          </p:spPr>
          <p:txBody>
            <a:bodyPr wrap="none" anchor="ctr"/>
            <a:lstStyle/>
            <a:p>
              <a:endParaRPr lang="zh-CN" altLang="en-US"/>
            </a:p>
          </p:txBody>
        </p:sp>
        <p:sp>
          <p:nvSpPr>
            <p:cNvPr id="33850" name="Line 30"/>
            <p:cNvSpPr>
              <a:spLocks noChangeShapeType="1"/>
            </p:cNvSpPr>
            <p:nvPr/>
          </p:nvSpPr>
          <p:spPr bwMode="auto">
            <a:xfrm>
              <a:off x="3022" y="572"/>
              <a:ext cx="0" cy="120"/>
            </a:xfrm>
            <a:prstGeom prst="line">
              <a:avLst/>
            </a:prstGeom>
            <a:noFill/>
            <a:ln w="19050">
              <a:solidFill>
                <a:schemeClr val="accent2"/>
              </a:solidFill>
              <a:round/>
              <a:headEnd/>
              <a:tailEnd/>
            </a:ln>
          </p:spPr>
          <p:txBody>
            <a:bodyPr wrap="none" anchor="ctr"/>
            <a:lstStyle/>
            <a:p>
              <a:endParaRPr lang="zh-CN" altLang="en-US"/>
            </a:p>
          </p:txBody>
        </p:sp>
        <p:sp>
          <p:nvSpPr>
            <p:cNvPr id="33851" name="Rectangle 31"/>
            <p:cNvSpPr>
              <a:spLocks noChangeArrowheads="1"/>
            </p:cNvSpPr>
            <p:nvPr/>
          </p:nvSpPr>
          <p:spPr bwMode="auto">
            <a:xfrm>
              <a:off x="3571" y="598"/>
              <a:ext cx="189" cy="310"/>
            </a:xfrm>
            <a:prstGeom prst="rect">
              <a:avLst/>
            </a:prstGeom>
            <a:noFill/>
            <a:ln w="9525">
              <a:noFill/>
              <a:miter lim="800000"/>
              <a:headEnd/>
              <a:tailEnd/>
            </a:ln>
            <a:effectLst>
              <a:prstShdw prst="shdw17" dist="17961" dir="2700000">
                <a:srgbClr val="993D00"/>
              </a:prstShdw>
            </a:effectLst>
          </p:spPr>
          <p:txBody>
            <a:bodyPr wrap="none">
              <a:spAutoFit/>
            </a:bodyPr>
            <a:lstStyle/>
            <a:p>
              <a:pPr eaLnBrk="0" hangingPunct="0"/>
              <a:r>
                <a:rPr kumimoji="0" lang="en-US" altLang="zh-CN" sz="1800" b="1" i="1"/>
                <a:t>x</a:t>
              </a:r>
            </a:p>
          </p:txBody>
        </p:sp>
        <p:sp>
          <p:nvSpPr>
            <p:cNvPr id="33852" name="Rectangle 32"/>
            <p:cNvSpPr>
              <a:spLocks noChangeArrowheads="1"/>
            </p:cNvSpPr>
            <p:nvPr/>
          </p:nvSpPr>
          <p:spPr bwMode="auto">
            <a:xfrm>
              <a:off x="867" y="601"/>
              <a:ext cx="221" cy="310"/>
            </a:xfrm>
            <a:prstGeom prst="rect">
              <a:avLst/>
            </a:prstGeom>
            <a:noFill/>
            <a:ln w="9525">
              <a:noFill/>
              <a:miter lim="800000"/>
              <a:headEnd/>
              <a:tailEnd/>
            </a:ln>
            <a:effectLst>
              <a:prstShdw prst="shdw17" dist="17961" dir="2700000">
                <a:srgbClr val="993D00"/>
              </a:prstShdw>
            </a:effectLst>
          </p:spPr>
          <p:txBody>
            <a:bodyPr wrap="none">
              <a:spAutoFit/>
            </a:bodyPr>
            <a:lstStyle/>
            <a:p>
              <a:pPr eaLnBrk="0" hangingPunct="0"/>
              <a:r>
                <a:rPr kumimoji="0" lang="en-US" altLang="zh-CN" sz="1800" b="1" i="1"/>
                <a:t>O</a:t>
              </a:r>
            </a:p>
          </p:txBody>
        </p:sp>
        <p:sp>
          <p:nvSpPr>
            <p:cNvPr id="33853" name="Rectangle 33"/>
            <p:cNvSpPr>
              <a:spLocks noChangeArrowheads="1"/>
            </p:cNvSpPr>
            <p:nvPr/>
          </p:nvSpPr>
          <p:spPr bwMode="auto">
            <a:xfrm>
              <a:off x="2919" y="619"/>
              <a:ext cx="237" cy="310"/>
            </a:xfrm>
            <a:prstGeom prst="rect">
              <a:avLst/>
            </a:prstGeom>
            <a:noFill/>
            <a:ln w="9525">
              <a:noFill/>
              <a:miter lim="800000"/>
              <a:headEnd/>
              <a:tailEnd/>
            </a:ln>
            <a:effectLst>
              <a:prstShdw prst="shdw17" dist="17961" dir="2700000">
                <a:srgbClr val="993D00"/>
              </a:prstShdw>
            </a:effectLst>
          </p:spPr>
          <p:txBody>
            <a:bodyPr wrap="none">
              <a:spAutoFit/>
            </a:bodyPr>
            <a:lstStyle/>
            <a:p>
              <a:pPr eaLnBrk="0" hangingPunct="0"/>
              <a:r>
                <a:rPr kumimoji="0" lang="en-US" altLang="zh-CN" sz="1800" b="1" i="1"/>
                <a:t>x</a:t>
              </a:r>
              <a:r>
                <a:rPr kumimoji="0" lang="en-US" altLang="zh-CN" sz="1800" b="1" baseline="-25000"/>
                <a:t>2</a:t>
              </a:r>
              <a:endParaRPr kumimoji="0" lang="en-US" altLang="zh-CN" sz="1800" b="1"/>
            </a:p>
          </p:txBody>
        </p:sp>
        <p:sp>
          <p:nvSpPr>
            <p:cNvPr id="33854" name="Rectangle 34"/>
            <p:cNvSpPr>
              <a:spLocks noChangeArrowheads="1"/>
            </p:cNvSpPr>
            <p:nvPr/>
          </p:nvSpPr>
          <p:spPr bwMode="auto">
            <a:xfrm>
              <a:off x="1519" y="614"/>
              <a:ext cx="237" cy="310"/>
            </a:xfrm>
            <a:prstGeom prst="rect">
              <a:avLst/>
            </a:prstGeom>
            <a:noFill/>
            <a:ln w="9525">
              <a:noFill/>
              <a:miter lim="800000"/>
              <a:headEnd/>
              <a:tailEnd/>
            </a:ln>
            <a:effectLst>
              <a:prstShdw prst="shdw17" dist="17961" dir="2700000">
                <a:srgbClr val="993D00"/>
              </a:prstShdw>
            </a:effectLst>
          </p:spPr>
          <p:txBody>
            <a:bodyPr wrap="none">
              <a:spAutoFit/>
            </a:bodyPr>
            <a:lstStyle/>
            <a:p>
              <a:pPr eaLnBrk="0" hangingPunct="0"/>
              <a:r>
                <a:rPr kumimoji="0" lang="en-US" altLang="zh-CN" sz="1800" b="1" i="1"/>
                <a:t>x</a:t>
              </a:r>
              <a:r>
                <a:rPr kumimoji="0" lang="en-US" altLang="zh-CN" sz="1800" b="1" baseline="-25000"/>
                <a:t>1</a:t>
              </a:r>
              <a:endParaRPr kumimoji="0" lang="en-US" altLang="zh-CN" sz="1800" b="1"/>
            </a:p>
          </p:txBody>
        </p:sp>
      </p:grpSp>
      <p:graphicFrame>
        <p:nvGraphicFramePr>
          <p:cNvPr id="29" name="Object 46"/>
          <p:cNvGraphicFramePr>
            <a:graphicFrameLocks noChangeAspect="1"/>
          </p:cNvGraphicFramePr>
          <p:nvPr/>
        </p:nvGraphicFramePr>
        <p:xfrm>
          <a:off x="2462213" y="3084513"/>
          <a:ext cx="1411287" cy="460375"/>
        </p:xfrm>
        <a:graphic>
          <a:graphicData uri="http://schemas.openxmlformats.org/presentationml/2006/ole">
            <p:oleObj spid="_x0000_s33838" name="Equation" r:id="rId4" imgW="952087" imgH="393529" progId="Equation.DSMT4">
              <p:embed/>
            </p:oleObj>
          </a:graphicData>
        </a:graphic>
      </p:graphicFrame>
      <p:graphicFrame>
        <p:nvGraphicFramePr>
          <p:cNvPr id="30" name="Object 47"/>
          <p:cNvGraphicFramePr>
            <a:graphicFrameLocks noChangeAspect="1"/>
          </p:cNvGraphicFramePr>
          <p:nvPr/>
        </p:nvGraphicFramePr>
        <p:xfrm>
          <a:off x="4770438" y="3103563"/>
          <a:ext cx="1404937" cy="454025"/>
        </p:xfrm>
        <a:graphic>
          <a:graphicData uri="http://schemas.openxmlformats.org/presentationml/2006/ole">
            <p:oleObj spid="_x0000_s33839" name="Equation" r:id="rId5" imgW="965200" imgH="393700" progId="Equation.DSMT4">
              <p:embed/>
            </p:oleObj>
          </a:graphicData>
        </a:graphic>
      </p:graphicFrame>
      <p:graphicFrame>
        <p:nvGraphicFramePr>
          <p:cNvPr id="31" name="Object 48"/>
          <p:cNvGraphicFramePr>
            <a:graphicFrameLocks noChangeAspect="1"/>
          </p:cNvGraphicFramePr>
          <p:nvPr/>
        </p:nvGraphicFramePr>
        <p:xfrm>
          <a:off x="3249613" y="3651250"/>
          <a:ext cx="2114550" cy="525463"/>
        </p:xfrm>
        <a:graphic>
          <a:graphicData uri="http://schemas.openxmlformats.org/presentationml/2006/ole">
            <p:oleObj spid="_x0000_s33840" name="Equation" r:id="rId6" imgW="1180588" imgH="393529" progId="Equation.DSMT4">
              <p:embed/>
            </p:oleObj>
          </a:graphicData>
        </a:graphic>
      </p:graphicFrame>
      <p:sp>
        <p:nvSpPr>
          <p:cNvPr id="32" name="Text Box 3"/>
          <p:cNvSpPr txBox="1">
            <a:spLocks noChangeArrowheads="1"/>
          </p:cNvSpPr>
          <p:nvPr/>
        </p:nvSpPr>
        <p:spPr bwMode="auto">
          <a:xfrm>
            <a:off x="938213" y="4156075"/>
            <a:ext cx="2841625" cy="396875"/>
          </a:xfrm>
          <a:prstGeom prst="rect">
            <a:avLst/>
          </a:prstGeom>
          <a:noFill/>
          <a:ln w="9525">
            <a:noFill/>
            <a:miter lim="800000"/>
            <a:headEnd/>
            <a:tailEnd/>
          </a:ln>
        </p:spPr>
        <p:txBody>
          <a:bodyPr>
            <a:spAutoFit/>
          </a:bodyPr>
          <a:lstStyle/>
          <a:p>
            <a:pPr>
              <a:lnSpc>
                <a:spcPct val="110000"/>
              </a:lnSpc>
            </a:pPr>
            <a:r>
              <a:rPr lang="zh-CN" altLang="en-US" sz="1800" b="1">
                <a:ea typeface="华文中宋"/>
                <a:cs typeface="华文中宋"/>
              </a:rPr>
              <a:t>若      </a:t>
            </a:r>
            <a:r>
              <a:rPr lang="en-US" altLang="zh-CN" sz="1800" b="1" i="1">
                <a:ea typeface="华文中宋"/>
                <a:cs typeface="华文中宋"/>
              </a:rPr>
              <a:t>x</a:t>
            </a:r>
            <a:r>
              <a:rPr lang="en-US" altLang="zh-CN" sz="1800" b="1" baseline="-25000">
                <a:ea typeface="华文中宋"/>
                <a:cs typeface="华文中宋"/>
              </a:rPr>
              <a:t>2</a:t>
            </a:r>
            <a:r>
              <a:rPr lang="en-US" altLang="zh-CN" sz="1800" b="1">
                <a:ea typeface="华文中宋"/>
                <a:cs typeface="华文中宋"/>
              </a:rPr>
              <a:t>-</a:t>
            </a:r>
            <a:r>
              <a:rPr lang="en-US" altLang="zh-CN" sz="1800" b="1" i="1">
                <a:ea typeface="华文中宋"/>
                <a:cs typeface="华文中宋"/>
              </a:rPr>
              <a:t>x</a:t>
            </a:r>
            <a:r>
              <a:rPr lang="en-US" altLang="zh-CN" sz="1800" b="1" baseline="-25000">
                <a:ea typeface="华文中宋"/>
                <a:cs typeface="华文中宋"/>
              </a:rPr>
              <a:t>1</a:t>
            </a:r>
            <a:r>
              <a:rPr lang="en-US" altLang="zh-CN" sz="1800" b="1">
                <a:ea typeface="华文中宋"/>
                <a:cs typeface="华文中宋"/>
              </a:rPr>
              <a:t>=</a:t>
            </a:r>
            <a:r>
              <a:rPr lang="en-US" altLang="zh-CN" sz="1800" b="1" i="1">
                <a:ea typeface="华文中宋"/>
                <a:cs typeface="华文中宋"/>
              </a:rPr>
              <a:t>k</a:t>
            </a:r>
            <a:r>
              <a:rPr lang="en-US" altLang="zh-CN" sz="1800" b="1" i="1">
                <a:ea typeface="华文中宋"/>
                <a:cs typeface="华文中宋"/>
                <a:sym typeface="Symbol" pitchFamily="18" charset="2"/>
              </a:rPr>
              <a:t></a:t>
            </a:r>
            <a:r>
              <a:rPr lang="en-US" altLang="zh-CN" sz="1800" b="1">
                <a:ea typeface="华文中宋"/>
                <a:cs typeface="华文中宋"/>
              </a:rPr>
              <a:t>,      </a:t>
            </a:r>
            <a:r>
              <a:rPr lang="en-US" altLang="zh-CN" sz="1800" b="1">
                <a:ea typeface="华文中宋"/>
                <a:cs typeface="华文中宋"/>
                <a:sym typeface="Symbol" pitchFamily="18" charset="2"/>
              </a:rPr>
              <a:t>k=1,2,…</a:t>
            </a:r>
            <a:endParaRPr lang="en-US" altLang="zh-CN" sz="1800" b="1" u="sng">
              <a:solidFill>
                <a:srgbClr val="FF0000"/>
              </a:solidFill>
              <a:ea typeface="华文中宋"/>
              <a:cs typeface="华文中宋"/>
            </a:endParaRPr>
          </a:p>
        </p:txBody>
      </p:sp>
      <p:sp>
        <p:nvSpPr>
          <p:cNvPr id="33" name="Text Box 3"/>
          <p:cNvSpPr txBox="1">
            <a:spLocks noChangeArrowheads="1"/>
          </p:cNvSpPr>
          <p:nvPr/>
        </p:nvSpPr>
        <p:spPr bwMode="auto">
          <a:xfrm>
            <a:off x="3817938" y="4156075"/>
            <a:ext cx="4641850" cy="396875"/>
          </a:xfrm>
          <a:prstGeom prst="rect">
            <a:avLst/>
          </a:prstGeom>
          <a:noFill/>
          <a:ln w="9525">
            <a:noFill/>
            <a:miter lim="800000"/>
            <a:headEnd/>
            <a:tailEnd/>
          </a:ln>
        </p:spPr>
        <p:txBody>
          <a:bodyPr>
            <a:spAutoFit/>
          </a:bodyPr>
          <a:lstStyle/>
          <a:p>
            <a:pPr>
              <a:lnSpc>
                <a:spcPct val="110000"/>
              </a:lnSpc>
            </a:pPr>
            <a:r>
              <a:rPr lang="zh-CN" altLang="en-US" sz="1800" b="1">
                <a:ea typeface="华文中宋"/>
                <a:cs typeface="华文中宋"/>
              </a:rPr>
              <a:t>则    </a:t>
            </a:r>
            <a:r>
              <a:rPr lang="zh-CN" altLang="en-US" sz="1800" b="1" i="1">
                <a:ea typeface="华文中宋"/>
                <a:cs typeface="华文中宋"/>
                <a:sym typeface="Symbol" pitchFamily="18" charset="2"/>
              </a:rPr>
              <a:t></a:t>
            </a:r>
            <a:r>
              <a:rPr lang="zh-CN" altLang="en-US" sz="1800" b="1">
                <a:ea typeface="华文中宋"/>
                <a:cs typeface="华文中宋"/>
                <a:sym typeface="Symbol" pitchFamily="18" charset="2"/>
              </a:rPr>
              <a:t>＝</a:t>
            </a:r>
            <a:r>
              <a:rPr lang="en-US" altLang="zh-CN" sz="1800" b="1">
                <a:ea typeface="华文中宋"/>
                <a:cs typeface="华文中宋"/>
                <a:sym typeface="Symbol" pitchFamily="18" charset="2"/>
              </a:rPr>
              <a:t>2</a:t>
            </a:r>
            <a:r>
              <a:rPr lang="en-US" altLang="zh-CN" sz="1800" b="1" i="1">
                <a:ea typeface="华文中宋"/>
                <a:cs typeface="华文中宋"/>
                <a:sym typeface="Symbol" pitchFamily="18" charset="2"/>
              </a:rPr>
              <a:t>k</a:t>
            </a:r>
            <a:r>
              <a:rPr lang="en-US" altLang="zh-CN" sz="1800" b="1">
                <a:ea typeface="华文中宋"/>
                <a:cs typeface="华文中宋"/>
                <a:sym typeface="Symbol" pitchFamily="18" charset="2"/>
              </a:rPr>
              <a:t>, </a:t>
            </a:r>
            <a:r>
              <a:rPr lang="en-US" altLang="zh-CN" sz="1800" b="1">
                <a:ea typeface="华文中宋"/>
                <a:cs typeface="华文中宋"/>
              </a:rPr>
              <a:t>    </a:t>
            </a:r>
            <a:r>
              <a:rPr lang="en-US" altLang="zh-CN" sz="1800" b="1" i="1">
                <a:ea typeface="华文中宋"/>
                <a:cs typeface="华文中宋"/>
                <a:sym typeface="Symbol" pitchFamily="18" charset="2"/>
              </a:rPr>
              <a:t></a:t>
            </a:r>
            <a:r>
              <a:rPr lang="zh-CN" altLang="en-US" sz="1800" b="1">
                <a:ea typeface="华文中宋"/>
                <a:cs typeface="华文中宋"/>
              </a:rPr>
              <a:t>反映了波动的</a:t>
            </a:r>
            <a:r>
              <a:rPr lang="zh-CN" altLang="en-US" sz="1800" b="1" u="sng">
                <a:solidFill>
                  <a:srgbClr val="FF0000"/>
                </a:solidFill>
                <a:ea typeface="华文中宋"/>
                <a:cs typeface="华文中宋"/>
              </a:rPr>
              <a:t>空间周期性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left)">
                                      <p:cBhvr>
                                        <p:cTn id="13" dur="500"/>
                                        <p:tgtEl>
                                          <p:spTgt spid="1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left)">
                                      <p:cBhvr>
                                        <p:cTn id="18" dur="500"/>
                                        <p:tgtEl>
                                          <p:spTgt spid="1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500"/>
                                        <p:tgtEl>
                                          <p:spTgt spid="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left)">
                                      <p:cBhvr>
                                        <p:cTn id="28" dur="500"/>
                                        <p:tgtEl>
                                          <p:spTgt spid="2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wipe(left)">
                                      <p:cBhvr>
                                        <p:cTn id="33" dur="500"/>
                                        <p:tgtEl>
                                          <p:spTgt spid="3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wipe(left)">
                                      <p:cBhvr>
                                        <p:cTn id="38" dur="500"/>
                                        <p:tgtEl>
                                          <p:spTgt spid="3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2">
                                            <p:txEl>
                                              <p:pRg st="0" end="0"/>
                                            </p:txEl>
                                          </p:spTgt>
                                        </p:tgtEl>
                                        <p:attrNameLst>
                                          <p:attrName>style.visibility</p:attrName>
                                        </p:attrNameLst>
                                      </p:cBhvr>
                                      <p:to>
                                        <p:strVal val="visible"/>
                                      </p:to>
                                    </p:set>
                                    <p:animEffect transition="in" filter="wipe(left)">
                                      <p:cBhvr>
                                        <p:cTn id="43" dur="500"/>
                                        <p:tgtEl>
                                          <p:spTgt spid="32">
                                            <p:txEl>
                                              <p:pRg st="0" end="0"/>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3">
                                            <p:txEl>
                                              <p:pRg st="0" end="0"/>
                                            </p:txEl>
                                          </p:spTgt>
                                        </p:tgtEl>
                                        <p:attrNameLst>
                                          <p:attrName>style.visibility</p:attrName>
                                        </p:attrNameLst>
                                      </p:cBhvr>
                                      <p:to>
                                        <p:strVal val="visible"/>
                                      </p:to>
                                    </p:set>
                                    <p:animEffect transition="in" filter="wipe(left)">
                                      <p:cBhvr>
                                        <p:cTn id="48" dur="500"/>
                                        <p:tgtEl>
                                          <p:spTgt spid="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utoUpdateAnimBg="0"/>
      <p:bldP spid="19" grpId="0" autoUpdateAnimBg="0"/>
      <p:bldP spid="32" grpId="0" build="p"/>
      <p:bldP spid="3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1"/>
          <p:cNvSpPr txBox="1">
            <a:spLocks noChangeArrowheads="1"/>
          </p:cNvSpPr>
          <p:nvPr/>
        </p:nvSpPr>
        <p:spPr bwMode="auto">
          <a:xfrm>
            <a:off x="107950" y="842963"/>
            <a:ext cx="5400675" cy="369887"/>
          </a:xfrm>
          <a:prstGeom prst="rect">
            <a:avLst/>
          </a:prstGeom>
          <a:noFill/>
          <a:ln w="9525">
            <a:noFill/>
            <a:miter lim="800000"/>
            <a:headEnd/>
            <a:tailEnd/>
          </a:ln>
        </p:spPr>
        <p:txBody>
          <a:bodyPr>
            <a:spAutoFit/>
          </a:bodyPr>
          <a:lstStyle/>
          <a:p>
            <a:pPr algn="ctr" eaLnBrk="0" hangingPunct="0"/>
            <a:r>
              <a:rPr kumimoji="0" lang="en-US" altLang="zh-CN" sz="1800" b="1">
                <a:solidFill>
                  <a:srgbClr val="0000FF"/>
                </a:solidFill>
                <a:ea typeface="华文中宋"/>
                <a:cs typeface="Times New Roman" pitchFamily="18" charset="0"/>
              </a:rPr>
              <a:t>3</a:t>
            </a:r>
            <a:r>
              <a:rPr kumimoji="0" lang="zh-CN" altLang="en-US" sz="1800" b="1">
                <a:solidFill>
                  <a:srgbClr val="0000FF"/>
                </a:solidFill>
                <a:ea typeface="华文中宋"/>
                <a:cs typeface="Times New Roman" pitchFamily="18" charset="0"/>
              </a:rPr>
              <a:t>、如</a:t>
            </a:r>
            <a:r>
              <a:rPr kumimoji="0" lang="en-US" altLang="zh-CN" sz="1800" b="1" i="1">
                <a:solidFill>
                  <a:srgbClr val="0000FF"/>
                </a:solidFill>
                <a:ea typeface="华文中宋"/>
                <a:cs typeface="Times New Roman" pitchFamily="18" charset="0"/>
              </a:rPr>
              <a:t>x, t</a:t>
            </a:r>
            <a:r>
              <a:rPr kumimoji="0" lang="en-US" altLang="zh-CN" sz="1800" b="1">
                <a:solidFill>
                  <a:srgbClr val="0000FF"/>
                </a:solidFill>
                <a:ea typeface="华文中宋"/>
                <a:cs typeface="Times New Roman" pitchFamily="18" charset="0"/>
              </a:rPr>
              <a:t> </a:t>
            </a:r>
            <a:r>
              <a:rPr kumimoji="0" lang="zh-CN" altLang="en-US" sz="1800" b="1">
                <a:solidFill>
                  <a:srgbClr val="0000FF"/>
                </a:solidFill>
                <a:ea typeface="华文中宋"/>
                <a:cs typeface="Times New Roman" pitchFamily="18" charset="0"/>
              </a:rPr>
              <a:t>均变化</a:t>
            </a:r>
            <a:r>
              <a:rPr kumimoji="0" lang="en-US" altLang="zh-CN" sz="1800" b="1" i="1">
                <a:solidFill>
                  <a:srgbClr val="0000FF"/>
                </a:solidFill>
                <a:ea typeface="华文中宋"/>
                <a:cs typeface="Times New Roman" pitchFamily="18" charset="0"/>
              </a:rPr>
              <a:t>y=y</a:t>
            </a:r>
            <a:r>
              <a:rPr kumimoji="0" lang="en-US" altLang="zh-CN" sz="1800" b="1">
                <a:solidFill>
                  <a:srgbClr val="0000FF"/>
                </a:solidFill>
                <a:ea typeface="华文中宋"/>
                <a:cs typeface="Times New Roman" pitchFamily="18" charset="0"/>
              </a:rPr>
              <a:t>(</a:t>
            </a:r>
            <a:r>
              <a:rPr kumimoji="0" lang="en-US" altLang="zh-CN" sz="1800" b="1" i="1">
                <a:solidFill>
                  <a:srgbClr val="0000FF"/>
                </a:solidFill>
                <a:ea typeface="华文中宋"/>
                <a:cs typeface="Times New Roman" pitchFamily="18" charset="0"/>
              </a:rPr>
              <a:t>x, t</a:t>
            </a:r>
            <a:r>
              <a:rPr kumimoji="0" lang="en-US" altLang="zh-CN" sz="1800" b="1">
                <a:solidFill>
                  <a:srgbClr val="0000FF"/>
                </a:solidFill>
                <a:ea typeface="华文中宋"/>
                <a:cs typeface="Times New Roman" pitchFamily="18" charset="0"/>
              </a:rPr>
              <a:t>)</a:t>
            </a:r>
            <a:r>
              <a:rPr kumimoji="0" lang="zh-CN" altLang="en-US" sz="1800" b="1">
                <a:solidFill>
                  <a:srgbClr val="0000FF"/>
                </a:solidFill>
                <a:ea typeface="华文中宋"/>
                <a:cs typeface="Times New Roman" pitchFamily="18" charset="0"/>
              </a:rPr>
              <a:t>包含了不同时刻的波形</a:t>
            </a:r>
          </a:p>
        </p:txBody>
      </p:sp>
      <p:graphicFrame>
        <p:nvGraphicFramePr>
          <p:cNvPr id="4" name="Object 31"/>
          <p:cNvGraphicFramePr>
            <a:graphicFrameLocks noChangeAspect="1"/>
          </p:cNvGraphicFramePr>
          <p:nvPr/>
        </p:nvGraphicFramePr>
        <p:xfrm>
          <a:off x="1763713" y="1276350"/>
          <a:ext cx="3771900" cy="354013"/>
        </p:xfrm>
        <a:graphic>
          <a:graphicData uri="http://schemas.openxmlformats.org/presentationml/2006/ole">
            <p:oleObj spid="_x0000_s34847" name="公式" r:id="rId3" imgW="1625600" imgH="203200" progId="Equation.3">
              <p:embed/>
            </p:oleObj>
          </a:graphicData>
        </a:graphic>
      </p:graphicFrame>
      <p:sp>
        <p:nvSpPr>
          <p:cNvPr id="5" name="Text Box 24"/>
          <p:cNvSpPr txBox="1">
            <a:spLocks noChangeArrowheads="1"/>
          </p:cNvSpPr>
          <p:nvPr/>
        </p:nvSpPr>
        <p:spPr bwMode="auto">
          <a:xfrm>
            <a:off x="5661025" y="1179513"/>
            <a:ext cx="2378075" cy="369887"/>
          </a:xfrm>
          <a:prstGeom prst="rect">
            <a:avLst/>
          </a:prstGeom>
          <a:noFill/>
          <a:ln w="9525">
            <a:noFill/>
            <a:miter lim="800000"/>
            <a:headEnd/>
            <a:tailEnd/>
          </a:ln>
        </p:spPr>
        <p:txBody>
          <a:bodyPr>
            <a:spAutoFit/>
          </a:bodyPr>
          <a:lstStyle/>
          <a:p>
            <a:pPr eaLnBrk="0" hangingPunct="0"/>
            <a:r>
              <a:rPr kumimoji="0" lang="zh-CN" altLang="en-US" sz="1800" b="1">
                <a:ea typeface="华文中宋"/>
                <a:cs typeface="华文中宋"/>
              </a:rPr>
              <a:t>时间延续   </a:t>
            </a:r>
            <a:r>
              <a:rPr kumimoji="0" lang="zh-CN" altLang="en-US" sz="1800" b="1" i="1">
                <a:ea typeface="华文中宋"/>
                <a:cs typeface="Times New Roman" pitchFamily="18" charset="0"/>
              </a:rPr>
              <a:t>△</a:t>
            </a:r>
            <a:r>
              <a:rPr kumimoji="0" lang="en-US" altLang="zh-CN" sz="1800" b="1" i="1">
                <a:ea typeface="华文中宋"/>
                <a:cs typeface="Times New Roman" pitchFamily="18" charset="0"/>
              </a:rPr>
              <a:t>t</a:t>
            </a:r>
          </a:p>
        </p:txBody>
      </p:sp>
      <p:sp>
        <p:nvSpPr>
          <p:cNvPr id="6" name="Text Box 25"/>
          <p:cNvSpPr txBox="1">
            <a:spLocks noChangeArrowheads="1"/>
          </p:cNvSpPr>
          <p:nvPr/>
        </p:nvSpPr>
        <p:spPr bwMode="auto">
          <a:xfrm>
            <a:off x="5673725" y="1547813"/>
            <a:ext cx="2714625" cy="369887"/>
          </a:xfrm>
          <a:prstGeom prst="rect">
            <a:avLst/>
          </a:prstGeom>
          <a:noFill/>
          <a:ln w="9525">
            <a:noFill/>
            <a:miter lim="800000"/>
            <a:headEnd/>
            <a:tailEnd/>
          </a:ln>
        </p:spPr>
        <p:txBody>
          <a:bodyPr>
            <a:spAutoFit/>
          </a:bodyPr>
          <a:lstStyle/>
          <a:p>
            <a:pPr eaLnBrk="0" hangingPunct="0"/>
            <a:r>
              <a:rPr kumimoji="0" lang="zh-CN" altLang="en-US" sz="1800" b="1">
                <a:ea typeface="华文中宋"/>
                <a:cs typeface="华文中宋"/>
              </a:rPr>
              <a:t>波形推进   </a:t>
            </a:r>
            <a:r>
              <a:rPr kumimoji="0" lang="zh-CN" altLang="en-US" sz="1800" b="1" i="1">
                <a:ea typeface="华文中宋"/>
                <a:cs typeface="华文中宋"/>
              </a:rPr>
              <a:t>△</a:t>
            </a:r>
            <a:r>
              <a:rPr kumimoji="0" lang="en-US" altLang="zh-CN" sz="1800" b="1" i="1">
                <a:ea typeface="华文中宋"/>
                <a:cs typeface="华文中宋"/>
              </a:rPr>
              <a:t>x=u·△t</a:t>
            </a:r>
            <a:endParaRPr kumimoji="0" lang="en-US" altLang="zh-CN" sz="1800" b="1">
              <a:ea typeface="华文中宋"/>
              <a:cs typeface="华文中宋"/>
            </a:endParaRPr>
          </a:p>
        </p:txBody>
      </p:sp>
      <p:grpSp>
        <p:nvGrpSpPr>
          <p:cNvPr id="2" name="Group 2"/>
          <p:cNvGrpSpPr>
            <a:grpSpLocks/>
          </p:cNvGrpSpPr>
          <p:nvPr/>
        </p:nvGrpSpPr>
        <p:grpSpPr bwMode="auto">
          <a:xfrm>
            <a:off x="1284288" y="1870075"/>
            <a:ext cx="6634162" cy="1330325"/>
            <a:chOff x="903" y="2514"/>
            <a:chExt cx="4179" cy="1118"/>
          </a:xfrm>
        </p:grpSpPr>
        <p:sp>
          <p:nvSpPr>
            <p:cNvPr id="34867" name="Line 3"/>
            <p:cNvSpPr>
              <a:spLocks noChangeShapeType="1"/>
            </p:cNvSpPr>
            <p:nvPr/>
          </p:nvSpPr>
          <p:spPr bwMode="auto">
            <a:xfrm>
              <a:off x="903" y="3230"/>
              <a:ext cx="3908" cy="0"/>
            </a:xfrm>
            <a:prstGeom prst="line">
              <a:avLst/>
            </a:prstGeom>
            <a:noFill/>
            <a:ln w="9525">
              <a:solidFill>
                <a:srgbClr val="00B0F0"/>
              </a:solidFill>
              <a:round/>
              <a:headEnd/>
              <a:tailEnd type="triangle" w="med" len="med"/>
            </a:ln>
          </p:spPr>
          <p:txBody>
            <a:bodyPr wrap="none" anchor="ctr"/>
            <a:lstStyle/>
            <a:p>
              <a:endParaRPr lang="zh-CN" altLang="en-US"/>
            </a:p>
          </p:txBody>
        </p:sp>
        <p:grpSp>
          <p:nvGrpSpPr>
            <p:cNvPr id="34868" name="Group 4"/>
            <p:cNvGrpSpPr>
              <a:grpSpLocks/>
            </p:cNvGrpSpPr>
            <p:nvPr/>
          </p:nvGrpSpPr>
          <p:grpSpPr bwMode="auto">
            <a:xfrm>
              <a:off x="1047" y="2514"/>
              <a:ext cx="4035" cy="1118"/>
              <a:chOff x="1047" y="2514"/>
              <a:chExt cx="4035" cy="1118"/>
            </a:xfrm>
          </p:grpSpPr>
          <p:sp>
            <p:nvSpPr>
              <p:cNvPr id="34869" name="Line 5"/>
              <p:cNvSpPr>
                <a:spLocks noChangeShapeType="1"/>
              </p:cNvSpPr>
              <p:nvPr/>
            </p:nvSpPr>
            <p:spPr bwMode="auto">
              <a:xfrm>
                <a:off x="1220" y="2576"/>
                <a:ext cx="0" cy="1056"/>
              </a:xfrm>
              <a:prstGeom prst="line">
                <a:avLst/>
              </a:prstGeom>
              <a:noFill/>
              <a:ln w="9525">
                <a:solidFill>
                  <a:srgbClr val="00B0F0"/>
                </a:solidFill>
                <a:round/>
                <a:headEnd type="triangle" w="med" len="med"/>
                <a:tailEnd/>
              </a:ln>
            </p:spPr>
            <p:txBody>
              <a:bodyPr wrap="none" anchor="ctr"/>
              <a:lstStyle/>
              <a:p>
                <a:endParaRPr lang="zh-CN" altLang="en-US"/>
              </a:p>
            </p:txBody>
          </p:sp>
          <p:sp>
            <p:nvSpPr>
              <p:cNvPr id="34870" name="Rectangle 6"/>
              <p:cNvSpPr>
                <a:spLocks noChangeArrowheads="1"/>
              </p:cNvSpPr>
              <p:nvPr/>
            </p:nvSpPr>
            <p:spPr bwMode="auto">
              <a:xfrm>
                <a:off x="1047" y="3175"/>
                <a:ext cx="313" cy="333"/>
              </a:xfrm>
              <a:prstGeom prst="rect">
                <a:avLst/>
              </a:prstGeom>
              <a:noFill/>
              <a:ln w="9525">
                <a:noFill/>
                <a:miter lim="800000"/>
                <a:headEnd/>
                <a:tailEnd/>
              </a:ln>
            </p:spPr>
            <p:txBody>
              <a:bodyPr>
                <a:spAutoFit/>
              </a:bodyPr>
              <a:lstStyle/>
              <a:p>
                <a:pPr>
                  <a:lnSpc>
                    <a:spcPct val="110000"/>
                  </a:lnSpc>
                </a:pPr>
                <a:r>
                  <a:rPr lang="en-US" altLang="zh-CN" sz="1800" i="1"/>
                  <a:t>O</a:t>
                </a:r>
              </a:p>
            </p:txBody>
          </p:sp>
          <p:sp>
            <p:nvSpPr>
              <p:cNvPr id="34871" name="Rectangle 7"/>
              <p:cNvSpPr>
                <a:spLocks noChangeArrowheads="1"/>
              </p:cNvSpPr>
              <p:nvPr/>
            </p:nvSpPr>
            <p:spPr bwMode="auto">
              <a:xfrm>
                <a:off x="1065" y="2514"/>
                <a:ext cx="170" cy="276"/>
              </a:xfrm>
              <a:prstGeom prst="rect">
                <a:avLst/>
              </a:prstGeom>
              <a:noFill/>
              <a:ln w="9525">
                <a:noFill/>
                <a:miter lim="800000"/>
                <a:headEnd/>
                <a:tailEnd/>
              </a:ln>
            </p:spPr>
            <p:txBody>
              <a:bodyPr wrap="none">
                <a:spAutoFit/>
              </a:bodyPr>
              <a:lstStyle/>
              <a:p>
                <a:pPr>
                  <a:lnSpc>
                    <a:spcPct val="110000"/>
                  </a:lnSpc>
                </a:pPr>
                <a:r>
                  <a:rPr lang="en-US" altLang="zh-CN" sz="1500" i="1"/>
                  <a:t>y</a:t>
                </a:r>
              </a:p>
            </p:txBody>
          </p:sp>
          <p:sp>
            <p:nvSpPr>
              <p:cNvPr id="34872" name="Rectangle 8"/>
              <p:cNvSpPr>
                <a:spLocks noChangeArrowheads="1"/>
              </p:cNvSpPr>
              <p:nvPr/>
            </p:nvSpPr>
            <p:spPr bwMode="auto">
              <a:xfrm>
                <a:off x="4849" y="3096"/>
                <a:ext cx="233" cy="333"/>
              </a:xfrm>
              <a:prstGeom prst="rect">
                <a:avLst/>
              </a:prstGeom>
              <a:noFill/>
              <a:ln w="9525">
                <a:noFill/>
                <a:miter lim="800000"/>
                <a:headEnd/>
                <a:tailEnd/>
              </a:ln>
            </p:spPr>
            <p:txBody>
              <a:bodyPr>
                <a:spAutoFit/>
              </a:bodyPr>
              <a:lstStyle/>
              <a:p>
                <a:pPr>
                  <a:lnSpc>
                    <a:spcPct val="110000"/>
                  </a:lnSpc>
                </a:pPr>
                <a:r>
                  <a:rPr lang="en-US" altLang="zh-CN" sz="1800" i="1"/>
                  <a:t>x</a:t>
                </a:r>
              </a:p>
            </p:txBody>
          </p:sp>
        </p:grpSp>
      </p:grpSp>
      <p:grpSp>
        <p:nvGrpSpPr>
          <p:cNvPr id="8" name="Group 9"/>
          <p:cNvGrpSpPr>
            <a:grpSpLocks/>
          </p:cNvGrpSpPr>
          <p:nvPr/>
        </p:nvGrpSpPr>
        <p:grpSpPr bwMode="auto">
          <a:xfrm>
            <a:off x="1768475" y="2284413"/>
            <a:ext cx="4530725" cy="1050925"/>
            <a:chOff x="854" y="1598"/>
            <a:chExt cx="3575" cy="1068"/>
          </a:xfrm>
        </p:grpSpPr>
        <p:sp>
          <p:nvSpPr>
            <p:cNvPr id="34865" name="Freeform 10"/>
            <p:cNvSpPr>
              <a:spLocks/>
            </p:cNvSpPr>
            <p:nvPr/>
          </p:nvSpPr>
          <p:spPr bwMode="auto">
            <a:xfrm>
              <a:off x="854" y="1613"/>
              <a:ext cx="3575" cy="1053"/>
            </a:xfrm>
            <a:custGeom>
              <a:avLst/>
              <a:gdLst>
                <a:gd name="T0" fmla="*/ 0 w 3575"/>
                <a:gd name="T1" fmla="*/ 438 h 1053"/>
                <a:gd name="T2" fmla="*/ 583 w 3575"/>
                <a:gd name="T3" fmla="*/ 100 h 1053"/>
                <a:gd name="T4" fmla="*/ 1538 w 3575"/>
                <a:gd name="T5" fmla="*/ 1039 h 1053"/>
                <a:gd name="T6" fmla="*/ 2556 w 3575"/>
                <a:gd name="T7" fmla="*/ 18 h 1053"/>
                <a:gd name="T8" fmla="*/ 3575 w 3575"/>
                <a:gd name="T9" fmla="*/ 1039 h 1053"/>
                <a:gd name="T10" fmla="*/ 0 60000 65536"/>
                <a:gd name="T11" fmla="*/ 0 60000 65536"/>
                <a:gd name="T12" fmla="*/ 0 60000 65536"/>
                <a:gd name="T13" fmla="*/ 0 60000 65536"/>
                <a:gd name="T14" fmla="*/ 0 60000 65536"/>
                <a:gd name="T15" fmla="*/ 0 w 3575"/>
                <a:gd name="T16" fmla="*/ 0 h 1053"/>
                <a:gd name="T17" fmla="*/ 3575 w 3575"/>
                <a:gd name="T18" fmla="*/ 1053 h 1053"/>
              </a:gdLst>
              <a:ahLst/>
              <a:cxnLst>
                <a:cxn ang="T10">
                  <a:pos x="T0" y="T1"/>
                </a:cxn>
                <a:cxn ang="T11">
                  <a:pos x="T2" y="T3"/>
                </a:cxn>
                <a:cxn ang="T12">
                  <a:pos x="T4" y="T5"/>
                </a:cxn>
                <a:cxn ang="T13">
                  <a:pos x="T6" y="T7"/>
                </a:cxn>
                <a:cxn ang="T14">
                  <a:pos x="T8" y="T9"/>
                </a:cxn>
              </a:cxnLst>
              <a:rect l="T15" t="T16" r="T17" b="T18"/>
              <a:pathLst>
                <a:path w="3575" h="1053">
                  <a:moveTo>
                    <a:pt x="0" y="438"/>
                  </a:moveTo>
                  <a:cubicBezTo>
                    <a:pt x="99" y="382"/>
                    <a:pt x="328" y="0"/>
                    <a:pt x="583" y="100"/>
                  </a:cubicBezTo>
                  <a:cubicBezTo>
                    <a:pt x="839" y="201"/>
                    <a:pt x="1209" y="1053"/>
                    <a:pt x="1538" y="1039"/>
                  </a:cubicBezTo>
                  <a:cubicBezTo>
                    <a:pt x="1867" y="1025"/>
                    <a:pt x="2217" y="18"/>
                    <a:pt x="2556" y="18"/>
                  </a:cubicBezTo>
                  <a:cubicBezTo>
                    <a:pt x="2895" y="18"/>
                    <a:pt x="3363" y="826"/>
                    <a:pt x="3575" y="1039"/>
                  </a:cubicBezTo>
                </a:path>
              </a:pathLst>
            </a:custGeom>
            <a:noFill/>
            <a:ln w="19050">
              <a:solidFill>
                <a:srgbClr val="3333FF"/>
              </a:solidFill>
              <a:round/>
              <a:headEnd/>
              <a:tailEnd/>
            </a:ln>
          </p:spPr>
          <p:txBody>
            <a:bodyPr wrap="none" anchor="ctr"/>
            <a:lstStyle/>
            <a:p>
              <a:endParaRPr lang="zh-CN" altLang="en-US"/>
            </a:p>
          </p:txBody>
        </p:sp>
        <p:sp>
          <p:nvSpPr>
            <p:cNvPr id="16" name="Line 11"/>
            <p:cNvSpPr>
              <a:spLocks noChangeShapeType="1"/>
            </p:cNvSpPr>
            <p:nvPr/>
          </p:nvSpPr>
          <p:spPr bwMode="auto">
            <a:xfrm>
              <a:off x="1193" y="1598"/>
              <a:ext cx="501" cy="0"/>
            </a:xfrm>
            <a:prstGeom prst="line">
              <a:avLst/>
            </a:prstGeom>
            <a:noFill/>
            <a:ln w="28575">
              <a:solidFill>
                <a:srgbClr val="FF0000"/>
              </a:solidFill>
              <a:round/>
              <a:headEnd/>
              <a:tailEnd type="triangle" w="med" len="med"/>
            </a:ln>
            <a:extLst/>
          </p:spPr>
          <p:txBody>
            <a:bodyPr wrap="none" anchor="ctr"/>
            <a:lstStyle/>
            <a:p>
              <a:pPr fontAlgn="auto">
                <a:spcBef>
                  <a:spcPts val="0"/>
                </a:spcBef>
                <a:spcAft>
                  <a:spcPts val="0"/>
                </a:spcAft>
                <a:defRPr/>
              </a:pPr>
              <a:endParaRPr kumimoji="0" lang="zh-CN" altLang="en-US" sz="1800">
                <a:latin typeface="+mn-lt"/>
                <a:ea typeface="宋体" pitchFamily="2" charset="-122"/>
              </a:endParaRPr>
            </a:p>
          </p:txBody>
        </p:sp>
      </p:grpSp>
      <p:sp>
        <p:nvSpPr>
          <p:cNvPr id="29" name="Freeform 10"/>
          <p:cNvSpPr>
            <a:spLocks/>
          </p:cNvSpPr>
          <p:nvPr/>
        </p:nvSpPr>
        <p:spPr bwMode="auto">
          <a:xfrm>
            <a:off x="1770063" y="2298700"/>
            <a:ext cx="4530725" cy="1036638"/>
          </a:xfrm>
          <a:custGeom>
            <a:avLst/>
            <a:gdLst>
              <a:gd name="T0" fmla="*/ 0 w 3575"/>
              <a:gd name="T1" fmla="*/ 2147483647 h 1053"/>
              <a:gd name="T2" fmla="*/ 2147483647 w 3575"/>
              <a:gd name="T3" fmla="*/ 2147483647 h 1053"/>
              <a:gd name="T4" fmla="*/ 2147483647 w 3575"/>
              <a:gd name="T5" fmla="*/ 2147483647 h 1053"/>
              <a:gd name="T6" fmla="*/ 2147483647 w 3575"/>
              <a:gd name="T7" fmla="*/ 2147483647 h 1053"/>
              <a:gd name="T8" fmla="*/ 2147483647 w 3575"/>
              <a:gd name="T9" fmla="*/ 2147483647 h 1053"/>
              <a:gd name="T10" fmla="*/ 0 60000 65536"/>
              <a:gd name="T11" fmla="*/ 0 60000 65536"/>
              <a:gd name="T12" fmla="*/ 0 60000 65536"/>
              <a:gd name="T13" fmla="*/ 0 60000 65536"/>
              <a:gd name="T14" fmla="*/ 0 60000 65536"/>
              <a:gd name="T15" fmla="*/ 0 w 3575"/>
              <a:gd name="T16" fmla="*/ 0 h 1053"/>
              <a:gd name="T17" fmla="*/ 3575 w 3575"/>
              <a:gd name="T18" fmla="*/ 1053 h 1053"/>
            </a:gdLst>
            <a:ahLst/>
            <a:cxnLst>
              <a:cxn ang="T10">
                <a:pos x="T0" y="T1"/>
              </a:cxn>
              <a:cxn ang="T11">
                <a:pos x="T2" y="T3"/>
              </a:cxn>
              <a:cxn ang="T12">
                <a:pos x="T4" y="T5"/>
              </a:cxn>
              <a:cxn ang="T13">
                <a:pos x="T6" y="T7"/>
              </a:cxn>
              <a:cxn ang="T14">
                <a:pos x="T8" y="T9"/>
              </a:cxn>
            </a:cxnLst>
            <a:rect l="T15" t="T16" r="T17" b="T18"/>
            <a:pathLst>
              <a:path w="3575" h="1053">
                <a:moveTo>
                  <a:pt x="0" y="438"/>
                </a:moveTo>
                <a:cubicBezTo>
                  <a:pt x="99" y="382"/>
                  <a:pt x="328" y="0"/>
                  <a:pt x="583" y="100"/>
                </a:cubicBezTo>
                <a:cubicBezTo>
                  <a:pt x="839" y="201"/>
                  <a:pt x="1209" y="1053"/>
                  <a:pt x="1538" y="1039"/>
                </a:cubicBezTo>
                <a:cubicBezTo>
                  <a:pt x="1867" y="1025"/>
                  <a:pt x="2217" y="18"/>
                  <a:pt x="2556" y="18"/>
                </a:cubicBezTo>
                <a:cubicBezTo>
                  <a:pt x="2895" y="18"/>
                  <a:pt x="3363" y="826"/>
                  <a:pt x="3575" y="1039"/>
                </a:cubicBezTo>
              </a:path>
            </a:pathLst>
          </a:custGeom>
          <a:noFill/>
          <a:ln w="19050">
            <a:solidFill>
              <a:srgbClr val="3333FF"/>
            </a:solidFill>
            <a:prstDash val="dash"/>
            <a:round/>
            <a:headEnd/>
            <a:tailEnd/>
          </a:ln>
        </p:spPr>
        <p:txBody>
          <a:bodyPr wrap="none" anchor="ctr"/>
          <a:lstStyle/>
          <a:p>
            <a:endParaRPr lang="zh-CN" altLang="en-US"/>
          </a:p>
        </p:txBody>
      </p:sp>
      <p:grpSp>
        <p:nvGrpSpPr>
          <p:cNvPr id="9" name="Group 13"/>
          <p:cNvGrpSpPr>
            <a:grpSpLocks/>
          </p:cNvGrpSpPr>
          <p:nvPr/>
        </p:nvGrpSpPr>
        <p:grpSpPr bwMode="auto">
          <a:xfrm>
            <a:off x="4732338" y="2300288"/>
            <a:ext cx="3224212" cy="936625"/>
            <a:chOff x="2573" y="1698"/>
            <a:chExt cx="2031" cy="786"/>
          </a:xfrm>
        </p:grpSpPr>
        <p:grpSp>
          <p:nvGrpSpPr>
            <p:cNvPr id="34856" name="Group 14"/>
            <p:cNvGrpSpPr>
              <a:grpSpLocks/>
            </p:cNvGrpSpPr>
            <p:nvPr/>
          </p:nvGrpSpPr>
          <p:grpSpPr bwMode="auto">
            <a:xfrm>
              <a:off x="2573" y="1698"/>
              <a:ext cx="2031" cy="786"/>
              <a:chOff x="2573" y="1698"/>
              <a:chExt cx="2031" cy="786"/>
            </a:xfrm>
          </p:grpSpPr>
          <p:grpSp>
            <p:nvGrpSpPr>
              <p:cNvPr id="34859" name="Group 15"/>
              <p:cNvGrpSpPr>
                <a:grpSpLocks/>
              </p:cNvGrpSpPr>
              <p:nvPr/>
            </p:nvGrpSpPr>
            <p:grpSpPr bwMode="auto">
              <a:xfrm>
                <a:off x="3033" y="1889"/>
                <a:ext cx="457" cy="595"/>
                <a:chOff x="3033" y="1889"/>
                <a:chExt cx="457" cy="595"/>
              </a:xfrm>
            </p:grpSpPr>
            <p:sp>
              <p:nvSpPr>
                <p:cNvPr id="34862" name="Text Box 16"/>
                <p:cNvSpPr txBox="1">
                  <a:spLocks noChangeArrowheads="1"/>
                </p:cNvSpPr>
                <p:nvPr/>
              </p:nvSpPr>
              <p:spPr bwMode="auto">
                <a:xfrm>
                  <a:off x="3033" y="2209"/>
                  <a:ext cx="417" cy="275"/>
                </a:xfrm>
                <a:prstGeom prst="rect">
                  <a:avLst/>
                </a:prstGeom>
                <a:noFill/>
                <a:ln w="9525">
                  <a:noFill/>
                  <a:miter lim="800000"/>
                  <a:headEnd/>
                  <a:tailEnd/>
                </a:ln>
              </p:spPr>
              <p:txBody>
                <a:bodyPr>
                  <a:spAutoFit/>
                </a:bodyPr>
                <a:lstStyle/>
                <a:p>
                  <a:pPr>
                    <a:lnSpc>
                      <a:spcPct val="110000"/>
                    </a:lnSpc>
                    <a:spcBef>
                      <a:spcPct val="50000"/>
                    </a:spcBef>
                  </a:pPr>
                  <a:r>
                    <a:rPr lang="en-US" altLang="zh-CN" sz="1500" b="1" i="1">
                      <a:sym typeface="Symbol" pitchFamily="18" charset="2"/>
                    </a:rPr>
                    <a:t>u</a:t>
                  </a:r>
                  <a:r>
                    <a:rPr lang="en-US" altLang="zh-CN" sz="1500" b="1">
                      <a:sym typeface="Symbol" pitchFamily="18" charset="2"/>
                    </a:rPr>
                    <a:t></a:t>
                  </a:r>
                  <a:r>
                    <a:rPr lang="en-US" altLang="zh-CN" sz="1500" b="1" i="1"/>
                    <a:t>t</a:t>
                  </a:r>
                  <a:endParaRPr lang="en-US" altLang="zh-CN" sz="1500" b="1"/>
                </a:p>
              </p:txBody>
            </p:sp>
            <p:sp>
              <p:nvSpPr>
                <p:cNvPr id="34863" name="Line 17"/>
                <p:cNvSpPr>
                  <a:spLocks noChangeShapeType="1"/>
                </p:cNvSpPr>
                <p:nvPr/>
              </p:nvSpPr>
              <p:spPr bwMode="auto">
                <a:xfrm>
                  <a:off x="3068" y="1889"/>
                  <a:ext cx="0" cy="469"/>
                </a:xfrm>
                <a:prstGeom prst="line">
                  <a:avLst/>
                </a:prstGeom>
                <a:noFill/>
                <a:ln w="9525">
                  <a:solidFill>
                    <a:schemeClr val="accent2"/>
                  </a:solidFill>
                  <a:prstDash val="dash"/>
                  <a:round/>
                  <a:headEnd/>
                  <a:tailEnd/>
                </a:ln>
              </p:spPr>
              <p:txBody>
                <a:bodyPr wrap="none" anchor="ctr"/>
                <a:lstStyle/>
                <a:p>
                  <a:endParaRPr lang="zh-CN" altLang="en-US"/>
                </a:p>
              </p:txBody>
            </p:sp>
            <p:sp>
              <p:nvSpPr>
                <p:cNvPr id="34864" name="Line 18"/>
                <p:cNvSpPr>
                  <a:spLocks noChangeShapeType="1"/>
                </p:cNvSpPr>
                <p:nvPr/>
              </p:nvSpPr>
              <p:spPr bwMode="auto">
                <a:xfrm>
                  <a:off x="3490" y="1917"/>
                  <a:ext cx="0" cy="420"/>
                </a:xfrm>
                <a:prstGeom prst="line">
                  <a:avLst/>
                </a:prstGeom>
                <a:noFill/>
                <a:ln w="9525">
                  <a:solidFill>
                    <a:schemeClr val="accent2"/>
                  </a:solidFill>
                  <a:prstDash val="dash"/>
                  <a:round/>
                  <a:headEnd/>
                  <a:tailEnd/>
                </a:ln>
              </p:spPr>
              <p:txBody>
                <a:bodyPr wrap="none" anchor="ctr"/>
                <a:lstStyle/>
                <a:p>
                  <a:endParaRPr lang="zh-CN" altLang="en-US"/>
                </a:p>
              </p:txBody>
            </p:sp>
          </p:grpSp>
          <p:sp>
            <p:nvSpPr>
              <p:cNvPr id="34860" name="Text Box 19"/>
              <p:cNvSpPr txBox="1">
                <a:spLocks noChangeArrowheads="1"/>
              </p:cNvSpPr>
              <p:nvPr/>
            </p:nvSpPr>
            <p:spPr bwMode="auto">
              <a:xfrm>
                <a:off x="3500" y="1727"/>
                <a:ext cx="1104" cy="275"/>
              </a:xfrm>
              <a:prstGeom prst="rect">
                <a:avLst/>
              </a:prstGeom>
              <a:noFill/>
              <a:ln w="9525">
                <a:noFill/>
                <a:miter lim="800000"/>
                <a:headEnd/>
                <a:tailEnd/>
              </a:ln>
            </p:spPr>
            <p:txBody>
              <a:bodyPr>
                <a:spAutoFit/>
              </a:bodyPr>
              <a:lstStyle/>
              <a:p>
                <a:pPr>
                  <a:lnSpc>
                    <a:spcPct val="110000"/>
                  </a:lnSpc>
                  <a:spcBef>
                    <a:spcPct val="50000"/>
                  </a:spcBef>
                </a:pPr>
                <a:r>
                  <a:rPr lang="en-US" altLang="zh-CN" sz="1500" b="1"/>
                  <a:t>(</a:t>
                </a:r>
                <a:r>
                  <a:rPr lang="en-US" altLang="zh-CN" sz="1500" b="1" i="1"/>
                  <a:t>t</a:t>
                </a:r>
                <a:r>
                  <a:rPr lang="en-US" altLang="zh-CN" sz="1500" b="1">
                    <a:sym typeface="Symbol" pitchFamily="18" charset="2"/>
                  </a:rPr>
                  <a:t> +</a:t>
                </a:r>
                <a:r>
                  <a:rPr lang="en-US" altLang="zh-CN" sz="1500" b="1" i="1"/>
                  <a:t>t</a:t>
                </a:r>
                <a:r>
                  <a:rPr lang="en-US" altLang="zh-CN" sz="1500" b="1"/>
                  <a:t>,</a:t>
                </a:r>
                <a:r>
                  <a:rPr lang="en-US" altLang="zh-CN" sz="1500" b="1" i="1"/>
                  <a:t>x</a:t>
                </a:r>
                <a:r>
                  <a:rPr lang="en-US" altLang="zh-CN" sz="1500" b="1"/>
                  <a:t> +</a:t>
                </a:r>
                <a:r>
                  <a:rPr lang="en-US" altLang="zh-CN" sz="1500" b="1" i="1">
                    <a:sym typeface="Symbol" pitchFamily="18" charset="2"/>
                  </a:rPr>
                  <a:t>x</a:t>
                </a:r>
                <a:r>
                  <a:rPr lang="en-US" altLang="zh-CN" sz="1500" b="1">
                    <a:sym typeface="Symbol" pitchFamily="18" charset="2"/>
                  </a:rPr>
                  <a:t>)</a:t>
                </a:r>
                <a:endParaRPr lang="en-US" altLang="zh-CN" sz="1500" b="1" i="1"/>
              </a:p>
            </p:txBody>
          </p:sp>
          <p:sp>
            <p:nvSpPr>
              <p:cNvPr id="34861" name="Text Box 20"/>
              <p:cNvSpPr txBox="1">
                <a:spLocks noChangeArrowheads="1"/>
              </p:cNvSpPr>
              <p:nvPr/>
            </p:nvSpPr>
            <p:spPr bwMode="auto">
              <a:xfrm>
                <a:off x="2573" y="1698"/>
                <a:ext cx="570" cy="273"/>
              </a:xfrm>
              <a:prstGeom prst="rect">
                <a:avLst/>
              </a:prstGeom>
              <a:noFill/>
              <a:ln w="9525">
                <a:noFill/>
                <a:miter lim="800000"/>
                <a:headEnd/>
                <a:tailEnd/>
              </a:ln>
            </p:spPr>
            <p:txBody>
              <a:bodyPr>
                <a:spAutoFit/>
              </a:bodyPr>
              <a:lstStyle/>
              <a:p>
                <a:pPr>
                  <a:lnSpc>
                    <a:spcPct val="110000"/>
                  </a:lnSpc>
                  <a:spcBef>
                    <a:spcPct val="50000"/>
                  </a:spcBef>
                </a:pPr>
                <a:r>
                  <a:rPr lang="en-US" altLang="zh-CN" sz="1500" b="1"/>
                  <a:t>(</a:t>
                </a:r>
                <a:r>
                  <a:rPr lang="en-US" altLang="zh-CN" sz="1500" b="1" i="1"/>
                  <a:t>t</a:t>
                </a:r>
                <a:r>
                  <a:rPr lang="zh-CN" altLang="en-US" sz="1500" b="1" i="1"/>
                  <a:t>，</a:t>
                </a:r>
                <a:r>
                  <a:rPr lang="en-US" altLang="zh-CN" sz="1500" b="1" i="1"/>
                  <a:t>x</a:t>
                </a:r>
                <a:r>
                  <a:rPr lang="en-US" altLang="zh-CN" sz="1500" b="1"/>
                  <a:t>)</a:t>
                </a:r>
              </a:p>
            </p:txBody>
          </p:sp>
        </p:grpSp>
        <p:sp>
          <p:nvSpPr>
            <p:cNvPr id="34857" name="Oval 21"/>
            <p:cNvSpPr>
              <a:spLocks noChangeArrowheads="1"/>
            </p:cNvSpPr>
            <p:nvPr/>
          </p:nvSpPr>
          <p:spPr bwMode="auto">
            <a:xfrm>
              <a:off x="3033" y="1888"/>
              <a:ext cx="56" cy="56"/>
            </a:xfrm>
            <a:prstGeom prst="ellipse">
              <a:avLst/>
            </a:prstGeom>
            <a:solidFill>
              <a:srgbClr val="FF0000"/>
            </a:solidFill>
            <a:ln w="9525">
              <a:noFill/>
              <a:round/>
              <a:headEnd/>
              <a:tailEnd/>
            </a:ln>
          </p:spPr>
          <p:txBody>
            <a:bodyPr wrap="none" anchor="ctr"/>
            <a:lstStyle/>
            <a:p>
              <a:endParaRPr kumimoji="0" lang="zh-CN" altLang="zh-CN" sz="1800"/>
            </a:p>
          </p:txBody>
        </p:sp>
        <p:sp>
          <p:nvSpPr>
            <p:cNvPr id="34858" name="Oval 22"/>
            <p:cNvSpPr>
              <a:spLocks noChangeArrowheads="1"/>
            </p:cNvSpPr>
            <p:nvPr/>
          </p:nvSpPr>
          <p:spPr bwMode="auto">
            <a:xfrm>
              <a:off x="3457" y="1880"/>
              <a:ext cx="56" cy="56"/>
            </a:xfrm>
            <a:prstGeom prst="ellipse">
              <a:avLst/>
            </a:prstGeom>
            <a:solidFill>
              <a:srgbClr val="FF0000"/>
            </a:solidFill>
            <a:ln w="9525">
              <a:noFill/>
              <a:round/>
              <a:headEnd/>
              <a:tailEnd/>
            </a:ln>
          </p:spPr>
          <p:txBody>
            <a:bodyPr wrap="none" anchor="ctr"/>
            <a:lstStyle/>
            <a:p>
              <a:endParaRPr kumimoji="0" lang="zh-CN" altLang="zh-CN" sz="1800"/>
            </a:p>
          </p:txBody>
        </p:sp>
      </p:grpSp>
      <p:pic>
        <p:nvPicPr>
          <p:cNvPr id="51" name="Picture 7" descr="橫波"/>
          <p:cNvPicPr>
            <a:picLocks noChangeAspect="1" noChangeArrowheads="1" noCrop="1"/>
          </p:cNvPicPr>
          <p:nvPr/>
        </p:nvPicPr>
        <p:blipFill>
          <a:blip r:embed="rId4"/>
          <a:srcRect/>
          <a:stretch>
            <a:fillRect/>
          </a:stretch>
        </p:blipFill>
        <p:spPr bwMode="auto">
          <a:xfrm>
            <a:off x="1390650" y="3355975"/>
            <a:ext cx="6157913" cy="11779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42" presetClass="path" presetSubtype="0" accel="50000" decel="50000" fill="hold" grpId="1" nodeType="clickEffect">
                                  <p:stCondLst>
                                    <p:cond delay="0"/>
                                  </p:stCondLst>
                                  <p:childTnLst>
                                    <p:animMotion origin="layout" path="M 8.33333E-7 3.55771E-6 L 0.0724 3.55771E-6 " pathEditMode="relative" rAng="0" ptsTypes="AA">
                                      <p:cBhvr>
                                        <p:cTn id="40" dur="2000" fill="hold"/>
                                        <p:tgtEl>
                                          <p:spTgt spid="29"/>
                                        </p:tgtEl>
                                        <p:attrNameLst>
                                          <p:attrName>ppt_x</p:attrName>
                                          <p:attrName>ppt_y</p:attrName>
                                        </p:attrNameLst>
                                      </p:cBhvr>
                                      <p:rCtr x="3611" y="0"/>
                                    </p:animMotion>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left)">
                                      <p:cBhvr>
                                        <p:cTn id="45" dur="500"/>
                                        <p:tgtEl>
                                          <p:spTgt spid="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9" presetClass="entr" presetSubtype="0"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 calcmode="lin" valueType="num">
                                      <p:cBhvr>
                                        <p:cTn id="50" dur="1000" fill="hold"/>
                                        <p:tgtEl>
                                          <p:spTgt spid="9"/>
                                        </p:tgtEl>
                                        <p:attrNameLst>
                                          <p:attrName>ppt_x</p:attrName>
                                        </p:attrNameLst>
                                      </p:cBhvr>
                                      <p:tavLst>
                                        <p:tav tm="0">
                                          <p:val>
                                            <p:strVal val="#ppt_x-.2"/>
                                          </p:val>
                                        </p:tav>
                                        <p:tav tm="100000">
                                          <p:val>
                                            <p:strVal val="#ppt_x"/>
                                          </p:val>
                                        </p:tav>
                                      </p:tavLst>
                                    </p:anim>
                                    <p:anim calcmode="lin" valueType="num">
                                      <p:cBhvr>
                                        <p:cTn id="51" dur="10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52" dur="1000"/>
                                        <p:tgtEl>
                                          <p:spTgt spid="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3" presetClass="entr" presetSubtype="16" fill="hold" nodeType="clickEffect">
                                  <p:stCondLst>
                                    <p:cond delay="0"/>
                                  </p:stCondLst>
                                  <p:childTnLst>
                                    <p:set>
                                      <p:cBhvr>
                                        <p:cTn id="56" dur="1" fill="hold">
                                          <p:stCondLst>
                                            <p:cond delay="0"/>
                                          </p:stCondLst>
                                        </p:cTn>
                                        <p:tgtEl>
                                          <p:spTgt spid="51"/>
                                        </p:tgtEl>
                                        <p:attrNameLst>
                                          <p:attrName>style.visibility</p:attrName>
                                        </p:attrNameLst>
                                      </p:cBhvr>
                                      <p:to>
                                        <p:strVal val="visible"/>
                                      </p:to>
                                    </p:set>
                                    <p:anim calcmode="lin" valueType="num">
                                      <p:cBhvr>
                                        <p:cTn id="57" dur="500" fill="hold"/>
                                        <p:tgtEl>
                                          <p:spTgt spid="51"/>
                                        </p:tgtEl>
                                        <p:attrNameLst>
                                          <p:attrName>ppt_w</p:attrName>
                                        </p:attrNameLst>
                                      </p:cBhvr>
                                      <p:tavLst>
                                        <p:tav tm="0">
                                          <p:val>
                                            <p:fltVal val="0"/>
                                          </p:val>
                                        </p:tav>
                                        <p:tav tm="100000">
                                          <p:val>
                                            <p:strVal val="#ppt_w"/>
                                          </p:val>
                                        </p:tav>
                                      </p:tavLst>
                                    </p:anim>
                                    <p:anim calcmode="lin" valueType="num">
                                      <p:cBhvr>
                                        <p:cTn id="58" dur="500" fill="hold"/>
                                        <p:tgtEl>
                                          <p:spTgt spid="5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autoUpdateAnimBg="0"/>
      <p:bldP spid="6" grpId="0" autoUpdateAnimBg="0"/>
      <p:bldP spid="29" grpId="0" animBg="1"/>
      <p:bldP spid="29"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87" name="Group 1069"/>
          <p:cNvGrpSpPr>
            <a:grpSpLocks/>
          </p:cNvGrpSpPr>
          <p:nvPr/>
        </p:nvGrpSpPr>
        <p:grpSpPr bwMode="auto">
          <a:xfrm>
            <a:off x="265113" y="844550"/>
            <a:ext cx="8915400" cy="647700"/>
            <a:chOff x="167" y="-517"/>
            <a:chExt cx="5616" cy="543"/>
          </a:xfrm>
        </p:grpSpPr>
        <p:graphicFrame>
          <p:nvGraphicFramePr>
            <p:cNvPr id="35879" name="Object 39"/>
            <p:cNvGraphicFramePr>
              <a:graphicFrameLocks noChangeAspect="1"/>
            </p:cNvGraphicFramePr>
            <p:nvPr/>
          </p:nvGraphicFramePr>
          <p:xfrm>
            <a:off x="930" y="-287"/>
            <a:ext cx="1375" cy="303"/>
          </p:xfrm>
          <a:graphic>
            <a:graphicData uri="http://schemas.openxmlformats.org/presentationml/2006/ole">
              <p:oleObj spid="_x0000_s35879" name="Equation" r:id="rId4" imgW="1218671" imgH="215806" progId="Equation.DSMT4">
                <p:embed/>
              </p:oleObj>
            </a:graphicData>
          </a:graphic>
        </p:graphicFrame>
        <p:sp>
          <p:nvSpPr>
            <p:cNvPr id="35891" name="Text Box 4"/>
            <p:cNvSpPr txBox="1">
              <a:spLocks noChangeArrowheads="1"/>
            </p:cNvSpPr>
            <p:nvPr/>
          </p:nvSpPr>
          <p:spPr bwMode="auto">
            <a:xfrm>
              <a:off x="167" y="-517"/>
              <a:ext cx="5616" cy="543"/>
            </a:xfrm>
            <a:prstGeom prst="rect">
              <a:avLst/>
            </a:prstGeom>
            <a:noFill/>
            <a:ln w="9525">
              <a:noFill/>
              <a:miter lim="800000"/>
              <a:headEnd/>
              <a:tailEnd/>
            </a:ln>
          </p:spPr>
          <p:txBody>
            <a:bodyPr>
              <a:spAutoFit/>
            </a:bodyPr>
            <a:lstStyle/>
            <a:p>
              <a:r>
                <a:rPr lang="zh-CN" altLang="en-US" sz="1800" b="1">
                  <a:solidFill>
                    <a:srgbClr val="0000FF"/>
                  </a:solidFill>
                  <a:ea typeface="华文中宋"/>
                  <a:cs typeface="华文中宋"/>
                </a:rPr>
                <a:t>例   </a:t>
              </a:r>
              <a:r>
                <a:rPr lang="zh-CN" altLang="zh-CN" sz="1800" b="1">
                  <a:solidFill>
                    <a:srgbClr val="0000FF"/>
                  </a:solidFill>
                  <a:ea typeface="华文中宋"/>
                  <a:cs typeface="华文中宋"/>
                </a:rPr>
                <a:t>一列平面简谐波以波速 </a:t>
              </a:r>
              <a:r>
                <a:rPr lang="en-US" altLang="zh-CN" sz="1800" b="1" i="1">
                  <a:solidFill>
                    <a:srgbClr val="0000FF"/>
                  </a:solidFill>
                  <a:ea typeface="华文中宋"/>
                  <a:cs typeface="华文中宋"/>
                </a:rPr>
                <a:t>u </a:t>
              </a:r>
              <a:r>
                <a:rPr lang="zh-CN" altLang="zh-CN" sz="1800" b="1">
                  <a:solidFill>
                    <a:srgbClr val="0000FF"/>
                  </a:solidFill>
                  <a:ea typeface="华文中宋"/>
                  <a:cs typeface="华文中宋"/>
                </a:rPr>
                <a:t>沿 </a:t>
              </a:r>
              <a:r>
                <a:rPr lang="en-US" altLang="zh-CN" sz="1800" b="1" i="1">
                  <a:solidFill>
                    <a:srgbClr val="0000FF"/>
                  </a:solidFill>
                  <a:ea typeface="华文中宋"/>
                  <a:cs typeface="华文中宋"/>
                </a:rPr>
                <a:t>x </a:t>
              </a:r>
              <a:r>
                <a:rPr lang="zh-CN" altLang="zh-CN" sz="1800" b="1">
                  <a:solidFill>
                    <a:srgbClr val="0000FF"/>
                  </a:solidFill>
                  <a:ea typeface="华文中宋"/>
                  <a:cs typeface="华文中宋"/>
                </a:rPr>
                <a:t>轴正方向传播，波长为</a:t>
              </a:r>
              <a:r>
                <a:rPr lang="zh-CN" altLang="zh-CN" sz="1800" b="1" i="1">
                  <a:solidFill>
                    <a:srgbClr val="0000FF"/>
                  </a:solidFill>
                  <a:ea typeface="华文中宋"/>
                  <a:cs typeface="华文中宋"/>
                  <a:sym typeface="Symbol" pitchFamily="18" charset="2"/>
                </a:rPr>
                <a:t></a:t>
              </a:r>
              <a:r>
                <a:rPr lang="zh-CN" altLang="en-US" sz="1800" b="1">
                  <a:solidFill>
                    <a:srgbClr val="0000FF"/>
                  </a:solidFill>
                  <a:ea typeface="华文中宋"/>
                  <a:cs typeface="华文中宋"/>
                </a:rPr>
                <a:t> ，</a:t>
              </a:r>
              <a:r>
                <a:rPr lang="zh-CN" altLang="zh-CN" sz="1800" b="1">
                  <a:solidFill>
                    <a:srgbClr val="0000FF"/>
                  </a:solidFill>
                  <a:ea typeface="华文中宋"/>
                  <a:cs typeface="华文中宋"/>
                </a:rPr>
                <a:t>已知在</a:t>
              </a:r>
              <a:r>
                <a:rPr lang="zh-CN" altLang="zh-CN" sz="1800" b="1" i="1">
                  <a:solidFill>
                    <a:srgbClr val="0000FF"/>
                  </a:solidFill>
                  <a:ea typeface="华文中宋"/>
                  <a:cs typeface="华文中宋"/>
                </a:rPr>
                <a:t>x</a:t>
              </a:r>
              <a:r>
                <a:rPr lang="en-US" altLang="zh-CN" sz="1800" b="1" baseline="-25000">
                  <a:solidFill>
                    <a:srgbClr val="0000FF"/>
                  </a:solidFill>
                  <a:ea typeface="华文中宋"/>
                  <a:cs typeface="华文中宋"/>
                </a:rPr>
                <a:t>0</a:t>
              </a:r>
              <a:r>
                <a:rPr lang="zh-CN" altLang="en-US" sz="1800" b="1">
                  <a:solidFill>
                    <a:srgbClr val="0000FF"/>
                  </a:solidFill>
                  <a:ea typeface="华文中宋"/>
                  <a:cs typeface="华文中宋"/>
                </a:rPr>
                <a:t>＝</a:t>
              </a:r>
              <a:r>
                <a:rPr lang="zh-CN" altLang="en-US" sz="1800" b="1" i="1">
                  <a:solidFill>
                    <a:srgbClr val="0000FF"/>
                  </a:solidFill>
                  <a:ea typeface="华文中宋"/>
                  <a:cs typeface="华文中宋"/>
                  <a:sym typeface="Symbol" pitchFamily="18" charset="2"/>
                </a:rPr>
                <a:t></a:t>
              </a:r>
              <a:r>
                <a:rPr lang="zh-CN" altLang="en-US" sz="1800" b="1">
                  <a:solidFill>
                    <a:srgbClr val="0000FF"/>
                  </a:solidFill>
                  <a:ea typeface="华文中宋"/>
                  <a:cs typeface="华文中宋"/>
                  <a:sym typeface="Symbol" pitchFamily="18" charset="2"/>
                </a:rPr>
                <a:t></a:t>
              </a:r>
              <a:r>
                <a:rPr lang="zh-CN" altLang="zh-CN" sz="1800" b="1">
                  <a:solidFill>
                    <a:srgbClr val="0000FF"/>
                  </a:solidFill>
                  <a:ea typeface="华文中宋"/>
                  <a:cs typeface="华文中宋"/>
                </a:rPr>
                <a:t>处的质元振动表达式</a:t>
              </a:r>
              <a:r>
                <a:rPr lang="zh-CN" altLang="en-US" sz="1800" b="1">
                  <a:solidFill>
                    <a:srgbClr val="0000FF"/>
                  </a:solidFill>
                  <a:ea typeface="华文中宋"/>
                  <a:cs typeface="华文中宋"/>
                </a:rPr>
                <a:t>为    　　　　　　　　 。</a:t>
              </a:r>
              <a:r>
                <a:rPr lang="zh-CN" altLang="zh-CN" sz="1800" b="1">
                  <a:solidFill>
                    <a:srgbClr val="0000FF"/>
                  </a:solidFill>
                  <a:ea typeface="华文中宋"/>
                  <a:cs typeface="华文中宋"/>
                </a:rPr>
                <a:t>试写出波动方程。</a:t>
              </a:r>
              <a:endParaRPr lang="zh-CN" altLang="en-US" sz="1800" b="1">
                <a:solidFill>
                  <a:srgbClr val="0000FF"/>
                </a:solidFill>
                <a:ea typeface="华文中宋"/>
                <a:cs typeface="华文中宋"/>
              </a:endParaRPr>
            </a:p>
          </p:txBody>
        </p:sp>
      </p:grpSp>
      <p:graphicFrame>
        <p:nvGraphicFramePr>
          <p:cNvPr id="37893" name="Object 40"/>
          <p:cNvGraphicFramePr>
            <a:graphicFrameLocks noChangeAspect="1"/>
          </p:cNvGraphicFramePr>
          <p:nvPr/>
        </p:nvGraphicFramePr>
        <p:xfrm>
          <a:off x="1539875" y="1924050"/>
          <a:ext cx="3608388" cy="569913"/>
        </p:xfrm>
        <a:graphic>
          <a:graphicData uri="http://schemas.openxmlformats.org/presentationml/2006/ole">
            <p:oleObj spid="_x0000_s35880" name="公式" r:id="rId5" imgW="1320227" imgH="330057" progId="Equation.3">
              <p:embed/>
            </p:oleObj>
          </a:graphicData>
        </a:graphic>
      </p:graphicFrame>
      <p:graphicFrame>
        <p:nvGraphicFramePr>
          <p:cNvPr id="37894" name="Object 41"/>
          <p:cNvGraphicFramePr>
            <a:graphicFrameLocks noChangeAspect="1"/>
          </p:cNvGraphicFramePr>
          <p:nvPr/>
        </p:nvGraphicFramePr>
        <p:xfrm>
          <a:off x="5003800" y="1979613"/>
          <a:ext cx="3843338" cy="514350"/>
        </p:xfrm>
        <a:graphic>
          <a:graphicData uri="http://schemas.openxmlformats.org/presentationml/2006/ole">
            <p:oleObj spid="_x0000_s35881" name="Equation" r:id="rId6" imgW="1854200" imgH="431800" progId="Equation.DSMT4">
              <p:embed/>
            </p:oleObj>
          </a:graphicData>
        </a:graphic>
      </p:graphicFrame>
      <p:sp>
        <p:nvSpPr>
          <p:cNvPr id="37896" name="Text Box 8"/>
          <p:cNvSpPr txBox="1">
            <a:spLocks noChangeArrowheads="1"/>
          </p:cNvSpPr>
          <p:nvPr/>
        </p:nvSpPr>
        <p:spPr bwMode="auto">
          <a:xfrm>
            <a:off x="827088" y="2417763"/>
            <a:ext cx="3744912" cy="369887"/>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rPr>
              <a:t>沿</a:t>
            </a:r>
            <a:r>
              <a:rPr lang="en-US" altLang="zh-CN" sz="1800" b="1" i="1">
                <a:ea typeface="华文中宋"/>
                <a:cs typeface="Times New Roman" pitchFamily="18" charset="0"/>
              </a:rPr>
              <a:t>x</a:t>
            </a:r>
            <a:r>
              <a:rPr lang="zh-CN" altLang="en-US" sz="1800" b="1">
                <a:latin typeface="华文中宋"/>
                <a:ea typeface="华文中宋"/>
                <a:cs typeface="华文中宋"/>
              </a:rPr>
              <a:t>轴正向传播，有</a:t>
            </a:r>
          </a:p>
        </p:txBody>
      </p:sp>
      <p:graphicFrame>
        <p:nvGraphicFramePr>
          <p:cNvPr id="37897" name="Object 42"/>
          <p:cNvGraphicFramePr>
            <a:graphicFrameLocks noChangeAspect="1"/>
          </p:cNvGraphicFramePr>
          <p:nvPr/>
        </p:nvGraphicFramePr>
        <p:xfrm>
          <a:off x="7164388" y="2903538"/>
          <a:ext cx="1223962" cy="388937"/>
        </p:xfrm>
        <a:graphic>
          <a:graphicData uri="http://schemas.openxmlformats.org/presentationml/2006/ole">
            <p:oleObj spid="_x0000_s35882" name="公式" r:id="rId7" imgW="418918" imgH="177723" progId="Equation.3">
              <p:embed/>
            </p:oleObj>
          </a:graphicData>
        </a:graphic>
      </p:graphicFrame>
      <p:graphicFrame>
        <p:nvGraphicFramePr>
          <p:cNvPr id="37898" name="Object 43"/>
          <p:cNvGraphicFramePr>
            <a:graphicFrameLocks noChangeAspect="1"/>
          </p:cNvGraphicFramePr>
          <p:nvPr/>
        </p:nvGraphicFramePr>
        <p:xfrm>
          <a:off x="2262188" y="3508375"/>
          <a:ext cx="3678237" cy="592138"/>
        </p:xfrm>
        <a:graphic>
          <a:graphicData uri="http://schemas.openxmlformats.org/presentationml/2006/ole">
            <p:oleObj spid="_x0000_s35883" name="Equation" r:id="rId8" imgW="1905000" imgH="431800" progId="Equation.DSMT4">
              <p:embed/>
            </p:oleObj>
          </a:graphicData>
        </a:graphic>
      </p:graphicFrame>
      <p:sp>
        <p:nvSpPr>
          <p:cNvPr id="37899" name="Rectangle 11"/>
          <p:cNvSpPr>
            <a:spLocks noChangeArrowheads="1"/>
          </p:cNvSpPr>
          <p:nvPr/>
        </p:nvSpPr>
        <p:spPr bwMode="auto">
          <a:xfrm>
            <a:off x="355600" y="1738313"/>
            <a:ext cx="796925" cy="369887"/>
          </a:xfrm>
          <a:prstGeom prst="rect">
            <a:avLst/>
          </a:prstGeom>
          <a:noFill/>
          <a:ln w="9525">
            <a:noFill/>
            <a:miter lim="800000"/>
            <a:headEnd/>
            <a:tailEnd/>
          </a:ln>
        </p:spPr>
        <p:txBody>
          <a:bodyPr>
            <a:spAutoFit/>
          </a:bodyPr>
          <a:lstStyle/>
          <a:p>
            <a:r>
              <a:rPr lang="zh-CN" altLang="en-US" sz="1800" b="1">
                <a:solidFill>
                  <a:srgbClr val="FF0000"/>
                </a:solidFill>
                <a:latin typeface="华文中宋"/>
                <a:ea typeface="华文中宋"/>
                <a:cs typeface="华文中宋"/>
              </a:rPr>
              <a:t>解：</a:t>
            </a:r>
          </a:p>
        </p:txBody>
      </p:sp>
      <p:sp>
        <p:nvSpPr>
          <p:cNvPr id="37903" name="Rectangle 15"/>
          <p:cNvSpPr>
            <a:spLocks noChangeArrowheads="1"/>
          </p:cNvSpPr>
          <p:nvPr/>
        </p:nvSpPr>
        <p:spPr bwMode="auto">
          <a:xfrm>
            <a:off x="827088" y="4227513"/>
            <a:ext cx="3168650" cy="368300"/>
          </a:xfrm>
          <a:prstGeom prst="rect">
            <a:avLst/>
          </a:prstGeom>
          <a:noFill/>
          <a:ln w="9525">
            <a:noFill/>
            <a:miter lim="800000"/>
            <a:headEnd/>
            <a:tailEnd/>
          </a:ln>
        </p:spPr>
        <p:txBody>
          <a:bodyPr>
            <a:spAutoFit/>
          </a:bodyPr>
          <a:lstStyle/>
          <a:p>
            <a:r>
              <a:rPr lang="zh-CN" altLang="zh-CN" sz="1800" b="1">
                <a:latin typeface="华文中宋"/>
                <a:ea typeface="华文中宋"/>
                <a:cs typeface="华文中宋"/>
              </a:rPr>
              <a:t>所以向正方向的波动方程为</a:t>
            </a:r>
            <a:endParaRPr lang="zh-CN" altLang="en-US" sz="1800" b="1">
              <a:latin typeface="华文中宋"/>
              <a:ea typeface="华文中宋"/>
              <a:cs typeface="华文中宋"/>
            </a:endParaRPr>
          </a:p>
        </p:txBody>
      </p:sp>
      <p:graphicFrame>
        <p:nvGraphicFramePr>
          <p:cNvPr id="37907" name="Object 44"/>
          <p:cNvGraphicFramePr>
            <a:graphicFrameLocks noChangeAspect="1"/>
          </p:cNvGraphicFramePr>
          <p:nvPr/>
        </p:nvGraphicFramePr>
        <p:xfrm>
          <a:off x="5940425" y="3508375"/>
          <a:ext cx="2513013" cy="555625"/>
        </p:xfrm>
        <a:graphic>
          <a:graphicData uri="http://schemas.openxmlformats.org/presentationml/2006/ole">
            <p:oleObj spid="_x0000_s35884" name="Equation" r:id="rId9" imgW="1473200" imgH="431800" progId="Equation.DSMT4">
              <p:embed/>
            </p:oleObj>
          </a:graphicData>
        </a:graphic>
      </p:graphicFrame>
      <p:graphicFrame>
        <p:nvGraphicFramePr>
          <p:cNvPr id="46126" name="Object 45"/>
          <p:cNvGraphicFramePr>
            <a:graphicFrameLocks noChangeAspect="1"/>
          </p:cNvGraphicFramePr>
          <p:nvPr/>
        </p:nvGraphicFramePr>
        <p:xfrm>
          <a:off x="1973263" y="2787650"/>
          <a:ext cx="4111625" cy="633413"/>
        </p:xfrm>
        <a:graphic>
          <a:graphicData uri="http://schemas.openxmlformats.org/presentationml/2006/ole">
            <p:oleObj spid="_x0000_s35885" name="Equation" r:id="rId10" imgW="1968500" imgH="431800" progId="Equation.DSMT4">
              <p:embed/>
            </p:oleObj>
          </a:graphicData>
        </a:graphic>
      </p:graphicFrame>
      <p:graphicFrame>
        <p:nvGraphicFramePr>
          <p:cNvPr id="46127" name="Object 46"/>
          <p:cNvGraphicFramePr>
            <a:graphicFrameLocks noChangeAspect="1"/>
          </p:cNvGraphicFramePr>
          <p:nvPr/>
        </p:nvGraphicFramePr>
        <p:xfrm>
          <a:off x="3779838" y="4084638"/>
          <a:ext cx="2797175" cy="604837"/>
        </p:xfrm>
        <a:graphic>
          <a:graphicData uri="http://schemas.openxmlformats.org/presentationml/2006/ole">
            <p:oleObj spid="_x0000_s35886" name="公式" r:id="rId11" imgW="1143000" imgH="3302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7899"/>
                                        </p:tgtEl>
                                        <p:attrNameLst>
                                          <p:attrName>style.visibility</p:attrName>
                                        </p:attrNameLst>
                                      </p:cBhvr>
                                      <p:to>
                                        <p:strVal val="visible"/>
                                      </p:to>
                                    </p:set>
                                    <p:anim calcmode="lin" valueType="num">
                                      <p:cBhvr>
                                        <p:cTn id="7" dur="500" fill="hold"/>
                                        <p:tgtEl>
                                          <p:spTgt spid="37899"/>
                                        </p:tgtEl>
                                        <p:attrNameLst>
                                          <p:attrName>ppt_w</p:attrName>
                                        </p:attrNameLst>
                                      </p:cBhvr>
                                      <p:tavLst>
                                        <p:tav tm="0">
                                          <p:val>
                                            <p:fltVal val="0"/>
                                          </p:val>
                                        </p:tav>
                                        <p:tav tm="100000">
                                          <p:val>
                                            <p:strVal val="#ppt_w"/>
                                          </p:val>
                                        </p:tav>
                                      </p:tavLst>
                                    </p:anim>
                                    <p:anim calcmode="lin" valueType="num">
                                      <p:cBhvr>
                                        <p:cTn id="8" dur="500" fill="hold"/>
                                        <p:tgtEl>
                                          <p:spTgt spid="37899"/>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37893"/>
                                        </p:tgtEl>
                                        <p:attrNameLst>
                                          <p:attrName>style.visibility</p:attrName>
                                        </p:attrNameLst>
                                      </p:cBhvr>
                                      <p:to>
                                        <p:strVal val="visible"/>
                                      </p:to>
                                    </p:set>
                                    <p:anim calcmode="lin" valueType="num">
                                      <p:cBhvr>
                                        <p:cTn id="13" dur="500" fill="hold"/>
                                        <p:tgtEl>
                                          <p:spTgt spid="37893"/>
                                        </p:tgtEl>
                                        <p:attrNameLst>
                                          <p:attrName>ppt_w</p:attrName>
                                        </p:attrNameLst>
                                      </p:cBhvr>
                                      <p:tavLst>
                                        <p:tav tm="0">
                                          <p:val>
                                            <p:fltVal val="0"/>
                                          </p:val>
                                        </p:tav>
                                        <p:tav tm="100000">
                                          <p:val>
                                            <p:strVal val="#ppt_w"/>
                                          </p:val>
                                        </p:tav>
                                      </p:tavLst>
                                    </p:anim>
                                    <p:anim calcmode="lin" valueType="num">
                                      <p:cBhvr>
                                        <p:cTn id="14" dur="500" fill="hold"/>
                                        <p:tgtEl>
                                          <p:spTgt spid="37893"/>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37894"/>
                                        </p:tgtEl>
                                        <p:attrNameLst>
                                          <p:attrName>style.visibility</p:attrName>
                                        </p:attrNameLst>
                                      </p:cBhvr>
                                      <p:to>
                                        <p:strVal val="visible"/>
                                      </p:to>
                                    </p:set>
                                    <p:anim calcmode="lin" valueType="num">
                                      <p:cBhvr>
                                        <p:cTn id="19" dur="500" fill="hold"/>
                                        <p:tgtEl>
                                          <p:spTgt spid="37894"/>
                                        </p:tgtEl>
                                        <p:attrNameLst>
                                          <p:attrName>ppt_w</p:attrName>
                                        </p:attrNameLst>
                                      </p:cBhvr>
                                      <p:tavLst>
                                        <p:tav tm="0">
                                          <p:val>
                                            <p:fltVal val="0"/>
                                          </p:val>
                                        </p:tav>
                                        <p:tav tm="100000">
                                          <p:val>
                                            <p:strVal val="#ppt_w"/>
                                          </p:val>
                                        </p:tav>
                                      </p:tavLst>
                                    </p:anim>
                                    <p:anim calcmode="lin" valueType="num">
                                      <p:cBhvr>
                                        <p:cTn id="20" dur="500" fill="hold"/>
                                        <p:tgtEl>
                                          <p:spTgt spid="37894"/>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7896"/>
                                        </p:tgtEl>
                                        <p:attrNameLst>
                                          <p:attrName>style.visibility</p:attrName>
                                        </p:attrNameLst>
                                      </p:cBhvr>
                                      <p:to>
                                        <p:strVal val="visible"/>
                                      </p:to>
                                    </p:set>
                                    <p:animEffect transition="in" filter="blinds(horizontal)">
                                      <p:cBhvr>
                                        <p:cTn id="25" dur="500"/>
                                        <p:tgtEl>
                                          <p:spTgt spid="3789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46126"/>
                                        </p:tgtEl>
                                        <p:attrNameLst>
                                          <p:attrName>style.visibility</p:attrName>
                                        </p:attrNameLst>
                                      </p:cBhvr>
                                      <p:to>
                                        <p:strVal val="visible"/>
                                      </p:to>
                                    </p:set>
                                    <p:anim calcmode="lin" valueType="num">
                                      <p:cBhvr>
                                        <p:cTn id="30" dur="500" fill="hold"/>
                                        <p:tgtEl>
                                          <p:spTgt spid="46126"/>
                                        </p:tgtEl>
                                        <p:attrNameLst>
                                          <p:attrName>ppt_w</p:attrName>
                                        </p:attrNameLst>
                                      </p:cBhvr>
                                      <p:tavLst>
                                        <p:tav tm="0">
                                          <p:val>
                                            <p:fltVal val="0"/>
                                          </p:val>
                                        </p:tav>
                                        <p:tav tm="100000">
                                          <p:val>
                                            <p:strVal val="#ppt_w"/>
                                          </p:val>
                                        </p:tav>
                                      </p:tavLst>
                                    </p:anim>
                                    <p:anim calcmode="lin" valueType="num">
                                      <p:cBhvr>
                                        <p:cTn id="31" dur="500" fill="hold"/>
                                        <p:tgtEl>
                                          <p:spTgt spid="46126"/>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37897"/>
                                        </p:tgtEl>
                                        <p:attrNameLst>
                                          <p:attrName>style.visibility</p:attrName>
                                        </p:attrNameLst>
                                      </p:cBhvr>
                                      <p:to>
                                        <p:strVal val="visible"/>
                                      </p:to>
                                    </p:set>
                                    <p:animEffect transition="in" filter="blinds(horizontal)">
                                      <p:cBhvr>
                                        <p:cTn id="36" dur="500"/>
                                        <p:tgtEl>
                                          <p:spTgt spid="3789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16" fill="hold" nodeType="clickEffect">
                                  <p:stCondLst>
                                    <p:cond delay="0"/>
                                  </p:stCondLst>
                                  <p:childTnLst>
                                    <p:set>
                                      <p:cBhvr>
                                        <p:cTn id="40" dur="1" fill="hold">
                                          <p:stCondLst>
                                            <p:cond delay="0"/>
                                          </p:stCondLst>
                                        </p:cTn>
                                        <p:tgtEl>
                                          <p:spTgt spid="37898"/>
                                        </p:tgtEl>
                                        <p:attrNameLst>
                                          <p:attrName>style.visibility</p:attrName>
                                        </p:attrNameLst>
                                      </p:cBhvr>
                                      <p:to>
                                        <p:strVal val="visible"/>
                                      </p:to>
                                    </p:set>
                                    <p:anim calcmode="lin" valueType="num">
                                      <p:cBhvr>
                                        <p:cTn id="41" dur="500" fill="hold"/>
                                        <p:tgtEl>
                                          <p:spTgt spid="37898"/>
                                        </p:tgtEl>
                                        <p:attrNameLst>
                                          <p:attrName>ppt_w</p:attrName>
                                        </p:attrNameLst>
                                      </p:cBhvr>
                                      <p:tavLst>
                                        <p:tav tm="0">
                                          <p:val>
                                            <p:fltVal val="0"/>
                                          </p:val>
                                        </p:tav>
                                        <p:tav tm="100000">
                                          <p:val>
                                            <p:strVal val="#ppt_w"/>
                                          </p:val>
                                        </p:tav>
                                      </p:tavLst>
                                    </p:anim>
                                    <p:anim calcmode="lin" valueType="num">
                                      <p:cBhvr>
                                        <p:cTn id="42" dur="500" fill="hold"/>
                                        <p:tgtEl>
                                          <p:spTgt spid="37898"/>
                                        </p:tgtEl>
                                        <p:attrNameLst>
                                          <p:attrName>ppt_h</p:attrName>
                                        </p:attrNameLst>
                                      </p:cBhvr>
                                      <p:tavLst>
                                        <p:tav tm="0">
                                          <p:val>
                                            <p:fltVal val="0"/>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16" fill="hold" nodeType="clickEffect">
                                  <p:stCondLst>
                                    <p:cond delay="0"/>
                                  </p:stCondLst>
                                  <p:childTnLst>
                                    <p:set>
                                      <p:cBhvr>
                                        <p:cTn id="46" dur="1" fill="hold">
                                          <p:stCondLst>
                                            <p:cond delay="0"/>
                                          </p:stCondLst>
                                        </p:cTn>
                                        <p:tgtEl>
                                          <p:spTgt spid="37907"/>
                                        </p:tgtEl>
                                        <p:attrNameLst>
                                          <p:attrName>style.visibility</p:attrName>
                                        </p:attrNameLst>
                                      </p:cBhvr>
                                      <p:to>
                                        <p:strVal val="visible"/>
                                      </p:to>
                                    </p:set>
                                    <p:anim calcmode="lin" valueType="num">
                                      <p:cBhvr>
                                        <p:cTn id="47" dur="500" fill="hold"/>
                                        <p:tgtEl>
                                          <p:spTgt spid="37907"/>
                                        </p:tgtEl>
                                        <p:attrNameLst>
                                          <p:attrName>ppt_w</p:attrName>
                                        </p:attrNameLst>
                                      </p:cBhvr>
                                      <p:tavLst>
                                        <p:tav tm="0">
                                          <p:val>
                                            <p:fltVal val="0"/>
                                          </p:val>
                                        </p:tav>
                                        <p:tav tm="100000">
                                          <p:val>
                                            <p:strVal val="#ppt_w"/>
                                          </p:val>
                                        </p:tav>
                                      </p:tavLst>
                                    </p:anim>
                                    <p:anim calcmode="lin" valueType="num">
                                      <p:cBhvr>
                                        <p:cTn id="48" dur="500" fill="hold"/>
                                        <p:tgtEl>
                                          <p:spTgt spid="37907"/>
                                        </p:tgtEl>
                                        <p:attrNameLst>
                                          <p:attrName>ppt_h</p:attrName>
                                        </p:attrNameLst>
                                      </p:cBhvr>
                                      <p:tavLst>
                                        <p:tav tm="0">
                                          <p:val>
                                            <p:fltVal val="0"/>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3" presetClass="entr" presetSubtype="16" fill="hold" grpId="0" nodeType="clickEffect">
                                  <p:stCondLst>
                                    <p:cond delay="0"/>
                                  </p:stCondLst>
                                  <p:childTnLst>
                                    <p:set>
                                      <p:cBhvr>
                                        <p:cTn id="52" dur="1" fill="hold">
                                          <p:stCondLst>
                                            <p:cond delay="0"/>
                                          </p:stCondLst>
                                        </p:cTn>
                                        <p:tgtEl>
                                          <p:spTgt spid="37903"/>
                                        </p:tgtEl>
                                        <p:attrNameLst>
                                          <p:attrName>style.visibility</p:attrName>
                                        </p:attrNameLst>
                                      </p:cBhvr>
                                      <p:to>
                                        <p:strVal val="visible"/>
                                      </p:to>
                                    </p:set>
                                    <p:anim calcmode="lin" valueType="num">
                                      <p:cBhvr>
                                        <p:cTn id="53" dur="500" fill="hold"/>
                                        <p:tgtEl>
                                          <p:spTgt spid="37903"/>
                                        </p:tgtEl>
                                        <p:attrNameLst>
                                          <p:attrName>ppt_w</p:attrName>
                                        </p:attrNameLst>
                                      </p:cBhvr>
                                      <p:tavLst>
                                        <p:tav tm="0">
                                          <p:val>
                                            <p:fltVal val="0"/>
                                          </p:val>
                                        </p:tav>
                                        <p:tav tm="100000">
                                          <p:val>
                                            <p:strVal val="#ppt_w"/>
                                          </p:val>
                                        </p:tav>
                                      </p:tavLst>
                                    </p:anim>
                                    <p:anim calcmode="lin" valueType="num">
                                      <p:cBhvr>
                                        <p:cTn id="54" dur="500" fill="hold"/>
                                        <p:tgtEl>
                                          <p:spTgt spid="37903"/>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5" fill="hold" nodeType="clickPar">
                      <p:stCondLst>
                        <p:cond delay="indefinite"/>
                      </p:stCondLst>
                      <p:childTnLst>
                        <p:par>
                          <p:cTn id="56" fill="hold" nodeType="withGroup">
                            <p:stCondLst>
                              <p:cond delay="0"/>
                            </p:stCondLst>
                            <p:childTnLst>
                              <p:par>
                                <p:cTn id="57" presetID="23" presetClass="entr" presetSubtype="16" fill="hold" nodeType="clickEffect">
                                  <p:stCondLst>
                                    <p:cond delay="0"/>
                                  </p:stCondLst>
                                  <p:childTnLst>
                                    <p:set>
                                      <p:cBhvr>
                                        <p:cTn id="58" dur="1" fill="hold">
                                          <p:stCondLst>
                                            <p:cond delay="0"/>
                                          </p:stCondLst>
                                        </p:cTn>
                                        <p:tgtEl>
                                          <p:spTgt spid="46127"/>
                                        </p:tgtEl>
                                        <p:attrNameLst>
                                          <p:attrName>style.visibility</p:attrName>
                                        </p:attrNameLst>
                                      </p:cBhvr>
                                      <p:to>
                                        <p:strVal val="visible"/>
                                      </p:to>
                                    </p:set>
                                    <p:anim calcmode="lin" valueType="num">
                                      <p:cBhvr>
                                        <p:cTn id="59" dur="500" fill="hold"/>
                                        <p:tgtEl>
                                          <p:spTgt spid="46127"/>
                                        </p:tgtEl>
                                        <p:attrNameLst>
                                          <p:attrName>ppt_w</p:attrName>
                                        </p:attrNameLst>
                                      </p:cBhvr>
                                      <p:tavLst>
                                        <p:tav tm="0">
                                          <p:val>
                                            <p:fltVal val="0"/>
                                          </p:val>
                                        </p:tav>
                                        <p:tav tm="100000">
                                          <p:val>
                                            <p:strVal val="#ppt_w"/>
                                          </p:val>
                                        </p:tav>
                                      </p:tavLst>
                                    </p:anim>
                                    <p:anim calcmode="lin" valueType="num">
                                      <p:cBhvr>
                                        <p:cTn id="60" dur="500" fill="hold"/>
                                        <p:tgtEl>
                                          <p:spTgt spid="4612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6" grpId="0"/>
      <p:bldP spid="37899" grpId="0" autoUpdateAnimBg="0"/>
      <p:bldP spid="37903"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107950" y="773113"/>
            <a:ext cx="8496300" cy="646112"/>
          </a:xfrm>
          <a:prstGeom prst="rect">
            <a:avLst/>
          </a:prstGeom>
          <a:noFill/>
          <a:ln w="9525">
            <a:noFill/>
            <a:miter lim="800000"/>
            <a:headEnd/>
            <a:tailEnd/>
          </a:ln>
        </p:spPr>
        <p:txBody>
          <a:bodyPr>
            <a:spAutoFit/>
          </a:bodyPr>
          <a:lstStyle/>
          <a:p>
            <a:r>
              <a:rPr lang="zh-CN" altLang="en-US" sz="1800" b="1">
                <a:solidFill>
                  <a:srgbClr val="0000FF"/>
                </a:solidFill>
                <a:ea typeface="华文中宋"/>
                <a:cs typeface="华文中宋"/>
              </a:rPr>
              <a:t>例  图示为一平面简谐波在</a:t>
            </a:r>
            <a:r>
              <a:rPr lang="en-US" altLang="zh-CN" sz="1800" b="1" i="1">
                <a:solidFill>
                  <a:srgbClr val="0000FF"/>
                </a:solidFill>
                <a:ea typeface="华文中宋"/>
                <a:cs typeface="华文中宋"/>
              </a:rPr>
              <a:t>t</a:t>
            </a:r>
            <a:r>
              <a:rPr lang="zh-CN" altLang="en-US" sz="1800" b="1">
                <a:solidFill>
                  <a:srgbClr val="0000FF"/>
                </a:solidFill>
                <a:ea typeface="华文中宋"/>
                <a:cs typeface="华文中宋"/>
              </a:rPr>
              <a:t>＝</a:t>
            </a:r>
            <a:r>
              <a:rPr lang="en-US" altLang="zh-CN" sz="1800" b="1">
                <a:solidFill>
                  <a:srgbClr val="0000FF"/>
                </a:solidFill>
                <a:ea typeface="华文中宋"/>
                <a:cs typeface="华文中宋"/>
              </a:rPr>
              <a:t>0</a:t>
            </a:r>
            <a:r>
              <a:rPr lang="zh-CN" altLang="en-US" sz="1800" b="1">
                <a:solidFill>
                  <a:srgbClr val="0000FF"/>
                </a:solidFill>
                <a:ea typeface="华文中宋"/>
                <a:cs typeface="华文中宋"/>
              </a:rPr>
              <a:t>时的波形图，求：（</a:t>
            </a:r>
            <a:r>
              <a:rPr lang="en-US" altLang="zh-CN" sz="1800" b="1">
                <a:solidFill>
                  <a:srgbClr val="0000FF"/>
                </a:solidFill>
                <a:ea typeface="华文中宋"/>
                <a:cs typeface="华文中宋"/>
              </a:rPr>
              <a:t>1</a:t>
            </a:r>
            <a:r>
              <a:rPr lang="zh-CN" altLang="en-US" sz="1800" b="1">
                <a:solidFill>
                  <a:srgbClr val="0000FF"/>
                </a:solidFill>
                <a:ea typeface="华文中宋"/>
                <a:cs typeface="华文中宋"/>
              </a:rPr>
              <a:t>）该波的波动方程； （</a:t>
            </a:r>
            <a:r>
              <a:rPr lang="en-US" altLang="zh-CN" sz="1800" b="1">
                <a:solidFill>
                  <a:srgbClr val="0000FF"/>
                </a:solidFill>
                <a:ea typeface="华文中宋"/>
                <a:cs typeface="华文中宋"/>
              </a:rPr>
              <a:t>2</a:t>
            </a:r>
            <a:r>
              <a:rPr lang="zh-CN" altLang="en-US" sz="1800" b="1">
                <a:solidFill>
                  <a:srgbClr val="0000FF"/>
                </a:solidFill>
                <a:ea typeface="华文中宋"/>
                <a:cs typeface="华文中宋"/>
              </a:rPr>
              <a:t>）</a:t>
            </a:r>
            <a:r>
              <a:rPr lang="en-US" altLang="zh-CN" sz="1800" b="1" i="1">
                <a:solidFill>
                  <a:srgbClr val="0000FF"/>
                </a:solidFill>
                <a:ea typeface="华文中宋"/>
                <a:cs typeface="华文中宋"/>
              </a:rPr>
              <a:t>P</a:t>
            </a:r>
            <a:r>
              <a:rPr lang="zh-CN" altLang="en-US" sz="1800" b="1">
                <a:solidFill>
                  <a:srgbClr val="0000FF"/>
                </a:solidFill>
                <a:ea typeface="华文中宋"/>
                <a:cs typeface="华文中宋"/>
              </a:rPr>
              <a:t>处质点的振动方程。</a:t>
            </a:r>
          </a:p>
        </p:txBody>
      </p:sp>
      <p:sp>
        <p:nvSpPr>
          <p:cNvPr id="38930" name="Text Box 18"/>
          <p:cNvSpPr txBox="1">
            <a:spLocks noChangeArrowheads="1"/>
          </p:cNvSpPr>
          <p:nvPr/>
        </p:nvSpPr>
        <p:spPr bwMode="auto">
          <a:xfrm>
            <a:off x="4427538" y="1158875"/>
            <a:ext cx="3529012" cy="692150"/>
          </a:xfrm>
          <a:prstGeom prst="rect">
            <a:avLst/>
          </a:prstGeom>
          <a:noFill/>
          <a:ln w="9525">
            <a:noFill/>
            <a:miter lim="800000"/>
            <a:headEnd/>
            <a:tailEnd/>
          </a:ln>
        </p:spPr>
        <p:txBody>
          <a:bodyPr>
            <a:spAutoFit/>
          </a:bodyPr>
          <a:lstStyle/>
          <a:p>
            <a:r>
              <a:rPr lang="en-US" altLang="zh-CN" sz="2400" b="1">
                <a:ea typeface="华文中宋"/>
                <a:cs typeface="华文中宋"/>
              </a:rPr>
              <a:t> </a:t>
            </a:r>
            <a:r>
              <a:rPr lang="zh-CN" altLang="en-US" sz="1500" b="1">
                <a:solidFill>
                  <a:srgbClr val="FF0000"/>
                </a:solidFill>
                <a:ea typeface="华文中宋"/>
                <a:cs typeface="华文中宋"/>
              </a:rPr>
              <a:t>解：</a:t>
            </a:r>
            <a:r>
              <a:rPr lang="zh-CN" altLang="en-US" sz="1500" b="1">
                <a:ea typeface="华文中宋"/>
                <a:cs typeface="华文中宋"/>
              </a:rPr>
              <a:t>（</a:t>
            </a:r>
            <a:r>
              <a:rPr lang="en-US" altLang="zh-CN" sz="1500" b="1">
                <a:ea typeface="华文中宋"/>
                <a:cs typeface="华文中宋"/>
              </a:rPr>
              <a:t>1</a:t>
            </a:r>
            <a:r>
              <a:rPr lang="zh-CN" altLang="en-US" sz="1500" b="1">
                <a:ea typeface="华文中宋"/>
                <a:cs typeface="华文中宋"/>
              </a:rPr>
              <a:t>）由图知：</a:t>
            </a:r>
            <a:r>
              <a:rPr lang="en-US" altLang="zh-CN" sz="1500" b="1" i="1">
                <a:ea typeface="华文中宋"/>
                <a:cs typeface="华文中宋"/>
              </a:rPr>
              <a:t>A</a:t>
            </a:r>
            <a:r>
              <a:rPr lang="zh-CN" altLang="en-US" sz="1500" b="1">
                <a:ea typeface="华文中宋"/>
                <a:cs typeface="华文中宋"/>
              </a:rPr>
              <a:t>＝</a:t>
            </a:r>
            <a:r>
              <a:rPr lang="en-US" altLang="zh-CN" sz="1500" b="1">
                <a:ea typeface="华文中宋"/>
                <a:cs typeface="华文中宋"/>
              </a:rPr>
              <a:t>0.04m</a:t>
            </a:r>
            <a:r>
              <a:rPr lang="zh-CN" altLang="en-US" sz="1500" b="1">
                <a:ea typeface="华文中宋"/>
                <a:cs typeface="华文中宋"/>
              </a:rPr>
              <a:t>，</a:t>
            </a:r>
            <a:r>
              <a:rPr lang="zh-CN" altLang="en-US" sz="1500" b="1" i="1">
                <a:ea typeface="华文中宋"/>
                <a:cs typeface="华文中宋"/>
                <a:sym typeface="Symbol" pitchFamily="18" charset="2"/>
              </a:rPr>
              <a:t></a:t>
            </a:r>
            <a:r>
              <a:rPr lang="zh-CN" altLang="en-US" sz="1500" b="1">
                <a:ea typeface="华文中宋"/>
                <a:cs typeface="华文中宋"/>
                <a:sym typeface="Symbol" pitchFamily="18" charset="2"/>
              </a:rPr>
              <a:t>＝</a:t>
            </a:r>
            <a:r>
              <a:rPr lang="en-US" altLang="zh-CN" sz="1500" b="1">
                <a:ea typeface="华文中宋"/>
                <a:cs typeface="华文中宋"/>
                <a:sym typeface="Symbol" pitchFamily="18" charset="2"/>
              </a:rPr>
              <a:t>0.40m</a:t>
            </a:r>
            <a:r>
              <a:rPr lang="zh-CN" altLang="en-US" sz="1500" b="1">
                <a:ea typeface="华文中宋"/>
                <a:cs typeface="华文中宋"/>
                <a:sym typeface="Symbol" pitchFamily="18" charset="2"/>
              </a:rPr>
              <a:t>，且</a:t>
            </a:r>
            <a:r>
              <a:rPr lang="en-US" altLang="zh-CN" sz="1500" b="1" i="1">
                <a:ea typeface="华文中宋"/>
                <a:cs typeface="华文中宋"/>
              </a:rPr>
              <a:t>O</a:t>
            </a:r>
            <a:r>
              <a:rPr lang="zh-CN" altLang="en-US" sz="1500" b="1">
                <a:ea typeface="华文中宋"/>
                <a:cs typeface="华文中宋"/>
              </a:rPr>
              <a:t>处质点，</a:t>
            </a:r>
            <a:r>
              <a:rPr lang="en-US" altLang="zh-CN" sz="1500" b="1" i="1">
                <a:ea typeface="华文中宋"/>
                <a:cs typeface="华文中宋"/>
              </a:rPr>
              <a:t>t</a:t>
            </a:r>
            <a:r>
              <a:rPr lang="en-US" altLang="zh-CN" sz="1500" b="1">
                <a:ea typeface="华文中宋"/>
                <a:cs typeface="华文中宋"/>
              </a:rPr>
              <a:t>=0</a:t>
            </a:r>
            <a:r>
              <a:rPr lang="zh-CN" altLang="en-US" sz="1500" b="1">
                <a:ea typeface="华文中宋"/>
                <a:cs typeface="华文中宋"/>
              </a:rPr>
              <a:t>时，</a:t>
            </a:r>
          </a:p>
        </p:txBody>
      </p:sp>
      <p:graphicFrame>
        <p:nvGraphicFramePr>
          <p:cNvPr id="38931" name="Object 67"/>
          <p:cNvGraphicFramePr>
            <a:graphicFrameLocks noChangeAspect="1"/>
          </p:cNvGraphicFramePr>
          <p:nvPr/>
        </p:nvGraphicFramePr>
        <p:xfrm>
          <a:off x="4572000" y="1822450"/>
          <a:ext cx="2368550" cy="677863"/>
        </p:xfrm>
        <a:graphic>
          <a:graphicData uri="http://schemas.openxmlformats.org/presentationml/2006/ole">
            <p:oleObj spid="_x0000_s36931" name="Equation" r:id="rId3" imgW="1002865" imgH="330057" progId="Equation.DSMT4">
              <p:embed/>
            </p:oleObj>
          </a:graphicData>
        </a:graphic>
      </p:graphicFrame>
      <p:graphicFrame>
        <p:nvGraphicFramePr>
          <p:cNvPr id="38932" name="Object 68"/>
          <p:cNvGraphicFramePr>
            <a:graphicFrameLocks noChangeAspect="1"/>
          </p:cNvGraphicFramePr>
          <p:nvPr/>
        </p:nvGraphicFramePr>
        <p:xfrm>
          <a:off x="4932363" y="2400300"/>
          <a:ext cx="2093912" cy="603250"/>
        </p:xfrm>
        <a:graphic>
          <a:graphicData uri="http://schemas.openxmlformats.org/presentationml/2006/ole">
            <p:oleObj spid="_x0000_s36932" name="Equation" r:id="rId4" imgW="863225" imgH="393529" progId="Equation.DSMT4">
              <p:embed/>
            </p:oleObj>
          </a:graphicData>
        </a:graphic>
      </p:graphicFrame>
      <p:graphicFrame>
        <p:nvGraphicFramePr>
          <p:cNvPr id="38934" name="Object 69"/>
          <p:cNvGraphicFramePr>
            <a:graphicFrameLocks noChangeAspect="1"/>
          </p:cNvGraphicFramePr>
          <p:nvPr/>
        </p:nvGraphicFramePr>
        <p:xfrm>
          <a:off x="900113" y="2911475"/>
          <a:ext cx="2879725" cy="523875"/>
        </p:xfrm>
        <a:graphic>
          <a:graphicData uri="http://schemas.openxmlformats.org/presentationml/2006/ole">
            <p:oleObj spid="_x0000_s36933" name="Equation" r:id="rId5" imgW="1231366" imgH="393529" progId="Equation.DSMT4">
              <p:embed/>
            </p:oleObj>
          </a:graphicData>
        </a:graphic>
      </p:graphicFrame>
      <p:sp>
        <p:nvSpPr>
          <p:cNvPr id="38935" name="Text Box 23"/>
          <p:cNvSpPr txBox="1">
            <a:spLocks noChangeArrowheads="1"/>
          </p:cNvSpPr>
          <p:nvPr/>
        </p:nvSpPr>
        <p:spPr bwMode="auto">
          <a:xfrm>
            <a:off x="522288" y="3003550"/>
            <a:ext cx="377825" cy="323850"/>
          </a:xfrm>
          <a:prstGeom prst="rect">
            <a:avLst/>
          </a:prstGeom>
          <a:noFill/>
          <a:ln w="9525">
            <a:noFill/>
            <a:miter lim="800000"/>
            <a:headEnd/>
            <a:tailEnd/>
          </a:ln>
        </p:spPr>
        <p:txBody>
          <a:bodyPr wrap="none">
            <a:spAutoFit/>
          </a:bodyPr>
          <a:lstStyle/>
          <a:p>
            <a:r>
              <a:rPr lang="zh-CN" altLang="en-US" sz="1500" b="1">
                <a:latin typeface="楷体_GB2312"/>
                <a:ea typeface="楷体_GB2312"/>
                <a:cs typeface="楷体_GB2312"/>
              </a:rPr>
              <a:t>又</a:t>
            </a:r>
          </a:p>
        </p:txBody>
      </p:sp>
      <p:sp>
        <p:nvSpPr>
          <p:cNvPr id="38936" name="Text Box 24"/>
          <p:cNvSpPr txBox="1">
            <a:spLocks noChangeArrowheads="1"/>
          </p:cNvSpPr>
          <p:nvPr/>
        </p:nvSpPr>
        <p:spPr bwMode="auto">
          <a:xfrm>
            <a:off x="604838" y="3594100"/>
            <a:ext cx="1519237" cy="323850"/>
          </a:xfrm>
          <a:prstGeom prst="rect">
            <a:avLst/>
          </a:prstGeom>
          <a:noFill/>
          <a:ln w="9525">
            <a:noFill/>
            <a:miter lim="800000"/>
            <a:headEnd/>
            <a:tailEnd/>
          </a:ln>
        </p:spPr>
        <p:txBody>
          <a:bodyPr>
            <a:spAutoFit/>
          </a:bodyPr>
          <a:lstStyle/>
          <a:p>
            <a:r>
              <a:rPr lang="zh-CN" altLang="en-US" sz="1500" b="1">
                <a:ea typeface="华文中宋"/>
                <a:cs typeface="华文中宋"/>
              </a:rPr>
              <a:t>故波动方程为： </a:t>
            </a:r>
          </a:p>
        </p:txBody>
      </p:sp>
      <p:graphicFrame>
        <p:nvGraphicFramePr>
          <p:cNvPr id="38937" name="Object 70"/>
          <p:cNvGraphicFramePr>
            <a:graphicFrameLocks noChangeAspect="1"/>
          </p:cNvGraphicFramePr>
          <p:nvPr/>
        </p:nvGraphicFramePr>
        <p:xfrm>
          <a:off x="1984375" y="3522663"/>
          <a:ext cx="4532313" cy="561975"/>
        </p:xfrm>
        <a:graphic>
          <a:graphicData uri="http://schemas.openxmlformats.org/presentationml/2006/ole">
            <p:oleObj spid="_x0000_s36934" name="Equation" r:id="rId6" imgW="2425700" imgH="457200" progId="Equation.DSMT4">
              <p:embed/>
            </p:oleObj>
          </a:graphicData>
        </a:graphic>
      </p:graphicFrame>
      <p:graphicFrame>
        <p:nvGraphicFramePr>
          <p:cNvPr id="38939" name="Object 71"/>
          <p:cNvGraphicFramePr>
            <a:graphicFrameLocks noChangeAspect="1"/>
          </p:cNvGraphicFramePr>
          <p:nvPr/>
        </p:nvGraphicFramePr>
        <p:xfrm>
          <a:off x="4295775" y="2941638"/>
          <a:ext cx="2940050" cy="566737"/>
        </p:xfrm>
        <a:graphic>
          <a:graphicData uri="http://schemas.openxmlformats.org/presentationml/2006/ole">
            <p:oleObj spid="_x0000_s36935" name="Equation" r:id="rId7" imgW="1727200" imgH="457200" progId="Equation.DSMT4">
              <p:embed/>
            </p:oleObj>
          </a:graphicData>
        </a:graphic>
      </p:graphicFrame>
      <p:sp>
        <p:nvSpPr>
          <p:cNvPr id="38940" name="Text Box 28"/>
          <p:cNvSpPr txBox="1">
            <a:spLocks noChangeArrowheads="1"/>
          </p:cNvSpPr>
          <p:nvPr/>
        </p:nvSpPr>
        <p:spPr bwMode="auto">
          <a:xfrm>
            <a:off x="3940175" y="2994025"/>
            <a:ext cx="377825" cy="323850"/>
          </a:xfrm>
          <a:prstGeom prst="rect">
            <a:avLst/>
          </a:prstGeom>
          <a:noFill/>
          <a:ln w="9525">
            <a:noFill/>
            <a:miter lim="800000"/>
            <a:headEnd/>
            <a:tailEnd/>
          </a:ln>
        </p:spPr>
        <p:txBody>
          <a:bodyPr wrap="none">
            <a:spAutoFit/>
          </a:bodyPr>
          <a:lstStyle/>
          <a:p>
            <a:r>
              <a:rPr lang="zh-CN" altLang="en-US" sz="1500" b="1">
                <a:ea typeface="华文中宋"/>
                <a:cs typeface="华文中宋"/>
              </a:rPr>
              <a:t>取</a:t>
            </a:r>
          </a:p>
        </p:txBody>
      </p:sp>
      <p:grpSp>
        <p:nvGrpSpPr>
          <p:cNvPr id="36949" name="Group 16"/>
          <p:cNvGrpSpPr>
            <a:grpSpLocks/>
          </p:cNvGrpSpPr>
          <p:nvPr/>
        </p:nvGrpSpPr>
        <p:grpSpPr bwMode="auto">
          <a:xfrm>
            <a:off x="652463" y="1530350"/>
            <a:ext cx="3287712" cy="1328738"/>
            <a:chOff x="320" y="799"/>
            <a:chExt cx="2333" cy="1542"/>
          </a:xfrm>
        </p:grpSpPr>
        <p:sp>
          <p:nvSpPr>
            <p:cNvPr id="36951" name="Freeform 33"/>
            <p:cNvSpPr>
              <a:spLocks/>
            </p:cNvSpPr>
            <p:nvPr/>
          </p:nvSpPr>
          <p:spPr bwMode="auto">
            <a:xfrm flipV="1">
              <a:off x="748" y="1033"/>
              <a:ext cx="1562" cy="1172"/>
            </a:xfrm>
            <a:custGeom>
              <a:avLst/>
              <a:gdLst>
                <a:gd name="T0" fmla="*/ 0 w 10408"/>
                <a:gd name="T1" fmla="*/ 0 h 8414"/>
                <a:gd name="T2" fmla="*/ 0 w 10408"/>
                <a:gd name="T3" fmla="*/ 0 h 8414"/>
                <a:gd name="T4" fmla="*/ 0 w 10408"/>
                <a:gd name="T5" fmla="*/ 0 h 8414"/>
                <a:gd name="T6" fmla="*/ 0 w 10408"/>
                <a:gd name="T7" fmla="*/ 0 h 8414"/>
                <a:gd name="T8" fmla="*/ 0 w 10408"/>
                <a:gd name="T9" fmla="*/ 0 h 8414"/>
                <a:gd name="T10" fmla="*/ 0 w 10408"/>
                <a:gd name="T11" fmla="*/ 0 h 8414"/>
                <a:gd name="T12" fmla="*/ 0 w 10408"/>
                <a:gd name="T13" fmla="*/ 0 h 8414"/>
                <a:gd name="T14" fmla="*/ 0 w 10408"/>
                <a:gd name="T15" fmla="*/ 0 h 8414"/>
                <a:gd name="T16" fmla="*/ 0 w 10408"/>
                <a:gd name="T17" fmla="*/ 0 h 8414"/>
                <a:gd name="T18" fmla="*/ 0 w 10408"/>
                <a:gd name="T19" fmla="*/ 0 h 8414"/>
                <a:gd name="T20" fmla="*/ 0 w 10408"/>
                <a:gd name="T21" fmla="*/ 0 h 8414"/>
                <a:gd name="T22" fmla="*/ 0 w 10408"/>
                <a:gd name="T23" fmla="*/ 0 h 8414"/>
                <a:gd name="T24" fmla="*/ 0 w 10408"/>
                <a:gd name="T25" fmla="*/ 0 h 8414"/>
                <a:gd name="T26" fmla="*/ 0 w 10408"/>
                <a:gd name="T27" fmla="*/ 0 h 8414"/>
                <a:gd name="T28" fmla="*/ 0 w 10408"/>
                <a:gd name="T29" fmla="*/ 0 h 8414"/>
                <a:gd name="T30" fmla="*/ 0 w 10408"/>
                <a:gd name="T31" fmla="*/ 0 h 8414"/>
                <a:gd name="T32" fmla="*/ 0 w 10408"/>
                <a:gd name="T33" fmla="*/ 0 h 8414"/>
                <a:gd name="T34" fmla="*/ 0 w 10408"/>
                <a:gd name="T35" fmla="*/ 0 h 8414"/>
                <a:gd name="T36" fmla="*/ 0 w 10408"/>
                <a:gd name="T37" fmla="*/ 0 h 8414"/>
                <a:gd name="T38" fmla="*/ 0 w 10408"/>
                <a:gd name="T39" fmla="*/ 0 h 8414"/>
                <a:gd name="T40" fmla="*/ 0 w 10408"/>
                <a:gd name="T41" fmla="*/ 0 h 8414"/>
                <a:gd name="T42" fmla="*/ 0 w 10408"/>
                <a:gd name="T43" fmla="*/ 0 h 8414"/>
                <a:gd name="T44" fmla="*/ 0 w 10408"/>
                <a:gd name="T45" fmla="*/ 0 h 8414"/>
                <a:gd name="T46" fmla="*/ 0 w 10408"/>
                <a:gd name="T47" fmla="*/ 0 h 8414"/>
                <a:gd name="T48" fmla="*/ 0 w 10408"/>
                <a:gd name="T49" fmla="*/ 0 h 8414"/>
                <a:gd name="T50" fmla="*/ 0 w 10408"/>
                <a:gd name="T51" fmla="*/ 0 h 8414"/>
                <a:gd name="T52" fmla="*/ 0 w 10408"/>
                <a:gd name="T53" fmla="*/ 0 h 8414"/>
                <a:gd name="T54" fmla="*/ 0 w 10408"/>
                <a:gd name="T55" fmla="*/ 0 h 8414"/>
                <a:gd name="T56" fmla="*/ 0 w 10408"/>
                <a:gd name="T57" fmla="*/ 0 h 8414"/>
                <a:gd name="T58" fmla="*/ 0 w 10408"/>
                <a:gd name="T59" fmla="*/ 0 h 8414"/>
                <a:gd name="T60" fmla="*/ 0 w 10408"/>
                <a:gd name="T61" fmla="*/ 0 h 8414"/>
                <a:gd name="T62" fmla="*/ 0 w 10408"/>
                <a:gd name="T63" fmla="*/ 0 h 8414"/>
                <a:gd name="T64" fmla="*/ 0 w 10408"/>
                <a:gd name="T65" fmla="*/ 0 h 8414"/>
                <a:gd name="T66" fmla="*/ 0 w 10408"/>
                <a:gd name="T67" fmla="*/ 0 h 8414"/>
                <a:gd name="T68" fmla="*/ 0 w 10408"/>
                <a:gd name="T69" fmla="*/ 0 h 8414"/>
                <a:gd name="T70" fmla="*/ 0 w 10408"/>
                <a:gd name="T71" fmla="*/ 0 h 8414"/>
                <a:gd name="T72" fmla="*/ 0 w 10408"/>
                <a:gd name="T73" fmla="*/ 0 h 8414"/>
                <a:gd name="T74" fmla="*/ 0 w 10408"/>
                <a:gd name="T75" fmla="*/ 0 h 8414"/>
                <a:gd name="T76" fmla="*/ 0 w 10408"/>
                <a:gd name="T77" fmla="*/ 0 h 8414"/>
                <a:gd name="T78" fmla="*/ 0 w 10408"/>
                <a:gd name="T79" fmla="*/ 0 h 8414"/>
                <a:gd name="T80" fmla="*/ 0 w 10408"/>
                <a:gd name="T81" fmla="*/ 0 h 8414"/>
                <a:gd name="T82" fmla="*/ 0 w 10408"/>
                <a:gd name="T83" fmla="*/ 0 h 8414"/>
                <a:gd name="T84" fmla="*/ 0 w 10408"/>
                <a:gd name="T85" fmla="*/ 0 h 8414"/>
                <a:gd name="T86" fmla="*/ 0 w 10408"/>
                <a:gd name="T87" fmla="*/ 0 h 8414"/>
                <a:gd name="T88" fmla="*/ 0 w 10408"/>
                <a:gd name="T89" fmla="*/ 0 h 8414"/>
                <a:gd name="T90" fmla="*/ 0 w 10408"/>
                <a:gd name="T91" fmla="*/ 0 h 8414"/>
                <a:gd name="T92" fmla="*/ 0 w 10408"/>
                <a:gd name="T93" fmla="*/ 0 h 8414"/>
                <a:gd name="T94" fmla="*/ 0 w 10408"/>
                <a:gd name="T95" fmla="*/ 0 h 8414"/>
                <a:gd name="T96" fmla="*/ 0 w 10408"/>
                <a:gd name="T97" fmla="*/ 0 h 8414"/>
                <a:gd name="T98" fmla="*/ 0 w 10408"/>
                <a:gd name="T99" fmla="*/ 0 h 8414"/>
                <a:gd name="T100" fmla="*/ 0 w 10408"/>
                <a:gd name="T101" fmla="*/ 0 h 8414"/>
                <a:gd name="T102" fmla="*/ 0 w 10408"/>
                <a:gd name="T103" fmla="*/ 0 h 8414"/>
                <a:gd name="T104" fmla="*/ 0 w 10408"/>
                <a:gd name="T105" fmla="*/ 0 h 8414"/>
                <a:gd name="T106" fmla="*/ 0 w 10408"/>
                <a:gd name="T107" fmla="*/ 0 h 8414"/>
                <a:gd name="T108" fmla="*/ 0 w 10408"/>
                <a:gd name="T109" fmla="*/ 0 h 8414"/>
                <a:gd name="T110" fmla="*/ 0 w 10408"/>
                <a:gd name="T111" fmla="*/ 0 h 8414"/>
                <a:gd name="T112" fmla="*/ 0 w 10408"/>
                <a:gd name="T113" fmla="*/ 0 h 841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408"/>
                <a:gd name="T172" fmla="*/ 0 h 8414"/>
                <a:gd name="T173" fmla="*/ 10408 w 10408"/>
                <a:gd name="T174" fmla="*/ 8414 h 841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408" h="8414">
                  <a:moveTo>
                    <a:pt x="0" y="4206"/>
                  </a:moveTo>
                  <a:lnTo>
                    <a:pt x="26" y="4075"/>
                  </a:lnTo>
                  <a:lnTo>
                    <a:pt x="52" y="3943"/>
                  </a:lnTo>
                  <a:lnTo>
                    <a:pt x="78" y="3810"/>
                  </a:lnTo>
                  <a:lnTo>
                    <a:pt x="104" y="3679"/>
                  </a:lnTo>
                  <a:lnTo>
                    <a:pt x="130" y="3549"/>
                  </a:lnTo>
                  <a:lnTo>
                    <a:pt x="156" y="3419"/>
                  </a:lnTo>
                  <a:lnTo>
                    <a:pt x="181" y="3289"/>
                  </a:lnTo>
                  <a:lnTo>
                    <a:pt x="207" y="3160"/>
                  </a:lnTo>
                  <a:lnTo>
                    <a:pt x="233" y="3033"/>
                  </a:lnTo>
                  <a:lnTo>
                    <a:pt x="259" y="2906"/>
                  </a:lnTo>
                  <a:lnTo>
                    <a:pt x="285" y="2782"/>
                  </a:lnTo>
                  <a:lnTo>
                    <a:pt x="312" y="2658"/>
                  </a:lnTo>
                  <a:lnTo>
                    <a:pt x="338" y="2536"/>
                  </a:lnTo>
                  <a:lnTo>
                    <a:pt x="364" y="2416"/>
                  </a:lnTo>
                  <a:lnTo>
                    <a:pt x="390" y="2296"/>
                  </a:lnTo>
                  <a:lnTo>
                    <a:pt x="416" y="2180"/>
                  </a:lnTo>
                  <a:lnTo>
                    <a:pt x="442" y="2066"/>
                  </a:lnTo>
                  <a:lnTo>
                    <a:pt x="468" y="1952"/>
                  </a:lnTo>
                  <a:lnTo>
                    <a:pt x="494" y="1841"/>
                  </a:lnTo>
                  <a:lnTo>
                    <a:pt x="519" y="1734"/>
                  </a:lnTo>
                  <a:lnTo>
                    <a:pt x="545" y="1629"/>
                  </a:lnTo>
                  <a:lnTo>
                    <a:pt x="571" y="1525"/>
                  </a:lnTo>
                  <a:lnTo>
                    <a:pt x="597" y="1425"/>
                  </a:lnTo>
                  <a:lnTo>
                    <a:pt x="623" y="1327"/>
                  </a:lnTo>
                  <a:lnTo>
                    <a:pt x="649" y="1231"/>
                  </a:lnTo>
                  <a:lnTo>
                    <a:pt x="675" y="1140"/>
                  </a:lnTo>
                  <a:lnTo>
                    <a:pt x="701" y="1051"/>
                  </a:lnTo>
                  <a:lnTo>
                    <a:pt x="727" y="966"/>
                  </a:lnTo>
                  <a:lnTo>
                    <a:pt x="753" y="883"/>
                  </a:lnTo>
                  <a:lnTo>
                    <a:pt x="779" y="803"/>
                  </a:lnTo>
                  <a:lnTo>
                    <a:pt x="805" y="728"/>
                  </a:lnTo>
                  <a:lnTo>
                    <a:pt x="831" y="655"/>
                  </a:lnTo>
                  <a:lnTo>
                    <a:pt x="857" y="586"/>
                  </a:lnTo>
                  <a:lnTo>
                    <a:pt x="882" y="519"/>
                  </a:lnTo>
                  <a:lnTo>
                    <a:pt x="908" y="459"/>
                  </a:lnTo>
                  <a:lnTo>
                    <a:pt x="934" y="400"/>
                  </a:lnTo>
                  <a:lnTo>
                    <a:pt x="960" y="345"/>
                  </a:lnTo>
                  <a:lnTo>
                    <a:pt x="986" y="295"/>
                  </a:lnTo>
                  <a:lnTo>
                    <a:pt x="1012" y="248"/>
                  </a:lnTo>
                  <a:lnTo>
                    <a:pt x="1038" y="206"/>
                  </a:lnTo>
                  <a:lnTo>
                    <a:pt x="1064" y="166"/>
                  </a:lnTo>
                  <a:lnTo>
                    <a:pt x="1090" y="132"/>
                  </a:lnTo>
                  <a:lnTo>
                    <a:pt x="1116" y="101"/>
                  </a:lnTo>
                  <a:lnTo>
                    <a:pt x="1142" y="75"/>
                  </a:lnTo>
                  <a:lnTo>
                    <a:pt x="1169" y="51"/>
                  </a:lnTo>
                  <a:lnTo>
                    <a:pt x="1195" y="34"/>
                  </a:lnTo>
                  <a:lnTo>
                    <a:pt x="1219" y="19"/>
                  </a:lnTo>
                  <a:lnTo>
                    <a:pt x="1246" y="8"/>
                  </a:lnTo>
                  <a:lnTo>
                    <a:pt x="1272" y="3"/>
                  </a:lnTo>
                  <a:lnTo>
                    <a:pt x="1298" y="0"/>
                  </a:lnTo>
                  <a:lnTo>
                    <a:pt x="1324" y="3"/>
                  </a:lnTo>
                  <a:lnTo>
                    <a:pt x="1350" y="8"/>
                  </a:lnTo>
                  <a:lnTo>
                    <a:pt x="1376" y="19"/>
                  </a:lnTo>
                  <a:lnTo>
                    <a:pt x="1402" y="34"/>
                  </a:lnTo>
                  <a:lnTo>
                    <a:pt x="1428" y="51"/>
                  </a:lnTo>
                  <a:lnTo>
                    <a:pt x="1454" y="75"/>
                  </a:lnTo>
                  <a:lnTo>
                    <a:pt x="1480" y="101"/>
                  </a:lnTo>
                  <a:lnTo>
                    <a:pt x="1506" y="132"/>
                  </a:lnTo>
                  <a:lnTo>
                    <a:pt x="1532" y="166"/>
                  </a:lnTo>
                  <a:lnTo>
                    <a:pt x="1557" y="206"/>
                  </a:lnTo>
                  <a:lnTo>
                    <a:pt x="1583" y="248"/>
                  </a:lnTo>
                  <a:lnTo>
                    <a:pt x="1609" y="295"/>
                  </a:lnTo>
                  <a:lnTo>
                    <a:pt x="1635" y="345"/>
                  </a:lnTo>
                  <a:lnTo>
                    <a:pt x="1661" y="400"/>
                  </a:lnTo>
                  <a:lnTo>
                    <a:pt x="1687" y="459"/>
                  </a:lnTo>
                  <a:lnTo>
                    <a:pt x="1713" y="519"/>
                  </a:lnTo>
                  <a:lnTo>
                    <a:pt x="1739" y="586"/>
                  </a:lnTo>
                  <a:lnTo>
                    <a:pt x="1765" y="655"/>
                  </a:lnTo>
                  <a:lnTo>
                    <a:pt x="1791" y="728"/>
                  </a:lnTo>
                  <a:lnTo>
                    <a:pt x="1817" y="803"/>
                  </a:lnTo>
                  <a:lnTo>
                    <a:pt x="1843" y="883"/>
                  </a:lnTo>
                  <a:lnTo>
                    <a:pt x="1869" y="966"/>
                  </a:lnTo>
                  <a:lnTo>
                    <a:pt x="1895" y="1051"/>
                  </a:lnTo>
                  <a:lnTo>
                    <a:pt x="1920" y="1140"/>
                  </a:lnTo>
                  <a:lnTo>
                    <a:pt x="1946" y="1231"/>
                  </a:lnTo>
                  <a:lnTo>
                    <a:pt x="1972" y="1327"/>
                  </a:lnTo>
                  <a:lnTo>
                    <a:pt x="1998" y="1425"/>
                  </a:lnTo>
                  <a:lnTo>
                    <a:pt x="2024" y="1525"/>
                  </a:lnTo>
                  <a:lnTo>
                    <a:pt x="2050" y="1629"/>
                  </a:lnTo>
                  <a:lnTo>
                    <a:pt x="2076" y="1734"/>
                  </a:lnTo>
                  <a:lnTo>
                    <a:pt x="2103" y="1841"/>
                  </a:lnTo>
                  <a:lnTo>
                    <a:pt x="2129" y="1952"/>
                  </a:lnTo>
                  <a:lnTo>
                    <a:pt x="2155" y="2066"/>
                  </a:lnTo>
                  <a:lnTo>
                    <a:pt x="2181" y="2180"/>
                  </a:lnTo>
                  <a:lnTo>
                    <a:pt x="2207" y="2296"/>
                  </a:lnTo>
                  <a:lnTo>
                    <a:pt x="2233" y="2416"/>
                  </a:lnTo>
                  <a:lnTo>
                    <a:pt x="2258" y="2536"/>
                  </a:lnTo>
                  <a:lnTo>
                    <a:pt x="2284" y="2658"/>
                  </a:lnTo>
                  <a:lnTo>
                    <a:pt x="2310" y="2782"/>
                  </a:lnTo>
                  <a:lnTo>
                    <a:pt x="2336" y="2906"/>
                  </a:lnTo>
                  <a:lnTo>
                    <a:pt x="2362" y="3033"/>
                  </a:lnTo>
                  <a:lnTo>
                    <a:pt x="2388" y="3160"/>
                  </a:lnTo>
                  <a:lnTo>
                    <a:pt x="2414" y="3289"/>
                  </a:lnTo>
                  <a:lnTo>
                    <a:pt x="2440" y="3419"/>
                  </a:lnTo>
                  <a:lnTo>
                    <a:pt x="2466" y="3549"/>
                  </a:lnTo>
                  <a:lnTo>
                    <a:pt x="2492" y="3679"/>
                  </a:lnTo>
                  <a:lnTo>
                    <a:pt x="2518" y="3810"/>
                  </a:lnTo>
                  <a:lnTo>
                    <a:pt x="2544" y="3943"/>
                  </a:lnTo>
                  <a:lnTo>
                    <a:pt x="2570" y="4075"/>
                  </a:lnTo>
                  <a:lnTo>
                    <a:pt x="2595" y="4206"/>
                  </a:lnTo>
                  <a:lnTo>
                    <a:pt x="2621" y="4339"/>
                  </a:lnTo>
                  <a:lnTo>
                    <a:pt x="2647" y="4471"/>
                  </a:lnTo>
                  <a:lnTo>
                    <a:pt x="2673" y="4604"/>
                  </a:lnTo>
                  <a:lnTo>
                    <a:pt x="2699" y="4734"/>
                  </a:lnTo>
                  <a:lnTo>
                    <a:pt x="2725" y="4865"/>
                  </a:lnTo>
                  <a:lnTo>
                    <a:pt x="2751" y="4995"/>
                  </a:lnTo>
                  <a:lnTo>
                    <a:pt x="2777" y="5125"/>
                  </a:lnTo>
                  <a:lnTo>
                    <a:pt x="2803" y="5253"/>
                  </a:lnTo>
                  <a:lnTo>
                    <a:pt x="2829" y="5381"/>
                  </a:lnTo>
                  <a:lnTo>
                    <a:pt x="2855" y="5508"/>
                  </a:lnTo>
                  <a:lnTo>
                    <a:pt x="2881" y="5632"/>
                  </a:lnTo>
                  <a:lnTo>
                    <a:pt x="2907" y="5756"/>
                  </a:lnTo>
                  <a:lnTo>
                    <a:pt x="2933" y="5878"/>
                  </a:lnTo>
                  <a:lnTo>
                    <a:pt x="2958" y="5998"/>
                  </a:lnTo>
                  <a:lnTo>
                    <a:pt x="2984" y="6118"/>
                  </a:lnTo>
                  <a:lnTo>
                    <a:pt x="3011" y="6234"/>
                  </a:lnTo>
                  <a:lnTo>
                    <a:pt x="3037" y="6348"/>
                  </a:lnTo>
                  <a:lnTo>
                    <a:pt x="3063" y="6462"/>
                  </a:lnTo>
                  <a:lnTo>
                    <a:pt x="3089" y="6573"/>
                  </a:lnTo>
                  <a:lnTo>
                    <a:pt x="3115" y="6680"/>
                  </a:lnTo>
                  <a:lnTo>
                    <a:pt x="3141" y="6785"/>
                  </a:lnTo>
                  <a:lnTo>
                    <a:pt x="3167" y="6889"/>
                  </a:lnTo>
                  <a:lnTo>
                    <a:pt x="3193" y="6989"/>
                  </a:lnTo>
                  <a:lnTo>
                    <a:pt x="3219" y="7087"/>
                  </a:lnTo>
                  <a:lnTo>
                    <a:pt x="3245" y="7183"/>
                  </a:lnTo>
                  <a:lnTo>
                    <a:pt x="3271" y="7274"/>
                  </a:lnTo>
                  <a:lnTo>
                    <a:pt x="3296" y="7363"/>
                  </a:lnTo>
                  <a:lnTo>
                    <a:pt x="3322" y="7448"/>
                  </a:lnTo>
                  <a:lnTo>
                    <a:pt x="3348" y="7531"/>
                  </a:lnTo>
                  <a:lnTo>
                    <a:pt x="3374" y="7611"/>
                  </a:lnTo>
                  <a:lnTo>
                    <a:pt x="3400" y="7686"/>
                  </a:lnTo>
                  <a:lnTo>
                    <a:pt x="3426" y="7759"/>
                  </a:lnTo>
                  <a:lnTo>
                    <a:pt x="3452" y="7828"/>
                  </a:lnTo>
                  <a:lnTo>
                    <a:pt x="3478" y="7894"/>
                  </a:lnTo>
                  <a:lnTo>
                    <a:pt x="3504" y="7955"/>
                  </a:lnTo>
                  <a:lnTo>
                    <a:pt x="3530" y="8014"/>
                  </a:lnTo>
                  <a:lnTo>
                    <a:pt x="3556" y="8069"/>
                  </a:lnTo>
                  <a:lnTo>
                    <a:pt x="3582" y="8119"/>
                  </a:lnTo>
                  <a:lnTo>
                    <a:pt x="3608" y="8166"/>
                  </a:lnTo>
                  <a:lnTo>
                    <a:pt x="3633" y="8208"/>
                  </a:lnTo>
                  <a:lnTo>
                    <a:pt x="3659" y="8248"/>
                  </a:lnTo>
                  <a:lnTo>
                    <a:pt x="3685" y="8281"/>
                  </a:lnTo>
                  <a:lnTo>
                    <a:pt x="3711" y="8313"/>
                  </a:lnTo>
                  <a:lnTo>
                    <a:pt x="3737" y="8339"/>
                  </a:lnTo>
                  <a:lnTo>
                    <a:pt x="3763" y="8363"/>
                  </a:lnTo>
                  <a:lnTo>
                    <a:pt x="3789" y="8380"/>
                  </a:lnTo>
                  <a:lnTo>
                    <a:pt x="3815" y="8395"/>
                  </a:lnTo>
                  <a:lnTo>
                    <a:pt x="3841" y="8406"/>
                  </a:lnTo>
                  <a:lnTo>
                    <a:pt x="3868" y="8411"/>
                  </a:lnTo>
                  <a:lnTo>
                    <a:pt x="3894" y="8414"/>
                  </a:lnTo>
                  <a:lnTo>
                    <a:pt x="3920" y="8411"/>
                  </a:lnTo>
                  <a:lnTo>
                    <a:pt x="3946" y="8406"/>
                  </a:lnTo>
                  <a:lnTo>
                    <a:pt x="3972" y="8395"/>
                  </a:lnTo>
                  <a:lnTo>
                    <a:pt x="3997" y="8380"/>
                  </a:lnTo>
                  <a:lnTo>
                    <a:pt x="4023" y="8363"/>
                  </a:lnTo>
                  <a:lnTo>
                    <a:pt x="4049" y="8339"/>
                  </a:lnTo>
                  <a:lnTo>
                    <a:pt x="4075" y="8313"/>
                  </a:lnTo>
                  <a:lnTo>
                    <a:pt x="4101" y="8281"/>
                  </a:lnTo>
                  <a:lnTo>
                    <a:pt x="4127" y="8248"/>
                  </a:lnTo>
                  <a:lnTo>
                    <a:pt x="4153" y="8208"/>
                  </a:lnTo>
                  <a:lnTo>
                    <a:pt x="4179" y="8166"/>
                  </a:lnTo>
                  <a:lnTo>
                    <a:pt x="4205" y="8119"/>
                  </a:lnTo>
                  <a:lnTo>
                    <a:pt x="4231" y="8069"/>
                  </a:lnTo>
                  <a:lnTo>
                    <a:pt x="4257" y="8014"/>
                  </a:lnTo>
                  <a:lnTo>
                    <a:pt x="4283" y="7955"/>
                  </a:lnTo>
                  <a:lnTo>
                    <a:pt x="4309" y="7894"/>
                  </a:lnTo>
                  <a:lnTo>
                    <a:pt x="4334" y="7828"/>
                  </a:lnTo>
                  <a:lnTo>
                    <a:pt x="4360" y="7759"/>
                  </a:lnTo>
                  <a:lnTo>
                    <a:pt x="4386" y="7686"/>
                  </a:lnTo>
                  <a:lnTo>
                    <a:pt x="4412" y="7611"/>
                  </a:lnTo>
                  <a:lnTo>
                    <a:pt x="4438" y="7531"/>
                  </a:lnTo>
                  <a:lnTo>
                    <a:pt x="4464" y="7448"/>
                  </a:lnTo>
                  <a:lnTo>
                    <a:pt x="4490" y="7363"/>
                  </a:lnTo>
                  <a:lnTo>
                    <a:pt x="4516" y="7274"/>
                  </a:lnTo>
                  <a:lnTo>
                    <a:pt x="4542" y="7183"/>
                  </a:lnTo>
                  <a:lnTo>
                    <a:pt x="4568" y="7087"/>
                  </a:lnTo>
                  <a:lnTo>
                    <a:pt x="4594" y="6989"/>
                  </a:lnTo>
                  <a:lnTo>
                    <a:pt x="4620" y="6889"/>
                  </a:lnTo>
                  <a:lnTo>
                    <a:pt x="4646" y="6785"/>
                  </a:lnTo>
                  <a:lnTo>
                    <a:pt x="4671" y="6680"/>
                  </a:lnTo>
                  <a:lnTo>
                    <a:pt x="4697" y="6573"/>
                  </a:lnTo>
                  <a:lnTo>
                    <a:pt x="4723" y="6462"/>
                  </a:lnTo>
                  <a:lnTo>
                    <a:pt x="4749" y="6348"/>
                  </a:lnTo>
                  <a:lnTo>
                    <a:pt x="4775" y="6234"/>
                  </a:lnTo>
                  <a:lnTo>
                    <a:pt x="4802" y="6118"/>
                  </a:lnTo>
                  <a:lnTo>
                    <a:pt x="4828" y="5998"/>
                  </a:lnTo>
                  <a:lnTo>
                    <a:pt x="4854" y="5878"/>
                  </a:lnTo>
                  <a:lnTo>
                    <a:pt x="4880" y="5756"/>
                  </a:lnTo>
                  <a:lnTo>
                    <a:pt x="4906" y="5632"/>
                  </a:lnTo>
                  <a:lnTo>
                    <a:pt x="4932" y="5508"/>
                  </a:lnTo>
                  <a:lnTo>
                    <a:pt x="4958" y="5381"/>
                  </a:lnTo>
                  <a:lnTo>
                    <a:pt x="4984" y="5253"/>
                  </a:lnTo>
                  <a:lnTo>
                    <a:pt x="5010" y="5125"/>
                  </a:lnTo>
                  <a:lnTo>
                    <a:pt x="5035" y="4995"/>
                  </a:lnTo>
                  <a:lnTo>
                    <a:pt x="5061" y="4865"/>
                  </a:lnTo>
                  <a:lnTo>
                    <a:pt x="5087" y="4735"/>
                  </a:lnTo>
                  <a:lnTo>
                    <a:pt x="5113" y="4604"/>
                  </a:lnTo>
                  <a:lnTo>
                    <a:pt x="5139" y="4471"/>
                  </a:lnTo>
                  <a:lnTo>
                    <a:pt x="5165" y="4339"/>
                  </a:lnTo>
                  <a:lnTo>
                    <a:pt x="5191" y="4208"/>
                  </a:lnTo>
                  <a:lnTo>
                    <a:pt x="5217" y="4075"/>
                  </a:lnTo>
                  <a:lnTo>
                    <a:pt x="5243" y="3943"/>
                  </a:lnTo>
                  <a:lnTo>
                    <a:pt x="5269" y="3810"/>
                  </a:lnTo>
                  <a:lnTo>
                    <a:pt x="5295" y="3680"/>
                  </a:lnTo>
                  <a:lnTo>
                    <a:pt x="5321" y="3549"/>
                  </a:lnTo>
                  <a:lnTo>
                    <a:pt x="5347" y="3419"/>
                  </a:lnTo>
                  <a:lnTo>
                    <a:pt x="5372" y="3289"/>
                  </a:lnTo>
                  <a:lnTo>
                    <a:pt x="5398" y="3160"/>
                  </a:lnTo>
                  <a:lnTo>
                    <a:pt x="5424" y="3033"/>
                  </a:lnTo>
                  <a:lnTo>
                    <a:pt x="5450" y="2906"/>
                  </a:lnTo>
                  <a:lnTo>
                    <a:pt x="5476" y="2782"/>
                  </a:lnTo>
                  <a:lnTo>
                    <a:pt x="5502" y="2658"/>
                  </a:lnTo>
                  <a:lnTo>
                    <a:pt x="5528" y="2536"/>
                  </a:lnTo>
                  <a:lnTo>
                    <a:pt x="5554" y="2416"/>
                  </a:lnTo>
                  <a:lnTo>
                    <a:pt x="5580" y="2296"/>
                  </a:lnTo>
                  <a:lnTo>
                    <a:pt x="5606" y="2180"/>
                  </a:lnTo>
                  <a:lnTo>
                    <a:pt x="5632" y="2066"/>
                  </a:lnTo>
                  <a:lnTo>
                    <a:pt x="5659" y="1952"/>
                  </a:lnTo>
                  <a:lnTo>
                    <a:pt x="5685" y="1841"/>
                  </a:lnTo>
                  <a:lnTo>
                    <a:pt x="5710" y="1734"/>
                  </a:lnTo>
                  <a:lnTo>
                    <a:pt x="5736" y="1629"/>
                  </a:lnTo>
                  <a:lnTo>
                    <a:pt x="5762" y="1525"/>
                  </a:lnTo>
                  <a:lnTo>
                    <a:pt x="5788" y="1425"/>
                  </a:lnTo>
                  <a:lnTo>
                    <a:pt x="5814" y="1327"/>
                  </a:lnTo>
                  <a:lnTo>
                    <a:pt x="5840" y="1231"/>
                  </a:lnTo>
                  <a:lnTo>
                    <a:pt x="5866" y="1140"/>
                  </a:lnTo>
                  <a:lnTo>
                    <a:pt x="5892" y="1051"/>
                  </a:lnTo>
                  <a:lnTo>
                    <a:pt x="5918" y="966"/>
                  </a:lnTo>
                  <a:lnTo>
                    <a:pt x="5944" y="883"/>
                  </a:lnTo>
                  <a:lnTo>
                    <a:pt x="5970" y="803"/>
                  </a:lnTo>
                  <a:lnTo>
                    <a:pt x="5996" y="728"/>
                  </a:lnTo>
                  <a:lnTo>
                    <a:pt x="6022" y="655"/>
                  </a:lnTo>
                  <a:lnTo>
                    <a:pt x="6048" y="586"/>
                  </a:lnTo>
                  <a:lnTo>
                    <a:pt x="6073" y="519"/>
                  </a:lnTo>
                  <a:lnTo>
                    <a:pt x="6099" y="459"/>
                  </a:lnTo>
                  <a:lnTo>
                    <a:pt x="6125" y="400"/>
                  </a:lnTo>
                  <a:lnTo>
                    <a:pt x="6151" y="345"/>
                  </a:lnTo>
                  <a:lnTo>
                    <a:pt x="6177" y="295"/>
                  </a:lnTo>
                  <a:lnTo>
                    <a:pt x="6203" y="249"/>
                  </a:lnTo>
                  <a:lnTo>
                    <a:pt x="6229" y="206"/>
                  </a:lnTo>
                  <a:lnTo>
                    <a:pt x="6255" y="166"/>
                  </a:lnTo>
                  <a:lnTo>
                    <a:pt x="6281" y="132"/>
                  </a:lnTo>
                  <a:lnTo>
                    <a:pt x="6307" y="101"/>
                  </a:lnTo>
                  <a:lnTo>
                    <a:pt x="6333" y="75"/>
                  </a:lnTo>
                  <a:lnTo>
                    <a:pt x="6359" y="51"/>
                  </a:lnTo>
                  <a:lnTo>
                    <a:pt x="6385" y="34"/>
                  </a:lnTo>
                  <a:lnTo>
                    <a:pt x="6410" y="19"/>
                  </a:lnTo>
                  <a:lnTo>
                    <a:pt x="6436" y="8"/>
                  </a:lnTo>
                  <a:lnTo>
                    <a:pt x="6462" y="3"/>
                  </a:lnTo>
                  <a:lnTo>
                    <a:pt x="6488" y="0"/>
                  </a:lnTo>
                  <a:lnTo>
                    <a:pt x="6514" y="3"/>
                  </a:lnTo>
                  <a:lnTo>
                    <a:pt x="6540" y="8"/>
                  </a:lnTo>
                  <a:lnTo>
                    <a:pt x="6566" y="19"/>
                  </a:lnTo>
                  <a:lnTo>
                    <a:pt x="6593" y="34"/>
                  </a:lnTo>
                  <a:lnTo>
                    <a:pt x="6619" y="51"/>
                  </a:lnTo>
                  <a:lnTo>
                    <a:pt x="6645" y="75"/>
                  </a:lnTo>
                  <a:lnTo>
                    <a:pt x="6671" y="101"/>
                  </a:lnTo>
                  <a:lnTo>
                    <a:pt x="6697" y="132"/>
                  </a:lnTo>
                  <a:lnTo>
                    <a:pt x="6723" y="166"/>
                  </a:lnTo>
                  <a:lnTo>
                    <a:pt x="6748" y="206"/>
                  </a:lnTo>
                  <a:lnTo>
                    <a:pt x="6774" y="248"/>
                  </a:lnTo>
                  <a:lnTo>
                    <a:pt x="6800" y="295"/>
                  </a:lnTo>
                  <a:lnTo>
                    <a:pt x="6826" y="345"/>
                  </a:lnTo>
                  <a:lnTo>
                    <a:pt x="6852" y="400"/>
                  </a:lnTo>
                  <a:lnTo>
                    <a:pt x="6878" y="459"/>
                  </a:lnTo>
                  <a:lnTo>
                    <a:pt x="6904" y="519"/>
                  </a:lnTo>
                  <a:lnTo>
                    <a:pt x="6930" y="586"/>
                  </a:lnTo>
                  <a:lnTo>
                    <a:pt x="6956" y="655"/>
                  </a:lnTo>
                  <a:lnTo>
                    <a:pt x="6982" y="728"/>
                  </a:lnTo>
                  <a:lnTo>
                    <a:pt x="7008" y="803"/>
                  </a:lnTo>
                  <a:lnTo>
                    <a:pt x="7034" y="883"/>
                  </a:lnTo>
                  <a:lnTo>
                    <a:pt x="7060" y="966"/>
                  </a:lnTo>
                  <a:lnTo>
                    <a:pt x="7086" y="1051"/>
                  </a:lnTo>
                  <a:lnTo>
                    <a:pt x="7111" y="1140"/>
                  </a:lnTo>
                  <a:lnTo>
                    <a:pt x="7137" y="1231"/>
                  </a:lnTo>
                  <a:lnTo>
                    <a:pt x="7163" y="1327"/>
                  </a:lnTo>
                  <a:lnTo>
                    <a:pt x="7189" y="1425"/>
                  </a:lnTo>
                  <a:lnTo>
                    <a:pt x="7215" y="1525"/>
                  </a:lnTo>
                  <a:lnTo>
                    <a:pt x="7241" y="1629"/>
                  </a:lnTo>
                  <a:lnTo>
                    <a:pt x="7267" y="1734"/>
                  </a:lnTo>
                  <a:lnTo>
                    <a:pt x="7293" y="1841"/>
                  </a:lnTo>
                  <a:lnTo>
                    <a:pt x="7319" y="1952"/>
                  </a:lnTo>
                  <a:lnTo>
                    <a:pt x="7345" y="2066"/>
                  </a:lnTo>
                  <a:lnTo>
                    <a:pt x="7371" y="2180"/>
                  </a:lnTo>
                  <a:lnTo>
                    <a:pt x="7397" y="2296"/>
                  </a:lnTo>
                  <a:lnTo>
                    <a:pt x="7423" y="2416"/>
                  </a:lnTo>
                  <a:lnTo>
                    <a:pt x="7448" y="2536"/>
                  </a:lnTo>
                  <a:lnTo>
                    <a:pt x="7474" y="2658"/>
                  </a:lnTo>
                  <a:lnTo>
                    <a:pt x="7501" y="2782"/>
                  </a:lnTo>
                  <a:lnTo>
                    <a:pt x="7527" y="2906"/>
                  </a:lnTo>
                  <a:lnTo>
                    <a:pt x="7553" y="3033"/>
                  </a:lnTo>
                  <a:lnTo>
                    <a:pt x="7579" y="3160"/>
                  </a:lnTo>
                  <a:lnTo>
                    <a:pt x="7605" y="3289"/>
                  </a:lnTo>
                  <a:lnTo>
                    <a:pt x="7631" y="3419"/>
                  </a:lnTo>
                  <a:lnTo>
                    <a:pt x="7657" y="3549"/>
                  </a:lnTo>
                  <a:lnTo>
                    <a:pt x="7683" y="3679"/>
                  </a:lnTo>
                  <a:lnTo>
                    <a:pt x="7709" y="3810"/>
                  </a:lnTo>
                  <a:lnTo>
                    <a:pt x="7735" y="3943"/>
                  </a:lnTo>
                  <a:lnTo>
                    <a:pt x="7761" y="4075"/>
                  </a:lnTo>
                  <a:lnTo>
                    <a:pt x="7786" y="4206"/>
                  </a:lnTo>
                  <a:lnTo>
                    <a:pt x="7812" y="4339"/>
                  </a:lnTo>
                  <a:lnTo>
                    <a:pt x="7838" y="4471"/>
                  </a:lnTo>
                  <a:lnTo>
                    <a:pt x="7864" y="4604"/>
                  </a:lnTo>
                  <a:lnTo>
                    <a:pt x="7890" y="4734"/>
                  </a:lnTo>
                  <a:lnTo>
                    <a:pt x="7916" y="4865"/>
                  </a:lnTo>
                  <a:lnTo>
                    <a:pt x="7942" y="4995"/>
                  </a:lnTo>
                  <a:lnTo>
                    <a:pt x="7968" y="5125"/>
                  </a:lnTo>
                  <a:lnTo>
                    <a:pt x="7994" y="5253"/>
                  </a:lnTo>
                  <a:lnTo>
                    <a:pt x="8020" y="5381"/>
                  </a:lnTo>
                  <a:lnTo>
                    <a:pt x="8046" y="5508"/>
                  </a:lnTo>
                  <a:lnTo>
                    <a:pt x="8072" y="5632"/>
                  </a:lnTo>
                  <a:lnTo>
                    <a:pt x="8098" y="5756"/>
                  </a:lnTo>
                  <a:lnTo>
                    <a:pt x="8124" y="5878"/>
                  </a:lnTo>
                  <a:lnTo>
                    <a:pt x="8149" y="5998"/>
                  </a:lnTo>
                  <a:lnTo>
                    <a:pt x="8175" y="6118"/>
                  </a:lnTo>
                  <a:lnTo>
                    <a:pt x="8201" y="6234"/>
                  </a:lnTo>
                  <a:lnTo>
                    <a:pt x="8227" y="6348"/>
                  </a:lnTo>
                  <a:lnTo>
                    <a:pt x="8253" y="6462"/>
                  </a:lnTo>
                  <a:lnTo>
                    <a:pt x="8279" y="6573"/>
                  </a:lnTo>
                  <a:lnTo>
                    <a:pt x="8305" y="6680"/>
                  </a:lnTo>
                  <a:lnTo>
                    <a:pt x="8331" y="6785"/>
                  </a:lnTo>
                  <a:lnTo>
                    <a:pt x="8358" y="6889"/>
                  </a:lnTo>
                  <a:lnTo>
                    <a:pt x="8384" y="6989"/>
                  </a:lnTo>
                  <a:lnTo>
                    <a:pt x="8410" y="7087"/>
                  </a:lnTo>
                  <a:lnTo>
                    <a:pt x="8436" y="7183"/>
                  </a:lnTo>
                  <a:lnTo>
                    <a:pt x="8462" y="7274"/>
                  </a:lnTo>
                  <a:lnTo>
                    <a:pt x="8487" y="7363"/>
                  </a:lnTo>
                  <a:lnTo>
                    <a:pt x="8513" y="7448"/>
                  </a:lnTo>
                  <a:lnTo>
                    <a:pt x="8539" y="7531"/>
                  </a:lnTo>
                  <a:lnTo>
                    <a:pt x="8565" y="7611"/>
                  </a:lnTo>
                  <a:lnTo>
                    <a:pt x="8591" y="7686"/>
                  </a:lnTo>
                  <a:lnTo>
                    <a:pt x="8617" y="7759"/>
                  </a:lnTo>
                  <a:lnTo>
                    <a:pt x="8643" y="7828"/>
                  </a:lnTo>
                  <a:lnTo>
                    <a:pt x="8669" y="7894"/>
                  </a:lnTo>
                  <a:lnTo>
                    <a:pt x="8695" y="7955"/>
                  </a:lnTo>
                  <a:lnTo>
                    <a:pt x="8721" y="8014"/>
                  </a:lnTo>
                  <a:lnTo>
                    <a:pt x="8747" y="8069"/>
                  </a:lnTo>
                  <a:lnTo>
                    <a:pt x="8773" y="8119"/>
                  </a:lnTo>
                  <a:lnTo>
                    <a:pt x="8799" y="8165"/>
                  </a:lnTo>
                  <a:lnTo>
                    <a:pt x="8824" y="8208"/>
                  </a:lnTo>
                  <a:lnTo>
                    <a:pt x="8850" y="8248"/>
                  </a:lnTo>
                  <a:lnTo>
                    <a:pt x="8876" y="8281"/>
                  </a:lnTo>
                  <a:lnTo>
                    <a:pt x="8902" y="8313"/>
                  </a:lnTo>
                  <a:lnTo>
                    <a:pt x="8928" y="8339"/>
                  </a:lnTo>
                  <a:lnTo>
                    <a:pt x="8954" y="8363"/>
                  </a:lnTo>
                  <a:lnTo>
                    <a:pt x="8980" y="8380"/>
                  </a:lnTo>
                  <a:lnTo>
                    <a:pt x="9006" y="8395"/>
                  </a:lnTo>
                  <a:lnTo>
                    <a:pt x="9032" y="8406"/>
                  </a:lnTo>
                  <a:lnTo>
                    <a:pt x="9058" y="8411"/>
                  </a:lnTo>
                  <a:lnTo>
                    <a:pt x="9084" y="8414"/>
                  </a:lnTo>
                  <a:lnTo>
                    <a:pt x="9110" y="8411"/>
                  </a:lnTo>
                  <a:lnTo>
                    <a:pt x="9136" y="8406"/>
                  </a:lnTo>
                  <a:lnTo>
                    <a:pt x="9162" y="8395"/>
                  </a:lnTo>
                  <a:lnTo>
                    <a:pt x="9187" y="8380"/>
                  </a:lnTo>
                  <a:lnTo>
                    <a:pt x="9213" y="8363"/>
                  </a:lnTo>
                  <a:lnTo>
                    <a:pt x="9239" y="8339"/>
                  </a:lnTo>
                  <a:lnTo>
                    <a:pt x="9265" y="8313"/>
                  </a:lnTo>
                  <a:lnTo>
                    <a:pt x="9292" y="8281"/>
                  </a:lnTo>
                  <a:lnTo>
                    <a:pt x="9318" y="8248"/>
                  </a:lnTo>
                  <a:lnTo>
                    <a:pt x="9344" y="8208"/>
                  </a:lnTo>
                  <a:lnTo>
                    <a:pt x="9370" y="8166"/>
                  </a:lnTo>
                  <a:lnTo>
                    <a:pt x="9396" y="8119"/>
                  </a:lnTo>
                  <a:lnTo>
                    <a:pt x="9422" y="8069"/>
                  </a:lnTo>
                  <a:lnTo>
                    <a:pt x="9448" y="8014"/>
                  </a:lnTo>
                  <a:lnTo>
                    <a:pt x="9474" y="7955"/>
                  </a:lnTo>
                  <a:lnTo>
                    <a:pt x="9500" y="7894"/>
                  </a:lnTo>
                  <a:lnTo>
                    <a:pt x="9525" y="7828"/>
                  </a:lnTo>
                  <a:lnTo>
                    <a:pt x="9551" y="7759"/>
                  </a:lnTo>
                  <a:lnTo>
                    <a:pt x="9577" y="7686"/>
                  </a:lnTo>
                  <a:lnTo>
                    <a:pt x="9603" y="7611"/>
                  </a:lnTo>
                  <a:lnTo>
                    <a:pt x="9629" y="7531"/>
                  </a:lnTo>
                  <a:lnTo>
                    <a:pt x="9655" y="7448"/>
                  </a:lnTo>
                  <a:lnTo>
                    <a:pt x="9681" y="7363"/>
                  </a:lnTo>
                  <a:lnTo>
                    <a:pt x="9707" y="7274"/>
                  </a:lnTo>
                  <a:lnTo>
                    <a:pt x="9733" y="7183"/>
                  </a:lnTo>
                  <a:lnTo>
                    <a:pt x="9759" y="7087"/>
                  </a:lnTo>
                  <a:lnTo>
                    <a:pt x="9785" y="6989"/>
                  </a:lnTo>
                  <a:lnTo>
                    <a:pt x="9811" y="6889"/>
                  </a:lnTo>
                  <a:lnTo>
                    <a:pt x="9837" y="6785"/>
                  </a:lnTo>
                  <a:lnTo>
                    <a:pt x="9862" y="6680"/>
                  </a:lnTo>
                  <a:lnTo>
                    <a:pt x="9888" y="6573"/>
                  </a:lnTo>
                  <a:lnTo>
                    <a:pt x="9914" y="6462"/>
                  </a:lnTo>
                  <a:lnTo>
                    <a:pt x="9940" y="6348"/>
                  </a:lnTo>
                  <a:lnTo>
                    <a:pt x="9966" y="6234"/>
                  </a:lnTo>
                  <a:lnTo>
                    <a:pt x="9992" y="6118"/>
                  </a:lnTo>
                  <a:lnTo>
                    <a:pt x="10018" y="5998"/>
                  </a:lnTo>
                  <a:lnTo>
                    <a:pt x="10044" y="5878"/>
                  </a:lnTo>
                  <a:lnTo>
                    <a:pt x="10070" y="5756"/>
                  </a:lnTo>
                  <a:lnTo>
                    <a:pt x="10096" y="5632"/>
                  </a:lnTo>
                  <a:lnTo>
                    <a:pt x="10122" y="5508"/>
                  </a:lnTo>
                  <a:lnTo>
                    <a:pt x="10149" y="5381"/>
                  </a:lnTo>
                  <a:lnTo>
                    <a:pt x="10175" y="5253"/>
                  </a:lnTo>
                  <a:lnTo>
                    <a:pt x="10201" y="5125"/>
                  </a:lnTo>
                  <a:lnTo>
                    <a:pt x="10226" y="4995"/>
                  </a:lnTo>
                  <a:lnTo>
                    <a:pt x="10252" y="4865"/>
                  </a:lnTo>
                  <a:lnTo>
                    <a:pt x="10278" y="4735"/>
                  </a:lnTo>
                  <a:lnTo>
                    <a:pt x="10304" y="4604"/>
                  </a:lnTo>
                  <a:lnTo>
                    <a:pt x="10330" y="4471"/>
                  </a:lnTo>
                  <a:lnTo>
                    <a:pt x="10356" y="4339"/>
                  </a:lnTo>
                  <a:lnTo>
                    <a:pt x="10382" y="4208"/>
                  </a:lnTo>
                  <a:lnTo>
                    <a:pt x="10408" y="4075"/>
                  </a:lnTo>
                </a:path>
              </a:pathLst>
            </a:custGeom>
            <a:noFill/>
            <a:ln w="28575" cmpd="sng">
              <a:solidFill>
                <a:srgbClr val="0000FF"/>
              </a:solidFill>
              <a:prstDash val="solid"/>
              <a:round/>
              <a:headEnd/>
              <a:tailEnd/>
            </a:ln>
          </p:spPr>
          <p:txBody>
            <a:bodyPr/>
            <a:lstStyle/>
            <a:p>
              <a:endParaRPr lang="zh-CN" altLang="en-US"/>
            </a:p>
          </p:txBody>
        </p:sp>
        <p:sp>
          <p:nvSpPr>
            <p:cNvPr id="36952" name="Line 34"/>
            <p:cNvSpPr>
              <a:spLocks noChangeShapeType="1"/>
            </p:cNvSpPr>
            <p:nvPr/>
          </p:nvSpPr>
          <p:spPr bwMode="auto">
            <a:xfrm>
              <a:off x="609" y="1632"/>
              <a:ext cx="1959" cy="0"/>
            </a:xfrm>
            <a:prstGeom prst="line">
              <a:avLst/>
            </a:prstGeom>
            <a:noFill/>
            <a:ln w="28575">
              <a:solidFill>
                <a:schemeClr val="tx1"/>
              </a:solidFill>
              <a:round/>
              <a:headEnd/>
              <a:tailEnd type="triangle" w="med" len="med"/>
            </a:ln>
          </p:spPr>
          <p:txBody>
            <a:bodyPr/>
            <a:lstStyle/>
            <a:p>
              <a:endParaRPr lang="zh-CN" altLang="en-US"/>
            </a:p>
          </p:txBody>
        </p:sp>
        <p:graphicFrame>
          <p:nvGraphicFramePr>
            <p:cNvPr id="36936" name="Object 72"/>
            <p:cNvGraphicFramePr>
              <a:graphicFrameLocks noChangeAspect="1"/>
            </p:cNvGraphicFramePr>
            <p:nvPr/>
          </p:nvGraphicFramePr>
          <p:xfrm>
            <a:off x="416" y="912"/>
            <a:ext cx="332" cy="234"/>
          </p:xfrm>
          <a:graphic>
            <a:graphicData uri="http://schemas.openxmlformats.org/presentationml/2006/ole">
              <p:oleObj spid="_x0000_s36936" name="Equation" r:id="rId8" imgW="393529" imgH="253890" progId="Equation.DSMT4">
                <p:embed/>
              </p:oleObj>
            </a:graphicData>
          </a:graphic>
        </p:graphicFrame>
        <p:graphicFrame>
          <p:nvGraphicFramePr>
            <p:cNvPr id="36937" name="Object 73"/>
            <p:cNvGraphicFramePr>
              <a:graphicFrameLocks noChangeAspect="1"/>
            </p:cNvGraphicFramePr>
            <p:nvPr/>
          </p:nvGraphicFramePr>
          <p:xfrm>
            <a:off x="2245" y="1623"/>
            <a:ext cx="408" cy="239"/>
          </p:xfrm>
          <a:graphic>
            <a:graphicData uri="http://schemas.openxmlformats.org/presentationml/2006/ole">
              <p:oleObj spid="_x0000_s36937" name="公式" r:id="rId9" imgW="253780" imgH="164957" progId="Equation.3">
                <p:embed/>
              </p:oleObj>
            </a:graphicData>
          </a:graphic>
        </p:graphicFrame>
        <p:sp>
          <p:nvSpPr>
            <p:cNvPr id="36953" name="Line 37"/>
            <p:cNvSpPr>
              <a:spLocks noChangeShapeType="1"/>
            </p:cNvSpPr>
            <p:nvPr/>
          </p:nvSpPr>
          <p:spPr bwMode="auto">
            <a:xfrm flipH="1" flipV="1">
              <a:off x="756" y="912"/>
              <a:ext cx="0" cy="1392"/>
            </a:xfrm>
            <a:prstGeom prst="line">
              <a:avLst/>
            </a:prstGeom>
            <a:noFill/>
            <a:ln w="28575">
              <a:solidFill>
                <a:schemeClr val="tx1"/>
              </a:solidFill>
              <a:round/>
              <a:headEnd/>
              <a:tailEnd type="triangle" w="med" len="med"/>
            </a:ln>
          </p:spPr>
          <p:txBody>
            <a:bodyPr/>
            <a:lstStyle/>
            <a:p>
              <a:endParaRPr lang="zh-CN" altLang="en-US"/>
            </a:p>
          </p:txBody>
        </p:sp>
        <p:graphicFrame>
          <p:nvGraphicFramePr>
            <p:cNvPr id="36938" name="Object 74"/>
            <p:cNvGraphicFramePr>
              <a:graphicFrameLocks noChangeAspect="1"/>
            </p:cNvGraphicFramePr>
            <p:nvPr/>
          </p:nvGraphicFramePr>
          <p:xfrm>
            <a:off x="320" y="2146"/>
            <a:ext cx="428" cy="195"/>
          </p:xfrm>
          <a:graphic>
            <a:graphicData uri="http://schemas.openxmlformats.org/presentationml/2006/ole">
              <p:oleObj spid="_x0000_s36938" name="公式" r:id="rId10" imgW="279400" imgH="139700" progId="Equation.3">
                <p:embed/>
              </p:oleObj>
            </a:graphicData>
          </a:graphic>
        </p:graphicFrame>
        <p:sp>
          <p:nvSpPr>
            <p:cNvPr id="36954" name="Line 39"/>
            <p:cNvSpPr>
              <a:spLocks noChangeShapeType="1"/>
            </p:cNvSpPr>
            <p:nvPr/>
          </p:nvSpPr>
          <p:spPr bwMode="auto">
            <a:xfrm>
              <a:off x="763" y="2226"/>
              <a:ext cx="213" cy="0"/>
            </a:xfrm>
            <a:prstGeom prst="line">
              <a:avLst/>
            </a:prstGeom>
            <a:noFill/>
            <a:ln w="9525">
              <a:solidFill>
                <a:schemeClr val="tx1"/>
              </a:solidFill>
              <a:prstDash val="dash"/>
              <a:round/>
              <a:headEnd/>
              <a:tailEnd/>
            </a:ln>
          </p:spPr>
          <p:txBody>
            <a:bodyPr/>
            <a:lstStyle/>
            <a:p>
              <a:endParaRPr lang="zh-CN" altLang="en-US"/>
            </a:p>
          </p:txBody>
        </p:sp>
        <p:graphicFrame>
          <p:nvGraphicFramePr>
            <p:cNvPr id="36939" name="Object 75"/>
            <p:cNvGraphicFramePr>
              <a:graphicFrameLocks noChangeAspect="1"/>
            </p:cNvGraphicFramePr>
            <p:nvPr/>
          </p:nvGraphicFramePr>
          <p:xfrm>
            <a:off x="1111" y="1677"/>
            <a:ext cx="318" cy="175"/>
          </p:xfrm>
          <a:graphic>
            <a:graphicData uri="http://schemas.openxmlformats.org/presentationml/2006/ole">
              <p:oleObj spid="_x0000_s36939" name="公式" r:id="rId11" imgW="228600" imgH="139700" progId="Equation.3">
                <p:embed/>
              </p:oleObj>
            </a:graphicData>
          </a:graphic>
        </p:graphicFrame>
        <p:graphicFrame>
          <p:nvGraphicFramePr>
            <p:cNvPr id="36940" name="Object 76"/>
            <p:cNvGraphicFramePr>
              <a:graphicFrameLocks noChangeAspect="1"/>
            </p:cNvGraphicFramePr>
            <p:nvPr/>
          </p:nvGraphicFramePr>
          <p:xfrm>
            <a:off x="1122" y="1593"/>
            <a:ext cx="80" cy="72"/>
          </p:xfrm>
          <a:graphic>
            <a:graphicData uri="http://schemas.openxmlformats.org/presentationml/2006/ole">
              <p:oleObj spid="_x0000_s36940" name="Equation" r:id="rId12" imgW="114102" imgH="114102" progId="Equation.3">
                <p:embed/>
              </p:oleObj>
            </a:graphicData>
          </a:graphic>
        </p:graphicFrame>
        <p:sp>
          <p:nvSpPr>
            <p:cNvPr id="36955" name="Line 42"/>
            <p:cNvSpPr>
              <a:spLocks noChangeShapeType="1"/>
            </p:cNvSpPr>
            <p:nvPr/>
          </p:nvSpPr>
          <p:spPr bwMode="auto">
            <a:xfrm>
              <a:off x="1474" y="1026"/>
              <a:ext cx="479" cy="0"/>
            </a:xfrm>
            <a:prstGeom prst="line">
              <a:avLst/>
            </a:prstGeom>
            <a:noFill/>
            <a:ln w="28575">
              <a:solidFill>
                <a:srgbClr val="FF0000"/>
              </a:solidFill>
              <a:round/>
              <a:headEnd/>
              <a:tailEnd type="triangle" w="med" len="med"/>
            </a:ln>
          </p:spPr>
          <p:txBody>
            <a:bodyPr/>
            <a:lstStyle/>
            <a:p>
              <a:endParaRPr lang="zh-CN" altLang="en-US"/>
            </a:p>
          </p:txBody>
        </p:sp>
        <p:graphicFrame>
          <p:nvGraphicFramePr>
            <p:cNvPr id="36941" name="Object 77"/>
            <p:cNvGraphicFramePr>
              <a:graphicFrameLocks noChangeAspect="1"/>
            </p:cNvGraphicFramePr>
            <p:nvPr/>
          </p:nvGraphicFramePr>
          <p:xfrm>
            <a:off x="1449" y="799"/>
            <a:ext cx="660" cy="234"/>
          </p:xfrm>
          <a:graphic>
            <a:graphicData uri="http://schemas.openxmlformats.org/presentationml/2006/ole">
              <p:oleObj spid="_x0000_s36941" name="Equation" r:id="rId13" imgW="799753" imgH="215806" progId="Equation.DSMT4">
                <p:embed/>
              </p:oleObj>
            </a:graphicData>
          </a:graphic>
        </p:graphicFrame>
        <p:sp>
          <p:nvSpPr>
            <p:cNvPr id="36956" name="Text Box 44"/>
            <p:cNvSpPr txBox="1">
              <a:spLocks noChangeArrowheads="1"/>
            </p:cNvSpPr>
            <p:nvPr/>
          </p:nvSpPr>
          <p:spPr bwMode="auto">
            <a:xfrm>
              <a:off x="929" y="1392"/>
              <a:ext cx="190" cy="271"/>
            </a:xfrm>
            <a:prstGeom prst="rect">
              <a:avLst/>
            </a:prstGeom>
            <a:noFill/>
            <a:ln w="9525">
              <a:noFill/>
              <a:miter lim="800000"/>
              <a:headEnd/>
              <a:tailEnd/>
            </a:ln>
          </p:spPr>
          <p:txBody>
            <a:bodyPr wrap="none">
              <a:spAutoFit/>
            </a:bodyPr>
            <a:lstStyle/>
            <a:p>
              <a:r>
                <a:rPr lang="en-US" altLang="zh-CN" sz="1500" b="1" i="1"/>
                <a:t>P</a:t>
              </a:r>
            </a:p>
          </p:txBody>
        </p:sp>
      </p:grpSp>
      <p:sp>
        <p:nvSpPr>
          <p:cNvPr id="94225" name="Text Box 17"/>
          <p:cNvSpPr txBox="1">
            <a:spLocks noChangeArrowheads="1"/>
          </p:cNvSpPr>
          <p:nvPr/>
        </p:nvSpPr>
        <p:spPr bwMode="auto">
          <a:xfrm>
            <a:off x="-36513" y="4116388"/>
            <a:ext cx="2701926" cy="322262"/>
          </a:xfrm>
          <a:prstGeom prst="rect">
            <a:avLst/>
          </a:prstGeom>
          <a:noFill/>
          <a:ln w="9525">
            <a:noFill/>
            <a:miter lim="800000"/>
            <a:headEnd/>
            <a:tailEnd/>
          </a:ln>
        </p:spPr>
        <p:txBody>
          <a:bodyPr>
            <a:spAutoFit/>
          </a:bodyPr>
          <a:lstStyle/>
          <a:p>
            <a:r>
              <a:rPr lang="zh-CN" altLang="en-US" sz="1500" b="1">
                <a:ea typeface="华文中宋"/>
                <a:cs typeface="华文中宋"/>
              </a:rPr>
              <a:t>（</a:t>
            </a:r>
            <a:r>
              <a:rPr lang="en-US" altLang="zh-CN" sz="1500" b="1">
                <a:ea typeface="华文中宋"/>
                <a:cs typeface="华文中宋"/>
              </a:rPr>
              <a:t>2</a:t>
            </a:r>
            <a:r>
              <a:rPr lang="zh-CN" altLang="en-US" sz="1500" b="1">
                <a:ea typeface="华文中宋"/>
                <a:cs typeface="华文中宋"/>
              </a:rPr>
              <a:t>）</a:t>
            </a:r>
            <a:r>
              <a:rPr lang="en-US" altLang="zh-CN" sz="1500" b="1" i="1">
                <a:ea typeface="华文中宋"/>
                <a:cs typeface="华文中宋"/>
              </a:rPr>
              <a:t>P</a:t>
            </a:r>
            <a:r>
              <a:rPr lang="zh-CN" altLang="en-US" sz="1500" b="1">
                <a:ea typeface="华文中宋"/>
                <a:cs typeface="华文中宋"/>
              </a:rPr>
              <a:t>点质点的振动方程为：</a:t>
            </a:r>
          </a:p>
        </p:txBody>
      </p:sp>
      <p:graphicFrame>
        <p:nvGraphicFramePr>
          <p:cNvPr id="94226" name="Object 78"/>
          <p:cNvGraphicFramePr>
            <a:graphicFrameLocks noChangeAspect="1"/>
          </p:cNvGraphicFramePr>
          <p:nvPr/>
        </p:nvGraphicFramePr>
        <p:xfrm>
          <a:off x="2555875" y="4011613"/>
          <a:ext cx="3311525" cy="619125"/>
        </p:xfrm>
        <a:graphic>
          <a:graphicData uri="http://schemas.openxmlformats.org/presentationml/2006/ole">
            <p:oleObj spid="_x0000_s36942" name="Equation" r:id="rId14" imgW="2032000" imgH="457200" progId="Equation.DSMT4">
              <p:embed/>
            </p:oleObj>
          </a:graphicData>
        </a:graphic>
      </p:graphicFrame>
      <p:graphicFrame>
        <p:nvGraphicFramePr>
          <p:cNvPr id="94227" name="Object 79"/>
          <p:cNvGraphicFramePr>
            <a:graphicFrameLocks noChangeAspect="1"/>
          </p:cNvGraphicFramePr>
          <p:nvPr/>
        </p:nvGraphicFramePr>
        <p:xfrm>
          <a:off x="5815013" y="4070350"/>
          <a:ext cx="2717800" cy="517525"/>
        </p:xfrm>
        <a:graphic>
          <a:graphicData uri="http://schemas.openxmlformats.org/presentationml/2006/ole">
            <p:oleObj spid="_x0000_s36943" name="Equation" r:id="rId15" imgW="1459866" imgH="431613"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8914"/>
                                        </p:tgtEl>
                                        <p:attrNameLst>
                                          <p:attrName>style.visibility</p:attrName>
                                        </p:attrNameLst>
                                      </p:cBhvr>
                                      <p:to>
                                        <p:strVal val="visible"/>
                                      </p:to>
                                    </p:set>
                                    <p:animEffect transition="in" filter="box(out)">
                                      <p:cBhvr>
                                        <p:cTn id="7" dur="500"/>
                                        <p:tgtEl>
                                          <p:spTgt spid="389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8930"/>
                                        </p:tgtEl>
                                        <p:attrNameLst>
                                          <p:attrName>style.visibility</p:attrName>
                                        </p:attrNameLst>
                                      </p:cBhvr>
                                      <p:to>
                                        <p:strVal val="visible"/>
                                      </p:to>
                                    </p:set>
                                    <p:animEffect transition="in" filter="box(out)">
                                      <p:cBhvr>
                                        <p:cTn id="12" dur="500"/>
                                        <p:tgtEl>
                                          <p:spTgt spid="389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38931"/>
                                        </p:tgtEl>
                                        <p:attrNameLst>
                                          <p:attrName>style.visibility</p:attrName>
                                        </p:attrNameLst>
                                      </p:cBhvr>
                                      <p:to>
                                        <p:strVal val="visible"/>
                                      </p:to>
                                    </p:set>
                                    <p:animEffect transition="in" filter="box(out)">
                                      <p:cBhvr>
                                        <p:cTn id="17" dur="500"/>
                                        <p:tgtEl>
                                          <p:spTgt spid="389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38932"/>
                                        </p:tgtEl>
                                        <p:attrNameLst>
                                          <p:attrName>style.visibility</p:attrName>
                                        </p:attrNameLst>
                                      </p:cBhvr>
                                      <p:to>
                                        <p:strVal val="visible"/>
                                      </p:to>
                                    </p:set>
                                    <p:animEffect transition="in" filter="box(out)">
                                      <p:cBhvr>
                                        <p:cTn id="22" dur="500"/>
                                        <p:tgtEl>
                                          <p:spTgt spid="389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8934"/>
                                        </p:tgtEl>
                                        <p:attrNameLst>
                                          <p:attrName>style.visibility</p:attrName>
                                        </p:attrNameLst>
                                      </p:cBhvr>
                                      <p:to>
                                        <p:strVal val="visible"/>
                                      </p:to>
                                    </p:set>
                                    <p:animEffect transition="in" filter="blinds(horizontal)">
                                      <p:cBhvr>
                                        <p:cTn id="27" dur="500"/>
                                        <p:tgtEl>
                                          <p:spTgt spid="38934"/>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38935"/>
                                        </p:tgtEl>
                                        <p:attrNameLst>
                                          <p:attrName>style.visibility</p:attrName>
                                        </p:attrNameLst>
                                      </p:cBhvr>
                                      <p:to>
                                        <p:strVal val="visible"/>
                                      </p:to>
                                    </p:set>
                                    <p:animEffect transition="in" filter="blinds(horizontal)">
                                      <p:cBhvr>
                                        <p:cTn id="30" dur="500"/>
                                        <p:tgtEl>
                                          <p:spTgt spid="38935"/>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38940"/>
                                        </p:tgtEl>
                                        <p:attrNameLst>
                                          <p:attrName>style.visibility</p:attrName>
                                        </p:attrNameLst>
                                      </p:cBhvr>
                                      <p:to>
                                        <p:strVal val="visible"/>
                                      </p:to>
                                    </p:set>
                                    <p:animEffect transition="in" filter="blinds(horizontal)">
                                      <p:cBhvr>
                                        <p:cTn id="33" dur="500"/>
                                        <p:tgtEl>
                                          <p:spTgt spid="38940"/>
                                        </p:tgtEl>
                                      </p:cBhvr>
                                    </p:animEffect>
                                  </p:childTnLst>
                                </p:cTn>
                              </p:par>
                              <p:par>
                                <p:cTn id="34" presetID="3" presetClass="entr" presetSubtype="10" fill="hold" nodeType="withEffect">
                                  <p:stCondLst>
                                    <p:cond delay="0"/>
                                  </p:stCondLst>
                                  <p:childTnLst>
                                    <p:set>
                                      <p:cBhvr>
                                        <p:cTn id="35" dur="1" fill="hold">
                                          <p:stCondLst>
                                            <p:cond delay="0"/>
                                          </p:stCondLst>
                                        </p:cTn>
                                        <p:tgtEl>
                                          <p:spTgt spid="38939"/>
                                        </p:tgtEl>
                                        <p:attrNameLst>
                                          <p:attrName>style.visibility</p:attrName>
                                        </p:attrNameLst>
                                      </p:cBhvr>
                                      <p:to>
                                        <p:strVal val="visible"/>
                                      </p:to>
                                    </p:set>
                                    <p:animEffect transition="in" filter="blinds(horizontal)">
                                      <p:cBhvr>
                                        <p:cTn id="36" dur="500"/>
                                        <p:tgtEl>
                                          <p:spTgt spid="3893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38936"/>
                                        </p:tgtEl>
                                        <p:attrNameLst>
                                          <p:attrName>style.visibility</p:attrName>
                                        </p:attrNameLst>
                                      </p:cBhvr>
                                      <p:to>
                                        <p:strVal val="visible"/>
                                      </p:to>
                                    </p:set>
                                    <p:animEffect transition="in" filter="box(out)">
                                      <p:cBhvr>
                                        <p:cTn id="41" dur="500"/>
                                        <p:tgtEl>
                                          <p:spTgt spid="3893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4" presetClass="entr" presetSubtype="32" fill="hold" nodeType="clickEffect">
                                  <p:stCondLst>
                                    <p:cond delay="0"/>
                                  </p:stCondLst>
                                  <p:childTnLst>
                                    <p:set>
                                      <p:cBhvr>
                                        <p:cTn id="45" dur="1" fill="hold">
                                          <p:stCondLst>
                                            <p:cond delay="0"/>
                                          </p:stCondLst>
                                        </p:cTn>
                                        <p:tgtEl>
                                          <p:spTgt spid="38937"/>
                                        </p:tgtEl>
                                        <p:attrNameLst>
                                          <p:attrName>style.visibility</p:attrName>
                                        </p:attrNameLst>
                                      </p:cBhvr>
                                      <p:to>
                                        <p:strVal val="visible"/>
                                      </p:to>
                                    </p:set>
                                    <p:animEffect transition="in" filter="box(out)">
                                      <p:cBhvr>
                                        <p:cTn id="46" dur="500"/>
                                        <p:tgtEl>
                                          <p:spTgt spid="3893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94225"/>
                                        </p:tgtEl>
                                        <p:attrNameLst>
                                          <p:attrName>style.visibility</p:attrName>
                                        </p:attrNameLst>
                                      </p:cBhvr>
                                      <p:to>
                                        <p:strVal val="visible"/>
                                      </p:to>
                                    </p:set>
                                    <p:animEffect transition="in" filter="checkerboard(across)">
                                      <p:cBhvr>
                                        <p:cTn id="51" dur="500"/>
                                        <p:tgtEl>
                                          <p:spTgt spid="9422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 presetClass="entr" presetSubtype="10" fill="hold" nodeType="clickEffect">
                                  <p:stCondLst>
                                    <p:cond delay="0"/>
                                  </p:stCondLst>
                                  <p:childTnLst>
                                    <p:set>
                                      <p:cBhvr>
                                        <p:cTn id="55" dur="1" fill="hold">
                                          <p:stCondLst>
                                            <p:cond delay="0"/>
                                          </p:stCondLst>
                                        </p:cTn>
                                        <p:tgtEl>
                                          <p:spTgt spid="94226"/>
                                        </p:tgtEl>
                                        <p:attrNameLst>
                                          <p:attrName>style.visibility</p:attrName>
                                        </p:attrNameLst>
                                      </p:cBhvr>
                                      <p:to>
                                        <p:strVal val="visible"/>
                                      </p:to>
                                    </p:set>
                                    <p:animEffect transition="in" filter="checkerboard(across)">
                                      <p:cBhvr>
                                        <p:cTn id="56" dur="500"/>
                                        <p:tgtEl>
                                          <p:spTgt spid="9422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 presetClass="entr" presetSubtype="10" fill="hold" nodeType="clickEffect">
                                  <p:stCondLst>
                                    <p:cond delay="0"/>
                                  </p:stCondLst>
                                  <p:childTnLst>
                                    <p:set>
                                      <p:cBhvr>
                                        <p:cTn id="60" dur="1" fill="hold">
                                          <p:stCondLst>
                                            <p:cond delay="0"/>
                                          </p:stCondLst>
                                        </p:cTn>
                                        <p:tgtEl>
                                          <p:spTgt spid="94227"/>
                                        </p:tgtEl>
                                        <p:attrNameLst>
                                          <p:attrName>style.visibility</p:attrName>
                                        </p:attrNameLst>
                                      </p:cBhvr>
                                      <p:to>
                                        <p:strVal val="visible"/>
                                      </p:to>
                                    </p:set>
                                    <p:animEffect transition="in" filter="checkerboard(across)">
                                      <p:cBhvr>
                                        <p:cTn id="61" dur="500"/>
                                        <p:tgtEl>
                                          <p:spTgt spid="94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autoUpdateAnimBg="0"/>
      <p:bldP spid="38930" grpId="0" autoUpdateAnimBg="0"/>
      <p:bldP spid="38935" grpId="0"/>
      <p:bldP spid="38936" grpId="0" autoUpdateAnimBg="0"/>
      <p:bldP spid="38940" grpId="0"/>
      <p:bldP spid="94225"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3"/>
          <p:cNvSpPr txBox="1">
            <a:spLocks noChangeArrowheads="1"/>
          </p:cNvSpPr>
          <p:nvPr/>
        </p:nvSpPr>
        <p:spPr bwMode="auto">
          <a:xfrm>
            <a:off x="157163" y="1482725"/>
            <a:ext cx="2470150" cy="368300"/>
          </a:xfrm>
          <a:prstGeom prst="rect">
            <a:avLst/>
          </a:prstGeom>
          <a:noFill/>
          <a:ln w="9525">
            <a:noFill/>
            <a:miter lim="800000"/>
            <a:headEnd/>
            <a:tailEnd/>
          </a:ln>
        </p:spPr>
        <p:txBody>
          <a:bodyPr>
            <a:spAutoFit/>
          </a:bodyPr>
          <a:lstStyle/>
          <a:p>
            <a:r>
              <a:rPr lang="en-US" altLang="zh-CN" sz="1800" b="1">
                <a:solidFill>
                  <a:schemeClr val="accent2"/>
                </a:solidFill>
                <a:ea typeface="华文中宋"/>
                <a:cs typeface="华文中宋"/>
              </a:rPr>
              <a:t>1</a:t>
            </a:r>
            <a:r>
              <a:rPr lang="zh-CN" altLang="en-US" sz="1800" b="1">
                <a:solidFill>
                  <a:schemeClr val="accent2"/>
                </a:solidFill>
                <a:ea typeface="华文中宋"/>
                <a:cs typeface="华文中宋"/>
              </a:rPr>
              <a:t>、</a:t>
            </a:r>
            <a:r>
              <a:rPr lang="en-US" altLang="zh-CN" sz="1800" b="1">
                <a:solidFill>
                  <a:schemeClr val="accent2"/>
                </a:solidFill>
                <a:ea typeface="华文中宋"/>
                <a:cs typeface="华文中宋"/>
              </a:rPr>
              <a:t>d</a:t>
            </a:r>
            <a:r>
              <a:rPr lang="en-US" altLang="zh-CN" sz="1800" b="1" i="1">
                <a:solidFill>
                  <a:schemeClr val="accent2"/>
                </a:solidFill>
                <a:ea typeface="华文中宋"/>
                <a:cs typeface="华文中宋"/>
              </a:rPr>
              <a:t>v</a:t>
            </a:r>
            <a:r>
              <a:rPr lang="zh-CN" altLang="en-US" sz="1800" b="1">
                <a:solidFill>
                  <a:schemeClr val="accent2"/>
                </a:solidFill>
                <a:ea typeface="华文中宋"/>
                <a:cs typeface="华文中宋"/>
              </a:rPr>
              <a:t>内的波动动能</a:t>
            </a:r>
            <a:endParaRPr lang="zh-CN" altLang="en-US" sz="1800">
              <a:ea typeface="华文中宋"/>
              <a:cs typeface="华文中宋"/>
            </a:endParaRPr>
          </a:p>
        </p:txBody>
      </p:sp>
      <p:graphicFrame>
        <p:nvGraphicFramePr>
          <p:cNvPr id="40964" name="Object 65"/>
          <p:cNvGraphicFramePr>
            <a:graphicFrameLocks noChangeAspect="1"/>
          </p:cNvGraphicFramePr>
          <p:nvPr/>
        </p:nvGraphicFramePr>
        <p:xfrm>
          <a:off x="1209675" y="3751263"/>
          <a:ext cx="1778000" cy="549275"/>
        </p:xfrm>
        <a:graphic>
          <a:graphicData uri="http://schemas.openxmlformats.org/presentationml/2006/ole">
            <p:oleObj spid="_x0000_s37953" name="Equation" r:id="rId4" imgW="977476" imgH="393529" progId="Equation.DSMT4">
              <p:embed/>
            </p:oleObj>
          </a:graphicData>
        </a:graphic>
      </p:graphicFrame>
      <p:graphicFrame>
        <p:nvGraphicFramePr>
          <p:cNvPr id="40967" name="Object 66"/>
          <p:cNvGraphicFramePr>
            <a:graphicFrameLocks noChangeAspect="1"/>
          </p:cNvGraphicFramePr>
          <p:nvPr/>
        </p:nvGraphicFramePr>
        <p:xfrm>
          <a:off x="3348038" y="1279525"/>
          <a:ext cx="2808287" cy="571500"/>
        </p:xfrm>
        <a:graphic>
          <a:graphicData uri="http://schemas.openxmlformats.org/presentationml/2006/ole">
            <p:oleObj spid="_x0000_s37954" name="公式" r:id="rId5" imgW="1079032" imgH="291973" progId="Equation.3">
              <p:embed/>
            </p:oleObj>
          </a:graphicData>
        </a:graphic>
      </p:graphicFrame>
      <p:sp>
        <p:nvSpPr>
          <p:cNvPr id="40968" name="Text Box 8"/>
          <p:cNvSpPr txBox="1">
            <a:spLocks noChangeArrowheads="1"/>
          </p:cNvSpPr>
          <p:nvPr/>
        </p:nvSpPr>
        <p:spPr bwMode="auto">
          <a:xfrm>
            <a:off x="2936875" y="1370013"/>
            <a:ext cx="627063" cy="369887"/>
          </a:xfrm>
          <a:prstGeom prst="rect">
            <a:avLst/>
          </a:prstGeom>
          <a:noFill/>
          <a:ln w="9525">
            <a:noFill/>
            <a:miter lim="800000"/>
            <a:headEnd/>
            <a:tailEnd/>
          </a:ln>
          <a:effectLst>
            <a:prstShdw prst="shdw17" dist="17961" dir="2700000">
              <a:srgbClr val="993D00"/>
            </a:prstShdw>
          </a:effectLst>
        </p:spPr>
        <p:txBody>
          <a:bodyPr>
            <a:spAutoFit/>
          </a:bodyPr>
          <a:lstStyle/>
          <a:p>
            <a:r>
              <a:rPr lang="zh-CN" altLang="en-US" sz="1800" b="1">
                <a:ea typeface="华文中宋"/>
                <a:cs typeface="华文中宋"/>
              </a:rPr>
              <a:t>设：</a:t>
            </a:r>
          </a:p>
        </p:txBody>
      </p:sp>
      <p:graphicFrame>
        <p:nvGraphicFramePr>
          <p:cNvPr id="40970" name="Object 67"/>
          <p:cNvGraphicFramePr>
            <a:graphicFrameLocks noChangeAspect="1"/>
          </p:cNvGraphicFramePr>
          <p:nvPr/>
        </p:nvGraphicFramePr>
        <p:xfrm>
          <a:off x="5846763" y="3378200"/>
          <a:ext cx="1246187" cy="368300"/>
        </p:xfrm>
        <a:graphic>
          <a:graphicData uri="http://schemas.openxmlformats.org/presentationml/2006/ole">
            <p:oleObj spid="_x0000_s37955" name="Equation" r:id="rId6" imgW="634725" imgH="203112" progId="Equation.DSMT4">
              <p:embed/>
            </p:oleObj>
          </a:graphicData>
        </a:graphic>
      </p:graphicFrame>
      <p:graphicFrame>
        <p:nvGraphicFramePr>
          <p:cNvPr id="40971" name="Object 68"/>
          <p:cNvGraphicFramePr>
            <a:graphicFrameLocks noChangeAspect="1"/>
          </p:cNvGraphicFramePr>
          <p:nvPr/>
        </p:nvGraphicFramePr>
        <p:xfrm>
          <a:off x="4164013" y="3379788"/>
          <a:ext cx="1128712" cy="327025"/>
        </p:xfrm>
        <a:graphic>
          <a:graphicData uri="http://schemas.openxmlformats.org/presentationml/2006/ole">
            <p:oleObj spid="_x0000_s37956" name="Equation" r:id="rId7" imgW="571004" imgH="177646" progId="Equation.DSMT4">
              <p:embed/>
            </p:oleObj>
          </a:graphicData>
        </a:graphic>
      </p:graphicFrame>
      <p:graphicFrame>
        <p:nvGraphicFramePr>
          <p:cNvPr id="40972" name="Object 69"/>
          <p:cNvGraphicFramePr>
            <a:graphicFrameLocks noChangeAspect="1"/>
          </p:cNvGraphicFramePr>
          <p:nvPr/>
        </p:nvGraphicFramePr>
        <p:xfrm>
          <a:off x="3348038" y="3706813"/>
          <a:ext cx="3810000" cy="590550"/>
        </p:xfrm>
        <a:graphic>
          <a:graphicData uri="http://schemas.openxmlformats.org/presentationml/2006/ole">
            <p:oleObj spid="_x0000_s37957" name="公式" r:id="rId8" imgW="1409088" imgH="291973" progId="Equation.3">
              <p:embed/>
            </p:oleObj>
          </a:graphicData>
        </a:graphic>
      </p:graphicFrame>
      <p:graphicFrame>
        <p:nvGraphicFramePr>
          <p:cNvPr id="40973" name="Object 70"/>
          <p:cNvGraphicFramePr>
            <a:graphicFrameLocks noChangeAspect="1"/>
          </p:cNvGraphicFramePr>
          <p:nvPr/>
        </p:nvGraphicFramePr>
        <p:xfrm>
          <a:off x="1233488" y="4227513"/>
          <a:ext cx="3914775" cy="539750"/>
        </p:xfrm>
        <a:graphic>
          <a:graphicData uri="http://schemas.openxmlformats.org/presentationml/2006/ole">
            <p:oleObj spid="_x0000_s37958" name="Equation" r:id="rId9" imgW="2235200" imgH="393700" progId="Equation.DSMT4">
              <p:embed/>
            </p:oleObj>
          </a:graphicData>
        </a:graphic>
      </p:graphicFrame>
      <p:grpSp>
        <p:nvGrpSpPr>
          <p:cNvPr id="2" name="Group 50"/>
          <p:cNvGrpSpPr>
            <a:grpSpLocks/>
          </p:cNvGrpSpPr>
          <p:nvPr/>
        </p:nvGrpSpPr>
        <p:grpSpPr bwMode="auto">
          <a:xfrm>
            <a:off x="1436688" y="1995488"/>
            <a:ext cx="5656262" cy="1257300"/>
            <a:chOff x="612" y="1541"/>
            <a:chExt cx="3854" cy="1182"/>
          </a:xfrm>
        </p:grpSpPr>
        <p:sp>
          <p:nvSpPr>
            <p:cNvPr id="37969" name="Freeform 16"/>
            <p:cNvSpPr>
              <a:spLocks/>
            </p:cNvSpPr>
            <p:nvPr/>
          </p:nvSpPr>
          <p:spPr bwMode="auto">
            <a:xfrm rot="100540">
              <a:off x="900" y="1751"/>
              <a:ext cx="3266" cy="858"/>
            </a:xfrm>
            <a:custGeom>
              <a:avLst/>
              <a:gdLst>
                <a:gd name="T0" fmla="*/ 5 w 3281"/>
                <a:gd name="T1" fmla="*/ 7 h 1233"/>
                <a:gd name="T2" fmla="*/ 141 w 3281"/>
                <a:gd name="T3" fmla="*/ 6 h 1233"/>
                <a:gd name="T4" fmla="*/ 879 w 3281"/>
                <a:gd name="T5" fmla="*/ 1 h 1233"/>
                <a:gd name="T6" fmla="*/ 1949 w 3281"/>
                <a:gd name="T7" fmla="*/ 7 h 1233"/>
                <a:gd name="T8" fmla="*/ 2817 w 3281"/>
                <a:gd name="T9" fmla="*/ 1 h 1233"/>
                <a:gd name="T10" fmla="*/ 3077 w 3281"/>
                <a:gd name="T11" fmla="*/ 1 h 1233"/>
                <a:gd name="T12" fmla="*/ 0 60000 65536"/>
                <a:gd name="T13" fmla="*/ 0 60000 65536"/>
                <a:gd name="T14" fmla="*/ 0 60000 65536"/>
                <a:gd name="T15" fmla="*/ 0 60000 65536"/>
                <a:gd name="T16" fmla="*/ 0 60000 65536"/>
                <a:gd name="T17" fmla="*/ 0 60000 65536"/>
                <a:gd name="T18" fmla="*/ 0 w 3281"/>
                <a:gd name="T19" fmla="*/ 0 h 1233"/>
                <a:gd name="T20" fmla="*/ 3281 w 3281"/>
                <a:gd name="T21" fmla="*/ 1233 h 1233"/>
              </a:gdLst>
              <a:ahLst/>
              <a:cxnLst>
                <a:cxn ang="T12">
                  <a:pos x="T0" y="T1"/>
                </a:cxn>
                <a:cxn ang="T13">
                  <a:pos x="T2" y="T3"/>
                </a:cxn>
                <a:cxn ang="T14">
                  <a:pos x="T4" y="T5"/>
                </a:cxn>
                <a:cxn ang="T15">
                  <a:pos x="T6" y="T7"/>
                </a:cxn>
                <a:cxn ang="T16">
                  <a:pos x="T8" y="T9"/>
                </a:cxn>
                <a:cxn ang="T17">
                  <a:pos x="T10" y="T11"/>
                </a:cxn>
              </a:cxnLst>
              <a:rect l="T18" t="T19" r="T20" b="T21"/>
              <a:pathLst>
                <a:path w="3281" h="1233">
                  <a:moveTo>
                    <a:pt x="5" y="1160"/>
                  </a:moveTo>
                  <a:cubicBezTo>
                    <a:pt x="30" y="1144"/>
                    <a:pt x="0" y="1233"/>
                    <a:pt x="155" y="1062"/>
                  </a:cubicBezTo>
                  <a:cubicBezTo>
                    <a:pt x="310" y="891"/>
                    <a:pt x="615" y="117"/>
                    <a:pt x="935" y="132"/>
                  </a:cubicBezTo>
                  <a:cubicBezTo>
                    <a:pt x="1255" y="147"/>
                    <a:pt x="1730" y="1146"/>
                    <a:pt x="2075" y="1152"/>
                  </a:cubicBezTo>
                  <a:cubicBezTo>
                    <a:pt x="2420" y="1158"/>
                    <a:pt x="2802" y="332"/>
                    <a:pt x="3003" y="166"/>
                  </a:cubicBezTo>
                  <a:cubicBezTo>
                    <a:pt x="3204" y="0"/>
                    <a:pt x="3223" y="157"/>
                    <a:pt x="3281" y="155"/>
                  </a:cubicBezTo>
                </a:path>
              </a:pathLst>
            </a:custGeom>
            <a:noFill/>
            <a:ln w="28575" cap="flat" cmpd="sng">
              <a:solidFill>
                <a:srgbClr val="F07E00"/>
              </a:solidFill>
              <a:prstDash val="solid"/>
              <a:round/>
              <a:headEnd/>
              <a:tailEnd/>
            </a:ln>
          </p:spPr>
          <p:txBody>
            <a:bodyPr wrap="none" anchor="ctr"/>
            <a:lstStyle/>
            <a:p>
              <a:endParaRPr lang="zh-CN" altLang="en-US"/>
            </a:p>
          </p:txBody>
        </p:sp>
        <p:sp>
          <p:nvSpPr>
            <p:cNvPr id="37970" name="Line 17"/>
            <p:cNvSpPr>
              <a:spLocks noChangeShapeType="1"/>
            </p:cNvSpPr>
            <p:nvPr/>
          </p:nvSpPr>
          <p:spPr bwMode="auto">
            <a:xfrm flipV="1">
              <a:off x="612" y="2267"/>
              <a:ext cx="3854" cy="0"/>
            </a:xfrm>
            <a:prstGeom prst="line">
              <a:avLst/>
            </a:prstGeom>
            <a:noFill/>
            <a:ln w="25400">
              <a:solidFill>
                <a:schemeClr val="tx1"/>
              </a:solidFill>
              <a:round/>
              <a:headEnd/>
              <a:tailEnd type="stealth" w="lg" len="lg"/>
            </a:ln>
          </p:spPr>
          <p:txBody>
            <a:bodyPr wrap="none" anchor="ctr"/>
            <a:lstStyle/>
            <a:p>
              <a:endParaRPr lang="zh-CN" altLang="en-US"/>
            </a:p>
          </p:txBody>
        </p:sp>
        <p:sp>
          <p:nvSpPr>
            <p:cNvPr id="37971" name="Line 18"/>
            <p:cNvSpPr>
              <a:spLocks noChangeShapeType="1"/>
            </p:cNvSpPr>
            <p:nvPr/>
          </p:nvSpPr>
          <p:spPr bwMode="auto">
            <a:xfrm flipV="1">
              <a:off x="1277" y="1541"/>
              <a:ext cx="0" cy="1098"/>
            </a:xfrm>
            <a:prstGeom prst="line">
              <a:avLst/>
            </a:prstGeom>
            <a:noFill/>
            <a:ln w="25400">
              <a:solidFill>
                <a:schemeClr val="tx1"/>
              </a:solidFill>
              <a:round/>
              <a:headEnd/>
              <a:tailEnd type="stealth" w="lg" len="lg"/>
            </a:ln>
          </p:spPr>
          <p:txBody>
            <a:bodyPr wrap="none" anchor="ctr"/>
            <a:lstStyle/>
            <a:p>
              <a:endParaRPr lang="zh-CN" altLang="en-US"/>
            </a:p>
          </p:txBody>
        </p:sp>
        <p:sp>
          <p:nvSpPr>
            <p:cNvPr id="37972" name="Freeform 19"/>
            <p:cNvSpPr>
              <a:spLocks/>
            </p:cNvSpPr>
            <p:nvPr/>
          </p:nvSpPr>
          <p:spPr bwMode="auto">
            <a:xfrm rot="100540">
              <a:off x="900" y="1865"/>
              <a:ext cx="3266" cy="858"/>
            </a:xfrm>
            <a:custGeom>
              <a:avLst/>
              <a:gdLst>
                <a:gd name="T0" fmla="*/ 5 w 3281"/>
                <a:gd name="T1" fmla="*/ 7 h 1233"/>
                <a:gd name="T2" fmla="*/ 141 w 3281"/>
                <a:gd name="T3" fmla="*/ 6 h 1233"/>
                <a:gd name="T4" fmla="*/ 879 w 3281"/>
                <a:gd name="T5" fmla="*/ 1 h 1233"/>
                <a:gd name="T6" fmla="*/ 1949 w 3281"/>
                <a:gd name="T7" fmla="*/ 7 h 1233"/>
                <a:gd name="T8" fmla="*/ 2817 w 3281"/>
                <a:gd name="T9" fmla="*/ 1 h 1233"/>
                <a:gd name="T10" fmla="*/ 3077 w 3281"/>
                <a:gd name="T11" fmla="*/ 1 h 1233"/>
                <a:gd name="T12" fmla="*/ 0 60000 65536"/>
                <a:gd name="T13" fmla="*/ 0 60000 65536"/>
                <a:gd name="T14" fmla="*/ 0 60000 65536"/>
                <a:gd name="T15" fmla="*/ 0 60000 65536"/>
                <a:gd name="T16" fmla="*/ 0 60000 65536"/>
                <a:gd name="T17" fmla="*/ 0 60000 65536"/>
                <a:gd name="T18" fmla="*/ 0 w 3281"/>
                <a:gd name="T19" fmla="*/ 0 h 1233"/>
                <a:gd name="T20" fmla="*/ 3281 w 3281"/>
                <a:gd name="T21" fmla="*/ 1233 h 1233"/>
              </a:gdLst>
              <a:ahLst/>
              <a:cxnLst>
                <a:cxn ang="T12">
                  <a:pos x="T0" y="T1"/>
                </a:cxn>
                <a:cxn ang="T13">
                  <a:pos x="T2" y="T3"/>
                </a:cxn>
                <a:cxn ang="T14">
                  <a:pos x="T4" y="T5"/>
                </a:cxn>
                <a:cxn ang="T15">
                  <a:pos x="T6" y="T7"/>
                </a:cxn>
                <a:cxn ang="T16">
                  <a:pos x="T8" y="T9"/>
                </a:cxn>
                <a:cxn ang="T17">
                  <a:pos x="T10" y="T11"/>
                </a:cxn>
              </a:cxnLst>
              <a:rect l="T18" t="T19" r="T20" b="T21"/>
              <a:pathLst>
                <a:path w="3281" h="1233">
                  <a:moveTo>
                    <a:pt x="5" y="1160"/>
                  </a:moveTo>
                  <a:cubicBezTo>
                    <a:pt x="30" y="1144"/>
                    <a:pt x="0" y="1233"/>
                    <a:pt x="155" y="1062"/>
                  </a:cubicBezTo>
                  <a:cubicBezTo>
                    <a:pt x="310" y="891"/>
                    <a:pt x="615" y="117"/>
                    <a:pt x="935" y="132"/>
                  </a:cubicBezTo>
                  <a:cubicBezTo>
                    <a:pt x="1255" y="147"/>
                    <a:pt x="1730" y="1146"/>
                    <a:pt x="2075" y="1152"/>
                  </a:cubicBezTo>
                  <a:cubicBezTo>
                    <a:pt x="2420" y="1158"/>
                    <a:pt x="2802" y="332"/>
                    <a:pt x="3003" y="166"/>
                  </a:cubicBezTo>
                  <a:cubicBezTo>
                    <a:pt x="3204" y="0"/>
                    <a:pt x="3223" y="157"/>
                    <a:pt x="3281" y="155"/>
                  </a:cubicBezTo>
                </a:path>
              </a:pathLst>
            </a:custGeom>
            <a:noFill/>
            <a:ln w="28575" cap="flat" cmpd="sng">
              <a:solidFill>
                <a:srgbClr val="F07E00"/>
              </a:solidFill>
              <a:prstDash val="solid"/>
              <a:round/>
              <a:headEnd/>
              <a:tailEnd/>
            </a:ln>
          </p:spPr>
          <p:txBody>
            <a:bodyPr wrap="none" anchor="ctr"/>
            <a:lstStyle/>
            <a:p>
              <a:endParaRPr lang="zh-CN" altLang="en-US"/>
            </a:p>
          </p:txBody>
        </p:sp>
        <p:graphicFrame>
          <p:nvGraphicFramePr>
            <p:cNvPr id="37959" name="Object 71"/>
            <p:cNvGraphicFramePr>
              <a:graphicFrameLocks noChangeAspect="1"/>
            </p:cNvGraphicFramePr>
            <p:nvPr/>
          </p:nvGraphicFramePr>
          <p:xfrm>
            <a:off x="4114" y="2323"/>
            <a:ext cx="263" cy="193"/>
          </p:xfrm>
          <a:graphic>
            <a:graphicData uri="http://schemas.openxmlformats.org/presentationml/2006/ole">
              <p:oleObj spid="_x0000_s37959" name="公式" r:id="rId10" imgW="114102" imgH="114102" progId="Equation.3">
                <p:embed/>
              </p:oleObj>
            </a:graphicData>
          </a:graphic>
        </p:graphicFrame>
        <p:graphicFrame>
          <p:nvGraphicFramePr>
            <p:cNvPr id="37960" name="Object 72"/>
            <p:cNvGraphicFramePr>
              <a:graphicFrameLocks noChangeAspect="1"/>
            </p:cNvGraphicFramePr>
            <p:nvPr/>
          </p:nvGraphicFramePr>
          <p:xfrm>
            <a:off x="963" y="1576"/>
            <a:ext cx="284" cy="224"/>
          </p:xfrm>
          <a:graphic>
            <a:graphicData uri="http://schemas.openxmlformats.org/presentationml/2006/ole">
              <p:oleObj spid="_x0000_s37960" name="公式" r:id="rId11" imgW="114102" imgH="126780" progId="Equation.3">
                <p:embed/>
              </p:oleObj>
            </a:graphicData>
          </a:graphic>
        </p:graphicFrame>
        <p:graphicFrame>
          <p:nvGraphicFramePr>
            <p:cNvPr id="37961" name="Object 73"/>
            <p:cNvGraphicFramePr>
              <a:graphicFrameLocks noChangeAspect="1"/>
            </p:cNvGraphicFramePr>
            <p:nvPr/>
          </p:nvGraphicFramePr>
          <p:xfrm>
            <a:off x="1313" y="2304"/>
            <a:ext cx="218" cy="176"/>
          </p:xfrm>
          <a:graphic>
            <a:graphicData uri="http://schemas.openxmlformats.org/presentationml/2006/ole">
              <p:oleObj spid="_x0000_s37961" name="公式" r:id="rId12" imgW="126835" imgH="139518" progId="Equation.3">
                <p:embed/>
              </p:oleObj>
            </a:graphicData>
          </a:graphic>
        </p:graphicFrame>
        <p:graphicFrame>
          <p:nvGraphicFramePr>
            <p:cNvPr id="37962" name="Object 74"/>
            <p:cNvGraphicFramePr>
              <a:graphicFrameLocks noChangeAspect="1"/>
            </p:cNvGraphicFramePr>
            <p:nvPr/>
          </p:nvGraphicFramePr>
          <p:xfrm>
            <a:off x="1973" y="2350"/>
            <a:ext cx="295" cy="180"/>
          </p:xfrm>
          <a:graphic>
            <a:graphicData uri="http://schemas.openxmlformats.org/presentationml/2006/ole">
              <p:oleObj spid="_x0000_s37962" name="公式" r:id="rId13" imgW="164957" imgH="139579" progId="Equation.3">
                <p:embed/>
              </p:oleObj>
            </a:graphicData>
          </a:graphic>
        </p:graphicFrame>
        <p:graphicFrame>
          <p:nvGraphicFramePr>
            <p:cNvPr id="37963" name="Object 75"/>
            <p:cNvGraphicFramePr>
              <a:graphicFrameLocks noChangeAspect="1"/>
            </p:cNvGraphicFramePr>
            <p:nvPr/>
          </p:nvGraphicFramePr>
          <p:xfrm>
            <a:off x="2554" y="1916"/>
            <a:ext cx="326" cy="180"/>
          </p:xfrm>
          <a:graphic>
            <a:graphicData uri="http://schemas.openxmlformats.org/presentationml/2006/ole">
              <p:oleObj spid="_x0000_s37963" name="公式" r:id="rId14" imgW="164957" imgH="152268" progId="Equation.3">
                <p:embed/>
              </p:oleObj>
            </a:graphicData>
          </a:graphic>
        </p:graphicFrame>
        <p:grpSp>
          <p:nvGrpSpPr>
            <p:cNvPr id="37973" name="Group 26"/>
            <p:cNvGrpSpPr>
              <a:grpSpLocks/>
            </p:cNvGrpSpPr>
            <p:nvPr/>
          </p:nvGrpSpPr>
          <p:grpSpPr bwMode="auto">
            <a:xfrm>
              <a:off x="2024" y="1918"/>
              <a:ext cx="235" cy="281"/>
              <a:chOff x="2109" y="2685"/>
              <a:chExt cx="236" cy="404"/>
            </a:xfrm>
          </p:grpSpPr>
          <p:sp>
            <p:nvSpPr>
              <p:cNvPr id="37979" name="Line 27"/>
              <p:cNvSpPr>
                <a:spLocks noChangeShapeType="1"/>
              </p:cNvSpPr>
              <p:nvPr/>
            </p:nvSpPr>
            <p:spPr bwMode="auto">
              <a:xfrm>
                <a:off x="2323" y="2922"/>
                <a:ext cx="0" cy="167"/>
              </a:xfrm>
              <a:prstGeom prst="line">
                <a:avLst/>
              </a:prstGeom>
              <a:noFill/>
              <a:ln w="57150">
                <a:solidFill>
                  <a:schemeClr val="accent2"/>
                </a:solidFill>
                <a:round/>
                <a:headEnd/>
                <a:tailEnd/>
              </a:ln>
            </p:spPr>
            <p:txBody>
              <a:bodyPr wrap="none" anchor="ctr"/>
              <a:lstStyle/>
              <a:p>
                <a:endParaRPr lang="zh-CN" altLang="en-US"/>
              </a:p>
            </p:txBody>
          </p:sp>
          <p:sp>
            <p:nvSpPr>
              <p:cNvPr id="37980" name="Line 28"/>
              <p:cNvSpPr>
                <a:spLocks noChangeShapeType="1"/>
              </p:cNvSpPr>
              <p:nvPr/>
            </p:nvSpPr>
            <p:spPr bwMode="auto">
              <a:xfrm>
                <a:off x="2119" y="2685"/>
                <a:ext cx="0" cy="167"/>
              </a:xfrm>
              <a:prstGeom prst="line">
                <a:avLst/>
              </a:prstGeom>
              <a:noFill/>
              <a:ln w="57150">
                <a:solidFill>
                  <a:schemeClr val="accent2"/>
                </a:solidFill>
                <a:round/>
                <a:headEnd/>
                <a:tailEnd/>
              </a:ln>
            </p:spPr>
            <p:txBody>
              <a:bodyPr wrap="none" anchor="ctr"/>
              <a:lstStyle/>
              <a:p>
                <a:endParaRPr lang="zh-CN" altLang="en-US"/>
              </a:p>
            </p:txBody>
          </p:sp>
          <p:sp>
            <p:nvSpPr>
              <p:cNvPr id="37981" name="Line 29"/>
              <p:cNvSpPr>
                <a:spLocks noChangeShapeType="1"/>
              </p:cNvSpPr>
              <p:nvPr/>
            </p:nvSpPr>
            <p:spPr bwMode="auto">
              <a:xfrm>
                <a:off x="2123" y="2698"/>
                <a:ext cx="222" cy="222"/>
              </a:xfrm>
              <a:prstGeom prst="line">
                <a:avLst/>
              </a:prstGeom>
              <a:noFill/>
              <a:ln w="57150">
                <a:solidFill>
                  <a:schemeClr val="accent2"/>
                </a:solidFill>
                <a:round/>
                <a:headEnd/>
                <a:tailEnd/>
              </a:ln>
            </p:spPr>
            <p:txBody>
              <a:bodyPr wrap="none" anchor="ctr"/>
              <a:lstStyle/>
              <a:p>
                <a:endParaRPr lang="zh-CN" altLang="en-US"/>
              </a:p>
            </p:txBody>
          </p:sp>
          <p:sp>
            <p:nvSpPr>
              <p:cNvPr id="37982" name="Line 30"/>
              <p:cNvSpPr>
                <a:spLocks noChangeShapeType="1"/>
              </p:cNvSpPr>
              <p:nvPr/>
            </p:nvSpPr>
            <p:spPr bwMode="auto">
              <a:xfrm>
                <a:off x="2109" y="2849"/>
                <a:ext cx="222" cy="222"/>
              </a:xfrm>
              <a:prstGeom prst="line">
                <a:avLst/>
              </a:prstGeom>
              <a:noFill/>
              <a:ln w="57150">
                <a:solidFill>
                  <a:schemeClr val="accent2"/>
                </a:solidFill>
                <a:round/>
                <a:headEnd/>
                <a:tailEnd/>
              </a:ln>
            </p:spPr>
            <p:txBody>
              <a:bodyPr wrap="none" anchor="ctr"/>
              <a:lstStyle/>
              <a:p>
                <a:endParaRPr lang="zh-CN" altLang="en-US"/>
              </a:p>
            </p:txBody>
          </p:sp>
        </p:grpSp>
        <p:grpSp>
          <p:nvGrpSpPr>
            <p:cNvPr id="37974" name="Group 31"/>
            <p:cNvGrpSpPr>
              <a:grpSpLocks/>
            </p:cNvGrpSpPr>
            <p:nvPr/>
          </p:nvGrpSpPr>
          <p:grpSpPr bwMode="auto">
            <a:xfrm>
              <a:off x="2002" y="1917"/>
              <a:ext cx="672" cy="614"/>
              <a:chOff x="1908" y="552"/>
              <a:chExt cx="672" cy="852"/>
            </a:xfrm>
          </p:grpSpPr>
          <p:sp>
            <p:nvSpPr>
              <p:cNvPr id="37975" name="Line 32"/>
              <p:cNvSpPr>
                <a:spLocks noChangeShapeType="1"/>
              </p:cNvSpPr>
              <p:nvPr/>
            </p:nvSpPr>
            <p:spPr bwMode="auto">
              <a:xfrm>
                <a:off x="1944" y="552"/>
                <a:ext cx="624" cy="0"/>
              </a:xfrm>
              <a:prstGeom prst="line">
                <a:avLst/>
              </a:prstGeom>
              <a:noFill/>
              <a:ln w="25400">
                <a:solidFill>
                  <a:schemeClr val="tx1"/>
                </a:solidFill>
                <a:prstDash val="dash"/>
                <a:round/>
                <a:headEnd/>
                <a:tailEnd/>
              </a:ln>
            </p:spPr>
            <p:txBody>
              <a:bodyPr wrap="none" anchor="ctr"/>
              <a:lstStyle/>
              <a:p>
                <a:endParaRPr lang="zh-CN" altLang="en-US"/>
              </a:p>
            </p:txBody>
          </p:sp>
          <p:sp>
            <p:nvSpPr>
              <p:cNvPr id="37976" name="Line 33"/>
              <p:cNvSpPr>
                <a:spLocks noChangeShapeType="1"/>
              </p:cNvSpPr>
              <p:nvPr/>
            </p:nvSpPr>
            <p:spPr bwMode="auto">
              <a:xfrm>
                <a:off x="2172" y="768"/>
                <a:ext cx="408" cy="0"/>
              </a:xfrm>
              <a:prstGeom prst="line">
                <a:avLst/>
              </a:prstGeom>
              <a:noFill/>
              <a:ln w="25400">
                <a:solidFill>
                  <a:schemeClr val="tx1"/>
                </a:solidFill>
                <a:prstDash val="dash"/>
                <a:round/>
                <a:headEnd/>
                <a:tailEnd/>
              </a:ln>
            </p:spPr>
            <p:txBody>
              <a:bodyPr wrap="none" anchor="ctr"/>
              <a:lstStyle/>
              <a:p>
                <a:endParaRPr lang="zh-CN" altLang="en-US"/>
              </a:p>
            </p:txBody>
          </p:sp>
          <p:sp>
            <p:nvSpPr>
              <p:cNvPr id="37977" name="Line 34"/>
              <p:cNvSpPr>
                <a:spLocks noChangeShapeType="1"/>
              </p:cNvSpPr>
              <p:nvPr/>
            </p:nvSpPr>
            <p:spPr bwMode="auto">
              <a:xfrm>
                <a:off x="2136" y="936"/>
                <a:ext cx="0" cy="456"/>
              </a:xfrm>
              <a:prstGeom prst="line">
                <a:avLst/>
              </a:prstGeom>
              <a:noFill/>
              <a:ln w="25400">
                <a:solidFill>
                  <a:schemeClr val="tx1"/>
                </a:solidFill>
                <a:prstDash val="dash"/>
                <a:round/>
                <a:headEnd/>
                <a:tailEnd/>
              </a:ln>
            </p:spPr>
            <p:txBody>
              <a:bodyPr wrap="none" anchor="ctr"/>
              <a:lstStyle/>
              <a:p>
                <a:endParaRPr lang="zh-CN" altLang="en-US"/>
              </a:p>
            </p:txBody>
          </p:sp>
          <p:sp>
            <p:nvSpPr>
              <p:cNvPr id="37978" name="Line 35"/>
              <p:cNvSpPr>
                <a:spLocks noChangeShapeType="1"/>
              </p:cNvSpPr>
              <p:nvPr/>
            </p:nvSpPr>
            <p:spPr bwMode="auto">
              <a:xfrm>
                <a:off x="1908" y="720"/>
                <a:ext cx="0" cy="684"/>
              </a:xfrm>
              <a:prstGeom prst="line">
                <a:avLst/>
              </a:prstGeom>
              <a:noFill/>
              <a:ln w="25400">
                <a:solidFill>
                  <a:schemeClr val="tx1"/>
                </a:solidFill>
                <a:prstDash val="dash"/>
                <a:round/>
                <a:headEnd/>
                <a:tailEnd/>
              </a:ln>
            </p:spPr>
            <p:txBody>
              <a:bodyPr wrap="none" anchor="ctr"/>
              <a:lstStyle/>
              <a:p>
                <a:endParaRPr lang="zh-CN" altLang="en-US"/>
              </a:p>
            </p:txBody>
          </p:sp>
        </p:grpSp>
      </p:grpSp>
      <p:sp>
        <p:nvSpPr>
          <p:cNvPr id="40996" name="Text Box 36"/>
          <p:cNvSpPr txBox="1">
            <a:spLocks noChangeArrowheads="1"/>
          </p:cNvSpPr>
          <p:nvPr/>
        </p:nvSpPr>
        <p:spPr bwMode="auto">
          <a:xfrm>
            <a:off x="695325" y="3316288"/>
            <a:ext cx="2508250" cy="369887"/>
          </a:xfrm>
          <a:prstGeom prst="rect">
            <a:avLst/>
          </a:prstGeom>
          <a:noFill/>
          <a:ln w="9525">
            <a:noFill/>
            <a:miter lim="800000"/>
            <a:headEnd/>
            <a:tailEnd/>
          </a:ln>
        </p:spPr>
        <p:txBody>
          <a:bodyPr>
            <a:spAutoFit/>
          </a:bodyPr>
          <a:lstStyle/>
          <a:p>
            <a:r>
              <a:rPr lang="zh-CN" altLang="en-US" sz="1800" b="1">
                <a:ea typeface="华文中宋"/>
                <a:cs typeface="华文中宋"/>
              </a:rPr>
              <a:t>在介质内任取一体元</a:t>
            </a:r>
            <a:r>
              <a:rPr lang="en-US" altLang="zh-CN" sz="1800" b="1">
                <a:ea typeface="华文中宋"/>
                <a:cs typeface="华文中宋"/>
              </a:rPr>
              <a:t>d</a:t>
            </a:r>
            <a:r>
              <a:rPr lang="en-US" altLang="zh-CN" sz="1800" b="1" i="1">
                <a:ea typeface="华文中宋"/>
                <a:cs typeface="华文中宋"/>
              </a:rPr>
              <a:t>v</a:t>
            </a:r>
          </a:p>
        </p:txBody>
      </p:sp>
      <p:sp>
        <p:nvSpPr>
          <p:cNvPr id="33" name="Text Box 2"/>
          <p:cNvSpPr>
            <a:spLocks noChangeArrowheads="1"/>
          </p:cNvSpPr>
          <p:nvPr/>
        </p:nvSpPr>
        <p:spPr bwMode="auto">
          <a:xfrm>
            <a:off x="828675" y="874713"/>
            <a:ext cx="4103688" cy="401637"/>
          </a:xfrm>
          <a:prstGeom prst="homePlate">
            <a:avLst>
              <a:gd name="adj" fmla="val 49621"/>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一、介质中</a:t>
            </a:r>
            <a:r>
              <a:rPr lang="en-US" altLang="zh-CN" sz="2000">
                <a:solidFill>
                  <a:srgbClr val="FFFFFF"/>
                </a:solidFill>
                <a:latin typeface="微软雅黑" pitchFamily="34" charset="-122"/>
                <a:ea typeface="微软雅黑" pitchFamily="34" charset="-122"/>
              </a:rPr>
              <a:t>dv</a:t>
            </a:r>
            <a:r>
              <a:rPr lang="zh-CN" altLang="en-US" sz="2000">
                <a:solidFill>
                  <a:srgbClr val="FFFFFF"/>
                </a:solidFill>
                <a:latin typeface="微软雅黑" pitchFamily="34" charset="-122"/>
                <a:ea typeface="微软雅黑" pitchFamily="34" charset="-122"/>
              </a:rPr>
              <a:t>体元内的波动能量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0968"/>
                                        </p:tgtEl>
                                        <p:attrNameLst>
                                          <p:attrName>style.visibility</p:attrName>
                                        </p:attrNameLst>
                                      </p:cBhvr>
                                      <p:to>
                                        <p:strVal val="visible"/>
                                      </p:to>
                                    </p:set>
                                    <p:animEffect transition="in" filter="blinds(horizontal)">
                                      <p:cBhvr>
                                        <p:cTn id="12" dur="500"/>
                                        <p:tgtEl>
                                          <p:spTgt spid="40968"/>
                                        </p:tgtEl>
                                      </p:cBhvr>
                                    </p:animEffect>
                                  </p:childTnLst>
                                </p:cTn>
                              </p:par>
                              <p:par>
                                <p:cTn id="13" presetID="3" presetClass="entr" presetSubtype="10" fill="hold" nodeType="withEffect">
                                  <p:stCondLst>
                                    <p:cond delay="0"/>
                                  </p:stCondLst>
                                  <p:childTnLst>
                                    <p:set>
                                      <p:cBhvr>
                                        <p:cTn id="14" dur="1" fill="hold">
                                          <p:stCondLst>
                                            <p:cond delay="0"/>
                                          </p:stCondLst>
                                        </p:cTn>
                                        <p:tgtEl>
                                          <p:spTgt spid="40967"/>
                                        </p:tgtEl>
                                        <p:attrNameLst>
                                          <p:attrName>style.visibility</p:attrName>
                                        </p:attrNameLst>
                                      </p:cBhvr>
                                      <p:to>
                                        <p:strVal val="visible"/>
                                      </p:to>
                                    </p:set>
                                    <p:animEffect transition="in" filter="blinds(horizontal)">
                                      <p:cBhvr>
                                        <p:cTn id="15" dur="500"/>
                                        <p:tgtEl>
                                          <p:spTgt spid="4096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10" fill="hold" grpId="0" nodeType="clickEffect">
                                  <p:stCondLst>
                                    <p:cond delay="0"/>
                                  </p:stCondLst>
                                  <p:childTnLst>
                                    <p:set>
                                      <p:cBhvr>
                                        <p:cTn id="19" dur="1" fill="hold">
                                          <p:stCondLst>
                                            <p:cond delay="0"/>
                                          </p:stCondLst>
                                        </p:cTn>
                                        <p:tgtEl>
                                          <p:spTgt spid="40963"/>
                                        </p:tgtEl>
                                        <p:attrNameLst>
                                          <p:attrName>style.visibility</p:attrName>
                                        </p:attrNameLst>
                                      </p:cBhvr>
                                      <p:to>
                                        <p:strVal val="visible"/>
                                      </p:to>
                                    </p:set>
                                    <p:anim calcmode="lin" valueType="num">
                                      <p:cBhvr>
                                        <p:cTn id="20" dur="500" fill="hold"/>
                                        <p:tgtEl>
                                          <p:spTgt spid="40963"/>
                                        </p:tgtEl>
                                        <p:attrNameLst>
                                          <p:attrName>ppt_w</p:attrName>
                                        </p:attrNameLst>
                                      </p:cBhvr>
                                      <p:tavLst>
                                        <p:tav tm="0">
                                          <p:val>
                                            <p:fltVal val="0"/>
                                          </p:val>
                                        </p:tav>
                                        <p:tav tm="100000">
                                          <p:val>
                                            <p:strVal val="#ppt_w"/>
                                          </p:val>
                                        </p:tav>
                                      </p:tavLst>
                                    </p:anim>
                                    <p:anim calcmode="lin" valueType="num">
                                      <p:cBhvr>
                                        <p:cTn id="21" dur="500" fill="hold"/>
                                        <p:tgtEl>
                                          <p:spTgt spid="4096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8"/>
                                            </p:cond>
                                          </p:stCondLst>
                                          <p:endCondLst>
                                            <p:cond evt="onStopAudio" delay="0">
                                              <p:tgtEl>
                                                <p:sldTgt/>
                                              </p:tgtEl>
                                            </p:cond>
                                          </p:endCondLst>
                                        </p:cTn>
                                        <p:tgtEl>
                                          <p:sndTgt r:embed="rId3" name="TYPE.WAV"/>
                                        </p:tgtEl>
                                      </p:cMediaNode>
                                    </p:audio>
                                  </p:sub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linds(horizontal)">
                                      <p:cBhvr>
                                        <p:cTn id="26" dur="500"/>
                                        <p:tgtEl>
                                          <p:spTgt spid="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40996"/>
                                        </p:tgtEl>
                                        <p:attrNameLst>
                                          <p:attrName>style.visibility</p:attrName>
                                        </p:attrNameLst>
                                      </p:cBhvr>
                                      <p:to>
                                        <p:strVal val="visible"/>
                                      </p:to>
                                    </p:set>
                                    <p:anim calcmode="lin" valueType="num">
                                      <p:cBhvr>
                                        <p:cTn id="31" dur="500" fill="hold"/>
                                        <p:tgtEl>
                                          <p:spTgt spid="40996"/>
                                        </p:tgtEl>
                                        <p:attrNameLst>
                                          <p:attrName>ppt_w</p:attrName>
                                        </p:attrNameLst>
                                      </p:cBhvr>
                                      <p:tavLst>
                                        <p:tav tm="0">
                                          <p:val>
                                            <p:fltVal val="0"/>
                                          </p:val>
                                        </p:tav>
                                        <p:tav tm="100000">
                                          <p:val>
                                            <p:strVal val="#ppt_w"/>
                                          </p:val>
                                        </p:tav>
                                      </p:tavLst>
                                    </p:anim>
                                    <p:anim calcmode="lin" valueType="num">
                                      <p:cBhvr>
                                        <p:cTn id="32" dur="500" fill="hold"/>
                                        <p:tgtEl>
                                          <p:spTgt spid="40996"/>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nodeType="clickEffect">
                                  <p:stCondLst>
                                    <p:cond delay="0"/>
                                  </p:stCondLst>
                                  <p:childTnLst>
                                    <p:set>
                                      <p:cBhvr>
                                        <p:cTn id="36" dur="1" fill="hold">
                                          <p:stCondLst>
                                            <p:cond delay="0"/>
                                          </p:stCondLst>
                                        </p:cTn>
                                        <p:tgtEl>
                                          <p:spTgt spid="40971"/>
                                        </p:tgtEl>
                                        <p:attrNameLst>
                                          <p:attrName>style.visibility</p:attrName>
                                        </p:attrNameLst>
                                      </p:cBhvr>
                                      <p:to>
                                        <p:strVal val="visible"/>
                                      </p:to>
                                    </p:set>
                                    <p:anim calcmode="lin" valueType="num">
                                      <p:cBhvr>
                                        <p:cTn id="37" dur="500" fill="hold"/>
                                        <p:tgtEl>
                                          <p:spTgt spid="40971"/>
                                        </p:tgtEl>
                                        <p:attrNameLst>
                                          <p:attrName>ppt_w</p:attrName>
                                        </p:attrNameLst>
                                      </p:cBhvr>
                                      <p:tavLst>
                                        <p:tav tm="0">
                                          <p:val>
                                            <p:fltVal val="0"/>
                                          </p:val>
                                        </p:tav>
                                        <p:tav tm="100000">
                                          <p:val>
                                            <p:strVal val="#ppt_w"/>
                                          </p:val>
                                        </p:tav>
                                      </p:tavLst>
                                    </p:anim>
                                    <p:anim calcmode="lin" valueType="num">
                                      <p:cBhvr>
                                        <p:cTn id="38" dur="500" fill="hold"/>
                                        <p:tgtEl>
                                          <p:spTgt spid="40971"/>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nodeType="clickEffect">
                                  <p:stCondLst>
                                    <p:cond delay="0"/>
                                  </p:stCondLst>
                                  <p:childTnLst>
                                    <p:set>
                                      <p:cBhvr>
                                        <p:cTn id="42" dur="1" fill="hold">
                                          <p:stCondLst>
                                            <p:cond delay="0"/>
                                          </p:stCondLst>
                                        </p:cTn>
                                        <p:tgtEl>
                                          <p:spTgt spid="40970"/>
                                        </p:tgtEl>
                                        <p:attrNameLst>
                                          <p:attrName>style.visibility</p:attrName>
                                        </p:attrNameLst>
                                      </p:cBhvr>
                                      <p:to>
                                        <p:strVal val="visible"/>
                                      </p:to>
                                    </p:set>
                                    <p:anim calcmode="lin" valueType="num">
                                      <p:cBhvr>
                                        <p:cTn id="43" dur="500" fill="hold"/>
                                        <p:tgtEl>
                                          <p:spTgt spid="40970"/>
                                        </p:tgtEl>
                                        <p:attrNameLst>
                                          <p:attrName>ppt_w</p:attrName>
                                        </p:attrNameLst>
                                      </p:cBhvr>
                                      <p:tavLst>
                                        <p:tav tm="0">
                                          <p:val>
                                            <p:fltVal val="0"/>
                                          </p:val>
                                        </p:tav>
                                        <p:tav tm="100000">
                                          <p:val>
                                            <p:strVal val="#ppt_w"/>
                                          </p:val>
                                        </p:tav>
                                      </p:tavLst>
                                    </p:anim>
                                    <p:anim calcmode="lin" valueType="num">
                                      <p:cBhvr>
                                        <p:cTn id="44" dur="500" fill="hold"/>
                                        <p:tgtEl>
                                          <p:spTgt spid="40970"/>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10" fill="hold" nodeType="clickEffect">
                                  <p:stCondLst>
                                    <p:cond delay="0"/>
                                  </p:stCondLst>
                                  <p:childTnLst>
                                    <p:set>
                                      <p:cBhvr>
                                        <p:cTn id="48" dur="1" fill="hold">
                                          <p:stCondLst>
                                            <p:cond delay="0"/>
                                          </p:stCondLst>
                                        </p:cTn>
                                        <p:tgtEl>
                                          <p:spTgt spid="40964"/>
                                        </p:tgtEl>
                                        <p:attrNameLst>
                                          <p:attrName>style.visibility</p:attrName>
                                        </p:attrNameLst>
                                      </p:cBhvr>
                                      <p:to>
                                        <p:strVal val="visible"/>
                                      </p:to>
                                    </p:set>
                                    <p:anim calcmode="lin" valueType="num">
                                      <p:cBhvr>
                                        <p:cTn id="49" dur="500" fill="hold"/>
                                        <p:tgtEl>
                                          <p:spTgt spid="40964"/>
                                        </p:tgtEl>
                                        <p:attrNameLst>
                                          <p:attrName>ppt_w</p:attrName>
                                        </p:attrNameLst>
                                      </p:cBhvr>
                                      <p:tavLst>
                                        <p:tav tm="0">
                                          <p:val>
                                            <p:fltVal val="0"/>
                                          </p:val>
                                        </p:tav>
                                        <p:tav tm="100000">
                                          <p:val>
                                            <p:strVal val="#ppt_w"/>
                                          </p:val>
                                        </p:tav>
                                      </p:tavLst>
                                    </p:anim>
                                    <p:anim calcmode="lin" valueType="num">
                                      <p:cBhvr>
                                        <p:cTn id="50" dur="500" fill="hold"/>
                                        <p:tgtEl>
                                          <p:spTgt spid="4096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7"/>
                                            </p:cond>
                                          </p:stCondLst>
                                          <p:endCondLst>
                                            <p:cond evt="onStopAudio" delay="0">
                                              <p:tgtEl>
                                                <p:sldTgt/>
                                              </p:tgtEl>
                                            </p:cond>
                                          </p:endCondLst>
                                        </p:cTn>
                                        <p:tgtEl>
                                          <p:sndTgt r:embed="rId3" name="TYPE.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17" presetClass="entr" presetSubtype="10" fill="hold" nodeType="clickEffect">
                                  <p:stCondLst>
                                    <p:cond delay="0"/>
                                  </p:stCondLst>
                                  <p:childTnLst>
                                    <p:set>
                                      <p:cBhvr>
                                        <p:cTn id="54" dur="1" fill="hold">
                                          <p:stCondLst>
                                            <p:cond delay="0"/>
                                          </p:stCondLst>
                                        </p:cTn>
                                        <p:tgtEl>
                                          <p:spTgt spid="40972"/>
                                        </p:tgtEl>
                                        <p:attrNameLst>
                                          <p:attrName>style.visibility</p:attrName>
                                        </p:attrNameLst>
                                      </p:cBhvr>
                                      <p:to>
                                        <p:strVal val="visible"/>
                                      </p:to>
                                    </p:set>
                                    <p:anim calcmode="lin" valueType="num">
                                      <p:cBhvr>
                                        <p:cTn id="55" dur="500" fill="hold"/>
                                        <p:tgtEl>
                                          <p:spTgt spid="40972"/>
                                        </p:tgtEl>
                                        <p:attrNameLst>
                                          <p:attrName>ppt_w</p:attrName>
                                        </p:attrNameLst>
                                      </p:cBhvr>
                                      <p:tavLst>
                                        <p:tav tm="0">
                                          <p:val>
                                            <p:fltVal val="0"/>
                                          </p:val>
                                        </p:tav>
                                        <p:tav tm="100000">
                                          <p:val>
                                            <p:strVal val="#ppt_w"/>
                                          </p:val>
                                        </p:tav>
                                      </p:tavLst>
                                    </p:anim>
                                    <p:anim calcmode="lin" valueType="num">
                                      <p:cBhvr>
                                        <p:cTn id="56" dur="500" fill="hold"/>
                                        <p:tgtEl>
                                          <p:spTgt spid="4097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3"/>
                                            </p:cond>
                                          </p:stCondLst>
                                          <p:endCondLst>
                                            <p:cond evt="onStopAudio" delay="0">
                                              <p:tgtEl>
                                                <p:sldTgt/>
                                              </p:tgtEl>
                                            </p:cond>
                                          </p:endCondLst>
                                        </p:cTn>
                                        <p:tgtEl>
                                          <p:sndTgt r:embed="rId3" name="TYPE.WAV"/>
                                        </p:tgtEl>
                                      </p:cMediaNode>
                                    </p:audio>
                                  </p:subTnLst>
                                </p:cTn>
                              </p:par>
                            </p:childTnLst>
                          </p:cTn>
                        </p:par>
                      </p:childTnLst>
                    </p:cTn>
                  </p:par>
                  <p:par>
                    <p:cTn id="57" fill="hold" nodeType="clickPar">
                      <p:stCondLst>
                        <p:cond delay="indefinite"/>
                      </p:stCondLst>
                      <p:childTnLst>
                        <p:par>
                          <p:cTn id="58" fill="hold" nodeType="withGroup">
                            <p:stCondLst>
                              <p:cond delay="0"/>
                            </p:stCondLst>
                            <p:childTnLst>
                              <p:par>
                                <p:cTn id="59" presetID="17" presetClass="entr" presetSubtype="10" fill="hold" nodeType="clickEffect">
                                  <p:stCondLst>
                                    <p:cond delay="0"/>
                                  </p:stCondLst>
                                  <p:childTnLst>
                                    <p:set>
                                      <p:cBhvr>
                                        <p:cTn id="60" dur="1" fill="hold">
                                          <p:stCondLst>
                                            <p:cond delay="0"/>
                                          </p:stCondLst>
                                        </p:cTn>
                                        <p:tgtEl>
                                          <p:spTgt spid="40973"/>
                                        </p:tgtEl>
                                        <p:attrNameLst>
                                          <p:attrName>style.visibility</p:attrName>
                                        </p:attrNameLst>
                                      </p:cBhvr>
                                      <p:to>
                                        <p:strVal val="visible"/>
                                      </p:to>
                                    </p:set>
                                    <p:anim calcmode="lin" valueType="num">
                                      <p:cBhvr>
                                        <p:cTn id="61" dur="500" fill="hold"/>
                                        <p:tgtEl>
                                          <p:spTgt spid="40973"/>
                                        </p:tgtEl>
                                        <p:attrNameLst>
                                          <p:attrName>ppt_w</p:attrName>
                                        </p:attrNameLst>
                                      </p:cBhvr>
                                      <p:tavLst>
                                        <p:tav tm="0">
                                          <p:val>
                                            <p:fltVal val="0"/>
                                          </p:val>
                                        </p:tav>
                                        <p:tav tm="100000">
                                          <p:val>
                                            <p:strVal val="#ppt_w"/>
                                          </p:val>
                                        </p:tav>
                                      </p:tavLst>
                                    </p:anim>
                                    <p:anim calcmode="lin" valueType="num">
                                      <p:cBhvr>
                                        <p:cTn id="62" dur="500" fill="hold"/>
                                        <p:tgtEl>
                                          <p:spTgt spid="4097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9"/>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autoUpdateAnimBg="0"/>
      <p:bldP spid="40968" grpId="0"/>
      <p:bldP spid="40996" grpId="0" autoUpdateAnimBg="0"/>
      <p:bldP spid="3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468313" y="776288"/>
            <a:ext cx="2297112" cy="369887"/>
          </a:xfrm>
          <a:prstGeom prst="rect">
            <a:avLst/>
          </a:prstGeom>
          <a:noFill/>
          <a:ln w="9525">
            <a:noFill/>
            <a:miter lim="800000"/>
            <a:headEnd/>
            <a:tailEnd/>
          </a:ln>
        </p:spPr>
        <p:txBody>
          <a:bodyPr>
            <a:spAutoFit/>
          </a:bodyPr>
          <a:lstStyle/>
          <a:p>
            <a:r>
              <a:rPr lang="en-US" altLang="zh-CN" sz="1800" b="1">
                <a:solidFill>
                  <a:schemeClr val="accent2"/>
                </a:solidFill>
                <a:latin typeface="华文中宋"/>
                <a:ea typeface="华文中宋"/>
                <a:cs typeface="华文中宋"/>
              </a:rPr>
              <a:t>2</a:t>
            </a:r>
            <a:r>
              <a:rPr lang="zh-CN" altLang="en-US" sz="1800" b="1">
                <a:solidFill>
                  <a:schemeClr val="accent2"/>
                </a:solidFill>
                <a:latin typeface="华文中宋"/>
                <a:ea typeface="华文中宋"/>
                <a:cs typeface="华文中宋"/>
              </a:rPr>
              <a:t>、</a:t>
            </a:r>
            <a:r>
              <a:rPr lang="en-US" altLang="zh-CN" sz="1800" b="1">
                <a:solidFill>
                  <a:schemeClr val="accent2"/>
                </a:solidFill>
                <a:ea typeface="华文中宋"/>
                <a:cs typeface="华文中宋"/>
              </a:rPr>
              <a:t>d</a:t>
            </a:r>
            <a:r>
              <a:rPr lang="en-US" altLang="zh-CN" sz="1800" b="1" i="1">
                <a:solidFill>
                  <a:schemeClr val="accent2"/>
                </a:solidFill>
                <a:ea typeface="华文中宋"/>
                <a:cs typeface="华文中宋"/>
              </a:rPr>
              <a:t>v</a:t>
            </a:r>
            <a:r>
              <a:rPr lang="zh-CN" altLang="en-US" sz="1800" b="1">
                <a:solidFill>
                  <a:schemeClr val="accent2"/>
                </a:solidFill>
                <a:latin typeface="华文中宋"/>
                <a:ea typeface="华文中宋"/>
                <a:cs typeface="华文中宋"/>
              </a:rPr>
              <a:t>内的波动势能</a:t>
            </a:r>
            <a:endParaRPr lang="zh-CN" altLang="en-US" sz="1800">
              <a:latin typeface="华文中宋"/>
              <a:ea typeface="华文中宋"/>
              <a:cs typeface="华文中宋"/>
            </a:endParaRPr>
          </a:p>
        </p:txBody>
      </p:sp>
      <p:sp>
        <p:nvSpPr>
          <p:cNvPr id="41987" name="Rectangle 3"/>
          <p:cNvSpPr>
            <a:spLocks noChangeArrowheads="1"/>
          </p:cNvSpPr>
          <p:nvPr/>
        </p:nvSpPr>
        <p:spPr bwMode="auto">
          <a:xfrm>
            <a:off x="468313" y="2562225"/>
            <a:ext cx="5832475" cy="369888"/>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rPr>
              <a:t>体积元因形变而具有弹性势能，在横波中，产生切变：</a:t>
            </a:r>
          </a:p>
        </p:txBody>
      </p:sp>
      <p:graphicFrame>
        <p:nvGraphicFramePr>
          <p:cNvPr id="41988" name="Object 90"/>
          <p:cNvGraphicFramePr>
            <a:graphicFrameLocks noChangeAspect="1"/>
          </p:cNvGraphicFramePr>
          <p:nvPr/>
        </p:nvGraphicFramePr>
        <p:xfrm>
          <a:off x="5580063" y="3355975"/>
          <a:ext cx="1152525" cy="655638"/>
        </p:xfrm>
        <a:graphic>
          <a:graphicData uri="http://schemas.openxmlformats.org/presentationml/2006/ole">
            <p:oleObj spid="_x0000_s39002" name="公式" r:id="rId5" imgW="469696" imgH="355446" progId="Equation.3">
              <p:embed/>
            </p:oleObj>
          </a:graphicData>
        </a:graphic>
      </p:graphicFrame>
      <p:graphicFrame>
        <p:nvGraphicFramePr>
          <p:cNvPr id="41990" name="Object 91"/>
          <p:cNvGraphicFramePr>
            <a:graphicFrameLocks noChangeAspect="1"/>
          </p:cNvGraphicFramePr>
          <p:nvPr/>
        </p:nvGraphicFramePr>
        <p:xfrm>
          <a:off x="376238" y="3940175"/>
          <a:ext cx="5059362" cy="585788"/>
        </p:xfrm>
        <a:graphic>
          <a:graphicData uri="http://schemas.openxmlformats.org/presentationml/2006/ole">
            <p:oleObj spid="_x0000_s39003" name="Equation" r:id="rId6" imgW="3644900" imgH="508000" progId="Equation.DSMT4">
              <p:embed/>
            </p:oleObj>
          </a:graphicData>
        </a:graphic>
      </p:graphicFrame>
      <p:grpSp>
        <p:nvGrpSpPr>
          <p:cNvPr id="2" name="Group 2083"/>
          <p:cNvGrpSpPr>
            <a:grpSpLocks/>
          </p:cNvGrpSpPr>
          <p:nvPr/>
        </p:nvGrpSpPr>
        <p:grpSpPr bwMode="auto">
          <a:xfrm>
            <a:off x="6443663" y="1751013"/>
            <a:ext cx="2251075" cy="765175"/>
            <a:chOff x="4059" y="890"/>
            <a:chExt cx="1503" cy="667"/>
          </a:xfrm>
        </p:grpSpPr>
        <p:grpSp>
          <p:nvGrpSpPr>
            <p:cNvPr id="39036" name="Group 28"/>
            <p:cNvGrpSpPr>
              <a:grpSpLocks/>
            </p:cNvGrpSpPr>
            <p:nvPr/>
          </p:nvGrpSpPr>
          <p:grpSpPr bwMode="auto">
            <a:xfrm>
              <a:off x="4059" y="890"/>
              <a:ext cx="1503" cy="588"/>
              <a:chOff x="220" y="1889"/>
              <a:chExt cx="476" cy="527"/>
            </a:xfrm>
          </p:grpSpPr>
          <p:grpSp>
            <p:nvGrpSpPr>
              <p:cNvPr id="39038" name="Group 29"/>
              <p:cNvGrpSpPr>
                <a:grpSpLocks/>
              </p:cNvGrpSpPr>
              <p:nvPr/>
            </p:nvGrpSpPr>
            <p:grpSpPr bwMode="auto">
              <a:xfrm>
                <a:off x="220" y="1889"/>
                <a:ext cx="476" cy="527"/>
                <a:chOff x="220" y="1889"/>
                <a:chExt cx="476" cy="527"/>
              </a:xfrm>
            </p:grpSpPr>
            <p:sp>
              <p:nvSpPr>
                <p:cNvPr id="39044" name="Line 30"/>
                <p:cNvSpPr>
                  <a:spLocks noChangeShapeType="1"/>
                </p:cNvSpPr>
                <p:nvPr/>
              </p:nvSpPr>
              <p:spPr bwMode="auto">
                <a:xfrm flipH="1">
                  <a:off x="470" y="1889"/>
                  <a:ext cx="0" cy="516"/>
                </a:xfrm>
                <a:prstGeom prst="line">
                  <a:avLst/>
                </a:prstGeom>
                <a:noFill/>
                <a:ln w="19050">
                  <a:solidFill>
                    <a:schemeClr val="tx1"/>
                  </a:solidFill>
                  <a:prstDash val="dash"/>
                  <a:round/>
                  <a:headEnd/>
                  <a:tailEnd/>
                </a:ln>
              </p:spPr>
              <p:txBody>
                <a:bodyPr wrap="none" anchor="ctr"/>
                <a:lstStyle/>
                <a:p>
                  <a:endParaRPr lang="zh-CN" altLang="en-US"/>
                </a:p>
              </p:txBody>
            </p:sp>
            <p:sp>
              <p:nvSpPr>
                <p:cNvPr id="39045" name="Line 31"/>
                <p:cNvSpPr>
                  <a:spLocks noChangeShapeType="1"/>
                </p:cNvSpPr>
                <p:nvPr/>
              </p:nvSpPr>
              <p:spPr bwMode="auto">
                <a:xfrm>
                  <a:off x="669" y="2115"/>
                  <a:ext cx="0" cy="301"/>
                </a:xfrm>
                <a:prstGeom prst="line">
                  <a:avLst/>
                </a:prstGeom>
                <a:noFill/>
                <a:ln w="19050">
                  <a:solidFill>
                    <a:schemeClr val="tx1"/>
                  </a:solidFill>
                  <a:prstDash val="dash"/>
                  <a:round/>
                  <a:headEnd/>
                  <a:tailEnd/>
                </a:ln>
              </p:spPr>
              <p:txBody>
                <a:bodyPr wrap="none" anchor="ctr"/>
                <a:lstStyle/>
                <a:p>
                  <a:endParaRPr lang="zh-CN" altLang="en-US"/>
                </a:p>
              </p:txBody>
            </p:sp>
            <p:sp>
              <p:nvSpPr>
                <p:cNvPr id="39046" name="Line 32"/>
                <p:cNvSpPr>
                  <a:spLocks noChangeShapeType="1"/>
                </p:cNvSpPr>
                <p:nvPr/>
              </p:nvSpPr>
              <p:spPr bwMode="auto">
                <a:xfrm>
                  <a:off x="220" y="2285"/>
                  <a:ext cx="476" cy="0"/>
                </a:xfrm>
                <a:prstGeom prst="line">
                  <a:avLst/>
                </a:prstGeom>
                <a:noFill/>
                <a:ln w="19050">
                  <a:solidFill>
                    <a:schemeClr val="tx1"/>
                  </a:solidFill>
                  <a:prstDash val="dash"/>
                  <a:round/>
                  <a:headEnd/>
                  <a:tailEnd/>
                </a:ln>
              </p:spPr>
              <p:txBody>
                <a:bodyPr wrap="none" anchor="ctr"/>
                <a:lstStyle/>
                <a:p>
                  <a:endParaRPr lang="zh-CN" altLang="en-US"/>
                </a:p>
              </p:txBody>
            </p:sp>
            <p:sp>
              <p:nvSpPr>
                <p:cNvPr id="39047" name="Line 33"/>
                <p:cNvSpPr>
                  <a:spLocks noChangeShapeType="1"/>
                </p:cNvSpPr>
                <p:nvPr/>
              </p:nvSpPr>
              <p:spPr bwMode="auto">
                <a:xfrm>
                  <a:off x="238" y="2090"/>
                  <a:ext cx="244" cy="0"/>
                </a:xfrm>
                <a:prstGeom prst="line">
                  <a:avLst/>
                </a:prstGeom>
                <a:noFill/>
                <a:ln w="19050">
                  <a:solidFill>
                    <a:schemeClr val="tx1"/>
                  </a:solidFill>
                  <a:prstDash val="dash"/>
                  <a:round/>
                  <a:headEnd/>
                  <a:tailEnd/>
                </a:ln>
              </p:spPr>
              <p:txBody>
                <a:bodyPr wrap="none" anchor="ctr"/>
                <a:lstStyle/>
                <a:p>
                  <a:endParaRPr lang="zh-CN" altLang="en-US"/>
                </a:p>
              </p:txBody>
            </p:sp>
          </p:grpSp>
          <p:grpSp>
            <p:nvGrpSpPr>
              <p:cNvPr id="39039" name="Group 34"/>
              <p:cNvGrpSpPr>
                <a:grpSpLocks/>
              </p:cNvGrpSpPr>
              <p:nvPr/>
            </p:nvGrpSpPr>
            <p:grpSpPr bwMode="auto">
              <a:xfrm>
                <a:off x="456" y="1898"/>
                <a:ext cx="235" cy="390"/>
                <a:chOff x="2109" y="2685"/>
                <a:chExt cx="236" cy="404"/>
              </a:xfrm>
            </p:grpSpPr>
            <p:sp>
              <p:nvSpPr>
                <p:cNvPr id="39040" name="Line 35"/>
                <p:cNvSpPr>
                  <a:spLocks noChangeShapeType="1"/>
                </p:cNvSpPr>
                <p:nvPr/>
              </p:nvSpPr>
              <p:spPr bwMode="auto">
                <a:xfrm>
                  <a:off x="2323" y="2922"/>
                  <a:ext cx="0" cy="167"/>
                </a:xfrm>
                <a:prstGeom prst="line">
                  <a:avLst/>
                </a:prstGeom>
                <a:noFill/>
                <a:ln w="57150">
                  <a:solidFill>
                    <a:schemeClr val="accent2"/>
                  </a:solidFill>
                  <a:round/>
                  <a:headEnd/>
                  <a:tailEnd/>
                </a:ln>
              </p:spPr>
              <p:txBody>
                <a:bodyPr wrap="none" anchor="ctr"/>
                <a:lstStyle/>
                <a:p>
                  <a:endParaRPr lang="zh-CN" altLang="en-US"/>
                </a:p>
              </p:txBody>
            </p:sp>
            <p:sp>
              <p:nvSpPr>
                <p:cNvPr id="39041" name="Line 36"/>
                <p:cNvSpPr>
                  <a:spLocks noChangeShapeType="1"/>
                </p:cNvSpPr>
                <p:nvPr/>
              </p:nvSpPr>
              <p:spPr bwMode="auto">
                <a:xfrm>
                  <a:off x="2119" y="2685"/>
                  <a:ext cx="0" cy="167"/>
                </a:xfrm>
                <a:prstGeom prst="line">
                  <a:avLst/>
                </a:prstGeom>
                <a:noFill/>
                <a:ln w="57150">
                  <a:solidFill>
                    <a:schemeClr val="accent2"/>
                  </a:solidFill>
                  <a:round/>
                  <a:headEnd/>
                  <a:tailEnd/>
                </a:ln>
              </p:spPr>
              <p:txBody>
                <a:bodyPr wrap="none" anchor="ctr"/>
                <a:lstStyle/>
                <a:p>
                  <a:endParaRPr lang="zh-CN" altLang="en-US"/>
                </a:p>
              </p:txBody>
            </p:sp>
            <p:sp>
              <p:nvSpPr>
                <p:cNvPr id="39042" name="Line 37"/>
                <p:cNvSpPr>
                  <a:spLocks noChangeShapeType="1"/>
                </p:cNvSpPr>
                <p:nvPr/>
              </p:nvSpPr>
              <p:spPr bwMode="auto">
                <a:xfrm>
                  <a:off x="2123" y="2698"/>
                  <a:ext cx="222" cy="222"/>
                </a:xfrm>
                <a:prstGeom prst="line">
                  <a:avLst/>
                </a:prstGeom>
                <a:noFill/>
                <a:ln w="57150">
                  <a:solidFill>
                    <a:schemeClr val="accent2"/>
                  </a:solidFill>
                  <a:round/>
                  <a:headEnd/>
                  <a:tailEnd/>
                </a:ln>
              </p:spPr>
              <p:txBody>
                <a:bodyPr wrap="none" anchor="ctr"/>
                <a:lstStyle/>
                <a:p>
                  <a:endParaRPr lang="zh-CN" altLang="en-US"/>
                </a:p>
              </p:txBody>
            </p:sp>
            <p:sp>
              <p:nvSpPr>
                <p:cNvPr id="39043" name="Line 38"/>
                <p:cNvSpPr>
                  <a:spLocks noChangeShapeType="1"/>
                </p:cNvSpPr>
                <p:nvPr/>
              </p:nvSpPr>
              <p:spPr bwMode="auto">
                <a:xfrm>
                  <a:off x="2109" y="2849"/>
                  <a:ext cx="222" cy="222"/>
                </a:xfrm>
                <a:prstGeom prst="line">
                  <a:avLst/>
                </a:prstGeom>
                <a:noFill/>
                <a:ln w="57150">
                  <a:solidFill>
                    <a:schemeClr val="accent2"/>
                  </a:solidFill>
                  <a:round/>
                  <a:headEnd/>
                  <a:tailEnd/>
                </a:ln>
              </p:spPr>
              <p:txBody>
                <a:bodyPr wrap="none" anchor="ctr"/>
                <a:lstStyle/>
                <a:p>
                  <a:endParaRPr lang="zh-CN" altLang="en-US"/>
                </a:p>
              </p:txBody>
            </p:sp>
          </p:grpSp>
        </p:grpSp>
        <p:sp>
          <p:nvSpPr>
            <p:cNvPr id="39037" name="Freeform 39"/>
            <p:cNvSpPr>
              <a:spLocks/>
            </p:cNvSpPr>
            <p:nvPr/>
          </p:nvSpPr>
          <p:spPr bwMode="auto">
            <a:xfrm>
              <a:off x="5113" y="1201"/>
              <a:ext cx="83" cy="135"/>
            </a:xfrm>
            <a:custGeom>
              <a:avLst/>
              <a:gdLst>
                <a:gd name="T0" fmla="*/ 19 w 93"/>
                <a:gd name="T1" fmla="*/ 1 h 199"/>
                <a:gd name="T2" fmla="*/ 12 w 93"/>
                <a:gd name="T3" fmla="*/ 1 h 199"/>
                <a:gd name="T4" fmla="*/ 0 60000 65536"/>
                <a:gd name="T5" fmla="*/ 0 60000 65536"/>
                <a:gd name="T6" fmla="*/ 0 w 93"/>
                <a:gd name="T7" fmla="*/ 0 h 199"/>
                <a:gd name="T8" fmla="*/ 93 w 93"/>
                <a:gd name="T9" fmla="*/ 199 h 199"/>
              </a:gdLst>
              <a:ahLst/>
              <a:cxnLst>
                <a:cxn ang="T4">
                  <a:pos x="T0" y="T1"/>
                </a:cxn>
                <a:cxn ang="T5">
                  <a:pos x="T2" y="T3"/>
                </a:cxn>
              </a:cxnLst>
              <a:rect l="T6" t="T7" r="T8" b="T9"/>
              <a:pathLst>
                <a:path w="93" h="199">
                  <a:moveTo>
                    <a:pt x="93" y="31"/>
                  </a:moveTo>
                  <a:cubicBezTo>
                    <a:pt x="0" y="0"/>
                    <a:pt x="57" y="6"/>
                    <a:pt x="57" y="199"/>
                  </a:cubicBezTo>
                </a:path>
              </a:pathLst>
            </a:custGeom>
            <a:noFill/>
            <a:ln w="9525">
              <a:solidFill>
                <a:schemeClr val="tx1"/>
              </a:solidFill>
              <a:round/>
              <a:headEnd/>
              <a:tailEnd/>
            </a:ln>
          </p:spPr>
          <p:txBody>
            <a:bodyPr wrap="none" anchor="ctr"/>
            <a:lstStyle/>
            <a:p>
              <a:endParaRPr lang="zh-CN" altLang="en-US"/>
            </a:p>
          </p:txBody>
        </p:sp>
        <p:graphicFrame>
          <p:nvGraphicFramePr>
            <p:cNvPr id="39004" name="Object 92"/>
            <p:cNvGraphicFramePr>
              <a:graphicFrameLocks noChangeAspect="1"/>
            </p:cNvGraphicFramePr>
            <p:nvPr/>
          </p:nvGraphicFramePr>
          <p:xfrm>
            <a:off x="4876" y="1117"/>
            <a:ext cx="197" cy="227"/>
          </p:xfrm>
          <a:graphic>
            <a:graphicData uri="http://schemas.openxmlformats.org/presentationml/2006/ole">
              <p:oleObj spid="_x0000_s39004" name="公式" r:id="rId7" imgW="101512" imgH="152268" progId="Equation.3">
                <p:embed/>
              </p:oleObj>
            </a:graphicData>
          </a:graphic>
        </p:graphicFrame>
        <p:graphicFrame>
          <p:nvGraphicFramePr>
            <p:cNvPr id="39005" name="Object 93"/>
            <p:cNvGraphicFramePr>
              <a:graphicFrameLocks noChangeAspect="1"/>
            </p:cNvGraphicFramePr>
            <p:nvPr/>
          </p:nvGraphicFramePr>
          <p:xfrm>
            <a:off x="4348" y="1117"/>
            <a:ext cx="301" cy="212"/>
          </p:xfrm>
          <a:graphic>
            <a:graphicData uri="http://schemas.openxmlformats.org/presentationml/2006/ole">
              <p:oleObj spid="_x0000_s39005" name="公式" r:id="rId8" imgW="164957" imgH="152268" progId="Equation.3">
                <p:embed/>
              </p:oleObj>
            </a:graphicData>
          </a:graphic>
        </p:graphicFrame>
        <p:graphicFrame>
          <p:nvGraphicFramePr>
            <p:cNvPr id="39006" name="Object 94"/>
            <p:cNvGraphicFramePr>
              <a:graphicFrameLocks noChangeAspect="1"/>
            </p:cNvGraphicFramePr>
            <p:nvPr/>
          </p:nvGraphicFramePr>
          <p:xfrm>
            <a:off x="5045" y="1344"/>
            <a:ext cx="330" cy="213"/>
          </p:xfrm>
          <a:graphic>
            <a:graphicData uri="http://schemas.openxmlformats.org/presentationml/2006/ole">
              <p:oleObj spid="_x0000_s39006" name="公式" r:id="rId9" imgW="164957" imgH="139579" progId="Equation.3">
                <p:embed/>
              </p:oleObj>
            </a:graphicData>
          </a:graphic>
        </p:graphicFrame>
      </p:grpSp>
      <p:graphicFrame>
        <p:nvGraphicFramePr>
          <p:cNvPr id="42041" name="Object 95"/>
          <p:cNvGraphicFramePr>
            <a:graphicFrameLocks noChangeAspect="1"/>
          </p:cNvGraphicFramePr>
          <p:nvPr/>
        </p:nvGraphicFramePr>
        <p:xfrm>
          <a:off x="5364163" y="4011613"/>
          <a:ext cx="3271837" cy="504825"/>
        </p:xfrm>
        <a:graphic>
          <a:graphicData uri="http://schemas.openxmlformats.org/presentationml/2006/ole">
            <p:oleObj spid="_x0000_s39007" name="Equation" r:id="rId10" imgW="2032000" imgH="431800" progId="Equation.DSMT4">
              <p:embed/>
            </p:oleObj>
          </a:graphicData>
        </a:graphic>
      </p:graphicFrame>
      <p:graphicFrame>
        <p:nvGraphicFramePr>
          <p:cNvPr id="42044" name="Object 96"/>
          <p:cNvGraphicFramePr>
            <a:graphicFrameLocks noChangeAspect="1"/>
          </p:cNvGraphicFramePr>
          <p:nvPr/>
        </p:nvGraphicFramePr>
        <p:xfrm>
          <a:off x="3132138" y="1019175"/>
          <a:ext cx="2879725" cy="584200"/>
        </p:xfrm>
        <a:graphic>
          <a:graphicData uri="http://schemas.openxmlformats.org/presentationml/2006/ole">
            <p:oleObj spid="_x0000_s39008" name="公式" r:id="rId11" imgW="1079032" imgH="291973" progId="Equation.3">
              <p:embed/>
            </p:oleObj>
          </a:graphicData>
        </a:graphic>
      </p:graphicFrame>
      <p:grpSp>
        <p:nvGrpSpPr>
          <p:cNvPr id="6" name="Group 2059"/>
          <p:cNvGrpSpPr>
            <a:grpSpLocks/>
          </p:cNvGrpSpPr>
          <p:nvPr/>
        </p:nvGrpSpPr>
        <p:grpSpPr bwMode="auto">
          <a:xfrm>
            <a:off x="611188" y="1577975"/>
            <a:ext cx="4608512" cy="1069975"/>
            <a:chOff x="612" y="1541"/>
            <a:chExt cx="3854" cy="1182"/>
          </a:xfrm>
        </p:grpSpPr>
        <p:sp>
          <p:nvSpPr>
            <p:cNvPr id="39022" name="Freeform 2060"/>
            <p:cNvSpPr>
              <a:spLocks/>
            </p:cNvSpPr>
            <p:nvPr/>
          </p:nvSpPr>
          <p:spPr bwMode="auto">
            <a:xfrm rot="100540">
              <a:off x="900" y="1751"/>
              <a:ext cx="3266" cy="858"/>
            </a:xfrm>
            <a:custGeom>
              <a:avLst/>
              <a:gdLst>
                <a:gd name="T0" fmla="*/ 5 w 3281"/>
                <a:gd name="T1" fmla="*/ 7 h 1233"/>
                <a:gd name="T2" fmla="*/ 141 w 3281"/>
                <a:gd name="T3" fmla="*/ 6 h 1233"/>
                <a:gd name="T4" fmla="*/ 879 w 3281"/>
                <a:gd name="T5" fmla="*/ 1 h 1233"/>
                <a:gd name="T6" fmla="*/ 1949 w 3281"/>
                <a:gd name="T7" fmla="*/ 7 h 1233"/>
                <a:gd name="T8" fmla="*/ 2817 w 3281"/>
                <a:gd name="T9" fmla="*/ 1 h 1233"/>
                <a:gd name="T10" fmla="*/ 3077 w 3281"/>
                <a:gd name="T11" fmla="*/ 1 h 1233"/>
                <a:gd name="T12" fmla="*/ 0 60000 65536"/>
                <a:gd name="T13" fmla="*/ 0 60000 65536"/>
                <a:gd name="T14" fmla="*/ 0 60000 65536"/>
                <a:gd name="T15" fmla="*/ 0 60000 65536"/>
                <a:gd name="T16" fmla="*/ 0 60000 65536"/>
                <a:gd name="T17" fmla="*/ 0 60000 65536"/>
                <a:gd name="T18" fmla="*/ 0 w 3281"/>
                <a:gd name="T19" fmla="*/ 0 h 1233"/>
                <a:gd name="T20" fmla="*/ 3281 w 3281"/>
                <a:gd name="T21" fmla="*/ 1233 h 1233"/>
              </a:gdLst>
              <a:ahLst/>
              <a:cxnLst>
                <a:cxn ang="T12">
                  <a:pos x="T0" y="T1"/>
                </a:cxn>
                <a:cxn ang="T13">
                  <a:pos x="T2" y="T3"/>
                </a:cxn>
                <a:cxn ang="T14">
                  <a:pos x="T4" y="T5"/>
                </a:cxn>
                <a:cxn ang="T15">
                  <a:pos x="T6" y="T7"/>
                </a:cxn>
                <a:cxn ang="T16">
                  <a:pos x="T8" y="T9"/>
                </a:cxn>
                <a:cxn ang="T17">
                  <a:pos x="T10" y="T11"/>
                </a:cxn>
              </a:cxnLst>
              <a:rect l="T18" t="T19" r="T20" b="T21"/>
              <a:pathLst>
                <a:path w="3281" h="1233">
                  <a:moveTo>
                    <a:pt x="5" y="1160"/>
                  </a:moveTo>
                  <a:cubicBezTo>
                    <a:pt x="30" y="1144"/>
                    <a:pt x="0" y="1233"/>
                    <a:pt x="155" y="1062"/>
                  </a:cubicBezTo>
                  <a:cubicBezTo>
                    <a:pt x="310" y="891"/>
                    <a:pt x="615" y="117"/>
                    <a:pt x="935" y="132"/>
                  </a:cubicBezTo>
                  <a:cubicBezTo>
                    <a:pt x="1255" y="147"/>
                    <a:pt x="1730" y="1146"/>
                    <a:pt x="2075" y="1152"/>
                  </a:cubicBezTo>
                  <a:cubicBezTo>
                    <a:pt x="2420" y="1158"/>
                    <a:pt x="2802" y="332"/>
                    <a:pt x="3003" y="166"/>
                  </a:cubicBezTo>
                  <a:cubicBezTo>
                    <a:pt x="3204" y="0"/>
                    <a:pt x="3223" y="157"/>
                    <a:pt x="3281" y="155"/>
                  </a:cubicBezTo>
                </a:path>
              </a:pathLst>
            </a:custGeom>
            <a:noFill/>
            <a:ln w="28575" cap="flat" cmpd="sng">
              <a:solidFill>
                <a:srgbClr val="F07E00"/>
              </a:solidFill>
              <a:prstDash val="solid"/>
              <a:round/>
              <a:headEnd/>
              <a:tailEnd/>
            </a:ln>
          </p:spPr>
          <p:txBody>
            <a:bodyPr wrap="none" anchor="ctr"/>
            <a:lstStyle/>
            <a:p>
              <a:endParaRPr lang="zh-CN" altLang="en-US"/>
            </a:p>
          </p:txBody>
        </p:sp>
        <p:sp>
          <p:nvSpPr>
            <p:cNvPr id="39023" name="Line 2061"/>
            <p:cNvSpPr>
              <a:spLocks noChangeShapeType="1"/>
            </p:cNvSpPr>
            <p:nvPr/>
          </p:nvSpPr>
          <p:spPr bwMode="auto">
            <a:xfrm flipV="1">
              <a:off x="612" y="2267"/>
              <a:ext cx="3854" cy="0"/>
            </a:xfrm>
            <a:prstGeom prst="line">
              <a:avLst/>
            </a:prstGeom>
            <a:noFill/>
            <a:ln w="25400">
              <a:solidFill>
                <a:schemeClr val="tx1"/>
              </a:solidFill>
              <a:round/>
              <a:headEnd/>
              <a:tailEnd type="stealth" w="lg" len="lg"/>
            </a:ln>
          </p:spPr>
          <p:txBody>
            <a:bodyPr wrap="none" anchor="ctr"/>
            <a:lstStyle/>
            <a:p>
              <a:endParaRPr lang="zh-CN" altLang="en-US"/>
            </a:p>
          </p:txBody>
        </p:sp>
        <p:sp>
          <p:nvSpPr>
            <p:cNvPr id="39024" name="Line 2062"/>
            <p:cNvSpPr>
              <a:spLocks noChangeShapeType="1"/>
            </p:cNvSpPr>
            <p:nvPr/>
          </p:nvSpPr>
          <p:spPr bwMode="auto">
            <a:xfrm flipV="1">
              <a:off x="1277" y="1541"/>
              <a:ext cx="0" cy="1098"/>
            </a:xfrm>
            <a:prstGeom prst="line">
              <a:avLst/>
            </a:prstGeom>
            <a:noFill/>
            <a:ln w="25400">
              <a:solidFill>
                <a:schemeClr val="tx1"/>
              </a:solidFill>
              <a:round/>
              <a:headEnd/>
              <a:tailEnd type="stealth" w="lg" len="lg"/>
            </a:ln>
          </p:spPr>
          <p:txBody>
            <a:bodyPr wrap="none" anchor="ctr"/>
            <a:lstStyle/>
            <a:p>
              <a:endParaRPr lang="zh-CN" altLang="en-US"/>
            </a:p>
          </p:txBody>
        </p:sp>
        <p:sp>
          <p:nvSpPr>
            <p:cNvPr id="39025" name="Freeform 2063"/>
            <p:cNvSpPr>
              <a:spLocks/>
            </p:cNvSpPr>
            <p:nvPr/>
          </p:nvSpPr>
          <p:spPr bwMode="auto">
            <a:xfrm rot="100540">
              <a:off x="900" y="1865"/>
              <a:ext cx="3266" cy="858"/>
            </a:xfrm>
            <a:custGeom>
              <a:avLst/>
              <a:gdLst>
                <a:gd name="T0" fmla="*/ 5 w 3281"/>
                <a:gd name="T1" fmla="*/ 7 h 1233"/>
                <a:gd name="T2" fmla="*/ 141 w 3281"/>
                <a:gd name="T3" fmla="*/ 6 h 1233"/>
                <a:gd name="T4" fmla="*/ 879 w 3281"/>
                <a:gd name="T5" fmla="*/ 1 h 1233"/>
                <a:gd name="T6" fmla="*/ 1949 w 3281"/>
                <a:gd name="T7" fmla="*/ 7 h 1233"/>
                <a:gd name="T8" fmla="*/ 2817 w 3281"/>
                <a:gd name="T9" fmla="*/ 1 h 1233"/>
                <a:gd name="T10" fmla="*/ 3077 w 3281"/>
                <a:gd name="T11" fmla="*/ 1 h 1233"/>
                <a:gd name="T12" fmla="*/ 0 60000 65536"/>
                <a:gd name="T13" fmla="*/ 0 60000 65536"/>
                <a:gd name="T14" fmla="*/ 0 60000 65536"/>
                <a:gd name="T15" fmla="*/ 0 60000 65536"/>
                <a:gd name="T16" fmla="*/ 0 60000 65536"/>
                <a:gd name="T17" fmla="*/ 0 60000 65536"/>
                <a:gd name="T18" fmla="*/ 0 w 3281"/>
                <a:gd name="T19" fmla="*/ 0 h 1233"/>
                <a:gd name="T20" fmla="*/ 3281 w 3281"/>
                <a:gd name="T21" fmla="*/ 1233 h 1233"/>
              </a:gdLst>
              <a:ahLst/>
              <a:cxnLst>
                <a:cxn ang="T12">
                  <a:pos x="T0" y="T1"/>
                </a:cxn>
                <a:cxn ang="T13">
                  <a:pos x="T2" y="T3"/>
                </a:cxn>
                <a:cxn ang="T14">
                  <a:pos x="T4" y="T5"/>
                </a:cxn>
                <a:cxn ang="T15">
                  <a:pos x="T6" y="T7"/>
                </a:cxn>
                <a:cxn ang="T16">
                  <a:pos x="T8" y="T9"/>
                </a:cxn>
                <a:cxn ang="T17">
                  <a:pos x="T10" y="T11"/>
                </a:cxn>
              </a:cxnLst>
              <a:rect l="T18" t="T19" r="T20" b="T21"/>
              <a:pathLst>
                <a:path w="3281" h="1233">
                  <a:moveTo>
                    <a:pt x="5" y="1160"/>
                  </a:moveTo>
                  <a:cubicBezTo>
                    <a:pt x="30" y="1144"/>
                    <a:pt x="0" y="1233"/>
                    <a:pt x="155" y="1062"/>
                  </a:cubicBezTo>
                  <a:cubicBezTo>
                    <a:pt x="310" y="891"/>
                    <a:pt x="615" y="117"/>
                    <a:pt x="935" y="132"/>
                  </a:cubicBezTo>
                  <a:cubicBezTo>
                    <a:pt x="1255" y="147"/>
                    <a:pt x="1730" y="1146"/>
                    <a:pt x="2075" y="1152"/>
                  </a:cubicBezTo>
                  <a:cubicBezTo>
                    <a:pt x="2420" y="1158"/>
                    <a:pt x="2802" y="332"/>
                    <a:pt x="3003" y="166"/>
                  </a:cubicBezTo>
                  <a:cubicBezTo>
                    <a:pt x="3204" y="0"/>
                    <a:pt x="3223" y="157"/>
                    <a:pt x="3281" y="155"/>
                  </a:cubicBezTo>
                </a:path>
              </a:pathLst>
            </a:custGeom>
            <a:noFill/>
            <a:ln w="28575" cap="flat" cmpd="sng">
              <a:solidFill>
                <a:srgbClr val="F07E00"/>
              </a:solidFill>
              <a:prstDash val="solid"/>
              <a:round/>
              <a:headEnd/>
              <a:tailEnd/>
            </a:ln>
          </p:spPr>
          <p:txBody>
            <a:bodyPr wrap="none" anchor="ctr"/>
            <a:lstStyle/>
            <a:p>
              <a:endParaRPr lang="zh-CN" altLang="en-US"/>
            </a:p>
          </p:txBody>
        </p:sp>
        <p:graphicFrame>
          <p:nvGraphicFramePr>
            <p:cNvPr id="39009" name="Object 97"/>
            <p:cNvGraphicFramePr>
              <a:graphicFrameLocks noChangeAspect="1"/>
            </p:cNvGraphicFramePr>
            <p:nvPr/>
          </p:nvGraphicFramePr>
          <p:xfrm>
            <a:off x="4114" y="2323"/>
            <a:ext cx="263" cy="193"/>
          </p:xfrm>
          <a:graphic>
            <a:graphicData uri="http://schemas.openxmlformats.org/presentationml/2006/ole">
              <p:oleObj spid="_x0000_s39009" name="公式" r:id="rId12" imgW="114102" imgH="114102" progId="Equation.3">
                <p:embed/>
              </p:oleObj>
            </a:graphicData>
          </a:graphic>
        </p:graphicFrame>
        <p:graphicFrame>
          <p:nvGraphicFramePr>
            <p:cNvPr id="39010" name="Object 98"/>
            <p:cNvGraphicFramePr>
              <a:graphicFrameLocks noChangeAspect="1"/>
            </p:cNvGraphicFramePr>
            <p:nvPr/>
          </p:nvGraphicFramePr>
          <p:xfrm>
            <a:off x="963" y="1576"/>
            <a:ext cx="284" cy="224"/>
          </p:xfrm>
          <a:graphic>
            <a:graphicData uri="http://schemas.openxmlformats.org/presentationml/2006/ole">
              <p:oleObj spid="_x0000_s39010" name="公式" r:id="rId13" imgW="114102" imgH="126780" progId="Equation.3">
                <p:embed/>
              </p:oleObj>
            </a:graphicData>
          </a:graphic>
        </p:graphicFrame>
        <p:graphicFrame>
          <p:nvGraphicFramePr>
            <p:cNvPr id="39011" name="Object 99"/>
            <p:cNvGraphicFramePr>
              <a:graphicFrameLocks noChangeAspect="1"/>
            </p:cNvGraphicFramePr>
            <p:nvPr/>
          </p:nvGraphicFramePr>
          <p:xfrm>
            <a:off x="1313" y="2304"/>
            <a:ext cx="218" cy="176"/>
          </p:xfrm>
          <a:graphic>
            <a:graphicData uri="http://schemas.openxmlformats.org/presentationml/2006/ole">
              <p:oleObj spid="_x0000_s39011" name="公式" r:id="rId14" imgW="126835" imgH="139518" progId="Equation.3">
                <p:embed/>
              </p:oleObj>
            </a:graphicData>
          </a:graphic>
        </p:graphicFrame>
        <p:graphicFrame>
          <p:nvGraphicFramePr>
            <p:cNvPr id="39012" name="Object 100"/>
            <p:cNvGraphicFramePr>
              <a:graphicFrameLocks noChangeAspect="1"/>
            </p:cNvGraphicFramePr>
            <p:nvPr/>
          </p:nvGraphicFramePr>
          <p:xfrm>
            <a:off x="1973" y="2350"/>
            <a:ext cx="295" cy="180"/>
          </p:xfrm>
          <a:graphic>
            <a:graphicData uri="http://schemas.openxmlformats.org/presentationml/2006/ole">
              <p:oleObj spid="_x0000_s39012" name="公式" r:id="rId15" imgW="164957" imgH="139579" progId="Equation.3">
                <p:embed/>
              </p:oleObj>
            </a:graphicData>
          </a:graphic>
        </p:graphicFrame>
        <p:graphicFrame>
          <p:nvGraphicFramePr>
            <p:cNvPr id="39013" name="Object 101"/>
            <p:cNvGraphicFramePr>
              <a:graphicFrameLocks noChangeAspect="1"/>
            </p:cNvGraphicFramePr>
            <p:nvPr/>
          </p:nvGraphicFramePr>
          <p:xfrm>
            <a:off x="2554" y="1916"/>
            <a:ext cx="326" cy="180"/>
          </p:xfrm>
          <a:graphic>
            <a:graphicData uri="http://schemas.openxmlformats.org/presentationml/2006/ole">
              <p:oleObj spid="_x0000_s39013" name="公式" r:id="rId16" imgW="164957" imgH="152268" progId="Equation.3">
                <p:embed/>
              </p:oleObj>
            </a:graphicData>
          </a:graphic>
        </p:graphicFrame>
        <p:grpSp>
          <p:nvGrpSpPr>
            <p:cNvPr id="39026" name="Group 2069"/>
            <p:cNvGrpSpPr>
              <a:grpSpLocks/>
            </p:cNvGrpSpPr>
            <p:nvPr/>
          </p:nvGrpSpPr>
          <p:grpSpPr bwMode="auto">
            <a:xfrm>
              <a:off x="2024" y="1918"/>
              <a:ext cx="235" cy="281"/>
              <a:chOff x="2109" y="2685"/>
              <a:chExt cx="236" cy="404"/>
            </a:xfrm>
          </p:grpSpPr>
          <p:sp>
            <p:nvSpPr>
              <p:cNvPr id="39032" name="Line 2070"/>
              <p:cNvSpPr>
                <a:spLocks noChangeShapeType="1"/>
              </p:cNvSpPr>
              <p:nvPr/>
            </p:nvSpPr>
            <p:spPr bwMode="auto">
              <a:xfrm>
                <a:off x="2323" y="2922"/>
                <a:ext cx="0" cy="167"/>
              </a:xfrm>
              <a:prstGeom prst="line">
                <a:avLst/>
              </a:prstGeom>
              <a:noFill/>
              <a:ln w="57150">
                <a:solidFill>
                  <a:schemeClr val="accent2"/>
                </a:solidFill>
                <a:round/>
                <a:headEnd/>
                <a:tailEnd/>
              </a:ln>
            </p:spPr>
            <p:txBody>
              <a:bodyPr wrap="none" anchor="ctr"/>
              <a:lstStyle/>
              <a:p>
                <a:endParaRPr lang="zh-CN" altLang="en-US"/>
              </a:p>
            </p:txBody>
          </p:sp>
          <p:sp>
            <p:nvSpPr>
              <p:cNvPr id="39033" name="Line 2071"/>
              <p:cNvSpPr>
                <a:spLocks noChangeShapeType="1"/>
              </p:cNvSpPr>
              <p:nvPr/>
            </p:nvSpPr>
            <p:spPr bwMode="auto">
              <a:xfrm>
                <a:off x="2119" y="2685"/>
                <a:ext cx="0" cy="167"/>
              </a:xfrm>
              <a:prstGeom prst="line">
                <a:avLst/>
              </a:prstGeom>
              <a:noFill/>
              <a:ln w="57150">
                <a:solidFill>
                  <a:schemeClr val="accent2"/>
                </a:solidFill>
                <a:round/>
                <a:headEnd/>
                <a:tailEnd/>
              </a:ln>
            </p:spPr>
            <p:txBody>
              <a:bodyPr wrap="none" anchor="ctr"/>
              <a:lstStyle/>
              <a:p>
                <a:endParaRPr lang="zh-CN" altLang="en-US"/>
              </a:p>
            </p:txBody>
          </p:sp>
          <p:sp>
            <p:nvSpPr>
              <p:cNvPr id="39034" name="Line 2072"/>
              <p:cNvSpPr>
                <a:spLocks noChangeShapeType="1"/>
              </p:cNvSpPr>
              <p:nvPr/>
            </p:nvSpPr>
            <p:spPr bwMode="auto">
              <a:xfrm>
                <a:off x="2123" y="2698"/>
                <a:ext cx="222" cy="222"/>
              </a:xfrm>
              <a:prstGeom prst="line">
                <a:avLst/>
              </a:prstGeom>
              <a:noFill/>
              <a:ln w="57150">
                <a:solidFill>
                  <a:schemeClr val="accent2"/>
                </a:solidFill>
                <a:round/>
                <a:headEnd/>
                <a:tailEnd/>
              </a:ln>
            </p:spPr>
            <p:txBody>
              <a:bodyPr wrap="none" anchor="ctr"/>
              <a:lstStyle/>
              <a:p>
                <a:endParaRPr lang="zh-CN" altLang="en-US"/>
              </a:p>
            </p:txBody>
          </p:sp>
          <p:sp>
            <p:nvSpPr>
              <p:cNvPr id="39035" name="Line 2073"/>
              <p:cNvSpPr>
                <a:spLocks noChangeShapeType="1"/>
              </p:cNvSpPr>
              <p:nvPr/>
            </p:nvSpPr>
            <p:spPr bwMode="auto">
              <a:xfrm>
                <a:off x="2109" y="2849"/>
                <a:ext cx="222" cy="222"/>
              </a:xfrm>
              <a:prstGeom prst="line">
                <a:avLst/>
              </a:prstGeom>
              <a:noFill/>
              <a:ln w="57150">
                <a:solidFill>
                  <a:schemeClr val="accent2"/>
                </a:solidFill>
                <a:round/>
                <a:headEnd/>
                <a:tailEnd/>
              </a:ln>
            </p:spPr>
            <p:txBody>
              <a:bodyPr wrap="none" anchor="ctr"/>
              <a:lstStyle/>
              <a:p>
                <a:endParaRPr lang="zh-CN" altLang="en-US"/>
              </a:p>
            </p:txBody>
          </p:sp>
        </p:grpSp>
        <p:grpSp>
          <p:nvGrpSpPr>
            <p:cNvPr id="39027" name="Group 2074"/>
            <p:cNvGrpSpPr>
              <a:grpSpLocks/>
            </p:cNvGrpSpPr>
            <p:nvPr/>
          </p:nvGrpSpPr>
          <p:grpSpPr bwMode="auto">
            <a:xfrm>
              <a:off x="2002" y="1917"/>
              <a:ext cx="672" cy="614"/>
              <a:chOff x="1908" y="552"/>
              <a:chExt cx="672" cy="852"/>
            </a:xfrm>
          </p:grpSpPr>
          <p:sp>
            <p:nvSpPr>
              <p:cNvPr id="39028" name="Line 2075"/>
              <p:cNvSpPr>
                <a:spLocks noChangeShapeType="1"/>
              </p:cNvSpPr>
              <p:nvPr/>
            </p:nvSpPr>
            <p:spPr bwMode="auto">
              <a:xfrm>
                <a:off x="1944" y="552"/>
                <a:ext cx="624" cy="0"/>
              </a:xfrm>
              <a:prstGeom prst="line">
                <a:avLst/>
              </a:prstGeom>
              <a:noFill/>
              <a:ln w="25400">
                <a:solidFill>
                  <a:schemeClr val="tx1"/>
                </a:solidFill>
                <a:prstDash val="dash"/>
                <a:round/>
                <a:headEnd/>
                <a:tailEnd/>
              </a:ln>
            </p:spPr>
            <p:txBody>
              <a:bodyPr wrap="none" anchor="ctr"/>
              <a:lstStyle/>
              <a:p>
                <a:endParaRPr lang="zh-CN" altLang="en-US"/>
              </a:p>
            </p:txBody>
          </p:sp>
          <p:sp>
            <p:nvSpPr>
              <p:cNvPr id="39029" name="Line 2076"/>
              <p:cNvSpPr>
                <a:spLocks noChangeShapeType="1"/>
              </p:cNvSpPr>
              <p:nvPr/>
            </p:nvSpPr>
            <p:spPr bwMode="auto">
              <a:xfrm>
                <a:off x="2172" y="768"/>
                <a:ext cx="408" cy="0"/>
              </a:xfrm>
              <a:prstGeom prst="line">
                <a:avLst/>
              </a:prstGeom>
              <a:noFill/>
              <a:ln w="25400">
                <a:solidFill>
                  <a:schemeClr val="tx1"/>
                </a:solidFill>
                <a:prstDash val="dash"/>
                <a:round/>
                <a:headEnd/>
                <a:tailEnd/>
              </a:ln>
            </p:spPr>
            <p:txBody>
              <a:bodyPr wrap="none" anchor="ctr"/>
              <a:lstStyle/>
              <a:p>
                <a:endParaRPr lang="zh-CN" altLang="en-US"/>
              </a:p>
            </p:txBody>
          </p:sp>
          <p:sp>
            <p:nvSpPr>
              <p:cNvPr id="39030" name="Line 2077"/>
              <p:cNvSpPr>
                <a:spLocks noChangeShapeType="1"/>
              </p:cNvSpPr>
              <p:nvPr/>
            </p:nvSpPr>
            <p:spPr bwMode="auto">
              <a:xfrm>
                <a:off x="2136" y="936"/>
                <a:ext cx="0" cy="456"/>
              </a:xfrm>
              <a:prstGeom prst="line">
                <a:avLst/>
              </a:prstGeom>
              <a:noFill/>
              <a:ln w="25400">
                <a:solidFill>
                  <a:schemeClr val="tx1"/>
                </a:solidFill>
                <a:prstDash val="dash"/>
                <a:round/>
                <a:headEnd/>
                <a:tailEnd/>
              </a:ln>
            </p:spPr>
            <p:txBody>
              <a:bodyPr wrap="none" anchor="ctr"/>
              <a:lstStyle/>
              <a:p>
                <a:endParaRPr lang="zh-CN" altLang="en-US"/>
              </a:p>
            </p:txBody>
          </p:sp>
          <p:sp>
            <p:nvSpPr>
              <p:cNvPr id="39031" name="Line 2078"/>
              <p:cNvSpPr>
                <a:spLocks noChangeShapeType="1"/>
              </p:cNvSpPr>
              <p:nvPr/>
            </p:nvSpPr>
            <p:spPr bwMode="auto">
              <a:xfrm>
                <a:off x="1908" y="720"/>
                <a:ext cx="0" cy="684"/>
              </a:xfrm>
              <a:prstGeom prst="line">
                <a:avLst/>
              </a:prstGeom>
              <a:noFill/>
              <a:ln w="25400">
                <a:solidFill>
                  <a:schemeClr val="tx1"/>
                </a:solidFill>
                <a:prstDash val="dash"/>
                <a:round/>
                <a:headEnd/>
                <a:tailEnd/>
              </a:ln>
            </p:spPr>
            <p:txBody>
              <a:bodyPr wrap="none" anchor="ctr"/>
              <a:lstStyle/>
              <a:p>
                <a:endParaRPr lang="zh-CN" altLang="en-US"/>
              </a:p>
            </p:txBody>
          </p:sp>
        </p:grpSp>
      </p:grpSp>
      <p:grpSp>
        <p:nvGrpSpPr>
          <p:cNvPr id="9" name="Group 2079"/>
          <p:cNvGrpSpPr>
            <a:grpSpLocks/>
          </p:cNvGrpSpPr>
          <p:nvPr/>
        </p:nvGrpSpPr>
        <p:grpSpPr bwMode="auto">
          <a:xfrm>
            <a:off x="2987675" y="2879725"/>
            <a:ext cx="2736850" cy="555625"/>
            <a:chOff x="3270" y="2478"/>
            <a:chExt cx="1960" cy="504"/>
          </a:xfrm>
        </p:grpSpPr>
        <p:graphicFrame>
          <p:nvGraphicFramePr>
            <p:cNvPr id="39014" name="Object 102"/>
            <p:cNvGraphicFramePr>
              <a:graphicFrameLocks noChangeAspect="1"/>
            </p:cNvGraphicFramePr>
            <p:nvPr/>
          </p:nvGraphicFramePr>
          <p:xfrm>
            <a:off x="3270" y="2478"/>
            <a:ext cx="599" cy="504"/>
          </p:xfrm>
          <a:graphic>
            <a:graphicData uri="http://schemas.openxmlformats.org/presentationml/2006/ole">
              <p:oleObj spid="_x0000_s39014" name="Equation" r:id="rId17" imgW="482391" imgH="406224" progId="Equation.DSMT4">
                <p:embed/>
              </p:oleObj>
            </a:graphicData>
          </a:graphic>
        </p:graphicFrame>
        <p:sp>
          <p:nvSpPr>
            <p:cNvPr id="39021" name="Text Box 2081"/>
            <p:cNvSpPr txBox="1">
              <a:spLocks noChangeArrowheads="1"/>
            </p:cNvSpPr>
            <p:nvPr/>
          </p:nvSpPr>
          <p:spPr bwMode="auto">
            <a:xfrm>
              <a:off x="3821" y="2577"/>
              <a:ext cx="1409" cy="310"/>
            </a:xfrm>
            <a:prstGeom prst="rect">
              <a:avLst/>
            </a:prstGeom>
            <a:noFill/>
            <a:ln w="9525">
              <a:noFill/>
              <a:miter lim="800000"/>
              <a:headEnd/>
              <a:tailEnd/>
            </a:ln>
          </p:spPr>
          <p:txBody>
            <a:bodyPr anchor="ctr">
              <a:spAutoFit/>
            </a:bodyPr>
            <a:lstStyle/>
            <a:p>
              <a:pPr algn="ctr"/>
              <a:r>
                <a:rPr lang="en-US" altLang="zh-CN" sz="1800" b="1">
                  <a:latin typeface="华文中宋"/>
                  <a:ea typeface="华文中宋"/>
                  <a:cs typeface="华文中宋"/>
                </a:rPr>
                <a:t>(</a:t>
              </a:r>
              <a:r>
                <a:rPr lang="zh-CN" altLang="en-US" sz="1800" b="1">
                  <a:latin typeface="华文中宋"/>
                  <a:ea typeface="华文中宋"/>
                  <a:cs typeface="华文中宋"/>
                </a:rPr>
                <a:t>弹性模量</a:t>
              </a:r>
              <a:r>
                <a:rPr lang="en-US" altLang="zh-CN" sz="1800" b="1">
                  <a:latin typeface="华文中宋"/>
                  <a:ea typeface="华文中宋"/>
                  <a:cs typeface="华文中宋"/>
                </a:rPr>
                <a:t>)(</a:t>
              </a:r>
              <a:r>
                <a:rPr lang="zh-CN" altLang="en-US" sz="1800" b="1">
                  <a:latin typeface="华文中宋"/>
                  <a:ea typeface="华文中宋"/>
                  <a:cs typeface="华文中宋"/>
                </a:rPr>
                <a:t>应变</a:t>
              </a:r>
              <a:r>
                <a:rPr lang="en-US" altLang="zh-CN" sz="1800" b="1">
                  <a:latin typeface="华文中宋"/>
                  <a:ea typeface="华文中宋"/>
                  <a:cs typeface="华文中宋"/>
                </a:rPr>
                <a:t>)</a:t>
              </a:r>
              <a:r>
                <a:rPr lang="en-US" altLang="zh-CN" sz="1800" b="1" baseline="30000">
                  <a:latin typeface="华文中宋"/>
                  <a:ea typeface="华文中宋"/>
                  <a:cs typeface="华文中宋"/>
                </a:rPr>
                <a:t>2</a:t>
              </a:r>
            </a:p>
          </p:txBody>
        </p:sp>
      </p:grpSp>
      <p:graphicFrame>
        <p:nvGraphicFramePr>
          <p:cNvPr id="47138" name="Object 103"/>
          <p:cNvGraphicFramePr>
            <a:graphicFrameLocks noChangeAspect="1"/>
          </p:cNvGraphicFramePr>
          <p:nvPr/>
        </p:nvGraphicFramePr>
        <p:xfrm>
          <a:off x="898525" y="3387725"/>
          <a:ext cx="4178300" cy="611188"/>
        </p:xfrm>
        <a:graphic>
          <a:graphicData uri="http://schemas.openxmlformats.org/presentationml/2006/ole">
            <p:oleObj spid="_x0000_s39015" name="Equation" r:id="rId18" imgW="2908300" imgH="4445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1986"/>
                                        </p:tgtEl>
                                        <p:attrNameLst>
                                          <p:attrName>style.visibility</p:attrName>
                                        </p:attrNameLst>
                                      </p:cBhvr>
                                      <p:to>
                                        <p:strVal val="visible"/>
                                      </p:to>
                                    </p:set>
                                    <p:anim calcmode="lin" valueType="num">
                                      <p:cBhvr>
                                        <p:cTn id="7" dur="500" fill="hold"/>
                                        <p:tgtEl>
                                          <p:spTgt spid="41986"/>
                                        </p:tgtEl>
                                        <p:attrNameLst>
                                          <p:attrName>ppt_w</p:attrName>
                                        </p:attrNameLst>
                                      </p:cBhvr>
                                      <p:tavLst>
                                        <p:tav tm="0">
                                          <p:val>
                                            <p:fltVal val="0"/>
                                          </p:val>
                                        </p:tav>
                                        <p:tav tm="100000">
                                          <p:val>
                                            <p:strVal val="#ppt_w"/>
                                          </p:val>
                                        </p:tav>
                                      </p:tavLst>
                                    </p:anim>
                                    <p:anim calcmode="lin" valueType="num">
                                      <p:cBhvr>
                                        <p:cTn id="8" dur="500" fill="hold"/>
                                        <p:tgtEl>
                                          <p:spTgt spid="41986"/>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42044"/>
                                        </p:tgtEl>
                                        <p:attrNameLst>
                                          <p:attrName>style.visibility</p:attrName>
                                        </p:attrNameLst>
                                      </p:cBhvr>
                                      <p:to>
                                        <p:strVal val="visible"/>
                                      </p:to>
                                    </p:set>
                                    <p:animEffect transition="in" filter="blinds(horizontal)">
                                      <p:cBhvr>
                                        <p:cTn id="13" dur="500"/>
                                        <p:tgtEl>
                                          <p:spTgt spid="4204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1987"/>
                                        </p:tgtEl>
                                        <p:attrNameLst>
                                          <p:attrName>style.visibility</p:attrName>
                                        </p:attrNameLst>
                                      </p:cBhvr>
                                      <p:to>
                                        <p:strVal val="visible"/>
                                      </p:to>
                                    </p:set>
                                    <p:animEffect transition="in" filter="blinds(horizontal)">
                                      <p:cBhvr>
                                        <p:cTn id="23" dur="500"/>
                                        <p:tgtEl>
                                          <p:spTgt spid="4198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linds(horizontal)">
                                      <p:cBhvr>
                                        <p:cTn id="28" dur="500"/>
                                        <p:tgtEl>
                                          <p:spTgt spid="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blinds(horizontal)">
                                      <p:cBhvr>
                                        <p:cTn id="33" dur="500"/>
                                        <p:tgtEl>
                                          <p:spTgt spid="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47138"/>
                                        </p:tgtEl>
                                        <p:attrNameLst>
                                          <p:attrName>style.visibility</p:attrName>
                                        </p:attrNameLst>
                                      </p:cBhvr>
                                      <p:to>
                                        <p:strVal val="visible"/>
                                      </p:to>
                                    </p:set>
                                    <p:animEffect transition="in" filter="blinds(horizontal)">
                                      <p:cBhvr>
                                        <p:cTn id="38" dur="500"/>
                                        <p:tgtEl>
                                          <p:spTgt spid="4713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childTnLst>
                                    <p:set>
                                      <p:cBhvr>
                                        <p:cTn id="42" dur="1" fill="hold">
                                          <p:stCondLst>
                                            <p:cond delay="0"/>
                                          </p:stCondLst>
                                        </p:cTn>
                                        <p:tgtEl>
                                          <p:spTgt spid="41988"/>
                                        </p:tgtEl>
                                        <p:attrNameLst>
                                          <p:attrName>style.visibility</p:attrName>
                                        </p:attrNameLst>
                                      </p:cBhvr>
                                      <p:to>
                                        <p:strVal val="visible"/>
                                      </p:to>
                                    </p:set>
                                    <p:anim calcmode="lin" valueType="num">
                                      <p:cBhvr>
                                        <p:cTn id="43" dur="500" fill="hold"/>
                                        <p:tgtEl>
                                          <p:spTgt spid="41988"/>
                                        </p:tgtEl>
                                        <p:attrNameLst>
                                          <p:attrName>ppt_w</p:attrName>
                                        </p:attrNameLst>
                                      </p:cBhvr>
                                      <p:tavLst>
                                        <p:tav tm="0">
                                          <p:val>
                                            <p:fltVal val="0"/>
                                          </p:val>
                                        </p:tav>
                                        <p:tav tm="100000">
                                          <p:val>
                                            <p:strVal val="#ppt_w"/>
                                          </p:val>
                                        </p:tav>
                                      </p:tavLst>
                                    </p:anim>
                                    <p:anim calcmode="lin" valueType="num">
                                      <p:cBhvr>
                                        <p:cTn id="44" dur="500" fill="hold"/>
                                        <p:tgtEl>
                                          <p:spTgt spid="41988"/>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3" presetClass="entr" presetSubtype="16" fill="hold" nodeType="clickEffect">
                                  <p:stCondLst>
                                    <p:cond delay="0"/>
                                  </p:stCondLst>
                                  <p:childTnLst>
                                    <p:set>
                                      <p:cBhvr>
                                        <p:cTn id="48" dur="1" fill="hold">
                                          <p:stCondLst>
                                            <p:cond delay="0"/>
                                          </p:stCondLst>
                                        </p:cTn>
                                        <p:tgtEl>
                                          <p:spTgt spid="41990"/>
                                        </p:tgtEl>
                                        <p:attrNameLst>
                                          <p:attrName>style.visibility</p:attrName>
                                        </p:attrNameLst>
                                      </p:cBhvr>
                                      <p:to>
                                        <p:strVal val="visible"/>
                                      </p:to>
                                    </p:set>
                                    <p:anim calcmode="lin" valueType="num">
                                      <p:cBhvr>
                                        <p:cTn id="49" dur="500" fill="hold"/>
                                        <p:tgtEl>
                                          <p:spTgt spid="41990"/>
                                        </p:tgtEl>
                                        <p:attrNameLst>
                                          <p:attrName>ppt_w</p:attrName>
                                        </p:attrNameLst>
                                      </p:cBhvr>
                                      <p:tavLst>
                                        <p:tav tm="0">
                                          <p:val>
                                            <p:fltVal val="0"/>
                                          </p:val>
                                        </p:tav>
                                        <p:tav tm="100000">
                                          <p:val>
                                            <p:strVal val="#ppt_w"/>
                                          </p:val>
                                        </p:tav>
                                      </p:tavLst>
                                    </p:anim>
                                    <p:anim calcmode="lin" valueType="num">
                                      <p:cBhvr>
                                        <p:cTn id="50" dur="500" fill="hold"/>
                                        <p:tgtEl>
                                          <p:spTgt spid="4199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47"/>
                                            </p:cond>
                                          </p:stCondLst>
                                          <p:endCondLst>
                                            <p:cond evt="onStopAudio" delay="0">
                                              <p:tgtEl>
                                                <p:sldTgt/>
                                              </p:tgtEl>
                                            </p:cond>
                                          </p:endCondLst>
                                        </p:cTn>
                                        <p:tgtEl>
                                          <p:sndTgt r:embed="rId4" name="WHOOSH.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16" fill="hold" nodeType="clickEffect">
                                  <p:stCondLst>
                                    <p:cond delay="0"/>
                                  </p:stCondLst>
                                  <p:childTnLst>
                                    <p:set>
                                      <p:cBhvr>
                                        <p:cTn id="54" dur="1" fill="hold">
                                          <p:stCondLst>
                                            <p:cond delay="0"/>
                                          </p:stCondLst>
                                        </p:cTn>
                                        <p:tgtEl>
                                          <p:spTgt spid="42041"/>
                                        </p:tgtEl>
                                        <p:attrNameLst>
                                          <p:attrName>style.visibility</p:attrName>
                                        </p:attrNameLst>
                                      </p:cBhvr>
                                      <p:to>
                                        <p:strVal val="visible"/>
                                      </p:to>
                                    </p:set>
                                    <p:anim calcmode="lin" valueType="num">
                                      <p:cBhvr>
                                        <p:cTn id="55" dur="500" fill="hold"/>
                                        <p:tgtEl>
                                          <p:spTgt spid="42041"/>
                                        </p:tgtEl>
                                        <p:attrNameLst>
                                          <p:attrName>ppt_w</p:attrName>
                                        </p:attrNameLst>
                                      </p:cBhvr>
                                      <p:tavLst>
                                        <p:tav tm="0">
                                          <p:val>
                                            <p:fltVal val="0"/>
                                          </p:val>
                                        </p:tav>
                                        <p:tav tm="100000">
                                          <p:val>
                                            <p:strVal val="#ppt_w"/>
                                          </p:val>
                                        </p:tav>
                                      </p:tavLst>
                                    </p:anim>
                                    <p:anim calcmode="lin" valueType="num">
                                      <p:cBhvr>
                                        <p:cTn id="56" dur="500" fill="hold"/>
                                        <p:tgtEl>
                                          <p:spTgt spid="42041"/>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3"/>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autoUpdateAnimBg="0"/>
      <p:bldP spid="4198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476250" y="2249488"/>
            <a:ext cx="3808413" cy="646112"/>
          </a:xfrm>
          <a:prstGeom prst="rect">
            <a:avLst/>
          </a:prstGeom>
          <a:noFill/>
          <a:ln w="9525">
            <a:noFill/>
            <a:miter lim="800000"/>
            <a:headEnd/>
            <a:tailEnd/>
          </a:ln>
        </p:spPr>
        <p:txBody>
          <a:bodyPr>
            <a:spAutoFit/>
          </a:bodyPr>
          <a:lstStyle/>
          <a:p>
            <a:r>
              <a:rPr lang="zh-CN" altLang="en-US" sz="1800" b="1">
                <a:solidFill>
                  <a:srgbClr val="0000FF"/>
                </a:solidFill>
                <a:ea typeface="华文中宋"/>
                <a:cs typeface="华文中宋"/>
              </a:rPr>
              <a:t>（</a:t>
            </a:r>
            <a:r>
              <a:rPr lang="en-US" altLang="zh-CN" sz="1800" b="1">
                <a:solidFill>
                  <a:srgbClr val="0000FF"/>
                </a:solidFill>
                <a:ea typeface="华文中宋"/>
                <a:cs typeface="华文中宋"/>
              </a:rPr>
              <a:t>1</a:t>
            </a:r>
            <a:r>
              <a:rPr lang="zh-CN" altLang="en-US" sz="1800" b="1">
                <a:solidFill>
                  <a:srgbClr val="0000FF"/>
                </a:solidFill>
                <a:ea typeface="华文中宋"/>
                <a:cs typeface="华文中宋"/>
              </a:rPr>
              <a:t>）在同一体元</a:t>
            </a:r>
            <a:r>
              <a:rPr lang="en-US" altLang="zh-CN" sz="1800" b="1">
                <a:solidFill>
                  <a:srgbClr val="0000FF"/>
                </a:solidFill>
                <a:ea typeface="华文中宋"/>
                <a:cs typeface="华文中宋"/>
              </a:rPr>
              <a:t>d</a:t>
            </a:r>
            <a:r>
              <a:rPr lang="en-US" altLang="zh-CN" sz="1800" b="1" i="1">
                <a:solidFill>
                  <a:srgbClr val="0000FF"/>
                </a:solidFill>
                <a:ea typeface="华文中宋"/>
                <a:cs typeface="华文中宋"/>
              </a:rPr>
              <a:t>v</a:t>
            </a:r>
            <a:r>
              <a:rPr lang="zh-CN" altLang="en-US" sz="1800" b="1">
                <a:solidFill>
                  <a:srgbClr val="0000FF"/>
                </a:solidFill>
                <a:ea typeface="华文中宋"/>
                <a:cs typeface="华文中宋"/>
              </a:rPr>
              <a:t>内，</a:t>
            </a:r>
            <a:r>
              <a:rPr lang="en-US" altLang="zh-CN" sz="1800" b="1">
                <a:solidFill>
                  <a:srgbClr val="0000FF"/>
                </a:solidFill>
                <a:ea typeface="华文中宋"/>
                <a:cs typeface="华文中宋"/>
              </a:rPr>
              <a:t>d</a:t>
            </a:r>
            <a:r>
              <a:rPr lang="en-US" altLang="zh-CN" sz="1800" b="1" i="1">
                <a:solidFill>
                  <a:srgbClr val="0000FF"/>
                </a:solidFill>
                <a:ea typeface="华文中宋"/>
                <a:cs typeface="华文中宋"/>
              </a:rPr>
              <a:t>E</a:t>
            </a:r>
            <a:r>
              <a:rPr lang="en-US" altLang="zh-CN" sz="1800" b="1" i="1" baseline="-25000">
                <a:solidFill>
                  <a:srgbClr val="0000FF"/>
                </a:solidFill>
                <a:ea typeface="华文中宋"/>
                <a:cs typeface="华文中宋"/>
              </a:rPr>
              <a:t>k</a:t>
            </a:r>
            <a:r>
              <a:rPr lang="zh-CN" altLang="en-US" sz="1800" b="1">
                <a:solidFill>
                  <a:srgbClr val="0000FF"/>
                </a:solidFill>
                <a:ea typeface="华文中宋"/>
                <a:cs typeface="华文中宋"/>
              </a:rPr>
              <a:t>、</a:t>
            </a:r>
            <a:r>
              <a:rPr lang="en-US" altLang="zh-CN" sz="1800" b="1">
                <a:solidFill>
                  <a:srgbClr val="0000FF"/>
                </a:solidFill>
                <a:ea typeface="华文中宋"/>
                <a:cs typeface="华文中宋"/>
              </a:rPr>
              <a:t>d</a:t>
            </a:r>
            <a:r>
              <a:rPr lang="en-US" altLang="zh-CN" sz="1800" b="1" i="1">
                <a:solidFill>
                  <a:srgbClr val="0000FF"/>
                </a:solidFill>
                <a:ea typeface="华文中宋"/>
                <a:cs typeface="华文中宋"/>
              </a:rPr>
              <a:t>E</a:t>
            </a:r>
            <a:r>
              <a:rPr lang="en-US" altLang="zh-CN" sz="1800" b="1" i="1" baseline="-25000">
                <a:solidFill>
                  <a:srgbClr val="0000FF"/>
                </a:solidFill>
                <a:ea typeface="华文中宋"/>
                <a:cs typeface="华文中宋"/>
              </a:rPr>
              <a:t>p</a:t>
            </a:r>
            <a:r>
              <a:rPr lang="zh-CN" altLang="en-US" sz="1800" b="1">
                <a:solidFill>
                  <a:srgbClr val="0000FF"/>
                </a:solidFill>
                <a:ea typeface="华文中宋"/>
                <a:cs typeface="华文中宋"/>
              </a:rPr>
              <a:t>是同步的。</a:t>
            </a:r>
          </a:p>
        </p:txBody>
      </p:sp>
      <p:graphicFrame>
        <p:nvGraphicFramePr>
          <p:cNvPr id="127004" name="Object 28"/>
          <p:cNvGraphicFramePr>
            <a:graphicFrameLocks noChangeAspect="1"/>
          </p:cNvGraphicFramePr>
          <p:nvPr/>
        </p:nvGraphicFramePr>
        <p:xfrm>
          <a:off x="1570038" y="1116013"/>
          <a:ext cx="5810250" cy="663575"/>
        </p:xfrm>
        <a:graphic>
          <a:graphicData uri="http://schemas.openxmlformats.org/presentationml/2006/ole">
            <p:oleObj spid="_x0000_s39964" name="Equation" r:id="rId5" imgW="2933700" imgH="393700" progId="Equation.DSMT4">
              <p:embed/>
            </p:oleObj>
          </a:graphicData>
        </a:graphic>
      </p:graphicFrame>
      <p:sp>
        <p:nvSpPr>
          <p:cNvPr id="43012" name="Text Box 4"/>
          <p:cNvSpPr txBox="1">
            <a:spLocks noChangeArrowheads="1"/>
          </p:cNvSpPr>
          <p:nvPr/>
        </p:nvSpPr>
        <p:spPr bwMode="auto">
          <a:xfrm>
            <a:off x="90488" y="835025"/>
            <a:ext cx="3733800" cy="368300"/>
          </a:xfrm>
          <a:prstGeom prst="rect">
            <a:avLst/>
          </a:prstGeom>
          <a:noFill/>
          <a:ln w="9525">
            <a:noFill/>
            <a:miter lim="800000"/>
            <a:headEnd/>
            <a:tailEnd/>
          </a:ln>
        </p:spPr>
        <p:txBody>
          <a:bodyPr>
            <a:spAutoFit/>
          </a:bodyPr>
          <a:lstStyle/>
          <a:p>
            <a:pPr algn="ctr"/>
            <a:r>
              <a:rPr lang="zh-CN" altLang="en-US" sz="1800" b="1">
                <a:solidFill>
                  <a:schemeClr val="accent2"/>
                </a:solidFill>
                <a:ea typeface="华文中宋"/>
                <a:cs typeface="华文中宋"/>
              </a:rPr>
              <a:t>３、</a:t>
            </a:r>
            <a:r>
              <a:rPr lang="en-US" altLang="zh-CN" sz="1800" b="1">
                <a:solidFill>
                  <a:schemeClr val="accent2"/>
                </a:solidFill>
                <a:ea typeface="华文中宋"/>
                <a:cs typeface="华文中宋"/>
              </a:rPr>
              <a:t>d</a:t>
            </a:r>
            <a:r>
              <a:rPr lang="en-US" altLang="zh-CN" sz="1800" b="1" i="1">
                <a:solidFill>
                  <a:schemeClr val="accent2"/>
                </a:solidFill>
                <a:ea typeface="华文中宋"/>
                <a:cs typeface="华文中宋"/>
              </a:rPr>
              <a:t>v</a:t>
            </a:r>
            <a:r>
              <a:rPr lang="zh-CN" altLang="en-US" sz="1800" b="1">
                <a:solidFill>
                  <a:schemeClr val="accent2"/>
                </a:solidFill>
                <a:ea typeface="华文中宋"/>
                <a:cs typeface="华文中宋"/>
              </a:rPr>
              <a:t>内的总波动能量</a:t>
            </a:r>
          </a:p>
        </p:txBody>
      </p:sp>
      <p:sp>
        <p:nvSpPr>
          <p:cNvPr id="43013" name="Rectangle 5"/>
          <p:cNvSpPr>
            <a:spLocks noChangeArrowheads="1"/>
          </p:cNvSpPr>
          <p:nvPr/>
        </p:nvSpPr>
        <p:spPr bwMode="auto">
          <a:xfrm>
            <a:off x="515938" y="1924050"/>
            <a:ext cx="1103312" cy="368300"/>
          </a:xfrm>
          <a:prstGeom prst="rect">
            <a:avLst/>
          </a:prstGeom>
          <a:noFill/>
          <a:ln w="9525">
            <a:noFill/>
            <a:miter lim="800000"/>
            <a:headEnd/>
            <a:tailEnd/>
          </a:ln>
        </p:spPr>
        <p:txBody>
          <a:bodyPr>
            <a:spAutoFit/>
          </a:bodyPr>
          <a:lstStyle/>
          <a:p>
            <a:r>
              <a:rPr lang="zh-CN" altLang="en-US" sz="1800" b="1">
                <a:solidFill>
                  <a:srgbClr val="FF0000"/>
                </a:solidFill>
                <a:ea typeface="华文中宋"/>
                <a:cs typeface="华文中宋"/>
              </a:rPr>
              <a:t>说明：</a:t>
            </a:r>
          </a:p>
        </p:txBody>
      </p:sp>
      <p:sp>
        <p:nvSpPr>
          <p:cNvPr id="43014" name="Rectangle 6"/>
          <p:cNvSpPr>
            <a:spLocks noChangeArrowheads="1"/>
          </p:cNvSpPr>
          <p:nvPr/>
        </p:nvSpPr>
        <p:spPr bwMode="auto">
          <a:xfrm>
            <a:off x="381000" y="3327400"/>
            <a:ext cx="8245475" cy="646113"/>
          </a:xfrm>
          <a:prstGeom prst="rect">
            <a:avLst/>
          </a:prstGeom>
          <a:noFill/>
          <a:ln w="9525">
            <a:noFill/>
            <a:miter lim="800000"/>
            <a:headEnd/>
            <a:tailEnd/>
          </a:ln>
        </p:spPr>
        <p:txBody>
          <a:bodyPr>
            <a:spAutoFit/>
          </a:bodyPr>
          <a:lstStyle/>
          <a:p>
            <a:pPr algn="just"/>
            <a:r>
              <a:rPr lang="en-US" altLang="zh-CN" sz="1800" b="1">
                <a:ea typeface="华文中宋"/>
                <a:cs typeface="华文中宋"/>
              </a:rPr>
              <a:t>        </a:t>
            </a:r>
            <a:r>
              <a:rPr lang="zh-CN" altLang="en-US" sz="1800" b="1">
                <a:ea typeface="华文中宋"/>
                <a:cs typeface="华文中宋"/>
              </a:rPr>
              <a:t>当体积元的位移最大时（即波峰、波谷处），</a:t>
            </a:r>
            <a:r>
              <a:rPr lang="zh-CN" altLang="en-US" sz="1800" b="1">
                <a:solidFill>
                  <a:srgbClr val="FF0000"/>
                </a:solidFill>
                <a:ea typeface="华文中宋"/>
                <a:cs typeface="华文中宋"/>
              </a:rPr>
              <a:t>相对形变</a:t>
            </a:r>
            <a:r>
              <a:rPr lang="zh-CN" altLang="en-US" sz="1800" b="1">
                <a:ea typeface="华文中宋"/>
                <a:cs typeface="华文中宋"/>
              </a:rPr>
              <a:t>为零，即</a:t>
            </a:r>
            <a:r>
              <a:rPr lang="zh-CN" altLang="en-US" sz="1800" b="1">
                <a:ea typeface="华文中宋"/>
                <a:cs typeface="华文中宋"/>
                <a:sym typeface="Symbol" pitchFamily="18" charset="2"/>
              </a:rPr>
              <a:t></a:t>
            </a:r>
            <a:r>
              <a:rPr lang="en-US" altLang="zh-CN" sz="1800" b="1">
                <a:ea typeface="华文中宋"/>
                <a:cs typeface="华文中宋"/>
                <a:sym typeface="Symbol" pitchFamily="18" charset="2"/>
              </a:rPr>
              <a:t>y/x=0</a:t>
            </a:r>
            <a:r>
              <a:rPr lang="zh-CN" altLang="en-US" sz="1800" b="1">
                <a:ea typeface="华文中宋"/>
                <a:cs typeface="华文中宋"/>
                <a:sym typeface="Symbol" pitchFamily="18" charset="2"/>
              </a:rPr>
              <a:t>，</a:t>
            </a:r>
            <a:r>
              <a:rPr lang="zh-CN" altLang="en-US" sz="1800" b="1">
                <a:ea typeface="华文中宋"/>
                <a:cs typeface="华文中宋"/>
              </a:rPr>
              <a:t>弹性</a:t>
            </a:r>
            <a:r>
              <a:rPr lang="zh-CN" altLang="en-US" sz="1800" b="1">
                <a:solidFill>
                  <a:srgbClr val="0000FF"/>
                </a:solidFill>
                <a:ea typeface="华文中宋"/>
                <a:cs typeface="华文中宋"/>
              </a:rPr>
              <a:t>势能为零</a:t>
            </a:r>
            <a:r>
              <a:rPr lang="zh-CN" altLang="en-US" sz="1800" b="1">
                <a:ea typeface="华文中宋"/>
                <a:cs typeface="华文中宋"/>
              </a:rPr>
              <a:t>；而此时体积元的</a:t>
            </a:r>
            <a:r>
              <a:rPr lang="zh-CN" altLang="en-US" sz="1800" b="1">
                <a:solidFill>
                  <a:srgbClr val="FF0000"/>
                </a:solidFill>
                <a:ea typeface="华文中宋"/>
                <a:cs typeface="华文中宋"/>
              </a:rPr>
              <a:t>振速</a:t>
            </a:r>
            <a:r>
              <a:rPr lang="zh-CN" altLang="en-US" sz="1800" b="1">
                <a:ea typeface="华文中宋"/>
                <a:cs typeface="华文中宋"/>
              </a:rPr>
              <a:t>也为零，所以</a:t>
            </a:r>
            <a:r>
              <a:rPr lang="zh-CN" altLang="en-US" sz="1800" b="1">
                <a:solidFill>
                  <a:srgbClr val="0000FF"/>
                </a:solidFill>
                <a:ea typeface="华文中宋"/>
                <a:cs typeface="华文中宋"/>
              </a:rPr>
              <a:t>动能为零</a:t>
            </a:r>
            <a:r>
              <a:rPr lang="zh-CN" altLang="en-US" sz="1800" b="1">
                <a:ea typeface="华文中宋"/>
                <a:cs typeface="华文中宋"/>
              </a:rPr>
              <a:t>。</a:t>
            </a:r>
          </a:p>
        </p:txBody>
      </p:sp>
      <p:sp>
        <p:nvSpPr>
          <p:cNvPr id="126986" name="Rectangle 10"/>
          <p:cNvSpPr>
            <a:spLocks noChangeArrowheads="1"/>
          </p:cNvSpPr>
          <p:nvPr/>
        </p:nvSpPr>
        <p:spPr bwMode="auto">
          <a:xfrm>
            <a:off x="344488" y="4011613"/>
            <a:ext cx="8620125" cy="646112"/>
          </a:xfrm>
          <a:prstGeom prst="rect">
            <a:avLst/>
          </a:prstGeom>
          <a:noFill/>
          <a:ln w="9525">
            <a:noFill/>
            <a:miter lim="800000"/>
            <a:headEnd/>
            <a:tailEnd/>
          </a:ln>
        </p:spPr>
        <p:txBody>
          <a:bodyPr>
            <a:spAutoFit/>
          </a:bodyPr>
          <a:lstStyle/>
          <a:p>
            <a:r>
              <a:rPr lang="en-US" altLang="zh-CN" sz="1800" b="1">
                <a:ea typeface="华文中宋"/>
                <a:cs typeface="华文中宋"/>
              </a:rPr>
              <a:t>        </a:t>
            </a:r>
            <a:r>
              <a:rPr lang="zh-CN" altLang="en-US" sz="1800" b="1">
                <a:ea typeface="华文中宋"/>
                <a:cs typeface="华文中宋"/>
              </a:rPr>
              <a:t>当体积元处在位移为零处（即平衡位置）时，振速、相对形变均最大，所以弹性</a:t>
            </a:r>
            <a:r>
              <a:rPr lang="zh-CN" altLang="en-US" sz="1800" b="1">
                <a:solidFill>
                  <a:srgbClr val="0000FF"/>
                </a:solidFill>
                <a:ea typeface="华文中宋"/>
                <a:cs typeface="华文中宋"/>
              </a:rPr>
              <a:t>势能和动能都同时达到最大值</a:t>
            </a:r>
            <a:r>
              <a:rPr lang="zh-CN" altLang="en-US" sz="1800" b="1">
                <a:ea typeface="华文中宋"/>
                <a:cs typeface="华文中宋"/>
              </a:rPr>
              <a:t>。</a:t>
            </a:r>
          </a:p>
        </p:txBody>
      </p:sp>
      <p:grpSp>
        <p:nvGrpSpPr>
          <p:cNvPr id="2" name="Group 7"/>
          <p:cNvGrpSpPr>
            <a:grpSpLocks/>
          </p:cNvGrpSpPr>
          <p:nvPr/>
        </p:nvGrpSpPr>
        <p:grpSpPr bwMode="auto">
          <a:xfrm>
            <a:off x="4787900" y="1846263"/>
            <a:ext cx="4005263" cy="1481137"/>
            <a:chOff x="1037" y="2281"/>
            <a:chExt cx="2693" cy="1398"/>
          </a:xfrm>
        </p:grpSpPr>
        <p:grpSp>
          <p:nvGrpSpPr>
            <p:cNvPr id="39973" name="Group 8"/>
            <p:cNvGrpSpPr>
              <a:grpSpLocks/>
            </p:cNvGrpSpPr>
            <p:nvPr/>
          </p:nvGrpSpPr>
          <p:grpSpPr bwMode="auto">
            <a:xfrm>
              <a:off x="1264" y="2472"/>
              <a:ext cx="2098" cy="1207"/>
              <a:chOff x="1264" y="2419"/>
              <a:chExt cx="2211" cy="1272"/>
            </a:xfrm>
          </p:grpSpPr>
          <p:sp>
            <p:nvSpPr>
              <p:cNvPr id="39985" name="Freeform 9"/>
              <p:cNvSpPr>
                <a:spLocks/>
              </p:cNvSpPr>
              <p:nvPr/>
            </p:nvSpPr>
            <p:spPr bwMode="auto">
              <a:xfrm>
                <a:off x="1264" y="2419"/>
                <a:ext cx="2129" cy="1203"/>
              </a:xfrm>
              <a:custGeom>
                <a:avLst/>
                <a:gdLst>
                  <a:gd name="T0" fmla="*/ 0 w 2129"/>
                  <a:gd name="T1" fmla="*/ 537 h 1203"/>
                  <a:gd name="T2" fmla="*/ 545 w 2129"/>
                  <a:gd name="T3" fmla="*/ 0 h 1203"/>
                  <a:gd name="T4" fmla="*/ 1105 w 2129"/>
                  <a:gd name="T5" fmla="*/ 537 h 1203"/>
                  <a:gd name="T6" fmla="*/ 1651 w 2129"/>
                  <a:gd name="T7" fmla="*/ 1181 h 1203"/>
                  <a:gd name="T8" fmla="*/ 2129 w 2129"/>
                  <a:gd name="T9" fmla="*/ 668 h 1203"/>
                  <a:gd name="T10" fmla="*/ 0 60000 65536"/>
                  <a:gd name="T11" fmla="*/ 0 60000 65536"/>
                  <a:gd name="T12" fmla="*/ 0 60000 65536"/>
                  <a:gd name="T13" fmla="*/ 0 60000 65536"/>
                  <a:gd name="T14" fmla="*/ 0 60000 65536"/>
                  <a:gd name="T15" fmla="*/ 0 w 2129"/>
                  <a:gd name="T16" fmla="*/ 0 h 1203"/>
                  <a:gd name="T17" fmla="*/ 2129 w 2129"/>
                  <a:gd name="T18" fmla="*/ 1203 h 1203"/>
                </a:gdLst>
                <a:ahLst/>
                <a:cxnLst>
                  <a:cxn ang="T10">
                    <a:pos x="T0" y="T1"/>
                  </a:cxn>
                  <a:cxn ang="T11">
                    <a:pos x="T2" y="T3"/>
                  </a:cxn>
                  <a:cxn ang="T12">
                    <a:pos x="T4" y="T5"/>
                  </a:cxn>
                  <a:cxn ang="T13">
                    <a:pos x="T6" y="T7"/>
                  </a:cxn>
                  <a:cxn ang="T14">
                    <a:pos x="T8" y="T9"/>
                  </a:cxn>
                </a:cxnLst>
                <a:rect l="T15" t="T16" r="T17" b="T18"/>
                <a:pathLst>
                  <a:path w="2129" h="1203">
                    <a:moveTo>
                      <a:pt x="0" y="537"/>
                    </a:moveTo>
                    <a:cubicBezTo>
                      <a:pt x="84" y="375"/>
                      <a:pt x="361" y="0"/>
                      <a:pt x="545" y="0"/>
                    </a:cubicBezTo>
                    <a:cubicBezTo>
                      <a:pt x="729" y="0"/>
                      <a:pt x="1009" y="387"/>
                      <a:pt x="1105" y="537"/>
                    </a:cubicBezTo>
                    <a:cubicBezTo>
                      <a:pt x="1201" y="687"/>
                      <a:pt x="1480" y="1159"/>
                      <a:pt x="1651" y="1181"/>
                    </a:cubicBezTo>
                    <a:cubicBezTo>
                      <a:pt x="1822" y="1203"/>
                      <a:pt x="2030" y="775"/>
                      <a:pt x="2129" y="668"/>
                    </a:cubicBezTo>
                  </a:path>
                </a:pathLst>
              </a:custGeom>
              <a:noFill/>
              <a:ln w="19050">
                <a:solidFill>
                  <a:srgbClr val="0000FF"/>
                </a:solidFill>
                <a:round/>
                <a:headEnd/>
                <a:tailEnd/>
              </a:ln>
            </p:spPr>
            <p:txBody>
              <a:bodyPr/>
              <a:lstStyle/>
              <a:p>
                <a:endParaRPr lang="zh-CN" altLang="en-US"/>
              </a:p>
            </p:txBody>
          </p:sp>
          <p:sp>
            <p:nvSpPr>
              <p:cNvPr id="39986" name="Freeform 10"/>
              <p:cNvSpPr>
                <a:spLocks/>
              </p:cNvSpPr>
              <p:nvPr/>
            </p:nvSpPr>
            <p:spPr bwMode="auto">
              <a:xfrm>
                <a:off x="1264" y="2500"/>
                <a:ext cx="2211" cy="1191"/>
              </a:xfrm>
              <a:custGeom>
                <a:avLst/>
                <a:gdLst>
                  <a:gd name="T0" fmla="*/ 0 w 3855"/>
                  <a:gd name="T1" fmla="*/ 1 h 1921"/>
                  <a:gd name="T2" fmla="*/ 1 w 3855"/>
                  <a:gd name="T3" fmla="*/ 0 h 1921"/>
                  <a:gd name="T4" fmla="*/ 1 w 3855"/>
                  <a:gd name="T5" fmla="*/ 1 h 1921"/>
                  <a:gd name="T6" fmla="*/ 1 w 3855"/>
                  <a:gd name="T7" fmla="*/ 1 h 1921"/>
                  <a:gd name="T8" fmla="*/ 1 w 3855"/>
                  <a:gd name="T9" fmla="*/ 1 h 1921"/>
                  <a:gd name="T10" fmla="*/ 0 60000 65536"/>
                  <a:gd name="T11" fmla="*/ 0 60000 65536"/>
                  <a:gd name="T12" fmla="*/ 0 60000 65536"/>
                  <a:gd name="T13" fmla="*/ 0 60000 65536"/>
                  <a:gd name="T14" fmla="*/ 0 60000 65536"/>
                  <a:gd name="T15" fmla="*/ 0 w 3855"/>
                  <a:gd name="T16" fmla="*/ 0 h 1921"/>
                  <a:gd name="T17" fmla="*/ 3855 w 3855"/>
                  <a:gd name="T18" fmla="*/ 1921 h 1921"/>
                </a:gdLst>
                <a:ahLst/>
                <a:cxnLst>
                  <a:cxn ang="T10">
                    <a:pos x="T0" y="T1"/>
                  </a:cxn>
                  <a:cxn ang="T11">
                    <a:pos x="T2" y="T3"/>
                  </a:cxn>
                  <a:cxn ang="T12">
                    <a:pos x="T4" y="T5"/>
                  </a:cxn>
                  <a:cxn ang="T13">
                    <a:pos x="T6" y="T7"/>
                  </a:cxn>
                  <a:cxn ang="T14">
                    <a:pos x="T8" y="T9"/>
                  </a:cxn>
                </a:cxnLst>
                <a:rect l="T15" t="T16" r="T17" b="T18"/>
                <a:pathLst>
                  <a:path w="3855" h="1921">
                    <a:moveTo>
                      <a:pt x="0" y="964"/>
                    </a:moveTo>
                    <a:cubicBezTo>
                      <a:pt x="321" y="482"/>
                      <a:pt x="642" y="0"/>
                      <a:pt x="963" y="0"/>
                    </a:cubicBezTo>
                    <a:cubicBezTo>
                      <a:pt x="1284" y="0"/>
                      <a:pt x="1743" y="699"/>
                      <a:pt x="1927" y="964"/>
                    </a:cubicBezTo>
                    <a:cubicBezTo>
                      <a:pt x="2094" y="1206"/>
                      <a:pt x="2569" y="1921"/>
                      <a:pt x="2890" y="1921"/>
                    </a:cubicBezTo>
                    <a:cubicBezTo>
                      <a:pt x="3211" y="1921"/>
                      <a:pt x="3654" y="1164"/>
                      <a:pt x="3855" y="964"/>
                    </a:cubicBezTo>
                  </a:path>
                </a:pathLst>
              </a:custGeom>
              <a:noFill/>
              <a:ln w="19050">
                <a:solidFill>
                  <a:srgbClr val="0000FF"/>
                </a:solidFill>
                <a:round/>
                <a:headEnd/>
                <a:tailEnd/>
              </a:ln>
            </p:spPr>
            <p:txBody>
              <a:bodyPr/>
              <a:lstStyle/>
              <a:p>
                <a:endParaRPr lang="zh-CN" altLang="en-US"/>
              </a:p>
            </p:txBody>
          </p:sp>
        </p:grpSp>
        <p:sp>
          <p:nvSpPr>
            <p:cNvPr id="39974" name="Line 11"/>
            <p:cNvSpPr>
              <a:spLocks noChangeShapeType="1"/>
            </p:cNvSpPr>
            <p:nvPr/>
          </p:nvSpPr>
          <p:spPr bwMode="auto">
            <a:xfrm>
              <a:off x="1037" y="3096"/>
              <a:ext cx="2693" cy="0"/>
            </a:xfrm>
            <a:prstGeom prst="line">
              <a:avLst/>
            </a:prstGeom>
            <a:noFill/>
            <a:ln w="19050">
              <a:solidFill>
                <a:srgbClr val="00B0F0"/>
              </a:solidFill>
              <a:round/>
              <a:headEnd/>
              <a:tailEnd type="triangle" w="med" len="med"/>
            </a:ln>
          </p:spPr>
          <p:txBody>
            <a:bodyPr/>
            <a:lstStyle/>
            <a:p>
              <a:endParaRPr lang="zh-CN" altLang="en-US"/>
            </a:p>
          </p:txBody>
        </p:sp>
        <p:sp>
          <p:nvSpPr>
            <p:cNvPr id="39975" name="Line 12"/>
            <p:cNvSpPr>
              <a:spLocks noChangeShapeType="1"/>
            </p:cNvSpPr>
            <p:nvPr/>
          </p:nvSpPr>
          <p:spPr bwMode="auto">
            <a:xfrm flipV="1">
              <a:off x="1264" y="2330"/>
              <a:ext cx="0" cy="1191"/>
            </a:xfrm>
            <a:prstGeom prst="line">
              <a:avLst/>
            </a:prstGeom>
            <a:noFill/>
            <a:ln w="19050">
              <a:solidFill>
                <a:srgbClr val="00B0F0"/>
              </a:solidFill>
              <a:round/>
              <a:headEnd/>
              <a:tailEnd type="triangle" w="med" len="med"/>
            </a:ln>
          </p:spPr>
          <p:txBody>
            <a:bodyPr/>
            <a:lstStyle/>
            <a:p>
              <a:endParaRPr lang="zh-CN" altLang="en-US"/>
            </a:p>
          </p:txBody>
        </p:sp>
        <p:sp>
          <p:nvSpPr>
            <p:cNvPr id="39976" name="Freeform 13" descr="宽下对角线"/>
            <p:cNvSpPr>
              <a:spLocks/>
            </p:cNvSpPr>
            <p:nvPr/>
          </p:nvSpPr>
          <p:spPr bwMode="auto">
            <a:xfrm>
              <a:off x="1689" y="2472"/>
              <a:ext cx="198" cy="102"/>
            </a:xfrm>
            <a:custGeom>
              <a:avLst/>
              <a:gdLst>
                <a:gd name="T0" fmla="*/ 0 w 198"/>
                <a:gd name="T1" fmla="*/ 27 h 102"/>
                <a:gd name="T2" fmla="*/ 92 w 198"/>
                <a:gd name="T3" fmla="*/ 0 h 102"/>
                <a:gd name="T4" fmla="*/ 198 w 198"/>
                <a:gd name="T5" fmla="*/ 27 h 102"/>
                <a:gd name="T6" fmla="*/ 195 w 198"/>
                <a:gd name="T7" fmla="*/ 97 h 102"/>
                <a:gd name="T8" fmla="*/ 96 w 198"/>
                <a:gd name="T9" fmla="*/ 68 h 102"/>
                <a:gd name="T10" fmla="*/ 3 w 198"/>
                <a:gd name="T11" fmla="*/ 91 h 102"/>
                <a:gd name="T12" fmla="*/ 0 w 198"/>
                <a:gd name="T13" fmla="*/ 27 h 102"/>
                <a:gd name="T14" fmla="*/ 0 60000 65536"/>
                <a:gd name="T15" fmla="*/ 0 60000 65536"/>
                <a:gd name="T16" fmla="*/ 0 60000 65536"/>
                <a:gd name="T17" fmla="*/ 0 60000 65536"/>
                <a:gd name="T18" fmla="*/ 0 60000 65536"/>
                <a:gd name="T19" fmla="*/ 0 60000 65536"/>
                <a:gd name="T20" fmla="*/ 0 60000 65536"/>
                <a:gd name="T21" fmla="*/ 0 w 198"/>
                <a:gd name="T22" fmla="*/ 0 h 102"/>
                <a:gd name="T23" fmla="*/ 198 w 198"/>
                <a:gd name="T24" fmla="*/ 102 h 1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8" h="102">
                  <a:moveTo>
                    <a:pt x="0" y="27"/>
                  </a:moveTo>
                  <a:cubicBezTo>
                    <a:pt x="14" y="14"/>
                    <a:pt x="59" y="0"/>
                    <a:pt x="92" y="0"/>
                  </a:cubicBezTo>
                  <a:cubicBezTo>
                    <a:pt x="125" y="0"/>
                    <a:pt x="181" y="11"/>
                    <a:pt x="198" y="27"/>
                  </a:cubicBezTo>
                  <a:cubicBezTo>
                    <a:pt x="198" y="48"/>
                    <a:pt x="194" y="76"/>
                    <a:pt x="195" y="97"/>
                  </a:cubicBezTo>
                  <a:cubicBezTo>
                    <a:pt x="181" y="102"/>
                    <a:pt x="128" y="69"/>
                    <a:pt x="96" y="68"/>
                  </a:cubicBezTo>
                  <a:cubicBezTo>
                    <a:pt x="64" y="67"/>
                    <a:pt x="19" y="98"/>
                    <a:pt x="3" y="91"/>
                  </a:cubicBezTo>
                  <a:cubicBezTo>
                    <a:pt x="1" y="57"/>
                    <a:pt x="1" y="49"/>
                    <a:pt x="0" y="27"/>
                  </a:cubicBezTo>
                  <a:close/>
                </a:path>
              </a:pathLst>
            </a:custGeom>
            <a:pattFill prst="dkUpDiag">
              <a:fgClr>
                <a:srgbClr val="C00000"/>
              </a:fgClr>
              <a:bgClr>
                <a:schemeClr val="bg1"/>
              </a:bgClr>
            </a:pattFill>
            <a:ln w="9525">
              <a:noFill/>
              <a:round/>
              <a:headEnd/>
              <a:tailEnd/>
            </a:ln>
          </p:spPr>
          <p:txBody>
            <a:bodyPr/>
            <a:lstStyle/>
            <a:p>
              <a:endParaRPr lang="zh-CN" altLang="en-US"/>
            </a:p>
          </p:txBody>
        </p:sp>
        <p:sp>
          <p:nvSpPr>
            <p:cNvPr id="39977" name="Line 14"/>
            <p:cNvSpPr>
              <a:spLocks noChangeShapeType="1"/>
            </p:cNvSpPr>
            <p:nvPr/>
          </p:nvSpPr>
          <p:spPr bwMode="auto">
            <a:xfrm>
              <a:off x="1689" y="2500"/>
              <a:ext cx="0" cy="85"/>
            </a:xfrm>
            <a:prstGeom prst="line">
              <a:avLst/>
            </a:prstGeom>
            <a:noFill/>
            <a:ln w="19050">
              <a:solidFill>
                <a:schemeClr val="tx1"/>
              </a:solidFill>
              <a:round/>
              <a:headEnd/>
              <a:tailEnd/>
            </a:ln>
          </p:spPr>
          <p:txBody>
            <a:bodyPr/>
            <a:lstStyle/>
            <a:p>
              <a:endParaRPr lang="zh-CN" altLang="en-US"/>
            </a:p>
          </p:txBody>
        </p:sp>
        <p:sp>
          <p:nvSpPr>
            <p:cNvPr id="39978" name="Line 15"/>
            <p:cNvSpPr>
              <a:spLocks noChangeShapeType="1"/>
            </p:cNvSpPr>
            <p:nvPr/>
          </p:nvSpPr>
          <p:spPr bwMode="auto">
            <a:xfrm>
              <a:off x="1888" y="2500"/>
              <a:ext cx="0" cy="85"/>
            </a:xfrm>
            <a:prstGeom prst="line">
              <a:avLst/>
            </a:prstGeom>
            <a:noFill/>
            <a:ln w="19050">
              <a:solidFill>
                <a:schemeClr val="tx1"/>
              </a:solidFill>
              <a:round/>
              <a:headEnd/>
              <a:tailEnd/>
            </a:ln>
          </p:spPr>
          <p:txBody>
            <a:bodyPr/>
            <a:lstStyle/>
            <a:p>
              <a:endParaRPr lang="zh-CN" altLang="en-US"/>
            </a:p>
          </p:txBody>
        </p:sp>
        <p:sp>
          <p:nvSpPr>
            <p:cNvPr id="39979" name="AutoShape 16" descr="宽上对角线"/>
            <p:cNvSpPr>
              <a:spLocks noChangeArrowheads="1"/>
            </p:cNvSpPr>
            <p:nvPr/>
          </p:nvSpPr>
          <p:spPr bwMode="auto">
            <a:xfrm rot="5400000">
              <a:off x="2200" y="3039"/>
              <a:ext cx="283" cy="113"/>
            </a:xfrm>
            <a:prstGeom prst="parallelogram">
              <a:avLst>
                <a:gd name="adj" fmla="val 147309"/>
              </a:avLst>
            </a:prstGeom>
            <a:pattFill prst="dkUpDiag">
              <a:fgClr>
                <a:srgbClr val="C00000"/>
              </a:fgClr>
              <a:bgClr>
                <a:schemeClr val="bg1"/>
              </a:bgClr>
            </a:pattFill>
            <a:ln w="9525">
              <a:solidFill>
                <a:schemeClr val="tx1"/>
              </a:solidFill>
              <a:miter lim="800000"/>
              <a:headEnd/>
              <a:tailEnd/>
            </a:ln>
          </p:spPr>
          <p:txBody>
            <a:bodyPr rot="10800000" vert="eaVert" wrap="none" anchor="ctr"/>
            <a:lstStyle/>
            <a:p>
              <a:endParaRPr kumimoji="0" lang="zh-CN" altLang="zh-CN" sz="1800"/>
            </a:p>
          </p:txBody>
        </p:sp>
        <p:sp>
          <p:nvSpPr>
            <p:cNvPr id="39980" name="Text Box 17"/>
            <p:cNvSpPr txBox="1">
              <a:spLocks noChangeArrowheads="1"/>
            </p:cNvSpPr>
            <p:nvPr/>
          </p:nvSpPr>
          <p:spPr bwMode="auto">
            <a:xfrm>
              <a:off x="3501" y="3051"/>
              <a:ext cx="210" cy="378"/>
            </a:xfrm>
            <a:prstGeom prst="rect">
              <a:avLst/>
            </a:prstGeom>
            <a:noFill/>
            <a:ln w="9525">
              <a:noFill/>
              <a:miter lim="800000"/>
              <a:headEnd/>
              <a:tailEnd/>
            </a:ln>
          </p:spPr>
          <p:txBody>
            <a:bodyPr wrap="none">
              <a:spAutoFit/>
            </a:bodyPr>
            <a:lstStyle/>
            <a:p>
              <a:r>
                <a:rPr kumimoji="0" lang="en-US" altLang="zh-CN" sz="2000" b="1" i="1"/>
                <a:t>x</a:t>
              </a:r>
            </a:p>
          </p:txBody>
        </p:sp>
        <p:sp>
          <p:nvSpPr>
            <p:cNvPr id="39981" name="Text Box 18"/>
            <p:cNvSpPr txBox="1">
              <a:spLocks noChangeArrowheads="1"/>
            </p:cNvSpPr>
            <p:nvPr/>
          </p:nvSpPr>
          <p:spPr bwMode="auto">
            <a:xfrm>
              <a:off x="1096" y="2281"/>
              <a:ext cx="201" cy="378"/>
            </a:xfrm>
            <a:prstGeom prst="rect">
              <a:avLst/>
            </a:prstGeom>
            <a:noFill/>
            <a:ln w="9525">
              <a:noFill/>
              <a:miter lim="800000"/>
              <a:headEnd/>
              <a:tailEnd/>
            </a:ln>
          </p:spPr>
          <p:txBody>
            <a:bodyPr wrap="none">
              <a:spAutoFit/>
            </a:bodyPr>
            <a:lstStyle/>
            <a:p>
              <a:r>
                <a:rPr kumimoji="0" lang="en-US" altLang="zh-CN" sz="2000" b="1" i="1"/>
                <a:t>y</a:t>
              </a:r>
            </a:p>
          </p:txBody>
        </p:sp>
        <p:sp>
          <p:nvSpPr>
            <p:cNvPr id="39982" name="Text Box 19"/>
            <p:cNvSpPr txBox="1">
              <a:spLocks noChangeArrowheads="1"/>
            </p:cNvSpPr>
            <p:nvPr/>
          </p:nvSpPr>
          <p:spPr bwMode="auto">
            <a:xfrm>
              <a:off x="1066" y="3051"/>
              <a:ext cx="210" cy="378"/>
            </a:xfrm>
            <a:prstGeom prst="rect">
              <a:avLst/>
            </a:prstGeom>
            <a:noFill/>
            <a:ln w="9525">
              <a:noFill/>
              <a:miter lim="800000"/>
              <a:headEnd/>
              <a:tailEnd/>
            </a:ln>
          </p:spPr>
          <p:txBody>
            <a:bodyPr wrap="none">
              <a:spAutoFit/>
            </a:bodyPr>
            <a:lstStyle/>
            <a:p>
              <a:r>
                <a:rPr kumimoji="0" lang="en-US" altLang="zh-CN" sz="2000" b="1" i="1"/>
                <a:t>0</a:t>
              </a:r>
            </a:p>
          </p:txBody>
        </p:sp>
        <p:sp>
          <p:nvSpPr>
            <p:cNvPr id="39983" name="Text Box 20"/>
            <p:cNvSpPr txBox="1">
              <a:spLocks noChangeArrowheads="1"/>
            </p:cNvSpPr>
            <p:nvPr/>
          </p:nvSpPr>
          <p:spPr bwMode="auto">
            <a:xfrm>
              <a:off x="1641" y="2542"/>
              <a:ext cx="327" cy="378"/>
            </a:xfrm>
            <a:prstGeom prst="rect">
              <a:avLst/>
            </a:prstGeom>
            <a:noFill/>
            <a:ln w="9525">
              <a:noFill/>
              <a:miter lim="800000"/>
              <a:headEnd/>
              <a:tailEnd/>
            </a:ln>
          </p:spPr>
          <p:txBody>
            <a:bodyPr>
              <a:spAutoFit/>
            </a:bodyPr>
            <a:lstStyle/>
            <a:p>
              <a:pPr>
                <a:spcBef>
                  <a:spcPct val="50000"/>
                </a:spcBef>
              </a:pPr>
              <a:r>
                <a:rPr kumimoji="0" lang="en-US" altLang="zh-CN" sz="2000" b="1" i="1"/>
                <a:t>P</a:t>
              </a:r>
            </a:p>
          </p:txBody>
        </p:sp>
        <p:sp>
          <p:nvSpPr>
            <p:cNvPr id="39984" name="Text Box 21"/>
            <p:cNvSpPr txBox="1">
              <a:spLocks noChangeArrowheads="1"/>
            </p:cNvSpPr>
            <p:nvPr/>
          </p:nvSpPr>
          <p:spPr bwMode="auto">
            <a:xfrm>
              <a:off x="2101" y="3049"/>
              <a:ext cx="327" cy="378"/>
            </a:xfrm>
            <a:prstGeom prst="rect">
              <a:avLst/>
            </a:prstGeom>
            <a:noFill/>
            <a:ln w="9525">
              <a:noFill/>
              <a:miter lim="800000"/>
              <a:headEnd/>
              <a:tailEnd/>
            </a:ln>
          </p:spPr>
          <p:txBody>
            <a:bodyPr>
              <a:spAutoFit/>
            </a:bodyPr>
            <a:lstStyle/>
            <a:p>
              <a:pPr>
                <a:spcBef>
                  <a:spcPct val="50000"/>
                </a:spcBef>
              </a:pPr>
              <a:r>
                <a:rPr kumimoji="0" lang="en-US" altLang="zh-CN" sz="2000" b="1" i="1"/>
                <a:t>Q</a:t>
              </a:r>
            </a:p>
          </p:txBody>
        </p:sp>
      </p:grpSp>
      <p:sp>
        <p:nvSpPr>
          <p:cNvPr id="24" name="Rectangle 6"/>
          <p:cNvSpPr>
            <a:spLocks noChangeArrowheads="1"/>
          </p:cNvSpPr>
          <p:nvPr/>
        </p:nvSpPr>
        <p:spPr bwMode="auto">
          <a:xfrm>
            <a:off x="6805613" y="2327275"/>
            <a:ext cx="2159000" cy="323850"/>
          </a:xfrm>
          <a:prstGeom prst="rect">
            <a:avLst/>
          </a:prstGeom>
          <a:noFill/>
          <a:ln w="9525">
            <a:noFill/>
            <a:miter lim="800000"/>
            <a:headEnd/>
            <a:tailEnd/>
          </a:ln>
        </p:spPr>
        <p:txBody>
          <a:bodyPr>
            <a:spAutoFit/>
          </a:bodyPr>
          <a:lstStyle/>
          <a:p>
            <a:r>
              <a:rPr lang="en-US" altLang="zh-CN" sz="1500" b="1" i="1">
                <a:sym typeface="Symbol" pitchFamily="18" charset="2"/>
              </a:rPr>
              <a:t>y</a:t>
            </a:r>
            <a:r>
              <a:rPr lang="en-US" altLang="zh-CN" sz="1500" b="1"/>
              <a:t>= 0</a:t>
            </a:r>
            <a:r>
              <a:rPr lang="zh-CN" altLang="en-US" sz="1500" b="1"/>
              <a:t>处， </a:t>
            </a:r>
            <a:r>
              <a:rPr lang="en-US" altLang="zh-CN" sz="1500" b="1" i="1"/>
              <a:t>E</a:t>
            </a:r>
            <a:r>
              <a:rPr lang="en-US" altLang="zh-CN" sz="1500" b="1" i="1" baseline="-25000"/>
              <a:t>k</a:t>
            </a:r>
            <a:r>
              <a:rPr lang="en-US" altLang="zh-CN" sz="1500" b="1"/>
              <a:t>=</a:t>
            </a:r>
            <a:r>
              <a:rPr lang="en-US" altLang="zh-CN" sz="1500" b="1" i="1"/>
              <a:t>E</a:t>
            </a:r>
            <a:r>
              <a:rPr lang="en-US" altLang="zh-CN" sz="1500" b="1" i="1" baseline="-25000"/>
              <a:t>p</a:t>
            </a:r>
            <a:r>
              <a:rPr lang="en-US" altLang="zh-CN" sz="1500" b="1" i="1"/>
              <a:t>=</a:t>
            </a:r>
            <a:r>
              <a:rPr lang="zh-CN" altLang="en-US" sz="1500" b="1"/>
              <a:t>最大</a:t>
            </a:r>
          </a:p>
        </p:txBody>
      </p:sp>
      <p:sp>
        <p:nvSpPr>
          <p:cNvPr id="25" name="Rectangle 6"/>
          <p:cNvSpPr>
            <a:spLocks noChangeArrowheads="1"/>
          </p:cNvSpPr>
          <p:nvPr/>
        </p:nvSpPr>
        <p:spPr bwMode="auto">
          <a:xfrm>
            <a:off x="5299075" y="1708150"/>
            <a:ext cx="2514600" cy="323850"/>
          </a:xfrm>
          <a:prstGeom prst="rect">
            <a:avLst/>
          </a:prstGeom>
          <a:noFill/>
          <a:ln w="9525">
            <a:noFill/>
            <a:miter lim="800000"/>
            <a:headEnd/>
            <a:tailEnd/>
          </a:ln>
        </p:spPr>
        <p:txBody>
          <a:bodyPr>
            <a:spAutoFit/>
          </a:bodyPr>
          <a:lstStyle/>
          <a:p>
            <a:r>
              <a:rPr lang="en-US" altLang="zh-CN" sz="1500" b="1" i="1">
                <a:sym typeface="Symbol" pitchFamily="18" charset="2"/>
              </a:rPr>
              <a:t>y=y</a:t>
            </a:r>
            <a:r>
              <a:rPr lang="en-US" altLang="zh-CN" sz="1500" b="1" i="1" baseline="-25000">
                <a:sym typeface="Symbol" pitchFamily="18" charset="2"/>
              </a:rPr>
              <a:t>max</a:t>
            </a:r>
            <a:r>
              <a:rPr lang="zh-CN" altLang="en-US" sz="1500" b="1"/>
              <a:t>处，</a:t>
            </a:r>
            <a:r>
              <a:rPr lang="en-US" altLang="zh-CN" sz="1500" b="1" i="1"/>
              <a:t>E</a:t>
            </a:r>
            <a:r>
              <a:rPr lang="en-US" altLang="zh-CN" sz="1500" b="1" i="1" baseline="-25000"/>
              <a:t>k</a:t>
            </a:r>
            <a:r>
              <a:rPr lang="en-US" altLang="zh-CN" sz="1500" b="1"/>
              <a:t>=</a:t>
            </a:r>
            <a:r>
              <a:rPr lang="en-US" altLang="zh-CN" sz="1500" b="1" i="1"/>
              <a:t>E</a:t>
            </a:r>
            <a:r>
              <a:rPr lang="en-US" altLang="zh-CN" sz="1500" b="1" i="1" baseline="-25000"/>
              <a:t>p</a:t>
            </a:r>
            <a:r>
              <a:rPr lang="en-US" altLang="zh-CN" sz="1500" b="1"/>
              <a:t>=0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43012"/>
                                        </p:tgtEl>
                                        <p:attrNameLst>
                                          <p:attrName>style.visibility</p:attrName>
                                        </p:attrNameLst>
                                      </p:cBhvr>
                                      <p:to>
                                        <p:strVal val="visible"/>
                                      </p:to>
                                    </p:set>
                                    <p:anim calcmode="lin" valueType="num">
                                      <p:cBhvr>
                                        <p:cTn id="7" dur="500" fill="hold"/>
                                        <p:tgtEl>
                                          <p:spTgt spid="43012"/>
                                        </p:tgtEl>
                                        <p:attrNameLst>
                                          <p:attrName>ppt_w</p:attrName>
                                        </p:attrNameLst>
                                      </p:cBhvr>
                                      <p:tavLst>
                                        <p:tav tm="0">
                                          <p:val>
                                            <p:strVal val="2/3*#ppt_w"/>
                                          </p:val>
                                        </p:tav>
                                        <p:tav tm="100000">
                                          <p:val>
                                            <p:strVal val="#ppt_w"/>
                                          </p:val>
                                        </p:tav>
                                      </p:tavLst>
                                    </p:anim>
                                    <p:anim calcmode="lin" valueType="num">
                                      <p:cBhvr>
                                        <p:cTn id="8" dur="500" fill="hold"/>
                                        <p:tgtEl>
                                          <p:spTgt spid="43012"/>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272" fill="hold" nodeType="clickEffect">
                                  <p:stCondLst>
                                    <p:cond delay="0"/>
                                  </p:stCondLst>
                                  <p:childTnLst>
                                    <p:set>
                                      <p:cBhvr>
                                        <p:cTn id="12" dur="1" fill="hold">
                                          <p:stCondLst>
                                            <p:cond delay="0"/>
                                          </p:stCondLst>
                                        </p:cTn>
                                        <p:tgtEl>
                                          <p:spTgt spid="127004"/>
                                        </p:tgtEl>
                                        <p:attrNameLst>
                                          <p:attrName>style.visibility</p:attrName>
                                        </p:attrNameLst>
                                      </p:cBhvr>
                                      <p:to>
                                        <p:strVal val="visible"/>
                                      </p:to>
                                    </p:set>
                                    <p:anim calcmode="lin" valueType="num">
                                      <p:cBhvr>
                                        <p:cTn id="13" dur="500" fill="hold"/>
                                        <p:tgtEl>
                                          <p:spTgt spid="127004"/>
                                        </p:tgtEl>
                                        <p:attrNameLst>
                                          <p:attrName>ppt_w</p:attrName>
                                        </p:attrNameLst>
                                      </p:cBhvr>
                                      <p:tavLst>
                                        <p:tav tm="0">
                                          <p:val>
                                            <p:strVal val="2/3*#ppt_w"/>
                                          </p:val>
                                        </p:tav>
                                        <p:tav tm="100000">
                                          <p:val>
                                            <p:strVal val="#ppt_w"/>
                                          </p:val>
                                        </p:tav>
                                      </p:tavLst>
                                    </p:anim>
                                    <p:anim calcmode="lin" valueType="num">
                                      <p:cBhvr>
                                        <p:cTn id="14" dur="500" fill="hold"/>
                                        <p:tgtEl>
                                          <p:spTgt spid="127004"/>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11"/>
                                            </p:cond>
                                          </p:stCondLst>
                                          <p:endCondLst>
                                            <p:cond evt="onStopAudio" delay="0">
                                              <p:tgtEl>
                                                <p:sldTgt/>
                                              </p:tgtEl>
                                            </p:cond>
                                          </p:endCondLst>
                                        </p:cTn>
                                        <p:tgtEl>
                                          <p:sndTgt r:embed="rId4" name="TYP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272" fill="hold" grpId="0" nodeType="clickEffect">
                                  <p:stCondLst>
                                    <p:cond delay="0"/>
                                  </p:stCondLst>
                                  <p:childTnLst>
                                    <p:set>
                                      <p:cBhvr>
                                        <p:cTn id="18" dur="1" fill="hold">
                                          <p:stCondLst>
                                            <p:cond delay="0"/>
                                          </p:stCondLst>
                                        </p:cTn>
                                        <p:tgtEl>
                                          <p:spTgt spid="43013"/>
                                        </p:tgtEl>
                                        <p:attrNameLst>
                                          <p:attrName>style.visibility</p:attrName>
                                        </p:attrNameLst>
                                      </p:cBhvr>
                                      <p:to>
                                        <p:strVal val="visible"/>
                                      </p:to>
                                    </p:set>
                                    <p:anim calcmode="lin" valueType="num">
                                      <p:cBhvr>
                                        <p:cTn id="19" dur="500" fill="hold"/>
                                        <p:tgtEl>
                                          <p:spTgt spid="43013"/>
                                        </p:tgtEl>
                                        <p:attrNameLst>
                                          <p:attrName>ppt_w</p:attrName>
                                        </p:attrNameLst>
                                      </p:cBhvr>
                                      <p:tavLst>
                                        <p:tav tm="0">
                                          <p:val>
                                            <p:strVal val="2/3*#ppt_w"/>
                                          </p:val>
                                        </p:tav>
                                        <p:tav tm="100000">
                                          <p:val>
                                            <p:strVal val="#ppt_w"/>
                                          </p:val>
                                        </p:tav>
                                      </p:tavLst>
                                    </p:anim>
                                    <p:anim calcmode="lin" valueType="num">
                                      <p:cBhvr>
                                        <p:cTn id="20" dur="500" fill="hold"/>
                                        <p:tgtEl>
                                          <p:spTgt spid="43013"/>
                                        </p:tgtEl>
                                        <p:attrNameLst>
                                          <p:attrName>ppt_h</p:attrName>
                                        </p:attrNameLst>
                                      </p:cBhvr>
                                      <p:tavLst>
                                        <p:tav tm="0">
                                          <p:val>
                                            <p:strVal val="2/3*#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272" fill="hold" grpId="0" nodeType="clickEffect">
                                  <p:stCondLst>
                                    <p:cond delay="0"/>
                                  </p:stCondLst>
                                  <p:childTnLst>
                                    <p:set>
                                      <p:cBhvr>
                                        <p:cTn id="24" dur="1" fill="hold">
                                          <p:stCondLst>
                                            <p:cond delay="0"/>
                                          </p:stCondLst>
                                        </p:cTn>
                                        <p:tgtEl>
                                          <p:spTgt spid="43010"/>
                                        </p:tgtEl>
                                        <p:attrNameLst>
                                          <p:attrName>style.visibility</p:attrName>
                                        </p:attrNameLst>
                                      </p:cBhvr>
                                      <p:to>
                                        <p:strVal val="visible"/>
                                      </p:to>
                                    </p:set>
                                    <p:anim calcmode="lin" valueType="num">
                                      <p:cBhvr>
                                        <p:cTn id="25" dur="500" fill="hold"/>
                                        <p:tgtEl>
                                          <p:spTgt spid="43010"/>
                                        </p:tgtEl>
                                        <p:attrNameLst>
                                          <p:attrName>ppt_w</p:attrName>
                                        </p:attrNameLst>
                                      </p:cBhvr>
                                      <p:tavLst>
                                        <p:tav tm="0">
                                          <p:val>
                                            <p:strVal val="2/3*#ppt_w"/>
                                          </p:val>
                                        </p:tav>
                                        <p:tav tm="100000">
                                          <p:val>
                                            <p:strVal val="#ppt_w"/>
                                          </p:val>
                                        </p:tav>
                                      </p:tavLst>
                                    </p:anim>
                                    <p:anim calcmode="lin" valueType="num">
                                      <p:cBhvr>
                                        <p:cTn id="26" dur="500" fill="hold"/>
                                        <p:tgtEl>
                                          <p:spTgt spid="43010"/>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23"/>
                                            </p:cond>
                                          </p:stCondLst>
                                          <p:endCondLst>
                                            <p:cond evt="onStopAudio" delay="0">
                                              <p:tgtEl>
                                                <p:sldTgt/>
                                              </p:tgtEl>
                                            </p:cond>
                                          </p:endCondLst>
                                        </p:cTn>
                                        <p:tgtEl>
                                          <p:sndTgt r:embed="rId4" name="TYPE.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p:cTn id="31" dur="500" fill="hold"/>
                                        <p:tgtEl>
                                          <p:spTgt spid="2"/>
                                        </p:tgtEl>
                                        <p:attrNameLst>
                                          <p:attrName>ppt_w</p:attrName>
                                        </p:attrNameLst>
                                      </p:cBhvr>
                                      <p:tavLst>
                                        <p:tav tm="0">
                                          <p:val>
                                            <p:fltVal val="0"/>
                                          </p:val>
                                        </p:tav>
                                        <p:tav tm="100000">
                                          <p:val>
                                            <p:strVal val="#ppt_w"/>
                                          </p:val>
                                        </p:tav>
                                      </p:tavLst>
                                    </p:anim>
                                    <p:anim calcmode="lin" valueType="num">
                                      <p:cBhvr>
                                        <p:cTn id="32"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272" fill="hold" grpId="0" nodeType="clickEffect">
                                  <p:stCondLst>
                                    <p:cond delay="0"/>
                                  </p:stCondLst>
                                  <p:childTnLst>
                                    <p:set>
                                      <p:cBhvr>
                                        <p:cTn id="36" dur="1" fill="hold">
                                          <p:stCondLst>
                                            <p:cond delay="0"/>
                                          </p:stCondLst>
                                        </p:cTn>
                                        <p:tgtEl>
                                          <p:spTgt spid="43014"/>
                                        </p:tgtEl>
                                        <p:attrNameLst>
                                          <p:attrName>style.visibility</p:attrName>
                                        </p:attrNameLst>
                                      </p:cBhvr>
                                      <p:to>
                                        <p:strVal val="visible"/>
                                      </p:to>
                                    </p:set>
                                    <p:anim calcmode="lin" valueType="num">
                                      <p:cBhvr>
                                        <p:cTn id="37" dur="500" fill="hold"/>
                                        <p:tgtEl>
                                          <p:spTgt spid="43014"/>
                                        </p:tgtEl>
                                        <p:attrNameLst>
                                          <p:attrName>ppt_w</p:attrName>
                                        </p:attrNameLst>
                                      </p:cBhvr>
                                      <p:tavLst>
                                        <p:tav tm="0">
                                          <p:val>
                                            <p:strVal val="2/3*#ppt_w"/>
                                          </p:val>
                                        </p:tav>
                                        <p:tav tm="100000">
                                          <p:val>
                                            <p:strVal val="#ppt_w"/>
                                          </p:val>
                                        </p:tav>
                                      </p:tavLst>
                                    </p:anim>
                                    <p:anim calcmode="lin" valueType="num">
                                      <p:cBhvr>
                                        <p:cTn id="38" dur="500" fill="hold"/>
                                        <p:tgtEl>
                                          <p:spTgt spid="43014"/>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4" name="TYPE.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ipe(left)">
                                      <p:cBhvr>
                                        <p:cTn id="43" dur="500"/>
                                        <p:tgtEl>
                                          <p:spTgt spid="2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grpId="0" nodeType="clickEffect">
                                  <p:stCondLst>
                                    <p:cond delay="0"/>
                                  </p:stCondLst>
                                  <p:childTnLst>
                                    <p:set>
                                      <p:cBhvr>
                                        <p:cTn id="47" dur="1" fill="hold">
                                          <p:stCondLst>
                                            <p:cond delay="0"/>
                                          </p:stCondLst>
                                        </p:cTn>
                                        <p:tgtEl>
                                          <p:spTgt spid="126986"/>
                                        </p:tgtEl>
                                        <p:attrNameLst>
                                          <p:attrName>style.visibility</p:attrName>
                                        </p:attrNameLst>
                                      </p:cBhvr>
                                      <p:to>
                                        <p:strVal val="visible"/>
                                      </p:to>
                                    </p:set>
                                    <p:anim calcmode="lin" valueType="num">
                                      <p:cBhvr>
                                        <p:cTn id="48" dur="500" fill="hold"/>
                                        <p:tgtEl>
                                          <p:spTgt spid="126986"/>
                                        </p:tgtEl>
                                        <p:attrNameLst>
                                          <p:attrName>ppt_w</p:attrName>
                                        </p:attrNameLst>
                                      </p:cBhvr>
                                      <p:tavLst>
                                        <p:tav tm="0">
                                          <p:val>
                                            <p:fltVal val="0"/>
                                          </p:val>
                                        </p:tav>
                                        <p:tav tm="100000">
                                          <p:val>
                                            <p:strVal val="#ppt_w"/>
                                          </p:val>
                                        </p:tav>
                                      </p:tavLst>
                                    </p:anim>
                                    <p:anim calcmode="lin" valueType="num">
                                      <p:cBhvr>
                                        <p:cTn id="49" dur="500" fill="hold"/>
                                        <p:tgtEl>
                                          <p:spTgt spid="126986"/>
                                        </p:tgtEl>
                                        <p:attrNameLst>
                                          <p:attrName>ppt_h</p:attrName>
                                        </p:attrNameLst>
                                      </p:cBhvr>
                                      <p:tavLst>
                                        <p:tav tm="0">
                                          <p:val>
                                            <p:fltVal val="0"/>
                                          </p:val>
                                        </p:tav>
                                        <p:tav tm="100000">
                                          <p:val>
                                            <p:strVal val="#ppt_h"/>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wipe(left)">
                                      <p:cBhvr>
                                        <p:cTn id="5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autoUpdateAnimBg="0"/>
      <p:bldP spid="43012" grpId="0" autoUpdateAnimBg="0"/>
      <p:bldP spid="43013" grpId="0" autoUpdateAnimBg="0"/>
      <p:bldP spid="43014" grpId="0" autoUpdateAnimBg="0"/>
      <p:bldP spid="126986" grpId="0" autoUpdateAnimBg="0"/>
      <p:bldP spid="24" grpId="0"/>
      <p:bldP spid="2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72" name="Rectangle 40"/>
          <p:cNvSpPr>
            <a:spLocks noChangeArrowheads="1"/>
          </p:cNvSpPr>
          <p:nvPr/>
        </p:nvSpPr>
        <p:spPr bwMode="auto">
          <a:xfrm>
            <a:off x="390525" y="1997075"/>
            <a:ext cx="8448675" cy="923925"/>
          </a:xfrm>
          <a:prstGeom prst="rect">
            <a:avLst/>
          </a:prstGeom>
          <a:noFill/>
          <a:ln w="9525">
            <a:noFill/>
            <a:miter lim="800000"/>
            <a:headEnd/>
            <a:tailEnd/>
          </a:ln>
        </p:spPr>
        <p:txBody>
          <a:bodyPr>
            <a:spAutoFit/>
          </a:bodyPr>
          <a:lstStyle/>
          <a:p>
            <a:pPr algn="just"/>
            <a:r>
              <a:rPr lang="en-US" altLang="zh-CN" sz="1800" b="1">
                <a:latin typeface="华文中宋"/>
                <a:ea typeface="华文中宋"/>
                <a:cs typeface="华文中宋"/>
              </a:rPr>
              <a:t>       </a:t>
            </a:r>
            <a:r>
              <a:rPr lang="zh-CN" altLang="en-US" sz="1800" b="1">
                <a:latin typeface="华文中宋"/>
                <a:ea typeface="华文中宋"/>
                <a:cs typeface="华文中宋"/>
              </a:rPr>
              <a:t>对任一介质体积元来说，不断从波源方向的介质中吸收能量，又不断地向前面的介质传递能量。这说明波动是传递能量的一种方式，且能量传播的速度就是波速。</a:t>
            </a:r>
          </a:p>
        </p:txBody>
      </p:sp>
      <p:graphicFrame>
        <p:nvGraphicFramePr>
          <p:cNvPr id="125995" name="Object 27"/>
          <p:cNvGraphicFramePr>
            <a:graphicFrameLocks noChangeAspect="1"/>
          </p:cNvGraphicFramePr>
          <p:nvPr/>
        </p:nvGraphicFramePr>
        <p:xfrm>
          <a:off x="2771775" y="1347788"/>
          <a:ext cx="4076700" cy="579437"/>
        </p:xfrm>
        <a:graphic>
          <a:graphicData uri="http://schemas.openxmlformats.org/presentationml/2006/ole">
            <p:oleObj spid="_x0000_s40987" name="Equation" r:id="rId4" imgW="2171700" imgH="393700" progId="Equation.DSMT4">
              <p:embed/>
            </p:oleObj>
          </a:graphicData>
        </a:graphic>
      </p:graphicFrame>
      <p:sp>
        <p:nvSpPr>
          <p:cNvPr id="44074" name="Rectangle 42"/>
          <p:cNvSpPr>
            <a:spLocks noChangeArrowheads="1"/>
          </p:cNvSpPr>
          <p:nvPr/>
        </p:nvSpPr>
        <p:spPr bwMode="auto">
          <a:xfrm>
            <a:off x="390525" y="944563"/>
            <a:ext cx="7566025" cy="369887"/>
          </a:xfrm>
          <a:prstGeom prst="rect">
            <a:avLst/>
          </a:prstGeom>
          <a:noFill/>
          <a:ln w="9525">
            <a:noFill/>
            <a:miter lim="800000"/>
            <a:headEnd/>
            <a:tailEnd/>
          </a:ln>
        </p:spPr>
        <p:txBody>
          <a:bodyPr>
            <a:spAutoFit/>
          </a:bodyPr>
          <a:lstStyle/>
          <a:p>
            <a:r>
              <a:rPr lang="zh-CN" altLang="en-US" sz="1800" b="1">
                <a:solidFill>
                  <a:srgbClr val="0000FF"/>
                </a:solidFill>
                <a:latin typeface="华文中宋"/>
                <a:ea typeface="华文中宋"/>
                <a:cs typeface="华文中宋"/>
              </a:rPr>
              <a:t>（</a:t>
            </a:r>
            <a:r>
              <a:rPr lang="en-US" altLang="zh-CN" sz="1800" b="1">
                <a:solidFill>
                  <a:srgbClr val="0000FF"/>
                </a:solidFill>
                <a:latin typeface="华文中宋"/>
                <a:ea typeface="华文中宋"/>
                <a:cs typeface="华文中宋"/>
              </a:rPr>
              <a:t>2</a:t>
            </a:r>
            <a:r>
              <a:rPr lang="zh-CN" altLang="en-US" sz="1800" b="1">
                <a:solidFill>
                  <a:srgbClr val="0000FF"/>
                </a:solidFill>
                <a:latin typeface="华文中宋"/>
                <a:ea typeface="华文中宋"/>
                <a:cs typeface="华文中宋"/>
              </a:rPr>
              <a:t>）体元</a:t>
            </a:r>
            <a:r>
              <a:rPr lang="en-US" altLang="zh-CN" sz="1800" b="1">
                <a:solidFill>
                  <a:srgbClr val="0000FF"/>
                </a:solidFill>
                <a:ea typeface="华文中宋"/>
                <a:cs typeface="Times New Roman" pitchFamily="18" charset="0"/>
              </a:rPr>
              <a:t>d</a:t>
            </a:r>
            <a:r>
              <a:rPr lang="en-US" altLang="zh-CN" sz="1800" b="1" i="1">
                <a:solidFill>
                  <a:srgbClr val="0000FF"/>
                </a:solidFill>
                <a:ea typeface="华文中宋"/>
                <a:cs typeface="Times New Roman" pitchFamily="18" charset="0"/>
              </a:rPr>
              <a:t>V</a:t>
            </a:r>
            <a:r>
              <a:rPr lang="zh-CN" altLang="en-US" sz="1800" b="1">
                <a:solidFill>
                  <a:srgbClr val="0000FF"/>
                </a:solidFill>
                <a:latin typeface="华文中宋"/>
                <a:ea typeface="华文中宋"/>
                <a:cs typeface="华文中宋"/>
              </a:rPr>
              <a:t>内的机械能不守恒，且作周期性变化</a:t>
            </a:r>
          </a:p>
        </p:txBody>
      </p:sp>
      <p:sp>
        <p:nvSpPr>
          <p:cNvPr id="125954" name="Rectangle 2"/>
          <p:cNvSpPr>
            <a:spLocks noChangeArrowheads="1"/>
          </p:cNvSpPr>
          <p:nvPr/>
        </p:nvSpPr>
        <p:spPr bwMode="auto">
          <a:xfrm>
            <a:off x="404813" y="3148013"/>
            <a:ext cx="4527550" cy="369887"/>
          </a:xfrm>
          <a:prstGeom prst="rect">
            <a:avLst/>
          </a:prstGeom>
          <a:noFill/>
          <a:ln w="9525">
            <a:noFill/>
            <a:miter lim="800000"/>
            <a:headEnd/>
            <a:tailEnd/>
          </a:ln>
        </p:spPr>
        <p:txBody>
          <a:bodyPr>
            <a:spAutoFit/>
          </a:bodyPr>
          <a:lstStyle/>
          <a:p>
            <a:r>
              <a:rPr lang="zh-CN" altLang="en-US" sz="1800" b="1">
                <a:solidFill>
                  <a:srgbClr val="0000FF"/>
                </a:solidFill>
                <a:latin typeface="华文中宋"/>
                <a:ea typeface="华文中宋"/>
                <a:cs typeface="华文中宋"/>
              </a:rPr>
              <a:t>（</a:t>
            </a:r>
            <a:r>
              <a:rPr lang="en-US" altLang="zh-CN" sz="1800" b="1">
                <a:solidFill>
                  <a:srgbClr val="0000FF"/>
                </a:solidFill>
                <a:latin typeface="华文中宋"/>
                <a:ea typeface="华文中宋"/>
                <a:cs typeface="华文中宋"/>
              </a:rPr>
              <a:t>3</a:t>
            </a:r>
            <a:r>
              <a:rPr lang="zh-CN" altLang="en-US" sz="1800" b="1">
                <a:solidFill>
                  <a:srgbClr val="0000FF"/>
                </a:solidFill>
                <a:latin typeface="华文中宋"/>
                <a:ea typeface="华文中宋"/>
                <a:cs typeface="华文中宋"/>
              </a:rPr>
              <a:t>）波动能量与谐振子系统能量的比较</a:t>
            </a:r>
          </a:p>
        </p:txBody>
      </p:sp>
      <p:graphicFrame>
        <p:nvGraphicFramePr>
          <p:cNvPr id="125993" name="Group 41"/>
          <p:cNvGraphicFramePr>
            <a:graphicFrameLocks noGrp="1"/>
          </p:cNvGraphicFramePr>
          <p:nvPr/>
        </p:nvGraphicFramePr>
        <p:xfrm>
          <a:off x="1547813" y="3619500"/>
          <a:ext cx="5567362" cy="896938"/>
        </p:xfrm>
        <a:graphic>
          <a:graphicData uri="http://schemas.openxmlformats.org/drawingml/2006/table">
            <a:tbl>
              <a:tblPr/>
              <a:tblGrid>
                <a:gridCol w="1856245"/>
                <a:gridCol w="1854871"/>
                <a:gridCol w="1856246"/>
              </a:tblGrid>
              <a:tr h="298979">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endParaRPr kumimoji="1" lang="zh-CN" altLang="zh-CN" sz="1500" b="1" i="0" u="none" strike="noStrike" cap="none" normalizeH="0" baseline="0" dirty="0" smtClean="0">
                        <a:ln>
                          <a:noFill/>
                        </a:ln>
                        <a:solidFill>
                          <a:schemeClr val="tx1"/>
                        </a:solidFill>
                        <a:effectLst/>
                        <a:latin typeface="华文中宋" pitchFamily="2" charset="-122"/>
                        <a:ea typeface="华文中宋" pitchFamily="2" charset="-122"/>
                      </a:endParaRPr>
                    </a:p>
                  </a:txBody>
                  <a:tcPr marL="89994" marR="89994" marT="35129" marB="3512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华文中宋" pitchFamily="2" charset="-122"/>
                          <a:ea typeface="华文中宋" pitchFamily="2" charset="-122"/>
                        </a:rPr>
                        <a:t>总能量</a:t>
                      </a:r>
                    </a:p>
                  </a:txBody>
                  <a:tcPr marL="89994" marR="89994" marT="35129" marB="3512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华文中宋" pitchFamily="2" charset="-122"/>
                          <a:ea typeface="华文中宋" pitchFamily="2" charset="-122"/>
                        </a:rPr>
                        <a:t>动能与势能</a:t>
                      </a:r>
                    </a:p>
                  </a:txBody>
                  <a:tcPr marL="89994" marR="89994" marT="35129" marB="3512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8979">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1" lang="zh-CN" altLang="en-US" sz="1500" b="1" i="0" u="none" strike="noStrike" cap="none" normalizeH="0" baseline="0" smtClean="0">
                          <a:ln>
                            <a:noFill/>
                          </a:ln>
                          <a:solidFill>
                            <a:schemeClr val="tx1"/>
                          </a:solidFill>
                          <a:effectLst/>
                          <a:latin typeface="华文中宋" pitchFamily="2" charset="-122"/>
                          <a:ea typeface="华文中宋" pitchFamily="2" charset="-122"/>
                        </a:rPr>
                        <a:t>振动</a:t>
                      </a:r>
                    </a:p>
                  </a:txBody>
                  <a:tcPr marL="89994" marR="89994" marT="35129" marB="3512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华文中宋" pitchFamily="2" charset="-122"/>
                          <a:ea typeface="华文中宋" pitchFamily="2" charset="-122"/>
                        </a:rPr>
                        <a:t>守恒</a:t>
                      </a:r>
                    </a:p>
                  </a:txBody>
                  <a:tcPr marL="89994" marR="89994" marT="35129" marB="3512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华文中宋" pitchFamily="2" charset="-122"/>
                          <a:ea typeface="华文中宋" pitchFamily="2" charset="-122"/>
                        </a:rPr>
                        <a:t>反相</a:t>
                      </a:r>
                    </a:p>
                  </a:txBody>
                  <a:tcPr marL="89994" marR="89994" marT="35129" marB="3512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8979">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1" lang="zh-CN" altLang="en-US" sz="1500" b="1" i="0" u="none" strike="noStrike" cap="none" normalizeH="0" baseline="0" smtClean="0">
                          <a:ln>
                            <a:noFill/>
                          </a:ln>
                          <a:solidFill>
                            <a:schemeClr val="tx1"/>
                          </a:solidFill>
                          <a:effectLst/>
                          <a:latin typeface="华文中宋" pitchFamily="2" charset="-122"/>
                          <a:ea typeface="华文中宋" pitchFamily="2" charset="-122"/>
                        </a:rPr>
                        <a:t>波动</a:t>
                      </a:r>
                    </a:p>
                  </a:txBody>
                  <a:tcPr marL="89994" marR="89994" marT="35129" marB="3512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1" lang="zh-CN" altLang="en-US" sz="1500" b="1" i="0" u="none" strike="noStrike" cap="none" normalizeH="0" baseline="0" smtClean="0">
                          <a:ln>
                            <a:noFill/>
                          </a:ln>
                          <a:solidFill>
                            <a:schemeClr val="tx1"/>
                          </a:solidFill>
                          <a:effectLst/>
                          <a:latin typeface="华文中宋" pitchFamily="2" charset="-122"/>
                          <a:ea typeface="华文中宋" pitchFamily="2" charset="-122"/>
                        </a:rPr>
                        <a:t>不守恒</a:t>
                      </a:r>
                    </a:p>
                  </a:txBody>
                  <a:tcPr marL="89994" marR="89994" marT="35129" marB="35129"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华文中宋" pitchFamily="2" charset="-122"/>
                          <a:ea typeface="华文中宋" pitchFamily="2" charset="-122"/>
                        </a:rPr>
                        <a:t>同步</a:t>
                      </a:r>
                    </a:p>
                  </a:txBody>
                  <a:tcPr marL="89994" marR="89994" marT="35129" marB="3512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4074"/>
                                        </p:tgtEl>
                                        <p:attrNameLst>
                                          <p:attrName>style.visibility</p:attrName>
                                        </p:attrNameLst>
                                      </p:cBhvr>
                                      <p:to>
                                        <p:strVal val="visible"/>
                                      </p:to>
                                    </p:set>
                                    <p:anim calcmode="lin" valueType="num">
                                      <p:cBhvr>
                                        <p:cTn id="7" dur="500" fill="hold"/>
                                        <p:tgtEl>
                                          <p:spTgt spid="44074"/>
                                        </p:tgtEl>
                                        <p:attrNameLst>
                                          <p:attrName>ppt_w</p:attrName>
                                        </p:attrNameLst>
                                      </p:cBhvr>
                                      <p:tavLst>
                                        <p:tav tm="0">
                                          <p:val>
                                            <p:fltVal val="0"/>
                                          </p:val>
                                        </p:tav>
                                        <p:tav tm="100000">
                                          <p:val>
                                            <p:strVal val="#ppt_w"/>
                                          </p:val>
                                        </p:tav>
                                      </p:tavLst>
                                    </p:anim>
                                    <p:anim calcmode="lin" valueType="num">
                                      <p:cBhvr>
                                        <p:cTn id="8" dur="500" fill="hold"/>
                                        <p:tgtEl>
                                          <p:spTgt spid="44074"/>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125995"/>
                                        </p:tgtEl>
                                        <p:attrNameLst>
                                          <p:attrName>style.visibility</p:attrName>
                                        </p:attrNameLst>
                                      </p:cBhvr>
                                      <p:to>
                                        <p:strVal val="visible"/>
                                      </p:to>
                                    </p:set>
                                    <p:anim calcmode="lin" valueType="num">
                                      <p:cBhvr>
                                        <p:cTn id="13" dur="500" fill="hold"/>
                                        <p:tgtEl>
                                          <p:spTgt spid="125995"/>
                                        </p:tgtEl>
                                        <p:attrNameLst>
                                          <p:attrName>ppt_w</p:attrName>
                                        </p:attrNameLst>
                                      </p:cBhvr>
                                      <p:tavLst>
                                        <p:tav tm="0">
                                          <p:val>
                                            <p:fltVal val="0"/>
                                          </p:val>
                                        </p:tav>
                                        <p:tav tm="100000">
                                          <p:val>
                                            <p:strVal val="#ppt_w"/>
                                          </p:val>
                                        </p:tav>
                                      </p:tavLst>
                                    </p:anim>
                                    <p:anim calcmode="lin" valueType="num">
                                      <p:cBhvr>
                                        <p:cTn id="14" dur="500" fill="hold"/>
                                        <p:tgtEl>
                                          <p:spTgt spid="12599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1"/>
                                            </p:cond>
                                          </p:stCondLst>
                                          <p:endCondLst>
                                            <p:cond evt="onStopAudio" delay="0">
                                              <p:tgtEl>
                                                <p:sldTgt/>
                                              </p:tgtEl>
                                            </p:cond>
                                          </p:endCondLst>
                                        </p:cTn>
                                        <p:tgtEl>
                                          <p:sndTgt r:embed="rId3" name="TYP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44072"/>
                                        </p:tgtEl>
                                        <p:attrNameLst>
                                          <p:attrName>style.visibility</p:attrName>
                                        </p:attrNameLst>
                                      </p:cBhvr>
                                      <p:to>
                                        <p:strVal val="visible"/>
                                      </p:to>
                                    </p:set>
                                    <p:anim calcmode="lin" valueType="num">
                                      <p:cBhvr>
                                        <p:cTn id="19" dur="500" fill="hold"/>
                                        <p:tgtEl>
                                          <p:spTgt spid="44072"/>
                                        </p:tgtEl>
                                        <p:attrNameLst>
                                          <p:attrName>ppt_w</p:attrName>
                                        </p:attrNameLst>
                                      </p:cBhvr>
                                      <p:tavLst>
                                        <p:tav tm="0">
                                          <p:val>
                                            <p:fltVal val="0"/>
                                          </p:val>
                                        </p:tav>
                                        <p:tav tm="100000">
                                          <p:val>
                                            <p:strVal val="#ppt_w"/>
                                          </p:val>
                                        </p:tav>
                                      </p:tavLst>
                                    </p:anim>
                                    <p:anim calcmode="lin" valueType="num">
                                      <p:cBhvr>
                                        <p:cTn id="20" dur="500" fill="hold"/>
                                        <p:tgtEl>
                                          <p:spTgt spid="4407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7"/>
                                            </p:cond>
                                          </p:stCondLst>
                                          <p:endCondLst>
                                            <p:cond evt="onStopAudio" delay="0">
                                              <p:tgtEl>
                                                <p:sldTgt/>
                                              </p:tgtEl>
                                            </p:cond>
                                          </p:endCondLst>
                                        </p:cTn>
                                        <p:tgtEl>
                                          <p:sndTgt r:embed="rId3" name="TYPE.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125954"/>
                                        </p:tgtEl>
                                        <p:attrNameLst>
                                          <p:attrName>style.visibility</p:attrName>
                                        </p:attrNameLst>
                                      </p:cBhvr>
                                      <p:to>
                                        <p:strVal val="visible"/>
                                      </p:to>
                                    </p:set>
                                    <p:anim calcmode="lin" valueType="num">
                                      <p:cBhvr>
                                        <p:cTn id="25" dur="500" fill="hold"/>
                                        <p:tgtEl>
                                          <p:spTgt spid="125954"/>
                                        </p:tgtEl>
                                        <p:attrNameLst>
                                          <p:attrName>ppt_w</p:attrName>
                                        </p:attrNameLst>
                                      </p:cBhvr>
                                      <p:tavLst>
                                        <p:tav tm="0">
                                          <p:val>
                                            <p:fltVal val="0"/>
                                          </p:val>
                                        </p:tav>
                                        <p:tav tm="100000">
                                          <p:val>
                                            <p:strVal val="#ppt_w"/>
                                          </p:val>
                                        </p:tav>
                                      </p:tavLst>
                                    </p:anim>
                                    <p:anim calcmode="lin" valueType="num">
                                      <p:cBhvr>
                                        <p:cTn id="26" dur="500" fill="hold"/>
                                        <p:tgtEl>
                                          <p:spTgt spid="125954"/>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125993"/>
                                        </p:tgtEl>
                                        <p:attrNameLst>
                                          <p:attrName>style.visibility</p:attrName>
                                        </p:attrNameLst>
                                      </p:cBhvr>
                                      <p:to>
                                        <p:strVal val="visible"/>
                                      </p:to>
                                    </p:set>
                                    <p:animEffect transition="in" filter="blinds(horizontal)">
                                      <p:cBhvr>
                                        <p:cTn id="31" dur="500"/>
                                        <p:tgtEl>
                                          <p:spTgt spid="1259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72" grpId="0" autoUpdateAnimBg="0"/>
      <p:bldP spid="44074" grpId="0" autoUpdateAnimBg="0"/>
      <p:bldP spid="125954"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Text Box 1027"/>
          <p:cNvSpPr txBox="1">
            <a:spLocks noChangeArrowheads="1"/>
          </p:cNvSpPr>
          <p:nvPr/>
        </p:nvSpPr>
        <p:spPr bwMode="auto">
          <a:xfrm>
            <a:off x="258763" y="2360613"/>
            <a:ext cx="5006975" cy="369887"/>
          </a:xfrm>
          <a:prstGeom prst="rect">
            <a:avLst/>
          </a:prstGeom>
          <a:noFill/>
          <a:ln w="9525">
            <a:noFill/>
            <a:miter lim="800000"/>
            <a:headEnd/>
            <a:tailEnd/>
          </a:ln>
        </p:spPr>
        <p:txBody>
          <a:bodyPr>
            <a:spAutoFit/>
          </a:bodyPr>
          <a:lstStyle/>
          <a:p>
            <a:r>
              <a:rPr lang="en-US" altLang="zh-CN" sz="1800" b="1">
                <a:solidFill>
                  <a:srgbClr val="0000FF"/>
                </a:solidFill>
                <a:latin typeface="华文中宋"/>
                <a:ea typeface="华文中宋"/>
                <a:cs typeface="华文中宋"/>
              </a:rPr>
              <a:t>2</a:t>
            </a:r>
            <a:r>
              <a:rPr lang="zh-CN" altLang="en-US" sz="1800" b="1">
                <a:solidFill>
                  <a:srgbClr val="0000FF"/>
                </a:solidFill>
                <a:latin typeface="华文中宋"/>
                <a:ea typeface="华文中宋"/>
                <a:cs typeface="华文中宋"/>
              </a:rPr>
              <a:t>、一个周期内的平均能量密度</a:t>
            </a:r>
            <a:endParaRPr lang="zh-CN" altLang="en-US" sz="1800">
              <a:solidFill>
                <a:srgbClr val="0000FF"/>
              </a:solidFill>
              <a:latin typeface="华文中宋"/>
              <a:ea typeface="华文中宋"/>
              <a:cs typeface="华文中宋"/>
            </a:endParaRPr>
          </a:p>
        </p:txBody>
      </p:sp>
      <p:graphicFrame>
        <p:nvGraphicFramePr>
          <p:cNvPr id="45060" name="Object 32"/>
          <p:cNvGraphicFramePr>
            <a:graphicFrameLocks noChangeAspect="1"/>
          </p:cNvGraphicFramePr>
          <p:nvPr/>
        </p:nvGraphicFramePr>
        <p:xfrm>
          <a:off x="1331913" y="2932113"/>
          <a:ext cx="5360987" cy="525462"/>
        </p:xfrm>
        <a:graphic>
          <a:graphicData uri="http://schemas.openxmlformats.org/presentationml/2006/ole">
            <p:oleObj spid="_x0000_s42016" name="Equation" r:id="rId3" imgW="2933700" imgH="393700" progId="Equation.DSMT4">
              <p:embed/>
            </p:oleObj>
          </a:graphicData>
        </a:graphic>
      </p:graphicFrame>
      <p:sp>
        <p:nvSpPr>
          <p:cNvPr id="45061" name="Text Box 1029"/>
          <p:cNvSpPr txBox="1">
            <a:spLocks noChangeArrowheads="1"/>
          </p:cNvSpPr>
          <p:nvPr/>
        </p:nvSpPr>
        <p:spPr bwMode="auto">
          <a:xfrm>
            <a:off x="754063" y="1266825"/>
            <a:ext cx="2017712" cy="368300"/>
          </a:xfrm>
          <a:prstGeom prst="rect">
            <a:avLst/>
          </a:prstGeom>
          <a:noFill/>
          <a:ln w="9525">
            <a:noFill/>
            <a:miter lim="800000"/>
            <a:headEnd/>
            <a:tailEnd/>
          </a:ln>
        </p:spPr>
        <p:txBody>
          <a:bodyPr>
            <a:spAutoFit/>
          </a:bodyPr>
          <a:lstStyle/>
          <a:p>
            <a:r>
              <a:rPr lang="en-US" altLang="zh-CN" sz="1800" b="1">
                <a:solidFill>
                  <a:srgbClr val="0000FF"/>
                </a:solidFill>
                <a:latin typeface="华文中宋"/>
                <a:ea typeface="华文中宋"/>
                <a:cs typeface="华文中宋"/>
              </a:rPr>
              <a:t>1</a:t>
            </a:r>
            <a:r>
              <a:rPr lang="zh-CN" altLang="en-US" sz="1800" b="1">
                <a:solidFill>
                  <a:srgbClr val="0000FF"/>
                </a:solidFill>
                <a:latin typeface="华文中宋"/>
                <a:ea typeface="华文中宋"/>
                <a:cs typeface="华文中宋"/>
              </a:rPr>
              <a:t>、能量密度               </a:t>
            </a:r>
          </a:p>
        </p:txBody>
      </p:sp>
      <p:graphicFrame>
        <p:nvGraphicFramePr>
          <p:cNvPr id="45062" name="Object 33"/>
          <p:cNvGraphicFramePr>
            <a:graphicFrameLocks noChangeAspect="1"/>
          </p:cNvGraphicFramePr>
          <p:nvPr/>
        </p:nvGraphicFramePr>
        <p:xfrm>
          <a:off x="3252788" y="1963738"/>
          <a:ext cx="4414837" cy="679450"/>
        </p:xfrm>
        <a:graphic>
          <a:graphicData uri="http://schemas.openxmlformats.org/presentationml/2006/ole">
            <p:oleObj spid="_x0000_s42017" name="Equation" r:id="rId4" imgW="2197100" imgH="393700" progId="Equation.DSMT4">
              <p:embed/>
            </p:oleObj>
          </a:graphicData>
        </a:graphic>
      </p:graphicFrame>
      <p:graphicFrame>
        <p:nvGraphicFramePr>
          <p:cNvPr id="45064" name="Object 34"/>
          <p:cNvGraphicFramePr>
            <a:graphicFrameLocks noChangeAspect="1"/>
          </p:cNvGraphicFramePr>
          <p:nvPr/>
        </p:nvGraphicFramePr>
        <p:xfrm>
          <a:off x="5795963" y="1335088"/>
          <a:ext cx="1098550" cy="508000"/>
        </p:xfrm>
        <a:graphic>
          <a:graphicData uri="http://schemas.openxmlformats.org/presentationml/2006/ole">
            <p:oleObj spid="_x0000_s42018" name="Equation" r:id="rId5" imgW="507780" imgH="393529" progId="Equation.DSMT4">
              <p:embed/>
            </p:oleObj>
          </a:graphicData>
        </a:graphic>
      </p:graphicFrame>
      <p:sp>
        <p:nvSpPr>
          <p:cNvPr id="45065" name="Rectangle 1033"/>
          <p:cNvSpPr>
            <a:spLocks noChangeArrowheads="1"/>
          </p:cNvSpPr>
          <p:nvPr/>
        </p:nvSpPr>
        <p:spPr bwMode="auto">
          <a:xfrm>
            <a:off x="3203575" y="1389063"/>
            <a:ext cx="2789238" cy="369887"/>
          </a:xfrm>
          <a:prstGeom prst="rect">
            <a:avLst/>
          </a:prstGeom>
          <a:noFill/>
          <a:ln w="9525">
            <a:noFill/>
            <a:miter lim="800000"/>
            <a:headEnd/>
            <a:tailEnd/>
          </a:ln>
        </p:spPr>
        <p:txBody>
          <a:bodyPr>
            <a:spAutoFit/>
          </a:bodyPr>
          <a:lstStyle/>
          <a:p>
            <a:pPr algn="ctr"/>
            <a:r>
              <a:rPr lang="zh-CN" altLang="en-US" sz="1800" b="1">
                <a:latin typeface="华文中宋"/>
                <a:ea typeface="华文中宋"/>
                <a:cs typeface="华文中宋"/>
              </a:rPr>
              <a:t>单位体积内的能量 </a:t>
            </a:r>
          </a:p>
        </p:txBody>
      </p:sp>
      <p:grpSp>
        <p:nvGrpSpPr>
          <p:cNvPr id="2" name="Group 1034"/>
          <p:cNvGrpSpPr>
            <a:grpSpLocks/>
          </p:cNvGrpSpPr>
          <p:nvPr/>
        </p:nvGrpSpPr>
        <p:grpSpPr bwMode="auto">
          <a:xfrm>
            <a:off x="1692275" y="4137025"/>
            <a:ext cx="3255963" cy="439738"/>
            <a:chOff x="332" y="3586"/>
            <a:chExt cx="2051" cy="369"/>
          </a:xfrm>
        </p:grpSpPr>
        <p:sp>
          <p:nvSpPr>
            <p:cNvPr id="42027" name="Text Box 1035"/>
            <p:cNvSpPr txBox="1">
              <a:spLocks noChangeArrowheads="1"/>
            </p:cNvSpPr>
            <p:nvPr/>
          </p:nvSpPr>
          <p:spPr bwMode="auto">
            <a:xfrm>
              <a:off x="332" y="3645"/>
              <a:ext cx="888" cy="310"/>
            </a:xfrm>
            <a:prstGeom prst="rect">
              <a:avLst/>
            </a:prstGeom>
            <a:noFill/>
            <a:ln w="9525">
              <a:noFill/>
              <a:miter lim="800000"/>
              <a:headEnd/>
              <a:tailEnd/>
            </a:ln>
          </p:spPr>
          <p:txBody>
            <a:bodyPr>
              <a:spAutoFit/>
            </a:bodyPr>
            <a:lstStyle/>
            <a:p>
              <a:pPr algn="ctr"/>
              <a:r>
                <a:rPr lang="zh-CN" altLang="en-US" sz="1800" b="1">
                  <a:latin typeface="华文中宋"/>
                  <a:ea typeface="华文中宋"/>
                  <a:cs typeface="华文中宋"/>
                </a:rPr>
                <a:t>这说明：</a:t>
              </a:r>
            </a:p>
          </p:txBody>
        </p:sp>
        <p:graphicFrame>
          <p:nvGraphicFramePr>
            <p:cNvPr id="42019" name="Object 35"/>
            <p:cNvGraphicFramePr>
              <a:graphicFrameLocks noChangeAspect="1"/>
            </p:cNvGraphicFramePr>
            <p:nvPr/>
          </p:nvGraphicFramePr>
          <p:xfrm>
            <a:off x="1315" y="3586"/>
            <a:ext cx="1068" cy="348"/>
          </p:xfrm>
          <a:graphic>
            <a:graphicData uri="http://schemas.openxmlformats.org/presentationml/2006/ole">
              <p:oleObj spid="_x0000_s42019" name="公式" r:id="rId6" imgW="583947" imgH="190417" progId="Equation.3">
                <p:embed/>
              </p:oleObj>
            </a:graphicData>
          </a:graphic>
        </p:graphicFrame>
      </p:grpSp>
      <p:graphicFrame>
        <p:nvGraphicFramePr>
          <p:cNvPr id="45069" name="Object 36"/>
          <p:cNvGraphicFramePr>
            <a:graphicFrameLocks noChangeAspect="1"/>
          </p:cNvGraphicFramePr>
          <p:nvPr/>
        </p:nvGraphicFramePr>
        <p:xfrm>
          <a:off x="5940425" y="3436938"/>
          <a:ext cx="2346325" cy="531812"/>
        </p:xfrm>
        <a:graphic>
          <a:graphicData uri="http://schemas.openxmlformats.org/presentationml/2006/ole">
            <p:oleObj spid="_x0000_s42020" name="公式" r:id="rId7" imgW="965200" imgH="292100" progId="Equation.3">
              <p:embed/>
            </p:oleObj>
          </a:graphicData>
        </a:graphic>
      </p:graphicFrame>
      <p:graphicFrame>
        <p:nvGraphicFramePr>
          <p:cNvPr id="45070" name="Object 37"/>
          <p:cNvGraphicFramePr>
            <a:graphicFrameLocks noChangeAspect="1"/>
          </p:cNvGraphicFramePr>
          <p:nvPr/>
        </p:nvGraphicFramePr>
        <p:xfrm>
          <a:off x="2811463" y="3436938"/>
          <a:ext cx="1473200" cy="601662"/>
        </p:xfrm>
        <a:graphic>
          <a:graphicData uri="http://schemas.openxmlformats.org/presentationml/2006/ole">
            <p:oleObj spid="_x0000_s42021" name="公式" r:id="rId8" imgW="533169" imgH="291973" progId="Equation.3">
              <p:embed/>
            </p:oleObj>
          </a:graphicData>
        </a:graphic>
      </p:graphicFrame>
      <p:sp>
        <p:nvSpPr>
          <p:cNvPr id="14" name="Text Box 2"/>
          <p:cNvSpPr>
            <a:spLocks noChangeArrowheads="1"/>
          </p:cNvSpPr>
          <p:nvPr/>
        </p:nvSpPr>
        <p:spPr bwMode="auto">
          <a:xfrm>
            <a:off x="828675" y="874713"/>
            <a:ext cx="1871663" cy="401637"/>
          </a:xfrm>
          <a:prstGeom prst="homePlate">
            <a:avLst>
              <a:gd name="adj" fmla="val 49643"/>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二、能量密度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5061"/>
                                        </p:tgtEl>
                                        <p:attrNameLst>
                                          <p:attrName>style.visibility</p:attrName>
                                        </p:attrNameLst>
                                      </p:cBhvr>
                                      <p:to>
                                        <p:strVal val="visible"/>
                                      </p:to>
                                    </p:set>
                                    <p:animEffect transition="in" filter="box(in)">
                                      <p:cBhvr>
                                        <p:cTn id="12" dur="500"/>
                                        <p:tgtEl>
                                          <p:spTgt spid="450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5064"/>
                                        </p:tgtEl>
                                        <p:attrNameLst>
                                          <p:attrName>style.visibility</p:attrName>
                                        </p:attrNameLst>
                                      </p:cBhvr>
                                      <p:to>
                                        <p:strVal val="visible"/>
                                      </p:to>
                                    </p:set>
                                    <p:animEffect transition="in" filter="blinds(horizontal)">
                                      <p:cBhvr>
                                        <p:cTn id="17" dur="500"/>
                                        <p:tgtEl>
                                          <p:spTgt spid="45064"/>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45065"/>
                                        </p:tgtEl>
                                        <p:attrNameLst>
                                          <p:attrName>style.visibility</p:attrName>
                                        </p:attrNameLst>
                                      </p:cBhvr>
                                      <p:to>
                                        <p:strVal val="visible"/>
                                      </p:to>
                                    </p:set>
                                    <p:animEffect transition="in" filter="blinds(horizontal)">
                                      <p:cBhvr>
                                        <p:cTn id="20" dur="500"/>
                                        <p:tgtEl>
                                          <p:spTgt spid="4506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45062"/>
                                        </p:tgtEl>
                                        <p:attrNameLst>
                                          <p:attrName>style.visibility</p:attrName>
                                        </p:attrNameLst>
                                      </p:cBhvr>
                                      <p:to>
                                        <p:strVal val="visible"/>
                                      </p:to>
                                    </p:set>
                                    <p:animEffect transition="in" filter="box(in)">
                                      <p:cBhvr>
                                        <p:cTn id="25" dur="500"/>
                                        <p:tgtEl>
                                          <p:spTgt spid="4506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45059"/>
                                        </p:tgtEl>
                                        <p:attrNameLst>
                                          <p:attrName>style.visibility</p:attrName>
                                        </p:attrNameLst>
                                      </p:cBhvr>
                                      <p:to>
                                        <p:strVal val="visible"/>
                                      </p:to>
                                    </p:set>
                                    <p:animEffect transition="in" filter="box(in)">
                                      <p:cBhvr>
                                        <p:cTn id="30" dur="500"/>
                                        <p:tgtEl>
                                          <p:spTgt spid="4505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nodeType="clickEffect">
                                  <p:stCondLst>
                                    <p:cond delay="0"/>
                                  </p:stCondLst>
                                  <p:childTnLst>
                                    <p:set>
                                      <p:cBhvr>
                                        <p:cTn id="34" dur="1" fill="hold">
                                          <p:stCondLst>
                                            <p:cond delay="0"/>
                                          </p:stCondLst>
                                        </p:cTn>
                                        <p:tgtEl>
                                          <p:spTgt spid="45060"/>
                                        </p:tgtEl>
                                        <p:attrNameLst>
                                          <p:attrName>style.visibility</p:attrName>
                                        </p:attrNameLst>
                                      </p:cBhvr>
                                      <p:to>
                                        <p:strVal val="visible"/>
                                      </p:to>
                                    </p:set>
                                    <p:animEffect transition="in" filter="box(in)">
                                      <p:cBhvr>
                                        <p:cTn id="35" dur="500"/>
                                        <p:tgtEl>
                                          <p:spTgt spid="4506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nodeType="clickEffect">
                                  <p:stCondLst>
                                    <p:cond delay="0"/>
                                  </p:stCondLst>
                                  <p:childTnLst>
                                    <p:set>
                                      <p:cBhvr>
                                        <p:cTn id="39" dur="1" fill="hold">
                                          <p:stCondLst>
                                            <p:cond delay="0"/>
                                          </p:stCondLst>
                                        </p:cTn>
                                        <p:tgtEl>
                                          <p:spTgt spid="45069"/>
                                        </p:tgtEl>
                                        <p:attrNameLst>
                                          <p:attrName>style.visibility</p:attrName>
                                        </p:attrNameLst>
                                      </p:cBhvr>
                                      <p:to>
                                        <p:strVal val="visible"/>
                                      </p:to>
                                    </p:set>
                                    <p:animEffect transition="in" filter="box(in)">
                                      <p:cBhvr>
                                        <p:cTn id="40" dur="500"/>
                                        <p:tgtEl>
                                          <p:spTgt spid="4506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16" fill="hold" nodeType="clickEffect">
                                  <p:stCondLst>
                                    <p:cond delay="0"/>
                                  </p:stCondLst>
                                  <p:childTnLst>
                                    <p:set>
                                      <p:cBhvr>
                                        <p:cTn id="44" dur="1" fill="hold">
                                          <p:stCondLst>
                                            <p:cond delay="0"/>
                                          </p:stCondLst>
                                        </p:cTn>
                                        <p:tgtEl>
                                          <p:spTgt spid="45070"/>
                                        </p:tgtEl>
                                        <p:attrNameLst>
                                          <p:attrName>style.visibility</p:attrName>
                                        </p:attrNameLst>
                                      </p:cBhvr>
                                      <p:to>
                                        <p:strVal val="visible"/>
                                      </p:to>
                                    </p:set>
                                    <p:animEffect transition="in" filter="box(in)">
                                      <p:cBhvr>
                                        <p:cTn id="45" dur="500"/>
                                        <p:tgtEl>
                                          <p:spTgt spid="4507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16" fill="hold"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box(in)">
                                      <p:cBhvr>
                                        <p:cTn id="5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autoUpdateAnimBg="0"/>
      <p:bldP spid="45061" grpId="0" autoUpdateAnimBg="0"/>
      <p:bldP spid="45065" grpId="0"/>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Text Box 4"/>
          <p:cNvSpPr txBox="1">
            <a:spLocks noChangeArrowheads="1"/>
          </p:cNvSpPr>
          <p:nvPr/>
        </p:nvSpPr>
        <p:spPr bwMode="auto">
          <a:xfrm>
            <a:off x="1198563" y="3076575"/>
            <a:ext cx="1357312" cy="396875"/>
          </a:xfrm>
          <a:prstGeom prst="rect">
            <a:avLst/>
          </a:prstGeom>
          <a:noFill/>
          <a:ln w="9525">
            <a:noFill/>
            <a:miter lim="800000"/>
            <a:headEnd/>
            <a:tailEnd/>
          </a:ln>
        </p:spPr>
        <p:txBody>
          <a:bodyPr>
            <a:spAutoFit/>
          </a:bodyPr>
          <a:lstStyle/>
          <a:p>
            <a:pPr>
              <a:lnSpc>
                <a:spcPct val="110000"/>
              </a:lnSpc>
              <a:spcBef>
                <a:spcPct val="50000"/>
              </a:spcBef>
            </a:pPr>
            <a:r>
              <a:rPr lang="zh-CN" altLang="en-US" sz="1800" b="1">
                <a:latin typeface="华文中宋"/>
                <a:ea typeface="华文中宋"/>
                <a:cs typeface="华文中宋"/>
              </a:rPr>
              <a:t>故能流为：</a:t>
            </a:r>
          </a:p>
        </p:txBody>
      </p:sp>
      <p:graphicFrame>
        <p:nvGraphicFramePr>
          <p:cNvPr id="136195" name="Object 47"/>
          <p:cNvGraphicFramePr>
            <a:graphicFrameLocks noChangeAspect="1"/>
          </p:cNvGraphicFramePr>
          <p:nvPr/>
        </p:nvGraphicFramePr>
        <p:xfrm>
          <a:off x="2438400" y="3003550"/>
          <a:ext cx="2854325" cy="576263"/>
        </p:xfrm>
        <a:graphic>
          <a:graphicData uri="http://schemas.openxmlformats.org/presentationml/2006/ole">
            <p:oleObj spid="_x0000_s43055" name="Equation" r:id="rId3" imgW="1307532" imgH="393529" progId="Equation.DSMT4">
              <p:embed/>
            </p:oleObj>
          </a:graphicData>
        </a:graphic>
      </p:graphicFrame>
      <p:sp>
        <p:nvSpPr>
          <p:cNvPr id="46086" name="Text Box 6"/>
          <p:cNvSpPr txBox="1">
            <a:spLocks noChangeArrowheads="1"/>
          </p:cNvSpPr>
          <p:nvPr/>
        </p:nvSpPr>
        <p:spPr bwMode="auto">
          <a:xfrm>
            <a:off x="328613" y="1295400"/>
            <a:ext cx="1435100" cy="376238"/>
          </a:xfrm>
          <a:prstGeom prst="rect">
            <a:avLst/>
          </a:prstGeom>
          <a:noFill/>
          <a:ln w="9525">
            <a:noFill/>
            <a:miter lim="800000"/>
            <a:headEnd/>
            <a:tailEnd/>
          </a:ln>
        </p:spPr>
        <p:txBody>
          <a:bodyPr>
            <a:spAutoFit/>
          </a:bodyPr>
          <a:lstStyle/>
          <a:p>
            <a:pPr marL="457200" indent="-457200">
              <a:lnSpc>
                <a:spcPct val="110000"/>
              </a:lnSpc>
              <a:spcBef>
                <a:spcPct val="50000"/>
              </a:spcBef>
            </a:pPr>
            <a:r>
              <a:rPr lang="en-US" altLang="zh-CN" sz="1800" b="1">
                <a:solidFill>
                  <a:schemeClr val="accent2"/>
                </a:solidFill>
                <a:latin typeface="华文中宋"/>
                <a:ea typeface="华文中宋"/>
                <a:cs typeface="华文中宋"/>
              </a:rPr>
              <a:t>1</a:t>
            </a:r>
            <a:r>
              <a:rPr lang="zh-CN" altLang="en-US" sz="1800" b="1">
                <a:solidFill>
                  <a:schemeClr val="accent2"/>
                </a:solidFill>
                <a:latin typeface="华文中宋"/>
                <a:ea typeface="华文中宋"/>
                <a:cs typeface="华文中宋"/>
              </a:rPr>
              <a:t>、能流</a:t>
            </a:r>
          </a:p>
        </p:txBody>
      </p:sp>
      <p:graphicFrame>
        <p:nvGraphicFramePr>
          <p:cNvPr id="136196" name="Object 48"/>
          <p:cNvGraphicFramePr>
            <a:graphicFrameLocks noChangeAspect="1"/>
          </p:cNvGraphicFramePr>
          <p:nvPr/>
        </p:nvGraphicFramePr>
        <p:xfrm>
          <a:off x="2484438" y="2400300"/>
          <a:ext cx="1655762" cy="646113"/>
        </p:xfrm>
        <a:graphic>
          <a:graphicData uri="http://schemas.openxmlformats.org/presentationml/2006/ole">
            <p:oleObj spid="_x0000_s43056" name="公式" r:id="rId4" imgW="558558" imgH="291973" progId="Equation.3">
              <p:embed/>
            </p:oleObj>
          </a:graphicData>
        </a:graphic>
      </p:graphicFrame>
      <p:sp>
        <p:nvSpPr>
          <p:cNvPr id="46088" name="Rectangle 8"/>
          <p:cNvSpPr>
            <a:spLocks noChangeArrowheads="1"/>
          </p:cNvSpPr>
          <p:nvPr/>
        </p:nvSpPr>
        <p:spPr bwMode="auto">
          <a:xfrm>
            <a:off x="203200" y="1674813"/>
            <a:ext cx="5232400" cy="681037"/>
          </a:xfrm>
          <a:prstGeom prst="rect">
            <a:avLst/>
          </a:prstGeom>
          <a:noFill/>
          <a:ln w="9525">
            <a:noFill/>
            <a:miter lim="800000"/>
            <a:headEnd/>
            <a:tailEnd/>
          </a:ln>
        </p:spPr>
        <p:txBody>
          <a:bodyPr>
            <a:spAutoFit/>
          </a:bodyPr>
          <a:lstStyle/>
          <a:p>
            <a:pPr>
              <a:lnSpc>
                <a:spcPct val="110000"/>
              </a:lnSpc>
            </a:pPr>
            <a:r>
              <a:rPr lang="en-US" altLang="zh-CN" sz="1800" b="1">
                <a:latin typeface="华文中宋"/>
                <a:ea typeface="华文中宋"/>
                <a:cs typeface="华文中宋"/>
              </a:rPr>
              <a:t>      </a:t>
            </a:r>
            <a:r>
              <a:rPr lang="zh-CN" altLang="en-US" sz="1800" b="1">
                <a:latin typeface="华文中宋"/>
                <a:ea typeface="华文中宋"/>
                <a:cs typeface="华文中宋"/>
              </a:rPr>
              <a:t>单位时间内沿波传播的方向通过介质中某一截面积的能量称为该面积的能流。</a:t>
            </a:r>
          </a:p>
        </p:txBody>
      </p:sp>
      <p:grpSp>
        <p:nvGrpSpPr>
          <p:cNvPr id="2" name="Group 2"/>
          <p:cNvGrpSpPr>
            <a:grpSpLocks/>
          </p:cNvGrpSpPr>
          <p:nvPr/>
        </p:nvGrpSpPr>
        <p:grpSpPr bwMode="auto">
          <a:xfrm>
            <a:off x="6119813" y="890588"/>
            <a:ext cx="2844800" cy="1725612"/>
            <a:chOff x="3677" y="400"/>
            <a:chExt cx="1792" cy="1449"/>
          </a:xfrm>
        </p:grpSpPr>
        <p:sp>
          <p:nvSpPr>
            <p:cNvPr id="43066" name="AutoShape 13"/>
            <p:cNvSpPr>
              <a:spLocks noChangeArrowheads="1"/>
            </p:cNvSpPr>
            <p:nvPr/>
          </p:nvSpPr>
          <p:spPr bwMode="auto">
            <a:xfrm>
              <a:off x="3677" y="799"/>
              <a:ext cx="1589" cy="756"/>
            </a:xfrm>
            <a:prstGeom prst="cube">
              <a:avLst>
                <a:gd name="adj" fmla="val 54366"/>
              </a:avLst>
            </a:prstGeom>
            <a:noFill/>
            <a:ln w="25400">
              <a:solidFill>
                <a:srgbClr val="0000FF"/>
              </a:solidFill>
              <a:prstDash val="dash"/>
              <a:miter lim="800000"/>
              <a:headEnd/>
              <a:tailEnd/>
            </a:ln>
          </p:spPr>
          <p:txBody>
            <a:bodyPr wrap="none" anchor="ctr"/>
            <a:lstStyle/>
            <a:p>
              <a:endParaRPr lang="zh-CN" altLang="en-US"/>
            </a:p>
          </p:txBody>
        </p:sp>
        <p:sp>
          <p:nvSpPr>
            <p:cNvPr id="43067" name="Line 14"/>
            <p:cNvSpPr>
              <a:spLocks noChangeShapeType="1"/>
            </p:cNvSpPr>
            <p:nvPr/>
          </p:nvSpPr>
          <p:spPr bwMode="auto">
            <a:xfrm>
              <a:off x="3677" y="1554"/>
              <a:ext cx="1178" cy="0"/>
            </a:xfrm>
            <a:prstGeom prst="line">
              <a:avLst/>
            </a:prstGeom>
            <a:noFill/>
            <a:ln w="19050">
              <a:solidFill>
                <a:schemeClr val="tx1"/>
              </a:solidFill>
              <a:round/>
              <a:headEnd/>
              <a:tailEnd/>
            </a:ln>
          </p:spPr>
          <p:txBody>
            <a:bodyPr wrap="none" anchor="ctr"/>
            <a:lstStyle/>
            <a:p>
              <a:endParaRPr lang="zh-CN" altLang="en-US"/>
            </a:p>
          </p:txBody>
        </p:sp>
        <p:sp>
          <p:nvSpPr>
            <p:cNvPr id="43068" name="Line 15"/>
            <p:cNvSpPr>
              <a:spLocks noChangeShapeType="1"/>
            </p:cNvSpPr>
            <p:nvPr/>
          </p:nvSpPr>
          <p:spPr bwMode="auto">
            <a:xfrm>
              <a:off x="3677" y="1576"/>
              <a:ext cx="0" cy="234"/>
            </a:xfrm>
            <a:prstGeom prst="line">
              <a:avLst/>
            </a:prstGeom>
            <a:noFill/>
            <a:ln w="19050">
              <a:solidFill>
                <a:schemeClr val="tx1"/>
              </a:solidFill>
              <a:prstDash val="dash"/>
              <a:round/>
              <a:headEnd/>
              <a:tailEnd/>
            </a:ln>
          </p:spPr>
          <p:txBody>
            <a:bodyPr wrap="none" anchor="ctr"/>
            <a:lstStyle/>
            <a:p>
              <a:endParaRPr lang="zh-CN" altLang="en-US"/>
            </a:p>
          </p:txBody>
        </p:sp>
        <p:sp>
          <p:nvSpPr>
            <p:cNvPr id="43069" name="Line 16"/>
            <p:cNvSpPr>
              <a:spLocks noChangeShapeType="1"/>
            </p:cNvSpPr>
            <p:nvPr/>
          </p:nvSpPr>
          <p:spPr bwMode="auto">
            <a:xfrm>
              <a:off x="4855" y="1576"/>
              <a:ext cx="0" cy="234"/>
            </a:xfrm>
            <a:prstGeom prst="line">
              <a:avLst/>
            </a:prstGeom>
            <a:noFill/>
            <a:ln w="19050">
              <a:solidFill>
                <a:schemeClr val="tx1"/>
              </a:solidFill>
              <a:prstDash val="dash"/>
              <a:round/>
              <a:headEnd/>
              <a:tailEnd/>
            </a:ln>
          </p:spPr>
          <p:txBody>
            <a:bodyPr wrap="none" anchor="ctr"/>
            <a:lstStyle/>
            <a:p>
              <a:endParaRPr lang="zh-CN" altLang="en-US"/>
            </a:p>
          </p:txBody>
        </p:sp>
        <p:sp>
          <p:nvSpPr>
            <p:cNvPr id="43070" name="Line 17"/>
            <p:cNvSpPr>
              <a:spLocks noChangeShapeType="1"/>
            </p:cNvSpPr>
            <p:nvPr/>
          </p:nvSpPr>
          <p:spPr bwMode="auto">
            <a:xfrm>
              <a:off x="3677" y="1710"/>
              <a:ext cx="411" cy="0"/>
            </a:xfrm>
            <a:prstGeom prst="line">
              <a:avLst/>
            </a:prstGeom>
            <a:noFill/>
            <a:ln w="19050">
              <a:solidFill>
                <a:schemeClr val="tx1"/>
              </a:solidFill>
              <a:round/>
              <a:headEnd type="triangle" w="med" len="med"/>
              <a:tailEnd/>
            </a:ln>
          </p:spPr>
          <p:txBody>
            <a:bodyPr wrap="none" anchor="ctr"/>
            <a:lstStyle/>
            <a:p>
              <a:endParaRPr lang="zh-CN" altLang="en-US"/>
            </a:p>
          </p:txBody>
        </p:sp>
        <p:sp>
          <p:nvSpPr>
            <p:cNvPr id="43071" name="Line 18"/>
            <p:cNvSpPr>
              <a:spLocks noChangeShapeType="1"/>
            </p:cNvSpPr>
            <p:nvPr/>
          </p:nvSpPr>
          <p:spPr bwMode="auto">
            <a:xfrm>
              <a:off x="4444" y="1699"/>
              <a:ext cx="400" cy="0"/>
            </a:xfrm>
            <a:prstGeom prst="line">
              <a:avLst/>
            </a:prstGeom>
            <a:noFill/>
            <a:ln w="19050">
              <a:solidFill>
                <a:schemeClr val="tx1"/>
              </a:solidFill>
              <a:round/>
              <a:headEnd/>
              <a:tailEnd type="triangle" w="med" len="med"/>
            </a:ln>
          </p:spPr>
          <p:txBody>
            <a:bodyPr wrap="none" anchor="ctr"/>
            <a:lstStyle/>
            <a:p>
              <a:endParaRPr lang="zh-CN" altLang="en-US"/>
            </a:p>
          </p:txBody>
        </p:sp>
        <p:sp>
          <p:nvSpPr>
            <p:cNvPr id="43072" name="Line 19"/>
            <p:cNvSpPr>
              <a:spLocks noChangeShapeType="1"/>
            </p:cNvSpPr>
            <p:nvPr/>
          </p:nvSpPr>
          <p:spPr bwMode="auto">
            <a:xfrm>
              <a:off x="4323" y="709"/>
              <a:ext cx="633" cy="0"/>
            </a:xfrm>
            <a:prstGeom prst="line">
              <a:avLst/>
            </a:prstGeom>
            <a:noFill/>
            <a:ln w="28575">
              <a:solidFill>
                <a:srgbClr val="FF0000"/>
              </a:solidFill>
              <a:round/>
              <a:headEnd/>
              <a:tailEnd type="stealth" w="lg" len="lg"/>
            </a:ln>
          </p:spPr>
          <p:txBody>
            <a:bodyPr wrap="none" anchor="ctr"/>
            <a:lstStyle/>
            <a:p>
              <a:endParaRPr lang="zh-CN" altLang="en-US"/>
            </a:p>
          </p:txBody>
        </p:sp>
        <p:sp>
          <p:nvSpPr>
            <p:cNvPr id="43073" name="Text Box 20"/>
            <p:cNvSpPr txBox="1">
              <a:spLocks noChangeArrowheads="1"/>
            </p:cNvSpPr>
            <p:nvPr/>
          </p:nvSpPr>
          <p:spPr bwMode="auto">
            <a:xfrm>
              <a:off x="4511" y="400"/>
              <a:ext cx="211" cy="275"/>
            </a:xfrm>
            <a:prstGeom prst="rect">
              <a:avLst/>
            </a:prstGeom>
            <a:noFill/>
            <a:ln w="9525">
              <a:noFill/>
              <a:miter lim="800000"/>
              <a:headEnd/>
              <a:tailEnd/>
            </a:ln>
          </p:spPr>
          <p:txBody>
            <a:bodyPr>
              <a:spAutoFit/>
            </a:bodyPr>
            <a:lstStyle/>
            <a:p>
              <a:pPr>
                <a:lnSpc>
                  <a:spcPct val="110000"/>
                </a:lnSpc>
                <a:spcBef>
                  <a:spcPct val="50000"/>
                </a:spcBef>
              </a:pPr>
              <a:r>
                <a:rPr lang="en-US" altLang="zh-CN" sz="1500" b="1" i="1"/>
                <a:t>u</a:t>
              </a:r>
            </a:p>
          </p:txBody>
        </p:sp>
        <p:sp>
          <p:nvSpPr>
            <p:cNvPr id="43074" name="Text Box 21"/>
            <p:cNvSpPr txBox="1">
              <a:spLocks noChangeArrowheads="1"/>
            </p:cNvSpPr>
            <p:nvPr/>
          </p:nvSpPr>
          <p:spPr bwMode="auto">
            <a:xfrm>
              <a:off x="4154" y="1525"/>
              <a:ext cx="389" cy="291"/>
            </a:xfrm>
            <a:prstGeom prst="rect">
              <a:avLst/>
            </a:prstGeom>
            <a:noFill/>
            <a:ln w="9525">
              <a:noFill/>
              <a:miter lim="800000"/>
              <a:headEnd/>
              <a:tailEnd/>
            </a:ln>
          </p:spPr>
          <p:txBody>
            <a:bodyPr>
              <a:spAutoFit/>
            </a:bodyPr>
            <a:lstStyle/>
            <a:p>
              <a:pPr>
                <a:lnSpc>
                  <a:spcPct val="110000"/>
                </a:lnSpc>
                <a:spcBef>
                  <a:spcPct val="50000"/>
                </a:spcBef>
              </a:pPr>
              <a:r>
                <a:rPr lang="en-US" altLang="zh-CN" sz="1500" b="1" i="1"/>
                <a:t>u</a:t>
              </a:r>
              <a:r>
                <a:rPr lang="en-US" altLang="zh-CN" sz="1500" b="1"/>
                <a:t>d</a:t>
              </a:r>
              <a:r>
                <a:rPr lang="en-US" altLang="zh-CN" sz="1500" b="1" i="1"/>
                <a:t>t</a:t>
              </a:r>
            </a:p>
          </p:txBody>
        </p:sp>
        <p:grpSp>
          <p:nvGrpSpPr>
            <p:cNvPr id="43075" name="Group 22"/>
            <p:cNvGrpSpPr>
              <a:grpSpLocks/>
            </p:cNvGrpSpPr>
            <p:nvPr/>
          </p:nvGrpSpPr>
          <p:grpSpPr bwMode="auto">
            <a:xfrm>
              <a:off x="4858" y="790"/>
              <a:ext cx="611" cy="762"/>
              <a:chOff x="4844" y="683"/>
              <a:chExt cx="611" cy="762"/>
            </a:xfrm>
          </p:grpSpPr>
          <p:sp>
            <p:nvSpPr>
              <p:cNvPr id="43078" name="AutoShape 23"/>
              <p:cNvSpPr>
                <a:spLocks noChangeArrowheads="1"/>
              </p:cNvSpPr>
              <p:nvPr/>
            </p:nvSpPr>
            <p:spPr bwMode="auto">
              <a:xfrm rot="16200000" flipV="1">
                <a:off x="4670" y="857"/>
                <a:ext cx="762" cy="414"/>
              </a:xfrm>
              <a:prstGeom prst="parallelogram">
                <a:avLst>
                  <a:gd name="adj" fmla="val 102655"/>
                </a:avLst>
              </a:prstGeom>
              <a:solidFill>
                <a:srgbClr val="FFFFAD"/>
              </a:solidFill>
              <a:ln w="19050">
                <a:solidFill>
                  <a:schemeClr val="tx1"/>
                </a:solidFill>
                <a:miter lim="800000"/>
                <a:headEnd/>
                <a:tailEnd/>
              </a:ln>
            </p:spPr>
            <p:txBody>
              <a:bodyPr wrap="none" anchor="ctr"/>
              <a:lstStyle/>
              <a:p>
                <a:endParaRPr lang="zh-CN" altLang="en-US"/>
              </a:p>
            </p:txBody>
          </p:sp>
          <p:sp>
            <p:nvSpPr>
              <p:cNvPr id="43079" name="Line 24"/>
              <p:cNvSpPr>
                <a:spLocks noChangeShapeType="1"/>
              </p:cNvSpPr>
              <p:nvPr/>
            </p:nvSpPr>
            <p:spPr bwMode="auto">
              <a:xfrm>
                <a:off x="5060" y="1201"/>
                <a:ext cx="244" cy="0"/>
              </a:xfrm>
              <a:prstGeom prst="line">
                <a:avLst/>
              </a:prstGeom>
              <a:noFill/>
              <a:ln w="38100">
                <a:solidFill>
                  <a:srgbClr val="FF0000"/>
                </a:solidFill>
                <a:round/>
                <a:headEnd/>
                <a:tailEnd type="triangle" w="sm" len="lg"/>
              </a:ln>
            </p:spPr>
            <p:txBody>
              <a:bodyPr wrap="none" anchor="ctr"/>
              <a:lstStyle/>
              <a:p>
                <a:endParaRPr lang="zh-CN" altLang="en-US"/>
              </a:p>
            </p:txBody>
          </p:sp>
          <p:sp>
            <p:nvSpPr>
              <p:cNvPr id="43080" name="Line 25"/>
              <p:cNvSpPr>
                <a:spLocks noChangeShapeType="1"/>
              </p:cNvSpPr>
              <p:nvPr/>
            </p:nvSpPr>
            <p:spPr bwMode="auto">
              <a:xfrm>
                <a:off x="5211" y="1037"/>
                <a:ext cx="244" cy="0"/>
              </a:xfrm>
              <a:prstGeom prst="line">
                <a:avLst/>
              </a:prstGeom>
              <a:noFill/>
              <a:ln w="38100">
                <a:solidFill>
                  <a:srgbClr val="FF0000"/>
                </a:solidFill>
                <a:round/>
                <a:headEnd/>
                <a:tailEnd type="triangle" w="sm" len="lg"/>
              </a:ln>
            </p:spPr>
            <p:txBody>
              <a:bodyPr wrap="none" anchor="ctr"/>
              <a:lstStyle/>
              <a:p>
                <a:endParaRPr lang="zh-CN" altLang="en-US"/>
              </a:p>
            </p:txBody>
          </p:sp>
          <p:sp>
            <p:nvSpPr>
              <p:cNvPr id="43081" name="Line 26"/>
              <p:cNvSpPr>
                <a:spLocks noChangeShapeType="1"/>
              </p:cNvSpPr>
              <p:nvPr/>
            </p:nvSpPr>
            <p:spPr bwMode="auto">
              <a:xfrm>
                <a:off x="4898" y="1360"/>
                <a:ext cx="244" cy="0"/>
              </a:xfrm>
              <a:prstGeom prst="line">
                <a:avLst/>
              </a:prstGeom>
              <a:noFill/>
              <a:ln w="38100">
                <a:solidFill>
                  <a:srgbClr val="FF0000"/>
                </a:solidFill>
                <a:round/>
                <a:headEnd/>
                <a:tailEnd type="triangle" w="sm" len="lg"/>
              </a:ln>
            </p:spPr>
            <p:txBody>
              <a:bodyPr wrap="none" anchor="ctr"/>
              <a:lstStyle/>
              <a:p>
                <a:endParaRPr lang="zh-CN" altLang="en-US"/>
              </a:p>
            </p:txBody>
          </p:sp>
          <p:sp>
            <p:nvSpPr>
              <p:cNvPr id="43082" name="Line 27"/>
              <p:cNvSpPr>
                <a:spLocks noChangeShapeType="1"/>
              </p:cNvSpPr>
              <p:nvPr/>
            </p:nvSpPr>
            <p:spPr bwMode="auto">
              <a:xfrm>
                <a:off x="4911" y="1092"/>
                <a:ext cx="244" cy="0"/>
              </a:xfrm>
              <a:prstGeom prst="line">
                <a:avLst/>
              </a:prstGeom>
              <a:noFill/>
              <a:ln w="38100">
                <a:solidFill>
                  <a:srgbClr val="FF0000"/>
                </a:solidFill>
                <a:round/>
                <a:headEnd/>
                <a:tailEnd type="triangle" w="sm" len="lg"/>
              </a:ln>
            </p:spPr>
            <p:txBody>
              <a:bodyPr wrap="none" anchor="ctr"/>
              <a:lstStyle/>
              <a:p>
                <a:endParaRPr lang="zh-CN" altLang="en-US"/>
              </a:p>
            </p:txBody>
          </p:sp>
          <p:sp>
            <p:nvSpPr>
              <p:cNvPr id="43083" name="Line 28"/>
              <p:cNvSpPr>
                <a:spLocks noChangeShapeType="1"/>
              </p:cNvSpPr>
              <p:nvPr/>
            </p:nvSpPr>
            <p:spPr bwMode="auto">
              <a:xfrm>
                <a:off x="5030" y="957"/>
                <a:ext cx="244" cy="0"/>
              </a:xfrm>
              <a:prstGeom prst="line">
                <a:avLst/>
              </a:prstGeom>
              <a:noFill/>
              <a:ln w="38100">
                <a:solidFill>
                  <a:srgbClr val="FF0000"/>
                </a:solidFill>
                <a:round/>
                <a:headEnd/>
                <a:tailEnd type="triangle" w="sm" len="lg"/>
              </a:ln>
            </p:spPr>
            <p:txBody>
              <a:bodyPr wrap="none" anchor="ctr"/>
              <a:lstStyle/>
              <a:p>
                <a:endParaRPr lang="zh-CN" altLang="en-US"/>
              </a:p>
            </p:txBody>
          </p:sp>
          <p:sp>
            <p:nvSpPr>
              <p:cNvPr id="43084" name="Line 29"/>
              <p:cNvSpPr>
                <a:spLocks noChangeShapeType="1"/>
              </p:cNvSpPr>
              <p:nvPr/>
            </p:nvSpPr>
            <p:spPr bwMode="auto">
              <a:xfrm>
                <a:off x="5177" y="806"/>
                <a:ext cx="244" cy="0"/>
              </a:xfrm>
              <a:prstGeom prst="line">
                <a:avLst/>
              </a:prstGeom>
              <a:noFill/>
              <a:ln w="38100">
                <a:solidFill>
                  <a:srgbClr val="FF0000"/>
                </a:solidFill>
                <a:round/>
                <a:headEnd/>
                <a:tailEnd type="triangle" w="sm" len="lg"/>
              </a:ln>
            </p:spPr>
            <p:txBody>
              <a:bodyPr wrap="none" anchor="ctr"/>
              <a:lstStyle/>
              <a:p>
                <a:endParaRPr lang="zh-CN" altLang="en-US"/>
              </a:p>
            </p:txBody>
          </p:sp>
        </p:grpSp>
        <p:sp>
          <p:nvSpPr>
            <p:cNvPr id="43076" name="Line 30"/>
            <p:cNvSpPr>
              <a:spLocks noChangeShapeType="1"/>
            </p:cNvSpPr>
            <p:nvPr/>
          </p:nvSpPr>
          <p:spPr bwMode="auto">
            <a:xfrm>
              <a:off x="4909" y="1363"/>
              <a:ext cx="148" cy="298"/>
            </a:xfrm>
            <a:prstGeom prst="line">
              <a:avLst/>
            </a:prstGeom>
            <a:noFill/>
            <a:ln w="25400">
              <a:solidFill>
                <a:schemeClr val="tx1"/>
              </a:solidFill>
              <a:round/>
              <a:headEnd/>
              <a:tailEnd type="stealth" w="lg" len="lg"/>
            </a:ln>
          </p:spPr>
          <p:txBody>
            <a:bodyPr wrap="none" anchor="ctr"/>
            <a:lstStyle/>
            <a:p>
              <a:endParaRPr lang="zh-CN" altLang="en-US"/>
            </a:p>
          </p:txBody>
        </p:sp>
        <p:sp>
          <p:nvSpPr>
            <p:cNvPr id="43077" name="Text Box 31"/>
            <p:cNvSpPr txBox="1">
              <a:spLocks noChangeArrowheads="1"/>
            </p:cNvSpPr>
            <p:nvPr/>
          </p:nvSpPr>
          <p:spPr bwMode="auto">
            <a:xfrm>
              <a:off x="4950" y="1574"/>
              <a:ext cx="489" cy="275"/>
            </a:xfrm>
            <a:prstGeom prst="rect">
              <a:avLst/>
            </a:prstGeom>
            <a:noFill/>
            <a:ln w="9525">
              <a:noFill/>
              <a:miter lim="800000"/>
              <a:headEnd/>
              <a:tailEnd/>
            </a:ln>
          </p:spPr>
          <p:txBody>
            <a:bodyPr>
              <a:spAutoFit/>
            </a:bodyPr>
            <a:lstStyle/>
            <a:p>
              <a:pPr>
                <a:lnSpc>
                  <a:spcPct val="110000"/>
                </a:lnSpc>
                <a:spcBef>
                  <a:spcPct val="50000"/>
                </a:spcBef>
              </a:pPr>
              <a:r>
                <a:rPr lang="en-US" altLang="zh-CN" sz="1500" b="1">
                  <a:sym typeface="Symbol" pitchFamily="18" charset="2"/>
                </a:rPr>
                <a:t></a:t>
              </a:r>
              <a:r>
                <a:rPr lang="en-US" altLang="zh-CN" sz="1500" b="1" i="1"/>
                <a:t>S</a:t>
              </a:r>
            </a:p>
          </p:txBody>
        </p:sp>
        <p:graphicFrame>
          <p:nvGraphicFramePr>
            <p:cNvPr id="43057" name="Object 49"/>
            <p:cNvGraphicFramePr>
              <a:graphicFrameLocks noChangeAspect="1"/>
            </p:cNvGraphicFramePr>
            <p:nvPr/>
          </p:nvGraphicFramePr>
          <p:xfrm>
            <a:off x="3912" y="913"/>
            <a:ext cx="1058" cy="255"/>
          </p:xfrm>
          <a:graphic>
            <a:graphicData uri="http://schemas.openxmlformats.org/presentationml/2006/ole">
              <p:oleObj spid="_x0000_s43057" name="Equation" r:id="rId5" imgW="837836" imgH="177723" progId="Equation.DSMT4">
                <p:embed/>
              </p:oleObj>
            </a:graphicData>
          </a:graphic>
        </p:graphicFrame>
      </p:grpSp>
      <p:sp>
        <p:nvSpPr>
          <p:cNvPr id="46113" name="Text Box 33"/>
          <p:cNvSpPr txBox="1">
            <a:spLocks noChangeArrowheads="1"/>
          </p:cNvSpPr>
          <p:nvPr/>
        </p:nvSpPr>
        <p:spPr bwMode="auto">
          <a:xfrm>
            <a:off x="284163" y="3636963"/>
            <a:ext cx="2487612" cy="374650"/>
          </a:xfrm>
          <a:prstGeom prst="rect">
            <a:avLst/>
          </a:prstGeom>
          <a:noFill/>
          <a:ln w="9525">
            <a:noFill/>
            <a:miter lim="800000"/>
            <a:headEnd/>
            <a:tailEnd/>
          </a:ln>
        </p:spPr>
        <p:txBody>
          <a:bodyPr>
            <a:spAutoFit/>
          </a:bodyPr>
          <a:lstStyle/>
          <a:p>
            <a:pPr>
              <a:lnSpc>
                <a:spcPct val="110000"/>
              </a:lnSpc>
              <a:spcBef>
                <a:spcPct val="50000"/>
              </a:spcBef>
            </a:pPr>
            <a:r>
              <a:rPr lang="en-US" altLang="zh-CN" sz="1800" b="1">
                <a:solidFill>
                  <a:schemeClr val="accent2"/>
                </a:solidFill>
                <a:latin typeface="华文中宋"/>
                <a:ea typeface="华文中宋"/>
                <a:cs typeface="华文中宋"/>
              </a:rPr>
              <a:t>2</a:t>
            </a:r>
            <a:r>
              <a:rPr lang="zh-CN" altLang="en-US" sz="1800" b="1">
                <a:solidFill>
                  <a:schemeClr val="accent2"/>
                </a:solidFill>
                <a:latin typeface="华文中宋"/>
                <a:ea typeface="华文中宋"/>
                <a:cs typeface="华文中宋"/>
              </a:rPr>
              <a:t>、平均能流</a:t>
            </a:r>
            <a:endParaRPr lang="zh-CN" altLang="en-US" sz="1800" b="1">
              <a:latin typeface="华文中宋"/>
              <a:ea typeface="华文中宋"/>
              <a:cs typeface="华文中宋"/>
            </a:endParaRPr>
          </a:p>
        </p:txBody>
      </p:sp>
      <p:graphicFrame>
        <p:nvGraphicFramePr>
          <p:cNvPr id="136197" name="Object 50"/>
          <p:cNvGraphicFramePr>
            <a:graphicFrameLocks noChangeAspect="1"/>
          </p:cNvGraphicFramePr>
          <p:nvPr/>
        </p:nvGraphicFramePr>
        <p:xfrm>
          <a:off x="1144588" y="3973513"/>
          <a:ext cx="3859212" cy="685800"/>
        </p:xfrm>
        <a:graphic>
          <a:graphicData uri="http://schemas.openxmlformats.org/presentationml/2006/ole">
            <p:oleObj spid="_x0000_s43058" name="Equation" r:id="rId6" imgW="1586811" imgH="393529" progId="Equation.DSMT4">
              <p:embed/>
            </p:oleObj>
          </a:graphicData>
        </a:graphic>
      </p:graphicFrame>
      <p:graphicFrame>
        <p:nvGraphicFramePr>
          <p:cNvPr id="136198" name="Object 51"/>
          <p:cNvGraphicFramePr>
            <a:graphicFrameLocks noChangeAspect="1"/>
          </p:cNvGraphicFramePr>
          <p:nvPr/>
        </p:nvGraphicFramePr>
        <p:xfrm>
          <a:off x="4903788" y="3975100"/>
          <a:ext cx="2116137" cy="684213"/>
        </p:xfrm>
        <a:graphic>
          <a:graphicData uri="http://schemas.openxmlformats.org/presentationml/2006/ole">
            <p:oleObj spid="_x0000_s43059" name="Equation" r:id="rId7" imgW="812447" imgH="291973" progId="Equation.DSMT4">
              <p:embed/>
            </p:oleObj>
          </a:graphicData>
        </a:graphic>
      </p:graphicFrame>
      <p:sp>
        <p:nvSpPr>
          <p:cNvPr id="32" name="Text Box 2"/>
          <p:cNvSpPr>
            <a:spLocks noChangeArrowheads="1"/>
          </p:cNvSpPr>
          <p:nvPr/>
        </p:nvSpPr>
        <p:spPr bwMode="auto">
          <a:xfrm>
            <a:off x="828675" y="874713"/>
            <a:ext cx="3311525" cy="401637"/>
          </a:xfrm>
          <a:prstGeom prst="homePlate">
            <a:avLst>
              <a:gd name="adj" fmla="val 49623"/>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三、波的能流和能流密度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6086"/>
                                        </p:tgtEl>
                                        <p:attrNameLst>
                                          <p:attrName>style.visibility</p:attrName>
                                        </p:attrNameLst>
                                      </p:cBhvr>
                                      <p:to>
                                        <p:strVal val="visible"/>
                                      </p:to>
                                    </p:set>
                                    <p:animEffect transition="in" filter="slide(fromBottom)">
                                      <p:cBhvr>
                                        <p:cTn id="12" dur="500"/>
                                        <p:tgtEl>
                                          <p:spTgt spid="460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6088"/>
                                        </p:tgtEl>
                                        <p:attrNameLst>
                                          <p:attrName>style.visibility</p:attrName>
                                        </p:attrNameLst>
                                      </p:cBhvr>
                                      <p:to>
                                        <p:strVal val="visible"/>
                                      </p:to>
                                    </p:set>
                                    <p:animEffect transition="in" filter="slide(fromBottom)">
                                      <p:cBhvr>
                                        <p:cTn id="17" dur="500"/>
                                        <p:tgtEl>
                                          <p:spTgt spid="460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136196"/>
                                        </p:tgtEl>
                                        <p:attrNameLst>
                                          <p:attrName>style.visibility</p:attrName>
                                        </p:attrNameLst>
                                      </p:cBhvr>
                                      <p:to>
                                        <p:strVal val="visible"/>
                                      </p:to>
                                    </p:set>
                                    <p:animEffect transition="in" filter="slide(fromBottom)">
                                      <p:cBhvr>
                                        <p:cTn id="22" dur="500"/>
                                        <p:tgtEl>
                                          <p:spTgt spid="13619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36195"/>
                                        </p:tgtEl>
                                        <p:attrNameLst>
                                          <p:attrName>style.visibility</p:attrName>
                                        </p:attrNameLst>
                                      </p:cBhvr>
                                      <p:to>
                                        <p:strVal val="visible"/>
                                      </p:to>
                                    </p:set>
                                    <p:animEffect transition="in" filter="blinds(horizontal)">
                                      <p:cBhvr>
                                        <p:cTn id="32" dur="500"/>
                                        <p:tgtEl>
                                          <p:spTgt spid="136195"/>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46084"/>
                                        </p:tgtEl>
                                        <p:attrNameLst>
                                          <p:attrName>style.visibility</p:attrName>
                                        </p:attrNameLst>
                                      </p:cBhvr>
                                      <p:to>
                                        <p:strVal val="visible"/>
                                      </p:to>
                                    </p:set>
                                    <p:animEffect transition="in" filter="blinds(horizontal)">
                                      <p:cBhvr>
                                        <p:cTn id="35" dur="500"/>
                                        <p:tgtEl>
                                          <p:spTgt spid="4608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46113"/>
                                        </p:tgtEl>
                                        <p:attrNameLst>
                                          <p:attrName>style.visibility</p:attrName>
                                        </p:attrNameLst>
                                      </p:cBhvr>
                                      <p:to>
                                        <p:strVal val="visible"/>
                                      </p:to>
                                    </p:set>
                                    <p:animEffect transition="in" filter="slide(fromBottom)">
                                      <p:cBhvr>
                                        <p:cTn id="40" dur="500"/>
                                        <p:tgtEl>
                                          <p:spTgt spid="4611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2" presetClass="entr" presetSubtype="4" fill="hold" nodeType="clickEffect">
                                  <p:stCondLst>
                                    <p:cond delay="0"/>
                                  </p:stCondLst>
                                  <p:childTnLst>
                                    <p:set>
                                      <p:cBhvr>
                                        <p:cTn id="44" dur="1" fill="hold">
                                          <p:stCondLst>
                                            <p:cond delay="0"/>
                                          </p:stCondLst>
                                        </p:cTn>
                                        <p:tgtEl>
                                          <p:spTgt spid="136197"/>
                                        </p:tgtEl>
                                        <p:attrNameLst>
                                          <p:attrName>style.visibility</p:attrName>
                                        </p:attrNameLst>
                                      </p:cBhvr>
                                      <p:to>
                                        <p:strVal val="visible"/>
                                      </p:to>
                                    </p:set>
                                    <p:animEffect transition="in" filter="slide(fromBottom)">
                                      <p:cBhvr>
                                        <p:cTn id="45" dur="500"/>
                                        <p:tgtEl>
                                          <p:spTgt spid="13619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2" presetClass="entr" presetSubtype="4" fill="hold" nodeType="clickEffect">
                                  <p:stCondLst>
                                    <p:cond delay="0"/>
                                  </p:stCondLst>
                                  <p:childTnLst>
                                    <p:set>
                                      <p:cBhvr>
                                        <p:cTn id="49" dur="1" fill="hold">
                                          <p:stCondLst>
                                            <p:cond delay="0"/>
                                          </p:stCondLst>
                                        </p:cTn>
                                        <p:tgtEl>
                                          <p:spTgt spid="136198"/>
                                        </p:tgtEl>
                                        <p:attrNameLst>
                                          <p:attrName>style.visibility</p:attrName>
                                        </p:attrNameLst>
                                      </p:cBhvr>
                                      <p:to>
                                        <p:strVal val="visible"/>
                                      </p:to>
                                    </p:set>
                                    <p:animEffect transition="in" filter="slide(fromBottom)">
                                      <p:cBhvr>
                                        <p:cTn id="50" dur="500"/>
                                        <p:tgtEl>
                                          <p:spTgt spid="136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p:bldP spid="46086" grpId="0" autoUpdateAnimBg="0"/>
      <p:bldP spid="46088" grpId="0" autoUpdateAnimBg="0"/>
      <p:bldP spid="46113" grpId="0" autoUpdateAnimBg="0"/>
      <p:bldP spid="3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34925" y="806450"/>
            <a:ext cx="3765550" cy="396875"/>
          </a:xfrm>
          <a:prstGeom prst="rect">
            <a:avLst/>
          </a:prstGeom>
          <a:noFill/>
          <a:ln w="9525">
            <a:noFill/>
            <a:miter lim="800000"/>
            <a:headEnd/>
            <a:tailEnd/>
          </a:ln>
        </p:spPr>
        <p:txBody>
          <a:bodyPr>
            <a:spAutoFit/>
          </a:bodyPr>
          <a:lstStyle/>
          <a:p>
            <a:pPr>
              <a:lnSpc>
                <a:spcPct val="110000"/>
              </a:lnSpc>
            </a:pPr>
            <a:r>
              <a:rPr lang="en-US" altLang="zh-CN" sz="1800" b="1">
                <a:solidFill>
                  <a:schemeClr val="accent2"/>
                </a:solidFill>
                <a:latin typeface="华文中宋"/>
                <a:ea typeface="华文中宋"/>
                <a:cs typeface="华文中宋"/>
              </a:rPr>
              <a:t>3</a:t>
            </a:r>
            <a:r>
              <a:rPr lang="zh-CN" altLang="en-US" sz="1800" b="1">
                <a:solidFill>
                  <a:schemeClr val="accent2"/>
                </a:solidFill>
                <a:latin typeface="华文中宋"/>
                <a:ea typeface="华文中宋"/>
                <a:cs typeface="华文中宋"/>
              </a:rPr>
              <a:t>、平均能流密度 （又叫波强）</a:t>
            </a:r>
            <a:r>
              <a:rPr lang="en-US" altLang="zh-CN" sz="1800" b="1" i="1">
                <a:solidFill>
                  <a:schemeClr val="accent2"/>
                </a:solidFill>
                <a:ea typeface="华文中宋"/>
                <a:cs typeface="华文中宋"/>
              </a:rPr>
              <a:t>I</a:t>
            </a:r>
          </a:p>
        </p:txBody>
      </p:sp>
      <p:grpSp>
        <p:nvGrpSpPr>
          <p:cNvPr id="3" name="Group 25"/>
          <p:cNvGrpSpPr>
            <a:grpSpLocks/>
          </p:cNvGrpSpPr>
          <p:nvPr/>
        </p:nvGrpSpPr>
        <p:grpSpPr bwMode="auto">
          <a:xfrm>
            <a:off x="4270375" y="806450"/>
            <a:ext cx="4765675" cy="690563"/>
            <a:chOff x="1429" y="618"/>
            <a:chExt cx="3320" cy="548"/>
          </a:xfrm>
        </p:grpSpPr>
        <p:graphicFrame>
          <p:nvGraphicFramePr>
            <p:cNvPr id="44101" name="Object 69"/>
            <p:cNvGraphicFramePr>
              <a:graphicFrameLocks noChangeAspect="1"/>
            </p:cNvGraphicFramePr>
            <p:nvPr/>
          </p:nvGraphicFramePr>
          <p:xfrm>
            <a:off x="1429" y="618"/>
            <a:ext cx="2138" cy="548"/>
          </p:xfrm>
          <a:graphic>
            <a:graphicData uri="http://schemas.openxmlformats.org/presentationml/2006/ole">
              <p:oleObj spid="_x0000_s44101" name="公式" r:id="rId4" imgW="1282700" imgH="330200" progId="Equation.3">
                <p:embed/>
              </p:oleObj>
            </a:graphicData>
          </a:graphic>
        </p:graphicFrame>
        <p:sp>
          <p:nvSpPr>
            <p:cNvPr id="44143" name="Rectangle 5"/>
            <p:cNvSpPr>
              <a:spLocks noChangeArrowheads="1"/>
            </p:cNvSpPr>
            <p:nvPr/>
          </p:nvSpPr>
          <p:spPr bwMode="auto">
            <a:xfrm>
              <a:off x="3470" y="738"/>
              <a:ext cx="1279" cy="388"/>
            </a:xfrm>
            <a:prstGeom prst="rect">
              <a:avLst/>
            </a:prstGeom>
            <a:noFill/>
            <a:ln w="9525">
              <a:noFill/>
              <a:miter lim="800000"/>
              <a:headEnd/>
              <a:tailEnd/>
            </a:ln>
            <a:effectLst>
              <a:prstShdw prst="shdw17" dist="17961" dir="2700000">
                <a:srgbClr val="993D00"/>
              </a:prstShdw>
            </a:effectLst>
          </p:spPr>
          <p:txBody>
            <a:bodyPr>
              <a:spAutoFit/>
            </a:bodyPr>
            <a:lstStyle/>
            <a:p>
              <a:r>
                <a:rPr lang="zh-CN" altLang="en-US" sz="2400" b="1">
                  <a:latin typeface="楷体_GB2312"/>
                  <a:ea typeface="楷体_GB2312"/>
                  <a:cs typeface="楷体_GB2312"/>
                </a:rPr>
                <a:t>（瓦</a:t>
              </a:r>
              <a:r>
                <a:rPr lang="en-US" altLang="zh-CN" sz="2400" b="1">
                  <a:latin typeface="楷体_GB2312"/>
                  <a:ea typeface="楷体_GB2312"/>
                  <a:cs typeface="楷体_GB2312"/>
                </a:rPr>
                <a:t>/</a:t>
              </a:r>
              <a:r>
                <a:rPr lang="zh-CN" altLang="en-US" sz="2400" b="1">
                  <a:latin typeface="楷体_GB2312"/>
                  <a:ea typeface="楷体_GB2312"/>
                  <a:cs typeface="楷体_GB2312"/>
                </a:rPr>
                <a:t>米</a:t>
              </a:r>
              <a:r>
                <a:rPr lang="en-US" altLang="zh-CN" sz="2400" b="1" baseline="30000">
                  <a:latin typeface="楷体_GB2312"/>
                  <a:ea typeface="楷体_GB2312"/>
                  <a:cs typeface="楷体_GB2312"/>
                </a:rPr>
                <a:t>2</a:t>
              </a:r>
              <a:r>
                <a:rPr lang="zh-CN" altLang="en-US" sz="2400" b="1">
                  <a:latin typeface="楷体_GB2312"/>
                  <a:ea typeface="楷体_GB2312"/>
                  <a:cs typeface="楷体_GB2312"/>
                </a:rPr>
                <a:t>） </a:t>
              </a:r>
            </a:p>
          </p:txBody>
        </p:sp>
      </p:grpSp>
      <p:graphicFrame>
        <p:nvGraphicFramePr>
          <p:cNvPr id="48235" name="Object 70"/>
          <p:cNvGraphicFramePr>
            <a:graphicFrameLocks noChangeAspect="1"/>
          </p:cNvGraphicFramePr>
          <p:nvPr/>
        </p:nvGraphicFramePr>
        <p:xfrm>
          <a:off x="5473700" y="1492250"/>
          <a:ext cx="1690688" cy="441325"/>
        </p:xfrm>
        <a:graphic>
          <a:graphicData uri="http://schemas.openxmlformats.org/presentationml/2006/ole">
            <p:oleObj spid="_x0000_s44102" name="公式" r:id="rId5" imgW="545863" imgH="190417" progId="Equation.3">
              <p:embed/>
            </p:oleObj>
          </a:graphicData>
        </a:graphic>
      </p:graphicFrame>
      <p:sp>
        <p:nvSpPr>
          <p:cNvPr id="26" name="Text Box 2"/>
          <p:cNvSpPr txBox="1">
            <a:spLocks noChangeArrowheads="1"/>
          </p:cNvSpPr>
          <p:nvPr/>
        </p:nvSpPr>
        <p:spPr bwMode="auto">
          <a:xfrm>
            <a:off x="1370013" y="1662113"/>
            <a:ext cx="3346450" cy="368300"/>
          </a:xfrm>
          <a:prstGeom prst="rect">
            <a:avLst/>
          </a:prstGeom>
          <a:noFill/>
          <a:ln w="9525">
            <a:noFill/>
            <a:miter lim="800000"/>
            <a:headEnd/>
            <a:tailEnd/>
          </a:ln>
        </p:spPr>
        <p:txBody>
          <a:bodyPr>
            <a:spAutoFit/>
          </a:bodyPr>
          <a:lstStyle/>
          <a:p>
            <a:r>
              <a:rPr kumimoji="0" lang="zh-CN" altLang="en-US" sz="1800" b="1">
                <a:latin typeface="华文中宋"/>
                <a:ea typeface="华文中宋"/>
                <a:cs typeface="Times New Roman" pitchFamily="18" charset="0"/>
              </a:rPr>
              <a:t>设媒质是均匀的且不吸收能量。</a:t>
            </a:r>
          </a:p>
        </p:txBody>
      </p:sp>
      <p:sp>
        <p:nvSpPr>
          <p:cNvPr id="27" name="Text Box 3"/>
          <p:cNvSpPr txBox="1">
            <a:spLocks noChangeArrowheads="1"/>
          </p:cNvSpPr>
          <p:nvPr/>
        </p:nvSpPr>
        <p:spPr bwMode="auto">
          <a:xfrm>
            <a:off x="369888" y="1276350"/>
            <a:ext cx="3725862" cy="368300"/>
          </a:xfrm>
          <a:prstGeom prst="rect">
            <a:avLst/>
          </a:prstGeom>
          <a:noFill/>
          <a:ln w="9525">
            <a:noFill/>
            <a:miter lim="800000"/>
            <a:headEnd/>
            <a:tailEnd/>
          </a:ln>
        </p:spPr>
        <p:txBody>
          <a:bodyPr>
            <a:spAutoFit/>
          </a:bodyPr>
          <a:lstStyle/>
          <a:p>
            <a:pPr eaLnBrk="0" hangingPunct="0"/>
            <a:r>
              <a:rPr kumimoji="0" lang="zh-CN" altLang="en-US" sz="1800" b="1">
                <a:solidFill>
                  <a:srgbClr val="FF0000"/>
                </a:solidFill>
                <a:latin typeface="华文中宋"/>
                <a:ea typeface="华文中宋"/>
                <a:cs typeface="Times New Roman" pitchFamily="18" charset="0"/>
              </a:rPr>
              <a:t>讨论：平面波和球面波的振幅</a:t>
            </a:r>
          </a:p>
        </p:txBody>
      </p:sp>
      <p:sp>
        <p:nvSpPr>
          <p:cNvPr id="29" name="Text Box 5"/>
          <p:cNvSpPr txBox="1">
            <a:spLocks noChangeArrowheads="1"/>
          </p:cNvSpPr>
          <p:nvPr/>
        </p:nvSpPr>
        <p:spPr bwMode="auto">
          <a:xfrm>
            <a:off x="947738" y="2139950"/>
            <a:ext cx="1103312" cy="322263"/>
          </a:xfrm>
          <a:prstGeom prst="rect">
            <a:avLst/>
          </a:prstGeom>
          <a:noFill/>
          <a:ln w="9525">
            <a:noFill/>
            <a:miter lim="800000"/>
            <a:headEnd/>
            <a:tailEnd/>
          </a:ln>
        </p:spPr>
        <p:txBody>
          <a:bodyPr>
            <a:spAutoFit/>
          </a:bodyPr>
          <a:lstStyle/>
          <a:p>
            <a:pPr marL="457200" indent="-457200" algn="ctr" eaLnBrk="0" hangingPunct="0">
              <a:buFont typeface="Arial" charset="0"/>
              <a:buNone/>
            </a:pPr>
            <a:r>
              <a:rPr kumimoji="0" lang="zh-CN" altLang="en-US" sz="1500" b="1">
                <a:solidFill>
                  <a:srgbClr val="CC0000"/>
                </a:solidFill>
                <a:latin typeface="华文中宋"/>
                <a:ea typeface="华文中宋"/>
                <a:cs typeface="Times New Roman" pitchFamily="18" charset="0"/>
              </a:rPr>
              <a:t>平面波</a:t>
            </a:r>
          </a:p>
        </p:txBody>
      </p:sp>
      <p:grpSp>
        <p:nvGrpSpPr>
          <p:cNvPr id="6" name="Group 6"/>
          <p:cNvGrpSpPr>
            <a:grpSpLocks/>
          </p:cNvGrpSpPr>
          <p:nvPr/>
        </p:nvGrpSpPr>
        <p:grpSpPr bwMode="auto">
          <a:xfrm>
            <a:off x="1619250" y="2173288"/>
            <a:ext cx="2476500" cy="1046162"/>
            <a:chOff x="3872" y="2302"/>
            <a:chExt cx="1560" cy="879"/>
          </a:xfrm>
        </p:grpSpPr>
        <p:sp>
          <p:nvSpPr>
            <p:cNvPr id="44128" name="AutoShape 7"/>
            <p:cNvSpPr>
              <a:spLocks noChangeArrowheads="1"/>
            </p:cNvSpPr>
            <p:nvPr/>
          </p:nvSpPr>
          <p:spPr bwMode="auto">
            <a:xfrm rot="16200000" flipH="1">
              <a:off x="4557" y="2581"/>
              <a:ext cx="869" cy="312"/>
            </a:xfrm>
            <a:prstGeom prst="parallelogram">
              <a:avLst>
                <a:gd name="adj" fmla="val 97432"/>
              </a:avLst>
            </a:prstGeom>
            <a:solidFill>
              <a:schemeClr val="bg1"/>
            </a:solidFill>
            <a:ln w="19050">
              <a:solidFill>
                <a:srgbClr val="0000FF"/>
              </a:solidFill>
              <a:miter lim="800000"/>
              <a:headEnd/>
              <a:tailEnd/>
            </a:ln>
          </p:spPr>
          <p:txBody>
            <a:bodyPr vert="eaVert" wrap="none" anchor="ctr"/>
            <a:lstStyle/>
            <a:p>
              <a:endParaRPr kumimoji="0" lang="zh-CN" altLang="zh-CN" sz="1800">
                <a:cs typeface="Times New Roman" pitchFamily="18" charset="0"/>
              </a:endParaRPr>
            </a:p>
          </p:txBody>
        </p:sp>
        <p:sp>
          <p:nvSpPr>
            <p:cNvPr id="44129" name="AutoShape 8"/>
            <p:cNvSpPr>
              <a:spLocks noChangeArrowheads="1"/>
            </p:cNvSpPr>
            <p:nvPr/>
          </p:nvSpPr>
          <p:spPr bwMode="auto">
            <a:xfrm rot="16200000" flipH="1">
              <a:off x="3877" y="2581"/>
              <a:ext cx="869" cy="312"/>
            </a:xfrm>
            <a:prstGeom prst="parallelogram">
              <a:avLst>
                <a:gd name="adj" fmla="val 97432"/>
              </a:avLst>
            </a:prstGeom>
            <a:solidFill>
              <a:schemeClr val="bg1"/>
            </a:solidFill>
            <a:ln w="19050">
              <a:solidFill>
                <a:srgbClr val="0000FF"/>
              </a:solidFill>
              <a:miter lim="800000"/>
              <a:headEnd/>
              <a:tailEnd/>
            </a:ln>
          </p:spPr>
          <p:txBody>
            <a:bodyPr vert="eaVert" wrap="none" anchor="ctr"/>
            <a:lstStyle/>
            <a:p>
              <a:endParaRPr kumimoji="0" lang="zh-CN" altLang="zh-CN" sz="1800">
                <a:cs typeface="Times New Roman" pitchFamily="18" charset="0"/>
              </a:endParaRPr>
            </a:p>
          </p:txBody>
        </p:sp>
        <p:sp>
          <p:nvSpPr>
            <p:cNvPr id="44130" name="Line 9"/>
            <p:cNvSpPr>
              <a:spLocks noChangeShapeType="1"/>
            </p:cNvSpPr>
            <p:nvPr/>
          </p:nvSpPr>
          <p:spPr bwMode="auto">
            <a:xfrm>
              <a:off x="3872" y="2812"/>
              <a:ext cx="284" cy="0"/>
            </a:xfrm>
            <a:prstGeom prst="line">
              <a:avLst/>
            </a:prstGeom>
            <a:noFill/>
            <a:ln w="19050">
              <a:solidFill>
                <a:srgbClr val="A50021"/>
              </a:solidFill>
              <a:round/>
              <a:headEnd/>
              <a:tailEnd/>
            </a:ln>
          </p:spPr>
          <p:txBody>
            <a:bodyPr/>
            <a:lstStyle/>
            <a:p>
              <a:endParaRPr lang="zh-CN" altLang="en-US"/>
            </a:p>
          </p:txBody>
        </p:sp>
        <p:sp>
          <p:nvSpPr>
            <p:cNvPr id="44131" name="Line 10"/>
            <p:cNvSpPr>
              <a:spLocks noChangeShapeType="1"/>
            </p:cNvSpPr>
            <p:nvPr/>
          </p:nvSpPr>
          <p:spPr bwMode="auto">
            <a:xfrm>
              <a:off x="4354" y="2812"/>
              <a:ext cx="482" cy="0"/>
            </a:xfrm>
            <a:prstGeom prst="line">
              <a:avLst/>
            </a:prstGeom>
            <a:noFill/>
            <a:ln w="19050">
              <a:solidFill>
                <a:srgbClr val="A50021"/>
              </a:solidFill>
              <a:round/>
              <a:headEnd/>
              <a:tailEnd type="triangle" w="med" len="med"/>
            </a:ln>
          </p:spPr>
          <p:txBody>
            <a:bodyPr/>
            <a:lstStyle/>
            <a:p>
              <a:endParaRPr lang="zh-CN" altLang="en-US"/>
            </a:p>
          </p:txBody>
        </p:sp>
        <p:sp>
          <p:nvSpPr>
            <p:cNvPr id="44132" name="Line 11"/>
            <p:cNvSpPr>
              <a:spLocks noChangeShapeType="1"/>
            </p:cNvSpPr>
            <p:nvPr/>
          </p:nvSpPr>
          <p:spPr bwMode="auto">
            <a:xfrm>
              <a:off x="5035" y="2812"/>
              <a:ext cx="397" cy="0"/>
            </a:xfrm>
            <a:prstGeom prst="line">
              <a:avLst/>
            </a:prstGeom>
            <a:noFill/>
            <a:ln w="19050">
              <a:solidFill>
                <a:srgbClr val="A50021"/>
              </a:solidFill>
              <a:round/>
              <a:headEnd/>
              <a:tailEnd type="triangle" w="med" len="med"/>
            </a:ln>
          </p:spPr>
          <p:txBody>
            <a:bodyPr/>
            <a:lstStyle/>
            <a:p>
              <a:endParaRPr lang="zh-CN" altLang="en-US"/>
            </a:p>
          </p:txBody>
        </p:sp>
        <p:sp>
          <p:nvSpPr>
            <p:cNvPr id="44133" name="Line 12"/>
            <p:cNvSpPr>
              <a:spLocks noChangeShapeType="1"/>
            </p:cNvSpPr>
            <p:nvPr/>
          </p:nvSpPr>
          <p:spPr bwMode="auto">
            <a:xfrm>
              <a:off x="3872" y="2670"/>
              <a:ext cx="284" cy="0"/>
            </a:xfrm>
            <a:prstGeom prst="line">
              <a:avLst/>
            </a:prstGeom>
            <a:noFill/>
            <a:ln w="19050">
              <a:solidFill>
                <a:srgbClr val="A50021"/>
              </a:solidFill>
              <a:round/>
              <a:headEnd/>
              <a:tailEnd/>
            </a:ln>
          </p:spPr>
          <p:txBody>
            <a:bodyPr/>
            <a:lstStyle/>
            <a:p>
              <a:endParaRPr lang="zh-CN" altLang="en-US"/>
            </a:p>
          </p:txBody>
        </p:sp>
        <p:sp>
          <p:nvSpPr>
            <p:cNvPr id="44134" name="Line 13"/>
            <p:cNvSpPr>
              <a:spLocks noChangeShapeType="1"/>
            </p:cNvSpPr>
            <p:nvPr/>
          </p:nvSpPr>
          <p:spPr bwMode="auto">
            <a:xfrm>
              <a:off x="4354" y="2670"/>
              <a:ext cx="482" cy="0"/>
            </a:xfrm>
            <a:prstGeom prst="line">
              <a:avLst/>
            </a:prstGeom>
            <a:noFill/>
            <a:ln w="19050">
              <a:solidFill>
                <a:srgbClr val="A50021"/>
              </a:solidFill>
              <a:round/>
              <a:headEnd/>
              <a:tailEnd type="triangle" w="med" len="med"/>
            </a:ln>
          </p:spPr>
          <p:txBody>
            <a:bodyPr/>
            <a:lstStyle/>
            <a:p>
              <a:endParaRPr lang="zh-CN" altLang="en-US"/>
            </a:p>
          </p:txBody>
        </p:sp>
        <p:sp>
          <p:nvSpPr>
            <p:cNvPr id="44135" name="Line 14"/>
            <p:cNvSpPr>
              <a:spLocks noChangeShapeType="1"/>
            </p:cNvSpPr>
            <p:nvPr/>
          </p:nvSpPr>
          <p:spPr bwMode="auto">
            <a:xfrm>
              <a:off x="5035" y="2670"/>
              <a:ext cx="397" cy="0"/>
            </a:xfrm>
            <a:prstGeom prst="line">
              <a:avLst/>
            </a:prstGeom>
            <a:noFill/>
            <a:ln w="19050">
              <a:solidFill>
                <a:srgbClr val="A50021"/>
              </a:solidFill>
              <a:round/>
              <a:headEnd/>
              <a:tailEnd type="triangle" w="med" len="med"/>
            </a:ln>
          </p:spPr>
          <p:txBody>
            <a:bodyPr/>
            <a:lstStyle/>
            <a:p>
              <a:endParaRPr lang="zh-CN" altLang="en-US"/>
            </a:p>
          </p:txBody>
        </p:sp>
        <p:sp>
          <p:nvSpPr>
            <p:cNvPr id="44136" name="Rectangle 15"/>
            <p:cNvSpPr>
              <a:spLocks noChangeArrowheads="1"/>
            </p:cNvSpPr>
            <p:nvPr/>
          </p:nvSpPr>
          <p:spPr bwMode="auto">
            <a:xfrm>
              <a:off x="4556" y="2309"/>
              <a:ext cx="243" cy="272"/>
            </a:xfrm>
            <a:prstGeom prst="rect">
              <a:avLst/>
            </a:prstGeom>
            <a:noFill/>
            <a:ln w="9525">
              <a:noFill/>
              <a:miter lim="800000"/>
              <a:headEnd/>
              <a:tailEnd/>
            </a:ln>
          </p:spPr>
          <p:txBody>
            <a:bodyPr>
              <a:spAutoFit/>
            </a:bodyPr>
            <a:lstStyle/>
            <a:p>
              <a:r>
                <a:rPr kumimoji="0" lang="en-US" altLang="zh-CN" sz="1500" i="1">
                  <a:cs typeface="Times New Roman" pitchFamily="18" charset="0"/>
                </a:rPr>
                <a:t>u</a:t>
              </a:r>
            </a:p>
          </p:txBody>
        </p:sp>
        <p:sp>
          <p:nvSpPr>
            <p:cNvPr id="44137" name="Rectangle 16"/>
            <p:cNvSpPr>
              <a:spLocks noChangeArrowheads="1"/>
            </p:cNvSpPr>
            <p:nvPr/>
          </p:nvSpPr>
          <p:spPr bwMode="auto">
            <a:xfrm>
              <a:off x="4836" y="2788"/>
              <a:ext cx="177" cy="272"/>
            </a:xfrm>
            <a:prstGeom prst="rect">
              <a:avLst/>
            </a:prstGeom>
            <a:noFill/>
            <a:ln w="9525">
              <a:noFill/>
              <a:miter lim="800000"/>
              <a:headEnd/>
              <a:tailEnd/>
            </a:ln>
          </p:spPr>
          <p:txBody>
            <a:bodyPr wrap="none">
              <a:spAutoFit/>
            </a:bodyPr>
            <a:lstStyle/>
            <a:p>
              <a:r>
                <a:rPr kumimoji="0" lang="en-US" altLang="zh-CN" sz="1500" i="1">
                  <a:cs typeface="Times New Roman" pitchFamily="18" charset="0"/>
                  <a:sym typeface="Symbol" pitchFamily="18" charset="2"/>
                </a:rPr>
                <a:t>S</a:t>
              </a:r>
            </a:p>
          </p:txBody>
        </p:sp>
        <p:sp>
          <p:nvSpPr>
            <p:cNvPr id="44138" name="Rectangle 17"/>
            <p:cNvSpPr>
              <a:spLocks noChangeArrowheads="1"/>
            </p:cNvSpPr>
            <p:nvPr/>
          </p:nvSpPr>
          <p:spPr bwMode="auto">
            <a:xfrm>
              <a:off x="4156" y="2784"/>
              <a:ext cx="177" cy="272"/>
            </a:xfrm>
            <a:prstGeom prst="rect">
              <a:avLst/>
            </a:prstGeom>
            <a:noFill/>
            <a:ln w="9525">
              <a:noFill/>
              <a:miter lim="800000"/>
              <a:headEnd/>
              <a:tailEnd/>
            </a:ln>
          </p:spPr>
          <p:txBody>
            <a:bodyPr wrap="none">
              <a:spAutoFit/>
            </a:bodyPr>
            <a:lstStyle/>
            <a:p>
              <a:r>
                <a:rPr kumimoji="0" lang="en-US" altLang="zh-CN" sz="1500" i="1">
                  <a:cs typeface="Times New Roman" pitchFamily="18" charset="0"/>
                  <a:sym typeface="Symbol" pitchFamily="18" charset="2"/>
                </a:rPr>
                <a:t>S</a:t>
              </a:r>
            </a:p>
          </p:txBody>
        </p:sp>
        <p:sp>
          <p:nvSpPr>
            <p:cNvPr id="44139" name="Line 18"/>
            <p:cNvSpPr>
              <a:spLocks noChangeShapeType="1"/>
            </p:cNvSpPr>
            <p:nvPr/>
          </p:nvSpPr>
          <p:spPr bwMode="auto">
            <a:xfrm>
              <a:off x="4468" y="2302"/>
              <a:ext cx="680" cy="0"/>
            </a:xfrm>
            <a:prstGeom prst="line">
              <a:avLst/>
            </a:prstGeom>
            <a:noFill/>
            <a:ln w="9525">
              <a:solidFill>
                <a:schemeClr val="tx1"/>
              </a:solidFill>
              <a:prstDash val="dash"/>
              <a:round/>
              <a:headEnd/>
              <a:tailEnd/>
            </a:ln>
          </p:spPr>
          <p:txBody>
            <a:bodyPr/>
            <a:lstStyle/>
            <a:p>
              <a:endParaRPr lang="zh-CN" altLang="en-US"/>
            </a:p>
          </p:txBody>
        </p:sp>
        <p:sp>
          <p:nvSpPr>
            <p:cNvPr id="44140" name="Line 19"/>
            <p:cNvSpPr>
              <a:spLocks noChangeShapeType="1"/>
            </p:cNvSpPr>
            <p:nvPr/>
          </p:nvSpPr>
          <p:spPr bwMode="auto">
            <a:xfrm>
              <a:off x="4156" y="3181"/>
              <a:ext cx="680" cy="0"/>
            </a:xfrm>
            <a:prstGeom prst="line">
              <a:avLst/>
            </a:prstGeom>
            <a:noFill/>
            <a:ln w="9525">
              <a:solidFill>
                <a:schemeClr val="tx1"/>
              </a:solidFill>
              <a:prstDash val="dash"/>
              <a:round/>
              <a:headEnd/>
              <a:tailEnd/>
            </a:ln>
          </p:spPr>
          <p:txBody>
            <a:bodyPr/>
            <a:lstStyle/>
            <a:p>
              <a:endParaRPr lang="zh-CN" altLang="en-US"/>
            </a:p>
          </p:txBody>
        </p:sp>
        <p:sp>
          <p:nvSpPr>
            <p:cNvPr id="44141" name="Line 20"/>
            <p:cNvSpPr>
              <a:spLocks noChangeShapeType="1"/>
            </p:cNvSpPr>
            <p:nvPr/>
          </p:nvSpPr>
          <p:spPr bwMode="auto">
            <a:xfrm>
              <a:off x="4156" y="2614"/>
              <a:ext cx="680" cy="0"/>
            </a:xfrm>
            <a:prstGeom prst="line">
              <a:avLst/>
            </a:prstGeom>
            <a:noFill/>
            <a:ln w="9525">
              <a:solidFill>
                <a:schemeClr val="tx1"/>
              </a:solidFill>
              <a:prstDash val="dash"/>
              <a:round/>
              <a:headEnd/>
              <a:tailEnd/>
            </a:ln>
          </p:spPr>
          <p:txBody>
            <a:bodyPr/>
            <a:lstStyle/>
            <a:p>
              <a:endParaRPr lang="zh-CN" altLang="en-US"/>
            </a:p>
          </p:txBody>
        </p:sp>
        <p:sp>
          <p:nvSpPr>
            <p:cNvPr id="44142" name="Line 21"/>
            <p:cNvSpPr>
              <a:spLocks noChangeShapeType="1"/>
            </p:cNvSpPr>
            <p:nvPr/>
          </p:nvSpPr>
          <p:spPr bwMode="auto">
            <a:xfrm>
              <a:off x="4468" y="2869"/>
              <a:ext cx="680" cy="0"/>
            </a:xfrm>
            <a:prstGeom prst="line">
              <a:avLst/>
            </a:prstGeom>
            <a:noFill/>
            <a:ln w="9525">
              <a:solidFill>
                <a:srgbClr val="A50021"/>
              </a:solidFill>
              <a:prstDash val="dash"/>
              <a:round/>
              <a:headEnd/>
              <a:tailEnd/>
            </a:ln>
          </p:spPr>
          <p:txBody>
            <a:bodyPr/>
            <a:lstStyle/>
            <a:p>
              <a:endParaRPr lang="zh-CN" altLang="en-US"/>
            </a:p>
          </p:txBody>
        </p:sp>
      </p:grpSp>
      <p:graphicFrame>
        <p:nvGraphicFramePr>
          <p:cNvPr id="4" name="Object 71"/>
          <p:cNvGraphicFramePr>
            <a:graphicFrameLocks noChangeAspect="1"/>
          </p:cNvGraphicFramePr>
          <p:nvPr/>
        </p:nvGraphicFramePr>
        <p:xfrm>
          <a:off x="1692275" y="3292475"/>
          <a:ext cx="2012950" cy="300038"/>
        </p:xfrm>
        <a:graphic>
          <a:graphicData uri="http://schemas.openxmlformats.org/presentationml/2006/ole">
            <p:oleObj spid="_x0000_s44103" name="公式" r:id="rId6" imgW="1079032" imgH="215806" progId="Equation.3">
              <p:embed/>
            </p:oleObj>
          </a:graphicData>
        </a:graphic>
      </p:graphicFrame>
      <p:graphicFrame>
        <p:nvGraphicFramePr>
          <p:cNvPr id="5" name="Object 72"/>
          <p:cNvGraphicFramePr>
            <a:graphicFrameLocks noChangeAspect="1"/>
          </p:cNvGraphicFramePr>
          <p:nvPr/>
        </p:nvGraphicFramePr>
        <p:xfrm>
          <a:off x="971550" y="3636963"/>
          <a:ext cx="3576638" cy="550862"/>
        </p:xfrm>
        <a:graphic>
          <a:graphicData uri="http://schemas.openxmlformats.org/presentationml/2006/ole">
            <p:oleObj spid="_x0000_s44104" name="公式" r:id="rId7" imgW="1981200" imgH="406400" progId="Equation.3">
              <p:embed/>
            </p:oleObj>
          </a:graphicData>
        </a:graphic>
      </p:graphicFrame>
      <p:sp>
        <p:nvSpPr>
          <p:cNvPr id="7" name="TextBox 6"/>
          <p:cNvSpPr txBox="1">
            <a:spLocks noChangeArrowheads="1"/>
          </p:cNvSpPr>
          <p:nvPr/>
        </p:nvSpPr>
        <p:spPr bwMode="auto">
          <a:xfrm>
            <a:off x="2089150" y="4222750"/>
            <a:ext cx="835025" cy="368300"/>
          </a:xfrm>
          <a:prstGeom prst="rect">
            <a:avLst/>
          </a:prstGeom>
          <a:noFill/>
          <a:ln w="9525">
            <a:noFill/>
            <a:miter lim="800000"/>
            <a:headEnd/>
            <a:tailEnd/>
          </a:ln>
        </p:spPr>
        <p:txBody>
          <a:bodyPr wrap="none">
            <a:spAutoFit/>
          </a:bodyPr>
          <a:lstStyle/>
          <a:p>
            <a:r>
              <a:rPr kumimoji="0" lang="en-US" altLang="zh-CN" sz="1800" b="1" i="1"/>
              <a:t>A</a:t>
            </a:r>
            <a:r>
              <a:rPr kumimoji="0" lang="en-US" altLang="zh-CN" sz="1800" b="1" baseline="-25000"/>
              <a:t>1</a:t>
            </a:r>
            <a:r>
              <a:rPr kumimoji="0" lang="en-US" altLang="zh-CN" sz="1800" b="1"/>
              <a:t> =</a:t>
            </a:r>
            <a:r>
              <a:rPr kumimoji="0" lang="en-US" altLang="zh-CN" sz="1800" b="1" i="1"/>
              <a:t>A</a:t>
            </a:r>
            <a:r>
              <a:rPr kumimoji="0" lang="en-US" altLang="zh-CN" sz="1800" b="1" baseline="-25000"/>
              <a:t>2</a:t>
            </a:r>
            <a:endParaRPr kumimoji="0" lang="en-US" altLang="zh-CN" sz="1800" b="1"/>
          </a:p>
        </p:txBody>
      </p:sp>
      <p:sp>
        <p:nvSpPr>
          <p:cNvPr id="2" name="Text Box 26"/>
          <p:cNvSpPr txBox="1">
            <a:spLocks noChangeArrowheads="1"/>
          </p:cNvSpPr>
          <p:nvPr/>
        </p:nvSpPr>
        <p:spPr bwMode="auto">
          <a:xfrm>
            <a:off x="5197475" y="2139950"/>
            <a:ext cx="1103313" cy="322263"/>
          </a:xfrm>
          <a:prstGeom prst="rect">
            <a:avLst/>
          </a:prstGeom>
          <a:noFill/>
          <a:ln w="9525">
            <a:noFill/>
            <a:miter lim="800000"/>
            <a:headEnd/>
            <a:tailEnd/>
          </a:ln>
        </p:spPr>
        <p:txBody>
          <a:bodyPr>
            <a:spAutoFit/>
          </a:bodyPr>
          <a:lstStyle/>
          <a:p>
            <a:pPr marL="457200" indent="-457200" algn="ctr">
              <a:buFont typeface="Arial" charset="0"/>
              <a:buNone/>
            </a:pPr>
            <a:r>
              <a:rPr lang="zh-CN" altLang="en-US" sz="1500" b="1">
                <a:solidFill>
                  <a:srgbClr val="CC0000"/>
                </a:solidFill>
                <a:latin typeface="华文中宋"/>
                <a:ea typeface="华文中宋"/>
                <a:cs typeface="华文中宋"/>
              </a:rPr>
              <a:t>球面波</a:t>
            </a:r>
          </a:p>
        </p:txBody>
      </p:sp>
      <p:grpSp>
        <p:nvGrpSpPr>
          <p:cNvPr id="8" name="Group 27"/>
          <p:cNvGrpSpPr>
            <a:grpSpLocks/>
          </p:cNvGrpSpPr>
          <p:nvPr/>
        </p:nvGrpSpPr>
        <p:grpSpPr bwMode="auto">
          <a:xfrm>
            <a:off x="6011863" y="1924050"/>
            <a:ext cx="1800225" cy="1350963"/>
            <a:chOff x="3957" y="204"/>
            <a:chExt cx="1446" cy="1418"/>
          </a:xfrm>
        </p:grpSpPr>
        <p:sp>
          <p:nvSpPr>
            <p:cNvPr id="44118" name="Oval 28"/>
            <p:cNvSpPr>
              <a:spLocks noChangeArrowheads="1"/>
            </p:cNvSpPr>
            <p:nvPr/>
          </p:nvSpPr>
          <p:spPr bwMode="auto">
            <a:xfrm>
              <a:off x="4156" y="431"/>
              <a:ext cx="1048" cy="1048"/>
            </a:xfrm>
            <a:prstGeom prst="ellipse">
              <a:avLst/>
            </a:prstGeom>
            <a:noFill/>
            <a:ln w="19050">
              <a:solidFill>
                <a:schemeClr val="hlink"/>
              </a:solidFill>
              <a:round/>
              <a:headEnd/>
              <a:tailEnd/>
            </a:ln>
          </p:spPr>
          <p:txBody>
            <a:bodyPr wrap="none" anchor="ctr"/>
            <a:lstStyle/>
            <a:p>
              <a:endParaRPr kumimoji="0" lang="zh-CN" altLang="zh-CN" sz="1800"/>
            </a:p>
          </p:txBody>
        </p:sp>
        <p:sp>
          <p:nvSpPr>
            <p:cNvPr id="44119" name="Oval 29"/>
            <p:cNvSpPr>
              <a:spLocks noChangeArrowheads="1"/>
            </p:cNvSpPr>
            <p:nvPr/>
          </p:nvSpPr>
          <p:spPr bwMode="auto">
            <a:xfrm>
              <a:off x="4354" y="629"/>
              <a:ext cx="652" cy="652"/>
            </a:xfrm>
            <a:prstGeom prst="ellipse">
              <a:avLst/>
            </a:prstGeom>
            <a:noFill/>
            <a:ln w="19050">
              <a:solidFill>
                <a:schemeClr val="hlink"/>
              </a:solidFill>
              <a:round/>
              <a:headEnd/>
              <a:tailEnd/>
            </a:ln>
          </p:spPr>
          <p:txBody>
            <a:bodyPr wrap="none" anchor="ctr"/>
            <a:lstStyle/>
            <a:p>
              <a:pPr algn="ctr"/>
              <a:endParaRPr kumimoji="0" lang="zh-CN" altLang="zh-CN" sz="1800"/>
            </a:p>
          </p:txBody>
        </p:sp>
        <p:sp>
          <p:nvSpPr>
            <p:cNvPr id="44120" name="Line 30"/>
            <p:cNvSpPr>
              <a:spLocks noChangeShapeType="1"/>
            </p:cNvSpPr>
            <p:nvPr/>
          </p:nvSpPr>
          <p:spPr bwMode="auto">
            <a:xfrm>
              <a:off x="3957" y="969"/>
              <a:ext cx="1446" cy="0"/>
            </a:xfrm>
            <a:prstGeom prst="line">
              <a:avLst/>
            </a:prstGeom>
            <a:noFill/>
            <a:ln w="9525">
              <a:solidFill>
                <a:srgbClr val="A50021"/>
              </a:solidFill>
              <a:round/>
              <a:headEnd type="triangle" w="med" len="med"/>
              <a:tailEnd type="triangle" w="med" len="med"/>
            </a:ln>
          </p:spPr>
          <p:txBody>
            <a:bodyPr/>
            <a:lstStyle/>
            <a:p>
              <a:endParaRPr lang="zh-CN" altLang="en-US"/>
            </a:p>
          </p:txBody>
        </p:sp>
        <p:sp>
          <p:nvSpPr>
            <p:cNvPr id="44121" name="Line 31"/>
            <p:cNvSpPr>
              <a:spLocks noChangeShapeType="1"/>
            </p:cNvSpPr>
            <p:nvPr/>
          </p:nvSpPr>
          <p:spPr bwMode="auto">
            <a:xfrm>
              <a:off x="4694" y="261"/>
              <a:ext cx="0" cy="1361"/>
            </a:xfrm>
            <a:prstGeom prst="line">
              <a:avLst/>
            </a:prstGeom>
            <a:noFill/>
            <a:ln w="9525">
              <a:solidFill>
                <a:srgbClr val="A50021"/>
              </a:solidFill>
              <a:round/>
              <a:headEnd type="triangle" w="med" len="med"/>
              <a:tailEnd type="triangle" w="med" len="med"/>
            </a:ln>
          </p:spPr>
          <p:txBody>
            <a:bodyPr/>
            <a:lstStyle/>
            <a:p>
              <a:endParaRPr lang="zh-CN" altLang="en-US"/>
            </a:p>
          </p:txBody>
        </p:sp>
        <p:sp>
          <p:nvSpPr>
            <p:cNvPr id="44122" name="Line 32"/>
            <p:cNvSpPr>
              <a:spLocks noChangeShapeType="1"/>
            </p:cNvSpPr>
            <p:nvPr/>
          </p:nvSpPr>
          <p:spPr bwMode="auto">
            <a:xfrm flipH="1">
              <a:off x="4184" y="459"/>
              <a:ext cx="1021" cy="1021"/>
            </a:xfrm>
            <a:prstGeom prst="line">
              <a:avLst/>
            </a:prstGeom>
            <a:noFill/>
            <a:ln w="9525">
              <a:solidFill>
                <a:srgbClr val="A50021"/>
              </a:solidFill>
              <a:round/>
              <a:headEnd type="triangle" w="med" len="med"/>
              <a:tailEnd type="triangle" w="med" len="med"/>
            </a:ln>
          </p:spPr>
          <p:txBody>
            <a:bodyPr/>
            <a:lstStyle/>
            <a:p>
              <a:endParaRPr lang="zh-CN" altLang="en-US"/>
            </a:p>
          </p:txBody>
        </p:sp>
        <p:sp>
          <p:nvSpPr>
            <p:cNvPr id="44123" name="Line 33"/>
            <p:cNvSpPr>
              <a:spLocks noChangeShapeType="1"/>
            </p:cNvSpPr>
            <p:nvPr/>
          </p:nvSpPr>
          <p:spPr bwMode="auto">
            <a:xfrm>
              <a:off x="4184" y="459"/>
              <a:ext cx="992" cy="992"/>
            </a:xfrm>
            <a:prstGeom prst="line">
              <a:avLst/>
            </a:prstGeom>
            <a:noFill/>
            <a:ln w="9525">
              <a:solidFill>
                <a:srgbClr val="A50021"/>
              </a:solidFill>
              <a:round/>
              <a:headEnd type="triangle" w="med" len="med"/>
              <a:tailEnd type="triangle" w="med" len="med"/>
            </a:ln>
          </p:spPr>
          <p:txBody>
            <a:bodyPr/>
            <a:lstStyle/>
            <a:p>
              <a:endParaRPr lang="zh-CN" altLang="en-US"/>
            </a:p>
          </p:txBody>
        </p:sp>
        <p:sp>
          <p:nvSpPr>
            <p:cNvPr id="44124" name="Line 34"/>
            <p:cNvSpPr>
              <a:spLocks noChangeShapeType="1"/>
            </p:cNvSpPr>
            <p:nvPr/>
          </p:nvSpPr>
          <p:spPr bwMode="auto">
            <a:xfrm flipV="1">
              <a:off x="4694" y="487"/>
              <a:ext cx="227" cy="482"/>
            </a:xfrm>
            <a:prstGeom prst="line">
              <a:avLst/>
            </a:prstGeom>
            <a:noFill/>
            <a:ln w="9525">
              <a:solidFill>
                <a:srgbClr val="0000FF"/>
              </a:solidFill>
              <a:round/>
              <a:headEnd/>
              <a:tailEnd type="triangle" w="med" len="med"/>
            </a:ln>
          </p:spPr>
          <p:txBody>
            <a:bodyPr/>
            <a:lstStyle/>
            <a:p>
              <a:endParaRPr lang="zh-CN" altLang="en-US"/>
            </a:p>
          </p:txBody>
        </p:sp>
        <p:sp>
          <p:nvSpPr>
            <p:cNvPr id="44125" name="Line 35"/>
            <p:cNvSpPr>
              <a:spLocks noChangeShapeType="1"/>
            </p:cNvSpPr>
            <p:nvPr/>
          </p:nvSpPr>
          <p:spPr bwMode="auto">
            <a:xfrm>
              <a:off x="4723" y="969"/>
              <a:ext cx="255" cy="114"/>
            </a:xfrm>
            <a:prstGeom prst="line">
              <a:avLst/>
            </a:prstGeom>
            <a:noFill/>
            <a:ln w="9525">
              <a:solidFill>
                <a:schemeClr val="tx1"/>
              </a:solidFill>
              <a:round/>
              <a:headEnd/>
              <a:tailEnd type="triangle" w="med" len="med"/>
            </a:ln>
          </p:spPr>
          <p:txBody>
            <a:bodyPr/>
            <a:lstStyle/>
            <a:p>
              <a:endParaRPr lang="zh-CN" altLang="en-US"/>
            </a:p>
          </p:txBody>
        </p:sp>
        <p:sp>
          <p:nvSpPr>
            <p:cNvPr id="44126" name="Text Box 36"/>
            <p:cNvSpPr txBox="1">
              <a:spLocks noChangeArrowheads="1"/>
            </p:cNvSpPr>
            <p:nvPr/>
          </p:nvSpPr>
          <p:spPr bwMode="auto">
            <a:xfrm>
              <a:off x="4921" y="969"/>
              <a:ext cx="260" cy="339"/>
            </a:xfrm>
            <a:prstGeom prst="rect">
              <a:avLst/>
            </a:prstGeom>
            <a:noFill/>
            <a:ln w="9525">
              <a:noFill/>
              <a:miter lim="800000"/>
              <a:headEnd/>
              <a:tailEnd/>
            </a:ln>
          </p:spPr>
          <p:txBody>
            <a:bodyPr wrap="none">
              <a:spAutoFit/>
            </a:bodyPr>
            <a:lstStyle/>
            <a:p>
              <a:r>
                <a:rPr kumimoji="0" lang="en-US" altLang="zh-CN" sz="1500" b="1" i="1">
                  <a:solidFill>
                    <a:srgbClr val="0000FF"/>
                  </a:solidFill>
                </a:rPr>
                <a:t>r</a:t>
              </a:r>
              <a:r>
                <a:rPr kumimoji="0" lang="en-US" altLang="zh-CN" sz="1500" b="1" baseline="-25000">
                  <a:solidFill>
                    <a:srgbClr val="0000FF"/>
                  </a:solidFill>
                </a:rPr>
                <a:t>1</a:t>
              </a:r>
              <a:endParaRPr kumimoji="0" lang="en-US" altLang="zh-CN" sz="1500" b="1">
                <a:solidFill>
                  <a:srgbClr val="0000FF"/>
                </a:solidFill>
              </a:endParaRPr>
            </a:p>
          </p:txBody>
        </p:sp>
        <p:sp>
          <p:nvSpPr>
            <p:cNvPr id="44127" name="Text Box 37"/>
            <p:cNvSpPr txBox="1">
              <a:spLocks noChangeArrowheads="1"/>
            </p:cNvSpPr>
            <p:nvPr/>
          </p:nvSpPr>
          <p:spPr bwMode="auto">
            <a:xfrm>
              <a:off x="4836" y="204"/>
              <a:ext cx="260" cy="339"/>
            </a:xfrm>
            <a:prstGeom prst="rect">
              <a:avLst/>
            </a:prstGeom>
            <a:noFill/>
            <a:ln w="9525">
              <a:noFill/>
              <a:miter lim="800000"/>
              <a:headEnd/>
              <a:tailEnd/>
            </a:ln>
          </p:spPr>
          <p:txBody>
            <a:bodyPr wrap="none">
              <a:spAutoFit/>
            </a:bodyPr>
            <a:lstStyle/>
            <a:p>
              <a:r>
                <a:rPr kumimoji="0" lang="en-US" altLang="zh-CN" sz="1500" b="1" i="1">
                  <a:solidFill>
                    <a:srgbClr val="0000FF"/>
                  </a:solidFill>
                </a:rPr>
                <a:t>r</a:t>
              </a:r>
              <a:r>
                <a:rPr kumimoji="0" lang="en-US" altLang="zh-CN" sz="1500" b="1" baseline="-25000">
                  <a:solidFill>
                    <a:srgbClr val="0000FF"/>
                  </a:solidFill>
                </a:rPr>
                <a:t>2</a:t>
              </a:r>
              <a:endParaRPr kumimoji="0" lang="en-US" altLang="zh-CN" sz="1500" b="1">
                <a:solidFill>
                  <a:srgbClr val="0000FF"/>
                </a:solidFill>
              </a:endParaRPr>
            </a:p>
          </p:txBody>
        </p:sp>
      </p:grpSp>
      <p:graphicFrame>
        <p:nvGraphicFramePr>
          <p:cNvPr id="16" name="Object 73"/>
          <p:cNvGraphicFramePr>
            <a:graphicFrameLocks noChangeAspect="1"/>
          </p:cNvGraphicFramePr>
          <p:nvPr/>
        </p:nvGraphicFramePr>
        <p:xfrm>
          <a:off x="5027613" y="3209925"/>
          <a:ext cx="3576637" cy="550863"/>
        </p:xfrm>
        <a:graphic>
          <a:graphicData uri="http://schemas.openxmlformats.org/presentationml/2006/ole">
            <p:oleObj spid="_x0000_s44105" name="公式" r:id="rId8" imgW="1981200" imgH="406400" progId="Equation.3">
              <p:embed/>
            </p:oleObj>
          </a:graphicData>
        </a:graphic>
      </p:graphicFrame>
      <p:graphicFrame>
        <p:nvGraphicFramePr>
          <p:cNvPr id="17" name="Object 74"/>
          <p:cNvGraphicFramePr>
            <a:graphicFrameLocks noChangeAspect="1"/>
          </p:cNvGraphicFramePr>
          <p:nvPr/>
        </p:nvGraphicFramePr>
        <p:xfrm>
          <a:off x="5387975" y="3849688"/>
          <a:ext cx="1266825" cy="342900"/>
        </p:xfrm>
        <a:graphic>
          <a:graphicData uri="http://schemas.openxmlformats.org/presentationml/2006/ole">
            <p:oleObj spid="_x0000_s44106" name="公式" r:id="rId9" imgW="634725" imgH="228501" progId="Equation.3">
              <p:embed/>
            </p:oleObj>
          </a:graphicData>
        </a:graphic>
      </p:graphicFrame>
      <p:graphicFrame>
        <p:nvGraphicFramePr>
          <p:cNvPr id="18" name="Object 75"/>
          <p:cNvGraphicFramePr>
            <a:graphicFrameLocks noChangeAspect="1"/>
          </p:cNvGraphicFramePr>
          <p:nvPr/>
        </p:nvGraphicFramePr>
        <p:xfrm>
          <a:off x="7051675" y="3849688"/>
          <a:ext cx="1265238" cy="342900"/>
        </p:xfrm>
        <a:graphic>
          <a:graphicData uri="http://schemas.openxmlformats.org/presentationml/2006/ole">
            <p:oleObj spid="_x0000_s44107" name="公式" r:id="rId10" imgW="634725" imgH="228501" progId="Equation.3">
              <p:embed/>
            </p:oleObj>
          </a:graphicData>
        </a:graphic>
      </p:graphicFrame>
      <p:graphicFrame>
        <p:nvGraphicFramePr>
          <p:cNvPr id="19" name="Object 76"/>
          <p:cNvGraphicFramePr>
            <a:graphicFrameLocks noChangeAspect="1"/>
          </p:cNvGraphicFramePr>
          <p:nvPr/>
        </p:nvGraphicFramePr>
        <p:xfrm>
          <a:off x="5795963" y="4294188"/>
          <a:ext cx="1708150" cy="330200"/>
        </p:xfrm>
        <a:graphic>
          <a:graphicData uri="http://schemas.openxmlformats.org/presentationml/2006/ole">
            <p:oleObj spid="_x0000_s44108" name="公式" r:id="rId11" imgW="837836" imgH="215806"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slide(fromBottom)">
                                      <p:cBhvr>
                                        <p:cTn id="7" dur="500"/>
                                        <p:tgtEl>
                                          <p:spTgt spid="47106"/>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48235"/>
                                        </p:tgtEl>
                                        <p:attrNameLst>
                                          <p:attrName>style.visibility</p:attrName>
                                        </p:attrNameLst>
                                      </p:cBhvr>
                                      <p:to>
                                        <p:strVal val="visible"/>
                                      </p:to>
                                    </p:set>
                                    <p:animEffect transition="in" filter="slide(fromBottom)">
                                      <p:cBhvr>
                                        <p:cTn id="17" dur="500"/>
                                        <p:tgtEl>
                                          <p:spTgt spid="482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500" fill="hold"/>
                                        <p:tgtEl>
                                          <p:spTgt spid="6"/>
                                        </p:tgtEl>
                                        <p:attrNameLst>
                                          <p:attrName>ppt_w</p:attrName>
                                        </p:attrNameLst>
                                      </p:cBhvr>
                                      <p:tavLst>
                                        <p:tav tm="0">
                                          <p:val>
                                            <p:fltVal val="0"/>
                                          </p:val>
                                        </p:tav>
                                        <p:tav tm="100000">
                                          <p:val>
                                            <p:strVal val="#ppt_w"/>
                                          </p:val>
                                        </p:tav>
                                      </p:tavLst>
                                    </p:anim>
                                    <p:anim calcmode="lin" valueType="num">
                                      <p:cBhvr>
                                        <p:cTn id="38"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ipe(left)">
                                      <p:cBhvr>
                                        <p:cTn id="43" dur="500"/>
                                        <p:tgtEl>
                                          <p:spTgt spid="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left)">
                                      <p:cBhvr>
                                        <p:cTn id="48" dur="500"/>
                                        <p:tgtEl>
                                          <p:spTgt spid="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left)">
                                      <p:cBhvr>
                                        <p:cTn id="53" dur="500"/>
                                        <p:tgtEl>
                                          <p:spTgt spid="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wipe(left)">
                                      <p:cBhvr>
                                        <p:cTn id="58" dur="500"/>
                                        <p:tgtEl>
                                          <p:spTgt spid="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16" fill="hold" nodeType="clickEffect">
                                  <p:stCondLst>
                                    <p:cond delay="0"/>
                                  </p:stCondLst>
                                  <p:childTnLst>
                                    <p:set>
                                      <p:cBhvr>
                                        <p:cTn id="62" dur="1" fill="hold">
                                          <p:stCondLst>
                                            <p:cond delay="0"/>
                                          </p:stCondLst>
                                        </p:cTn>
                                        <p:tgtEl>
                                          <p:spTgt spid="8"/>
                                        </p:tgtEl>
                                        <p:attrNameLst>
                                          <p:attrName>style.visibility</p:attrName>
                                        </p:attrNameLst>
                                      </p:cBhvr>
                                      <p:to>
                                        <p:strVal val="visible"/>
                                      </p:to>
                                    </p:set>
                                    <p:anim calcmode="lin" valueType="num">
                                      <p:cBhvr>
                                        <p:cTn id="63" dur="500" fill="hold"/>
                                        <p:tgtEl>
                                          <p:spTgt spid="8"/>
                                        </p:tgtEl>
                                        <p:attrNameLst>
                                          <p:attrName>ppt_w</p:attrName>
                                        </p:attrNameLst>
                                      </p:cBhvr>
                                      <p:tavLst>
                                        <p:tav tm="0">
                                          <p:val>
                                            <p:fltVal val="0"/>
                                          </p:val>
                                        </p:tav>
                                        <p:tav tm="100000">
                                          <p:val>
                                            <p:strVal val="#ppt_w"/>
                                          </p:val>
                                        </p:tav>
                                      </p:tavLst>
                                    </p:anim>
                                    <p:anim calcmode="lin" valueType="num">
                                      <p:cBhvr>
                                        <p:cTn id="64"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wipe(left)">
                                      <p:cBhvr>
                                        <p:cTn id="69" dur="500"/>
                                        <p:tgtEl>
                                          <p:spTgt spid="16"/>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wipe(left)">
                                      <p:cBhvr>
                                        <p:cTn id="74" dur="500"/>
                                        <p:tgtEl>
                                          <p:spTgt spid="17"/>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wipe(left)">
                                      <p:cBhvr>
                                        <p:cTn id="79" dur="500"/>
                                        <p:tgtEl>
                                          <p:spTgt spid="18"/>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wipe(left)">
                                      <p:cBhvr>
                                        <p:cTn id="8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autoUpdateAnimBg="0"/>
      <p:bldP spid="26" grpId="0" autoUpdateAnimBg="0"/>
      <p:bldP spid="27" grpId="0" autoUpdateAnimBg="0"/>
      <p:bldP spid="29" grpId="0" autoUpdateAnimBg="0"/>
      <p:bldP spid="7" grpId="0"/>
      <p:bldP spid="2"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7" name="Text Box 5"/>
          <p:cNvSpPr txBox="1">
            <a:spLocks noChangeArrowheads="1"/>
          </p:cNvSpPr>
          <p:nvPr/>
        </p:nvSpPr>
        <p:spPr bwMode="auto">
          <a:xfrm>
            <a:off x="304800" y="1565275"/>
            <a:ext cx="6859588" cy="646113"/>
          </a:xfrm>
          <a:prstGeom prst="rect">
            <a:avLst/>
          </a:prstGeom>
          <a:noFill/>
          <a:ln w="9525">
            <a:noFill/>
            <a:miter lim="800000"/>
            <a:headEnd/>
            <a:tailEnd/>
          </a:ln>
        </p:spPr>
        <p:txBody>
          <a:bodyPr>
            <a:spAutoFit/>
          </a:bodyPr>
          <a:lstStyle/>
          <a:p>
            <a:r>
              <a:rPr lang="en-US" altLang="zh-CN" sz="1800" b="1">
                <a:ea typeface="华文中宋"/>
                <a:cs typeface="华文中宋"/>
              </a:rPr>
              <a:t>        </a:t>
            </a:r>
            <a:r>
              <a:rPr lang="zh-CN" altLang="en-US" sz="1800" b="1">
                <a:ea typeface="华文中宋"/>
                <a:cs typeface="华文中宋"/>
              </a:rPr>
              <a:t>设介质中某处振幅为</a:t>
            </a:r>
            <a:r>
              <a:rPr lang="en-US" altLang="zh-CN" sz="1800" b="1" i="1">
                <a:ea typeface="华文中宋"/>
                <a:cs typeface="华文中宋"/>
              </a:rPr>
              <a:t>A</a:t>
            </a:r>
            <a:r>
              <a:rPr lang="zh-CN" altLang="en-US" sz="1800" b="1">
                <a:ea typeface="华文中宋"/>
                <a:cs typeface="华文中宋"/>
              </a:rPr>
              <a:t>，经厚为</a:t>
            </a:r>
            <a:r>
              <a:rPr lang="en-US" altLang="zh-CN" sz="1800" b="1">
                <a:ea typeface="华文中宋"/>
                <a:cs typeface="华文中宋"/>
              </a:rPr>
              <a:t>d</a:t>
            </a:r>
            <a:r>
              <a:rPr lang="en-US" altLang="zh-CN" sz="1800" b="1" i="1">
                <a:ea typeface="华文中宋"/>
                <a:cs typeface="华文中宋"/>
              </a:rPr>
              <a:t>x</a:t>
            </a:r>
            <a:r>
              <a:rPr lang="zh-CN" altLang="en-US" sz="1800" b="1">
                <a:ea typeface="华文中宋"/>
                <a:cs typeface="华文中宋"/>
              </a:rPr>
              <a:t>的介质，振幅的衰减量为</a:t>
            </a:r>
            <a:r>
              <a:rPr lang="en-US" altLang="zh-CN" sz="1800" b="1">
                <a:ea typeface="华文中宋"/>
                <a:cs typeface="华文中宋"/>
              </a:rPr>
              <a:t>d</a:t>
            </a:r>
            <a:r>
              <a:rPr lang="en-US" altLang="zh-CN" sz="1800" b="1" i="1">
                <a:ea typeface="华文中宋"/>
                <a:cs typeface="华文中宋"/>
              </a:rPr>
              <a:t>A</a:t>
            </a:r>
            <a:r>
              <a:rPr lang="zh-CN" altLang="en-US" sz="1800" b="1">
                <a:ea typeface="华文中宋"/>
                <a:cs typeface="华文中宋"/>
              </a:rPr>
              <a:t>，那么：</a:t>
            </a:r>
          </a:p>
        </p:txBody>
      </p:sp>
      <p:sp>
        <p:nvSpPr>
          <p:cNvPr id="146438" name="Text Box 6"/>
          <p:cNvSpPr txBox="1">
            <a:spLocks noChangeArrowheads="1"/>
          </p:cNvSpPr>
          <p:nvPr/>
        </p:nvSpPr>
        <p:spPr bwMode="auto">
          <a:xfrm>
            <a:off x="900113" y="1266825"/>
            <a:ext cx="5759450" cy="368300"/>
          </a:xfrm>
          <a:prstGeom prst="rect">
            <a:avLst/>
          </a:prstGeom>
          <a:noFill/>
          <a:ln w="9525">
            <a:noFill/>
            <a:miter lim="800000"/>
            <a:headEnd/>
            <a:tailEnd/>
          </a:ln>
        </p:spPr>
        <p:txBody>
          <a:bodyPr>
            <a:spAutoFit/>
          </a:bodyPr>
          <a:lstStyle/>
          <a:p>
            <a:r>
              <a:rPr lang="zh-CN" altLang="en-US" sz="1800" b="1">
                <a:ea typeface="华文中宋"/>
                <a:cs typeface="华文中宋"/>
              </a:rPr>
              <a:t>波动中一部分机械能因克服内摩擦做功转换成介质内能。</a:t>
            </a:r>
          </a:p>
        </p:txBody>
      </p:sp>
      <p:graphicFrame>
        <p:nvGraphicFramePr>
          <p:cNvPr id="146439" name="Object 59"/>
          <p:cNvGraphicFramePr>
            <a:graphicFrameLocks noChangeAspect="1"/>
          </p:cNvGraphicFramePr>
          <p:nvPr/>
        </p:nvGraphicFramePr>
        <p:xfrm>
          <a:off x="1390650" y="2120900"/>
          <a:ext cx="1827213" cy="282575"/>
        </p:xfrm>
        <a:graphic>
          <a:graphicData uri="http://schemas.openxmlformats.org/presentationml/2006/ole">
            <p:oleObj spid="_x0000_s45115" name="Equation" r:id="rId4" imgW="863225" imgH="177723" progId="Equation.DSMT4">
              <p:embed/>
            </p:oleObj>
          </a:graphicData>
        </a:graphic>
      </p:graphicFrame>
      <p:grpSp>
        <p:nvGrpSpPr>
          <p:cNvPr id="2" name="Group 8"/>
          <p:cNvGrpSpPr>
            <a:grpSpLocks/>
          </p:cNvGrpSpPr>
          <p:nvPr/>
        </p:nvGrpSpPr>
        <p:grpSpPr bwMode="auto">
          <a:xfrm>
            <a:off x="7019925" y="1419225"/>
            <a:ext cx="2016125" cy="1614488"/>
            <a:chOff x="3742" y="2490"/>
            <a:chExt cx="1270" cy="1355"/>
          </a:xfrm>
        </p:grpSpPr>
        <p:sp>
          <p:nvSpPr>
            <p:cNvPr id="45133" name="Line 9"/>
            <p:cNvSpPr>
              <a:spLocks noChangeShapeType="1"/>
            </p:cNvSpPr>
            <p:nvPr/>
          </p:nvSpPr>
          <p:spPr bwMode="auto">
            <a:xfrm>
              <a:off x="3742" y="3269"/>
              <a:ext cx="451" cy="0"/>
            </a:xfrm>
            <a:prstGeom prst="line">
              <a:avLst/>
            </a:prstGeom>
            <a:noFill/>
            <a:ln w="57150">
              <a:solidFill>
                <a:srgbClr val="FF0000"/>
              </a:solidFill>
              <a:round/>
              <a:headEnd/>
              <a:tailEnd type="triangle" w="med" len="med"/>
            </a:ln>
          </p:spPr>
          <p:txBody>
            <a:bodyPr wrap="none" anchor="ctr"/>
            <a:lstStyle/>
            <a:p>
              <a:endParaRPr lang="zh-CN" altLang="en-US"/>
            </a:p>
          </p:txBody>
        </p:sp>
        <p:sp>
          <p:nvSpPr>
            <p:cNvPr id="45134" name="Rectangle 10"/>
            <p:cNvSpPr>
              <a:spLocks noChangeArrowheads="1"/>
            </p:cNvSpPr>
            <p:nvPr/>
          </p:nvSpPr>
          <p:spPr bwMode="auto">
            <a:xfrm>
              <a:off x="4150" y="2781"/>
              <a:ext cx="358" cy="1064"/>
            </a:xfrm>
            <a:prstGeom prst="rect">
              <a:avLst/>
            </a:prstGeom>
            <a:solidFill>
              <a:srgbClr val="C0C0C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C0C0C0"/>
              </a:extrusionClr>
            </a:sp3d>
          </p:spPr>
          <p:txBody>
            <a:bodyPr wrap="none" anchor="ctr">
              <a:flatTx/>
            </a:bodyPr>
            <a:lstStyle/>
            <a:p>
              <a:endParaRPr lang="zh-CN" altLang="en-US"/>
            </a:p>
          </p:txBody>
        </p:sp>
        <p:graphicFrame>
          <p:nvGraphicFramePr>
            <p:cNvPr id="45116" name="Object 60"/>
            <p:cNvGraphicFramePr>
              <a:graphicFrameLocks noChangeAspect="1"/>
            </p:cNvGraphicFramePr>
            <p:nvPr/>
          </p:nvGraphicFramePr>
          <p:xfrm>
            <a:off x="4241" y="2490"/>
            <a:ext cx="320" cy="216"/>
          </p:xfrm>
          <a:graphic>
            <a:graphicData uri="http://schemas.openxmlformats.org/presentationml/2006/ole">
              <p:oleObj spid="_x0000_s45116" name="Equation" r:id="rId5" imgW="304404" imgH="177569" progId="Equation.DSMT4">
                <p:embed/>
              </p:oleObj>
            </a:graphicData>
          </a:graphic>
        </p:graphicFrame>
        <p:graphicFrame>
          <p:nvGraphicFramePr>
            <p:cNvPr id="45117" name="Object 61"/>
            <p:cNvGraphicFramePr>
              <a:graphicFrameLocks noChangeAspect="1"/>
            </p:cNvGraphicFramePr>
            <p:nvPr/>
          </p:nvGraphicFramePr>
          <p:xfrm>
            <a:off x="4264" y="3548"/>
            <a:ext cx="233" cy="184"/>
          </p:xfrm>
          <a:graphic>
            <a:graphicData uri="http://schemas.openxmlformats.org/presentationml/2006/ole">
              <p:oleObj spid="_x0000_s45117" name="公式" r:id="rId6" imgW="114102" imgH="114102" progId="Equation.3">
                <p:embed/>
              </p:oleObj>
            </a:graphicData>
          </a:graphic>
        </p:graphicFrame>
        <p:graphicFrame>
          <p:nvGraphicFramePr>
            <p:cNvPr id="45118" name="Object 62"/>
            <p:cNvGraphicFramePr>
              <a:graphicFrameLocks noChangeAspect="1"/>
            </p:cNvGraphicFramePr>
            <p:nvPr/>
          </p:nvGraphicFramePr>
          <p:xfrm>
            <a:off x="4241" y="3155"/>
            <a:ext cx="167" cy="237"/>
          </p:xfrm>
          <a:graphic>
            <a:graphicData uri="http://schemas.openxmlformats.org/presentationml/2006/ole">
              <p:oleObj spid="_x0000_s45118" name="Equation" r:id="rId7" imgW="190335" imgH="177646" progId="Equation.DSMT4">
                <p:embed/>
              </p:oleObj>
            </a:graphicData>
          </a:graphic>
        </p:graphicFrame>
        <p:graphicFrame>
          <p:nvGraphicFramePr>
            <p:cNvPr id="45119" name="Object 63"/>
            <p:cNvGraphicFramePr>
              <a:graphicFrameLocks noChangeAspect="1"/>
            </p:cNvGraphicFramePr>
            <p:nvPr/>
          </p:nvGraphicFramePr>
          <p:xfrm>
            <a:off x="3787" y="2995"/>
            <a:ext cx="300" cy="254"/>
          </p:xfrm>
          <a:graphic>
            <a:graphicData uri="http://schemas.openxmlformats.org/presentationml/2006/ole">
              <p:oleObj spid="_x0000_s45119" name="公式" r:id="rId8" imgW="164814" imgH="177492" progId="Equation.3">
                <p:embed/>
              </p:oleObj>
            </a:graphicData>
          </a:graphic>
        </p:graphicFrame>
        <p:graphicFrame>
          <p:nvGraphicFramePr>
            <p:cNvPr id="45120" name="Object 64"/>
            <p:cNvGraphicFramePr>
              <a:graphicFrameLocks noChangeAspect="1"/>
            </p:cNvGraphicFramePr>
            <p:nvPr/>
          </p:nvGraphicFramePr>
          <p:xfrm>
            <a:off x="4640" y="3021"/>
            <a:ext cx="230" cy="182"/>
          </p:xfrm>
          <a:graphic>
            <a:graphicData uri="http://schemas.openxmlformats.org/presentationml/2006/ole">
              <p:oleObj spid="_x0000_s45120" name="公式" r:id="rId9" imgW="126725" imgH="126725" progId="Equation.3">
                <p:embed/>
              </p:oleObj>
            </a:graphicData>
          </a:graphic>
        </p:graphicFrame>
        <p:sp>
          <p:nvSpPr>
            <p:cNvPr id="45135" name="Line 16"/>
            <p:cNvSpPr>
              <a:spLocks noChangeShapeType="1"/>
            </p:cNvSpPr>
            <p:nvPr/>
          </p:nvSpPr>
          <p:spPr bwMode="auto">
            <a:xfrm>
              <a:off x="4561" y="3264"/>
              <a:ext cx="451" cy="0"/>
            </a:xfrm>
            <a:prstGeom prst="line">
              <a:avLst/>
            </a:prstGeom>
            <a:noFill/>
            <a:ln w="38100">
              <a:solidFill>
                <a:srgbClr val="FF0000"/>
              </a:solidFill>
              <a:round/>
              <a:headEnd/>
              <a:tailEnd type="triangle" w="med" len="med"/>
            </a:ln>
          </p:spPr>
          <p:txBody>
            <a:bodyPr wrap="none" anchor="ctr"/>
            <a:lstStyle/>
            <a:p>
              <a:endParaRPr lang="zh-CN" altLang="en-US"/>
            </a:p>
          </p:txBody>
        </p:sp>
      </p:grpSp>
      <p:graphicFrame>
        <p:nvGraphicFramePr>
          <p:cNvPr id="146449" name="Object 65"/>
          <p:cNvGraphicFramePr>
            <a:graphicFrameLocks noChangeAspect="1"/>
          </p:cNvGraphicFramePr>
          <p:nvPr/>
        </p:nvGraphicFramePr>
        <p:xfrm>
          <a:off x="2227263" y="2532063"/>
          <a:ext cx="2273300" cy="303212"/>
        </p:xfrm>
        <a:graphic>
          <a:graphicData uri="http://schemas.openxmlformats.org/presentationml/2006/ole">
            <p:oleObj spid="_x0000_s45121" name="公式" r:id="rId10" imgW="774364" imgH="139639" progId="Equation.3">
              <p:embed/>
            </p:oleObj>
          </a:graphicData>
        </a:graphic>
      </p:graphicFrame>
      <p:graphicFrame>
        <p:nvGraphicFramePr>
          <p:cNvPr id="146450" name="Object 66"/>
          <p:cNvGraphicFramePr>
            <a:graphicFrameLocks noChangeAspect="1"/>
          </p:cNvGraphicFramePr>
          <p:nvPr/>
        </p:nvGraphicFramePr>
        <p:xfrm>
          <a:off x="4643438" y="3557588"/>
          <a:ext cx="1695450" cy="506412"/>
        </p:xfrm>
        <a:graphic>
          <a:graphicData uri="http://schemas.openxmlformats.org/presentationml/2006/ole">
            <p:oleObj spid="_x0000_s45122" name="公式" r:id="rId11" imgW="545626" imgH="215713" progId="Equation.3">
              <p:embed/>
            </p:oleObj>
          </a:graphicData>
        </a:graphic>
      </p:graphicFrame>
      <p:graphicFrame>
        <p:nvGraphicFramePr>
          <p:cNvPr id="146451" name="Object 67"/>
          <p:cNvGraphicFramePr>
            <a:graphicFrameLocks noChangeAspect="1"/>
          </p:cNvGraphicFramePr>
          <p:nvPr/>
        </p:nvGraphicFramePr>
        <p:xfrm>
          <a:off x="2747963" y="4152900"/>
          <a:ext cx="1752600" cy="506413"/>
        </p:xfrm>
        <a:graphic>
          <a:graphicData uri="http://schemas.openxmlformats.org/presentationml/2006/ole">
            <p:oleObj spid="_x0000_s45123" name="公式" r:id="rId12" imgW="558558" imgH="215806" progId="Equation.3">
              <p:embed/>
            </p:oleObj>
          </a:graphicData>
        </a:graphic>
      </p:graphicFrame>
      <p:graphicFrame>
        <p:nvGraphicFramePr>
          <p:cNvPr id="146452" name="Object 68"/>
          <p:cNvGraphicFramePr>
            <a:graphicFrameLocks noChangeAspect="1"/>
          </p:cNvGraphicFramePr>
          <p:nvPr/>
        </p:nvGraphicFramePr>
        <p:xfrm>
          <a:off x="3429000" y="1900238"/>
          <a:ext cx="1647825" cy="671512"/>
        </p:xfrm>
        <a:graphic>
          <a:graphicData uri="http://schemas.openxmlformats.org/presentationml/2006/ole">
            <p:oleObj spid="_x0000_s45124" name="Equation" r:id="rId13" imgW="723586" imgH="393529" progId="Equation.DSMT4">
              <p:embed/>
            </p:oleObj>
          </a:graphicData>
        </a:graphic>
      </p:graphicFrame>
      <p:grpSp>
        <p:nvGrpSpPr>
          <p:cNvPr id="3" name="Group 21"/>
          <p:cNvGrpSpPr>
            <a:grpSpLocks/>
          </p:cNvGrpSpPr>
          <p:nvPr/>
        </p:nvGrpSpPr>
        <p:grpSpPr bwMode="auto">
          <a:xfrm>
            <a:off x="1187450" y="2963863"/>
            <a:ext cx="3721100" cy="379412"/>
            <a:chOff x="158" y="3339"/>
            <a:chExt cx="2344" cy="318"/>
          </a:xfrm>
        </p:grpSpPr>
        <p:sp>
          <p:nvSpPr>
            <p:cNvPr id="45132" name="Text Box 22"/>
            <p:cNvSpPr txBox="1">
              <a:spLocks noChangeArrowheads="1"/>
            </p:cNvSpPr>
            <p:nvPr/>
          </p:nvSpPr>
          <p:spPr bwMode="auto">
            <a:xfrm>
              <a:off x="158" y="3339"/>
              <a:ext cx="2344" cy="310"/>
            </a:xfrm>
            <a:prstGeom prst="rect">
              <a:avLst/>
            </a:prstGeom>
            <a:noFill/>
            <a:ln w="9525">
              <a:noFill/>
              <a:miter lim="800000"/>
              <a:headEnd/>
              <a:tailEnd/>
            </a:ln>
          </p:spPr>
          <p:txBody>
            <a:bodyPr>
              <a:spAutoFit/>
            </a:bodyPr>
            <a:lstStyle/>
            <a:p>
              <a:r>
                <a:rPr lang="en-US" altLang="zh-CN" sz="1800" b="1">
                  <a:ea typeface="华文中宋"/>
                  <a:cs typeface="华文中宋"/>
                </a:rPr>
                <a:t> </a:t>
              </a:r>
              <a:r>
                <a:rPr lang="zh-CN" altLang="en-US" sz="1800" b="1">
                  <a:ea typeface="华文中宋"/>
                  <a:cs typeface="华文中宋"/>
                </a:rPr>
                <a:t>设  </a:t>
              </a:r>
              <a:r>
                <a:rPr lang="en-US" altLang="zh-CN" sz="1800" b="1" i="1">
                  <a:ea typeface="华文中宋"/>
                  <a:cs typeface="华文中宋"/>
                </a:rPr>
                <a:t>x=</a:t>
              </a:r>
              <a:r>
                <a:rPr lang="en-US" altLang="zh-CN" sz="1800" b="1">
                  <a:ea typeface="华文中宋"/>
                  <a:cs typeface="华文中宋"/>
                </a:rPr>
                <a:t>0</a:t>
              </a:r>
              <a:r>
                <a:rPr lang="en-US" altLang="zh-CN" sz="1800" b="1" i="1">
                  <a:ea typeface="华文中宋"/>
                  <a:cs typeface="华文中宋"/>
                </a:rPr>
                <a:t> </a:t>
              </a:r>
              <a:r>
                <a:rPr lang="zh-CN" altLang="en-US" sz="1800" b="1">
                  <a:ea typeface="华文中宋"/>
                  <a:cs typeface="华文中宋"/>
                </a:rPr>
                <a:t>时</a:t>
              </a:r>
              <a:r>
                <a:rPr lang="zh-CN" altLang="en-US" sz="1800" b="1" i="1">
                  <a:ea typeface="华文中宋"/>
                  <a:cs typeface="华文中宋"/>
                </a:rPr>
                <a:t>， </a:t>
              </a:r>
              <a:r>
                <a:rPr lang="en-US" altLang="zh-CN" sz="1800" b="1" i="1">
                  <a:ea typeface="华文中宋"/>
                  <a:cs typeface="华文中宋"/>
                </a:rPr>
                <a:t>A=A</a:t>
              </a:r>
              <a:r>
                <a:rPr lang="en-US" altLang="zh-CN" sz="1800" b="1" baseline="-25000">
                  <a:ea typeface="华文中宋"/>
                  <a:cs typeface="华文中宋"/>
                </a:rPr>
                <a:t>0</a:t>
              </a:r>
            </a:p>
          </p:txBody>
        </p:sp>
        <p:graphicFrame>
          <p:nvGraphicFramePr>
            <p:cNvPr id="45125" name="Object 69"/>
            <p:cNvGraphicFramePr>
              <a:graphicFrameLocks noChangeAspect="1"/>
            </p:cNvGraphicFramePr>
            <p:nvPr/>
          </p:nvGraphicFramePr>
          <p:xfrm>
            <a:off x="1474" y="3340"/>
            <a:ext cx="862" cy="317"/>
          </p:xfrm>
          <a:graphic>
            <a:graphicData uri="http://schemas.openxmlformats.org/presentationml/2006/ole">
              <p:oleObj spid="_x0000_s45125" name="公式" r:id="rId14" imgW="494870" imgH="177646" progId="Equation.3">
                <p:embed/>
              </p:oleObj>
            </a:graphicData>
          </a:graphic>
        </p:graphicFrame>
      </p:grpSp>
      <p:graphicFrame>
        <p:nvGraphicFramePr>
          <p:cNvPr id="146456" name="Object 70"/>
          <p:cNvGraphicFramePr>
            <a:graphicFrameLocks noChangeAspect="1"/>
          </p:cNvGraphicFramePr>
          <p:nvPr/>
        </p:nvGraphicFramePr>
        <p:xfrm>
          <a:off x="1690688" y="3576638"/>
          <a:ext cx="2593975" cy="628650"/>
        </p:xfrm>
        <a:graphic>
          <a:graphicData uri="http://schemas.openxmlformats.org/presentationml/2006/ole">
            <p:oleObj spid="_x0000_s45126" name="公式" r:id="rId15" imgW="977476" imgH="317362" progId="Equation.3">
              <p:embed/>
            </p:oleObj>
          </a:graphicData>
        </a:graphic>
      </p:graphicFrame>
      <p:sp>
        <p:nvSpPr>
          <p:cNvPr id="23" name="Text Box 2"/>
          <p:cNvSpPr>
            <a:spLocks noChangeArrowheads="1"/>
          </p:cNvSpPr>
          <p:nvPr/>
        </p:nvSpPr>
        <p:spPr bwMode="auto">
          <a:xfrm>
            <a:off x="828675" y="874713"/>
            <a:ext cx="1943100" cy="401637"/>
          </a:xfrm>
          <a:prstGeom prst="homePlate">
            <a:avLst>
              <a:gd name="adj" fmla="val 49611"/>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四、波的吸收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146438"/>
                                        </p:tgtEl>
                                        <p:attrNameLst>
                                          <p:attrName>style.visibility</p:attrName>
                                        </p:attrNameLst>
                                      </p:cBhvr>
                                      <p:to>
                                        <p:strVal val="visible"/>
                                      </p:to>
                                    </p:set>
                                    <p:anim calcmode="lin" valueType="num">
                                      <p:cBhvr>
                                        <p:cTn id="12" dur="500" fill="hold"/>
                                        <p:tgtEl>
                                          <p:spTgt spid="146438"/>
                                        </p:tgtEl>
                                        <p:attrNameLst>
                                          <p:attrName>ppt_w</p:attrName>
                                        </p:attrNameLst>
                                      </p:cBhvr>
                                      <p:tavLst>
                                        <p:tav tm="0">
                                          <p:val>
                                            <p:fltVal val="0"/>
                                          </p:val>
                                        </p:tav>
                                        <p:tav tm="100000">
                                          <p:val>
                                            <p:strVal val="#ppt_w"/>
                                          </p:val>
                                        </p:tav>
                                      </p:tavLst>
                                    </p:anim>
                                    <p:anim calcmode="lin" valueType="num">
                                      <p:cBhvr>
                                        <p:cTn id="13" dur="500" fill="hold"/>
                                        <p:tgtEl>
                                          <p:spTgt spid="14643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146437"/>
                                        </p:tgtEl>
                                        <p:attrNameLst>
                                          <p:attrName>style.visibility</p:attrName>
                                        </p:attrNameLst>
                                      </p:cBhvr>
                                      <p:to>
                                        <p:strVal val="visible"/>
                                      </p:to>
                                    </p:set>
                                    <p:anim calcmode="lin" valueType="num">
                                      <p:cBhvr>
                                        <p:cTn id="18" dur="500" fill="hold"/>
                                        <p:tgtEl>
                                          <p:spTgt spid="146437"/>
                                        </p:tgtEl>
                                        <p:attrNameLst>
                                          <p:attrName>ppt_w</p:attrName>
                                        </p:attrNameLst>
                                      </p:cBhvr>
                                      <p:tavLst>
                                        <p:tav tm="0">
                                          <p:val>
                                            <p:fltVal val="0"/>
                                          </p:val>
                                        </p:tav>
                                        <p:tav tm="100000">
                                          <p:val>
                                            <p:strVal val="#ppt_w"/>
                                          </p:val>
                                        </p:tav>
                                      </p:tavLst>
                                    </p:anim>
                                    <p:anim calcmode="lin" valueType="num">
                                      <p:cBhvr>
                                        <p:cTn id="19" dur="500" fill="hold"/>
                                        <p:tgtEl>
                                          <p:spTgt spid="14643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6"/>
                                            </p:cond>
                                          </p:stCondLst>
                                          <p:endCondLst>
                                            <p:cond evt="onStopAudio" delay="0">
                                              <p:tgtEl>
                                                <p:sldTgt/>
                                              </p:tgtEl>
                                            </p:cond>
                                          </p:endCondLst>
                                        </p:cTn>
                                        <p:tgtEl>
                                          <p:sndTgt r:embed="rId3" name="TYPE.WAV"/>
                                        </p:tgtEl>
                                      </p:cMediaNode>
                                    </p:audio>
                                  </p:sub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146439"/>
                                        </p:tgtEl>
                                        <p:attrNameLst>
                                          <p:attrName>style.visibility</p:attrName>
                                        </p:attrNameLst>
                                      </p:cBhvr>
                                      <p:to>
                                        <p:strVal val="visible"/>
                                      </p:to>
                                    </p:set>
                                    <p:animEffect transition="in" filter="blinds(horizontal)">
                                      <p:cBhvr>
                                        <p:cTn id="29" dur="500"/>
                                        <p:tgtEl>
                                          <p:spTgt spid="14643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10" fill="hold" nodeType="clickEffect">
                                  <p:stCondLst>
                                    <p:cond delay="0"/>
                                  </p:stCondLst>
                                  <p:childTnLst>
                                    <p:set>
                                      <p:cBhvr>
                                        <p:cTn id="33" dur="1" fill="hold">
                                          <p:stCondLst>
                                            <p:cond delay="0"/>
                                          </p:stCondLst>
                                        </p:cTn>
                                        <p:tgtEl>
                                          <p:spTgt spid="146452"/>
                                        </p:tgtEl>
                                        <p:attrNameLst>
                                          <p:attrName>style.visibility</p:attrName>
                                        </p:attrNameLst>
                                      </p:cBhvr>
                                      <p:to>
                                        <p:strVal val="visible"/>
                                      </p:to>
                                    </p:set>
                                    <p:anim calcmode="lin" valueType="num">
                                      <p:cBhvr>
                                        <p:cTn id="34" dur="500" fill="hold"/>
                                        <p:tgtEl>
                                          <p:spTgt spid="146452"/>
                                        </p:tgtEl>
                                        <p:attrNameLst>
                                          <p:attrName>ppt_w</p:attrName>
                                        </p:attrNameLst>
                                      </p:cBhvr>
                                      <p:tavLst>
                                        <p:tav tm="0">
                                          <p:val>
                                            <p:fltVal val="0"/>
                                          </p:val>
                                        </p:tav>
                                        <p:tav tm="100000">
                                          <p:val>
                                            <p:strVal val="#ppt_w"/>
                                          </p:val>
                                        </p:tav>
                                      </p:tavLst>
                                    </p:anim>
                                    <p:anim calcmode="lin" valueType="num">
                                      <p:cBhvr>
                                        <p:cTn id="35" dur="500" fill="hold"/>
                                        <p:tgtEl>
                                          <p:spTgt spid="146452"/>
                                        </p:tgtEl>
                                        <p:attrNameLst>
                                          <p:attrName>ppt_h</p:attrName>
                                        </p:attrNameLst>
                                      </p:cBhvr>
                                      <p:tavLst>
                                        <p:tav tm="0">
                                          <p:val>
                                            <p:strVal val="#ppt_h"/>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10" fill="hold" nodeType="clickEffect">
                                  <p:stCondLst>
                                    <p:cond delay="0"/>
                                  </p:stCondLst>
                                  <p:childTnLst>
                                    <p:set>
                                      <p:cBhvr>
                                        <p:cTn id="39" dur="1" fill="hold">
                                          <p:stCondLst>
                                            <p:cond delay="0"/>
                                          </p:stCondLst>
                                        </p:cTn>
                                        <p:tgtEl>
                                          <p:spTgt spid="146449"/>
                                        </p:tgtEl>
                                        <p:attrNameLst>
                                          <p:attrName>style.visibility</p:attrName>
                                        </p:attrNameLst>
                                      </p:cBhvr>
                                      <p:to>
                                        <p:strVal val="visible"/>
                                      </p:to>
                                    </p:set>
                                    <p:anim calcmode="lin" valueType="num">
                                      <p:cBhvr>
                                        <p:cTn id="40" dur="500" fill="hold"/>
                                        <p:tgtEl>
                                          <p:spTgt spid="146449"/>
                                        </p:tgtEl>
                                        <p:attrNameLst>
                                          <p:attrName>ppt_w</p:attrName>
                                        </p:attrNameLst>
                                      </p:cBhvr>
                                      <p:tavLst>
                                        <p:tav tm="0">
                                          <p:val>
                                            <p:fltVal val="0"/>
                                          </p:val>
                                        </p:tav>
                                        <p:tav tm="100000">
                                          <p:val>
                                            <p:strVal val="#ppt_w"/>
                                          </p:val>
                                        </p:tav>
                                      </p:tavLst>
                                    </p:anim>
                                    <p:anim calcmode="lin" valueType="num">
                                      <p:cBhvr>
                                        <p:cTn id="41" dur="500" fill="hold"/>
                                        <p:tgtEl>
                                          <p:spTgt spid="146449"/>
                                        </p:tgtEl>
                                        <p:attrNameLst>
                                          <p:attrName>ppt_h</p:attrName>
                                        </p:attrNameLst>
                                      </p:cBhvr>
                                      <p:tavLst>
                                        <p:tav tm="0">
                                          <p:val>
                                            <p:strVal val="#ppt_h"/>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blinds(horizontal)">
                                      <p:cBhvr>
                                        <p:cTn id="46" dur="500"/>
                                        <p:tgtEl>
                                          <p:spTgt spid="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7" presetClass="entr" presetSubtype="10" fill="hold" nodeType="clickEffect">
                                  <p:stCondLst>
                                    <p:cond delay="0"/>
                                  </p:stCondLst>
                                  <p:childTnLst>
                                    <p:set>
                                      <p:cBhvr>
                                        <p:cTn id="50" dur="1" fill="hold">
                                          <p:stCondLst>
                                            <p:cond delay="0"/>
                                          </p:stCondLst>
                                        </p:cTn>
                                        <p:tgtEl>
                                          <p:spTgt spid="146456"/>
                                        </p:tgtEl>
                                        <p:attrNameLst>
                                          <p:attrName>style.visibility</p:attrName>
                                        </p:attrNameLst>
                                      </p:cBhvr>
                                      <p:to>
                                        <p:strVal val="visible"/>
                                      </p:to>
                                    </p:set>
                                    <p:anim calcmode="lin" valueType="num">
                                      <p:cBhvr>
                                        <p:cTn id="51" dur="500" fill="hold"/>
                                        <p:tgtEl>
                                          <p:spTgt spid="146456"/>
                                        </p:tgtEl>
                                        <p:attrNameLst>
                                          <p:attrName>ppt_w</p:attrName>
                                        </p:attrNameLst>
                                      </p:cBhvr>
                                      <p:tavLst>
                                        <p:tav tm="0">
                                          <p:val>
                                            <p:fltVal val="0"/>
                                          </p:val>
                                        </p:tav>
                                        <p:tav tm="100000">
                                          <p:val>
                                            <p:strVal val="#ppt_w"/>
                                          </p:val>
                                        </p:tav>
                                      </p:tavLst>
                                    </p:anim>
                                    <p:anim calcmode="lin" valueType="num">
                                      <p:cBhvr>
                                        <p:cTn id="52" dur="500" fill="hold"/>
                                        <p:tgtEl>
                                          <p:spTgt spid="146456"/>
                                        </p:tgtEl>
                                        <p:attrNameLst>
                                          <p:attrName>ppt_h</p:attrName>
                                        </p:attrNameLst>
                                      </p:cBhvr>
                                      <p:tavLst>
                                        <p:tav tm="0">
                                          <p:val>
                                            <p:strVal val="#ppt_h"/>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10" fill="hold" nodeType="clickEffect">
                                  <p:stCondLst>
                                    <p:cond delay="0"/>
                                  </p:stCondLst>
                                  <p:childTnLst>
                                    <p:set>
                                      <p:cBhvr>
                                        <p:cTn id="56" dur="1" fill="hold">
                                          <p:stCondLst>
                                            <p:cond delay="0"/>
                                          </p:stCondLst>
                                        </p:cTn>
                                        <p:tgtEl>
                                          <p:spTgt spid="146450"/>
                                        </p:tgtEl>
                                        <p:attrNameLst>
                                          <p:attrName>style.visibility</p:attrName>
                                        </p:attrNameLst>
                                      </p:cBhvr>
                                      <p:to>
                                        <p:strVal val="visible"/>
                                      </p:to>
                                    </p:set>
                                    <p:anim calcmode="lin" valueType="num">
                                      <p:cBhvr>
                                        <p:cTn id="57" dur="500" fill="hold"/>
                                        <p:tgtEl>
                                          <p:spTgt spid="146450"/>
                                        </p:tgtEl>
                                        <p:attrNameLst>
                                          <p:attrName>ppt_w</p:attrName>
                                        </p:attrNameLst>
                                      </p:cBhvr>
                                      <p:tavLst>
                                        <p:tav tm="0">
                                          <p:val>
                                            <p:fltVal val="0"/>
                                          </p:val>
                                        </p:tav>
                                        <p:tav tm="100000">
                                          <p:val>
                                            <p:strVal val="#ppt_w"/>
                                          </p:val>
                                        </p:tav>
                                      </p:tavLst>
                                    </p:anim>
                                    <p:anim calcmode="lin" valueType="num">
                                      <p:cBhvr>
                                        <p:cTn id="58" dur="500" fill="hold"/>
                                        <p:tgtEl>
                                          <p:spTgt spid="14645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5"/>
                                            </p:cond>
                                          </p:stCondLst>
                                          <p:endCondLst>
                                            <p:cond evt="onStopAudio" delay="0">
                                              <p:tgtEl>
                                                <p:sldTgt/>
                                              </p:tgtEl>
                                            </p:cond>
                                          </p:endCondLst>
                                        </p:cTn>
                                        <p:tgtEl>
                                          <p:sndTgt r:embed="rId3" name="TYPE.WAV"/>
                                        </p:tgtEl>
                                      </p:cMediaNode>
                                    </p:audio>
                                  </p:subTnLst>
                                </p:cTn>
                              </p:par>
                            </p:childTnLst>
                          </p:cTn>
                        </p:par>
                      </p:childTnLst>
                    </p:cTn>
                  </p:par>
                  <p:par>
                    <p:cTn id="59" fill="hold" nodeType="clickPar">
                      <p:stCondLst>
                        <p:cond delay="indefinite"/>
                      </p:stCondLst>
                      <p:childTnLst>
                        <p:par>
                          <p:cTn id="60" fill="hold" nodeType="withGroup">
                            <p:stCondLst>
                              <p:cond delay="0"/>
                            </p:stCondLst>
                            <p:childTnLst>
                              <p:par>
                                <p:cTn id="61" presetID="17" presetClass="entr" presetSubtype="10" fill="hold" nodeType="clickEffect">
                                  <p:stCondLst>
                                    <p:cond delay="0"/>
                                  </p:stCondLst>
                                  <p:childTnLst>
                                    <p:set>
                                      <p:cBhvr>
                                        <p:cTn id="62" dur="1" fill="hold">
                                          <p:stCondLst>
                                            <p:cond delay="0"/>
                                          </p:stCondLst>
                                        </p:cTn>
                                        <p:tgtEl>
                                          <p:spTgt spid="146451"/>
                                        </p:tgtEl>
                                        <p:attrNameLst>
                                          <p:attrName>style.visibility</p:attrName>
                                        </p:attrNameLst>
                                      </p:cBhvr>
                                      <p:to>
                                        <p:strVal val="visible"/>
                                      </p:to>
                                    </p:set>
                                    <p:anim calcmode="lin" valueType="num">
                                      <p:cBhvr>
                                        <p:cTn id="63" dur="500" fill="hold"/>
                                        <p:tgtEl>
                                          <p:spTgt spid="146451"/>
                                        </p:tgtEl>
                                        <p:attrNameLst>
                                          <p:attrName>ppt_w</p:attrName>
                                        </p:attrNameLst>
                                      </p:cBhvr>
                                      <p:tavLst>
                                        <p:tav tm="0">
                                          <p:val>
                                            <p:fltVal val="0"/>
                                          </p:val>
                                        </p:tav>
                                        <p:tav tm="100000">
                                          <p:val>
                                            <p:strVal val="#ppt_w"/>
                                          </p:val>
                                        </p:tav>
                                      </p:tavLst>
                                    </p:anim>
                                    <p:anim calcmode="lin" valueType="num">
                                      <p:cBhvr>
                                        <p:cTn id="64" dur="500" fill="hold"/>
                                        <p:tgtEl>
                                          <p:spTgt spid="1464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1"/>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7" grpId="0" autoUpdateAnimBg="0"/>
      <p:bldP spid="146438" grpId="0" autoUpdateAnimBg="0"/>
      <p:bldP spid="2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228600" y="928688"/>
            <a:ext cx="8736013" cy="1138237"/>
          </a:xfrm>
          <a:prstGeom prst="rect">
            <a:avLst/>
          </a:prstGeom>
          <a:noFill/>
          <a:ln w="9525">
            <a:noFill/>
            <a:miter lim="800000"/>
            <a:headEnd/>
            <a:tailEnd/>
          </a:ln>
        </p:spPr>
        <p:txBody>
          <a:bodyPr>
            <a:spAutoFit/>
          </a:bodyPr>
          <a:lstStyle/>
          <a:p>
            <a:r>
              <a:rPr lang="zh-CN" altLang="en-US" sz="1800" b="1">
                <a:solidFill>
                  <a:srgbClr val="0000FF"/>
                </a:solidFill>
                <a:ea typeface="华文中宋"/>
                <a:cs typeface="华文中宋"/>
              </a:rPr>
              <a:t>例  一平面简谐波在弹性媒质中传播，在媒质质元从平衡位置运动到最大位移处的过程中： </a:t>
            </a:r>
          </a:p>
          <a:p>
            <a:r>
              <a:rPr lang="zh-CN" altLang="en-US" sz="1600" b="1">
                <a:ea typeface="华文中宋"/>
                <a:cs typeface="华文中宋"/>
              </a:rPr>
              <a:t>（Ａ）它的动能转换成势能 （Ｃ）它从相邻的一段质元获得能量其能量逐渐增大 </a:t>
            </a:r>
            <a:endParaRPr lang="en-US" altLang="zh-CN" sz="1600" b="1">
              <a:ea typeface="华文中宋"/>
              <a:cs typeface="华文中宋"/>
            </a:endParaRPr>
          </a:p>
          <a:p>
            <a:r>
              <a:rPr lang="zh-CN" altLang="en-US" sz="1600" b="1">
                <a:ea typeface="华文中宋"/>
                <a:cs typeface="华文中宋"/>
              </a:rPr>
              <a:t>（Ｂ）它的势能转换成动能 （Ｄ）它把自己的能量传给相邻的一段质元，其能量逐渐减小</a:t>
            </a:r>
          </a:p>
        </p:txBody>
      </p:sp>
      <p:sp>
        <p:nvSpPr>
          <p:cNvPr id="49155" name="Rectangle 3"/>
          <p:cNvSpPr>
            <a:spLocks noChangeArrowheads="1"/>
          </p:cNvSpPr>
          <p:nvPr/>
        </p:nvSpPr>
        <p:spPr bwMode="auto">
          <a:xfrm>
            <a:off x="1258888" y="1193800"/>
            <a:ext cx="936625" cy="339725"/>
          </a:xfrm>
          <a:prstGeom prst="rect">
            <a:avLst/>
          </a:prstGeom>
          <a:noFill/>
          <a:ln w="9525">
            <a:noFill/>
            <a:miter lim="800000"/>
            <a:headEnd/>
            <a:tailEnd/>
          </a:ln>
          <a:effectLst>
            <a:prstShdw prst="shdw17" dist="17961" dir="2700000">
              <a:srgbClr val="993D00"/>
            </a:prstShdw>
          </a:effectLst>
        </p:spPr>
        <p:txBody>
          <a:bodyPr>
            <a:spAutoFit/>
          </a:bodyPr>
          <a:lstStyle/>
          <a:p>
            <a:r>
              <a:rPr lang="zh-CN" altLang="en-US" sz="1600" b="1">
                <a:ea typeface="华文中宋"/>
                <a:cs typeface="华文中宋"/>
              </a:rPr>
              <a:t>（Ｄ）</a:t>
            </a:r>
          </a:p>
        </p:txBody>
      </p:sp>
      <p:sp>
        <p:nvSpPr>
          <p:cNvPr id="52232" name="Rectangle 1032"/>
          <p:cNvSpPr>
            <a:spLocks noChangeArrowheads="1"/>
          </p:cNvSpPr>
          <p:nvPr/>
        </p:nvSpPr>
        <p:spPr bwMode="auto">
          <a:xfrm>
            <a:off x="179388" y="2163763"/>
            <a:ext cx="8647112" cy="1200150"/>
          </a:xfrm>
          <a:prstGeom prst="rect">
            <a:avLst/>
          </a:prstGeom>
          <a:noFill/>
          <a:ln w="9525">
            <a:noFill/>
            <a:miter lim="800000"/>
            <a:headEnd/>
            <a:tailEnd/>
          </a:ln>
        </p:spPr>
        <p:txBody>
          <a:bodyPr>
            <a:spAutoFit/>
          </a:bodyPr>
          <a:lstStyle/>
          <a:p>
            <a:r>
              <a:rPr lang="zh-CN" altLang="en-US" sz="1800" b="1">
                <a:solidFill>
                  <a:srgbClr val="0000FF"/>
                </a:solidFill>
                <a:ea typeface="华文中宋"/>
                <a:cs typeface="华文中宋"/>
              </a:rPr>
              <a:t>例  一平面简谐波，频率为</a:t>
            </a:r>
            <a:r>
              <a:rPr lang="en-US" altLang="zh-CN" sz="1800" b="1">
                <a:solidFill>
                  <a:srgbClr val="0000FF"/>
                </a:solidFill>
                <a:ea typeface="华文中宋"/>
                <a:cs typeface="华文中宋"/>
              </a:rPr>
              <a:t>300Hz</a:t>
            </a:r>
            <a:r>
              <a:rPr lang="zh-CN" altLang="en-US" sz="1800" b="1">
                <a:solidFill>
                  <a:srgbClr val="0000FF"/>
                </a:solidFill>
                <a:ea typeface="华文中宋"/>
                <a:cs typeface="华文中宋"/>
              </a:rPr>
              <a:t>，波速为</a:t>
            </a:r>
            <a:r>
              <a:rPr lang="en-US" altLang="zh-CN" sz="1800" b="1">
                <a:solidFill>
                  <a:srgbClr val="0000FF"/>
                </a:solidFill>
                <a:ea typeface="华文中宋"/>
                <a:cs typeface="华文中宋"/>
              </a:rPr>
              <a:t>340m/s</a:t>
            </a:r>
            <a:r>
              <a:rPr lang="zh-CN" altLang="en-US" sz="1800" b="1">
                <a:solidFill>
                  <a:srgbClr val="0000FF"/>
                </a:solidFill>
                <a:ea typeface="华文中宋"/>
                <a:cs typeface="华文中宋"/>
              </a:rPr>
              <a:t>，在截面面积为</a:t>
            </a:r>
            <a:r>
              <a:rPr lang="en-US" altLang="zh-CN" sz="1800" b="1">
                <a:solidFill>
                  <a:srgbClr val="0000FF"/>
                </a:solidFill>
                <a:ea typeface="华文中宋"/>
                <a:cs typeface="华文中宋"/>
              </a:rPr>
              <a:t>3.00×10</a:t>
            </a:r>
            <a:r>
              <a:rPr lang="en-US" altLang="zh-CN" sz="1800" b="1" baseline="30000">
                <a:solidFill>
                  <a:srgbClr val="0000FF"/>
                </a:solidFill>
                <a:ea typeface="华文中宋"/>
                <a:cs typeface="华文中宋"/>
              </a:rPr>
              <a:t>-2</a:t>
            </a:r>
            <a:r>
              <a:rPr lang="en-US" altLang="zh-CN" sz="1800" b="1">
                <a:solidFill>
                  <a:srgbClr val="0000FF"/>
                </a:solidFill>
                <a:ea typeface="华文中宋"/>
                <a:cs typeface="华文中宋"/>
              </a:rPr>
              <a:t>m</a:t>
            </a:r>
            <a:r>
              <a:rPr lang="en-US" altLang="zh-CN" sz="1800" b="1" baseline="30000">
                <a:solidFill>
                  <a:srgbClr val="0000FF"/>
                </a:solidFill>
                <a:ea typeface="华文中宋"/>
                <a:cs typeface="华文中宋"/>
              </a:rPr>
              <a:t>2  </a:t>
            </a:r>
            <a:r>
              <a:rPr lang="zh-CN" altLang="en-US" sz="1800" b="1">
                <a:solidFill>
                  <a:srgbClr val="0000FF"/>
                </a:solidFill>
                <a:ea typeface="华文中宋"/>
                <a:cs typeface="华文中宋"/>
              </a:rPr>
              <a:t>的管内空气中传播，若在</a:t>
            </a:r>
            <a:r>
              <a:rPr lang="en-US" altLang="zh-CN" sz="1800" b="1">
                <a:solidFill>
                  <a:srgbClr val="0000FF"/>
                </a:solidFill>
                <a:ea typeface="华文中宋"/>
                <a:cs typeface="华文中宋"/>
              </a:rPr>
              <a:t>10s</a:t>
            </a:r>
            <a:r>
              <a:rPr lang="zh-CN" altLang="en-US" sz="1800" b="1">
                <a:solidFill>
                  <a:srgbClr val="0000FF"/>
                </a:solidFill>
                <a:ea typeface="华文中宋"/>
                <a:cs typeface="华文中宋"/>
              </a:rPr>
              <a:t>内通过截面的能量为</a:t>
            </a:r>
            <a:r>
              <a:rPr lang="en-US" altLang="zh-CN" sz="1800" b="1">
                <a:solidFill>
                  <a:srgbClr val="0000FF"/>
                </a:solidFill>
                <a:ea typeface="华文中宋"/>
                <a:cs typeface="华文中宋"/>
              </a:rPr>
              <a:t>2.70×10</a:t>
            </a:r>
            <a:r>
              <a:rPr lang="en-US" altLang="zh-CN" sz="1800" b="1" baseline="30000">
                <a:solidFill>
                  <a:srgbClr val="0000FF"/>
                </a:solidFill>
                <a:ea typeface="华文中宋"/>
                <a:cs typeface="华文中宋"/>
              </a:rPr>
              <a:t>6</a:t>
            </a:r>
            <a:r>
              <a:rPr lang="en-US" altLang="zh-CN" sz="1800" b="1">
                <a:solidFill>
                  <a:srgbClr val="0000FF"/>
                </a:solidFill>
                <a:ea typeface="华文中宋"/>
                <a:cs typeface="华文中宋"/>
              </a:rPr>
              <a:t>J</a:t>
            </a:r>
            <a:r>
              <a:rPr lang="zh-CN" altLang="en-US" sz="1800" b="1">
                <a:solidFill>
                  <a:srgbClr val="0000FF"/>
                </a:solidFill>
                <a:ea typeface="华文中宋"/>
                <a:cs typeface="华文中宋"/>
              </a:rPr>
              <a:t>，求 </a:t>
            </a:r>
            <a:r>
              <a:rPr lang="en-US" altLang="zh-CN" sz="1800" b="1">
                <a:solidFill>
                  <a:srgbClr val="0000FF"/>
                </a:solidFill>
                <a:ea typeface="华文中宋"/>
                <a:cs typeface="华文中宋"/>
              </a:rPr>
              <a:t>:</a:t>
            </a:r>
            <a:endParaRPr lang="zh-CN" altLang="en-US" sz="1800" b="1">
              <a:solidFill>
                <a:srgbClr val="0000FF"/>
              </a:solidFill>
              <a:ea typeface="华文中宋"/>
              <a:cs typeface="华文中宋"/>
            </a:endParaRPr>
          </a:p>
          <a:p>
            <a:r>
              <a:rPr lang="zh-CN" altLang="en-US" sz="1800" b="1">
                <a:solidFill>
                  <a:srgbClr val="0000FF"/>
                </a:solidFill>
                <a:ea typeface="华文中宋"/>
                <a:cs typeface="华文中宋"/>
              </a:rPr>
              <a:t> （</a:t>
            </a:r>
            <a:r>
              <a:rPr lang="en-US" altLang="zh-CN" sz="1800" b="1">
                <a:solidFill>
                  <a:srgbClr val="0000FF"/>
                </a:solidFill>
                <a:ea typeface="华文中宋"/>
                <a:cs typeface="华文中宋"/>
              </a:rPr>
              <a:t>1</a:t>
            </a:r>
            <a:r>
              <a:rPr lang="zh-CN" altLang="en-US" sz="1800" b="1">
                <a:solidFill>
                  <a:srgbClr val="0000FF"/>
                </a:solidFill>
                <a:ea typeface="华文中宋"/>
                <a:cs typeface="华文中宋"/>
              </a:rPr>
              <a:t>）通过截面的平均能流； （</a:t>
            </a:r>
            <a:r>
              <a:rPr lang="en-US" altLang="zh-CN" sz="1800" b="1">
                <a:solidFill>
                  <a:srgbClr val="0000FF"/>
                </a:solidFill>
                <a:ea typeface="华文中宋"/>
                <a:cs typeface="华文中宋"/>
              </a:rPr>
              <a:t>2</a:t>
            </a:r>
            <a:r>
              <a:rPr lang="zh-CN" altLang="en-US" sz="1800" b="1">
                <a:solidFill>
                  <a:srgbClr val="0000FF"/>
                </a:solidFill>
                <a:ea typeface="华文中宋"/>
                <a:cs typeface="华文中宋"/>
              </a:rPr>
              <a:t>）波的平均能流密度； </a:t>
            </a:r>
          </a:p>
          <a:p>
            <a:r>
              <a:rPr lang="zh-CN" altLang="en-US" sz="1800" b="1">
                <a:solidFill>
                  <a:srgbClr val="0000FF"/>
                </a:solidFill>
                <a:ea typeface="华文中宋"/>
                <a:cs typeface="华文中宋"/>
              </a:rPr>
              <a:t> （</a:t>
            </a:r>
            <a:r>
              <a:rPr lang="en-US" altLang="zh-CN" sz="1800" b="1">
                <a:solidFill>
                  <a:srgbClr val="0000FF"/>
                </a:solidFill>
                <a:ea typeface="华文中宋"/>
                <a:cs typeface="华文中宋"/>
              </a:rPr>
              <a:t>3</a:t>
            </a:r>
            <a:r>
              <a:rPr lang="zh-CN" altLang="en-US" sz="1800" b="1">
                <a:solidFill>
                  <a:srgbClr val="0000FF"/>
                </a:solidFill>
                <a:ea typeface="华文中宋"/>
                <a:cs typeface="华文中宋"/>
              </a:rPr>
              <a:t>）波的平均能量密度。 </a:t>
            </a:r>
          </a:p>
        </p:txBody>
      </p:sp>
      <p:sp>
        <p:nvSpPr>
          <p:cNvPr id="52233" name="Rectangle 1033"/>
          <p:cNvSpPr>
            <a:spLocks noChangeArrowheads="1"/>
          </p:cNvSpPr>
          <p:nvPr/>
        </p:nvSpPr>
        <p:spPr bwMode="auto">
          <a:xfrm>
            <a:off x="827088" y="3425825"/>
            <a:ext cx="2635250" cy="369888"/>
          </a:xfrm>
          <a:prstGeom prst="rect">
            <a:avLst/>
          </a:prstGeom>
          <a:noFill/>
          <a:ln w="9525">
            <a:noFill/>
            <a:miter lim="800000"/>
            <a:headEnd/>
            <a:tailEnd/>
          </a:ln>
        </p:spPr>
        <p:txBody>
          <a:bodyPr>
            <a:spAutoFit/>
          </a:bodyPr>
          <a:lstStyle/>
          <a:p>
            <a:r>
              <a:rPr lang="zh-CN" altLang="en-US" sz="1800" b="1">
                <a:ea typeface="华文中宋"/>
                <a:cs typeface="华文中宋"/>
              </a:rPr>
              <a:t>（１）平均能流：</a:t>
            </a:r>
            <a:endParaRPr lang="zh-CN" altLang="en-US" sz="1800" b="1" i="1">
              <a:ea typeface="华文中宋"/>
              <a:cs typeface="华文中宋"/>
            </a:endParaRPr>
          </a:p>
        </p:txBody>
      </p:sp>
      <p:sp>
        <p:nvSpPr>
          <p:cNvPr id="52234" name="Rectangle 1034"/>
          <p:cNvSpPr>
            <a:spLocks noChangeArrowheads="1"/>
          </p:cNvSpPr>
          <p:nvPr/>
        </p:nvSpPr>
        <p:spPr bwMode="auto">
          <a:xfrm>
            <a:off x="827088" y="3806825"/>
            <a:ext cx="2457450" cy="369888"/>
          </a:xfrm>
          <a:prstGeom prst="rect">
            <a:avLst/>
          </a:prstGeom>
          <a:noFill/>
          <a:ln w="9525">
            <a:noFill/>
            <a:miter lim="800000"/>
            <a:headEnd/>
            <a:tailEnd/>
          </a:ln>
        </p:spPr>
        <p:txBody>
          <a:bodyPr>
            <a:spAutoFit/>
          </a:bodyPr>
          <a:lstStyle/>
          <a:p>
            <a:r>
              <a:rPr lang="zh-CN" altLang="en-US" sz="1800" b="1">
                <a:ea typeface="华文中宋"/>
                <a:cs typeface="华文中宋"/>
              </a:rPr>
              <a:t>（２）平均能流密度：</a:t>
            </a:r>
            <a:endParaRPr lang="zh-CN" altLang="en-US" sz="1800" b="1" i="1">
              <a:ea typeface="华文中宋"/>
              <a:cs typeface="华文中宋"/>
            </a:endParaRPr>
          </a:p>
        </p:txBody>
      </p:sp>
      <p:sp>
        <p:nvSpPr>
          <p:cNvPr id="52236" name="Rectangle 1036"/>
          <p:cNvSpPr>
            <a:spLocks noChangeArrowheads="1"/>
          </p:cNvSpPr>
          <p:nvPr/>
        </p:nvSpPr>
        <p:spPr bwMode="auto">
          <a:xfrm>
            <a:off x="827088" y="4186238"/>
            <a:ext cx="2520950" cy="369887"/>
          </a:xfrm>
          <a:prstGeom prst="rect">
            <a:avLst/>
          </a:prstGeom>
          <a:noFill/>
          <a:ln w="9525">
            <a:noFill/>
            <a:miter lim="800000"/>
            <a:headEnd/>
            <a:tailEnd/>
          </a:ln>
        </p:spPr>
        <p:txBody>
          <a:bodyPr>
            <a:spAutoFit/>
          </a:bodyPr>
          <a:lstStyle/>
          <a:p>
            <a:r>
              <a:rPr lang="zh-CN" altLang="en-US" sz="1800" b="1">
                <a:ea typeface="华文中宋"/>
                <a:cs typeface="华文中宋"/>
              </a:rPr>
              <a:t>（３）平均能量密度：</a:t>
            </a:r>
          </a:p>
        </p:txBody>
      </p:sp>
      <p:graphicFrame>
        <p:nvGraphicFramePr>
          <p:cNvPr id="52241" name="Object 25"/>
          <p:cNvGraphicFramePr>
            <a:graphicFrameLocks noChangeAspect="1"/>
          </p:cNvGraphicFramePr>
          <p:nvPr/>
        </p:nvGraphicFramePr>
        <p:xfrm>
          <a:off x="3419475" y="3427413"/>
          <a:ext cx="4897438" cy="317500"/>
        </p:xfrm>
        <a:graphic>
          <a:graphicData uri="http://schemas.openxmlformats.org/presentationml/2006/ole">
            <p:oleObj spid="_x0000_s46105" name="Equation" r:id="rId5" imgW="2641600" imgH="228600" progId="Equation.DSMT4">
              <p:embed/>
            </p:oleObj>
          </a:graphicData>
        </a:graphic>
      </p:graphicFrame>
      <p:graphicFrame>
        <p:nvGraphicFramePr>
          <p:cNvPr id="52242" name="Object 26"/>
          <p:cNvGraphicFramePr>
            <a:graphicFrameLocks noChangeAspect="1"/>
          </p:cNvGraphicFramePr>
          <p:nvPr/>
        </p:nvGraphicFramePr>
        <p:xfrm>
          <a:off x="3409950" y="3848100"/>
          <a:ext cx="5049838" cy="320675"/>
        </p:xfrm>
        <a:graphic>
          <a:graphicData uri="http://schemas.openxmlformats.org/presentationml/2006/ole">
            <p:oleObj spid="_x0000_s46106" name="Equation" r:id="rId6" imgW="3390900" imgH="228600" progId="Equation.DSMT4">
              <p:embed/>
            </p:oleObj>
          </a:graphicData>
        </a:graphic>
      </p:graphicFrame>
      <p:graphicFrame>
        <p:nvGraphicFramePr>
          <p:cNvPr id="52243" name="Object 27"/>
          <p:cNvGraphicFramePr>
            <a:graphicFrameLocks noChangeAspect="1"/>
          </p:cNvGraphicFramePr>
          <p:nvPr/>
        </p:nvGraphicFramePr>
        <p:xfrm>
          <a:off x="3359150" y="4210050"/>
          <a:ext cx="2952750" cy="287338"/>
        </p:xfrm>
        <a:graphic>
          <a:graphicData uri="http://schemas.openxmlformats.org/presentationml/2006/ole">
            <p:oleObj spid="_x0000_s46107" name="Equation" r:id="rId7" imgW="1574800" imgH="203200" progId="Equation.DSMT4">
              <p:embed/>
            </p:oleObj>
          </a:graphicData>
        </a:graphic>
      </p:graphicFrame>
      <p:graphicFrame>
        <p:nvGraphicFramePr>
          <p:cNvPr id="52244" name="Object 28"/>
          <p:cNvGraphicFramePr>
            <a:graphicFrameLocks noChangeAspect="1"/>
          </p:cNvGraphicFramePr>
          <p:nvPr/>
        </p:nvGraphicFramePr>
        <p:xfrm>
          <a:off x="6240463" y="4179888"/>
          <a:ext cx="2147887" cy="336550"/>
        </p:xfrm>
        <a:graphic>
          <a:graphicData uri="http://schemas.openxmlformats.org/presentationml/2006/ole">
            <p:oleObj spid="_x0000_s46108" name="Equation" r:id="rId8" imgW="1270000" imgH="228600" progId="Equation.DSMT4">
              <p:embed/>
            </p:oleObj>
          </a:graphicData>
        </a:graphic>
      </p:graphicFrame>
      <p:sp>
        <p:nvSpPr>
          <p:cNvPr id="52245" name="Rectangle 1045"/>
          <p:cNvSpPr>
            <a:spLocks noChangeArrowheads="1"/>
          </p:cNvSpPr>
          <p:nvPr/>
        </p:nvSpPr>
        <p:spPr bwMode="auto">
          <a:xfrm>
            <a:off x="319088" y="3235325"/>
            <a:ext cx="796925" cy="369888"/>
          </a:xfrm>
          <a:prstGeom prst="rect">
            <a:avLst/>
          </a:prstGeom>
          <a:noFill/>
          <a:ln w="9525">
            <a:noFill/>
            <a:miter lim="800000"/>
            <a:headEnd/>
            <a:tailEnd/>
          </a:ln>
        </p:spPr>
        <p:txBody>
          <a:bodyPr>
            <a:spAutoFit/>
          </a:bodyPr>
          <a:lstStyle/>
          <a:p>
            <a:r>
              <a:rPr lang="zh-CN" altLang="en-US" sz="1800" b="1">
                <a:solidFill>
                  <a:srgbClr val="FF0000"/>
                </a:solidFill>
                <a:ea typeface="华文中宋"/>
                <a:cs typeface="华文中宋"/>
              </a:rPr>
              <a:t>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49154"/>
                                        </p:tgtEl>
                                        <p:attrNameLst>
                                          <p:attrName>style.visibility</p:attrName>
                                        </p:attrNameLst>
                                      </p:cBhvr>
                                      <p:to>
                                        <p:strVal val="visible"/>
                                      </p:to>
                                    </p:set>
                                    <p:anim calcmode="lin" valueType="num">
                                      <p:cBhvr>
                                        <p:cTn id="7" dur="500" fill="hold"/>
                                        <p:tgtEl>
                                          <p:spTgt spid="49154"/>
                                        </p:tgtEl>
                                        <p:attrNameLst>
                                          <p:attrName>ppt_w</p:attrName>
                                        </p:attrNameLst>
                                      </p:cBhvr>
                                      <p:tavLst>
                                        <p:tav tm="0">
                                          <p:val>
                                            <p:fltVal val="0"/>
                                          </p:val>
                                        </p:tav>
                                        <p:tav tm="100000">
                                          <p:val>
                                            <p:strVal val="#ppt_w"/>
                                          </p:val>
                                        </p:tav>
                                      </p:tavLst>
                                    </p:anim>
                                    <p:anim calcmode="lin" valueType="num">
                                      <p:cBhvr>
                                        <p:cTn id="8" dur="500" fill="hold"/>
                                        <p:tgtEl>
                                          <p:spTgt spid="4915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4" name="TYP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49155"/>
                                        </p:tgtEl>
                                        <p:attrNameLst>
                                          <p:attrName>style.visibility</p:attrName>
                                        </p:attrNameLst>
                                      </p:cBhvr>
                                      <p:to>
                                        <p:strVal val="visible"/>
                                      </p:to>
                                    </p:set>
                                    <p:anim calcmode="lin" valueType="num">
                                      <p:cBhvr>
                                        <p:cTn id="13" dur="500" fill="hold"/>
                                        <p:tgtEl>
                                          <p:spTgt spid="49155"/>
                                        </p:tgtEl>
                                        <p:attrNameLst>
                                          <p:attrName>ppt_w</p:attrName>
                                        </p:attrNameLst>
                                      </p:cBhvr>
                                      <p:tavLst>
                                        <p:tav tm="0">
                                          <p:val>
                                            <p:fltVal val="0"/>
                                          </p:val>
                                        </p:tav>
                                        <p:tav tm="100000">
                                          <p:val>
                                            <p:strVal val="#ppt_w"/>
                                          </p:val>
                                        </p:tav>
                                      </p:tavLst>
                                    </p:anim>
                                    <p:anim calcmode="lin" valueType="num">
                                      <p:cBhvr>
                                        <p:cTn id="14" dur="500" fill="hold"/>
                                        <p:tgtEl>
                                          <p:spTgt spid="4915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
                                            </p:cond>
                                          </p:stCondLst>
                                          <p:endCondLst>
                                            <p:cond evt="onStopAudio" delay="0">
                                              <p:tgtEl>
                                                <p:sldTgt/>
                                              </p:tgtEl>
                                            </p:cond>
                                          </p:endCondLst>
                                        </p:cTn>
                                        <p:tgtEl>
                                          <p:sndTgt r:embed="rId4" name="TYP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52232"/>
                                        </p:tgtEl>
                                        <p:attrNameLst>
                                          <p:attrName>style.visibility</p:attrName>
                                        </p:attrNameLst>
                                      </p:cBhvr>
                                      <p:to>
                                        <p:strVal val="visible"/>
                                      </p:to>
                                    </p:set>
                                    <p:anim calcmode="lin" valueType="num">
                                      <p:cBhvr>
                                        <p:cTn id="19" dur="500" fill="hold"/>
                                        <p:tgtEl>
                                          <p:spTgt spid="52232"/>
                                        </p:tgtEl>
                                        <p:attrNameLst>
                                          <p:attrName>ppt_w</p:attrName>
                                        </p:attrNameLst>
                                      </p:cBhvr>
                                      <p:tavLst>
                                        <p:tav tm="0">
                                          <p:val>
                                            <p:fltVal val="0"/>
                                          </p:val>
                                        </p:tav>
                                        <p:tav tm="100000">
                                          <p:val>
                                            <p:strVal val="#ppt_w"/>
                                          </p:val>
                                        </p:tav>
                                      </p:tavLst>
                                    </p:anim>
                                    <p:anim calcmode="lin" valueType="num">
                                      <p:cBhvr>
                                        <p:cTn id="20" dur="500" fill="hold"/>
                                        <p:tgtEl>
                                          <p:spTgt spid="52232"/>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52245"/>
                                        </p:tgtEl>
                                        <p:attrNameLst>
                                          <p:attrName>style.visibility</p:attrName>
                                        </p:attrNameLst>
                                      </p:cBhvr>
                                      <p:to>
                                        <p:strVal val="visible"/>
                                      </p:to>
                                    </p:set>
                                    <p:animEffect transition="in" filter="blinds(horizontal)">
                                      <p:cBhvr>
                                        <p:cTn id="25" dur="500"/>
                                        <p:tgtEl>
                                          <p:spTgt spid="5224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7" presetClass="entr" presetSubtype="10" fill="hold" grpId="0" nodeType="clickEffect">
                                  <p:stCondLst>
                                    <p:cond delay="0"/>
                                  </p:stCondLst>
                                  <p:childTnLst>
                                    <p:set>
                                      <p:cBhvr>
                                        <p:cTn id="29" dur="1" fill="hold">
                                          <p:stCondLst>
                                            <p:cond delay="0"/>
                                          </p:stCondLst>
                                        </p:cTn>
                                        <p:tgtEl>
                                          <p:spTgt spid="52233">
                                            <p:txEl>
                                              <p:pRg st="0" end="0"/>
                                            </p:txEl>
                                          </p:spTgt>
                                        </p:tgtEl>
                                        <p:attrNameLst>
                                          <p:attrName>style.visibility</p:attrName>
                                        </p:attrNameLst>
                                      </p:cBhvr>
                                      <p:to>
                                        <p:strVal val="visible"/>
                                      </p:to>
                                    </p:set>
                                    <p:anim calcmode="lin" valueType="num">
                                      <p:cBhvr>
                                        <p:cTn id="30" dur="500" fill="hold"/>
                                        <p:tgtEl>
                                          <p:spTgt spid="52233">
                                            <p:txEl>
                                              <p:pRg st="0" end="0"/>
                                            </p:txEl>
                                          </p:spTgt>
                                        </p:tgtEl>
                                        <p:attrNameLst>
                                          <p:attrName>ppt_w</p:attrName>
                                        </p:attrNameLst>
                                      </p:cBhvr>
                                      <p:tavLst>
                                        <p:tav tm="0">
                                          <p:val>
                                            <p:fltVal val="0"/>
                                          </p:val>
                                        </p:tav>
                                        <p:tav tm="100000">
                                          <p:val>
                                            <p:strVal val="#ppt_w"/>
                                          </p:val>
                                        </p:tav>
                                      </p:tavLst>
                                    </p:anim>
                                    <p:anim calcmode="lin" valueType="num">
                                      <p:cBhvr>
                                        <p:cTn id="31" dur="500" fill="hold"/>
                                        <p:tgtEl>
                                          <p:spTgt spid="5223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52241"/>
                                        </p:tgtEl>
                                        <p:attrNameLst>
                                          <p:attrName>style.visibility</p:attrName>
                                        </p:attrNameLst>
                                      </p:cBhvr>
                                      <p:to>
                                        <p:strVal val="visible"/>
                                      </p:to>
                                    </p:set>
                                    <p:animEffect transition="in" filter="blinds(horizontal)">
                                      <p:cBhvr>
                                        <p:cTn id="36" dur="500"/>
                                        <p:tgtEl>
                                          <p:spTgt spid="5224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7" presetClass="entr" presetSubtype="10" fill="hold" grpId="0" nodeType="clickEffect">
                                  <p:stCondLst>
                                    <p:cond delay="0"/>
                                  </p:stCondLst>
                                  <p:childTnLst>
                                    <p:set>
                                      <p:cBhvr>
                                        <p:cTn id="40" dur="1" fill="hold">
                                          <p:stCondLst>
                                            <p:cond delay="0"/>
                                          </p:stCondLst>
                                        </p:cTn>
                                        <p:tgtEl>
                                          <p:spTgt spid="52234">
                                            <p:txEl>
                                              <p:pRg st="0" end="0"/>
                                            </p:txEl>
                                          </p:spTgt>
                                        </p:tgtEl>
                                        <p:attrNameLst>
                                          <p:attrName>style.visibility</p:attrName>
                                        </p:attrNameLst>
                                      </p:cBhvr>
                                      <p:to>
                                        <p:strVal val="visible"/>
                                      </p:to>
                                    </p:set>
                                    <p:anim calcmode="lin" valueType="num">
                                      <p:cBhvr>
                                        <p:cTn id="41" dur="500" fill="hold"/>
                                        <p:tgtEl>
                                          <p:spTgt spid="52234">
                                            <p:txEl>
                                              <p:pRg st="0" end="0"/>
                                            </p:txEl>
                                          </p:spTgt>
                                        </p:tgtEl>
                                        <p:attrNameLst>
                                          <p:attrName>ppt_w</p:attrName>
                                        </p:attrNameLst>
                                      </p:cBhvr>
                                      <p:tavLst>
                                        <p:tav tm="0">
                                          <p:val>
                                            <p:fltVal val="0"/>
                                          </p:val>
                                        </p:tav>
                                        <p:tav tm="100000">
                                          <p:val>
                                            <p:strVal val="#ppt_w"/>
                                          </p:val>
                                        </p:tav>
                                      </p:tavLst>
                                    </p:anim>
                                    <p:anim calcmode="lin" valueType="num">
                                      <p:cBhvr>
                                        <p:cTn id="42" dur="500" fill="hold"/>
                                        <p:tgtEl>
                                          <p:spTgt spid="52234">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52242"/>
                                        </p:tgtEl>
                                        <p:attrNameLst>
                                          <p:attrName>style.visibility</p:attrName>
                                        </p:attrNameLst>
                                      </p:cBhvr>
                                      <p:to>
                                        <p:strVal val="visible"/>
                                      </p:to>
                                    </p:set>
                                    <p:animEffect transition="in" filter="blinds(horizontal)">
                                      <p:cBhvr>
                                        <p:cTn id="47" dur="500"/>
                                        <p:tgtEl>
                                          <p:spTgt spid="5224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52236"/>
                                        </p:tgtEl>
                                        <p:attrNameLst>
                                          <p:attrName>style.visibility</p:attrName>
                                        </p:attrNameLst>
                                      </p:cBhvr>
                                      <p:to>
                                        <p:strVal val="visible"/>
                                      </p:to>
                                    </p:set>
                                    <p:animEffect transition="in" filter="blinds(horizontal)">
                                      <p:cBhvr>
                                        <p:cTn id="52" dur="500"/>
                                        <p:tgtEl>
                                          <p:spTgt spid="5223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52243"/>
                                        </p:tgtEl>
                                        <p:attrNameLst>
                                          <p:attrName>style.visibility</p:attrName>
                                        </p:attrNameLst>
                                      </p:cBhvr>
                                      <p:to>
                                        <p:strVal val="visible"/>
                                      </p:to>
                                    </p:set>
                                    <p:animEffect transition="in" filter="blinds(horizontal)">
                                      <p:cBhvr>
                                        <p:cTn id="57" dur="500"/>
                                        <p:tgtEl>
                                          <p:spTgt spid="5224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52244"/>
                                        </p:tgtEl>
                                        <p:attrNameLst>
                                          <p:attrName>style.visibility</p:attrName>
                                        </p:attrNameLst>
                                      </p:cBhvr>
                                      <p:to>
                                        <p:strVal val="visible"/>
                                      </p:to>
                                    </p:set>
                                    <p:animEffect transition="in" filter="blinds(horizontal)">
                                      <p:cBhvr>
                                        <p:cTn id="62" dur="500"/>
                                        <p:tgtEl>
                                          <p:spTgt spid="52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autoUpdateAnimBg="0"/>
      <p:bldP spid="49155" grpId="0" autoUpdateAnimBg="0"/>
      <p:bldP spid="52232" grpId="0" autoUpdateAnimBg="0"/>
      <p:bldP spid="52233" grpId="0" build="p" autoUpdateAnimBg="0"/>
      <p:bldP spid="52234" grpId="0" build="p" autoUpdateAnimBg="0"/>
      <p:bldP spid="52236" grpId="0"/>
      <p:bldP spid="5224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9" name="Rectangle 29"/>
          <p:cNvSpPr>
            <a:spLocks noChangeArrowheads="1"/>
          </p:cNvSpPr>
          <p:nvPr/>
        </p:nvSpPr>
        <p:spPr bwMode="auto">
          <a:xfrm>
            <a:off x="268288" y="1349375"/>
            <a:ext cx="8480425" cy="646113"/>
          </a:xfrm>
          <a:prstGeom prst="rect">
            <a:avLst/>
          </a:prstGeom>
          <a:noFill/>
          <a:ln w="19050">
            <a:solidFill>
              <a:srgbClr val="C00000"/>
            </a:solidFill>
            <a:prstDash val="sysDot"/>
            <a:miter lim="800000"/>
            <a:headEnd/>
            <a:tailEnd/>
          </a:ln>
        </p:spPr>
        <p:txBody>
          <a:bodyPr>
            <a:spAutoFit/>
          </a:bodyPr>
          <a:lstStyle/>
          <a:p>
            <a:pPr algn="just"/>
            <a:r>
              <a:rPr lang="zh-CN" altLang="en-US" sz="1800" b="1">
                <a:latin typeface="华文中宋"/>
                <a:ea typeface="华文中宋"/>
                <a:cs typeface="华文中宋"/>
              </a:rPr>
              <a:t>　　波动传播到的各点都可以看做是发射子波的新的波源；其后任一时刻，这些子波的包迹就是新的波阵面。</a:t>
            </a:r>
          </a:p>
        </p:txBody>
      </p:sp>
      <p:sp>
        <p:nvSpPr>
          <p:cNvPr id="54280" name="Rectangle 1032"/>
          <p:cNvSpPr>
            <a:spLocks noChangeArrowheads="1"/>
          </p:cNvSpPr>
          <p:nvPr/>
        </p:nvSpPr>
        <p:spPr bwMode="auto">
          <a:xfrm>
            <a:off x="6143625" y="1625600"/>
            <a:ext cx="2605088" cy="369888"/>
          </a:xfrm>
          <a:prstGeom prst="rect">
            <a:avLst/>
          </a:prstGeom>
          <a:noFill/>
          <a:ln w="9525">
            <a:noFill/>
            <a:miter lim="800000"/>
            <a:headEnd/>
            <a:tailEnd/>
          </a:ln>
        </p:spPr>
        <p:txBody>
          <a:bodyPr wrap="none">
            <a:spAutoFit/>
          </a:bodyPr>
          <a:lstStyle/>
          <a:p>
            <a:r>
              <a:rPr lang="en-US" altLang="zh-CN" sz="1800" b="1">
                <a:latin typeface="华文中宋"/>
                <a:ea typeface="华文中宋"/>
                <a:cs typeface="华文中宋"/>
              </a:rPr>
              <a:t>-----</a:t>
            </a:r>
            <a:r>
              <a:rPr lang="zh-CN" altLang="en-US" sz="1800" b="1">
                <a:latin typeface="华文中宋"/>
                <a:ea typeface="华文中宋"/>
                <a:cs typeface="华文中宋"/>
              </a:rPr>
              <a:t>惠更斯（</a:t>
            </a:r>
            <a:r>
              <a:rPr lang="en-US" altLang="zh-CN" sz="1800" b="1">
                <a:latin typeface="华文中宋"/>
                <a:ea typeface="华文中宋"/>
                <a:cs typeface="华文中宋"/>
              </a:rPr>
              <a:t>1690</a:t>
            </a:r>
            <a:r>
              <a:rPr lang="zh-CN" altLang="en-US" sz="1800" b="1">
                <a:latin typeface="华文中宋"/>
                <a:ea typeface="华文中宋"/>
                <a:cs typeface="华文中宋"/>
              </a:rPr>
              <a:t>年）</a:t>
            </a:r>
          </a:p>
        </p:txBody>
      </p:sp>
      <p:sp>
        <p:nvSpPr>
          <p:cNvPr id="43034" name="Text Box 26"/>
          <p:cNvSpPr txBox="1">
            <a:spLocks noChangeArrowheads="1"/>
          </p:cNvSpPr>
          <p:nvPr/>
        </p:nvSpPr>
        <p:spPr bwMode="auto">
          <a:xfrm>
            <a:off x="900113" y="2058988"/>
            <a:ext cx="2879725" cy="368300"/>
          </a:xfrm>
          <a:prstGeom prst="rect">
            <a:avLst/>
          </a:prstGeom>
          <a:noFill/>
          <a:ln w="9525">
            <a:noFill/>
            <a:miter lim="800000"/>
            <a:headEnd/>
            <a:tailEnd/>
          </a:ln>
        </p:spPr>
        <p:txBody>
          <a:bodyPr>
            <a:spAutoFit/>
          </a:bodyPr>
          <a:lstStyle/>
          <a:p>
            <a:pPr>
              <a:spcBef>
                <a:spcPct val="50000"/>
              </a:spcBef>
            </a:pPr>
            <a:r>
              <a:rPr lang="zh-CN" altLang="en-US" sz="1800" b="1">
                <a:latin typeface="华文中宋"/>
                <a:ea typeface="华文中宋"/>
                <a:cs typeface="Times New Roman" pitchFamily="18" charset="0"/>
              </a:rPr>
              <a:t>在各向同性介质中传播</a:t>
            </a:r>
          </a:p>
        </p:txBody>
      </p:sp>
      <p:grpSp>
        <p:nvGrpSpPr>
          <p:cNvPr id="2" name="Group 27"/>
          <p:cNvGrpSpPr>
            <a:grpSpLocks/>
          </p:cNvGrpSpPr>
          <p:nvPr/>
        </p:nvGrpSpPr>
        <p:grpSpPr bwMode="auto">
          <a:xfrm>
            <a:off x="1706563" y="2589213"/>
            <a:ext cx="585787" cy="1387475"/>
            <a:chOff x="505" y="1082"/>
            <a:chExt cx="360" cy="1534"/>
          </a:xfrm>
        </p:grpSpPr>
        <p:sp>
          <p:nvSpPr>
            <p:cNvPr id="88131" name="Line 28"/>
            <p:cNvSpPr>
              <a:spLocks noChangeShapeType="1"/>
            </p:cNvSpPr>
            <p:nvPr/>
          </p:nvSpPr>
          <p:spPr bwMode="auto">
            <a:xfrm>
              <a:off x="505" y="1798"/>
              <a:ext cx="335" cy="0"/>
            </a:xfrm>
            <a:prstGeom prst="line">
              <a:avLst/>
            </a:prstGeom>
            <a:noFill/>
            <a:ln w="9525">
              <a:solidFill>
                <a:srgbClr val="0000FF"/>
              </a:solidFill>
              <a:round/>
              <a:headEnd/>
              <a:tailEnd type="triangle" w="med" len="med"/>
            </a:ln>
          </p:spPr>
          <p:txBody>
            <a:bodyPr wrap="none" anchor="ctr"/>
            <a:lstStyle/>
            <a:p>
              <a:endParaRPr lang="zh-CN" altLang="en-US"/>
            </a:p>
          </p:txBody>
        </p:sp>
        <p:sp>
          <p:nvSpPr>
            <p:cNvPr id="88132" name="Line 29"/>
            <p:cNvSpPr>
              <a:spLocks noChangeShapeType="1"/>
            </p:cNvSpPr>
            <p:nvPr/>
          </p:nvSpPr>
          <p:spPr bwMode="auto">
            <a:xfrm>
              <a:off x="865" y="1082"/>
              <a:ext cx="0" cy="1534"/>
            </a:xfrm>
            <a:prstGeom prst="line">
              <a:avLst/>
            </a:prstGeom>
            <a:noFill/>
            <a:ln w="28575">
              <a:solidFill>
                <a:srgbClr val="0000FF"/>
              </a:solidFill>
              <a:round/>
              <a:headEnd/>
              <a:tailEnd/>
            </a:ln>
          </p:spPr>
          <p:txBody>
            <a:bodyPr wrap="none" anchor="ctr"/>
            <a:lstStyle/>
            <a:p>
              <a:endParaRPr lang="zh-CN" altLang="en-US"/>
            </a:p>
          </p:txBody>
        </p:sp>
      </p:grpSp>
      <p:sp>
        <p:nvSpPr>
          <p:cNvPr id="43038" name="Rectangle 30"/>
          <p:cNvSpPr>
            <a:spLocks noChangeArrowheads="1"/>
          </p:cNvSpPr>
          <p:nvPr/>
        </p:nvSpPr>
        <p:spPr bwMode="auto">
          <a:xfrm>
            <a:off x="971550" y="2625725"/>
            <a:ext cx="1268413" cy="261938"/>
          </a:xfrm>
          <a:prstGeom prst="rect">
            <a:avLst/>
          </a:prstGeom>
          <a:noFill/>
          <a:ln w="9525">
            <a:noFill/>
            <a:miter lim="800000"/>
            <a:headEnd/>
            <a:tailEnd/>
          </a:ln>
        </p:spPr>
        <p:txBody>
          <a:bodyPr lIns="12700" tIns="12700" rIns="12700" bIns="12700"/>
          <a:lstStyle/>
          <a:p>
            <a:pPr algn="just"/>
            <a:r>
              <a:rPr lang="en-US" altLang="zh-CN" sz="1500" b="1" i="1">
                <a:solidFill>
                  <a:schemeClr val="tx2"/>
                </a:solidFill>
                <a:ea typeface="华文中宋"/>
                <a:cs typeface="Times New Roman" pitchFamily="18" charset="0"/>
              </a:rPr>
              <a:t>t </a:t>
            </a:r>
            <a:r>
              <a:rPr lang="zh-CN" altLang="en-US" sz="1500" b="1">
                <a:solidFill>
                  <a:schemeClr val="tx2"/>
                </a:solidFill>
                <a:ea typeface="华文中宋"/>
                <a:cs typeface="Times New Roman" pitchFamily="18" charset="0"/>
              </a:rPr>
              <a:t>时刻波面</a:t>
            </a:r>
          </a:p>
        </p:txBody>
      </p:sp>
      <p:grpSp>
        <p:nvGrpSpPr>
          <p:cNvPr id="3" name="Group 31"/>
          <p:cNvGrpSpPr>
            <a:grpSpLocks/>
          </p:cNvGrpSpPr>
          <p:nvPr/>
        </p:nvGrpSpPr>
        <p:grpSpPr bwMode="auto">
          <a:xfrm>
            <a:off x="2290763" y="2700338"/>
            <a:ext cx="46037" cy="1103312"/>
            <a:chOff x="848" y="1223"/>
            <a:chExt cx="35" cy="1125"/>
          </a:xfrm>
        </p:grpSpPr>
        <p:sp>
          <p:nvSpPr>
            <p:cNvPr id="88125" name="Oval 32"/>
            <p:cNvSpPr>
              <a:spLocks noChangeArrowheads="1"/>
            </p:cNvSpPr>
            <p:nvPr/>
          </p:nvSpPr>
          <p:spPr bwMode="auto">
            <a:xfrm>
              <a:off x="848" y="1223"/>
              <a:ext cx="27" cy="27"/>
            </a:xfrm>
            <a:prstGeom prst="ellipse">
              <a:avLst/>
            </a:prstGeom>
            <a:solidFill>
              <a:srgbClr val="CC0099"/>
            </a:solidFill>
            <a:ln w="9525">
              <a:solidFill>
                <a:srgbClr val="CC0099"/>
              </a:solidFill>
              <a:round/>
              <a:headEnd/>
              <a:tailEnd/>
            </a:ln>
          </p:spPr>
          <p:txBody>
            <a:bodyPr wrap="none" anchor="ctr"/>
            <a:lstStyle/>
            <a:p>
              <a:endParaRPr kumimoji="0" lang="zh-CN" altLang="zh-CN" sz="1800" b="1">
                <a:cs typeface="Times New Roman" pitchFamily="18" charset="0"/>
              </a:endParaRPr>
            </a:p>
          </p:txBody>
        </p:sp>
        <p:sp>
          <p:nvSpPr>
            <p:cNvPr id="88126" name="Oval 33"/>
            <p:cNvSpPr>
              <a:spLocks noChangeArrowheads="1"/>
            </p:cNvSpPr>
            <p:nvPr/>
          </p:nvSpPr>
          <p:spPr bwMode="auto">
            <a:xfrm>
              <a:off x="852" y="1437"/>
              <a:ext cx="27" cy="27"/>
            </a:xfrm>
            <a:prstGeom prst="ellipse">
              <a:avLst/>
            </a:prstGeom>
            <a:solidFill>
              <a:srgbClr val="CC0099"/>
            </a:solidFill>
            <a:ln w="9525">
              <a:solidFill>
                <a:srgbClr val="CC0099"/>
              </a:solidFill>
              <a:round/>
              <a:headEnd/>
              <a:tailEnd/>
            </a:ln>
          </p:spPr>
          <p:txBody>
            <a:bodyPr wrap="none" anchor="ctr"/>
            <a:lstStyle/>
            <a:p>
              <a:endParaRPr kumimoji="0" lang="zh-CN" altLang="zh-CN" sz="1800" b="1">
                <a:cs typeface="Times New Roman" pitchFamily="18" charset="0"/>
              </a:endParaRPr>
            </a:p>
          </p:txBody>
        </p:sp>
        <p:sp>
          <p:nvSpPr>
            <p:cNvPr id="88127" name="Oval 34"/>
            <p:cNvSpPr>
              <a:spLocks noChangeArrowheads="1"/>
            </p:cNvSpPr>
            <p:nvPr/>
          </p:nvSpPr>
          <p:spPr bwMode="auto">
            <a:xfrm>
              <a:off x="856" y="1658"/>
              <a:ext cx="27" cy="27"/>
            </a:xfrm>
            <a:prstGeom prst="ellipse">
              <a:avLst/>
            </a:prstGeom>
            <a:solidFill>
              <a:srgbClr val="CC0099"/>
            </a:solidFill>
            <a:ln w="9525">
              <a:solidFill>
                <a:srgbClr val="CC0099"/>
              </a:solidFill>
              <a:round/>
              <a:headEnd/>
              <a:tailEnd/>
            </a:ln>
          </p:spPr>
          <p:txBody>
            <a:bodyPr wrap="none" anchor="ctr"/>
            <a:lstStyle/>
            <a:p>
              <a:endParaRPr kumimoji="0" lang="zh-CN" altLang="zh-CN" sz="1800" b="1">
                <a:cs typeface="Times New Roman" pitchFamily="18" charset="0"/>
              </a:endParaRPr>
            </a:p>
          </p:txBody>
        </p:sp>
        <p:sp>
          <p:nvSpPr>
            <p:cNvPr id="88128" name="Oval 35"/>
            <p:cNvSpPr>
              <a:spLocks noChangeArrowheads="1"/>
            </p:cNvSpPr>
            <p:nvPr/>
          </p:nvSpPr>
          <p:spPr bwMode="auto">
            <a:xfrm>
              <a:off x="852" y="1879"/>
              <a:ext cx="27" cy="27"/>
            </a:xfrm>
            <a:prstGeom prst="ellipse">
              <a:avLst/>
            </a:prstGeom>
            <a:solidFill>
              <a:srgbClr val="CC0099"/>
            </a:solidFill>
            <a:ln w="9525">
              <a:solidFill>
                <a:srgbClr val="CC0099"/>
              </a:solidFill>
              <a:round/>
              <a:headEnd/>
              <a:tailEnd/>
            </a:ln>
          </p:spPr>
          <p:txBody>
            <a:bodyPr wrap="none" anchor="ctr"/>
            <a:lstStyle/>
            <a:p>
              <a:endParaRPr kumimoji="0" lang="zh-CN" altLang="zh-CN" sz="1800" b="1">
                <a:cs typeface="Times New Roman" pitchFamily="18" charset="0"/>
              </a:endParaRPr>
            </a:p>
          </p:txBody>
        </p:sp>
        <p:sp>
          <p:nvSpPr>
            <p:cNvPr id="88129" name="Oval 36"/>
            <p:cNvSpPr>
              <a:spLocks noChangeArrowheads="1"/>
            </p:cNvSpPr>
            <p:nvPr/>
          </p:nvSpPr>
          <p:spPr bwMode="auto">
            <a:xfrm>
              <a:off x="856" y="2101"/>
              <a:ext cx="27" cy="27"/>
            </a:xfrm>
            <a:prstGeom prst="ellipse">
              <a:avLst/>
            </a:prstGeom>
            <a:solidFill>
              <a:srgbClr val="CC0099"/>
            </a:solidFill>
            <a:ln w="9525">
              <a:solidFill>
                <a:srgbClr val="CC0099"/>
              </a:solidFill>
              <a:round/>
              <a:headEnd/>
              <a:tailEnd/>
            </a:ln>
          </p:spPr>
          <p:txBody>
            <a:bodyPr wrap="none" anchor="ctr"/>
            <a:lstStyle/>
            <a:p>
              <a:endParaRPr kumimoji="0" lang="zh-CN" altLang="zh-CN" sz="1800" b="1">
                <a:cs typeface="Times New Roman" pitchFamily="18" charset="0"/>
              </a:endParaRPr>
            </a:p>
          </p:txBody>
        </p:sp>
        <p:sp>
          <p:nvSpPr>
            <p:cNvPr id="88130" name="Oval 37"/>
            <p:cNvSpPr>
              <a:spLocks noChangeArrowheads="1"/>
            </p:cNvSpPr>
            <p:nvPr/>
          </p:nvSpPr>
          <p:spPr bwMode="auto">
            <a:xfrm>
              <a:off x="852" y="2321"/>
              <a:ext cx="27" cy="27"/>
            </a:xfrm>
            <a:prstGeom prst="ellipse">
              <a:avLst/>
            </a:prstGeom>
            <a:solidFill>
              <a:srgbClr val="CC0099"/>
            </a:solidFill>
            <a:ln w="9525">
              <a:solidFill>
                <a:srgbClr val="CC0099"/>
              </a:solidFill>
              <a:round/>
              <a:headEnd/>
              <a:tailEnd/>
            </a:ln>
          </p:spPr>
          <p:txBody>
            <a:bodyPr wrap="none" anchor="ctr"/>
            <a:lstStyle/>
            <a:p>
              <a:endParaRPr kumimoji="0" lang="zh-CN" altLang="zh-CN" sz="1800" b="1">
                <a:cs typeface="Times New Roman" pitchFamily="18" charset="0"/>
              </a:endParaRPr>
            </a:p>
          </p:txBody>
        </p:sp>
      </p:grpSp>
      <p:grpSp>
        <p:nvGrpSpPr>
          <p:cNvPr id="4" name="Group 38"/>
          <p:cNvGrpSpPr>
            <a:grpSpLocks/>
          </p:cNvGrpSpPr>
          <p:nvPr/>
        </p:nvGrpSpPr>
        <p:grpSpPr bwMode="auto">
          <a:xfrm>
            <a:off x="2292350" y="2589213"/>
            <a:ext cx="269875" cy="1349375"/>
            <a:chOff x="863" y="1098"/>
            <a:chExt cx="174" cy="1374"/>
          </a:xfrm>
        </p:grpSpPr>
        <p:sp>
          <p:nvSpPr>
            <p:cNvPr id="88119" name="Arc 39"/>
            <p:cNvSpPr>
              <a:spLocks/>
            </p:cNvSpPr>
            <p:nvPr/>
          </p:nvSpPr>
          <p:spPr bwMode="auto">
            <a:xfrm>
              <a:off x="870" y="1098"/>
              <a:ext cx="158" cy="300"/>
            </a:xfrm>
            <a:custGeom>
              <a:avLst/>
              <a:gdLst>
                <a:gd name="T0" fmla="*/ 0 w 22767"/>
                <a:gd name="T1" fmla="*/ 0 h 43200"/>
                <a:gd name="T2" fmla="*/ 0 w 22767"/>
                <a:gd name="T3" fmla="*/ 0 h 43200"/>
                <a:gd name="T4" fmla="*/ 0 w 22767"/>
                <a:gd name="T5" fmla="*/ 0 h 43200"/>
                <a:gd name="T6" fmla="*/ 0 60000 65536"/>
                <a:gd name="T7" fmla="*/ 0 60000 65536"/>
                <a:gd name="T8" fmla="*/ 0 60000 65536"/>
                <a:gd name="T9" fmla="*/ 0 w 22767"/>
                <a:gd name="T10" fmla="*/ 0 h 43200"/>
                <a:gd name="T11" fmla="*/ 22767 w 22767"/>
                <a:gd name="T12" fmla="*/ 43200 h 43200"/>
              </a:gdLst>
              <a:ahLst/>
              <a:cxnLst>
                <a:cxn ang="T6">
                  <a:pos x="T0" y="T1"/>
                </a:cxn>
                <a:cxn ang="T7">
                  <a:pos x="T2" y="T3"/>
                </a:cxn>
                <a:cxn ang="T8">
                  <a:pos x="T4" y="T5"/>
                </a:cxn>
              </a:cxnLst>
              <a:rect l="T9" t="T10" r="T11" b="T12"/>
              <a:pathLst>
                <a:path w="22767" h="43200" fill="none" extrusionOk="0">
                  <a:moveTo>
                    <a:pt x="1166" y="0"/>
                  </a:moveTo>
                  <a:cubicBezTo>
                    <a:pt x="13096" y="0"/>
                    <a:pt x="22767" y="9670"/>
                    <a:pt x="22767" y="21600"/>
                  </a:cubicBezTo>
                  <a:cubicBezTo>
                    <a:pt x="22767" y="33529"/>
                    <a:pt x="13096" y="43200"/>
                    <a:pt x="1167" y="43200"/>
                  </a:cubicBezTo>
                  <a:cubicBezTo>
                    <a:pt x="777" y="43200"/>
                    <a:pt x="388" y="43189"/>
                    <a:pt x="-1" y="43168"/>
                  </a:cubicBezTo>
                </a:path>
                <a:path w="22767" h="43200" stroke="0" extrusionOk="0">
                  <a:moveTo>
                    <a:pt x="1166" y="0"/>
                  </a:moveTo>
                  <a:cubicBezTo>
                    <a:pt x="13096" y="0"/>
                    <a:pt x="22767" y="9670"/>
                    <a:pt x="22767" y="21600"/>
                  </a:cubicBezTo>
                  <a:cubicBezTo>
                    <a:pt x="22767" y="33529"/>
                    <a:pt x="13096" y="43200"/>
                    <a:pt x="1167" y="43200"/>
                  </a:cubicBezTo>
                  <a:cubicBezTo>
                    <a:pt x="777" y="43200"/>
                    <a:pt x="388" y="43189"/>
                    <a:pt x="-1" y="43168"/>
                  </a:cubicBezTo>
                  <a:lnTo>
                    <a:pt x="1167" y="21600"/>
                  </a:lnTo>
                  <a:lnTo>
                    <a:pt x="1166" y="0"/>
                  </a:lnTo>
                  <a:close/>
                </a:path>
              </a:pathLst>
            </a:custGeom>
            <a:noFill/>
            <a:ln w="9525">
              <a:solidFill>
                <a:srgbClr val="CC00CC"/>
              </a:solidFill>
              <a:round/>
              <a:headEnd/>
              <a:tailEnd/>
            </a:ln>
          </p:spPr>
          <p:txBody>
            <a:bodyPr wrap="none" anchor="ctr"/>
            <a:lstStyle/>
            <a:p>
              <a:endParaRPr lang="zh-CN" altLang="en-US"/>
            </a:p>
          </p:txBody>
        </p:sp>
        <p:sp>
          <p:nvSpPr>
            <p:cNvPr id="88120" name="Arc 40"/>
            <p:cNvSpPr>
              <a:spLocks/>
            </p:cNvSpPr>
            <p:nvPr/>
          </p:nvSpPr>
          <p:spPr bwMode="auto">
            <a:xfrm>
              <a:off x="871" y="1293"/>
              <a:ext cx="158" cy="300"/>
            </a:xfrm>
            <a:custGeom>
              <a:avLst/>
              <a:gdLst>
                <a:gd name="T0" fmla="*/ 0 w 22767"/>
                <a:gd name="T1" fmla="*/ 0 h 43200"/>
                <a:gd name="T2" fmla="*/ 0 w 22767"/>
                <a:gd name="T3" fmla="*/ 0 h 43200"/>
                <a:gd name="T4" fmla="*/ 0 w 22767"/>
                <a:gd name="T5" fmla="*/ 0 h 43200"/>
                <a:gd name="T6" fmla="*/ 0 60000 65536"/>
                <a:gd name="T7" fmla="*/ 0 60000 65536"/>
                <a:gd name="T8" fmla="*/ 0 60000 65536"/>
                <a:gd name="T9" fmla="*/ 0 w 22767"/>
                <a:gd name="T10" fmla="*/ 0 h 43200"/>
                <a:gd name="T11" fmla="*/ 22767 w 22767"/>
                <a:gd name="T12" fmla="*/ 43200 h 43200"/>
              </a:gdLst>
              <a:ahLst/>
              <a:cxnLst>
                <a:cxn ang="T6">
                  <a:pos x="T0" y="T1"/>
                </a:cxn>
                <a:cxn ang="T7">
                  <a:pos x="T2" y="T3"/>
                </a:cxn>
                <a:cxn ang="T8">
                  <a:pos x="T4" y="T5"/>
                </a:cxn>
              </a:cxnLst>
              <a:rect l="T9" t="T10" r="T11" b="T12"/>
              <a:pathLst>
                <a:path w="22767" h="43200" fill="none" extrusionOk="0">
                  <a:moveTo>
                    <a:pt x="1166" y="0"/>
                  </a:moveTo>
                  <a:cubicBezTo>
                    <a:pt x="13096" y="0"/>
                    <a:pt x="22767" y="9670"/>
                    <a:pt x="22767" y="21600"/>
                  </a:cubicBezTo>
                  <a:cubicBezTo>
                    <a:pt x="22767" y="33529"/>
                    <a:pt x="13096" y="43200"/>
                    <a:pt x="1167" y="43200"/>
                  </a:cubicBezTo>
                  <a:cubicBezTo>
                    <a:pt x="777" y="43200"/>
                    <a:pt x="388" y="43189"/>
                    <a:pt x="-1" y="43168"/>
                  </a:cubicBezTo>
                </a:path>
                <a:path w="22767" h="43200" stroke="0" extrusionOk="0">
                  <a:moveTo>
                    <a:pt x="1166" y="0"/>
                  </a:moveTo>
                  <a:cubicBezTo>
                    <a:pt x="13096" y="0"/>
                    <a:pt x="22767" y="9670"/>
                    <a:pt x="22767" y="21600"/>
                  </a:cubicBezTo>
                  <a:cubicBezTo>
                    <a:pt x="22767" y="33529"/>
                    <a:pt x="13096" y="43200"/>
                    <a:pt x="1167" y="43200"/>
                  </a:cubicBezTo>
                  <a:cubicBezTo>
                    <a:pt x="777" y="43200"/>
                    <a:pt x="388" y="43189"/>
                    <a:pt x="-1" y="43168"/>
                  </a:cubicBezTo>
                  <a:lnTo>
                    <a:pt x="1167" y="21600"/>
                  </a:lnTo>
                  <a:lnTo>
                    <a:pt x="1166" y="0"/>
                  </a:lnTo>
                  <a:close/>
                </a:path>
              </a:pathLst>
            </a:custGeom>
            <a:noFill/>
            <a:ln w="9525">
              <a:solidFill>
                <a:srgbClr val="CC00CC"/>
              </a:solidFill>
              <a:round/>
              <a:headEnd/>
              <a:tailEnd/>
            </a:ln>
          </p:spPr>
          <p:txBody>
            <a:bodyPr wrap="none" anchor="ctr"/>
            <a:lstStyle/>
            <a:p>
              <a:endParaRPr lang="zh-CN" altLang="en-US"/>
            </a:p>
          </p:txBody>
        </p:sp>
        <p:sp>
          <p:nvSpPr>
            <p:cNvPr id="88121" name="Arc 41"/>
            <p:cNvSpPr>
              <a:spLocks/>
            </p:cNvSpPr>
            <p:nvPr/>
          </p:nvSpPr>
          <p:spPr bwMode="auto">
            <a:xfrm>
              <a:off x="871" y="1503"/>
              <a:ext cx="158" cy="300"/>
            </a:xfrm>
            <a:custGeom>
              <a:avLst/>
              <a:gdLst>
                <a:gd name="T0" fmla="*/ 0 w 22767"/>
                <a:gd name="T1" fmla="*/ 0 h 43200"/>
                <a:gd name="T2" fmla="*/ 0 w 22767"/>
                <a:gd name="T3" fmla="*/ 0 h 43200"/>
                <a:gd name="T4" fmla="*/ 0 w 22767"/>
                <a:gd name="T5" fmla="*/ 0 h 43200"/>
                <a:gd name="T6" fmla="*/ 0 60000 65536"/>
                <a:gd name="T7" fmla="*/ 0 60000 65536"/>
                <a:gd name="T8" fmla="*/ 0 60000 65536"/>
                <a:gd name="T9" fmla="*/ 0 w 22767"/>
                <a:gd name="T10" fmla="*/ 0 h 43200"/>
                <a:gd name="T11" fmla="*/ 22767 w 22767"/>
                <a:gd name="T12" fmla="*/ 43200 h 43200"/>
              </a:gdLst>
              <a:ahLst/>
              <a:cxnLst>
                <a:cxn ang="T6">
                  <a:pos x="T0" y="T1"/>
                </a:cxn>
                <a:cxn ang="T7">
                  <a:pos x="T2" y="T3"/>
                </a:cxn>
                <a:cxn ang="T8">
                  <a:pos x="T4" y="T5"/>
                </a:cxn>
              </a:cxnLst>
              <a:rect l="T9" t="T10" r="T11" b="T12"/>
              <a:pathLst>
                <a:path w="22767" h="43200" fill="none" extrusionOk="0">
                  <a:moveTo>
                    <a:pt x="1166" y="0"/>
                  </a:moveTo>
                  <a:cubicBezTo>
                    <a:pt x="13096" y="0"/>
                    <a:pt x="22767" y="9670"/>
                    <a:pt x="22767" y="21600"/>
                  </a:cubicBezTo>
                  <a:cubicBezTo>
                    <a:pt x="22767" y="33529"/>
                    <a:pt x="13096" y="43200"/>
                    <a:pt x="1167" y="43200"/>
                  </a:cubicBezTo>
                  <a:cubicBezTo>
                    <a:pt x="777" y="43200"/>
                    <a:pt x="388" y="43189"/>
                    <a:pt x="-1" y="43168"/>
                  </a:cubicBezTo>
                </a:path>
                <a:path w="22767" h="43200" stroke="0" extrusionOk="0">
                  <a:moveTo>
                    <a:pt x="1166" y="0"/>
                  </a:moveTo>
                  <a:cubicBezTo>
                    <a:pt x="13096" y="0"/>
                    <a:pt x="22767" y="9670"/>
                    <a:pt x="22767" y="21600"/>
                  </a:cubicBezTo>
                  <a:cubicBezTo>
                    <a:pt x="22767" y="33529"/>
                    <a:pt x="13096" y="43200"/>
                    <a:pt x="1167" y="43200"/>
                  </a:cubicBezTo>
                  <a:cubicBezTo>
                    <a:pt x="777" y="43200"/>
                    <a:pt x="388" y="43189"/>
                    <a:pt x="-1" y="43168"/>
                  </a:cubicBezTo>
                  <a:lnTo>
                    <a:pt x="1167" y="21600"/>
                  </a:lnTo>
                  <a:lnTo>
                    <a:pt x="1166" y="0"/>
                  </a:lnTo>
                  <a:close/>
                </a:path>
              </a:pathLst>
            </a:custGeom>
            <a:noFill/>
            <a:ln w="9525">
              <a:solidFill>
                <a:srgbClr val="CC00CC"/>
              </a:solidFill>
              <a:round/>
              <a:headEnd/>
              <a:tailEnd/>
            </a:ln>
          </p:spPr>
          <p:txBody>
            <a:bodyPr wrap="none" anchor="ctr"/>
            <a:lstStyle/>
            <a:p>
              <a:endParaRPr lang="zh-CN" altLang="en-US"/>
            </a:p>
          </p:txBody>
        </p:sp>
        <p:sp>
          <p:nvSpPr>
            <p:cNvPr id="88122" name="Arc 42"/>
            <p:cNvSpPr>
              <a:spLocks/>
            </p:cNvSpPr>
            <p:nvPr/>
          </p:nvSpPr>
          <p:spPr bwMode="auto">
            <a:xfrm>
              <a:off x="870" y="1737"/>
              <a:ext cx="158" cy="300"/>
            </a:xfrm>
            <a:custGeom>
              <a:avLst/>
              <a:gdLst>
                <a:gd name="T0" fmla="*/ 0 w 22767"/>
                <a:gd name="T1" fmla="*/ 0 h 43200"/>
                <a:gd name="T2" fmla="*/ 0 w 22767"/>
                <a:gd name="T3" fmla="*/ 0 h 43200"/>
                <a:gd name="T4" fmla="*/ 0 w 22767"/>
                <a:gd name="T5" fmla="*/ 0 h 43200"/>
                <a:gd name="T6" fmla="*/ 0 60000 65536"/>
                <a:gd name="T7" fmla="*/ 0 60000 65536"/>
                <a:gd name="T8" fmla="*/ 0 60000 65536"/>
                <a:gd name="T9" fmla="*/ 0 w 22767"/>
                <a:gd name="T10" fmla="*/ 0 h 43200"/>
                <a:gd name="T11" fmla="*/ 22767 w 22767"/>
                <a:gd name="T12" fmla="*/ 43200 h 43200"/>
              </a:gdLst>
              <a:ahLst/>
              <a:cxnLst>
                <a:cxn ang="T6">
                  <a:pos x="T0" y="T1"/>
                </a:cxn>
                <a:cxn ang="T7">
                  <a:pos x="T2" y="T3"/>
                </a:cxn>
                <a:cxn ang="T8">
                  <a:pos x="T4" y="T5"/>
                </a:cxn>
              </a:cxnLst>
              <a:rect l="T9" t="T10" r="T11" b="T12"/>
              <a:pathLst>
                <a:path w="22767" h="43200" fill="none" extrusionOk="0">
                  <a:moveTo>
                    <a:pt x="1166" y="0"/>
                  </a:moveTo>
                  <a:cubicBezTo>
                    <a:pt x="13096" y="0"/>
                    <a:pt x="22767" y="9670"/>
                    <a:pt x="22767" y="21600"/>
                  </a:cubicBezTo>
                  <a:cubicBezTo>
                    <a:pt x="22767" y="33529"/>
                    <a:pt x="13096" y="43200"/>
                    <a:pt x="1167" y="43200"/>
                  </a:cubicBezTo>
                  <a:cubicBezTo>
                    <a:pt x="777" y="43200"/>
                    <a:pt x="388" y="43189"/>
                    <a:pt x="-1" y="43168"/>
                  </a:cubicBezTo>
                </a:path>
                <a:path w="22767" h="43200" stroke="0" extrusionOk="0">
                  <a:moveTo>
                    <a:pt x="1166" y="0"/>
                  </a:moveTo>
                  <a:cubicBezTo>
                    <a:pt x="13096" y="0"/>
                    <a:pt x="22767" y="9670"/>
                    <a:pt x="22767" y="21600"/>
                  </a:cubicBezTo>
                  <a:cubicBezTo>
                    <a:pt x="22767" y="33529"/>
                    <a:pt x="13096" y="43200"/>
                    <a:pt x="1167" y="43200"/>
                  </a:cubicBezTo>
                  <a:cubicBezTo>
                    <a:pt x="777" y="43200"/>
                    <a:pt x="388" y="43189"/>
                    <a:pt x="-1" y="43168"/>
                  </a:cubicBezTo>
                  <a:lnTo>
                    <a:pt x="1167" y="21600"/>
                  </a:lnTo>
                  <a:lnTo>
                    <a:pt x="1166" y="0"/>
                  </a:lnTo>
                  <a:close/>
                </a:path>
              </a:pathLst>
            </a:custGeom>
            <a:noFill/>
            <a:ln w="9525">
              <a:solidFill>
                <a:srgbClr val="CC00CC"/>
              </a:solidFill>
              <a:round/>
              <a:headEnd/>
              <a:tailEnd/>
            </a:ln>
          </p:spPr>
          <p:txBody>
            <a:bodyPr wrap="none" anchor="ctr"/>
            <a:lstStyle/>
            <a:p>
              <a:endParaRPr lang="zh-CN" altLang="en-US"/>
            </a:p>
          </p:txBody>
        </p:sp>
        <p:sp>
          <p:nvSpPr>
            <p:cNvPr id="88123" name="Arc 43"/>
            <p:cNvSpPr>
              <a:spLocks/>
            </p:cNvSpPr>
            <p:nvPr/>
          </p:nvSpPr>
          <p:spPr bwMode="auto">
            <a:xfrm>
              <a:off x="879" y="1954"/>
              <a:ext cx="158" cy="300"/>
            </a:xfrm>
            <a:custGeom>
              <a:avLst/>
              <a:gdLst>
                <a:gd name="T0" fmla="*/ 0 w 22767"/>
                <a:gd name="T1" fmla="*/ 0 h 43200"/>
                <a:gd name="T2" fmla="*/ 0 w 22767"/>
                <a:gd name="T3" fmla="*/ 0 h 43200"/>
                <a:gd name="T4" fmla="*/ 0 w 22767"/>
                <a:gd name="T5" fmla="*/ 0 h 43200"/>
                <a:gd name="T6" fmla="*/ 0 60000 65536"/>
                <a:gd name="T7" fmla="*/ 0 60000 65536"/>
                <a:gd name="T8" fmla="*/ 0 60000 65536"/>
                <a:gd name="T9" fmla="*/ 0 w 22767"/>
                <a:gd name="T10" fmla="*/ 0 h 43200"/>
                <a:gd name="T11" fmla="*/ 22767 w 22767"/>
                <a:gd name="T12" fmla="*/ 43200 h 43200"/>
              </a:gdLst>
              <a:ahLst/>
              <a:cxnLst>
                <a:cxn ang="T6">
                  <a:pos x="T0" y="T1"/>
                </a:cxn>
                <a:cxn ang="T7">
                  <a:pos x="T2" y="T3"/>
                </a:cxn>
                <a:cxn ang="T8">
                  <a:pos x="T4" y="T5"/>
                </a:cxn>
              </a:cxnLst>
              <a:rect l="T9" t="T10" r="T11" b="T12"/>
              <a:pathLst>
                <a:path w="22767" h="43200" fill="none" extrusionOk="0">
                  <a:moveTo>
                    <a:pt x="1166" y="0"/>
                  </a:moveTo>
                  <a:cubicBezTo>
                    <a:pt x="13096" y="0"/>
                    <a:pt x="22767" y="9670"/>
                    <a:pt x="22767" y="21600"/>
                  </a:cubicBezTo>
                  <a:cubicBezTo>
                    <a:pt x="22767" y="33529"/>
                    <a:pt x="13096" y="43200"/>
                    <a:pt x="1167" y="43200"/>
                  </a:cubicBezTo>
                  <a:cubicBezTo>
                    <a:pt x="777" y="43200"/>
                    <a:pt x="388" y="43189"/>
                    <a:pt x="-1" y="43168"/>
                  </a:cubicBezTo>
                </a:path>
                <a:path w="22767" h="43200" stroke="0" extrusionOk="0">
                  <a:moveTo>
                    <a:pt x="1166" y="0"/>
                  </a:moveTo>
                  <a:cubicBezTo>
                    <a:pt x="13096" y="0"/>
                    <a:pt x="22767" y="9670"/>
                    <a:pt x="22767" y="21600"/>
                  </a:cubicBezTo>
                  <a:cubicBezTo>
                    <a:pt x="22767" y="33529"/>
                    <a:pt x="13096" y="43200"/>
                    <a:pt x="1167" y="43200"/>
                  </a:cubicBezTo>
                  <a:cubicBezTo>
                    <a:pt x="777" y="43200"/>
                    <a:pt x="388" y="43189"/>
                    <a:pt x="-1" y="43168"/>
                  </a:cubicBezTo>
                  <a:lnTo>
                    <a:pt x="1167" y="21600"/>
                  </a:lnTo>
                  <a:lnTo>
                    <a:pt x="1166" y="0"/>
                  </a:lnTo>
                  <a:close/>
                </a:path>
              </a:pathLst>
            </a:custGeom>
            <a:noFill/>
            <a:ln w="9525">
              <a:solidFill>
                <a:srgbClr val="CC00CC"/>
              </a:solidFill>
              <a:round/>
              <a:headEnd/>
              <a:tailEnd/>
            </a:ln>
          </p:spPr>
          <p:txBody>
            <a:bodyPr wrap="none" anchor="ctr"/>
            <a:lstStyle/>
            <a:p>
              <a:endParaRPr lang="zh-CN" altLang="en-US"/>
            </a:p>
          </p:txBody>
        </p:sp>
        <p:sp>
          <p:nvSpPr>
            <p:cNvPr id="88124" name="Arc 44"/>
            <p:cNvSpPr>
              <a:spLocks/>
            </p:cNvSpPr>
            <p:nvPr/>
          </p:nvSpPr>
          <p:spPr bwMode="auto">
            <a:xfrm>
              <a:off x="863" y="2172"/>
              <a:ext cx="158" cy="300"/>
            </a:xfrm>
            <a:custGeom>
              <a:avLst/>
              <a:gdLst>
                <a:gd name="T0" fmla="*/ 0 w 22767"/>
                <a:gd name="T1" fmla="*/ 0 h 43200"/>
                <a:gd name="T2" fmla="*/ 0 w 22767"/>
                <a:gd name="T3" fmla="*/ 0 h 43200"/>
                <a:gd name="T4" fmla="*/ 0 w 22767"/>
                <a:gd name="T5" fmla="*/ 0 h 43200"/>
                <a:gd name="T6" fmla="*/ 0 60000 65536"/>
                <a:gd name="T7" fmla="*/ 0 60000 65536"/>
                <a:gd name="T8" fmla="*/ 0 60000 65536"/>
                <a:gd name="T9" fmla="*/ 0 w 22767"/>
                <a:gd name="T10" fmla="*/ 0 h 43200"/>
                <a:gd name="T11" fmla="*/ 22767 w 22767"/>
                <a:gd name="T12" fmla="*/ 43200 h 43200"/>
              </a:gdLst>
              <a:ahLst/>
              <a:cxnLst>
                <a:cxn ang="T6">
                  <a:pos x="T0" y="T1"/>
                </a:cxn>
                <a:cxn ang="T7">
                  <a:pos x="T2" y="T3"/>
                </a:cxn>
                <a:cxn ang="T8">
                  <a:pos x="T4" y="T5"/>
                </a:cxn>
              </a:cxnLst>
              <a:rect l="T9" t="T10" r="T11" b="T12"/>
              <a:pathLst>
                <a:path w="22767" h="43200" fill="none" extrusionOk="0">
                  <a:moveTo>
                    <a:pt x="1166" y="0"/>
                  </a:moveTo>
                  <a:cubicBezTo>
                    <a:pt x="13096" y="0"/>
                    <a:pt x="22767" y="9670"/>
                    <a:pt x="22767" y="21600"/>
                  </a:cubicBezTo>
                  <a:cubicBezTo>
                    <a:pt x="22767" y="33529"/>
                    <a:pt x="13096" y="43200"/>
                    <a:pt x="1167" y="43200"/>
                  </a:cubicBezTo>
                  <a:cubicBezTo>
                    <a:pt x="777" y="43200"/>
                    <a:pt x="388" y="43189"/>
                    <a:pt x="-1" y="43168"/>
                  </a:cubicBezTo>
                </a:path>
                <a:path w="22767" h="43200" stroke="0" extrusionOk="0">
                  <a:moveTo>
                    <a:pt x="1166" y="0"/>
                  </a:moveTo>
                  <a:cubicBezTo>
                    <a:pt x="13096" y="0"/>
                    <a:pt x="22767" y="9670"/>
                    <a:pt x="22767" y="21600"/>
                  </a:cubicBezTo>
                  <a:cubicBezTo>
                    <a:pt x="22767" y="33529"/>
                    <a:pt x="13096" y="43200"/>
                    <a:pt x="1167" y="43200"/>
                  </a:cubicBezTo>
                  <a:cubicBezTo>
                    <a:pt x="777" y="43200"/>
                    <a:pt x="388" y="43189"/>
                    <a:pt x="-1" y="43168"/>
                  </a:cubicBezTo>
                  <a:lnTo>
                    <a:pt x="1167" y="21600"/>
                  </a:lnTo>
                  <a:lnTo>
                    <a:pt x="1166" y="0"/>
                  </a:lnTo>
                  <a:close/>
                </a:path>
              </a:pathLst>
            </a:custGeom>
            <a:noFill/>
            <a:ln w="9525">
              <a:solidFill>
                <a:srgbClr val="CC00CC"/>
              </a:solidFill>
              <a:round/>
              <a:headEnd/>
              <a:tailEnd/>
            </a:ln>
          </p:spPr>
          <p:txBody>
            <a:bodyPr wrap="none" anchor="ctr"/>
            <a:lstStyle/>
            <a:p>
              <a:endParaRPr lang="zh-CN" altLang="en-US"/>
            </a:p>
          </p:txBody>
        </p:sp>
      </p:grpSp>
      <p:sp>
        <p:nvSpPr>
          <p:cNvPr id="43053" name="Line 45"/>
          <p:cNvSpPr>
            <a:spLocks noChangeShapeType="1"/>
          </p:cNvSpPr>
          <p:nvPr/>
        </p:nvSpPr>
        <p:spPr bwMode="auto">
          <a:xfrm>
            <a:off x="2562225" y="2589213"/>
            <a:ext cx="0" cy="1377950"/>
          </a:xfrm>
          <a:prstGeom prst="line">
            <a:avLst/>
          </a:prstGeom>
          <a:noFill/>
          <a:ln w="28575">
            <a:solidFill>
              <a:srgbClr val="0000FF"/>
            </a:solidFill>
            <a:round/>
            <a:headEnd/>
            <a:tailEnd/>
          </a:ln>
        </p:spPr>
        <p:txBody>
          <a:bodyPr wrap="none" anchor="ctr"/>
          <a:lstStyle/>
          <a:p>
            <a:endParaRPr lang="zh-CN" altLang="en-US"/>
          </a:p>
        </p:txBody>
      </p:sp>
      <p:sp>
        <p:nvSpPr>
          <p:cNvPr id="43054" name="Rectangle 46"/>
          <p:cNvSpPr>
            <a:spLocks noChangeArrowheads="1"/>
          </p:cNvSpPr>
          <p:nvPr/>
        </p:nvSpPr>
        <p:spPr bwMode="auto">
          <a:xfrm>
            <a:off x="2620963" y="2435225"/>
            <a:ext cx="1619250" cy="269875"/>
          </a:xfrm>
          <a:prstGeom prst="rect">
            <a:avLst/>
          </a:prstGeom>
          <a:noFill/>
          <a:ln w="9525">
            <a:noFill/>
            <a:miter lim="800000"/>
            <a:headEnd/>
            <a:tailEnd/>
          </a:ln>
        </p:spPr>
        <p:txBody>
          <a:bodyPr lIns="12700" tIns="12700" rIns="12700" bIns="12700"/>
          <a:lstStyle/>
          <a:p>
            <a:pPr algn="just"/>
            <a:r>
              <a:rPr lang="en-US" altLang="zh-CN" sz="1500" b="1" i="1">
                <a:solidFill>
                  <a:schemeClr val="tx2"/>
                </a:solidFill>
                <a:ea typeface="华文中宋"/>
                <a:cs typeface="Times New Roman" pitchFamily="18" charset="0"/>
              </a:rPr>
              <a:t>t</a:t>
            </a:r>
            <a:r>
              <a:rPr lang="en-US" altLang="zh-CN" sz="1500" b="1">
                <a:solidFill>
                  <a:schemeClr val="tx2"/>
                </a:solidFill>
                <a:ea typeface="华文中宋"/>
                <a:cs typeface="Times New Roman" pitchFamily="18" charset="0"/>
              </a:rPr>
              <a:t>+</a:t>
            </a:r>
            <a:r>
              <a:rPr lang="en-US" altLang="zh-CN" sz="1500" b="1">
                <a:solidFill>
                  <a:schemeClr val="tx2"/>
                </a:solidFill>
                <a:ea typeface="华文中宋"/>
                <a:cs typeface="Times New Roman" pitchFamily="18" charset="0"/>
                <a:sym typeface="Symbol" pitchFamily="18" charset="2"/>
              </a:rPr>
              <a:t></a:t>
            </a:r>
            <a:r>
              <a:rPr lang="en-US" altLang="zh-CN" sz="1500" b="1" i="1">
                <a:solidFill>
                  <a:schemeClr val="tx2"/>
                </a:solidFill>
                <a:ea typeface="华文中宋"/>
                <a:cs typeface="Times New Roman" pitchFamily="18" charset="0"/>
              </a:rPr>
              <a:t>t</a:t>
            </a:r>
            <a:r>
              <a:rPr lang="zh-CN" altLang="en-US" sz="1500" b="1">
                <a:solidFill>
                  <a:schemeClr val="tx2"/>
                </a:solidFill>
                <a:ea typeface="华文中宋"/>
                <a:cs typeface="Times New Roman" pitchFamily="18" charset="0"/>
              </a:rPr>
              <a:t>时刻波面</a:t>
            </a:r>
          </a:p>
        </p:txBody>
      </p:sp>
      <p:grpSp>
        <p:nvGrpSpPr>
          <p:cNvPr id="5" name="Group 47"/>
          <p:cNvGrpSpPr>
            <a:grpSpLocks/>
          </p:cNvGrpSpPr>
          <p:nvPr/>
        </p:nvGrpSpPr>
        <p:grpSpPr bwMode="auto">
          <a:xfrm>
            <a:off x="2606675" y="2700338"/>
            <a:ext cx="1450975" cy="1489075"/>
            <a:chOff x="1035" y="1199"/>
            <a:chExt cx="914" cy="1698"/>
          </a:xfrm>
        </p:grpSpPr>
        <p:grpSp>
          <p:nvGrpSpPr>
            <p:cNvPr id="88112" name="Group 48"/>
            <p:cNvGrpSpPr>
              <a:grpSpLocks/>
            </p:cNvGrpSpPr>
            <p:nvPr/>
          </p:nvGrpSpPr>
          <p:grpSpPr bwMode="auto">
            <a:xfrm>
              <a:off x="1035" y="1199"/>
              <a:ext cx="647" cy="1284"/>
              <a:chOff x="1035" y="1199"/>
              <a:chExt cx="647" cy="1284"/>
            </a:xfrm>
          </p:grpSpPr>
          <p:sp>
            <p:nvSpPr>
              <p:cNvPr id="88114" name="Line 49"/>
              <p:cNvSpPr>
                <a:spLocks noChangeShapeType="1"/>
              </p:cNvSpPr>
              <p:nvPr/>
            </p:nvSpPr>
            <p:spPr bwMode="auto">
              <a:xfrm>
                <a:off x="1043" y="1199"/>
                <a:ext cx="631" cy="0"/>
              </a:xfrm>
              <a:prstGeom prst="line">
                <a:avLst/>
              </a:prstGeom>
              <a:noFill/>
              <a:ln w="9525">
                <a:solidFill>
                  <a:srgbClr val="0000FF"/>
                </a:solidFill>
                <a:round/>
                <a:headEnd/>
                <a:tailEnd type="triangle" w="med" len="med"/>
              </a:ln>
            </p:spPr>
            <p:txBody>
              <a:bodyPr wrap="none" anchor="ctr"/>
              <a:lstStyle/>
              <a:p>
                <a:endParaRPr lang="zh-CN" altLang="en-US"/>
              </a:p>
            </p:txBody>
          </p:sp>
          <p:sp>
            <p:nvSpPr>
              <p:cNvPr id="88115" name="Line 50"/>
              <p:cNvSpPr>
                <a:spLocks noChangeShapeType="1"/>
              </p:cNvSpPr>
              <p:nvPr/>
            </p:nvSpPr>
            <p:spPr bwMode="auto">
              <a:xfrm>
                <a:off x="1051" y="1525"/>
                <a:ext cx="631" cy="0"/>
              </a:xfrm>
              <a:prstGeom prst="line">
                <a:avLst/>
              </a:prstGeom>
              <a:noFill/>
              <a:ln w="9525">
                <a:solidFill>
                  <a:srgbClr val="0000FF"/>
                </a:solidFill>
                <a:round/>
                <a:headEnd/>
                <a:tailEnd type="triangle" w="med" len="med"/>
              </a:ln>
            </p:spPr>
            <p:txBody>
              <a:bodyPr wrap="none" anchor="ctr"/>
              <a:lstStyle/>
              <a:p>
                <a:endParaRPr lang="zh-CN" altLang="en-US"/>
              </a:p>
            </p:txBody>
          </p:sp>
          <p:sp>
            <p:nvSpPr>
              <p:cNvPr id="88116" name="Line 51"/>
              <p:cNvSpPr>
                <a:spLocks noChangeShapeType="1"/>
              </p:cNvSpPr>
              <p:nvPr/>
            </p:nvSpPr>
            <p:spPr bwMode="auto">
              <a:xfrm>
                <a:off x="1042" y="1845"/>
                <a:ext cx="631" cy="0"/>
              </a:xfrm>
              <a:prstGeom prst="line">
                <a:avLst/>
              </a:prstGeom>
              <a:noFill/>
              <a:ln w="9525">
                <a:solidFill>
                  <a:srgbClr val="0000FF"/>
                </a:solidFill>
                <a:round/>
                <a:headEnd/>
                <a:tailEnd type="triangle" w="med" len="med"/>
              </a:ln>
            </p:spPr>
            <p:txBody>
              <a:bodyPr wrap="none" anchor="ctr"/>
              <a:lstStyle/>
              <a:p>
                <a:endParaRPr lang="zh-CN" altLang="en-US"/>
              </a:p>
            </p:txBody>
          </p:sp>
          <p:sp>
            <p:nvSpPr>
              <p:cNvPr id="88117" name="Line 52"/>
              <p:cNvSpPr>
                <a:spLocks noChangeShapeType="1"/>
              </p:cNvSpPr>
              <p:nvPr/>
            </p:nvSpPr>
            <p:spPr bwMode="auto">
              <a:xfrm>
                <a:off x="1035" y="2165"/>
                <a:ext cx="631" cy="0"/>
              </a:xfrm>
              <a:prstGeom prst="line">
                <a:avLst/>
              </a:prstGeom>
              <a:noFill/>
              <a:ln w="9525">
                <a:solidFill>
                  <a:srgbClr val="0000FF"/>
                </a:solidFill>
                <a:round/>
                <a:headEnd/>
                <a:tailEnd type="triangle" w="med" len="med"/>
              </a:ln>
            </p:spPr>
            <p:txBody>
              <a:bodyPr wrap="none" anchor="ctr"/>
              <a:lstStyle/>
              <a:p>
                <a:endParaRPr lang="zh-CN" altLang="en-US"/>
              </a:p>
            </p:txBody>
          </p:sp>
          <p:sp>
            <p:nvSpPr>
              <p:cNvPr id="88118" name="Line 53"/>
              <p:cNvSpPr>
                <a:spLocks noChangeShapeType="1"/>
              </p:cNvSpPr>
              <p:nvPr/>
            </p:nvSpPr>
            <p:spPr bwMode="auto">
              <a:xfrm>
                <a:off x="1050" y="2483"/>
                <a:ext cx="631" cy="0"/>
              </a:xfrm>
              <a:prstGeom prst="line">
                <a:avLst/>
              </a:prstGeom>
              <a:noFill/>
              <a:ln w="9525">
                <a:solidFill>
                  <a:srgbClr val="0000FF"/>
                </a:solidFill>
                <a:round/>
                <a:headEnd/>
                <a:tailEnd type="triangle" w="med" len="med"/>
              </a:ln>
            </p:spPr>
            <p:txBody>
              <a:bodyPr wrap="none" anchor="ctr"/>
              <a:lstStyle/>
              <a:p>
                <a:endParaRPr lang="zh-CN" altLang="en-US"/>
              </a:p>
            </p:txBody>
          </p:sp>
        </p:grpSp>
        <p:sp>
          <p:nvSpPr>
            <p:cNvPr id="88113" name="Rectangle 54"/>
            <p:cNvSpPr>
              <a:spLocks noChangeArrowheads="1"/>
            </p:cNvSpPr>
            <p:nvPr/>
          </p:nvSpPr>
          <p:spPr bwMode="auto">
            <a:xfrm>
              <a:off x="1227" y="2529"/>
              <a:ext cx="722" cy="368"/>
            </a:xfrm>
            <a:prstGeom prst="rect">
              <a:avLst/>
            </a:prstGeom>
            <a:noFill/>
            <a:ln w="9525">
              <a:noFill/>
              <a:miter lim="800000"/>
              <a:headEnd/>
              <a:tailEnd/>
            </a:ln>
          </p:spPr>
          <p:txBody>
            <a:bodyPr wrap="none">
              <a:spAutoFit/>
            </a:bodyPr>
            <a:lstStyle/>
            <a:p>
              <a:pPr algn="ctr"/>
              <a:r>
                <a:rPr lang="zh-CN" altLang="en-US" sz="1500" b="1">
                  <a:solidFill>
                    <a:srgbClr val="FF00FF"/>
                  </a:solidFill>
                  <a:latin typeface="华文中宋"/>
                  <a:ea typeface="华文中宋"/>
                  <a:cs typeface="Times New Roman" pitchFamily="18" charset="0"/>
                </a:rPr>
                <a:t>波传播方向</a:t>
              </a:r>
            </a:p>
          </p:txBody>
        </p:sp>
      </p:grpSp>
      <p:grpSp>
        <p:nvGrpSpPr>
          <p:cNvPr id="8" name="Group 55"/>
          <p:cNvGrpSpPr>
            <a:grpSpLocks/>
          </p:cNvGrpSpPr>
          <p:nvPr/>
        </p:nvGrpSpPr>
        <p:grpSpPr bwMode="auto">
          <a:xfrm>
            <a:off x="5470525" y="2209800"/>
            <a:ext cx="2495550" cy="1871663"/>
            <a:chOff x="3129" y="1360"/>
            <a:chExt cx="1572" cy="1573"/>
          </a:xfrm>
        </p:grpSpPr>
        <p:sp>
          <p:nvSpPr>
            <p:cNvPr id="88100" name="Oval 56"/>
            <p:cNvSpPr>
              <a:spLocks noChangeArrowheads="1"/>
            </p:cNvSpPr>
            <p:nvPr/>
          </p:nvSpPr>
          <p:spPr bwMode="auto">
            <a:xfrm>
              <a:off x="3728" y="1360"/>
              <a:ext cx="389" cy="389"/>
            </a:xfrm>
            <a:prstGeom prst="ellipse">
              <a:avLst/>
            </a:prstGeom>
            <a:noFill/>
            <a:ln w="9525">
              <a:solidFill>
                <a:srgbClr val="CC00CC"/>
              </a:solidFill>
              <a:round/>
              <a:headEnd/>
              <a:tailEnd/>
            </a:ln>
          </p:spPr>
          <p:txBody>
            <a:bodyPr wrap="none" anchor="ctr"/>
            <a:lstStyle/>
            <a:p>
              <a:endParaRPr kumimoji="0" lang="zh-CN" altLang="zh-CN" sz="1800"/>
            </a:p>
          </p:txBody>
        </p:sp>
        <p:sp>
          <p:nvSpPr>
            <p:cNvPr id="88101" name="Oval 57"/>
            <p:cNvSpPr>
              <a:spLocks noChangeArrowheads="1"/>
            </p:cNvSpPr>
            <p:nvPr/>
          </p:nvSpPr>
          <p:spPr bwMode="auto">
            <a:xfrm>
              <a:off x="3728" y="2544"/>
              <a:ext cx="389" cy="389"/>
            </a:xfrm>
            <a:prstGeom prst="ellipse">
              <a:avLst/>
            </a:prstGeom>
            <a:noFill/>
            <a:ln w="9525">
              <a:solidFill>
                <a:srgbClr val="CC00CC"/>
              </a:solidFill>
              <a:round/>
              <a:headEnd/>
              <a:tailEnd/>
            </a:ln>
          </p:spPr>
          <p:txBody>
            <a:bodyPr wrap="none" anchor="ctr"/>
            <a:lstStyle/>
            <a:p>
              <a:endParaRPr kumimoji="0" lang="zh-CN" altLang="zh-CN" sz="1800"/>
            </a:p>
          </p:txBody>
        </p:sp>
        <p:sp>
          <p:nvSpPr>
            <p:cNvPr id="88102" name="Oval 58"/>
            <p:cNvSpPr>
              <a:spLocks noChangeArrowheads="1"/>
            </p:cNvSpPr>
            <p:nvPr/>
          </p:nvSpPr>
          <p:spPr bwMode="auto">
            <a:xfrm>
              <a:off x="4312" y="1953"/>
              <a:ext cx="389" cy="389"/>
            </a:xfrm>
            <a:prstGeom prst="ellipse">
              <a:avLst/>
            </a:prstGeom>
            <a:noFill/>
            <a:ln w="9525">
              <a:solidFill>
                <a:srgbClr val="CC00CC"/>
              </a:solidFill>
              <a:round/>
              <a:headEnd/>
              <a:tailEnd/>
            </a:ln>
          </p:spPr>
          <p:txBody>
            <a:bodyPr wrap="none" anchor="ctr"/>
            <a:lstStyle/>
            <a:p>
              <a:endParaRPr kumimoji="0" lang="zh-CN" altLang="zh-CN" sz="1800"/>
            </a:p>
          </p:txBody>
        </p:sp>
        <p:sp>
          <p:nvSpPr>
            <p:cNvPr id="88103" name="Oval 59"/>
            <p:cNvSpPr>
              <a:spLocks noChangeArrowheads="1"/>
            </p:cNvSpPr>
            <p:nvPr/>
          </p:nvSpPr>
          <p:spPr bwMode="auto">
            <a:xfrm>
              <a:off x="3129" y="1954"/>
              <a:ext cx="389" cy="389"/>
            </a:xfrm>
            <a:prstGeom prst="ellipse">
              <a:avLst/>
            </a:prstGeom>
            <a:noFill/>
            <a:ln w="9525">
              <a:solidFill>
                <a:srgbClr val="CC00CC"/>
              </a:solidFill>
              <a:round/>
              <a:headEnd/>
              <a:tailEnd/>
            </a:ln>
          </p:spPr>
          <p:txBody>
            <a:bodyPr wrap="none" anchor="ctr"/>
            <a:lstStyle/>
            <a:p>
              <a:endParaRPr kumimoji="0" lang="zh-CN" altLang="zh-CN" sz="1800"/>
            </a:p>
          </p:txBody>
        </p:sp>
        <p:sp>
          <p:nvSpPr>
            <p:cNvPr id="88104" name="Oval 60"/>
            <p:cNvSpPr>
              <a:spLocks noChangeArrowheads="1"/>
            </p:cNvSpPr>
            <p:nvPr/>
          </p:nvSpPr>
          <p:spPr bwMode="auto">
            <a:xfrm>
              <a:off x="3214" y="2251"/>
              <a:ext cx="389" cy="389"/>
            </a:xfrm>
            <a:prstGeom prst="ellipse">
              <a:avLst/>
            </a:prstGeom>
            <a:noFill/>
            <a:ln w="9525">
              <a:solidFill>
                <a:srgbClr val="CC00CC"/>
              </a:solidFill>
              <a:round/>
              <a:headEnd/>
              <a:tailEnd/>
            </a:ln>
          </p:spPr>
          <p:txBody>
            <a:bodyPr wrap="none" anchor="ctr"/>
            <a:lstStyle/>
            <a:p>
              <a:endParaRPr kumimoji="0" lang="zh-CN" altLang="zh-CN" sz="1800"/>
            </a:p>
          </p:txBody>
        </p:sp>
        <p:sp>
          <p:nvSpPr>
            <p:cNvPr id="88105" name="Oval 61"/>
            <p:cNvSpPr>
              <a:spLocks noChangeArrowheads="1"/>
            </p:cNvSpPr>
            <p:nvPr/>
          </p:nvSpPr>
          <p:spPr bwMode="auto">
            <a:xfrm>
              <a:off x="3432" y="2469"/>
              <a:ext cx="389" cy="389"/>
            </a:xfrm>
            <a:prstGeom prst="ellipse">
              <a:avLst/>
            </a:prstGeom>
            <a:noFill/>
            <a:ln w="9525">
              <a:solidFill>
                <a:srgbClr val="CC00CC"/>
              </a:solidFill>
              <a:round/>
              <a:headEnd/>
              <a:tailEnd/>
            </a:ln>
          </p:spPr>
          <p:txBody>
            <a:bodyPr wrap="none" anchor="ctr"/>
            <a:lstStyle/>
            <a:p>
              <a:endParaRPr kumimoji="0" lang="zh-CN" altLang="zh-CN" sz="1800"/>
            </a:p>
          </p:txBody>
        </p:sp>
        <p:sp>
          <p:nvSpPr>
            <p:cNvPr id="88106" name="Oval 62"/>
            <p:cNvSpPr>
              <a:spLocks noChangeArrowheads="1"/>
            </p:cNvSpPr>
            <p:nvPr/>
          </p:nvSpPr>
          <p:spPr bwMode="auto">
            <a:xfrm>
              <a:off x="4023" y="2461"/>
              <a:ext cx="389" cy="389"/>
            </a:xfrm>
            <a:prstGeom prst="ellipse">
              <a:avLst/>
            </a:prstGeom>
            <a:noFill/>
            <a:ln w="9525">
              <a:solidFill>
                <a:srgbClr val="CC00CC"/>
              </a:solidFill>
              <a:round/>
              <a:headEnd/>
              <a:tailEnd/>
            </a:ln>
          </p:spPr>
          <p:txBody>
            <a:bodyPr wrap="none" anchor="ctr"/>
            <a:lstStyle/>
            <a:p>
              <a:endParaRPr kumimoji="0" lang="zh-CN" altLang="zh-CN" sz="1800"/>
            </a:p>
          </p:txBody>
        </p:sp>
        <p:sp>
          <p:nvSpPr>
            <p:cNvPr id="88107" name="Oval 63"/>
            <p:cNvSpPr>
              <a:spLocks noChangeArrowheads="1"/>
            </p:cNvSpPr>
            <p:nvPr/>
          </p:nvSpPr>
          <p:spPr bwMode="auto">
            <a:xfrm>
              <a:off x="4241" y="2243"/>
              <a:ext cx="389" cy="389"/>
            </a:xfrm>
            <a:prstGeom prst="ellipse">
              <a:avLst/>
            </a:prstGeom>
            <a:noFill/>
            <a:ln w="9525">
              <a:solidFill>
                <a:srgbClr val="CC00CC"/>
              </a:solidFill>
              <a:round/>
              <a:headEnd/>
              <a:tailEnd/>
            </a:ln>
          </p:spPr>
          <p:txBody>
            <a:bodyPr wrap="none" anchor="ctr"/>
            <a:lstStyle/>
            <a:p>
              <a:endParaRPr kumimoji="0" lang="zh-CN" altLang="zh-CN" sz="1800"/>
            </a:p>
          </p:txBody>
        </p:sp>
        <p:sp>
          <p:nvSpPr>
            <p:cNvPr id="88108" name="Oval 64"/>
            <p:cNvSpPr>
              <a:spLocks noChangeArrowheads="1"/>
            </p:cNvSpPr>
            <p:nvPr/>
          </p:nvSpPr>
          <p:spPr bwMode="auto">
            <a:xfrm>
              <a:off x="4240" y="1667"/>
              <a:ext cx="389" cy="389"/>
            </a:xfrm>
            <a:prstGeom prst="ellipse">
              <a:avLst/>
            </a:prstGeom>
            <a:noFill/>
            <a:ln w="9525">
              <a:solidFill>
                <a:srgbClr val="CC00CC"/>
              </a:solidFill>
              <a:round/>
              <a:headEnd/>
              <a:tailEnd/>
            </a:ln>
          </p:spPr>
          <p:txBody>
            <a:bodyPr wrap="none" anchor="ctr"/>
            <a:lstStyle/>
            <a:p>
              <a:endParaRPr kumimoji="0" lang="zh-CN" altLang="zh-CN" sz="1800"/>
            </a:p>
          </p:txBody>
        </p:sp>
        <p:sp>
          <p:nvSpPr>
            <p:cNvPr id="88109" name="Oval 65"/>
            <p:cNvSpPr>
              <a:spLocks noChangeArrowheads="1"/>
            </p:cNvSpPr>
            <p:nvPr/>
          </p:nvSpPr>
          <p:spPr bwMode="auto">
            <a:xfrm>
              <a:off x="4031" y="1450"/>
              <a:ext cx="389" cy="389"/>
            </a:xfrm>
            <a:prstGeom prst="ellipse">
              <a:avLst/>
            </a:prstGeom>
            <a:noFill/>
            <a:ln w="9525">
              <a:solidFill>
                <a:srgbClr val="CC00CC"/>
              </a:solidFill>
              <a:round/>
              <a:headEnd/>
              <a:tailEnd/>
            </a:ln>
          </p:spPr>
          <p:txBody>
            <a:bodyPr wrap="none" anchor="ctr"/>
            <a:lstStyle/>
            <a:p>
              <a:endParaRPr kumimoji="0" lang="zh-CN" altLang="zh-CN" sz="1800"/>
            </a:p>
          </p:txBody>
        </p:sp>
        <p:sp>
          <p:nvSpPr>
            <p:cNvPr id="88110" name="Oval 66"/>
            <p:cNvSpPr>
              <a:spLocks noChangeArrowheads="1"/>
            </p:cNvSpPr>
            <p:nvPr/>
          </p:nvSpPr>
          <p:spPr bwMode="auto">
            <a:xfrm>
              <a:off x="3439" y="1434"/>
              <a:ext cx="389" cy="389"/>
            </a:xfrm>
            <a:prstGeom prst="ellipse">
              <a:avLst/>
            </a:prstGeom>
            <a:noFill/>
            <a:ln w="9525">
              <a:solidFill>
                <a:srgbClr val="CC00CC"/>
              </a:solidFill>
              <a:round/>
              <a:headEnd/>
              <a:tailEnd/>
            </a:ln>
          </p:spPr>
          <p:txBody>
            <a:bodyPr wrap="none" anchor="ctr"/>
            <a:lstStyle/>
            <a:p>
              <a:endParaRPr kumimoji="0" lang="zh-CN" altLang="zh-CN" sz="1800"/>
            </a:p>
          </p:txBody>
        </p:sp>
        <p:sp>
          <p:nvSpPr>
            <p:cNvPr id="88111" name="Oval 67"/>
            <p:cNvSpPr>
              <a:spLocks noChangeArrowheads="1"/>
            </p:cNvSpPr>
            <p:nvPr/>
          </p:nvSpPr>
          <p:spPr bwMode="auto">
            <a:xfrm>
              <a:off x="3213" y="1644"/>
              <a:ext cx="389" cy="389"/>
            </a:xfrm>
            <a:prstGeom prst="ellipse">
              <a:avLst/>
            </a:prstGeom>
            <a:noFill/>
            <a:ln w="9525">
              <a:solidFill>
                <a:srgbClr val="CC00CC"/>
              </a:solidFill>
              <a:round/>
              <a:headEnd/>
              <a:tailEnd/>
            </a:ln>
          </p:spPr>
          <p:txBody>
            <a:bodyPr wrap="none" anchor="ctr"/>
            <a:lstStyle/>
            <a:p>
              <a:endParaRPr kumimoji="0" lang="zh-CN" altLang="zh-CN" sz="1800"/>
            </a:p>
          </p:txBody>
        </p:sp>
      </p:grpSp>
      <p:grpSp>
        <p:nvGrpSpPr>
          <p:cNvPr id="9" name="Group 68"/>
          <p:cNvGrpSpPr>
            <a:grpSpLocks/>
          </p:cNvGrpSpPr>
          <p:nvPr/>
        </p:nvGrpSpPr>
        <p:grpSpPr bwMode="auto">
          <a:xfrm>
            <a:off x="5878513" y="2490788"/>
            <a:ext cx="1717675" cy="1287462"/>
            <a:chOff x="3378" y="1605"/>
            <a:chExt cx="1082" cy="1082"/>
          </a:xfrm>
        </p:grpSpPr>
        <p:sp>
          <p:nvSpPr>
            <p:cNvPr id="88098" name="Oval 69"/>
            <p:cNvSpPr>
              <a:spLocks noChangeArrowheads="1"/>
            </p:cNvSpPr>
            <p:nvPr/>
          </p:nvSpPr>
          <p:spPr bwMode="auto">
            <a:xfrm>
              <a:off x="3378" y="1605"/>
              <a:ext cx="1082" cy="1082"/>
            </a:xfrm>
            <a:prstGeom prst="ellipse">
              <a:avLst/>
            </a:prstGeom>
            <a:solidFill>
              <a:schemeClr val="bg1"/>
            </a:solidFill>
            <a:ln w="19050">
              <a:solidFill>
                <a:srgbClr val="0000FF"/>
              </a:solidFill>
              <a:round/>
              <a:headEnd/>
              <a:tailEnd/>
            </a:ln>
          </p:spPr>
          <p:txBody>
            <a:bodyPr wrap="none" anchor="ctr"/>
            <a:lstStyle/>
            <a:p>
              <a:endParaRPr kumimoji="0" lang="zh-CN" altLang="zh-CN" sz="1800"/>
            </a:p>
          </p:txBody>
        </p:sp>
        <p:sp>
          <p:nvSpPr>
            <p:cNvPr id="88099" name="AutoShape 70"/>
            <p:cNvSpPr>
              <a:spLocks noChangeArrowheads="1"/>
            </p:cNvSpPr>
            <p:nvPr/>
          </p:nvSpPr>
          <p:spPr bwMode="auto">
            <a:xfrm>
              <a:off x="3852" y="2086"/>
              <a:ext cx="141" cy="141"/>
            </a:xfrm>
            <a:prstGeom prst="star8">
              <a:avLst>
                <a:gd name="adj" fmla="val 18968"/>
              </a:avLst>
            </a:prstGeom>
            <a:noFill/>
            <a:ln w="9525">
              <a:solidFill>
                <a:srgbClr val="CC00CC"/>
              </a:solidFill>
              <a:miter lim="800000"/>
              <a:headEnd/>
              <a:tailEnd/>
            </a:ln>
          </p:spPr>
          <p:txBody>
            <a:bodyPr wrap="none" anchor="ctr"/>
            <a:lstStyle/>
            <a:p>
              <a:endParaRPr kumimoji="0" lang="zh-CN" altLang="zh-CN" sz="1800"/>
            </a:p>
          </p:txBody>
        </p:sp>
      </p:grpSp>
      <p:grpSp>
        <p:nvGrpSpPr>
          <p:cNvPr id="10" name="Group 71"/>
          <p:cNvGrpSpPr>
            <a:grpSpLocks/>
          </p:cNvGrpSpPr>
          <p:nvPr/>
        </p:nvGrpSpPr>
        <p:grpSpPr bwMode="auto">
          <a:xfrm>
            <a:off x="5835650" y="2465388"/>
            <a:ext cx="1801813" cy="1349375"/>
            <a:chOff x="3351" y="1584"/>
            <a:chExt cx="1135" cy="1133"/>
          </a:xfrm>
        </p:grpSpPr>
        <p:sp>
          <p:nvSpPr>
            <p:cNvPr id="88086" name="Oval 72"/>
            <p:cNvSpPr>
              <a:spLocks noChangeArrowheads="1"/>
            </p:cNvSpPr>
            <p:nvPr/>
          </p:nvSpPr>
          <p:spPr bwMode="auto">
            <a:xfrm>
              <a:off x="3417" y="2383"/>
              <a:ext cx="47" cy="47"/>
            </a:xfrm>
            <a:prstGeom prst="ellipse">
              <a:avLst/>
            </a:prstGeom>
            <a:solidFill>
              <a:srgbClr val="CC0099"/>
            </a:solidFill>
            <a:ln w="9525">
              <a:solidFill>
                <a:srgbClr val="CC00CC"/>
              </a:solidFill>
              <a:round/>
              <a:headEnd/>
              <a:tailEnd/>
            </a:ln>
          </p:spPr>
          <p:txBody>
            <a:bodyPr wrap="none" anchor="ctr"/>
            <a:lstStyle/>
            <a:p>
              <a:endParaRPr kumimoji="0" lang="zh-CN" altLang="zh-CN" sz="1800"/>
            </a:p>
          </p:txBody>
        </p:sp>
        <p:sp>
          <p:nvSpPr>
            <p:cNvPr id="88087" name="Oval 73"/>
            <p:cNvSpPr>
              <a:spLocks noChangeArrowheads="1"/>
            </p:cNvSpPr>
            <p:nvPr/>
          </p:nvSpPr>
          <p:spPr bwMode="auto">
            <a:xfrm>
              <a:off x="3615" y="2597"/>
              <a:ext cx="47" cy="47"/>
            </a:xfrm>
            <a:prstGeom prst="ellipse">
              <a:avLst/>
            </a:prstGeom>
            <a:solidFill>
              <a:srgbClr val="CC0099"/>
            </a:solidFill>
            <a:ln w="9525">
              <a:solidFill>
                <a:srgbClr val="CC00CC"/>
              </a:solidFill>
              <a:round/>
              <a:headEnd/>
              <a:tailEnd/>
            </a:ln>
          </p:spPr>
          <p:txBody>
            <a:bodyPr wrap="none" anchor="ctr"/>
            <a:lstStyle/>
            <a:p>
              <a:endParaRPr kumimoji="0" lang="zh-CN" altLang="zh-CN" sz="1800"/>
            </a:p>
          </p:txBody>
        </p:sp>
        <p:sp>
          <p:nvSpPr>
            <p:cNvPr id="88088" name="Oval 74"/>
            <p:cNvSpPr>
              <a:spLocks noChangeArrowheads="1"/>
            </p:cNvSpPr>
            <p:nvPr/>
          </p:nvSpPr>
          <p:spPr bwMode="auto">
            <a:xfrm>
              <a:off x="3899" y="2670"/>
              <a:ext cx="47" cy="47"/>
            </a:xfrm>
            <a:prstGeom prst="ellipse">
              <a:avLst/>
            </a:prstGeom>
            <a:solidFill>
              <a:srgbClr val="CC0099"/>
            </a:solidFill>
            <a:ln w="9525">
              <a:solidFill>
                <a:srgbClr val="CC00CC"/>
              </a:solidFill>
              <a:round/>
              <a:headEnd/>
              <a:tailEnd/>
            </a:ln>
          </p:spPr>
          <p:txBody>
            <a:bodyPr wrap="none" anchor="ctr"/>
            <a:lstStyle/>
            <a:p>
              <a:endParaRPr kumimoji="0" lang="zh-CN" altLang="zh-CN" sz="1800"/>
            </a:p>
          </p:txBody>
        </p:sp>
        <p:sp>
          <p:nvSpPr>
            <p:cNvPr id="88089" name="Oval 75"/>
            <p:cNvSpPr>
              <a:spLocks noChangeArrowheads="1"/>
            </p:cNvSpPr>
            <p:nvPr/>
          </p:nvSpPr>
          <p:spPr bwMode="auto">
            <a:xfrm>
              <a:off x="4182" y="2582"/>
              <a:ext cx="47" cy="47"/>
            </a:xfrm>
            <a:prstGeom prst="ellipse">
              <a:avLst/>
            </a:prstGeom>
            <a:solidFill>
              <a:srgbClr val="CC0099"/>
            </a:solidFill>
            <a:ln w="9525">
              <a:solidFill>
                <a:srgbClr val="CC00CC"/>
              </a:solidFill>
              <a:round/>
              <a:headEnd/>
              <a:tailEnd/>
            </a:ln>
          </p:spPr>
          <p:txBody>
            <a:bodyPr wrap="none" anchor="ctr"/>
            <a:lstStyle/>
            <a:p>
              <a:endParaRPr kumimoji="0" lang="zh-CN" altLang="zh-CN" sz="1800"/>
            </a:p>
          </p:txBody>
        </p:sp>
        <p:sp>
          <p:nvSpPr>
            <p:cNvPr id="88090" name="Oval 76"/>
            <p:cNvSpPr>
              <a:spLocks noChangeArrowheads="1"/>
            </p:cNvSpPr>
            <p:nvPr/>
          </p:nvSpPr>
          <p:spPr bwMode="auto">
            <a:xfrm>
              <a:off x="4373" y="2383"/>
              <a:ext cx="47" cy="47"/>
            </a:xfrm>
            <a:prstGeom prst="ellipse">
              <a:avLst/>
            </a:prstGeom>
            <a:solidFill>
              <a:srgbClr val="CC0099"/>
            </a:solidFill>
            <a:ln w="9525">
              <a:solidFill>
                <a:srgbClr val="CC00CC"/>
              </a:solidFill>
              <a:round/>
              <a:headEnd/>
              <a:tailEnd/>
            </a:ln>
          </p:spPr>
          <p:txBody>
            <a:bodyPr wrap="none" anchor="ctr"/>
            <a:lstStyle/>
            <a:p>
              <a:endParaRPr kumimoji="0" lang="zh-CN" altLang="zh-CN" sz="1800"/>
            </a:p>
          </p:txBody>
        </p:sp>
        <p:sp>
          <p:nvSpPr>
            <p:cNvPr id="88091" name="Oval 77"/>
            <p:cNvSpPr>
              <a:spLocks noChangeArrowheads="1"/>
            </p:cNvSpPr>
            <p:nvPr/>
          </p:nvSpPr>
          <p:spPr bwMode="auto">
            <a:xfrm>
              <a:off x="4439" y="2128"/>
              <a:ext cx="47" cy="47"/>
            </a:xfrm>
            <a:prstGeom prst="ellipse">
              <a:avLst/>
            </a:prstGeom>
            <a:solidFill>
              <a:srgbClr val="CC0099"/>
            </a:solidFill>
            <a:ln w="9525">
              <a:solidFill>
                <a:srgbClr val="CC00CC"/>
              </a:solidFill>
              <a:round/>
              <a:headEnd/>
              <a:tailEnd/>
            </a:ln>
          </p:spPr>
          <p:txBody>
            <a:bodyPr wrap="none" anchor="ctr"/>
            <a:lstStyle/>
            <a:p>
              <a:endParaRPr kumimoji="0" lang="zh-CN" altLang="zh-CN" sz="1800"/>
            </a:p>
          </p:txBody>
        </p:sp>
        <p:sp>
          <p:nvSpPr>
            <p:cNvPr id="88092" name="Oval 78"/>
            <p:cNvSpPr>
              <a:spLocks noChangeArrowheads="1"/>
            </p:cNvSpPr>
            <p:nvPr/>
          </p:nvSpPr>
          <p:spPr bwMode="auto">
            <a:xfrm>
              <a:off x="4373" y="1859"/>
              <a:ext cx="47" cy="47"/>
            </a:xfrm>
            <a:prstGeom prst="ellipse">
              <a:avLst/>
            </a:prstGeom>
            <a:solidFill>
              <a:srgbClr val="CC0099"/>
            </a:solidFill>
            <a:ln w="9525">
              <a:solidFill>
                <a:srgbClr val="CC00CC"/>
              </a:solidFill>
              <a:round/>
              <a:headEnd/>
              <a:tailEnd/>
            </a:ln>
          </p:spPr>
          <p:txBody>
            <a:bodyPr wrap="none" anchor="ctr"/>
            <a:lstStyle/>
            <a:p>
              <a:endParaRPr kumimoji="0" lang="zh-CN" altLang="zh-CN" sz="1800"/>
            </a:p>
          </p:txBody>
        </p:sp>
        <p:sp>
          <p:nvSpPr>
            <p:cNvPr id="88093" name="Oval 79"/>
            <p:cNvSpPr>
              <a:spLocks noChangeArrowheads="1"/>
            </p:cNvSpPr>
            <p:nvPr/>
          </p:nvSpPr>
          <p:spPr bwMode="auto">
            <a:xfrm>
              <a:off x="4166" y="1662"/>
              <a:ext cx="47" cy="47"/>
            </a:xfrm>
            <a:prstGeom prst="ellipse">
              <a:avLst/>
            </a:prstGeom>
            <a:solidFill>
              <a:srgbClr val="CC0099"/>
            </a:solidFill>
            <a:ln w="9525">
              <a:solidFill>
                <a:srgbClr val="CC00CC"/>
              </a:solidFill>
              <a:round/>
              <a:headEnd/>
              <a:tailEnd/>
            </a:ln>
          </p:spPr>
          <p:txBody>
            <a:bodyPr wrap="none" anchor="ctr"/>
            <a:lstStyle/>
            <a:p>
              <a:endParaRPr kumimoji="0" lang="zh-CN" altLang="zh-CN" sz="1800"/>
            </a:p>
          </p:txBody>
        </p:sp>
        <p:sp>
          <p:nvSpPr>
            <p:cNvPr id="88094" name="Oval 80"/>
            <p:cNvSpPr>
              <a:spLocks noChangeArrowheads="1"/>
            </p:cNvSpPr>
            <p:nvPr/>
          </p:nvSpPr>
          <p:spPr bwMode="auto">
            <a:xfrm>
              <a:off x="3895" y="1584"/>
              <a:ext cx="47" cy="47"/>
            </a:xfrm>
            <a:prstGeom prst="ellipse">
              <a:avLst/>
            </a:prstGeom>
            <a:solidFill>
              <a:srgbClr val="CC0099"/>
            </a:solidFill>
            <a:ln w="9525">
              <a:solidFill>
                <a:srgbClr val="CC00CC"/>
              </a:solidFill>
              <a:round/>
              <a:headEnd/>
              <a:tailEnd/>
            </a:ln>
          </p:spPr>
          <p:txBody>
            <a:bodyPr wrap="none" anchor="ctr"/>
            <a:lstStyle/>
            <a:p>
              <a:endParaRPr kumimoji="0" lang="zh-CN" altLang="zh-CN" sz="1800"/>
            </a:p>
          </p:txBody>
        </p:sp>
        <p:sp>
          <p:nvSpPr>
            <p:cNvPr id="88095" name="Oval 81"/>
            <p:cNvSpPr>
              <a:spLocks noChangeArrowheads="1"/>
            </p:cNvSpPr>
            <p:nvPr/>
          </p:nvSpPr>
          <p:spPr bwMode="auto">
            <a:xfrm>
              <a:off x="3622" y="1648"/>
              <a:ext cx="47" cy="47"/>
            </a:xfrm>
            <a:prstGeom prst="ellipse">
              <a:avLst/>
            </a:prstGeom>
            <a:solidFill>
              <a:srgbClr val="CC0099"/>
            </a:solidFill>
            <a:ln w="9525">
              <a:solidFill>
                <a:srgbClr val="CC00CC"/>
              </a:solidFill>
              <a:round/>
              <a:headEnd/>
              <a:tailEnd/>
            </a:ln>
          </p:spPr>
          <p:txBody>
            <a:bodyPr wrap="none" anchor="ctr"/>
            <a:lstStyle/>
            <a:p>
              <a:endParaRPr kumimoji="0" lang="zh-CN" altLang="zh-CN" sz="1800"/>
            </a:p>
          </p:txBody>
        </p:sp>
        <p:sp>
          <p:nvSpPr>
            <p:cNvPr id="88096" name="Oval 82"/>
            <p:cNvSpPr>
              <a:spLocks noChangeArrowheads="1"/>
            </p:cNvSpPr>
            <p:nvPr/>
          </p:nvSpPr>
          <p:spPr bwMode="auto">
            <a:xfrm>
              <a:off x="3436" y="1850"/>
              <a:ext cx="47" cy="47"/>
            </a:xfrm>
            <a:prstGeom prst="ellipse">
              <a:avLst/>
            </a:prstGeom>
            <a:solidFill>
              <a:srgbClr val="CC0099"/>
            </a:solidFill>
            <a:ln w="9525">
              <a:solidFill>
                <a:srgbClr val="CC00CC"/>
              </a:solidFill>
              <a:round/>
              <a:headEnd/>
              <a:tailEnd/>
            </a:ln>
          </p:spPr>
          <p:txBody>
            <a:bodyPr wrap="none" anchor="ctr"/>
            <a:lstStyle/>
            <a:p>
              <a:endParaRPr kumimoji="0" lang="zh-CN" altLang="zh-CN" sz="1800"/>
            </a:p>
          </p:txBody>
        </p:sp>
        <p:sp>
          <p:nvSpPr>
            <p:cNvPr id="88097" name="Oval 83"/>
            <p:cNvSpPr>
              <a:spLocks noChangeArrowheads="1"/>
            </p:cNvSpPr>
            <p:nvPr/>
          </p:nvSpPr>
          <p:spPr bwMode="auto">
            <a:xfrm>
              <a:off x="3351" y="2122"/>
              <a:ext cx="47" cy="47"/>
            </a:xfrm>
            <a:prstGeom prst="ellipse">
              <a:avLst/>
            </a:prstGeom>
            <a:solidFill>
              <a:srgbClr val="CC0099"/>
            </a:solidFill>
            <a:ln w="9525">
              <a:solidFill>
                <a:srgbClr val="CC00CC"/>
              </a:solidFill>
              <a:round/>
              <a:headEnd/>
              <a:tailEnd/>
            </a:ln>
          </p:spPr>
          <p:txBody>
            <a:bodyPr wrap="none" anchor="ctr"/>
            <a:lstStyle/>
            <a:p>
              <a:endParaRPr kumimoji="0" lang="zh-CN" altLang="zh-CN" sz="1800"/>
            </a:p>
          </p:txBody>
        </p:sp>
      </p:grpSp>
      <p:sp>
        <p:nvSpPr>
          <p:cNvPr id="43092" name="Oval 84"/>
          <p:cNvSpPr>
            <a:spLocks noChangeArrowheads="1"/>
          </p:cNvSpPr>
          <p:nvPr/>
        </p:nvSpPr>
        <p:spPr bwMode="auto">
          <a:xfrm>
            <a:off x="5472113" y="2203450"/>
            <a:ext cx="2520950" cy="1890713"/>
          </a:xfrm>
          <a:prstGeom prst="ellipse">
            <a:avLst/>
          </a:prstGeom>
          <a:noFill/>
          <a:ln w="28575">
            <a:solidFill>
              <a:srgbClr val="0000FF"/>
            </a:solidFill>
            <a:round/>
            <a:headEnd/>
            <a:tailEnd/>
          </a:ln>
        </p:spPr>
        <p:txBody>
          <a:bodyPr wrap="none" anchor="ctr"/>
          <a:lstStyle/>
          <a:p>
            <a:endParaRPr kumimoji="0" lang="zh-CN" altLang="zh-CN" sz="1800"/>
          </a:p>
        </p:txBody>
      </p:sp>
      <p:grpSp>
        <p:nvGrpSpPr>
          <p:cNvPr id="11" name="Group 85"/>
          <p:cNvGrpSpPr>
            <a:grpSpLocks/>
          </p:cNvGrpSpPr>
          <p:nvPr/>
        </p:nvGrpSpPr>
        <p:grpSpPr bwMode="auto">
          <a:xfrm>
            <a:off x="5233988" y="1995488"/>
            <a:ext cx="2978150" cy="2290762"/>
            <a:chOff x="2980" y="1181"/>
            <a:chExt cx="1876" cy="1923"/>
          </a:xfrm>
        </p:grpSpPr>
        <p:sp>
          <p:nvSpPr>
            <p:cNvPr id="88082" name="Line 86"/>
            <p:cNvSpPr>
              <a:spLocks noChangeShapeType="1"/>
            </p:cNvSpPr>
            <p:nvPr/>
          </p:nvSpPr>
          <p:spPr bwMode="auto">
            <a:xfrm>
              <a:off x="2980" y="2156"/>
              <a:ext cx="1876" cy="0"/>
            </a:xfrm>
            <a:prstGeom prst="line">
              <a:avLst/>
            </a:prstGeom>
            <a:noFill/>
            <a:ln w="9525">
              <a:solidFill>
                <a:srgbClr val="0000FF"/>
              </a:solidFill>
              <a:round/>
              <a:headEnd type="triangle" w="med" len="med"/>
              <a:tailEnd type="triangle" w="med" len="med"/>
            </a:ln>
          </p:spPr>
          <p:txBody>
            <a:bodyPr wrap="none" anchor="ctr"/>
            <a:lstStyle/>
            <a:p>
              <a:endParaRPr lang="zh-CN" altLang="en-US"/>
            </a:p>
          </p:txBody>
        </p:sp>
        <p:sp>
          <p:nvSpPr>
            <p:cNvPr id="88083" name="Line 87"/>
            <p:cNvSpPr>
              <a:spLocks noChangeShapeType="1"/>
            </p:cNvSpPr>
            <p:nvPr/>
          </p:nvSpPr>
          <p:spPr bwMode="auto">
            <a:xfrm>
              <a:off x="3931" y="1181"/>
              <a:ext cx="0" cy="1923"/>
            </a:xfrm>
            <a:prstGeom prst="line">
              <a:avLst/>
            </a:prstGeom>
            <a:noFill/>
            <a:ln w="9525">
              <a:solidFill>
                <a:srgbClr val="0000FF"/>
              </a:solidFill>
              <a:round/>
              <a:headEnd type="triangle" w="med" len="med"/>
              <a:tailEnd type="triangle" w="med" len="med"/>
            </a:ln>
          </p:spPr>
          <p:txBody>
            <a:bodyPr wrap="none" anchor="ctr"/>
            <a:lstStyle/>
            <a:p>
              <a:endParaRPr lang="zh-CN" altLang="en-US"/>
            </a:p>
          </p:txBody>
        </p:sp>
        <p:sp>
          <p:nvSpPr>
            <p:cNvPr id="88084" name="Line 88"/>
            <p:cNvSpPr>
              <a:spLocks noChangeShapeType="1"/>
            </p:cNvSpPr>
            <p:nvPr/>
          </p:nvSpPr>
          <p:spPr bwMode="auto">
            <a:xfrm flipV="1">
              <a:off x="3285" y="1463"/>
              <a:ext cx="1339" cy="1339"/>
            </a:xfrm>
            <a:prstGeom prst="line">
              <a:avLst/>
            </a:prstGeom>
            <a:noFill/>
            <a:ln w="9525">
              <a:solidFill>
                <a:srgbClr val="0000FF"/>
              </a:solidFill>
              <a:round/>
              <a:headEnd type="triangle" w="med" len="med"/>
              <a:tailEnd type="triangle" w="med" len="med"/>
            </a:ln>
          </p:spPr>
          <p:txBody>
            <a:bodyPr wrap="none" anchor="ctr"/>
            <a:lstStyle/>
            <a:p>
              <a:endParaRPr lang="zh-CN" altLang="en-US"/>
            </a:p>
          </p:txBody>
        </p:sp>
        <p:sp>
          <p:nvSpPr>
            <p:cNvPr id="88085" name="Line 89"/>
            <p:cNvSpPr>
              <a:spLocks noChangeShapeType="1"/>
            </p:cNvSpPr>
            <p:nvPr/>
          </p:nvSpPr>
          <p:spPr bwMode="auto">
            <a:xfrm>
              <a:off x="3208" y="1424"/>
              <a:ext cx="1447" cy="1447"/>
            </a:xfrm>
            <a:prstGeom prst="line">
              <a:avLst/>
            </a:prstGeom>
            <a:noFill/>
            <a:ln w="9525">
              <a:solidFill>
                <a:srgbClr val="0000FF"/>
              </a:solidFill>
              <a:round/>
              <a:headEnd type="triangle" w="med" len="med"/>
              <a:tailEnd type="triangle" w="med" len="med"/>
            </a:ln>
          </p:spPr>
          <p:txBody>
            <a:bodyPr wrap="none" anchor="ctr"/>
            <a:lstStyle/>
            <a:p>
              <a:endParaRPr lang="zh-CN" altLang="en-US"/>
            </a:p>
          </p:txBody>
        </p:sp>
      </p:grpSp>
      <p:sp>
        <p:nvSpPr>
          <p:cNvPr id="6" name="Text Box 2"/>
          <p:cNvSpPr txBox="1">
            <a:spLocks noChangeArrowheads="1"/>
          </p:cNvSpPr>
          <p:nvPr/>
        </p:nvSpPr>
        <p:spPr bwMode="auto">
          <a:xfrm>
            <a:off x="541338" y="4271963"/>
            <a:ext cx="8207375" cy="346075"/>
          </a:xfrm>
          <a:prstGeom prst="rect">
            <a:avLst/>
          </a:prstGeom>
          <a:noFill/>
          <a:ln w="9525">
            <a:noFill/>
            <a:miter lim="800000"/>
            <a:headEnd/>
            <a:tailEnd/>
          </a:ln>
        </p:spPr>
        <p:txBody>
          <a:bodyPr>
            <a:spAutoFit/>
          </a:bodyPr>
          <a:lstStyle/>
          <a:p>
            <a:pPr>
              <a:lnSpc>
                <a:spcPct val="110000"/>
              </a:lnSpc>
            </a:pPr>
            <a:r>
              <a:rPr kumimoji="0" lang="zh-CN" altLang="en-US" sz="1500" b="1">
                <a:latin typeface="华文中宋"/>
                <a:ea typeface="华文中宋"/>
                <a:cs typeface="华文中宋"/>
              </a:rPr>
              <a:t>                                  平面波                                                   球面波</a:t>
            </a:r>
            <a:endParaRPr lang="zh-CN" altLang="en-US" sz="1500" b="1">
              <a:solidFill>
                <a:srgbClr val="FF5050"/>
              </a:solidFill>
              <a:latin typeface="华文中宋"/>
              <a:ea typeface="华文中宋"/>
              <a:cs typeface="华文中宋"/>
            </a:endParaRPr>
          </a:p>
        </p:txBody>
      </p:sp>
      <p:sp>
        <p:nvSpPr>
          <p:cNvPr id="71" name="Text Box 2"/>
          <p:cNvSpPr>
            <a:spLocks noChangeArrowheads="1"/>
          </p:cNvSpPr>
          <p:nvPr/>
        </p:nvSpPr>
        <p:spPr bwMode="auto">
          <a:xfrm>
            <a:off x="828675" y="874713"/>
            <a:ext cx="2159000" cy="401637"/>
          </a:xfrm>
          <a:prstGeom prst="homePlate">
            <a:avLst>
              <a:gd name="adj" fmla="val 49624"/>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一、惠更斯原理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left)">
                                      <p:cBhvr>
                                        <p:cTn id="7" dur="500"/>
                                        <p:tgtEl>
                                          <p:spTgt spid="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1229"/>
                                        </p:tgtEl>
                                        <p:attrNameLst>
                                          <p:attrName>style.visibility</p:attrName>
                                        </p:attrNameLst>
                                      </p:cBhvr>
                                      <p:to>
                                        <p:strVal val="visible"/>
                                      </p:to>
                                    </p:set>
                                    <p:animEffect transition="in" filter="checkerboard(across)">
                                      <p:cBhvr>
                                        <p:cTn id="12" dur="500"/>
                                        <p:tgtEl>
                                          <p:spTgt spid="51229"/>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par>
                          <p:cTn id="13" fill="hold" nodeType="afterGroup">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54280"/>
                                        </p:tgtEl>
                                        <p:attrNameLst>
                                          <p:attrName>style.visibility</p:attrName>
                                        </p:attrNameLst>
                                      </p:cBhvr>
                                      <p:to>
                                        <p:strVal val="visible"/>
                                      </p:to>
                                    </p:set>
                                    <p:animEffect transition="in" filter="blinds(horizontal)">
                                      <p:cBhvr>
                                        <p:cTn id="16" dur="500"/>
                                        <p:tgtEl>
                                          <p:spTgt spid="5428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3034"/>
                                        </p:tgtEl>
                                        <p:attrNameLst>
                                          <p:attrName>style.visibility</p:attrName>
                                        </p:attrNameLst>
                                      </p:cBhvr>
                                      <p:to>
                                        <p:strVal val="visible"/>
                                      </p:to>
                                    </p:set>
                                    <p:animEffect transition="in" filter="wipe(left)">
                                      <p:cBhvr>
                                        <p:cTn id="21" dur="500"/>
                                        <p:tgtEl>
                                          <p:spTgt spid="4303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6">
                                            <p:txEl>
                                              <p:pRg st="0" end="0"/>
                                            </p:txEl>
                                          </p:spTgt>
                                        </p:tgtEl>
                                        <p:attrNameLst>
                                          <p:attrName>style.visibility</p:attrName>
                                        </p:attrNameLst>
                                      </p:cBhvr>
                                      <p:to>
                                        <p:strVal val="visible"/>
                                      </p:to>
                                    </p:set>
                                    <p:animEffect transition="in" filter="blinds(horizontal)">
                                      <p:cBhvr>
                                        <p:cTn id="26" dur="500"/>
                                        <p:tgtEl>
                                          <p:spTgt spid="6">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3038"/>
                                        </p:tgtEl>
                                        <p:attrNameLst>
                                          <p:attrName>style.visibility</p:attrName>
                                        </p:attrNameLst>
                                      </p:cBhvr>
                                      <p:to>
                                        <p:strVal val="visible"/>
                                      </p:to>
                                    </p:set>
                                    <p:animEffect transition="in" filter="wipe(left)">
                                      <p:cBhvr>
                                        <p:cTn id="36" dur="500"/>
                                        <p:tgtEl>
                                          <p:spTgt spid="4303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wipe(down)">
                                      <p:cBhvr>
                                        <p:cTn id="41" dur="500"/>
                                        <p:tgtEl>
                                          <p:spTgt spid="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wipe(left)">
                                      <p:cBhvr>
                                        <p:cTn id="46" dur="500"/>
                                        <p:tgtEl>
                                          <p:spTgt spid="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43053"/>
                                        </p:tgtEl>
                                        <p:attrNameLst>
                                          <p:attrName>style.visibility</p:attrName>
                                        </p:attrNameLst>
                                      </p:cBhvr>
                                      <p:to>
                                        <p:strVal val="visible"/>
                                      </p:to>
                                    </p:set>
                                    <p:animEffect transition="in" filter="wipe(down)">
                                      <p:cBhvr>
                                        <p:cTn id="51" dur="500"/>
                                        <p:tgtEl>
                                          <p:spTgt spid="4305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43054"/>
                                        </p:tgtEl>
                                        <p:attrNameLst>
                                          <p:attrName>style.visibility</p:attrName>
                                        </p:attrNameLst>
                                      </p:cBhvr>
                                      <p:to>
                                        <p:strVal val="visible"/>
                                      </p:to>
                                    </p:set>
                                    <p:animEffect transition="in" filter="blinds(horizontal)">
                                      <p:cBhvr>
                                        <p:cTn id="56" dur="500"/>
                                        <p:tgtEl>
                                          <p:spTgt spid="4305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wipe(left)">
                                      <p:cBhvr>
                                        <p:cTn id="61" dur="500"/>
                                        <p:tgtEl>
                                          <p:spTgt spid="5"/>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3" presetClass="entr" presetSubtype="16" fill="hold" nodeType="clickEffect">
                                  <p:stCondLst>
                                    <p:cond delay="0"/>
                                  </p:stCondLst>
                                  <p:childTnLst>
                                    <p:set>
                                      <p:cBhvr>
                                        <p:cTn id="65" dur="1" fill="hold">
                                          <p:stCondLst>
                                            <p:cond delay="0"/>
                                          </p:stCondLst>
                                        </p:cTn>
                                        <p:tgtEl>
                                          <p:spTgt spid="9"/>
                                        </p:tgtEl>
                                        <p:attrNameLst>
                                          <p:attrName>style.visibility</p:attrName>
                                        </p:attrNameLst>
                                      </p:cBhvr>
                                      <p:to>
                                        <p:strVal val="visible"/>
                                      </p:to>
                                    </p:set>
                                    <p:anim calcmode="lin" valueType="num">
                                      <p:cBhvr>
                                        <p:cTn id="66" dur="500" fill="hold"/>
                                        <p:tgtEl>
                                          <p:spTgt spid="9"/>
                                        </p:tgtEl>
                                        <p:attrNameLst>
                                          <p:attrName>ppt_w</p:attrName>
                                        </p:attrNameLst>
                                      </p:cBhvr>
                                      <p:tavLst>
                                        <p:tav tm="0">
                                          <p:val>
                                            <p:fltVal val="0"/>
                                          </p:val>
                                        </p:tav>
                                        <p:tav tm="100000">
                                          <p:val>
                                            <p:strVal val="#ppt_w"/>
                                          </p:val>
                                        </p:tav>
                                      </p:tavLst>
                                    </p:anim>
                                    <p:anim calcmode="lin" valueType="num">
                                      <p:cBhvr>
                                        <p:cTn id="67"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23" presetClass="entr" presetSubtype="16" fill="hold" nodeType="clickEffect">
                                  <p:stCondLst>
                                    <p:cond delay="0"/>
                                  </p:stCondLst>
                                  <p:childTnLst>
                                    <p:set>
                                      <p:cBhvr>
                                        <p:cTn id="71" dur="1" fill="hold">
                                          <p:stCondLst>
                                            <p:cond delay="0"/>
                                          </p:stCondLst>
                                        </p:cTn>
                                        <p:tgtEl>
                                          <p:spTgt spid="10"/>
                                        </p:tgtEl>
                                        <p:attrNameLst>
                                          <p:attrName>style.visibility</p:attrName>
                                        </p:attrNameLst>
                                      </p:cBhvr>
                                      <p:to>
                                        <p:strVal val="visible"/>
                                      </p:to>
                                    </p:set>
                                    <p:anim calcmode="lin" valueType="num">
                                      <p:cBhvr>
                                        <p:cTn id="72" dur="500" fill="hold"/>
                                        <p:tgtEl>
                                          <p:spTgt spid="10"/>
                                        </p:tgtEl>
                                        <p:attrNameLst>
                                          <p:attrName>ppt_w</p:attrName>
                                        </p:attrNameLst>
                                      </p:cBhvr>
                                      <p:tavLst>
                                        <p:tav tm="0">
                                          <p:val>
                                            <p:fltVal val="0"/>
                                          </p:val>
                                        </p:tav>
                                        <p:tav tm="100000">
                                          <p:val>
                                            <p:strVal val="#ppt_w"/>
                                          </p:val>
                                        </p:tav>
                                      </p:tavLst>
                                    </p:anim>
                                    <p:anim calcmode="lin" valueType="num">
                                      <p:cBhvr>
                                        <p:cTn id="7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6" presetClass="entr" presetSubtype="32" fill="hold" nodeType="clickEffect">
                                  <p:stCondLst>
                                    <p:cond delay="0"/>
                                  </p:stCondLst>
                                  <p:childTnLst>
                                    <p:set>
                                      <p:cBhvr>
                                        <p:cTn id="77" dur="1" fill="hold">
                                          <p:stCondLst>
                                            <p:cond delay="0"/>
                                          </p:stCondLst>
                                        </p:cTn>
                                        <p:tgtEl>
                                          <p:spTgt spid="8"/>
                                        </p:tgtEl>
                                        <p:attrNameLst>
                                          <p:attrName>style.visibility</p:attrName>
                                        </p:attrNameLst>
                                      </p:cBhvr>
                                      <p:to>
                                        <p:strVal val="visible"/>
                                      </p:to>
                                    </p:set>
                                    <p:animEffect transition="in" filter="circle(out)">
                                      <p:cBhvr>
                                        <p:cTn id="78" dur="2000"/>
                                        <p:tgtEl>
                                          <p:spTgt spid="8"/>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3" presetClass="entr" presetSubtype="16" fill="hold" grpId="0" nodeType="clickEffect">
                                  <p:stCondLst>
                                    <p:cond delay="0"/>
                                  </p:stCondLst>
                                  <p:childTnLst>
                                    <p:set>
                                      <p:cBhvr>
                                        <p:cTn id="82" dur="1" fill="hold">
                                          <p:stCondLst>
                                            <p:cond delay="0"/>
                                          </p:stCondLst>
                                        </p:cTn>
                                        <p:tgtEl>
                                          <p:spTgt spid="43092"/>
                                        </p:tgtEl>
                                        <p:attrNameLst>
                                          <p:attrName>style.visibility</p:attrName>
                                        </p:attrNameLst>
                                      </p:cBhvr>
                                      <p:to>
                                        <p:strVal val="visible"/>
                                      </p:to>
                                    </p:set>
                                    <p:anim calcmode="lin" valueType="num">
                                      <p:cBhvr>
                                        <p:cTn id="83" dur="500" fill="hold"/>
                                        <p:tgtEl>
                                          <p:spTgt spid="43092"/>
                                        </p:tgtEl>
                                        <p:attrNameLst>
                                          <p:attrName>ppt_w</p:attrName>
                                        </p:attrNameLst>
                                      </p:cBhvr>
                                      <p:tavLst>
                                        <p:tav tm="0">
                                          <p:val>
                                            <p:fltVal val="0"/>
                                          </p:val>
                                        </p:tav>
                                        <p:tav tm="100000">
                                          <p:val>
                                            <p:strVal val="#ppt_w"/>
                                          </p:val>
                                        </p:tav>
                                      </p:tavLst>
                                    </p:anim>
                                    <p:anim calcmode="lin" valueType="num">
                                      <p:cBhvr>
                                        <p:cTn id="84" dur="500" fill="hold"/>
                                        <p:tgtEl>
                                          <p:spTgt spid="43092"/>
                                        </p:tgtEl>
                                        <p:attrNameLst>
                                          <p:attrName>ppt_h</p:attrName>
                                        </p:attrNameLst>
                                      </p:cBhvr>
                                      <p:tavLst>
                                        <p:tav tm="0">
                                          <p:val>
                                            <p:fltVal val="0"/>
                                          </p:val>
                                        </p:tav>
                                        <p:tav tm="100000">
                                          <p:val>
                                            <p:strVal val="#ppt_h"/>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6" presetClass="entr" presetSubtype="32" fill="hold" nodeType="clickEffect">
                                  <p:stCondLst>
                                    <p:cond delay="0"/>
                                  </p:stCondLst>
                                  <p:childTnLst>
                                    <p:set>
                                      <p:cBhvr>
                                        <p:cTn id="88" dur="1" fill="hold">
                                          <p:stCondLst>
                                            <p:cond delay="0"/>
                                          </p:stCondLst>
                                        </p:cTn>
                                        <p:tgtEl>
                                          <p:spTgt spid="11"/>
                                        </p:tgtEl>
                                        <p:attrNameLst>
                                          <p:attrName>style.visibility</p:attrName>
                                        </p:attrNameLst>
                                      </p:cBhvr>
                                      <p:to>
                                        <p:strVal val="visible"/>
                                      </p:to>
                                    </p:set>
                                    <p:animEffect transition="in" filter="circle(out)">
                                      <p:cBhvr>
                                        <p:cTn id="89"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9" grpId="0" animBg="1" autoUpdateAnimBg="0"/>
      <p:bldP spid="54280" grpId="0"/>
      <p:bldP spid="43034" grpId="0"/>
      <p:bldP spid="43038" grpId="0"/>
      <p:bldP spid="43053" grpId="0" animBg="1"/>
      <p:bldP spid="43054" grpId="0" autoUpdateAnimBg="0"/>
      <p:bldP spid="43092" grpId="0" animBg="1"/>
      <p:bldP spid="7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ChangeArrowheads="1"/>
          </p:cNvSpPr>
          <p:nvPr/>
        </p:nvSpPr>
        <p:spPr bwMode="auto">
          <a:xfrm>
            <a:off x="539750" y="1204913"/>
            <a:ext cx="8135938" cy="646112"/>
          </a:xfrm>
          <a:prstGeom prst="rect">
            <a:avLst/>
          </a:prstGeom>
          <a:noFill/>
          <a:ln w="9525">
            <a:noFill/>
            <a:miter lim="800000"/>
            <a:headEnd/>
            <a:tailEnd/>
          </a:ln>
        </p:spPr>
        <p:txBody>
          <a:bodyPr>
            <a:spAutoFit/>
          </a:bodyPr>
          <a:lstStyle/>
          <a:p>
            <a:pPr algn="just" eaLnBrk="0" hangingPunct="0"/>
            <a:r>
              <a:rPr kumimoji="0" lang="zh-CN" altLang="en-US" sz="1800" b="1">
                <a:latin typeface="华文中宋"/>
                <a:ea typeface="华文中宋"/>
                <a:cs typeface="华文中宋"/>
              </a:rPr>
              <a:t>波动在传播过程中遇到障碍物时，能绕过障碍物边缘继续传播的现象称为波的衍射，或称为波的绕射。</a:t>
            </a:r>
          </a:p>
        </p:txBody>
      </p:sp>
      <p:sp>
        <p:nvSpPr>
          <p:cNvPr id="44036" name="Text Box 4"/>
          <p:cNvSpPr txBox="1">
            <a:spLocks noChangeArrowheads="1"/>
          </p:cNvSpPr>
          <p:nvPr/>
        </p:nvSpPr>
        <p:spPr bwMode="auto">
          <a:xfrm>
            <a:off x="1116013" y="1744663"/>
            <a:ext cx="3240087" cy="322262"/>
          </a:xfrm>
          <a:prstGeom prst="rect">
            <a:avLst/>
          </a:prstGeom>
          <a:noFill/>
          <a:ln w="9525">
            <a:noFill/>
            <a:miter lim="800000"/>
            <a:headEnd/>
            <a:tailEnd/>
          </a:ln>
        </p:spPr>
        <p:txBody>
          <a:bodyPr>
            <a:spAutoFit/>
          </a:bodyPr>
          <a:lstStyle/>
          <a:p>
            <a:pPr algn="ctr">
              <a:spcBef>
                <a:spcPct val="50000"/>
              </a:spcBef>
            </a:pPr>
            <a:r>
              <a:rPr lang="zh-CN" altLang="en-US" sz="1500" b="1">
                <a:solidFill>
                  <a:srgbClr val="FF0000"/>
                </a:solidFill>
                <a:latin typeface="华文中宋"/>
                <a:ea typeface="华文中宋"/>
                <a:cs typeface="Times New Roman" pitchFamily="18" charset="0"/>
              </a:rPr>
              <a:t>水波通过窄缝时的衍射</a:t>
            </a:r>
          </a:p>
        </p:txBody>
      </p:sp>
      <p:pic>
        <p:nvPicPr>
          <p:cNvPr id="10" name="Picture 6" descr="波的衍射">
            <a:hlinkClick r:id="" action="ppaction://noaction" highlightClick="1"/>
          </p:cNvPr>
          <p:cNvPicPr>
            <a:picLocks noChangeAspect="1" noChangeArrowheads="1" noCrop="1"/>
          </p:cNvPicPr>
          <p:nvPr/>
        </p:nvPicPr>
        <p:blipFill>
          <a:blip r:embed="rId2"/>
          <a:srcRect/>
          <a:stretch>
            <a:fillRect/>
          </a:stretch>
        </p:blipFill>
        <p:spPr bwMode="auto">
          <a:xfrm>
            <a:off x="1116013" y="2097088"/>
            <a:ext cx="3240087" cy="1411287"/>
          </a:xfrm>
          <a:prstGeom prst="rect">
            <a:avLst/>
          </a:prstGeom>
          <a:noFill/>
          <a:ln w="9525">
            <a:noFill/>
            <a:miter lim="800000"/>
            <a:headEnd/>
            <a:tailEnd/>
          </a:ln>
        </p:spPr>
      </p:pic>
      <p:sp>
        <p:nvSpPr>
          <p:cNvPr id="45059" name="Rectangle 3"/>
          <p:cNvSpPr>
            <a:spLocks noChangeArrowheads="1"/>
          </p:cNvSpPr>
          <p:nvPr/>
        </p:nvSpPr>
        <p:spPr bwMode="auto">
          <a:xfrm>
            <a:off x="971550" y="3489325"/>
            <a:ext cx="4752975" cy="1089025"/>
          </a:xfrm>
          <a:prstGeom prst="rect">
            <a:avLst/>
          </a:prstGeom>
          <a:noFill/>
          <a:ln w="9525">
            <a:noFill/>
            <a:miter lim="800000"/>
            <a:headEnd/>
            <a:tailEnd/>
          </a:ln>
        </p:spPr>
        <p:txBody>
          <a:bodyPr>
            <a:spAutoFit/>
          </a:bodyPr>
          <a:lstStyle/>
          <a:p>
            <a:pPr>
              <a:lnSpc>
                <a:spcPct val="120000"/>
              </a:lnSpc>
            </a:pPr>
            <a:r>
              <a:rPr lang="zh-CN" altLang="en-US" sz="1800" b="1">
                <a:latin typeface="华文中宋"/>
                <a:ea typeface="华文中宋"/>
                <a:cs typeface="华文中宋"/>
              </a:rPr>
              <a:t>对一定波长的波</a:t>
            </a:r>
            <a:r>
              <a:rPr lang="en-US" altLang="zh-CN" sz="1800" b="1">
                <a:latin typeface="华文中宋"/>
                <a:ea typeface="华文中宋"/>
                <a:cs typeface="华文中宋"/>
              </a:rPr>
              <a:t>,</a:t>
            </a:r>
          </a:p>
          <a:p>
            <a:pPr>
              <a:lnSpc>
                <a:spcPct val="120000"/>
              </a:lnSpc>
            </a:pPr>
            <a:r>
              <a:rPr kumimoji="0" lang="en-US" altLang="zh-CN" sz="1800" b="1">
                <a:latin typeface="华文中宋"/>
                <a:ea typeface="华文中宋"/>
                <a:cs typeface="华文中宋"/>
              </a:rPr>
              <a:t>    </a:t>
            </a:r>
            <a:r>
              <a:rPr kumimoji="0" lang="zh-CN" altLang="en-US" sz="1800" b="1">
                <a:latin typeface="华文中宋"/>
                <a:ea typeface="华文中宋"/>
                <a:cs typeface="华文中宋"/>
              </a:rPr>
              <a:t>障碍物</a:t>
            </a:r>
            <a:r>
              <a:rPr lang="zh-CN" altLang="en-US" sz="1800" b="1">
                <a:latin typeface="华文中宋"/>
                <a:ea typeface="华文中宋"/>
                <a:cs typeface="华文中宋"/>
              </a:rPr>
              <a:t>线度小衍射现象明显</a:t>
            </a:r>
          </a:p>
          <a:p>
            <a:pPr>
              <a:lnSpc>
                <a:spcPct val="120000"/>
              </a:lnSpc>
            </a:pPr>
            <a:r>
              <a:rPr kumimoji="0" lang="zh-CN" altLang="en-US" sz="1800" b="1">
                <a:latin typeface="华文中宋"/>
                <a:ea typeface="华文中宋"/>
                <a:cs typeface="华文中宋"/>
              </a:rPr>
              <a:t>    障碍物</a:t>
            </a:r>
            <a:r>
              <a:rPr lang="zh-CN" altLang="en-US" sz="1800" b="1">
                <a:latin typeface="华文中宋"/>
                <a:ea typeface="华文中宋"/>
                <a:cs typeface="华文中宋"/>
              </a:rPr>
              <a:t>线度大衍射现象不明显</a:t>
            </a:r>
          </a:p>
        </p:txBody>
      </p:sp>
      <p:grpSp>
        <p:nvGrpSpPr>
          <p:cNvPr id="2" name="Group 8"/>
          <p:cNvGrpSpPr>
            <a:grpSpLocks noChangeAspect="1"/>
          </p:cNvGrpSpPr>
          <p:nvPr/>
        </p:nvGrpSpPr>
        <p:grpSpPr bwMode="auto">
          <a:xfrm>
            <a:off x="5813425" y="1503363"/>
            <a:ext cx="2071688" cy="1500187"/>
            <a:chOff x="1075" y="1544"/>
            <a:chExt cx="1623" cy="1567"/>
          </a:xfrm>
        </p:grpSpPr>
        <p:grpSp>
          <p:nvGrpSpPr>
            <p:cNvPr id="90148" name="Group 24"/>
            <p:cNvGrpSpPr>
              <a:grpSpLocks/>
            </p:cNvGrpSpPr>
            <p:nvPr/>
          </p:nvGrpSpPr>
          <p:grpSpPr bwMode="auto">
            <a:xfrm>
              <a:off x="1075" y="1867"/>
              <a:ext cx="827" cy="967"/>
              <a:chOff x="1075" y="1867"/>
              <a:chExt cx="827" cy="967"/>
            </a:xfrm>
          </p:grpSpPr>
          <p:grpSp>
            <p:nvGrpSpPr>
              <p:cNvPr id="90183" name="Group 11"/>
              <p:cNvGrpSpPr>
                <a:grpSpLocks/>
              </p:cNvGrpSpPr>
              <p:nvPr/>
            </p:nvGrpSpPr>
            <p:grpSpPr bwMode="auto">
              <a:xfrm>
                <a:off x="1075" y="1867"/>
                <a:ext cx="827" cy="72"/>
                <a:chOff x="1075" y="1867"/>
                <a:chExt cx="827" cy="72"/>
              </a:xfrm>
            </p:grpSpPr>
            <p:sp>
              <p:nvSpPr>
                <p:cNvPr id="90196" name="Rectangle 9"/>
                <p:cNvSpPr>
                  <a:spLocks noChangeArrowheads="1"/>
                </p:cNvSpPr>
                <p:nvPr/>
              </p:nvSpPr>
              <p:spPr bwMode="auto">
                <a:xfrm>
                  <a:off x="1075" y="1897"/>
                  <a:ext cx="731" cy="11"/>
                </a:xfrm>
                <a:prstGeom prst="rect">
                  <a:avLst/>
                </a:prstGeom>
                <a:solidFill>
                  <a:srgbClr val="FF3300"/>
                </a:solidFill>
                <a:ln w="9525">
                  <a:noFill/>
                  <a:miter lim="800000"/>
                  <a:headEnd/>
                  <a:tailEnd/>
                </a:ln>
              </p:spPr>
              <p:txBody>
                <a:bodyPr/>
                <a:lstStyle/>
                <a:p>
                  <a:endParaRPr kumimoji="0" lang="zh-CN" altLang="zh-CN" sz="1800"/>
                </a:p>
              </p:txBody>
            </p:sp>
            <p:sp>
              <p:nvSpPr>
                <p:cNvPr id="90197" name="Freeform 10"/>
                <p:cNvSpPr>
                  <a:spLocks/>
                </p:cNvSpPr>
                <p:nvPr/>
              </p:nvSpPr>
              <p:spPr bwMode="auto">
                <a:xfrm>
                  <a:off x="1758" y="1867"/>
                  <a:ext cx="144" cy="72"/>
                </a:xfrm>
                <a:custGeom>
                  <a:avLst/>
                  <a:gdLst>
                    <a:gd name="T0" fmla="*/ 0 w 144"/>
                    <a:gd name="T1" fmla="*/ 1 h 144"/>
                    <a:gd name="T2" fmla="*/ 144 w 144"/>
                    <a:gd name="T3" fmla="*/ 1 h 144"/>
                    <a:gd name="T4" fmla="*/ 0 w 144"/>
                    <a:gd name="T5" fmla="*/ 0 h 144"/>
                    <a:gd name="T6" fmla="*/ 45 w 144"/>
                    <a:gd name="T7" fmla="*/ 1 h 144"/>
                    <a:gd name="T8" fmla="*/ 0 w 144"/>
                    <a:gd name="T9" fmla="*/ 1 h 144"/>
                    <a:gd name="T10" fmla="*/ 0 60000 65536"/>
                    <a:gd name="T11" fmla="*/ 0 60000 65536"/>
                    <a:gd name="T12" fmla="*/ 0 60000 65536"/>
                    <a:gd name="T13" fmla="*/ 0 60000 65536"/>
                    <a:gd name="T14" fmla="*/ 0 60000 65536"/>
                    <a:gd name="T15" fmla="*/ 0 w 144"/>
                    <a:gd name="T16" fmla="*/ 0 h 144"/>
                    <a:gd name="T17" fmla="*/ 144 w 144"/>
                    <a:gd name="T18" fmla="*/ 144 h 144"/>
                  </a:gdLst>
                  <a:ahLst/>
                  <a:cxnLst>
                    <a:cxn ang="T10">
                      <a:pos x="T0" y="T1"/>
                    </a:cxn>
                    <a:cxn ang="T11">
                      <a:pos x="T2" y="T3"/>
                    </a:cxn>
                    <a:cxn ang="T12">
                      <a:pos x="T4" y="T5"/>
                    </a:cxn>
                    <a:cxn ang="T13">
                      <a:pos x="T6" y="T7"/>
                    </a:cxn>
                    <a:cxn ang="T14">
                      <a:pos x="T8" y="T9"/>
                    </a:cxn>
                  </a:cxnLst>
                  <a:rect l="T15" t="T16" r="T17" b="T18"/>
                  <a:pathLst>
                    <a:path w="144" h="144">
                      <a:moveTo>
                        <a:pt x="0" y="144"/>
                      </a:moveTo>
                      <a:lnTo>
                        <a:pt x="144" y="71"/>
                      </a:lnTo>
                      <a:lnTo>
                        <a:pt x="0" y="0"/>
                      </a:lnTo>
                      <a:lnTo>
                        <a:pt x="45" y="71"/>
                      </a:lnTo>
                      <a:lnTo>
                        <a:pt x="0" y="144"/>
                      </a:lnTo>
                      <a:close/>
                    </a:path>
                  </a:pathLst>
                </a:custGeom>
                <a:solidFill>
                  <a:srgbClr val="FF3300"/>
                </a:solidFill>
                <a:ln w="9525">
                  <a:noFill/>
                  <a:round/>
                  <a:headEnd/>
                  <a:tailEnd/>
                </a:ln>
              </p:spPr>
              <p:txBody>
                <a:bodyPr/>
                <a:lstStyle/>
                <a:p>
                  <a:endParaRPr lang="zh-CN" altLang="en-US"/>
                </a:p>
              </p:txBody>
            </p:sp>
          </p:grpSp>
          <p:grpSp>
            <p:nvGrpSpPr>
              <p:cNvPr id="90184" name="Group 14"/>
              <p:cNvGrpSpPr>
                <a:grpSpLocks/>
              </p:cNvGrpSpPr>
              <p:nvPr/>
            </p:nvGrpSpPr>
            <p:grpSpPr bwMode="auto">
              <a:xfrm>
                <a:off x="1075" y="2091"/>
                <a:ext cx="827" cy="72"/>
                <a:chOff x="1075" y="2091"/>
                <a:chExt cx="827" cy="72"/>
              </a:xfrm>
            </p:grpSpPr>
            <p:sp>
              <p:nvSpPr>
                <p:cNvPr id="90194" name="Rectangle 12"/>
                <p:cNvSpPr>
                  <a:spLocks noChangeArrowheads="1"/>
                </p:cNvSpPr>
                <p:nvPr/>
              </p:nvSpPr>
              <p:spPr bwMode="auto">
                <a:xfrm>
                  <a:off x="1075" y="2121"/>
                  <a:ext cx="731" cy="11"/>
                </a:xfrm>
                <a:prstGeom prst="rect">
                  <a:avLst/>
                </a:prstGeom>
                <a:solidFill>
                  <a:srgbClr val="FF3300"/>
                </a:solidFill>
                <a:ln w="9525">
                  <a:noFill/>
                  <a:miter lim="800000"/>
                  <a:headEnd/>
                  <a:tailEnd/>
                </a:ln>
              </p:spPr>
              <p:txBody>
                <a:bodyPr/>
                <a:lstStyle/>
                <a:p>
                  <a:endParaRPr kumimoji="0" lang="zh-CN" altLang="zh-CN" sz="1800"/>
                </a:p>
              </p:txBody>
            </p:sp>
            <p:sp>
              <p:nvSpPr>
                <p:cNvPr id="90195" name="Freeform 13"/>
                <p:cNvSpPr>
                  <a:spLocks/>
                </p:cNvSpPr>
                <p:nvPr/>
              </p:nvSpPr>
              <p:spPr bwMode="auto">
                <a:xfrm>
                  <a:off x="1758" y="2091"/>
                  <a:ext cx="144" cy="72"/>
                </a:xfrm>
                <a:custGeom>
                  <a:avLst/>
                  <a:gdLst>
                    <a:gd name="T0" fmla="*/ 0 w 144"/>
                    <a:gd name="T1" fmla="*/ 1 h 144"/>
                    <a:gd name="T2" fmla="*/ 144 w 144"/>
                    <a:gd name="T3" fmla="*/ 1 h 144"/>
                    <a:gd name="T4" fmla="*/ 0 w 144"/>
                    <a:gd name="T5" fmla="*/ 0 h 144"/>
                    <a:gd name="T6" fmla="*/ 45 w 144"/>
                    <a:gd name="T7" fmla="*/ 1 h 144"/>
                    <a:gd name="T8" fmla="*/ 0 w 144"/>
                    <a:gd name="T9" fmla="*/ 1 h 144"/>
                    <a:gd name="T10" fmla="*/ 0 60000 65536"/>
                    <a:gd name="T11" fmla="*/ 0 60000 65536"/>
                    <a:gd name="T12" fmla="*/ 0 60000 65536"/>
                    <a:gd name="T13" fmla="*/ 0 60000 65536"/>
                    <a:gd name="T14" fmla="*/ 0 60000 65536"/>
                    <a:gd name="T15" fmla="*/ 0 w 144"/>
                    <a:gd name="T16" fmla="*/ 0 h 144"/>
                    <a:gd name="T17" fmla="*/ 144 w 144"/>
                    <a:gd name="T18" fmla="*/ 144 h 144"/>
                  </a:gdLst>
                  <a:ahLst/>
                  <a:cxnLst>
                    <a:cxn ang="T10">
                      <a:pos x="T0" y="T1"/>
                    </a:cxn>
                    <a:cxn ang="T11">
                      <a:pos x="T2" y="T3"/>
                    </a:cxn>
                    <a:cxn ang="T12">
                      <a:pos x="T4" y="T5"/>
                    </a:cxn>
                    <a:cxn ang="T13">
                      <a:pos x="T6" y="T7"/>
                    </a:cxn>
                    <a:cxn ang="T14">
                      <a:pos x="T8" y="T9"/>
                    </a:cxn>
                  </a:cxnLst>
                  <a:rect l="T15" t="T16" r="T17" b="T18"/>
                  <a:pathLst>
                    <a:path w="144" h="144">
                      <a:moveTo>
                        <a:pt x="0" y="144"/>
                      </a:moveTo>
                      <a:lnTo>
                        <a:pt x="144" y="71"/>
                      </a:lnTo>
                      <a:lnTo>
                        <a:pt x="0" y="0"/>
                      </a:lnTo>
                      <a:lnTo>
                        <a:pt x="45" y="71"/>
                      </a:lnTo>
                      <a:lnTo>
                        <a:pt x="0" y="144"/>
                      </a:lnTo>
                      <a:close/>
                    </a:path>
                  </a:pathLst>
                </a:custGeom>
                <a:solidFill>
                  <a:srgbClr val="FF3300"/>
                </a:solidFill>
                <a:ln w="9525">
                  <a:noFill/>
                  <a:round/>
                  <a:headEnd/>
                  <a:tailEnd/>
                </a:ln>
              </p:spPr>
              <p:txBody>
                <a:bodyPr/>
                <a:lstStyle/>
                <a:p>
                  <a:endParaRPr lang="zh-CN" altLang="en-US"/>
                </a:p>
              </p:txBody>
            </p:sp>
          </p:grpSp>
          <p:grpSp>
            <p:nvGrpSpPr>
              <p:cNvPr id="90185" name="Group 17"/>
              <p:cNvGrpSpPr>
                <a:grpSpLocks/>
              </p:cNvGrpSpPr>
              <p:nvPr/>
            </p:nvGrpSpPr>
            <p:grpSpPr bwMode="auto">
              <a:xfrm>
                <a:off x="1075" y="2314"/>
                <a:ext cx="827" cy="72"/>
                <a:chOff x="1075" y="2314"/>
                <a:chExt cx="827" cy="72"/>
              </a:xfrm>
            </p:grpSpPr>
            <p:sp>
              <p:nvSpPr>
                <p:cNvPr id="90192" name="Rectangle 15"/>
                <p:cNvSpPr>
                  <a:spLocks noChangeArrowheads="1"/>
                </p:cNvSpPr>
                <p:nvPr/>
              </p:nvSpPr>
              <p:spPr bwMode="auto">
                <a:xfrm>
                  <a:off x="1075" y="2344"/>
                  <a:ext cx="731" cy="12"/>
                </a:xfrm>
                <a:prstGeom prst="rect">
                  <a:avLst/>
                </a:prstGeom>
                <a:solidFill>
                  <a:srgbClr val="FF3300"/>
                </a:solidFill>
                <a:ln w="9525">
                  <a:noFill/>
                  <a:miter lim="800000"/>
                  <a:headEnd/>
                  <a:tailEnd/>
                </a:ln>
              </p:spPr>
              <p:txBody>
                <a:bodyPr/>
                <a:lstStyle/>
                <a:p>
                  <a:endParaRPr kumimoji="0" lang="zh-CN" altLang="zh-CN" sz="1800"/>
                </a:p>
              </p:txBody>
            </p:sp>
            <p:sp>
              <p:nvSpPr>
                <p:cNvPr id="90193" name="Freeform 16"/>
                <p:cNvSpPr>
                  <a:spLocks/>
                </p:cNvSpPr>
                <p:nvPr/>
              </p:nvSpPr>
              <p:spPr bwMode="auto">
                <a:xfrm>
                  <a:off x="1758" y="2314"/>
                  <a:ext cx="144" cy="72"/>
                </a:xfrm>
                <a:custGeom>
                  <a:avLst/>
                  <a:gdLst>
                    <a:gd name="T0" fmla="*/ 0 w 144"/>
                    <a:gd name="T1" fmla="*/ 1 h 144"/>
                    <a:gd name="T2" fmla="*/ 144 w 144"/>
                    <a:gd name="T3" fmla="*/ 1 h 144"/>
                    <a:gd name="T4" fmla="*/ 0 w 144"/>
                    <a:gd name="T5" fmla="*/ 0 h 144"/>
                    <a:gd name="T6" fmla="*/ 45 w 144"/>
                    <a:gd name="T7" fmla="*/ 1 h 144"/>
                    <a:gd name="T8" fmla="*/ 0 w 144"/>
                    <a:gd name="T9" fmla="*/ 1 h 144"/>
                    <a:gd name="T10" fmla="*/ 0 60000 65536"/>
                    <a:gd name="T11" fmla="*/ 0 60000 65536"/>
                    <a:gd name="T12" fmla="*/ 0 60000 65536"/>
                    <a:gd name="T13" fmla="*/ 0 60000 65536"/>
                    <a:gd name="T14" fmla="*/ 0 60000 65536"/>
                    <a:gd name="T15" fmla="*/ 0 w 144"/>
                    <a:gd name="T16" fmla="*/ 0 h 144"/>
                    <a:gd name="T17" fmla="*/ 144 w 144"/>
                    <a:gd name="T18" fmla="*/ 144 h 144"/>
                  </a:gdLst>
                  <a:ahLst/>
                  <a:cxnLst>
                    <a:cxn ang="T10">
                      <a:pos x="T0" y="T1"/>
                    </a:cxn>
                    <a:cxn ang="T11">
                      <a:pos x="T2" y="T3"/>
                    </a:cxn>
                    <a:cxn ang="T12">
                      <a:pos x="T4" y="T5"/>
                    </a:cxn>
                    <a:cxn ang="T13">
                      <a:pos x="T6" y="T7"/>
                    </a:cxn>
                    <a:cxn ang="T14">
                      <a:pos x="T8" y="T9"/>
                    </a:cxn>
                  </a:cxnLst>
                  <a:rect l="T15" t="T16" r="T17" b="T18"/>
                  <a:pathLst>
                    <a:path w="144" h="144">
                      <a:moveTo>
                        <a:pt x="0" y="144"/>
                      </a:moveTo>
                      <a:lnTo>
                        <a:pt x="144" y="71"/>
                      </a:lnTo>
                      <a:lnTo>
                        <a:pt x="0" y="0"/>
                      </a:lnTo>
                      <a:lnTo>
                        <a:pt x="45" y="71"/>
                      </a:lnTo>
                      <a:lnTo>
                        <a:pt x="0" y="144"/>
                      </a:lnTo>
                      <a:close/>
                    </a:path>
                  </a:pathLst>
                </a:custGeom>
                <a:solidFill>
                  <a:srgbClr val="FF3300"/>
                </a:solidFill>
                <a:ln w="9525">
                  <a:noFill/>
                  <a:round/>
                  <a:headEnd/>
                  <a:tailEnd/>
                </a:ln>
              </p:spPr>
              <p:txBody>
                <a:bodyPr/>
                <a:lstStyle/>
                <a:p>
                  <a:endParaRPr lang="zh-CN" altLang="en-US"/>
                </a:p>
              </p:txBody>
            </p:sp>
          </p:grpSp>
          <p:grpSp>
            <p:nvGrpSpPr>
              <p:cNvPr id="90186" name="Group 20"/>
              <p:cNvGrpSpPr>
                <a:grpSpLocks/>
              </p:cNvGrpSpPr>
              <p:nvPr/>
            </p:nvGrpSpPr>
            <p:grpSpPr bwMode="auto">
              <a:xfrm>
                <a:off x="1075" y="2538"/>
                <a:ext cx="827" cy="72"/>
                <a:chOff x="1075" y="2538"/>
                <a:chExt cx="827" cy="72"/>
              </a:xfrm>
            </p:grpSpPr>
            <p:sp>
              <p:nvSpPr>
                <p:cNvPr id="90190" name="Rectangle 18"/>
                <p:cNvSpPr>
                  <a:spLocks noChangeArrowheads="1"/>
                </p:cNvSpPr>
                <p:nvPr/>
              </p:nvSpPr>
              <p:spPr bwMode="auto">
                <a:xfrm>
                  <a:off x="1075" y="2568"/>
                  <a:ext cx="731" cy="11"/>
                </a:xfrm>
                <a:prstGeom prst="rect">
                  <a:avLst/>
                </a:prstGeom>
                <a:solidFill>
                  <a:srgbClr val="FF3300"/>
                </a:solidFill>
                <a:ln w="9525">
                  <a:noFill/>
                  <a:miter lim="800000"/>
                  <a:headEnd/>
                  <a:tailEnd/>
                </a:ln>
              </p:spPr>
              <p:txBody>
                <a:bodyPr/>
                <a:lstStyle/>
                <a:p>
                  <a:endParaRPr kumimoji="0" lang="zh-CN" altLang="zh-CN" sz="1800"/>
                </a:p>
              </p:txBody>
            </p:sp>
            <p:sp>
              <p:nvSpPr>
                <p:cNvPr id="90191" name="Freeform 19"/>
                <p:cNvSpPr>
                  <a:spLocks/>
                </p:cNvSpPr>
                <p:nvPr/>
              </p:nvSpPr>
              <p:spPr bwMode="auto">
                <a:xfrm>
                  <a:off x="1758" y="2538"/>
                  <a:ext cx="144" cy="72"/>
                </a:xfrm>
                <a:custGeom>
                  <a:avLst/>
                  <a:gdLst>
                    <a:gd name="T0" fmla="*/ 0 w 144"/>
                    <a:gd name="T1" fmla="*/ 1 h 144"/>
                    <a:gd name="T2" fmla="*/ 144 w 144"/>
                    <a:gd name="T3" fmla="*/ 1 h 144"/>
                    <a:gd name="T4" fmla="*/ 0 w 144"/>
                    <a:gd name="T5" fmla="*/ 0 h 144"/>
                    <a:gd name="T6" fmla="*/ 45 w 144"/>
                    <a:gd name="T7" fmla="*/ 1 h 144"/>
                    <a:gd name="T8" fmla="*/ 0 w 144"/>
                    <a:gd name="T9" fmla="*/ 1 h 144"/>
                    <a:gd name="T10" fmla="*/ 0 60000 65536"/>
                    <a:gd name="T11" fmla="*/ 0 60000 65536"/>
                    <a:gd name="T12" fmla="*/ 0 60000 65536"/>
                    <a:gd name="T13" fmla="*/ 0 60000 65536"/>
                    <a:gd name="T14" fmla="*/ 0 60000 65536"/>
                    <a:gd name="T15" fmla="*/ 0 w 144"/>
                    <a:gd name="T16" fmla="*/ 0 h 144"/>
                    <a:gd name="T17" fmla="*/ 144 w 144"/>
                    <a:gd name="T18" fmla="*/ 144 h 144"/>
                  </a:gdLst>
                  <a:ahLst/>
                  <a:cxnLst>
                    <a:cxn ang="T10">
                      <a:pos x="T0" y="T1"/>
                    </a:cxn>
                    <a:cxn ang="T11">
                      <a:pos x="T2" y="T3"/>
                    </a:cxn>
                    <a:cxn ang="T12">
                      <a:pos x="T4" y="T5"/>
                    </a:cxn>
                    <a:cxn ang="T13">
                      <a:pos x="T6" y="T7"/>
                    </a:cxn>
                    <a:cxn ang="T14">
                      <a:pos x="T8" y="T9"/>
                    </a:cxn>
                  </a:cxnLst>
                  <a:rect l="T15" t="T16" r="T17" b="T18"/>
                  <a:pathLst>
                    <a:path w="144" h="144">
                      <a:moveTo>
                        <a:pt x="0" y="144"/>
                      </a:moveTo>
                      <a:lnTo>
                        <a:pt x="144" y="71"/>
                      </a:lnTo>
                      <a:lnTo>
                        <a:pt x="0" y="0"/>
                      </a:lnTo>
                      <a:lnTo>
                        <a:pt x="45" y="71"/>
                      </a:lnTo>
                      <a:lnTo>
                        <a:pt x="0" y="144"/>
                      </a:lnTo>
                      <a:close/>
                    </a:path>
                  </a:pathLst>
                </a:custGeom>
                <a:solidFill>
                  <a:srgbClr val="FF3300"/>
                </a:solidFill>
                <a:ln w="9525">
                  <a:noFill/>
                  <a:round/>
                  <a:headEnd/>
                  <a:tailEnd/>
                </a:ln>
              </p:spPr>
              <p:txBody>
                <a:bodyPr/>
                <a:lstStyle/>
                <a:p>
                  <a:endParaRPr lang="zh-CN" altLang="en-US"/>
                </a:p>
              </p:txBody>
            </p:sp>
          </p:grpSp>
          <p:grpSp>
            <p:nvGrpSpPr>
              <p:cNvPr id="90187" name="Group 23"/>
              <p:cNvGrpSpPr>
                <a:grpSpLocks/>
              </p:cNvGrpSpPr>
              <p:nvPr/>
            </p:nvGrpSpPr>
            <p:grpSpPr bwMode="auto">
              <a:xfrm>
                <a:off x="1075" y="2762"/>
                <a:ext cx="827" cy="72"/>
                <a:chOff x="1075" y="2762"/>
                <a:chExt cx="827" cy="72"/>
              </a:xfrm>
            </p:grpSpPr>
            <p:sp>
              <p:nvSpPr>
                <p:cNvPr id="90188" name="Rectangle 21"/>
                <p:cNvSpPr>
                  <a:spLocks noChangeArrowheads="1"/>
                </p:cNvSpPr>
                <p:nvPr/>
              </p:nvSpPr>
              <p:spPr bwMode="auto">
                <a:xfrm>
                  <a:off x="1075" y="2792"/>
                  <a:ext cx="731" cy="11"/>
                </a:xfrm>
                <a:prstGeom prst="rect">
                  <a:avLst/>
                </a:prstGeom>
                <a:solidFill>
                  <a:srgbClr val="FF3300"/>
                </a:solidFill>
                <a:ln w="9525">
                  <a:noFill/>
                  <a:miter lim="800000"/>
                  <a:headEnd/>
                  <a:tailEnd/>
                </a:ln>
              </p:spPr>
              <p:txBody>
                <a:bodyPr/>
                <a:lstStyle/>
                <a:p>
                  <a:endParaRPr kumimoji="0" lang="zh-CN" altLang="zh-CN" sz="1800"/>
                </a:p>
              </p:txBody>
            </p:sp>
            <p:sp>
              <p:nvSpPr>
                <p:cNvPr id="90189" name="Freeform 22"/>
                <p:cNvSpPr>
                  <a:spLocks/>
                </p:cNvSpPr>
                <p:nvPr/>
              </p:nvSpPr>
              <p:spPr bwMode="auto">
                <a:xfrm>
                  <a:off x="1758" y="2762"/>
                  <a:ext cx="144" cy="72"/>
                </a:xfrm>
                <a:custGeom>
                  <a:avLst/>
                  <a:gdLst>
                    <a:gd name="T0" fmla="*/ 0 w 144"/>
                    <a:gd name="T1" fmla="*/ 1 h 144"/>
                    <a:gd name="T2" fmla="*/ 144 w 144"/>
                    <a:gd name="T3" fmla="*/ 1 h 144"/>
                    <a:gd name="T4" fmla="*/ 0 w 144"/>
                    <a:gd name="T5" fmla="*/ 0 h 144"/>
                    <a:gd name="T6" fmla="*/ 45 w 144"/>
                    <a:gd name="T7" fmla="*/ 1 h 144"/>
                    <a:gd name="T8" fmla="*/ 0 w 144"/>
                    <a:gd name="T9" fmla="*/ 1 h 144"/>
                    <a:gd name="T10" fmla="*/ 0 60000 65536"/>
                    <a:gd name="T11" fmla="*/ 0 60000 65536"/>
                    <a:gd name="T12" fmla="*/ 0 60000 65536"/>
                    <a:gd name="T13" fmla="*/ 0 60000 65536"/>
                    <a:gd name="T14" fmla="*/ 0 60000 65536"/>
                    <a:gd name="T15" fmla="*/ 0 w 144"/>
                    <a:gd name="T16" fmla="*/ 0 h 144"/>
                    <a:gd name="T17" fmla="*/ 144 w 144"/>
                    <a:gd name="T18" fmla="*/ 144 h 144"/>
                  </a:gdLst>
                  <a:ahLst/>
                  <a:cxnLst>
                    <a:cxn ang="T10">
                      <a:pos x="T0" y="T1"/>
                    </a:cxn>
                    <a:cxn ang="T11">
                      <a:pos x="T2" y="T3"/>
                    </a:cxn>
                    <a:cxn ang="T12">
                      <a:pos x="T4" y="T5"/>
                    </a:cxn>
                    <a:cxn ang="T13">
                      <a:pos x="T6" y="T7"/>
                    </a:cxn>
                    <a:cxn ang="T14">
                      <a:pos x="T8" y="T9"/>
                    </a:cxn>
                  </a:cxnLst>
                  <a:rect l="T15" t="T16" r="T17" b="T18"/>
                  <a:pathLst>
                    <a:path w="144" h="144">
                      <a:moveTo>
                        <a:pt x="0" y="144"/>
                      </a:moveTo>
                      <a:lnTo>
                        <a:pt x="144" y="71"/>
                      </a:lnTo>
                      <a:lnTo>
                        <a:pt x="0" y="0"/>
                      </a:lnTo>
                      <a:lnTo>
                        <a:pt x="45" y="71"/>
                      </a:lnTo>
                      <a:lnTo>
                        <a:pt x="0" y="144"/>
                      </a:lnTo>
                      <a:close/>
                    </a:path>
                  </a:pathLst>
                </a:custGeom>
                <a:solidFill>
                  <a:srgbClr val="FF3300"/>
                </a:solidFill>
                <a:ln w="9525">
                  <a:noFill/>
                  <a:round/>
                  <a:headEnd/>
                  <a:tailEnd/>
                </a:ln>
              </p:spPr>
              <p:txBody>
                <a:bodyPr/>
                <a:lstStyle/>
                <a:p>
                  <a:endParaRPr lang="zh-CN" altLang="en-US"/>
                </a:p>
              </p:txBody>
            </p:sp>
          </p:grpSp>
        </p:grpSp>
        <p:grpSp>
          <p:nvGrpSpPr>
            <p:cNvPr id="90149" name="Group 27"/>
            <p:cNvGrpSpPr>
              <a:grpSpLocks/>
            </p:cNvGrpSpPr>
            <p:nvPr/>
          </p:nvGrpSpPr>
          <p:grpSpPr bwMode="auto">
            <a:xfrm>
              <a:off x="1914" y="1589"/>
              <a:ext cx="34" cy="1522"/>
              <a:chOff x="1914" y="1589"/>
              <a:chExt cx="34" cy="1522"/>
            </a:xfrm>
          </p:grpSpPr>
          <p:sp>
            <p:nvSpPr>
              <p:cNvPr id="90181" name="Freeform 25"/>
              <p:cNvSpPr>
                <a:spLocks/>
              </p:cNvSpPr>
              <p:nvPr/>
            </p:nvSpPr>
            <p:spPr bwMode="auto">
              <a:xfrm>
                <a:off x="1914" y="1589"/>
                <a:ext cx="34" cy="537"/>
              </a:xfrm>
              <a:custGeom>
                <a:avLst/>
                <a:gdLst>
                  <a:gd name="T0" fmla="*/ 0 w 59"/>
                  <a:gd name="T1" fmla="*/ 0 h 1074"/>
                  <a:gd name="T2" fmla="*/ 0 w 59"/>
                  <a:gd name="T3" fmla="*/ 1 h 1074"/>
                  <a:gd name="T4" fmla="*/ 1 w 59"/>
                  <a:gd name="T5" fmla="*/ 1 h 1074"/>
                  <a:gd name="T6" fmla="*/ 1 w 59"/>
                  <a:gd name="T7" fmla="*/ 0 h 1074"/>
                  <a:gd name="T8" fmla="*/ 0 w 59"/>
                  <a:gd name="T9" fmla="*/ 0 h 1074"/>
                  <a:gd name="T10" fmla="*/ 0 60000 65536"/>
                  <a:gd name="T11" fmla="*/ 0 60000 65536"/>
                  <a:gd name="T12" fmla="*/ 0 60000 65536"/>
                  <a:gd name="T13" fmla="*/ 0 60000 65536"/>
                  <a:gd name="T14" fmla="*/ 0 60000 65536"/>
                  <a:gd name="T15" fmla="*/ 0 w 59"/>
                  <a:gd name="T16" fmla="*/ 0 h 1074"/>
                  <a:gd name="T17" fmla="*/ 59 w 59"/>
                  <a:gd name="T18" fmla="*/ 1074 h 1074"/>
                </a:gdLst>
                <a:ahLst/>
                <a:cxnLst>
                  <a:cxn ang="T10">
                    <a:pos x="T0" y="T1"/>
                  </a:cxn>
                  <a:cxn ang="T11">
                    <a:pos x="T2" y="T3"/>
                  </a:cxn>
                  <a:cxn ang="T12">
                    <a:pos x="T4" y="T5"/>
                  </a:cxn>
                  <a:cxn ang="T13">
                    <a:pos x="T6" y="T7"/>
                  </a:cxn>
                  <a:cxn ang="T14">
                    <a:pos x="T8" y="T9"/>
                  </a:cxn>
                </a:cxnLst>
                <a:rect l="T15" t="T16" r="T17" b="T18"/>
                <a:pathLst>
                  <a:path w="59" h="1074">
                    <a:moveTo>
                      <a:pt x="0" y="0"/>
                    </a:moveTo>
                    <a:lnTo>
                      <a:pt x="0" y="1074"/>
                    </a:lnTo>
                    <a:lnTo>
                      <a:pt x="59" y="806"/>
                    </a:lnTo>
                    <a:lnTo>
                      <a:pt x="59" y="0"/>
                    </a:lnTo>
                    <a:lnTo>
                      <a:pt x="0" y="0"/>
                    </a:lnTo>
                    <a:close/>
                  </a:path>
                </a:pathLst>
              </a:custGeom>
              <a:solidFill>
                <a:srgbClr val="00CC99"/>
              </a:solidFill>
              <a:ln w="15">
                <a:solidFill>
                  <a:srgbClr val="000000"/>
                </a:solidFill>
                <a:round/>
                <a:headEnd/>
                <a:tailEnd/>
              </a:ln>
            </p:spPr>
            <p:txBody>
              <a:bodyPr/>
              <a:lstStyle/>
              <a:p>
                <a:endParaRPr lang="zh-CN" altLang="en-US"/>
              </a:p>
            </p:txBody>
          </p:sp>
          <p:sp>
            <p:nvSpPr>
              <p:cNvPr id="90182" name="Freeform 26"/>
              <p:cNvSpPr>
                <a:spLocks/>
              </p:cNvSpPr>
              <p:nvPr/>
            </p:nvSpPr>
            <p:spPr bwMode="auto">
              <a:xfrm>
                <a:off x="1914" y="2574"/>
                <a:ext cx="29" cy="537"/>
              </a:xfrm>
              <a:custGeom>
                <a:avLst/>
                <a:gdLst>
                  <a:gd name="T0" fmla="*/ 0 w 58"/>
                  <a:gd name="T1" fmla="*/ 1 h 1074"/>
                  <a:gd name="T2" fmla="*/ 0 w 58"/>
                  <a:gd name="T3" fmla="*/ 0 h 1074"/>
                  <a:gd name="T4" fmla="*/ 1 w 58"/>
                  <a:gd name="T5" fmla="*/ 1 h 1074"/>
                  <a:gd name="T6" fmla="*/ 1 w 58"/>
                  <a:gd name="T7" fmla="*/ 1 h 1074"/>
                  <a:gd name="T8" fmla="*/ 0 w 58"/>
                  <a:gd name="T9" fmla="*/ 1 h 1074"/>
                  <a:gd name="T10" fmla="*/ 0 60000 65536"/>
                  <a:gd name="T11" fmla="*/ 0 60000 65536"/>
                  <a:gd name="T12" fmla="*/ 0 60000 65536"/>
                  <a:gd name="T13" fmla="*/ 0 60000 65536"/>
                  <a:gd name="T14" fmla="*/ 0 60000 65536"/>
                  <a:gd name="T15" fmla="*/ 0 w 58"/>
                  <a:gd name="T16" fmla="*/ 0 h 1074"/>
                  <a:gd name="T17" fmla="*/ 58 w 58"/>
                  <a:gd name="T18" fmla="*/ 1074 h 1074"/>
                </a:gdLst>
                <a:ahLst/>
                <a:cxnLst>
                  <a:cxn ang="T10">
                    <a:pos x="T0" y="T1"/>
                  </a:cxn>
                  <a:cxn ang="T11">
                    <a:pos x="T2" y="T3"/>
                  </a:cxn>
                  <a:cxn ang="T12">
                    <a:pos x="T4" y="T5"/>
                  </a:cxn>
                  <a:cxn ang="T13">
                    <a:pos x="T6" y="T7"/>
                  </a:cxn>
                  <a:cxn ang="T14">
                    <a:pos x="T8" y="T9"/>
                  </a:cxn>
                </a:cxnLst>
                <a:rect l="T15" t="T16" r="T17" b="T18"/>
                <a:pathLst>
                  <a:path w="58" h="1074">
                    <a:moveTo>
                      <a:pt x="0" y="1074"/>
                    </a:moveTo>
                    <a:lnTo>
                      <a:pt x="0" y="0"/>
                    </a:lnTo>
                    <a:lnTo>
                      <a:pt x="58" y="269"/>
                    </a:lnTo>
                    <a:lnTo>
                      <a:pt x="58" y="1074"/>
                    </a:lnTo>
                    <a:lnTo>
                      <a:pt x="0" y="1074"/>
                    </a:lnTo>
                    <a:close/>
                  </a:path>
                </a:pathLst>
              </a:custGeom>
              <a:solidFill>
                <a:srgbClr val="00CC99"/>
              </a:solidFill>
              <a:ln w="15">
                <a:solidFill>
                  <a:srgbClr val="000000"/>
                </a:solidFill>
                <a:round/>
                <a:headEnd/>
                <a:tailEnd/>
              </a:ln>
            </p:spPr>
            <p:txBody>
              <a:bodyPr/>
              <a:lstStyle/>
              <a:p>
                <a:endParaRPr lang="zh-CN" altLang="en-US"/>
              </a:p>
            </p:txBody>
          </p:sp>
        </p:grpSp>
        <p:grpSp>
          <p:nvGrpSpPr>
            <p:cNvPr id="90150" name="Group 31"/>
            <p:cNvGrpSpPr>
              <a:grpSpLocks/>
            </p:cNvGrpSpPr>
            <p:nvPr/>
          </p:nvGrpSpPr>
          <p:grpSpPr bwMode="auto">
            <a:xfrm>
              <a:off x="1893" y="1902"/>
              <a:ext cx="295" cy="892"/>
              <a:chOff x="1893" y="1902"/>
              <a:chExt cx="295" cy="892"/>
            </a:xfrm>
          </p:grpSpPr>
          <p:sp>
            <p:nvSpPr>
              <p:cNvPr id="90178" name="Freeform 28"/>
              <p:cNvSpPr>
                <a:spLocks/>
              </p:cNvSpPr>
              <p:nvPr/>
            </p:nvSpPr>
            <p:spPr bwMode="auto">
              <a:xfrm>
                <a:off x="1893" y="2121"/>
                <a:ext cx="295" cy="445"/>
              </a:xfrm>
              <a:custGeom>
                <a:avLst/>
                <a:gdLst>
                  <a:gd name="T0" fmla="*/ 0 w 295"/>
                  <a:gd name="T1" fmla="*/ 0 h 891"/>
                  <a:gd name="T2" fmla="*/ 31 w 295"/>
                  <a:gd name="T3" fmla="*/ 0 h 891"/>
                  <a:gd name="T4" fmla="*/ 60 w 295"/>
                  <a:gd name="T5" fmla="*/ 0 h 891"/>
                  <a:gd name="T6" fmla="*/ 89 w 295"/>
                  <a:gd name="T7" fmla="*/ 0 h 891"/>
                  <a:gd name="T8" fmla="*/ 116 w 295"/>
                  <a:gd name="T9" fmla="*/ 0 h 891"/>
                  <a:gd name="T10" fmla="*/ 142 w 295"/>
                  <a:gd name="T11" fmla="*/ 0 h 891"/>
                  <a:gd name="T12" fmla="*/ 165 w 295"/>
                  <a:gd name="T13" fmla="*/ 0 h 891"/>
                  <a:gd name="T14" fmla="*/ 188 w 295"/>
                  <a:gd name="T15" fmla="*/ 0 h 891"/>
                  <a:gd name="T16" fmla="*/ 209 w 295"/>
                  <a:gd name="T17" fmla="*/ 0 h 891"/>
                  <a:gd name="T18" fmla="*/ 228 w 295"/>
                  <a:gd name="T19" fmla="*/ 0 h 891"/>
                  <a:gd name="T20" fmla="*/ 245 w 295"/>
                  <a:gd name="T21" fmla="*/ 0 h 891"/>
                  <a:gd name="T22" fmla="*/ 260 w 295"/>
                  <a:gd name="T23" fmla="*/ 0 h 891"/>
                  <a:gd name="T24" fmla="*/ 272 w 295"/>
                  <a:gd name="T25" fmla="*/ 0 h 891"/>
                  <a:gd name="T26" fmla="*/ 282 w 295"/>
                  <a:gd name="T27" fmla="*/ 0 h 891"/>
                  <a:gd name="T28" fmla="*/ 289 w 295"/>
                  <a:gd name="T29" fmla="*/ 0 h 891"/>
                  <a:gd name="T30" fmla="*/ 294 w 295"/>
                  <a:gd name="T31" fmla="*/ 0 h 891"/>
                  <a:gd name="T32" fmla="*/ 295 w 295"/>
                  <a:gd name="T33" fmla="*/ 0 h 891"/>
                  <a:gd name="T34" fmla="*/ 294 w 295"/>
                  <a:gd name="T35" fmla="*/ 0 h 891"/>
                  <a:gd name="T36" fmla="*/ 290 w 295"/>
                  <a:gd name="T37" fmla="*/ 0 h 891"/>
                  <a:gd name="T38" fmla="*/ 284 w 295"/>
                  <a:gd name="T39" fmla="*/ 0 h 891"/>
                  <a:gd name="T40" fmla="*/ 276 w 295"/>
                  <a:gd name="T41" fmla="*/ 0 h 891"/>
                  <a:gd name="T42" fmla="*/ 265 w 295"/>
                  <a:gd name="T43" fmla="*/ 0 h 891"/>
                  <a:gd name="T44" fmla="*/ 251 w 295"/>
                  <a:gd name="T45" fmla="*/ 0 h 891"/>
                  <a:gd name="T46" fmla="*/ 236 w 295"/>
                  <a:gd name="T47" fmla="*/ 0 h 891"/>
                  <a:gd name="T48" fmla="*/ 220 w 295"/>
                  <a:gd name="T49" fmla="*/ 0 h 891"/>
                  <a:gd name="T50" fmla="*/ 202 w 295"/>
                  <a:gd name="T51" fmla="*/ 0 h 891"/>
                  <a:gd name="T52" fmla="*/ 181 w 295"/>
                  <a:gd name="T53" fmla="*/ 0 h 891"/>
                  <a:gd name="T54" fmla="*/ 160 w 295"/>
                  <a:gd name="T55" fmla="*/ 0 h 891"/>
                  <a:gd name="T56" fmla="*/ 137 w 295"/>
                  <a:gd name="T57" fmla="*/ 0 h 891"/>
                  <a:gd name="T58" fmla="*/ 112 w 295"/>
                  <a:gd name="T59" fmla="*/ 0 h 891"/>
                  <a:gd name="T60" fmla="*/ 86 w 295"/>
                  <a:gd name="T61" fmla="*/ 0 h 891"/>
                  <a:gd name="T62" fmla="*/ 60 w 295"/>
                  <a:gd name="T63" fmla="*/ 0 h 891"/>
                  <a:gd name="T64" fmla="*/ 32 w 295"/>
                  <a:gd name="T65" fmla="*/ 0 h 8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95"/>
                  <a:gd name="T100" fmla="*/ 0 h 891"/>
                  <a:gd name="T101" fmla="*/ 295 w 295"/>
                  <a:gd name="T102" fmla="*/ 891 h 8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95" h="891">
                    <a:moveTo>
                      <a:pt x="0" y="891"/>
                    </a:moveTo>
                    <a:lnTo>
                      <a:pt x="31" y="890"/>
                    </a:lnTo>
                    <a:lnTo>
                      <a:pt x="60" y="882"/>
                    </a:lnTo>
                    <a:lnTo>
                      <a:pt x="89" y="871"/>
                    </a:lnTo>
                    <a:lnTo>
                      <a:pt x="116" y="856"/>
                    </a:lnTo>
                    <a:lnTo>
                      <a:pt x="142" y="837"/>
                    </a:lnTo>
                    <a:lnTo>
                      <a:pt x="165" y="815"/>
                    </a:lnTo>
                    <a:lnTo>
                      <a:pt x="188" y="789"/>
                    </a:lnTo>
                    <a:lnTo>
                      <a:pt x="209" y="761"/>
                    </a:lnTo>
                    <a:lnTo>
                      <a:pt x="228" y="729"/>
                    </a:lnTo>
                    <a:lnTo>
                      <a:pt x="245" y="694"/>
                    </a:lnTo>
                    <a:lnTo>
                      <a:pt x="260" y="658"/>
                    </a:lnTo>
                    <a:lnTo>
                      <a:pt x="272" y="619"/>
                    </a:lnTo>
                    <a:lnTo>
                      <a:pt x="282" y="578"/>
                    </a:lnTo>
                    <a:lnTo>
                      <a:pt x="289" y="535"/>
                    </a:lnTo>
                    <a:lnTo>
                      <a:pt x="294" y="491"/>
                    </a:lnTo>
                    <a:lnTo>
                      <a:pt x="295" y="444"/>
                    </a:lnTo>
                    <a:lnTo>
                      <a:pt x="294" y="401"/>
                    </a:lnTo>
                    <a:lnTo>
                      <a:pt x="290" y="360"/>
                    </a:lnTo>
                    <a:lnTo>
                      <a:pt x="284" y="321"/>
                    </a:lnTo>
                    <a:lnTo>
                      <a:pt x="276" y="282"/>
                    </a:lnTo>
                    <a:lnTo>
                      <a:pt x="265" y="244"/>
                    </a:lnTo>
                    <a:lnTo>
                      <a:pt x="251" y="211"/>
                    </a:lnTo>
                    <a:lnTo>
                      <a:pt x="236" y="177"/>
                    </a:lnTo>
                    <a:lnTo>
                      <a:pt x="220" y="146"/>
                    </a:lnTo>
                    <a:lnTo>
                      <a:pt x="202" y="118"/>
                    </a:lnTo>
                    <a:lnTo>
                      <a:pt x="181" y="91"/>
                    </a:lnTo>
                    <a:lnTo>
                      <a:pt x="160" y="67"/>
                    </a:lnTo>
                    <a:lnTo>
                      <a:pt x="137" y="49"/>
                    </a:lnTo>
                    <a:lnTo>
                      <a:pt x="112" y="30"/>
                    </a:lnTo>
                    <a:lnTo>
                      <a:pt x="86" y="17"/>
                    </a:lnTo>
                    <a:lnTo>
                      <a:pt x="60" y="8"/>
                    </a:lnTo>
                    <a:lnTo>
                      <a:pt x="32" y="0"/>
                    </a:lnTo>
                  </a:path>
                </a:pathLst>
              </a:custGeom>
              <a:noFill/>
              <a:ln w="7">
                <a:solidFill>
                  <a:srgbClr val="3333CC"/>
                </a:solidFill>
                <a:round/>
                <a:headEnd/>
                <a:tailEnd/>
              </a:ln>
            </p:spPr>
            <p:txBody>
              <a:bodyPr/>
              <a:lstStyle/>
              <a:p>
                <a:endParaRPr lang="zh-CN" altLang="en-US"/>
              </a:p>
            </p:txBody>
          </p:sp>
          <p:sp>
            <p:nvSpPr>
              <p:cNvPr id="90179" name="Freeform 29"/>
              <p:cNvSpPr>
                <a:spLocks/>
              </p:cNvSpPr>
              <p:nvPr/>
            </p:nvSpPr>
            <p:spPr bwMode="auto">
              <a:xfrm>
                <a:off x="1907" y="2350"/>
                <a:ext cx="274" cy="444"/>
              </a:xfrm>
              <a:custGeom>
                <a:avLst/>
                <a:gdLst>
                  <a:gd name="T0" fmla="*/ 28 w 274"/>
                  <a:gd name="T1" fmla="*/ 1 h 887"/>
                  <a:gd name="T2" fmla="*/ 54 w 274"/>
                  <a:gd name="T3" fmla="*/ 1 h 887"/>
                  <a:gd name="T4" fmla="*/ 80 w 274"/>
                  <a:gd name="T5" fmla="*/ 1 h 887"/>
                  <a:gd name="T6" fmla="*/ 103 w 274"/>
                  <a:gd name="T7" fmla="*/ 1 h 887"/>
                  <a:gd name="T8" fmla="*/ 126 w 274"/>
                  <a:gd name="T9" fmla="*/ 1 h 887"/>
                  <a:gd name="T10" fmla="*/ 147 w 274"/>
                  <a:gd name="T11" fmla="*/ 1 h 887"/>
                  <a:gd name="T12" fmla="*/ 168 w 274"/>
                  <a:gd name="T13" fmla="*/ 1 h 887"/>
                  <a:gd name="T14" fmla="*/ 187 w 274"/>
                  <a:gd name="T15" fmla="*/ 1 h 887"/>
                  <a:gd name="T16" fmla="*/ 204 w 274"/>
                  <a:gd name="T17" fmla="*/ 1 h 887"/>
                  <a:gd name="T18" fmla="*/ 220 w 274"/>
                  <a:gd name="T19" fmla="*/ 1 h 887"/>
                  <a:gd name="T20" fmla="*/ 233 w 274"/>
                  <a:gd name="T21" fmla="*/ 1 h 887"/>
                  <a:gd name="T22" fmla="*/ 246 w 274"/>
                  <a:gd name="T23" fmla="*/ 1 h 887"/>
                  <a:gd name="T24" fmla="*/ 256 w 274"/>
                  <a:gd name="T25" fmla="*/ 1 h 887"/>
                  <a:gd name="T26" fmla="*/ 263 w 274"/>
                  <a:gd name="T27" fmla="*/ 1 h 887"/>
                  <a:gd name="T28" fmla="*/ 269 w 274"/>
                  <a:gd name="T29" fmla="*/ 1 h 887"/>
                  <a:gd name="T30" fmla="*/ 273 w 274"/>
                  <a:gd name="T31" fmla="*/ 1 h 887"/>
                  <a:gd name="T32" fmla="*/ 274 w 274"/>
                  <a:gd name="T33" fmla="*/ 1 h 887"/>
                  <a:gd name="T34" fmla="*/ 273 w 274"/>
                  <a:gd name="T35" fmla="*/ 1 h 887"/>
                  <a:gd name="T36" fmla="*/ 269 w 274"/>
                  <a:gd name="T37" fmla="*/ 1 h 887"/>
                  <a:gd name="T38" fmla="*/ 262 w 274"/>
                  <a:gd name="T39" fmla="*/ 1 h 887"/>
                  <a:gd name="T40" fmla="*/ 253 w 274"/>
                  <a:gd name="T41" fmla="*/ 1 h 887"/>
                  <a:gd name="T42" fmla="*/ 242 w 274"/>
                  <a:gd name="T43" fmla="*/ 1 h 887"/>
                  <a:gd name="T44" fmla="*/ 228 w 274"/>
                  <a:gd name="T45" fmla="*/ 1 h 887"/>
                  <a:gd name="T46" fmla="*/ 213 w 274"/>
                  <a:gd name="T47" fmla="*/ 1 h 887"/>
                  <a:gd name="T48" fmla="*/ 195 w 274"/>
                  <a:gd name="T49" fmla="*/ 1 h 887"/>
                  <a:gd name="T50" fmla="*/ 176 w 274"/>
                  <a:gd name="T51" fmla="*/ 1 h 887"/>
                  <a:gd name="T52" fmla="*/ 155 w 274"/>
                  <a:gd name="T53" fmla="*/ 1 h 887"/>
                  <a:gd name="T54" fmla="*/ 133 w 274"/>
                  <a:gd name="T55" fmla="*/ 1 h 887"/>
                  <a:gd name="T56" fmla="*/ 108 w 274"/>
                  <a:gd name="T57" fmla="*/ 1 h 887"/>
                  <a:gd name="T58" fmla="*/ 82 w 274"/>
                  <a:gd name="T59" fmla="*/ 1 h 887"/>
                  <a:gd name="T60" fmla="*/ 56 w 274"/>
                  <a:gd name="T61" fmla="*/ 1 h 887"/>
                  <a:gd name="T62" fmla="*/ 28 w 274"/>
                  <a:gd name="T63" fmla="*/ 1 h 887"/>
                  <a:gd name="T64" fmla="*/ 0 w 274"/>
                  <a:gd name="T65" fmla="*/ 0 h 88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74"/>
                  <a:gd name="T100" fmla="*/ 0 h 887"/>
                  <a:gd name="T101" fmla="*/ 274 w 274"/>
                  <a:gd name="T102" fmla="*/ 887 h 88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74" h="887">
                    <a:moveTo>
                      <a:pt x="28" y="887"/>
                    </a:moveTo>
                    <a:lnTo>
                      <a:pt x="54" y="880"/>
                    </a:lnTo>
                    <a:lnTo>
                      <a:pt x="80" y="867"/>
                    </a:lnTo>
                    <a:lnTo>
                      <a:pt x="103" y="852"/>
                    </a:lnTo>
                    <a:lnTo>
                      <a:pt x="126" y="835"/>
                    </a:lnTo>
                    <a:lnTo>
                      <a:pt x="147" y="813"/>
                    </a:lnTo>
                    <a:lnTo>
                      <a:pt x="168" y="790"/>
                    </a:lnTo>
                    <a:lnTo>
                      <a:pt x="187" y="764"/>
                    </a:lnTo>
                    <a:lnTo>
                      <a:pt x="204" y="736"/>
                    </a:lnTo>
                    <a:lnTo>
                      <a:pt x="220" y="705"/>
                    </a:lnTo>
                    <a:lnTo>
                      <a:pt x="233" y="673"/>
                    </a:lnTo>
                    <a:lnTo>
                      <a:pt x="246" y="638"/>
                    </a:lnTo>
                    <a:lnTo>
                      <a:pt x="256" y="602"/>
                    </a:lnTo>
                    <a:lnTo>
                      <a:pt x="263" y="565"/>
                    </a:lnTo>
                    <a:lnTo>
                      <a:pt x="269" y="526"/>
                    </a:lnTo>
                    <a:lnTo>
                      <a:pt x="273" y="486"/>
                    </a:lnTo>
                    <a:lnTo>
                      <a:pt x="274" y="445"/>
                    </a:lnTo>
                    <a:lnTo>
                      <a:pt x="273" y="403"/>
                    </a:lnTo>
                    <a:lnTo>
                      <a:pt x="269" y="360"/>
                    </a:lnTo>
                    <a:lnTo>
                      <a:pt x="262" y="319"/>
                    </a:lnTo>
                    <a:lnTo>
                      <a:pt x="253" y="280"/>
                    </a:lnTo>
                    <a:lnTo>
                      <a:pt x="242" y="242"/>
                    </a:lnTo>
                    <a:lnTo>
                      <a:pt x="228" y="207"/>
                    </a:lnTo>
                    <a:lnTo>
                      <a:pt x="213" y="173"/>
                    </a:lnTo>
                    <a:lnTo>
                      <a:pt x="195" y="142"/>
                    </a:lnTo>
                    <a:lnTo>
                      <a:pt x="176" y="114"/>
                    </a:lnTo>
                    <a:lnTo>
                      <a:pt x="155" y="87"/>
                    </a:lnTo>
                    <a:lnTo>
                      <a:pt x="133" y="63"/>
                    </a:lnTo>
                    <a:lnTo>
                      <a:pt x="108" y="45"/>
                    </a:lnTo>
                    <a:lnTo>
                      <a:pt x="82" y="28"/>
                    </a:lnTo>
                    <a:lnTo>
                      <a:pt x="56" y="15"/>
                    </a:lnTo>
                    <a:lnTo>
                      <a:pt x="28" y="5"/>
                    </a:lnTo>
                    <a:lnTo>
                      <a:pt x="0" y="0"/>
                    </a:lnTo>
                  </a:path>
                </a:pathLst>
              </a:custGeom>
              <a:noFill/>
              <a:ln w="7">
                <a:solidFill>
                  <a:srgbClr val="3333CC"/>
                </a:solidFill>
                <a:round/>
                <a:headEnd/>
                <a:tailEnd/>
              </a:ln>
            </p:spPr>
            <p:txBody>
              <a:bodyPr/>
              <a:lstStyle/>
              <a:p>
                <a:endParaRPr lang="zh-CN" altLang="en-US"/>
              </a:p>
            </p:txBody>
          </p:sp>
          <p:sp>
            <p:nvSpPr>
              <p:cNvPr id="90180" name="Freeform 30"/>
              <p:cNvSpPr>
                <a:spLocks/>
              </p:cNvSpPr>
              <p:nvPr/>
            </p:nvSpPr>
            <p:spPr bwMode="auto">
              <a:xfrm>
                <a:off x="1893" y="1902"/>
                <a:ext cx="295" cy="440"/>
              </a:xfrm>
              <a:custGeom>
                <a:avLst/>
                <a:gdLst>
                  <a:gd name="T0" fmla="*/ 0 w 295"/>
                  <a:gd name="T1" fmla="*/ 1 h 878"/>
                  <a:gd name="T2" fmla="*/ 31 w 295"/>
                  <a:gd name="T3" fmla="*/ 1 h 878"/>
                  <a:gd name="T4" fmla="*/ 60 w 295"/>
                  <a:gd name="T5" fmla="*/ 1 h 878"/>
                  <a:gd name="T6" fmla="*/ 89 w 295"/>
                  <a:gd name="T7" fmla="*/ 1 h 878"/>
                  <a:gd name="T8" fmla="*/ 116 w 295"/>
                  <a:gd name="T9" fmla="*/ 1 h 878"/>
                  <a:gd name="T10" fmla="*/ 142 w 295"/>
                  <a:gd name="T11" fmla="*/ 1 h 878"/>
                  <a:gd name="T12" fmla="*/ 165 w 295"/>
                  <a:gd name="T13" fmla="*/ 1 h 878"/>
                  <a:gd name="T14" fmla="*/ 188 w 295"/>
                  <a:gd name="T15" fmla="*/ 1 h 878"/>
                  <a:gd name="T16" fmla="*/ 209 w 295"/>
                  <a:gd name="T17" fmla="*/ 1 h 878"/>
                  <a:gd name="T18" fmla="*/ 228 w 295"/>
                  <a:gd name="T19" fmla="*/ 1 h 878"/>
                  <a:gd name="T20" fmla="*/ 245 w 295"/>
                  <a:gd name="T21" fmla="*/ 1 h 878"/>
                  <a:gd name="T22" fmla="*/ 260 w 295"/>
                  <a:gd name="T23" fmla="*/ 1 h 878"/>
                  <a:gd name="T24" fmla="*/ 272 w 295"/>
                  <a:gd name="T25" fmla="*/ 1 h 878"/>
                  <a:gd name="T26" fmla="*/ 282 w 295"/>
                  <a:gd name="T27" fmla="*/ 1 h 878"/>
                  <a:gd name="T28" fmla="*/ 289 w 295"/>
                  <a:gd name="T29" fmla="*/ 1 h 878"/>
                  <a:gd name="T30" fmla="*/ 294 w 295"/>
                  <a:gd name="T31" fmla="*/ 1 h 878"/>
                  <a:gd name="T32" fmla="*/ 295 w 295"/>
                  <a:gd name="T33" fmla="*/ 1 h 878"/>
                  <a:gd name="T34" fmla="*/ 294 w 295"/>
                  <a:gd name="T35" fmla="*/ 1 h 878"/>
                  <a:gd name="T36" fmla="*/ 292 w 295"/>
                  <a:gd name="T37" fmla="*/ 1 h 878"/>
                  <a:gd name="T38" fmla="*/ 287 w 295"/>
                  <a:gd name="T39" fmla="*/ 1 h 878"/>
                  <a:gd name="T40" fmla="*/ 279 w 295"/>
                  <a:gd name="T41" fmla="*/ 1 h 878"/>
                  <a:gd name="T42" fmla="*/ 271 w 295"/>
                  <a:gd name="T43" fmla="*/ 1 h 878"/>
                  <a:gd name="T44" fmla="*/ 261 w 295"/>
                  <a:gd name="T45" fmla="*/ 1 h 878"/>
                  <a:gd name="T46" fmla="*/ 249 w 295"/>
                  <a:gd name="T47" fmla="*/ 1 h 878"/>
                  <a:gd name="T48" fmla="*/ 235 w 295"/>
                  <a:gd name="T49" fmla="*/ 1 h 878"/>
                  <a:gd name="T50" fmla="*/ 220 w 295"/>
                  <a:gd name="T51" fmla="*/ 1 h 878"/>
                  <a:gd name="T52" fmla="*/ 203 w 295"/>
                  <a:gd name="T53" fmla="*/ 1 h 878"/>
                  <a:gd name="T54" fmla="*/ 186 w 295"/>
                  <a:gd name="T55" fmla="*/ 1 h 878"/>
                  <a:gd name="T56" fmla="*/ 166 w 295"/>
                  <a:gd name="T57" fmla="*/ 1 h 878"/>
                  <a:gd name="T58" fmla="*/ 147 w 295"/>
                  <a:gd name="T59" fmla="*/ 1 h 878"/>
                  <a:gd name="T60" fmla="*/ 124 w 295"/>
                  <a:gd name="T61" fmla="*/ 1 h 878"/>
                  <a:gd name="T62" fmla="*/ 102 w 295"/>
                  <a:gd name="T63" fmla="*/ 1 h 878"/>
                  <a:gd name="T64" fmla="*/ 79 w 295"/>
                  <a:gd name="T65" fmla="*/ 0 h 8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95"/>
                  <a:gd name="T100" fmla="*/ 0 h 878"/>
                  <a:gd name="T101" fmla="*/ 295 w 295"/>
                  <a:gd name="T102" fmla="*/ 878 h 8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95" h="878">
                    <a:moveTo>
                      <a:pt x="0" y="878"/>
                    </a:moveTo>
                    <a:lnTo>
                      <a:pt x="31" y="876"/>
                    </a:lnTo>
                    <a:lnTo>
                      <a:pt x="60" y="869"/>
                    </a:lnTo>
                    <a:lnTo>
                      <a:pt x="89" y="858"/>
                    </a:lnTo>
                    <a:lnTo>
                      <a:pt x="116" y="843"/>
                    </a:lnTo>
                    <a:lnTo>
                      <a:pt x="142" y="824"/>
                    </a:lnTo>
                    <a:lnTo>
                      <a:pt x="165" y="802"/>
                    </a:lnTo>
                    <a:lnTo>
                      <a:pt x="188" y="775"/>
                    </a:lnTo>
                    <a:lnTo>
                      <a:pt x="209" y="748"/>
                    </a:lnTo>
                    <a:lnTo>
                      <a:pt x="228" y="716"/>
                    </a:lnTo>
                    <a:lnTo>
                      <a:pt x="245" y="680"/>
                    </a:lnTo>
                    <a:lnTo>
                      <a:pt x="260" y="645"/>
                    </a:lnTo>
                    <a:lnTo>
                      <a:pt x="272" y="606"/>
                    </a:lnTo>
                    <a:lnTo>
                      <a:pt x="282" y="565"/>
                    </a:lnTo>
                    <a:lnTo>
                      <a:pt x="289" y="522"/>
                    </a:lnTo>
                    <a:lnTo>
                      <a:pt x="294" y="477"/>
                    </a:lnTo>
                    <a:lnTo>
                      <a:pt x="295" y="431"/>
                    </a:lnTo>
                    <a:lnTo>
                      <a:pt x="294" y="393"/>
                    </a:lnTo>
                    <a:lnTo>
                      <a:pt x="292" y="356"/>
                    </a:lnTo>
                    <a:lnTo>
                      <a:pt x="287" y="321"/>
                    </a:lnTo>
                    <a:lnTo>
                      <a:pt x="279" y="285"/>
                    </a:lnTo>
                    <a:lnTo>
                      <a:pt x="271" y="252"/>
                    </a:lnTo>
                    <a:lnTo>
                      <a:pt x="261" y="220"/>
                    </a:lnTo>
                    <a:lnTo>
                      <a:pt x="249" y="190"/>
                    </a:lnTo>
                    <a:lnTo>
                      <a:pt x="235" y="160"/>
                    </a:lnTo>
                    <a:lnTo>
                      <a:pt x="220" y="132"/>
                    </a:lnTo>
                    <a:lnTo>
                      <a:pt x="203" y="106"/>
                    </a:lnTo>
                    <a:lnTo>
                      <a:pt x="186" y="84"/>
                    </a:lnTo>
                    <a:lnTo>
                      <a:pt x="166" y="61"/>
                    </a:lnTo>
                    <a:lnTo>
                      <a:pt x="147" y="43"/>
                    </a:lnTo>
                    <a:lnTo>
                      <a:pt x="124" y="26"/>
                    </a:lnTo>
                    <a:lnTo>
                      <a:pt x="102" y="11"/>
                    </a:lnTo>
                    <a:lnTo>
                      <a:pt x="79" y="0"/>
                    </a:lnTo>
                  </a:path>
                </a:pathLst>
              </a:custGeom>
              <a:noFill/>
              <a:ln w="7">
                <a:solidFill>
                  <a:srgbClr val="3333CC"/>
                </a:solidFill>
                <a:round/>
                <a:headEnd/>
                <a:tailEnd/>
              </a:ln>
            </p:spPr>
            <p:txBody>
              <a:bodyPr/>
              <a:lstStyle/>
              <a:p>
                <a:endParaRPr lang="zh-CN" altLang="en-US"/>
              </a:p>
            </p:txBody>
          </p:sp>
        </p:grpSp>
        <p:sp>
          <p:nvSpPr>
            <p:cNvPr id="90151" name="Rectangle 32"/>
            <p:cNvSpPr>
              <a:spLocks noChangeArrowheads="1"/>
            </p:cNvSpPr>
            <p:nvPr/>
          </p:nvSpPr>
          <p:spPr bwMode="auto">
            <a:xfrm>
              <a:off x="1894" y="1813"/>
              <a:ext cx="15" cy="895"/>
            </a:xfrm>
            <a:prstGeom prst="rect">
              <a:avLst/>
            </a:prstGeom>
            <a:solidFill>
              <a:srgbClr val="3333CC"/>
            </a:solidFill>
            <a:ln w="9525">
              <a:noFill/>
              <a:miter lim="800000"/>
              <a:headEnd/>
              <a:tailEnd/>
            </a:ln>
          </p:spPr>
          <p:txBody>
            <a:bodyPr/>
            <a:lstStyle/>
            <a:p>
              <a:endParaRPr kumimoji="0" lang="zh-CN" altLang="zh-CN" sz="1800"/>
            </a:p>
          </p:txBody>
        </p:sp>
        <p:grpSp>
          <p:nvGrpSpPr>
            <p:cNvPr id="90152" name="Group 36"/>
            <p:cNvGrpSpPr>
              <a:grpSpLocks/>
            </p:cNvGrpSpPr>
            <p:nvPr/>
          </p:nvGrpSpPr>
          <p:grpSpPr bwMode="auto">
            <a:xfrm>
              <a:off x="1960" y="1866"/>
              <a:ext cx="262" cy="946"/>
              <a:chOff x="1960" y="1866"/>
              <a:chExt cx="262" cy="946"/>
            </a:xfrm>
          </p:grpSpPr>
          <p:sp>
            <p:nvSpPr>
              <p:cNvPr id="90175" name="Freeform 33"/>
              <p:cNvSpPr>
                <a:spLocks/>
              </p:cNvSpPr>
              <p:nvPr/>
            </p:nvSpPr>
            <p:spPr bwMode="auto">
              <a:xfrm>
                <a:off x="1960" y="1866"/>
                <a:ext cx="262" cy="239"/>
              </a:xfrm>
              <a:custGeom>
                <a:avLst/>
                <a:gdLst>
                  <a:gd name="T0" fmla="*/ 247 w 262"/>
                  <a:gd name="T1" fmla="*/ 1 h 477"/>
                  <a:gd name="T2" fmla="*/ 262 w 262"/>
                  <a:gd name="T3" fmla="*/ 1 h 477"/>
                  <a:gd name="T4" fmla="*/ 262 w 262"/>
                  <a:gd name="T5" fmla="*/ 1 h 477"/>
                  <a:gd name="T6" fmla="*/ 260 w 262"/>
                  <a:gd name="T7" fmla="*/ 1 h 477"/>
                  <a:gd name="T8" fmla="*/ 257 w 262"/>
                  <a:gd name="T9" fmla="*/ 1 h 477"/>
                  <a:gd name="T10" fmla="*/ 251 w 262"/>
                  <a:gd name="T11" fmla="*/ 1 h 477"/>
                  <a:gd name="T12" fmla="*/ 242 w 262"/>
                  <a:gd name="T13" fmla="*/ 1 h 477"/>
                  <a:gd name="T14" fmla="*/ 241 w 262"/>
                  <a:gd name="T15" fmla="*/ 1 h 477"/>
                  <a:gd name="T16" fmla="*/ 231 w 262"/>
                  <a:gd name="T17" fmla="*/ 1 h 477"/>
                  <a:gd name="T18" fmla="*/ 217 w 262"/>
                  <a:gd name="T19" fmla="*/ 1 h 477"/>
                  <a:gd name="T20" fmla="*/ 204 w 262"/>
                  <a:gd name="T21" fmla="*/ 1 h 477"/>
                  <a:gd name="T22" fmla="*/ 188 w 262"/>
                  <a:gd name="T23" fmla="*/ 1 h 477"/>
                  <a:gd name="T24" fmla="*/ 169 w 262"/>
                  <a:gd name="T25" fmla="*/ 1 h 477"/>
                  <a:gd name="T26" fmla="*/ 151 w 262"/>
                  <a:gd name="T27" fmla="*/ 1 h 477"/>
                  <a:gd name="T28" fmla="*/ 130 w 262"/>
                  <a:gd name="T29" fmla="*/ 1 h 477"/>
                  <a:gd name="T30" fmla="*/ 128 w 262"/>
                  <a:gd name="T31" fmla="*/ 1 h 477"/>
                  <a:gd name="T32" fmla="*/ 105 w 262"/>
                  <a:gd name="T33" fmla="*/ 1 h 477"/>
                  <a:gd name="T34" fmla="*/ 81 w 262"/>
                  <a:gd name="T35" fmla="*/ 1 h 477"/>
                  <a:gd name="T36" fmla="*/ 56 w 262"/>
                  <a:gd name="T37" fmla="*/ 1 h 477"/>
                  <a:gd name="T38" fmla="*/ 30 w 262"/>
                  <a:gd name="T39" fmla="*/ 1 h 477"/>
                  <a:gd name="T40" fmla="*/ 28 w 262"/>
                  <a:gd name="T41" fmla="*/ 1 h 477"/>
                  <a:gd name="T42" fmla="*/ 2 w 262"/>
                  <a:gd name="T43" fmla="*/ 0 h 477"/>
                  <a:gd name="T44" fmla="*/ 0 w 262"/>
                  <a:gd name="T45" fmla="*/ 1 h 477"/>
                  <a:gd name="T46" fmla="*/ 28 w 262"/>
                  <a:gd name="T47" fmla="*/ 1 h 477"/>
                  <a:gd name="T48" fmla="*/ 28 w 262"/>
                  <a:gd name="T49" fmla="*/ 1 h 477"/>
                  <a:gd name="T50" fmla="*/ 24 w 262"/>
                  <a:gd name="T51" fmla="*/ 1 h 477"/>
                  <a:gd name="T52" fmla="*/ 50 w 262"/>
                  <a:gd name="T53" fmla="*/ 1 h 477"/>
                  <a:gd name="T54" fmla="*/ 75 w 262"/>
                  <a:gd name="T55" fmla="*/ 1 h 477"/>
                  <a:gd name="T56" fmla="*/ 99 w 262"/>
                  <a:gd name="T57" fmla="*/ 1 h 477"/>
                  <a:gd name="T58" fmla="*/ 121 w 262"/>
                  <a:gd name="T59" fmla="*/ 1 h 477"/>
                  <a:gd name="T60" fmla="*/ 124 w 262"/>
                  <a:gd name="T61" fmla="*/ 1 h 477"/>
                  <a:gd name="T62" fmla="*/ 119 w 262"/>
                  <a:gd name="T63" fmla="*/ 1 h 477"/>
                  <a:gd name="T64" fmla="*/ 140 w 262"/>
                  <a:gd name="T65" fmla="*/ 1 h 477"/>
                  <a:gd name="T66" fmla="*/ 158 w 262"/>
                  <a:gd name="T67" fmla="*/ 1 h 477"/>
                  <a:gd name="T68" fmla="*/ 177 w 262"/>
                  <a:gd name="T69" fmla="*/ 1 h 477"/>
                  <a:gd name="T70" fmla="*/ 193 w 262"/>
                  <a:gd name="T71" fmla="*/ 1 h 477"/>
                  <a:gd name="T72" fmla="*/ 206 w 262"/>
                  <a:gd name="T73" fmla="*/ 1 h 477"/>
                  <a:gd name="T74" fmla="*/ 220 w 262"/>
                  <a:gd name="T75" fmla="*/ 1 h 477"/>
                  <a:gd name="T76" fmla="*/ 230 w 262"/>
                  <a:gd name="T77" fmla="*/ 1 h 477"/>
                  <a:gd name="T78" fmla="*/ 235 w 262"/>
                  <a:gd name="T79" fmla="*/ 1 h 477"/>
                  <a:gd name="T80" fmla="*/ 227 w 262"/>
                  <a:gd name="T81" fmla="*/ 1 h 477"/>
                  <a:gd name="T82" fmla="*/ 236 w 262"/>
                  <a:gd name="T83" fmla="*/ 1 h 477"/>
                  <a:gd name="T84" fmla="*/ 242 w 262"/>
                  <a:gd name="T85" fmla="*/ 1 h 477"/>
                  <a:gd name="T86" fmla="*/ 246 w 262"/>
                  <a:gd name="T87" fmla="*/ 1 h 477"/>
                  <a:gd name="T88" fmla="*/ 247 w 262"/>
                  <a:gd name="T89" fmla="*/ 1 h 477"/>
                  <a:gd name="T90" fmla="*/ 247 w 262"/>
                  <a:gd name="T91" fmla="*/ 1 h 4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62"/>
                  <a:gd name="T139" fmla="*/ 0 h 477"/>
                  <a:gd name="T140" fmla="*/ 262 w 262"/>
                  <a:gd name="T141" fmla="*/ 477 h 4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62" h="477">
                    <a:moveTo>
                      <a:pt x="247" y="477"/>
                    </a:moveTo>
                    <a:lnTo>
                      <a:pt x="262" y="477"/>
                    </a:lnTo>
                    <a:lnTo>
                      <a:pt x="262" y="455"/>
                    </a:lnTo>
                    <a:lnTo>
                      <a:pt x="260" y="414"/>
                    </a:lnTo>
                    <a:lnTo>
                      <a:pt x="257" y="373"/>
                    </a:lnTo>
                    <a:lnTo>
                      <a:pt x="251" y="334"/>
                    </a:lnTo>
                    <a:lnTo>
                      <a:pt x="242" y="297"/>
                    </a:lnTo>
                    <a:lnTo>
                      <a:pt x="241" y="287"/>
                    </a:lnTo>
                    <a:lnTo>
                      <a:pt x="231" y="252"/>
                    </a:lnTo>
                    <a:lnTo>
                      <a:pt x="217" y="216"/>
                    </a:lnTo>
                    <a:lnTo>
                      <a:pt x="204" y="183"/>
                    </a:lnTo>
                    <a:lnTo>
                      <a:pt x="188" y="153"/>
                    </a:lnTo>
                    <a:lnTo>
                      <a:pt x="169" y="125"/>
                    </a:lnTo>
                    <a:lnTo>
                      <a:pt x="151" y="99"/>
                    </a:lnTo>
                    <a:lnTo>
                      <a:pt x="130" y="75"/>
                    </a:lnTo>
                    <a:lnTo>
                      <a:pt x="128" y="73"/>
                    </a:lnTo>
                    <a:lnTo>
                      <a:pt x="105" y="52"/>
                    </a:lnTo>
                    <a:lnTo>
                      <a:pt x="81" y="36"/>
                    </a:lnTo>
                    <a:lnTo>
                      <a:pt x="56" y="21"/>
                    </a:lnTo>
                    <a:lnTo>
                      <a:pt x="30" y="9"/>
                    </a:lnTo>
                    <a:lnTo>
                      <a:pt x="28" y="8"/>
                    </a:lnTo>
                    <a:lnTo>
                      <a:pt x="2" y="0"/>
                    </a:lnTo>
                    <a:lnTo>
                      <a:pt x="0" y="22"/>
                    </a:lnTo>
                    <a:lnTo>
                      <a:pt x="28" y="30"/>
                    </a:lnTo>
                    <a:lnTo>
                      <a:pt x="28" y="19"/>
                    </a:lnTo>
                    <a:lnTo>
                      <a:pt x="24" y="30"/>
                    </a:lnTo>
                    <a:lnTo>
                      <a:pt x="50" y="41"/>
                    </a:lnTo>
                    <a:lnTo>
                      <a:pt x="75" y="56"/>
                    </a:lnTo>
                    <a:lnTo>
                      <a:pt x="99" y="73"/>
                    </a:lnTo>
                    <a:lnTo>
                      <a:pt x="121" y="93"/>
                    </a:lnTo>
                    <a:lnTo>
                      <a:pt x="124" y="84"/>
                    </a:lnTo>
                    <a:lnTo>
                      <a:pt x="119" y="91"/>
                    </a:lnTo>
                    <a:lnTo>
                      <a:pt x="140" y="116"/>
                    </a:lnTo>
                    <a:lnTo>
                      <a:pt x="158" y="142"/>
                    </a:lnTo>
                    <a:lnTo>
                      <a:pt x="177" y="170"/>
                    </a:lnTo>
                    <a:lnTo>
                      <a:pt x="193" y="200"/>
                    </a:lnTo>
                    <a:lnTo>
                      <a:pt x="206" y="233"/>
                    </a:lnTo>
                    <a:lnTo>
                      <a:pt x="220" y="269"/>
                    </a:lnTo>
                    <a:lnTo>
                      <a:pt x="230" y="304"/>
                    </a:lnTo>
                    <a:lnTo>
                      <a:pt x="235" y="297"/>
                    </a:lnTo>
                    <a:lnTo>
                      <a:pt x="227" y="297"/>
                    </a:lnTo>
                    <a:lnTo>
                      <a:pt x="236" y="334"/>
                    </a:lnTo>
                    <a:lnTo>
                      <a:pt x="242" y="373"/>
                    </a:lnTo>
                    <a:lnTo>
                      <a:pt x="246" y="414"/>
                    </a:lnTo>
                    <a:lnTo>
                      <a:pt x="247" y="455"/>
                    </a:lnTo>
                    <a:lnTo>
                      <a:pt x="247" y="477"/>
                    </a:lnTo>
                    <a:close/>
                  </a:path>
                </a:pathLst>
              </a:custGeom>
              <a:solidFill>
                <a:srgbClr val="3333CC"/>
              </a:solidFill>
              <a:ln w="9525">
                <a:noFill/>
                <a:round/>
                <a:headEnd/>
                <a:tailEnd/>
              </a:ln>
            </p:spPr>
            <p:txBody>
              <a:bodyPr/>
              <a:lstStyle/>
              <a:p>
                <a:endParaRPr lang="zh-CN" altLang="en-US"/>
              </a:p>
            </p:txBody>
          </p:sp>
          <p:sp>
            <p:nvSpPr>
              <p:cNvPr id="90176" name="Rectangle 34"/>
              <p:cNvSpPr>
                <a:spLocks noChangeArrowheads="1"/>
              </p:cNvSpPr>
              <p:nvPr/>
            </p:nvSpPr>
            <p:spPr bwMode="auto">
              <a:xfrm>
                <a:off x="2207" y="2081"/>
                <a:ext cx="15" cy="493"/>
              </a:xfrm>
              <a:prstGeom prst="rect">
                <a:avLst/>
              </a:prstGeom>
              <a:solidFill>
                <a:srgbClr val="3333CC"/>
              </a:solidFill>
              <a:ln w="9525">
                <a:noFill/>
                <a:miter lim="800000"/>
                <a:headEnd/>
                <a:tailEnd/>
              </a:ln>
            </p:spPr>
            <p:txBody>
              <a:bodyPr/>
              <a:lstStyle/>
              <a:p>
                <a:endParaRPr kumimoji="0" lang="zh-CN" altLang="zh-CN" sz="1800"/>
              </a:p>
            </p:txBody>
          </p:sp>
          <p:sp>
            <p:nvSpPr>
              <p:cNvPr id="90177" name="Freeform 35"/>
              <p:cNvSpPr>
                <a:spLocks/>
              </p:cNvSpPr>
              <p:nvPr/>
            </p:nvSpPr>
            <p:spPr bwMode="auto">
              <a:xfrm>
                <a:off x="1960" y="2574"/>
                <a:ext cx="262" cy="238"/>
              </a:xfrm>
              <a:custGeom>
                <a:avLst/>
                <a:gdLst>
                  <a:gd name="T0" fmla="*/ 262 w 262"/>
                  <a:gd name="T1" fmla="*/ 0 h 478"/>
                  <a:gd name="T2" fmla="*/ 247 w 262"/>
                  <a:gd name="T3" fmla="*/ 0 h 478"/>
                  <a:gd name="T4" fmla="*/ 247 w 262"/>
                  <a:gd name="T5" fmla="*/ 0 h 478"/>
                  <a:gd name="T6" fmla="*/ 246 w 262"/>
                  <a:gd name="T7" fmla="*/ 0 h 478"/>
                  <a:gd name="T8" fmla="*/ 242 w 262"/>
                  <a:gd name="T9" fmla="*/ 0 h 478"/>
                  <a:gd name="T10" fmla="*/ 236 w 262"/>
                  <a:gd name="T11" fmla="*/ 0 h 478"/>
                  <a:gd name="T12" fmla="*/ 227 w 262"/>
                  <a:gd name="T13" fmla="*/ 0 h 478"/>
                  <a:gd name="T14" fmla="*/ 235 w 262"/>
                  <a:gd name="T15" fmla="*/ 0 h 478"/>
                  <a:gd name="T16" fmla="*/ 230 w 262"/>
                  <a:gd name="T17" fmla="*/ 0 h 478"/>
                  <a:gd name="T18" fmla="*/ 220 w 262"/>
                  <a:gd name="T19" fmla="*/ 0 h 478"/>
                  <a:gd name="T20" fmla="*/ 206 w 262"/>
                  <a:gd name="T21" fmla="*/ 0 h 478"/>
                  <a:gd name="T22" fmla="*/ 193 w 262"/>
                  <a:gd name="T23" fmla="*/ 0 h 478"/>
                  <a:gd name="T24" fmla="*/ 177 w 262"/>
                  <a:gd name="T25" fmla="*/ 0 h 478"/>
                  <a:gd name="T26" fmla="*/ 158 w 262"/>
                  <a:gd name="T27" fmla="*/ 0 h 478"/>
                  <a:gd name="T28" fmla="*/ 140 w 262"/>
                  <a:gd name="T29" fmla="*/ 0 h 478"/>
                  <a:gd name="T30" fmla="*/ 119 w 262"/>
                  <a:gd name="T31" fmla="*/ 0 h 478"/>
                  <a:gd name="T32" fmla="*/ 124 w 262"/>
                  <a:gd name="T33" fmla="*/ 0 h 478"/>
                  <a:gd name="T34" fmla="*/ 121 w 262"/>
                  <a:gd name="T35" fmla="*/ 0 h 478"/>
                  <a:gd name="T36" fmla="*/ 99 w 262"/>
                  <a:gd name="T37" fmla="*/ 0 h 478"/>
                  <a:gd name="T38" fmla="*/ 75 w 262"/>
                  <a:gd name="T39" fmla="*/ 0 h 478"/>
                  <a:gd name="T40" fmla="*/ 50 w 262"/>
                  <a:gd name="T41" fmla="*/ 0 h 478"/>
                  <a:gd name="T42" fmla="*/ 24 w 262"/>
                  <a:gd name="T43" fmla="*/ 0 h 478"/>
                  <a:gd name="T44" fmla="*/ 28 w 262"/>
                  <a:gd name="T45" fmla="*/ 0 h 478"/>
                  <a:gd name="T46" fmla="*/ 28 w 262"/>
                  <a:gd name="T47" fmla="*/ 0 h 478"/>
                  <a:gd name="T48" fmla="*/ 0 w 262"/>
                  <a:gd name="T49" fmla="*/ 0 h 478"/>
                  <a:gd name="T50" fmla="*/ 2 w 262"/>
                  <a:gd name="T51" fmla="*/ 0 h 478"/>
                  <a:gd name="T52" fmla="*/ 28 w 262"/>
                  <a:gd name="T53" fmla="*/ 0 h 478"/>
                  <a:gd name="T54" fmla="*/ 30 w 262"/>
                  <a:gd name="T55" fmla="*/ 0 h 478"/>
                  <a:gd name="T56" fmla="*/ 56 w 262"/>
                  <a:gd name="T57" fmla="*/ 0 h 478"/>
                  <a:gd name="T58" fmla="*/ 81 w 262"/>
                  <a:gd name="T59" fmla="*/ 0 h 478"/>
                  <a:gd name="T60" fmla="*/ 105 w 262"/>
                  <a:gd name="T61" fmla="*/ 0 h 478"/>
                  <a:gd name="T62" fmla="*/ 128 w 262"/>
                  <a:gd name="T63" fmla="*/ 0 h 478"/>
                  <a:gd name="T64" fmla="*/ 130 w 262"/>
                  <a:gd name="T65" fmla="*/ 0 h 478"/>
                  <a:gd name="T66" fmla="*/ 151 w 262"/>
                  <a:gd name="T67" fmla="*/ 0 h 478"/>
                  <a:gd name="T68" fmla="*/ 169 w 262"/>
                  <a:gd name="T69" fmla="*/ 0 h 478"/>
                  <a:gd name="T70" fmla="*/ 188 w 262"/>
                  <a:gd name="T71" fmla="*/ 0 h 478"/>
                  <a:gd name="T72" fmla="*/ 204 w 262"/>
                  <a:gd name="T73" fmla="*/ 0 h 478"/>
                  <a:gd name="T74" fmla="*/ 217 w 262"/>
                  <a:gd name="T75" fmla="*/ 0 h 478"/>
                  <a:gd name="T76" fmla="*/ 231 w 262"/>
                  <a:gd name="T77" fmla="*/ 0 h 478"/>
                  <a:gd name="T78" fmla="*/ 241 w 262"/>
                  <a:gd name="T79" fmla="*/ 0 h 478"/>
                  <a:gd name="T80" fmla="*/ 242 w 262"/>
                  <a:gd name="T81" fmla="*/ 0 h 478"/>
                  <a:gd name="T82" fmla="*/ 242 w 262"/>
                  <a:gd name="T83" fmla="*/ 0 h 478"/>
                  <a:gd name="T84" fmla="*/ 251 w 262"/>
                  <a:gd name="T85" fmla="*/ 0 h 478"/>
                  <a:gd name="T86" fmla="*/ 257 w 262"/>
                  <a:gd name="T87" fmla="*/ 0 h 478"/>
                  <a:gd name="T88" fmla="*/ 260 w 262"/>
                  <a:gd name="T89" fmla="*/ 0 h 478"/>
                  <a:gd name="T90" fmla="*/ 262 w 262"/>
                  <a:gd name="T91" fmla="*/ 0 h 478"/>
                  <a:gd name="T92" fmla="*/ 262 w 262"/>
                  <a:gd name="T93" fmla="*/ 0 h 47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62"/>
                  <a:gd name="T142" fmla="*/ 0 h 478"/>
                  <a:gd name="T143" fmla="*/ 262 w 262"/>
                  <a:gd name="T144" fmla="*/ 478 h 478"/>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62" h="478">
                    <a:moveTo>
                      <a:pt x="262" y="0"/>
                    </a:moveTo>
                    <a:lnTo>
                      <a:pt x="247" y="0"/>
                    </a:lnTo>
                    <a:lnTo>
                      <a:pt x="247" y="23"/>
                    </a:lnTo>
                    <a:lnTo>
                      <a:pt x="246" y="64"/>
                    </a:lnTo>
                    <a:lnTo>
                      <a:pt x="242" y="105"/>
                    </a:lnTo>
                    <a:lnTo>
                      <a:pt x="236" y="144"/>
                    </a:lnTo>
                    <a:lnTo>
                      <a:pt x="227" y="181"/>
                    </a:lnTo>
                    <a:lnTo>
                      <a:pt x="235" y="181"/>
                    </a:lnTo>
                    <a:lnTo>
                      <a:pt x="230" y="174"/>
                    </a:lnTo>
                    <a:lnTo>
                      <a:pt x="220" y="209"/>
                    </a:lnTo>
                    <a:lnTo>
                      <a:pt x="206" y="245"/>
                    </a:lnTo>
                    <a:lnTo>
                      <a:pt x="193" y="278"/>
                    </a:lnTo>
                    <a:lnTo>
                      <a:pt x="177" y="308"/>
                    </a:lnTo>
                    <a:lnTo>
                      <a:pt x="158" y="336"/>
                    </a:lnTo>
                    <a:lnTo>
                      <a:pt x="140" y="362"/>
                    </a:lnTo>
                    <a:lnTo>
                      <a:pt x="119" y="386"/>
                    </a:lnTo>
                    <a:lnTo>
                      <a:pt x="124" y="394"/>
                    </a:lnTo>
                    <a:lnTo>
                      <a:pt x="121" y="384"/>
                    </a:lnTo>
                    <a:lnTo>
                      <a:pt x="99" y="405"/>
                    </a:lnTo>
                    <a:lnTo>
                      <a:pt x="75" y="424"/>
                    </a:lnTo>
                    <a:lnTo>
                      <a:pt x="50" y="437"/>
                    </a:lnTo>
                    <a:lnTo>
                      <a:pt x="24" y="448"/>
                    </a:lnTo>
                    <a:lnTo>
                      <a:pt x="28" y="459"/>
                    </a:lnTo>
                    <a:lnTo>
                      <a:pt x="28" y="448"/>
                    </a:lnTo>
                    <a:lnTo>
                      <a:pt x="0" y="455"/>
                    </a:lnTo>
                    <a:lnTo>
                      <a:pt x="2" y="478"/>
                    </a:lnTo>
                    <a:lnTo>
                      <a:pt x="28" y="470"/>
                    </a:lnTo>
                    <a:lnTo>
                      <a:pt x="30" y="468"/>
                    </a:lnTo>
                    <a:lnTo>
                      <a:pt x="56" y="457"/>
                    </a:lnTo>
                    <a:lnTo>
                      <a:pt x="81" y="444"/>
                    </a:lnTo>
                    <a:lnTo>
                      <a:pt x="105" y="425"/>
                    </a:lnTo>
                    <a:lnTo>
                      <a:pt x="128" y="405"/>
                    </a:lnTo>
                    <a:lnTo>
                      <a:pt x="130" y="403"/>
                    </a:lnTo>
                    <a:lnTo>
                      <a:pt x="151" y="379"/>
                    </a:lnTo>
                    <a:lnTo>
                      <a:pt x="169" y="353"/>
                    </a:lnTo>
                    <a:lnTo>
                      <a:pt x="188" y="325"/>
                    </a:lnTo>
                    <a:lnTo>
                      <a:pt x="204" y="295"/>
                    </a:lnTo>
                    <a:lnTo>
                      <a:pt x="217" y="261"/>
                    </a:lnTo>
                    <a:lnTo>
                      <a:pt x="231" y="226"/>
                    </a:lnTo>
                    <a:lnTo>
                      <a:pt x="241" y="191"/>
                    </a:lnTo>
                    <a:lnTo>
                      <a:pt x="242" y="181"/>
                    </a:lnTo>
                    <a:lnTo>
                      <a:pt x="251" y="144"/>
                    </a:lnTo>
                    <a:lnTo>
                      <a:pt x="257" y="105"/>
                    </a:lnTo>
                    <a:lnTo>
                      <a:pt x="260" y="64"/>
                    </a:lnTo>
                    <a:lnTo>
                      <a:pt x="262" y="23"/>
                    </a:lnTo>
                    <a:lnTo>
                      <a:pt x="262" y="0"/>
                    </a:lnTo>
                    <a:close/>
                  </a:path>
                </a:pathLst>
              </a:custGeom>
              <a:solidFill>
                <a:srgbClr val="3333CC"/>
              </a:solidFill>
              <a:ln w="9525">
                <a:noFill/>
                <a:round/>
                <a:headEnd/>
                <a:tailEnd/>
              </a:ln>
            </p:spPr>
            <p:txBody>
              <a:bodyPr/>
              <a:lstStyle/>
              <a:p>
                <a:endParaRPr lang="zh-CN" altLang="en-US"/>
              </a:p>
            </p:txBody>
          </p:sp>
        </p:grpSp>
        <p:grpSp>
          <p:nvGrpSpPr>
            <p:cNvPr id="90153" name="Group 40"/>
            <p:cNvGrpSpPr>
              <a:grpSpLocks/>
            </p:cNvGrpSpPr>
            <p:nvPr/>
          </p:nvGrpSpPr>
          <p:grpSpPr bwMode="auto">
            <a:xfrm>
              <a:off x="1958" y="1673"/>
              <a:ext cx="437" cy="1309"/>
              <a:chOff x="1958" y="1673"/>
              <a:chExt cx="437" cy="1309"/>
            </a:xfrm>
          </p:grpSpPr>
          <p:sp>
            <p:nvSpPr>
              <p:cNvPr id="90172" name="Freeform 37"/>
              <p:cNvSpPr>
                <a:spLocks/>
              </p:cNvSpPr>
              <p:nvPr/>
            </p:nvSpPr>
            <p:spPr bwMode="auto">
              <a:xfrm>
                <a:off x="1958" y="1673"/>
                <a:ext cx="437" cy="330"/>
              </a:xfrm>
              <a:custGeom>
                <a:avLst/>
                <a:gdLst>
                  <a:gd name="T0" fmla="*/ 422 w 437"/>
                  <a:gd name="T1" fmla="*/ 1 h 660"/>
                  <a:gd name="T2" fmla="*/ 436 w 437"/>
                  <a:gd name="T3" fmla="*/ 1 h 660"/>
                  <a:gd name="T4" fmla="*/ 437 w 437"/>
                  <a:gd name="T5" fmla="*/ 1 h 660"/>
                  <a:gd name="T6" fmla="*/ 437 w 437"/>
                  <a:gd name="T7" fmla="*/ 1 h 660"/>
                  <a:gd name="T8" fmla="*/ 435 w 437"/>
                  <a:gd name="T9" fmla="*/ 1 h 660"/>
                  <a:gd name="T10" fmla="*/ 428 w 437"/>
                  <a:gd name="T11" fmla="*/ 1 h 660"/>
                  <a:gd name="T12" fmla="*/ 419 w 437"/>
                  <a:gd name="T13" fmla="*/ 1 h 660"/>
                  <a:gd name="T14" fmla="*/ 405 w 437"/>
                  <a:gd name="T15" fmla="*/ 1 h 660"/>
                  <a:gd name="T16" fmla="*/ 403 w 437"/>
                  <a:gd name="T17" fmla="*/ 1 h 660"/>
                  <a:gd name="T18" fmla="*/ 385 w 437"/>
                  <a:gd name="T19" fmla="*/ 1 h 660"/>
                  <a:gd name="T20" fmla="*/ 364 w 437"/>
                  <a:gd name="T21" fmla="*/ 1 h 660"/>
                  <a:gd name="T22" fmla="*/ 340 w 437"/>
                  <a:gd name="T23" fmla="*/ 1 h 660"/>
                  <a:gd name="T24" fmla="*/ 313 w 437"/>
                  <a:gd name="T25" fmla="*/ 1 h 660"/>
                  <a:gd name="T26" fmla="*/ 283 w 437"/>
                  <a:gd name="T27" fmla="*/ 1 h 660"/>
                  <a:gd name="T28" fmla="*/ 250 w 437"/>
                  <a:gd name="T29" fmla="*/ 1 h 660"/>
                  <a:gd name="T30" fmla="*/ 248 w 437"/>
                  <a:gd name="T31" fmla="*/ 1 h 660"/>
                  <a:gd name="T32" fmla="*/ 212 w 437"/>
                  <a:gd name="T33" fmla="*/ 1 h 660"/>
                  <a:gd name="T34" fmla="*/ 174 w 437"/>
                  <a:gd name="T35" fmla="*/ 1 h 660"/>
                  <a:gd name="T36" fmla="*/ 134 w 437"/>
                  <a:gd name="T37" fmla="*/ 1 h 660"/>
                  <a:gd name="T38" fmla="*/ 93 w 437"/>
                  <a:gd name="T39" fmla="*/ 1 h 660"/>
                  <a:gd name="T40" fmla="*/ 48 w 437"/>
                  <a:gd name="T41" fmla="*/ 1 h 660"/>
                  <a:gd name="T42" fmla="*/ 46 w 437"/>
                  <a:gd name="T43" fmla="*/ 1 h 660"/>
                  <a:gd name="T44" fmla="*/ 2 w 437"/>
                  <a:gd name="T45" fmla="*/ 0 h 660"/>
                  <a:gd name="T46" fmla="*/ 0 w 437"/>
                  <a:gd name="T47" fmla="*/ 1 h 660"/>
                  <a:gd name="T48" fmla="*/ 46 w 437"/>
                  <a:gd name="T49" fmla="*/ 1 h 660"/>
                  <a:gd name="T50" fmla="*/ 46 w 437"/>
                  <a:gd name="T51" fmla="*/ 1 h 660"/>
                  <a:gd name="T52" fmla="*/ 42 w 437"/>
                  <a:gd name="T53" fmla="*/ 1 h 660"/>
                  <a:gd name="T54" fmla="*/ 86 w 437"/>
                  <a:gd name="T55" fmla="*/ 1 h 660"/>
                  <a:gd name="T56" fmla="*/ 128 w 437"/>
                  <a:gd name="T57" fmla="*/ 1 h 660"/>
                  <a:gd name="T58" fmla="*/ 168 w 437"/>
                  <a:gd name="T59" fmla="*/ 1 h 660"/>
                  <a:gd name="T60" fmla="*/ 206 w 437"/>
                  <a:gd name="T61" fmla="*/ 1 h 660"/>
                  <a:gd name="T62" fmla="*/ 241 w 437"/>
                  <a:gd name="T63" fmla="*/ 1 h 660"/>
                  <a:gd name="T64" fmla="*/ 244 w 437"/>
                  <a:gd name="T65" fmla="*/ 1 h 660"/>
                  <a:gd name="T66" fmla="*/ 239 w 437"/>
                  <a:gd name="T67" fmla="*/ 1 h 660"/>
                  <a:gd name="T68" fmla="*/ 272 w 437"/>
                  <a:gd name="T69" fmla="*/ 1 h 660"/>
                  <a:gd name="T70" fmla="*/ 302 w 437"/>
                  <a:gd name="T71" fmla="*/ 1 h 660"/>
                  <a:gd name="T72" fmla="*/ 329 w 437"/>
                  <a:gd name="T73" fmla="*/ 1 h 660"/>
                  <a:gd name="T74" fmla="*/ 353 w 437"/>
                  <a:gd name="T75" fmla="*/ 1 h 660"/>
                  <a:gd name="T76" fmla="*/ 374 w 437"/>
                  <a:gd name="T77" fmla="*/ 1 h 660"/>
                  <a:gd name="T78" fmla="*/ 392 w 437"/>
                  <a:gd name="T79" fmla="*/ 1 h 660"/>
                  <a:gd name="T80" fmla="*/ 398 w 437"/>
                  <a:gd name="T81" fmla="*/ 1 h 660"/>
                  <a:gd name="T82" fmla="*/ 390 w 437"/>
                  <a:gd name="T83" fmla="*/ 1 h 660"/>
                  <a:gd name="T84" fmla="*/ 404 w 437"/>
                  <a:gd name="T85" fmla="*/ 1 h 660"/>
                  <a:gd name="T86" fmla="*/ 414 w 437"/>
                  <a:gd name="T87" fmla="*/ 1 h 660"/>
                  <a:gd name="T88" fmla="*/ 420 w 437"/>
                  <a:gd name="T89" fmla="*/ 1 h 660"/>
                  <a:gd name="T90" fmla="*/ 422 w 437"/>
                  <a:gd name="T91" fmla="*/ 1 h 660"/>
                  <a:gd name="T92" fmla="*/ 422 w 437"/>
                  <a:gd name="T93" fmla="*/ 1 h 660"/>
                  <a:gd name="T94" fmla="*/ 422 w 437"/>
                  <a:gd name="T95" fmla="*/ 1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37"/>
                  <a:gd name="T145" fmla="*/ 0 h 660"/>
                  <a:gd name="T146" fmla="*/ 437 w 437"/>
                  <a:gd name="T147" fmla="*/ 660 h 66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37" h="660">
                    <a:moveTo>
                      <a:pt x="422" y="656"/>
                    </a:moveTo>
                    <a:lnTo>
                      <a:pt x="436" y="660"/>
                    </a:lnTo>
                    <a:lnTo>
                      <a:pt x="437" y="643"/>
                    </a:lnTo>
                    <a:lnTo>
                      <a:pt x="437" y="627"/>
                    </a:lnTo>
                    <a:lnTo>
                      <a:pt x="435" y="569"/>
                    </a:lnTo>
                    <a:lnTo>
                      <a:pt x="428" y="513"/>
                    </a:lnTo>
                    <a:lnTo>
                      <a:pt x="419" y="459"/>
                    </a:lnTo>
                    <a:lnTo>
                      <a:pt x="405" y="407"/>
                    </a:lnTo>
                    <a:lnTo>
                      <a:pt x="403" y="397"/>
                    </a:lnTo>
                    <a:lnTo>
                      <a:pt x="385" y="347"/>
                    </a:lnTo>
                    <a:lnTo>
                      <a:pt x="364" y="298"/>
                    </a:lnTo>
                    <a:lnTo>
                      <a:pt x="340" y="254"/>
                    </a:lnTo>
                    <a:lnTo>
                      <a:pt x="313" y="211"/>
                    </a:lnTo>
                    <a:lnTo>
                      <a:pt x="283" y="172"/>
                    </a:lnTo>
                    <a:lnTo>
                      <a:pt x="250" y="134"/>
                    </a:lnTo>
                    <a:lnTo>
                      <a:pt x="248" y="132"/>
                    </a:lnTo>
                    <a:lnTo>
                      <a:pt x="212" y="101"/>
                    </a:lnTo>
                    <a:lnTo>
                      <a:pt x="174" y="71"/>
                    </a:lnTo>
                    <a:lnTo>
                      <a:pt x="134" y="47"/>
                    </a:lnTo>
                    <a:lnTo>
                      <a:pt x="93" y="28"/>
                    </a:lnTo>
                    <a:lnTo>
                      <a:pt x="48" y="11"/>
                    </a:lnTo>
                    <a:lnTo>
                      <a:pt x="46" y="11"/>
                    </a:lnTo>
                    <a:lnTo>
                      <a:pt x="2" y="0"/>
                    </a:lnTo>
                    <a:lnTo>
                      <a:pt x="0" y="22"/>
                    </a:lnTo>
                    <a:lnTo>
                      <a:pt x="46" y="34"/>
                    </a:lnTo>
                    <a:lnTo>
                      <a:pt x="46" y="22"/>
                    </a:lnTo>
                    <a:lnTo>
                      <a:pt x="42" y="32"/>
                    </a:lnTo>
                    <a:lnTo>
                      <a:pt x="86" y="49"/>
                    </a:lnTo>
                    <a:lnTo>
                      <a:pt x="128" y="67"/>
                    </a:lnTo>
                    <a:lnTo>
                      <a:pt x="168" y="91"/>
                    </a:lnTo>
                    <a:lnTo>
                      <a:pt x="206" y="121"/>
                    </a:lnTo>
                    <a:lnTo>
                      <a:pt x="241" y="153"/>
                    </a:lnTo>
                    <a:lnTo>
                      <a:pt x="244" y="144"/>
                    </a:lnTo>
                    <a:lnTo>
                      <a:pt x="239" y="151"/>
                    </a:lnTo>
                    <a:lnTo>
                      <a:pt x="272" y="188"/>
                    </a:lnTo>
                    <a:lnTo>
                      <a:pt x="302" y="228"/>
                    </a:lnTo>
                    <a:lnTo>
                      <a:pt x="329" y="270"/>
                    </a:lnTo>
                    <a:lnTo>
                      <a:pt x="353" y="315"/>
                    </a:lnTo>
                    <a:lnTo>
                      <a:pt x="374" y="364"/>
                    </a:lnTo>
                    <a:lnTo>
                      <a:pt x="392" y="414"/>
                    </a:lnTo>
                    <a:lnTo>
                      <a:pt x="398" y="407"/>
                    </a:lnTo>
                    <a:lnTo>
                      <a:pt x="390" y="407"/>
                    </a:lnTo>
                    <a:lnTo>
                      <a:pt x="404" y="459"/>
                    </a:lnTo>
                    <a:lnTo>
                      <a:pt x="414" y="513"/>
                    </a:lnTo>
                    <a:lnTo>
                      <a:pt x="420" y="569"/>
                    </a:lnTo>
                    <a:lnTo>
                      <a:pt x="422" y="627"/>
                    </a:lnTo>
                    <a:lnTo>
                      <a:pt x="422" y="643"/>
                    </a:lnTo>
                    <a:lnTo>
                      <a:pt x="422" y="656"/>
                    </a:lnTo>
                    <a:close/>
                  </a:path>
                </a:pathLst>
              </a:custGeom>
              <a:solidFill>
                <a:srgbClr val="FF00FF"/>
              </a:solidFill>
              <a:ln w="9525">
                <a:noFill/>
                <a:round/>
                <a:headEnd/>
                <a:tailEnd/>
              </a:ln>
            </p:spPr>
            <p:txBody>
              <a:bodyPr/>
              <a:lstStyle/>
              <a:p>
                <a:endParaRPr lang="zh-CN" altLang="en-US"/>
              </a:p>
            </p:txBody>
          </p:sp>
          <p:sp>
            <p:nvSpPr>
              <p:cNvPr id="90173" name="Rectangle 38"/>
              <p:cNvSpPr>
                <a:spLocks noChangeArrowheads="1"/>
              </p:cNvSpPr>
              <p:nvPr/>
            </p:nvSpPr>
            <p:spPr bwMode="auto">
              <a:xfrm>
                <a:off x="2380" y="1970"/>
                <a:ext cx="15" cy="683"/>
              </a:xfrm>
              <a:prstGeom prst="rect">
                <a:avLst/>
              </a:prstGeom>
              <a:solidFill>
                <a:srgbClr val="FF00FF"/>
              </a:solidFill>
              <a:ln w="9525">
                <a:noFill/>
                <a:miter lim="800000"/>
                <a:headEnd/>
                <a:tailEnd/>
              </a:ln>
            </p:spPr>
            <p:txBody>
              <a:bodyPr/>
              <a:lstStyle/>
              <a:p>
                <a:endParaRPr kumimoji="0" lang="zh-CN" altLang="zh-CN" sz="1800"/>
              </a:p>
            </p:txBody>
          </p:sp>
          <p:sp>
            <p:nvSpPr>
              <p:cNvPr id="90174" name="Freeform 39"/>
              <p:cNvSpPr>
                <a:spLocks/>
              </p:cNvSpPr>
              <p:nvPr/>
            </p:nvSpPr>
            <p:spPr bwMode="auto">
              <a:xfrm>
                <a:off x="1958" y="2652"/>
                <a:ext cx="437" cy="330"/>
              </a:xfrm>
              <a:custGeom>
                <a:avLst/>
                <a:gdLst>
                  <a:gd name="T0" fmla="*/ 436 w 437"/>
                  <a:gd name="T1" fmla="*/ 0 h 660"/>
                  <a:gd name="T2" fmla="*/ 422 w 437"/>
                  <a:gd name="T3" fmla="*/ 1 h 660"/>
                  <a:gd name="T4" fmla="*/ 422 w 437"/>
                  <a:gd name="T5" fmla="*/ 1 h 660"/>
                  <a:gd name="T6" fmla="*/ 422 w 437"/>
                  <a:gd name="T7" fmla="*/ 1 h 660"/>
                  <a:gd name="T8" fmla="*/ 420 w 437"/>
                  <a:gd name="T9" fmla="*/ 1 h 660"/>
                  <a:gd name="T10" fmla="*/ 414 w 437"/>
                  <a:gd name="T11" fmla="*/ 1 h 660"/>
                  <a:gd name="T12" fmla="*/ 404 w 437"/>
                  <a:gd name="T13" fmla="*/ 1 h 660"/>
                  <a:gd name="T14" fmla="*/ 390 w 437"/>
                  <a:gd name="T15" fmla="*/ 1 h 660"/>
                  <a:gd name="T16" fmla="*/ 398 w 437"/>
                  <a:gd name="T17" fmla="*/ 1 h 660"/>
                  <a:gd name="T18" fmla="*/ 392 w 437"/>
                  <a:gd name="T19" fmla="*/ 1 h 660"/>
                  <a:gd name="T20" fmla="*/ 374 w 437"/>
                  <a:gd name="T21" fmla="*/ 1 h 660"/>
                  <a:gd name="T22" fmla="*/ 353 w 437"/>
                  <a:gd name="T23" fmla="*/ 1 h 660"/>
                  <a:gd name="T24" fmla="*/ 329 w 437"/>
                  <a:gd name="T25" fmla="*/ 1 h 660"/>
                  <a:gd name="T26" fmla="*/ 302 w 437"/>
                  <a:gd name="T27" fmla="*/ 1 h 660"/>
                  <a:gd name="T28" fmla="*/ 272 w 437"/>
                  <a:gd name="T29" fmla="*/ 1 h 660"/>
                  <a:gd name="T30" fmla="*/ 239 w 437"/>
                  <a:gd name="T31" fmla="*/ 1 h 660"/>
                  <a:gd name="T32" fmla="*/ 244 w 437"/>
                  <a:gd name="T33" fmla="*/ 1 h 660"/>
                  <a:gd name="T34" fmla="*/ 241 w 437"/>
                  <a:gd name="T35" fmla="*/ 1 h 660"/>
                  <a:gd name="T36" fmla="*/ 206 w 437"/>
                  <a:gd name="T37" fmla="*/ 1 h 660"/>
                  <a:gd name="T38" fmla="*/ 168 w 437"/>
                  <a:gd name="T39" fmla="*/ 1 h 660"/>
                  <a:gd name="T40" fmla="*/ 128 w 437"/>
                  <a:gd name="T41" fmla="*/ 1 h 660"/>
                  <a:gd name="T42" fmla="*/ 86 w 437"/>
                  <a:gd name="T43" fmla="*/ 1 h 660"/>
                  <a:gd name="T44" fmla="*/ 42 w 437"/>
                  <a:gd name="T45" fmla="*/ 1 h 660"/>
                  <a:gd name="T46" fmla="*/ 46 w 437"/>
                  <a:gd name="T47" fmla="*/ 1 h 660"/>
                  <a:gd name="T48" fmla="*/ 46 w 437"/>
                  <a:gd name="T49" fmla="*/ 1 h 660"/>
                  <a:gd name="T50" fmla="*/ 0 w 437"/>
                  <a:gd name="T51" fmla="*/ 1 h 660"/>
                  <a:gd name="T52" fmla="*/ 2 w 437"/>
                  <a:gd name="T53" fmla="*/ 1 h 660"/>
                  <a:gd name="T54" fmla="*/ 46 w 437"/>
                  <a:gd name="T55" fmla="*/ 1 h 660"/>
                  <a:gd name="T56" fmla="*/ 48 w 437"/>
                  <a:gd name="T57" fmla="*/ 1 h 660"/>
                  <a:gd name="T58" fmla="*/ 93 w 437"/>
                  <a:gd name="T59" fmla="*/ 1 h 660"/>
                  <a:gd name="T60" fmla="*/ 134 w 437"/>
                  <a:gd name="T61" fmla="*/ 1 h 660"/>
                  <a:gd name="T62" fmla="*/ 174 w 437"/>
                  <a:gd name="T63" fmla="*/ 1 h 660"/>
                  <a:gd name="T64" fmla="*/ 212 w 437"/>
                  <a:gd name="T65" fmla="*/ 1 h 660"/>
                  <a:gd name="T66" fmla="*/ 248 w 437"/>
                  <a:gd name="T67" fmla="*/ 1 h 660"/>
                  <a:gd name="T68" fmla="*/ 250 w 437"/>
                  <a:gd name="T69" fmla="*/ 1 h 660"/>
                  <a:gd name="T70" fmla="*/ 283 w 437"/>
                  <a:gd name="T71" fmla="*/ 1 h 660"/>
                  <a:gd name="T72" fmla="*/ 313 w 437"/>
                  <a:gd name="T73" fmla="*/ 1 h 660"/>
                  <a:gd name="T74" fmla="*/ 340 w 437"/>
                  <a:gd name="T75" fmla="*/ 1 h 660"/>
                  <a:gd name="T76" fmla="*/ 364 w 437"/>
                  <a:gd name="T77" fmla="*/ 1 h 660"/>
                  <a:gd name="T78" fmla="*/ 385 w 437"/>
                  <a:gd name="T79" fmla="*/ 1 h 660"/>
                  <a:gd name="T80" fmla="*/ 403 w 437"/>
                  <a:gd name="T81" fmla="*/ 1 h 660"/>
                  <a:gd name="T82" fmla="*/ 405 w 437"/>
                  <a:gd name="T83" fmla="*/ 1 h 660"/>
                  <a:gd name="T84" fmla="*/ 405 w 437"/>
                  <a:gd name="T85" fmla="*/ 1 h 660"/>
                  <a:gd name="T86" fmla="*/ 419 w 437"/>
                  <a:gd name="T87" fmla="*/ 1 h 660"/>
                  <a:gd name="T88" fmla="*/ 428 w 437"/>
                  <a:gd name="T89" fmla="*/ 1 h 660"/>
                  <a:gd name="T90" fmla="*/ 435 w 437"/>
                  <a:gd name="T91" fmla="*/ 1 h 660"/>
                  <a:gd name="T92" fmla="*/ 437 w 437"/>
                  <a:gd name="T93" fmla="*/ 1 h 660"/>
                  <a:gd name="T94" fmla="*/ 437 w 437"/>
                  <a:gd name="T95" fmla="*/ 1 h 660"/>
                  <a:gd name="T96" fmla="*/ 436 w 437"/>
                  <a:gd name="T97" fmla="*/ 0 h 66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37"/>
                  <a:gd name="T148" fmla="*/ 0 h 660"/>
                  <a:gd name="T149" fmla="*/ 437 w 437"/>
                  <a:gd name="T150" fmla="*/ 660 h 66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37" h="660">
                    <a:moveTo>
                      <a:pt x="436" y="0"/>
                    </a:moveTo>
                    <a:lnTo>
                      <a:pt x="422" y="4"/>
                    </a:lnTo>
                    <a:lnTo>
                      <a:pt x="422" y="19"/>
                    </a:lnTo>
                    <a:lnTo>
                      <a:pt x="422" y="34"/>
                    </a:lnTo>
                    <a:lnTo>
                      <a:pt x="420" y="91"/>
                    </a:lnTo>
                    <a:lnTo>
                      <a:pt x="414" y="147"/>
                    </a:lnTo>
                    <a:lnTo>
                      <a:pt x="404" y="201"/>
                    </a:lnTo>
                    <a:lnTo>
                      <a:pt x="390" y="254"/>
                    </a:lnTo>
                    <a:lnTo>
                      <a:pt x="398" y="254"/>
                    </a:lnTo>
                    <a:lnTo>
                      <a:pt x="392" y="246"/>
                    </a:lnTo>
                    <a:lnTo>
                      <a:pt x="374" y="296"/>
                    </a:lnTo>
                    <a:lnTo>
                      <a:pt x="353" y="345"/>
                    </a:lnTo>
                    <a:lnTo>
                      <a:pt x="329" y="390"/>
                    </a:lnTo>
                    <a:lnTo>
                      <a:pt x="302" y="433"/>
                    </a:lnTo>
                    <a:lnTo>
                      <a:pt x="272" y="472"/>
                    </a:lnTo>
                    <a:lnTo>
                      <a:pt x="239" y="509"/>
                    </a:lnTo>
                    <a:lnTo>
                      <a:pt x="244" y="516"/>
                    </a:lnTo>
                    <a:lnTo>
                      <a:pt x="241" y="507"/>
                    </a:lnTo>
                    <a:lnTo>
                      <a:pt x="206" y="539"/>
                    </a:lnTo>
                    <a:lnTo>
                      <a:pt x="168" y="569"/>
                    </a:lnTo>
                    <a:lnTo>
                      <a:pt x="128" y="593"/>
                    </a:lnTo>
                    <a:lnTo>
                      <a:pt x="86" y="613"/>
                    </a:lnTo>
                    <a:lnTo>
                      <a:pt x="42" y="628"/>
                    </a:lnTo>
                    <a:lnTo>
                      <a:pt x="46" y="638"/>
                    </a:lnTo>
                    <a:lnTo>
                      <a:pt x="46" y="626"/>
                    </a:lnTo>
                    <a:lnTo>
                      <a:pt x="0" y="638"/>
                    </a:lnTo>
                    <a:lnTo>
                      <a:pt x="2" y="660"/>
                    </a:lnTo>
                    <a:lnTo>
                      <a:pt x="46" y="649"/>
                    </a:lnTo>
                    <a:lnTo>
                      <a:pt x="48" y="649"/>
                    </a:lnTo>
                    <a:lnTo>
                      <a:pt x="93" y="634"/>
                    </a:lnTo>
                    <a:lnTo>
                      <a:pt x="134" y="613"/>
                    </a:lnTo>
                    <a:lnTo>
                      <a:pt x="174" y="589"/>
                    </a:lnTo>
                    <a:lnTo>
                      <a:pt x="212" y="559"/>
                    </a:lnTo>
                    <a:lnTo>
                      <a:pt x="248" y="528"/>
                    </a:lnTo>
                    <a:lnTo>
                      <a:pt x="250" y="526"/>
                    </a:lnTo>
                    <a:lnTo>
                      <a:pt x="283" y="488"/>
                    </a:lnTo>
                    <a:lnTo>
                      <a:pt x="313" y="449"/>
                    </a:lnTo>
                    <a:lnTo>
                      <a:pt x="340" y="406"/>
                    </a:lnTo>
                    <a:lnTo>
                      <a:pt x="364" y="362"/>
                    </a:lnTo>
                    <a:lnTo>
                      <a:pt x="385" y="313"/>
                    </a:lnTo>
                    <a:lnTo>
                      <a:pt x="403" y="263"/>
                    </a:lnTo>
                    <a:lnTo>
                      <a:pt x="405" y="254"/>
                    </a:lnTo>
                    <a:lnTo>
                      <a:pt x="419" y="201"/>
                    </a:lnTo>
                    <a:lnTo>
                      <a:pt x="428" y="147"/>
                    </a:lnTo>
                    <a:lnTo>
                      <a:pt x="435" y="91"/>
                    </a:lnTo>
                    <a:lnTo>
                      <a:pt x="437" y="34"/>
                    </a:lnTo>
                    <a:lnTo>
                      <a:pt x="437" y="19"/>
                    </a:lnTo>
                    <a:lnTo>
                      <a:pt x="436" y="0"/>
                    </a:lnTo>
                    <a:close/>
                  </a:path>
                </a:pathLst>
              </a:custGeom>
              <a:solidFill>
                <a:srgbClr val="FF00FF"/>
              </a:solidFill>
              <a:ln w="9525">
                <a:noFill/>
                <a:round/>
                <a:headEnd/>
                <a:tailEnd/>
              </a:ln>
            </p:spPr>
            <p:txBody>
              <a:bodyPr/>
              <a:lstStyle/>
              <a:p>
                <a:endParaRPr lang="zh-CN" altLang="en-US"/>
              </a:p>
            </p:txBody>
          </p:sp>
        </p:grpSp>
        <p:grpSp>
          <p:nvGrpSpPr>
            <p:cNvPr id="90154" name="Group 56"/>
            <p:cNvGrpSpPr>
              <a:grpSpLocks/>
            </p:cNvGrpSpPr>
            <p:nvPr/>
          </p:nvGrpSpPr>
          <p:grpSpPr bwMode="auto">
            <a:xfrm>
              <a:off x="1925" y="1544"/>
              <a:ext cx="773" cy="1567"/>
              <a:chOff x="1925" y="1544"/>
              <a:chExt cx="773" cy="1567"/>
            </a:xfrm>
          </p:grpSpPr>
          <p:grpSp>
            <p:nvGrpSpPr>
              <p:cNvPr id="90157" name="Group 43"/>
              <p:cNvGrpSpPr>
                <a:grpSpLocks/>
              </p:cNvGrpSpPr>
              <p:nvPr/>
            </p:nvGrpSpPr>
            <p:grpSpPr bwMode="auto">
              <a:xfrm>
                <a:off x="1930" y="2091"/>
                <a:ext cx="768" cy="72"/>
                <a:chOff x="1930" y="2091"/>
                <a:chExt cx="768" cy="72"/>
              </a:xfrm>
            </p:grpSpPr>
            <p:sp>
              <p:nvSpPr>
                <p:cNvPr id="90170" name="Rectangle 41"/>
                <p:cNvSpPr>
                  <a:spLocks noChangeArrowheads="1"/>
                </p:cNvSpPr>
                <p:nvPr/>
              </p:nvSpPr>
              <p:spPr bwMode="auto">
                <a:xfrm>
                  <a:off x="1930" y="2121"/>
                  <a:ext cx="672" cy="11"/>
                </a:xfrm>
                <a:prstGeom prst="rect">
                  <a:avLst/>
                </a:prstGeom>
                <a:solidFill>
                  <a:srgbClr val="FF3300"/>
                </a:solidFill>
                <a:ln w="9525">
                  <a:noFill/>
                  <a:miter lim="800000"/>
                  <a:headEnd/>
                  <a:tailEnd/>
                </a:ln>
              </p:spPr>
              <p:txBody>
                <a:bodyPr/>
                <a:lstStyle/>
                <a:p>
                  <a:endParaRPr kumimoji="0" lang="zh-CN" altLang="zh-CN" sz="1800"/>
                </a:p>
              </p:txBody>
            </p:sp>
            <p:sp>
              <p:nvSpPr>
                <p:cNvPr id="90171" name="Freeform 42"/>
                <p:cNvSpPr>
                  <a:spLocks/>
                </p:cNvSpPr>
                <p:nvPr/>
              </p:nvSpPr>
              <p:spPr bwMode="auto">
                <a:xfrm>
                  <a:off x="2554" y="2091"/>
                  <a:ext cx="144" cy="72"/>
                </a:xfrm>
                <a:custGeom>
                  <a:avLst/>
                  <a:gdLst>
                    <a:gd name="T0" fmla="*/ 0 w 144"/>
                    <a:gd name="T1" fmla="*/ 1 h 144"/>
                    <a:gd name="T2" fmla="*/ 144 w 144"/>
                    <a:gd name="T3" fmla="*/ 1 h 144"/>
                    <a:gd name="T4" fmla="*/ 0 w 144"/>
                    <a:gd name="T5" fmla="*/ 0 h 144"/>
                    <a:gd name="T6" fmla="*/ 45 w 144"/>
                    <a:gd name="T7" fmla="*/ 1 h 144"/>
                    <a:gd name="T8" fmla="*/ 0 w 144"/>
                    <a:gd name="T9" fmla="*/ 1 h 144"/>
                    <a:gd name="T10" fmla="*/ 0 60000 65536"/>
                    <a:gd name="T11" fmla="*/ 0 60000 65536"/>
                    <a:gd name="T12" fmla="*/ 0 60000 65536"/>
                    <a:gd name="T13" fmla="*/ 0 60000 65536"/>
                    <a:gd name="T14" fmla="*/ 0 60000 65536"/>
                    <a:gd name="T15" fmla="*/ 0 w 144"/>
                    <a:gd name="T16" fmla="*/ 0 h 144"/>
                    <a:gd name="T17" fmla="*/ 144 w 144"/>
                    <a:gd name="T18" fmla="*/ 144 h 144"/>
                  </a:gdLst>
                  <a:ahLst/>
                  <a:cxnLst>
                    <a:cxn ang="T10">
                      <a:pos x="T0" y="T1"/>
                    </a:cxn>
                    <a:cxn ang="T11">
                      <a:pos x="T2" y="T3"/>
                    </a:cxn>
                    <a:cxn ang="T12">
                      <a:pos x="T4" y="T5"/>
                    </a:cxn>
                    <a:cxn ang="T13">
                      <a:pos x="T6" y="T7"/>
                    </a:cxn>
                    <a:cxn ang="T14">
                      <a:pos x="T8" y="T9"/>
                    </a:cxn>
                  </a:cxnLst>
                  <a:rect l="T15" t="T16" r="T17" b="T18"/>
                  <a:pathLst>
                    <a:path w="144" h="144">
                      <a:moveTo>
                        <a:pt x="0" y="144"/>
                      </a:moveTo>
                      <a:lnTo>
                        <a:pt x="144" y="71"/>
                      </a:lnTo>
                      <a:lnTo>
                        <a:pt x="0" y="0"/>
                      </a:lnTo>
                      <a:lnTo>
                        <a:pt x="45" y="71"/>
                      </a:lnTo>
                      <a:lnTo>
                        <a:pt x="0" y="144"/>
                      </a:lnTo>
                      <a:close/>
                    </a:path>
                  </a:pathLst>
                </a:custGeom>
                <a:solidFill>
                  <a:srgbClr val="FF3300"/>
                </a:solidFill>
                <a:ln w="9525">
                  <a:noFill/>
                  <a:round/>
                  <a:headEnd/>
                  <a:tailEnd/>
                </a:ln>
              </p:spPr>
              <p:txBody>
                <a:bodyPr/>
                <a:lstStyle/>
                <a:p>
                  <a:endParaRPr lang="zh-CN" altLang="en-US"/>
                </a:p>
              </p:txBody>
            </p:sp>
          </p:grpSp>
          <p:grpSp>
            <p:nvGrpSpPr>
              <p:cNvPr id="90158" name="Group 46"/>
              <p:cNvGrpSpPr>
                <a:grpSpLocks/>
              </p:cNvGrpSpPr>
              <p:nvPr/>
            </p:nvGrpSpPr>
            <p:grpSpPr bwMode="auto">
              <a:xfrm>
                <a:off x="1930" y="2314"/>
                <a:ext cx="768" cy="72"/>
                <a:chOff x="1930" y="2314"/>
                <a:chExt cx="768" cy="72"/>
              </a:xfrm>
            </p:grpSpPr>
            <p:sp>
              <p:nvSpPr>
                <p:cNvPr id="90168" name="Rectangle 44"/>
                <p:cNvSpPr>
                  <a:spLocks noChangeArrowheads="1"/>
                </p:cNvSpPr>
                <p:nvPr/>
              </p:nvSpPr>
              <p:spPr bwMode="auto">
                <a:xfrm>
                  <a:off x="1930" y="2344"/>
                  <a:ext cx="672" cy="12"/>
                </a:xfrm>
                <a:prstGeom prst="rect">
                  <a:avLst/>
                </a:prstGeom>
                <a:solidFill>
                  <a:srgbClr val="FF3300"/>
                </a:solidFill>
                <a:ln w="9525">
                  <a:noFill/>
                  <a:miter lim="800000"/>
                  <a:headEnd/>
                  <a:tailEnd/>
                </a:ln>
              </p:spPr>
              <p:txBody>
                <a:bodyPr/>
                <a:lstStyle/>
                <a:p>
                  <a:endParaRPr kumimoji="0" lang="zh-CN" altLang="zh-CN" sz="1800"/>
                </a:p>
              </p:txBody>
            </p:sp>
            <p:sp>
              <p:nvSpPr>
                <p:cNvPr id="90169" name="Freeform 45"/>
                <p:cNvSpPr>
                  <a:spLocks/>
                </p:cNvSpPr>
                <p:nvPr/>
              </p:nvSpPr>
              <p:spPr bwMode="auto">
                <a:xfrm>
                  <a:off x="2554" y="2314"/>
                  <a:ext cx="144" cy="72"/>
                </a:xfrm>
                <a:custGeom>
                  <a:avLst/>
                  <a:gdLst>
                    <a:gd name="T0" fmla="*/ 0 w 144"/>
                    <a:gd name="T1" fmla="*/ 1 h 144"/>
                    <a:gd name="T2" fmla="*/ 144 w 144"/>
                    <a:gd name="T3" fmla="*/ 1 h 144"/>
                    <a:gd name="T4" fmla="*/ 0 w 144"/>
                    <a:gd name="T5" fmla="*/ 0 h 144"/>
                    <a:gd name="T6" fmla="*/ 45 w 144"/>
                    <a:gd name="T7" fmla="*/ 1 h 144"/>
                    <a:gd name="T8" fmla="*/ 0 w 144"/>
                    <a:gd name="T9" fmla="*/ 1 h 144"/>
                    <a:gd name="T10" fmla="*/ 0 60000 65536"/>
                    <a:gd name="T11" fmla="*/ 0 60000 65536"/>
                    <a:gd name="T12" fmla="*/ 0 60000 65536"/>
                    <a:gd name="T13" fmla="*/ 0 60000 65536"/>
                    <a:gd name="T14" fmla="*/ 0 60000 65536"/>
                    <a:gd name="T15" fmla="*/ 0 w 144"/>
                    <a:gd name="T16" fmla="*/ 0 h 144"/>
                    <a:gd name="T17" fmla="*/ 144 w 144"/>
                    <a:gd name="T18" fmla="*/ 144 h 144"/>
                  </a:gdLst>
                  <a:ahLst/>
                  <a:cxnLst>
                    <a:cxn ang="T10">
                      <a:pos x="T0" y="T1"/>
                    </a:cxn>
                    <a:cxn ang="T11">
                      <a:pos x="T2" y="T3"/>
                    </a:cxn>
                    <a:cxn ang="T12">
                      <a:pos x="T4" y="T5"/>
                    </a:cxn>
                    <a:cxn ang="T13">
                      <a:pos x="T6" y="T7"/>
                    </a:cxn>
                    <a:cxn ang="T14">
                      <a:pos x="T8" y="T9"/>
                    </a:cxn>
                  </a:cxnLst>
                  <a:rect l="T15" t="T16" r="T17" b="T18"/>
                  <a:pathLst>
                    <a:path w="144" h="144">
                      <a:moveTo>
                        <a:pt x="0" y="144"/>
                      </a:moveTo>
                      <a:lnTo>
                        <a:pt x="144" y="71"/>
                      </a:lnTo>
                      <a:lnTo>
                        <a:pt x="0" y="0"/>
                      </a:lnTo>
                      <a:lnTo>
                        <a:pt x="45" y="71"/>
                      </a:lnTo>
                      <a:lnTo>
                        <a:pt x="0" y="144"/>
                      </a:lnTo>
                      <a:close/>
                    </a:path>
                  </a:pathLst>
                </a:custGeom>
                <a:solidFill>
                  <a:srgbClr val="FF3300"/>
                </a:solidFill>
                <a:ln w="9525">
                  <a:noFill/>
                  <a:round/>
                  <a:headEnd/>
                  <a:tailEnd/>
                </a:ln>
              </p:spPr>
              <p:txBody>
                <a:bodyPr/>
                <a:lstStyle/>
                <a:p>
                  <a:endParaRPr lang="zh-CN" altLang="en-US"/>
                </a:p>
              </p:txBody>
            </p:sp>
          </p:grpSp>
          <p:grpSp>
            <p:nvGrpSpPr>
              <p:cNvPr id="90159" name="Group 49"/>
              <p:cNvGrpSpPr>
                <a:grpSpLocks/>
              </p:cNvGrpSpPr>
              <p:nvPr/>
            </p:nvGrpSpPr>
            <p:grpSpPr bwMode="auto">
              <a:xfrm>
                <a:off x="1930" y="2538"/>
                <a:ext cx="768" cy="72"/>
                <a:chOff x="1930" y="2538"/>
                <a:chExt cx="768" cy="72"/>
              </a:xfrm>
            </p:grpSpPr>
            <p:sp>
              <p:nvSpPr>
                <p:cNvPr id="90166" name="Rectangle 47"/>
                <p:cNvSpPr>
                  <a:spLocks noChangeArrowheads="1"/>
                </p:cNvSpPr>
                <p:nvPr/>
              </p:nvSpPr>
              <p:spPr bwMode="auto">
                <a:xfrm>
                  <a:off x="1930" y="2568"/>
                  <a:ext cx="672" cy="11"/>
                </a:xfrm>
                <a:prstGeom prst="rect">
                  <a:avLst/>
                </a:prstGeom>
                <a:solidFill>
                  <a:srgbClr val="FF3300"/>
                </a:solidFill>
                <a:ln w="9525">
                  <a:noFill/>
                  <a:miter lim="800000"/>
                  <a:headEnd/>
                  <a:tailEnd/>
                </a:ln>
              </p:spPr>
              <p:txBody>
                <a:bodyPr/>
                <a:lstStyle/>
                <a:p>
                  <a:endParaRPr kumimoji="0" lang="zh-CN" altLang="zh-CN" sz="1800"/>
                </a:p>
              </p:txBody>
            </p:sp>
            <p:sp>
              <p:nvSpPr>
                <p:cNvPr id="90167" name="Freeform 48"/>
                <p:cNvSpPr>
                  <a:spLocks/>
                </p:cNvSpPr>
                <p:nvPr/>
              </p:nvSpPr>
              <p:spPr bwMode="auto">
                <a:xfrm>
                  <a:off x="2554" y="2538"/>
                  <a:ext cx="144" cy="72"/>
                </a:xfrm>
                <a:custGeom>
                  <a:avLst/>
                  <a:gdLst>
                    <a:gd name="T0" fmla="*/ 0 w 144"/>
                    <a:gd name="T1" fmla="*/ 1 h 144"/>
                    <a:gd name="T2" fmla="*/ 144 w 144"/>
                    <a:gd name="T3" fmla="*/ 1 h 144"/>
                    <a:gd name="T4" fmla="*/ 0 w 144"/>
                    <a:gd name="T5" fmla="*/ 0 h 144"/>
                    <a:gd name="T6" fmla="*/ 45 w 144"/>
                    <a:gd name="T7" fmla="*/ 1 h 144"/>
                    <a:gd name="T8" fmla="*/ 0 w 144"/>
                    <a:gd name="T9" fmla="*/ 1 h 144"/>
                    <a:gd name="T10" fmla="*/ 0 60000 65536"/>
                    <a:gd name="T11" fmla="*/ 0 60000 65536"/>
                    <a:gd name="T12" fmla="*/ 0 60000 65536"/>
                    <a:gd name="T13" fmla="*/ 0 60000 65536"/>
                    <a:gd name="T14" fmla="*/ 0 60000 65536"/>
                    <a:gd name="T15" fmla="*/ 0 w 144"/>
                    <a:gd name="T16" fmla="*/ 0 h 144"/>
                    <a:gd name="T17" fmla="*/ 144 w 144"/>
                    <a:gd name="T18" fmla="*/ 144 h 144"/>
                  </a:gdLst>
                  <a:ahLst/>
                  <a:cxnLst>
                    <a:cxn ang="T10">
                      <a:pos x="T0" y="T1"/>
                    </a:cxn>
                    <a:cxn ang="T11">
                      <a:pos x="T2" y="T3"/>
                    </a:cxn>
                    <a:cxn ang="T12">
                      <a:pos x="T4" y="T5"/>
                    </a:cxn>
                    <a:cxn ang="T13">
                      <a:pos x="T6" y="T7"/>
                    </a:cxn>
                    <a:cxn ang="T14">
                      <a:pos x="T8" y="T9"/>
                    </a:cxn>
                  </a:cxnLst>
                  <a:rect l="T15" t="T16" r="T17" b="T18"/>
                  <a:pathLst>
                    <a:path w="144" h="144">
                      <a:moveTo>
                        <a:pt x="0" y="144"/>
                      </a:moveTo>
                      <a:lnTo>
                        <a:pt x="144" y="71"/>
                      </a:lnTo>
                      <a:lnTo>
                        <a:pt x="0" y="0"/>
                      </a:lnTo>
                      <a:lnTo>
                        <a:pt x="45" y="71"/>
                      </a:lnTo>
                      <a:lnTo>
                        <a:pt x="0" y="144"/>
                      </a:lnTo>
                      <a:close/>
                    </a:path>
                  </a:pathLst>
                </a:custGeom>
                <a:solidFill>
                  <a:srgbClr val="FF3300"/>
                </a:solidFill>
                <a:ln w="9525">
                  <a:noFill/>
                  <a:round/>
                  <a:headEnd/>
                  <a:tailEnd/>
                </a:ln>
              </p:spPr>
              <p:txBody>
                <a:bodyPr/>
                <a:lstStyle/>
                <a:p>
                  <a:endParaRPr lang="zh-CN" altLang="en-US"/>
                </a:p>
              </p:txBody>
            </p:sp>
          </p:grpSp>
          <p:grpSp>
            <p:nvGrpSpPr>
              <p:cNvPr id="90160" name="Group 52"/>
              <p:cNvGrpSpPr>
                <a:grpSpLocks/>
              </p:cNvGrpSpPr>
              <p:nvPr/>
            </p:nvGrpSpPr>
            <p:grpSpPr bwMode="auto">
              <a:xfrm>
                <a:off x="1925" y="1544"/>
                <a:ext cx="418" cy="586"/>
                <a:chOff x="1925" y="1544"/>
                <a:chExt cx="418" cy="586"/>
              </a:xfrm>
            </p:grpSpPr>
            <p:sp>
              <p:nvSpPr>
                <p:cNvPr id="90164" name="Freeform 50"/>
                <p:cNvSpPr>
                  <a:spLocks/>
                </p:cNvSpPr>
                <p:nvPr/>
              </p:nvSpPr>
              <p:spPr bwMode="auto">
                <a:xfrm>
                  <a:off x="1925" y="1605"/>
                  <a:ext cx="380" cy="525"/>
                </a:xfrm>
                <a:custGeom>
                  <a:avLst/>
                  <a:gdLst>
                    <a:gd name="T0" fmla="*/ 0 w 380"/>
                    <a:gd name="T1" fmla="*/ 1 h 1050"/>
                    <a:gd name="T2" fmla="*/ 11 w 380"/>
                    <a:gd name="T3" fmla="*/ 1 h 1050"/>
                    <a:gd name="T4" fmla="*/ 380 w 380"/>
                    <a:gd name="T5" fmla="*/ 1 h 1050"/>
                    <a:gd name="T6" fmla="*/ 369 w 380"/>
                    <a:gd name="T7" fmla="*/ 0 h 1050"/>
                    <a:gd name="T8" fmla="*/ 0 w 380"/>
                    <a:gd name="T9" fmla="*/ 1 h 1050"/>
                    <a:gd name="T10" fmla="*/ 0 60000 65536"/>
                    <a:gd name="T11" fmla="*/ 0 60000 65536"/>
                    <a:gd name="T12" fmla="*/ 0 60000 65536"/>
                    <a:gd name="T13" fmla="*/ 0 60000 65536"/>
                    <a:gd name="T14" fmla="*/ 0 60000 65536"/>
                    <a:gd name="T15" fmla="*/ 0 w 380"/>
                    <a:gd name="T16" fmla="*/ 0 h 1050"/>
                    <a:gd name="T17" fmla="*/ 380 w 380"/>
                    <a:gd name="T18" fmla="*/ 1050 h 1050"/>
                  </a:gdLst>
                  <a:ahLst/>
                  <a:cxnLst>
                    <a:cxn ang="T10">
                      <a:pos x="T0" y="T1"/>
                    </a:cxn>
                    <a:cxn ang="T11">
                      <a:pos x="T2" y="T3"/>
                    </a:cxn>
                    <a:cxn ang="T12">
                      <a:pos x="T4" y="T5"/>
                    </a:cxn>
                    <a:cxn ang="T13">
                      <a:pos x="T6" y="T7"/>
                    </a:cxn>
                    <a:cxn ang="T14">
                      <a:pos x="T8" y="T9"/>
                    </a:cxn>
                  </a:cxnLst>
                  <a:rect l="T15" t="T16" r="T17" b="T18"/>
                  <a:pathLst>
                    <a:path w="380" h="1050">
                      <a:moveTo>
                        <a:pt x="0" y="1037"/>
                      </a:moveTo>
                      <a:lnTo>
                        <a:pt x="11" y="1050"/>
                      </a:lnTo>
                      <a:lnTo>
                        <a:pt x="380" y="13"/>
                      </a:lnTo>
                      <a:lnTo>
                        <a:pt x="369" y="0"/>
                      </a:lnTo>
                      <a:lnTo>
                        <a:pt x="0" y="1037"/>
                      </a:lnTo>
                      <a:close/>
                    </a:path>
                  </a:pathLst>
                </a:custGeom>
                <a:solidFill>
                  <a:srgbClr val="FF3300"/>
                </a:solidFill>
                <a:ln w="9525">
                  <a:noFill/>
                  <a:round/>
                  <a:headEnd/>
                  <a:tailEnd/>
                </a:ln>
              </p:spPr>
              <p:txBody>
                <a:bodyPr/>
                <a:lstStyle/>
                <a:p>
                  <a:endParaRPr lang="zh-CN" altLang="en-US"/>
                </a:p>
              </p:txBody>
            </p:sp>
            <p:sp>
              <p:nvSpPr>
                <p:cNvPr id="90165" name="Freeform 51"/>
                <p:cNvSpPr>
                  <a:spLocks/>
                </p:cNvSpPr>
                <p:nvPr/>
              </p:nvSpPr>
              <p:spPr bwMode="auto">
                <a:xfrm>
                  <a:off x="2234" y="1544"/>
                  <a:ext cx="109" cy="113"/>
                </a:xfrm>
                <a:custGeom>
                  <a:avLst/>
                  <a:gdLst>
                    <a:gd name="T0" fmla="*/ 82 w 109"/>
                    <a:gd name="T1" fmla="*/ 1 h 225"/>
                    <a:gd name="T2" fmla="*/ 109 w 109"/>
                    <a:gd name="T3" fmla="*/ 0 h 225"/>
                    <a:gd name="T4" fmla="*/ 0 w 109"/>
                    <a:gd name="T5" fmla="*/ 1 h 225"/>
                    <a:gd name="T6" fmla="*/ 63 w 109"/>
                    <a:gd name="T7" fmla="*/ 1 h 225"/>
                    <a:gd name="T8" fmla="*/ 82 w 109"/>
                    <a:gd name="T9" fmla="*/ 1 h 225"/>
                    <a:gd name="T10" fmla="*/ 0 60000 65536"/>
                    <a:gd name="T11" fmla="*/ 0 60000 65536"/>
                    <a:gd name="T12" fmla="*/ 0 60000 65536"/>
                    <a:gd name="T13" fmla="*/ 0 60000 65536"/>
                    <a:gd name="T14" fmla="*/ 0 60000 65536"/>
                    <a:gd name="T15" fmla="*/ 0 w 109"/>
                    <a:gd name="T16" fmla="*/ 0 h 225"/>
                    <a:gd name="T17" fmla="*/ 109 w 109"/>
                    <a:gd name="T18" fmla="*/ 225 h 225"/>
                  </a:gdLst>
                  <a:ahLst/>
                  <a:cxnLst>
                    <a:cxn ang="T10">
                      <a:pos x="T0" y="T1"/>
                    </a:cxn>
                    <a:cxn ang="T11">
                      <a:pos x="T2" y="T3"/>
                    </a:cxn>
                    <a:cxn ang="T12">
                      <a:pos x="T4" y="T5"/>
                    </a:cxn>
                    <a:cxn ang="T13">
                      <a:pos x="T6" y="T7"/>
                    </a:cxn>
                    <a:cxn ang="T14">
                      <a:pos x="T8" y="T9"/>
                    </a:cxn>
                  </a:cxnLst>
                  <a:rect l="T15" t="T16" r="T17" b="T18"/>
                  <a:pathLst>
                    <a:path w="109" h="225">
                      <a:moveTo>
                        <a:pt x="82" y="225"/>
                      </a:moveTo>
                      <a:lnTo>
                        <a:pt x="109" y="0"/>
                      </a:lnTo>
                      <a:lnTo>
                        <a:pt x="0" y="158"/>
                      </a:lnTo>
                      <a:lnTo>
                        <a:pt x="63" y="130"/>
                      </a:lnTo>
                      <a:lnTo>
                        <a:pt x="82" y="225"/>
                      </a:lnTo>
                      <a:close/>
                    </a:path>
                  </a:pathLst>
                </a:custGeom>
                <a:solidFill>
                  <a:srgbClr val="FF3300"/>
                </a:solidFill>
                <a:ln w="9525">
                  <a:noFill/>
                  <a:round/>
                  <a:headEnd/>
                  <a:tailEnd/>
                </a:ln>
              </p:spPr>
              <p:txBody>
                <a:bodyPr/>
                <a:lstStyle/>
                <a:p>
                  <a:endParaRPr lang="zh-CN" altLang="en-US"/>
                </a:p>
              </p:txBody>
            </p:sp>
          </p:grpSp>
          <p:grpSp>
            <p:nvGrpSpPr>
              <p:cNvPr id="90161" name="Group 55"/>
              <p:cNvGrpSpPr>
                <a:grpSpLocks/>
              </p:cNvGrpSpPr>
              <p:nvPr/>
            </p:nvGrpSpPr>
            <p:grpSpPr bwMode="auto">
              <a:xfrm>
                <a:off x="1925" y="2570"/>
                <a:ext cx="418" cy="541"/>
                <a:chOff x="1925" y="2570"/>
                <a:chExt cx="418" cy="541"/>
              </a:xfrm>
            </p:grpSpPr>
            <p:sp>
              <p:nvSpPr>
                <p:cNvPr id="90162" name="Freeform 53"/>
                <p:cNvSpPr>
                  <a:spLocks/>
                </p:cNvSpPr>
                <p:nvPr/>
              </p:nvSpPr>
              <p:spPr bwMode="auto">
                <a:xfrm>
                  <a:off x="1925" y="2570"/>
                  <a:ext cx="378" cy="482"/>
                </a:xfrm>
                <a:custGeom>
                  <a:avLst/>
                  <a:gdLst>
                    <a:gd name="T0" fmla="*/ 11 w 378"/>
                    <a:gd name="T1" fmla="*/ 0 h 964"/>
                    <a:gd name="T2" fmla="*/ 0 w 378"/>
                    <a:gd name="T3" fmla="*/ 1 h 964"/>
                    <a:gd name="T4" fmla="*/ 367 w 378"/>
                    <a:gd name="T5" fmla="*/ 1 h 964"/>
                    <a:gd name="T6" fmla="*/ 378 w 378"/>
                    <a:gd name="T7" fmla="*/ 1 h 964"/>
                    <a:gd name="T8" fmla="*/ 11 w 378"/>
                    <a:gd name="T9" fmla="*/ 0 h 964"/>
                    <a:gd name="T10" fmla="*/ 0 60000 65536"/>
                    <a:gd name="T11" fmla="*/ 0 60000 65536"/>
                    <a:gd name="T12" fmla="*/ 0 60000 65536"/>
                    <a:gd name="T13" fmla="*/ 0 60000 65536"/>
                    <a:gd name="T14" fmla="*/ 0 60000 65536"/>
                    <a:gd name="T15" fmla="*/ 0 w 378"/>
                    <a:gd name="T16" fmla="*/ 0 h 964"/>
                    <a:gd name="T17" fmla="*/ 378 w 378"/>
                    <a:gd name="T18" fmla="*/ 964 h 964"/>
                  </a:gdLst>
                  <a:ahLst/>
                  <a:cxnLst>
                    <a:cxn ang="T10">
                      <a:pos x="T0" y="T1"/>
                    </a:cxn>
                    <a:cxn ang="T11">
                      <a:pos x="T2" y="T3"/>
                    </a:cxn>
                    <a:cxn ang="T12">
                      <a:pos x="T4" y="T5"/>
                    </a:cxn>
                    <a:cxn ang="T13">
                      <a:pos x="T6" y="T7"/>
                    </a:cxn>
                    <a:cxn ang="T14">
                      <a:pos x="T8" y="T9"/>
                    </a:cxn>
                  </a:cxnLst>
                  <a:rect l="T15" t="T16" r="T17" b="T18"/>
                  <a:pathLst>
                    <a:path w="378" h="964">
                      <a:moveTo>
                        <a:pt x="11" y="0"/>
                      </a:moveTo>
                      <a:lnTo>
                        <a:pt x="0" y="15"/>
                      </a:lnTo>
                      <a:lnTo>
                        <a:pt x="367" y="964"/>
                      </a:lnTo>
                      <a:lnTo>
                        <a:pt x="378" y="949"/>
                      </a:lnTo>
                      <a:lnTo>
                        <a:pt x="11" y="0"/>
                      </a:lnTo>
                      <a:close/>
                    </a:path>
                  </a:pathLst>
                </a:custGeom>
                <a:solidFill>
                  <a:srgbClr val="FF3300"/>
                </a:solidFill>
                <a:ln w="9525">
                  <a:noFill/>
                  <a:round/>
                  <a:headEnd/>
                  <a:tailEnd/>
                </a:ln>
              </p:spPr>
              <p:txBody>
                <a:bodyPr/>
                <a:lstStyle/>
                <a:p>
                  <a:endParaRPr lang="zh-CN" altLang="en-US"/>
                </a:p>
              </p:txBody>
            </p:sp>
            <p:sp>
              <p:nvSpPr>
                <p:cNvPr id="90163" name="Freeform 54"/>
                <p:cNvSpPr>
                  <a:spLocks/>
                </p:cNvSpPr>
                <p:nvPr/>
              </p:nvSpPr>
              <p:spPr bwMode="auto">
                <a:xfrm>
                  <a:off x="2230" y="2999"/>
                  <a:ext cx="113" cy="112"/>
                </a:xfrm>
                <a:custGeom>
                  <a:avLst/>
                  <a:gdLst>
                    <a:gd name="T0" fmla="*/ 0 w 113"/>
                    <a:gd name="T1" fmla="*/ 1 h 223"/>
                    <a:gd name="T2" fmla="*/ 113 w 113"/>
                    <a:gd name="T3" fmla="*/ 1 h 223"/>
                    <a:gd name="T4" fmla="*/ 81 w 113"/>
                    <a:gd name="T5" fmla="*/ 0 h 223"/>
                    <a:gd name="T6" fmla="*/ 64 w 113"/>
                    <a:gd name="T7" fmla="*/ 1 h 223"/>
                    <a:gd name="T8" fmla="*/ 0 w 113"/>
                    <a:gd name="T9" fmla="*/ 1 h 223"/>
                    <a:gd name="T10" fmla="*/ 0 60000 65536"/>
                    <a:gd name="T11" fmla="*/ 0 60000 65536"/>
                    <a:gd name="T12" fmla="*/ 0 60000 65536"/>
                    <a:gd name="T13" fmla="*/ 0 60000 65536"/>
                    <a:gd name="T14" fmla="*/ 0 60000 65536"/>
                    <a:gd name="T15" fmla="*/ 0 w 113"/>
                    <a:gd name="T16" fmla="*/ 0 h 223"/>
                    <a:gd name="T17" fmla="*/ 113 w 113"/>
                    <a:gd name="T18" fmla="*/ 223 h 223"/>
                  </a:gdLst>
                  <a:ahLst/>
                  <a:cxnLst>
                    <a:cxn ang="T10">
                      <a:pos x="T0" y="T1"/>
                    </a:cxn>
                    <a:cxn ang="T11">
                      <a:pos x="T2" y="T3"/>
                    </a:cxn>
                    <a:cxn ang="T12">
                      <a:pos x="T4" y="T5"/>
                    </a:cxn>
                    <a:cxn ang="T13">
                      <a:pos x="T6" y="T7"/>
                    </a:cxn>
                    <a:cxn ang="T14">
                      <a:pos x="T8" y="T9"/>
                    </a:cxn>
                  </a:cxnLst>
                  <a:rect l="T15" t="T16" r="T17" b="T18"/>
                  <a:pathLst>
                    <a:path w="113" h="223">
                      <a:moveTo>
                        <a:pt x="0" y="70"/>
                      </a:moveTo>
                      <a:lnTo>
                        <a:pt x="113" y="223"/>
                      </a:lnTo>
                      <a:lnTo>
                        <a:pt x="81" y="0"/>
                      </a:lnTo>
                      <a:lnTo>
                        <a:pt x="64" y="95"/>
                      </a:lnTo>
                      <a:lnTo>
                        <a:pt x="0" y="70"/>
                      </a:lnTo>
                      <a:close/>
                    </a:path>
                  </a:pathLst>
                </a:custGeom>
                <a:solidFill>
                  <a:srgbClr val="FF3300"/>
                </a:solidFill>
                <a:ln w="9525">
                  <a:noFill/>
                  <a:round/>
                  <a:headEnd/>
                  <a:tailEnd/>
                </a:ln>
              </p:spPr>
              <p:txBody>
                <a:bodyPr/>
                <a:lstStyle/>
                <a:p>
                  <a:endParaRPr lang="zh-CN" altLang="en-US"/>
                </a:p>
              </p:txBody>
            </p:sp>
          </p:grpSp>
        </p:grpSp>
        <p:sp>
          <p:nvSpPr>
            <p:cNvPr id="90155" name="Rectangle 57"/>
            <p:cNvSpPr>
              <a:spLocks noChangeArrowheads="1"/>
            </p:cNvSpPr>
            <p:nvPr/>
          </p:nvSpPr>
          <p:spPr bwMode="auto">
            <a:xfrm>
              <a:off x="1557" y="1730"/>
              <a:ext cx="15" cy="1298"/>
            </a:xfrm>
            <a:prstGeom prst="rect">
              <a:avLst/>
            </a:prstGeom>
            <a:solidFill>
              <a:srgbClr val="3333CC"/>
            </a:solidFill>
            <a:ln w="9525">
              <a:noFill/>
              <a:miter lim="800000"/>
              <a:headEnd/>
              <a:tailEnd/>
            </a:ln>
          </p:spPr>
          <p:txBody>
            <a:bodyPr/>
            <a:lstStyle/>
            <a:p>
              <a:endParaRPr kumimoji="0" lang="zh-CN" altLang="zh-CN" sz="1800"/>
            </a:p>
          </p:txBody>
        </p:sp>
        <p:sp>
          <p:nvSpPr>
            <p:cNvPr id="90156" name="Rectangle 58"/>
            <p:cNvSpPr>
              <a:spLocks noChangeArrowheads="1"/>
            </p:cNvSpPr>
            <p:nvPr/>
          </p:nvSpPr>
          <p:spPr bwMode="auto">
            <a:xfrm>
              <a:off x="1203" y="1730"/>
              <a:ext cx="15" cy="1298"/>
            </a:xfrm>
            <a:prstGeom prst="rect">
              <a:avLst/>
            </a:prstGeom>
            <a:solidFill>
              <a:srgbClr val="3333CC"/>
            </a:solidFill>
            <a:ln w="9525">
              <a:noFill/>
              <a:miter lim="800000"/>
              <a:headEnd/>
              <a:tailEnd/>
            </a:ln>
          </p:spPr>
          <p:txBody>
            <a:bodyPr/>
            <a:lstStyle/>
            <a:p>
              <a:endParaRPr kumimoji="0" lang="zh-CN" altLang="zh-CN" sz="1800"/>
            </a:p>
          </p:txBody>
        </p:sp>
      </p:grpSp>
      <p:grpSp>
        <p:nvGrpSpPr>
          <p:cNvPr id="20" name="Group 61"/>
          <p:cNvGrpSpPr>
            <a:grpSpLocks noChangeAspect="1"/>
          </p:cNvGrpSpPr>
          <p:nvPr/>
        </p:nvGrpSpPr>
        <p:grpSpPr bwMode="auto">
          <a:xfrm>
            <a:off x="5946775" y="3270250"/>
            <a:ext cx="1938338" cy="1379538"/>
            <a:chOff x="3033" y="1548"/>
            <a:chExt cx="1629" cy="1545"/>
          </a:xfrm>
        </p:grpSpPr>
        <p:grpSp>
          <p:nvGrpSpPr>
            <p:cNvPr id="90120" name="Group 71"/>
            <p:cNvGrpSpPr>
              <a:grpSpLocks/>
            </p:cNvGrpSpPr>
            <p:nvPr/>
          </p:nvGrpSpPr>
          <p:grpSpPr bwMode="auto">
            <a:xfrm>
              <a:off x="3033" y="1993"/>
              <a:ext cx="830" cy="718"/>
              <a:chOff x="3033" y="1993"/>
              <a:chExt cx="830" cy="718"/>
            </a:xfrm>
          </p:grpSpPr>
          <p:grpSp>
            <p:nvGrpSpPr>
              <p:cNvPr id="90139" name="Group 64"/>
              <p:cNvGrpSpPr>
                <a:grpSpLocks/>
              </p:cNvGrpSpPr>
              <p:nvPr/>
            </p:nvGrpSpPr>
            <p:grpSpPr bwMode="auto">
              <a:xfrm>
                <a:off x="3033" y="1993"/>
                <a:ext cx="830" cy="99"/>
                <a:chOff x="3033" y="1993"/>
                <a:chExt cx="830" cy="99"/>
              </a:xfrm>
            </p:grpSpPr>
            <p:sp>
              <p:nvSpPr>
                <p:cNvPr id="90146" name="Rectangle 62"/>
                <p:cNvSpPr>
                  <a:spLocks noChangeArrowheads="1"/>
                </p:cNvSpPr>
                <p:nvPr/>
              </p:nvSpPr>
              <p:spPr bwMode="auto">
                <a:xfrm>
                  <a:off x="3033" y="2034"/>
                  <a:ext cx="734" cy="16"/>
                </a:xfrm>
                <a:prstGeom prst="rect">
                  <a:avLst/>
                </a:prstGeom>
                <a:solidFill>
                  <a:srgbClr val="FF3300"/>
                </a:solidFill>
                <a:ln w="9525">
                  <a:noFill/>
                  <a:miter lim="800000"/>
                  <a:headEnd/>
                  <a:tailEnd/>
                </a:ln>
              </p:spPr>
              <p:txBody>
                <a:bodyPr/>
                <a:lstStyle/>
                <a:p>
                  <a:endParaRPr kumimoji="0" lang="zh-CN" altLang="zh-CN" sz="1800"/>
                </a:p>
              </p:txBody>
            </p:sp>
            <p:sp>
              <p:nvSpPr>
                <p:cNvPr id="90147" name="Freeform 63"/>
                <p:cNvSpPr>
                  <a:spLocks/>
                </p:cNvSpPr>
                <p:nvPr/>
              </p:nvSpPr>
              <p:spPr bwMode="auto">
                <a:xfrm>
                  <a:off x="3718" y="1993"/>
                  <a:ext cx="145" cy="99"/>
                </a:xfrm>
                <a:custGeom>
                  <a:avLst/>
                  <a:gdLst>
                    <a:gd name="T0" fmla="*/ 0 w 145"/>
                    <a:gd name="T1" fmla="*/ 99 h 99"/>
                    <a:gd name="T2" fmla="*/ 145 w 145"/>
                    <a:gd name="T3" fmla="*/ 49 h 99"/>
                    <a:gd name="T4" fmla="*/ 0 w 145"/>
                    <a:gd name="T5" fmla="*/ 0 h 99"/>
                    <a:gd name="T6" fmla="*/ 46 w 145"/>
                    <a:gd name="T7" fmla="*/ 49 h 99"/>
                    <a:gd name="T8" fmla="*/ 0 w 145"/>
                    <a:gd name="T9" fmla="*/ 99 h 99"/>
                    <a:gd name="T10" fmla="*/ 0 60000 65536"/>
                    <a:gd name="T11" fmla="*/ 0 60000 65536"/>
                    <a:gd name="T12" fmla="*/ 0 60000 65536"/>
                    <a:gd name="T13" fmla="*/ 0 60000 65536"/>
                    <a:gd name="T14" fmla="*/ 0 60000 65536"/>
                    <a:gd name="T15" fmla="*/ 0 w 145"/>
                    <a:gd name="T16" fmla="*/ 0 h 99"/>
                    <a:gd name="T17" fmla="*/ 145 w 145"/>
                    <a:gd name="T18" fmla="*/ 99 h 99"/>
                  </a:gdLst>
                  <a:ahLst/>
                  <a:cxnLst>
                    <a:cxn ang="T10">
                      <a:pos x="T0" y="T1"/>
                    </a:cxn>
                    <a:cxn ang="T11">
                      <a:pos x="T2" y="T3"/>
                    </a:cxn>
                    <a:cxn ang="T12">
                      <a:pos x="T4" y="T5"/>
                    </a:cxn>
                    <a:cxn ang="T13">
                      <a:pos x="T6" y="T7"/>
                    </a:cxn>
                    <a:cxn ang="T14">
                      <a:pos x="T8" y="T9"/>
                    </a:cxn>
                  </a:cxnLst>
                  <a:rect l="T15" t="T16" r="T17" b="T18"/>
                  <a:pathLst>
                    <a:path w="145" h="99">
                      <a:moveTo>
                        <a:pt x="0" y="99"/>
                      </a:moveTo>
                      <a:lnTo>
                        <a:pt x="145" y="49"/>
                      </a:lnTo>
                      <a:lnTo>
                        <a:pt x="0" y="0"/>
                      </a:lnTo>
                      <a:lnTo>
                        <a:pt x="46" y="49"/>
                      </a:lnTo>
                      <a:lnTo>
                        <a:pt x="0" y="99"/>
                      </a:lnTo>
                      <a:close/>
                    </a:path>
                  </a:pathLst>
                </a:custGeom>
                <a:solidFill>
                  <a:srgbClr val="FF3300"/>
                </a:solidFill>
                <a:ln w="9525">
                  <a:noFill/>
                  <a:round/>
                  <a:headEnd/>
                  <a:tailEnd/>
                </a:ln>
              </p:spPr>
              <p:txBody>
                <a:bodyPr/>
                <a:lstStyle/>
                <a:p>
                  <a:endParaRPr lang="zh-CN" altLang="en-US"/>
                </a:p>
              </p:txBody>
            </p:sp>
          </p:grpSp>
          <p:grpSp>
            <p:nvGrpSpPr>
              <p:cNvPr id="90140" name="Group 67"/>
              <p:cNvGrpSpPr>
                <a:grpSpLocks/>
              </p:cNvGrpSpPr>
              <p:nvPr/>
            </p:nvGrpSpPr>
            <p:grpSpPr bwMode="auto">
              <a:xfrm>
                <a:off x="3033" y="2302"/>
                <a:ext cx="830" cy="100"/>
                <a:chOff x="3033" y="2302"/>
                <a:chExt cx="830" cy="100"/>
              </a:xfrm>
            </p:grpSpPr>
            <p:sp>
              <p:nvSpPr>
                <p:cNvPr id="90144" name="Rectangle 65"/>
                <p:cNvSpPr>
                  <a:spLocks noChangeArrowheads="1"/>
                </p:cNvSpPr>
                <p:nvPr/>
              </p:nvSpPr>
              <p:spPr bwMode="auto">
                <a:xfrm>
                  <a:off x="3033" y="2344"/>
                  <a:ext cx="734" cy="15"/>
                </a:xfrm>
                <a:prstGeom prst="rect">
                  <a:avLst/>
                </a:prstGeom>
                <a:solidFill>
                  <a:srgbClr val="FF3300"/>
                </a:solidFill>
                <a:ln w="9525">
                  <a:noFill/>
                  <a:miter lim="800000"/>
                  <a:headEnd/>
                  <a:tailEnd/>
                </a:ln>
              </p:spPr>
              <p:txBody>
                <a:bodyPr/>
                <a:lstStyle/>
                <a:p>
                  <a:endParaRPr kumimoji="0" lang="zh-CN" altLang="zh-CN" sz="1800"/>
                </a:p>
              </p:txBody>
            </p:sp>
            <p:sp>
              <p:nvSpPr>
                <p:cNvPr id="90145" name="Freeform 66"/>
                <p:cNvSpPr>
                  <a:spLocks/>
                </p:cNvSpPr>
                <p:nvPr/>
              </p:nvSpPr>
              <p:spPr bwMode="auto">
                <a:xfrm>
                  <a:off x="3718" y="2302"/>
                  <a:ext cx="145" cy="100"/>
                </a:xfrm>
                <a:custGeom>
                  <a:avLst/>
                  <a:gdLst>
                    <a:gd name="T0" fmla="*/ 0 w 145"/>
                    <a:gd name="T1" fmla="*/ 100 h 100"/>
                    <a:gd name="T2" fmla="*/ 145 w 145"/>
                    <a:gd name="T3" fmla="*/ 49 h 100"/>
                    <a:gd name="T4" fmla="*/ 0 w 145"/>
                    <a:gd name="T5" fmla="*/ 0 h 100"/>
                    <a:gd name="T6" fmla="*/ 46 w 145"/>
                    <a:gd name="T7" fmla="*/ 49 h 100"/>
                    <a:gd name="T8" fmla="*/ 0 w 145"/>
                    <a:gd name="T9" fmla="*/ 100 h 100"/>
                    <a:gd name="T10" fmla="*/ 0 60000 65536"/>
                    <a:gd name="T11" fmla="*/ 0 60000 65536"/>
                    <a:gd name="T12" fmla="*/ 0 60000 65536"/>
                    <a:gd name="T13" fmla="*/ 0 60000 65536"/>
                    <a:gd name="T14" fmla="*/ 0 60000 65536"/>
                    <a:gd name="T15" fmla="*/ 0 w 145"/>
                    <a:gd name="T16" fmla="*/ 0 h 100"/>
                    <a:gd name="T17" fmla="*/ 145 w 145"/>
                    <a:gd name="T18" fmla="*/ 100 h 100"/>
                  </a:gdLst>
                  <a:ahLst/>
                  <a:cxnLst>
                    <a:cxn ang="T10">
                      <a:pos x="T0" y="T1"/>
                    </a:cxn>
                    <a:cxn ang="T11">
                      <a:pos x="T2" y="T3"/>
                    </a:cxn>
                    <a:cxn ang="T12">
                      <a:pos x="T4" y="T5"/>
                    </a:cxn>
                    <a:cxn ang="T13">
                      <a:pos x="T6" y="T7"/>
                    </a:cxn>
                    <a:cxn ang="T14">
                      <a:pos x="T8" y="T9"/>
                    </a:cxn>
                  </a:cxnLst>
                  <a:rect l="T15" t="T16" r="T17" b="T18"/>
                  <a:pathLst>
                    <a:path w="145" h="100">
                      <a:moveTo>
                        <a:pt x="0" y="100"/>
                      </a:moveTo>
                      <a:lnTo>
                        <a:pt x="145" y="49"/>
                      </a:lnTo>
                      <a:lnTo>
                        <a:pt x="0" y="0"/>
                      </a:lnTo>
                      <a:lnTo>
                        <a:pt x="46" y="49"/>
                      </a:lnTo>
                      <a:lnTo>
                        <a:pt x="0" y="100"/>
                      </a:lnTo>
                      <a:close/>
                    </a:path>
                  </a:pathLst>
                </a:custGeom>
                <a:solidFill>
                  <a:srgbClr val="FF3300"/>
                </a:solidFill>
                <a:ln w="9525">
                  <a:noFill/>
                  <a:round/>
                  <a:headEnd/>
                  <a:tailEnd/>
                </a:ln>
              </p:spPr>
              <p:txBody>
                <a:bodyPr/>
                <a:lstStyle/>
                <a:p>
                  <a:endParaRPr lang="zh-CN" altLang="en-US"/>
                </a:p>
              </p:txBody>
            </p:sp>
          </p:grpSp>
          <p:grpSp>
            <p:nvGrpSpPr>
              <p:cNvPr id="90141" name="Group 70"/>
              <p:cNvGrpSpPr>
                <a:grpSpLocks/>
              </p:cNvGrpSpPr>
              <p:nvPr/>
            </p:nvGrpSpPr>
            <p:grpSpPr bwMode="auto">
              <a:xfrm>
                <a:off x="3033" y="2612"/>
                <a:ext cx="830" cy="99"/>
                <a:chOff x="3033" y="2612"/>
                <a:chExt cx="830" cy="99"/>
              </a:xfrm>
            </p:grpSpPr>
            <p:sp>
              <p:nvSpPr>
                <p:cNvPr id="90142" name="Rectangle 68"/>
                <p:cNvSpPr>
                  <a:spLocks noChangeArrowheads="1"/>
                </p:cNvSpPr>
                <p:nvPr/>
              </p:nvSpPr>
              <p:spPr bwMode="auto">
                <a:xfrm>
                  <a:off x="3033" y="2653"/>
                  <a:ext cx="734" cy="15"/>
                </a:xfrm>
                <a:prstGeom prst="rect">
                  <a:avLst/>
                </a:prstGeom>
                <a:solidFill>
                  <a:srgbClr val="FF3300"/>
                </a:solidFill>
                <a:ln w="9525">
                  <a:noFill/>
                  <a:miter lim="800000"/>
                  <a:headEnd/>
                  <a:tailEnd/>
                </a:ln>
              </p:spPr>
              <p:txBody>
                <a:bodyPr/>
                <a:lstStyle/>
                <a:p>
                  <a:endParaRPr kumimoji="0" lang="zh-CN" altLang="zh-CN" sz="1800"/>
                </a:p>
              </p:txBody>
            </p:sp>
            <p:sp>
              <p:nvSpPr>
                <p:cNvPr id="90143" name="Freeform 69"/>
                <p:cNvSpPr>
                  <a:spLocks/>
                </p:cNvSpPr>
                <p:nvPr/>
              </p:nvSpPr>
              <p:spPr bwMode="auto">
                <a:xfrm>
                  <a:off x="3718" y="2612"/>
                  <a:ext cx="145" cy="99"/>
                </a:xfrm>
                <a:custGeom>
                  <a:avLst/>
                  <a:gdLst>
                    <a:gd name="T0" fmla="*/ 0 w 145"/>
                    <a:gd name="T1" fmla="*/ 99 h 99"/>
                    <a:gd name="T2" fmla="*/ 145 w 145"/>
                    <a:gd name="T3" fmla="*/ 48 h 99"/>
                    <a:gd name="T4" fmla="*/ 0 w 145"/>
                    <a:gd name="T5" fmla="*/ 0 h 99"/>
                    <a:gd name="T6" fmla="*/ 46 w 145"/>
                    <a:gd name="T7" fmla="*/ 48 h 99"/>
                    <a:gd name="T8" fmla="*/ 0 w 145"/>
                    <a:gd name="T9" fmla="*/ 99 h 99"/>
                    <a:gd name="T10" fmla="*/ 0 60000 65536"/>
                    <a:gd name="T11" fmla="*/ 0 60000 65536"/>
                    <a:gd name="T12" fmla="*/ 0 60000 65536"/>
                    <a:gd name="T13" fmla="*/ 0 60000 65536"/>
                    <a:gd name="T14" fmla="*/ 0 60000 65536"/>
                    <a:gd name="T15" fmla="*/ 0 w 145"/>
                    <a:gd name="T16" fmla="*/ 0 h 99"/>
                    <a:gd name="T17" fmla="*/ 145 w 145"/>
                    <a:gd name="T18" fmla="*/ 99 h 99"/>
                  </a:gdLst>
                  <a:ahLst/>
                  <a:cxnLst>
                    <a:cxn ang="T10">
                      <a:pos x="T0" y="T1"/>
                    </a:cxn>
                    <a:cxn ang="T11">
                      <a:pos x="T2" y="T3"/>
                    </a:cxn>
                    <a:cxn ang="T12">
                      <a:pos x="T4" y="T5"/>
                    </a:cxn>
                    <a:cxn ang="T13">
                      <a:pos x="T6" y="T7"/>
                    </a:cxn>
                    <a:cxn ang="T14">
                      <a:pos x="T8" y="T9"/>
                    </a:cxn>
                  </a:cxnLst>
                  <a:rect l="T15" t="T16" r="T17" b="T18"/>
                  <a:pathLst>
                    <a:path w="145" h="99">
                      <a:moveTo>
                        <a:pt x="0" y="99"/>
                      </a:moveTo>
                      <a:lnTo>
                        <a:pt x="145" y="48"/>
                      </a:lnTo>
                      <a:lnTo>
                        <a:pt x="0" y="0"/>
                      </a:lnTo>
                      <a:lnTo>
                        <a:pt x="46" y="48"/>
                      </a:lnTo>
                      <a:lnTo>
                        <a:pt x="0" y="99"/>
                      </a:lnTo>
                      <a:close/>
                    </a:path>
                  </a:pathLst>
                </a:custGeom>
                <a:solidFill>
                  <a:srgbClr val="FF3300"/>
                </a:solidFill>
                <a:ln w="9525">
                  <a:noFill/>
                  <a:round/>
                  <a:headEnd/>
                  <a:tailEnd/>
                </a:ln>
              </p:spPr>
              <p:txBody>
                <a:bodyPr/>
                <a:lstStyle/>
                <a:p>
                  <a:endParaRPr lang="zh-CN" altLang="en-US"/>
                </a:p>
              </p:txBody>
            </p:sp>
          </p:grpSp>
        </p:grpSp>
        <p:grpSp>
          <p:nvGrpSpPr>
            <p:cNvPr id="90121" name="Group 74"/>
            <p:cNvGrpSpPr>
              <a:grpSpLocks/>
            </p:cNvGrpSpPr>
            <p:nvPr/>
          </p:nvGrpSpPr>
          <p:grpSpPr bwMode="auto">
            <a:xfrm>
              <a:off x="3863" y="1591"/>
              <a:ext cx="44" cy="1461"/>
              <a:chOff x="3863" y="1591"/>
              <a:chExt cx="44" cy="1461"/>
            </a:xfrm>
          </p:grpSpPr>
          <p:sp>
            <p:nvSpPr>
              <p:cNvPr id="90137" name="Freeform 72"/>
              <p:cNvSpPr>
                <a:spLocks/>
              </p:cNvSpPr>
              <p:nvPr/>
            </p:nvSpPr>
            <p:spPr bwMode="auto">
              <a:xfrm>
                <a:off x="3863" y="1591"/>
                <a:ext cx="38" cy="699"/>
              </a:xfrm>
              <a:custGeom>
                <a:avLst/>
                <a:gdLst>
                  <a:gd name="T0" fmla="*/ 0 w 59"/>
                  <a:gd name="T1" fmla="*/ 0 h 742"/>
                  <a:gd name="T2" fmla="*/ 0 w 59"/>
                  <a:gd name="T3" fmla="*/ 138 h 742"/>
                  <a:gd name="T4" fmla="*/ 1 w 59"/>
                  <a:gd name="T5" fmla="*/ 104 h 742"/>
                  <a:gd name="T6" fmla="*/ 1 w 59"/>
                  <a:gd name="T7" fmla="*/ 0 h 742"/>
                  <a:gd name="T8" fmla="*/ 0 w 59"/>
                  <a:gd name="T9" fmla="*/ 0 h 742"/>
                  <a:gd name="T10" fmla="*/ 0 60000 65536"/>
                  <a:gd name="T11" fmla="*/ 0 60000 65536"/>
                  <a:gd name="T12" fmla="*/ 0 60000 65536"/>
                  <a:gd name="T13" fmla="*/ 0 60000 65536"/>
                  <a:gd name="T14" fmla="*/ 0 60000 65536"/>
                  <a:gd name="T15" fmla="*/ 0 w 59"/>
                  <a:gd name="T16" fmla="*/ 0 h 742"/>
                  <a:gd name="T17" fmla="*/ 59 w 59"/>
                  <a:gd name="T18" fmla="*/ 742 h 742"/>
                </a:gdLst>
                <a:ahLst/>
                <a:cxnLst>
                  <a:cxn ang="T10">
                    <a:pos x="T0" y="T1"/>
                  </a:cxn>
                  <a:cxn ang="T11">
                    <a:pos x="T2" y="T3"/>
                  </a:cxn>
                  <a:cxn ang="T12">
                    <a:pos x="T4" y="T5"/>
                  </a:cxn>
                  <a:cxn ang="T13">
                    <a:pos x="T6" y="T7"/>
                  </a:cxn>
                  <a:cxn ang="T14">
                    <a:pos x="T8" y="T9"/>
                  </a:cxn>
                </a:cxnLst>
                <a:rect l="T15" t="T16" r="T17" b="T18"/>
                <a:pathLst>
                  <a:path w="59" h="742">
                    <a:moveTo>
                      <a:pt x="0" y="0"/>
                    </a:moveTo>
                    <a:lnTo>
                      <a:pt x="0" y="742"/>
                    </a:lnTo>
                    <a:lnTo>
                      <a:pt x="59" y="556"/>
                    </a:lnTo>
                    <a:lnTo>
                      <a:pt x="59" y="0"/>
                    </a:lnTo>
                    <a:lnTo>
                      <a:pt x="0" y="0"/>
                    </a:lnTo>
                    <a:close/>
                  </a:path>
                </a:pathLst>
              </a:custGeom>
              <a:solidFill>
                <a:srgbClr val="00CC99"/>
              </a:solidFill>
              <a:ln w="15">
                <a:solidFill>
                  <a:srgbClr val="000000"/>
                </a:solidFill>
                <a:round/>
                <a:headEnd/>
                <a:tailEnd/>
              </a:ln>
            </p:spPr>
            <p:txBody>
              <a:bodyPr/>
              <a:lstStyle/>
              <a:p>
                <a:endParaRPr lang="zh-CN" altLang="en-US"/>
              </a:p>
            </p:txBody>
          </p:sp>
          <p:sp>
            <p:nvSpPr>
              <p:cNvPr id="90138" name="Freeform 73"/>
              <p:cNvSpPr>
                <a:spLocks/>
              </p:cNvSpPr>
              <p:nvPr/>
            </p:nvSpPr>
            <p:spPr bwMode="auto">
              <a:xfrm>
                <a:off x="3863" y="2413"/>
                <a:ext cx="44" cy="639"/>
              </a:xfrm>
              <a:custGeom>
                <a:avLst/>
                <a:gdLst>
                  <a:gd name="T0" fmla="*/ 0 w 58"/>
                  <a:gd name="T1" fmla="*/ 12 h 742"/>
                  <a:gd name="T2" fmla="*/ 0 w 58"/>
                  <a:gd name="T3" fmla="*/ 0 h 742"/>
                  <a:gd name="T4" fmla="*/ 2 w 58"/>
                  <a:gd name="T5" fmla="*/ 3 h 742"/>
                  <a:gd name="T6" fmla="*/ 2 w 58"/>
                  <a:gd name="T7" fmla="*/ 12 h 742"/>
                  <a:gd name="T8" fmla="*/ 0 w 58"/>
                  <a:gd name="T9" fmla="*/ 12 h 742"/>
                  <a:gd name="T10" fmla="*/ 0 60000 65536"/>
                  <a:gd name="T11" fmla="*/ 0 60000 65536"/>
                  <a:gd name="T12" fmla="*/ 0 60000 65536"/>
                  <a:gd name="T13" fmla="*/ 0 60000 65536"/>
                  <a:gd name="T14" fmla="*/ 0 60000 65536"/>
                  <a:gd name="T15" fmla="*/ 0 w 58"/>
                  <a:gd name="T16" fmla="*/ 0 h 742"/>
                  <a:gd name="T17" fmla="*/ 58 w 58"/>
                  <a:gd name="T18" fmla="*/ 742 h 742"/>
                </a:gdLst>
                <a:ahLst/>
                <a:cxnLst>
                  <a:cxn ang="T10">
                    <a:pos x="T0" y="T1"/>
                  </a:cxn>
                  <a:cxn ang="T11">
                    <a:pos x="T2" y="T3"/>
                  </a:cxn>
                  <a:cxn ang="T12">
                    <a:pos x="T4" y="T5"/>
                  </a:cxn>
                  <a:cxn ang="T13">
                    <a:pos x="T6" y="T7"/>
                  </a:cxn>
                  <a:cxn ang="T14">
                    <a:pos x="T8" y="T9"/>
                  </a:cxn>
                </a:cxnLst>
                <a:rect l="T15" t="T16" r="T17" b="T18"/>
                <a:pathLst>
                  <a:path w="58" h="742">
                    <a:moveTo>
                      <a:pt x="0" y="742"/>
                    </a:moveTo>
                    <a:lnTo>
                      <a:pt x="0" y="0"/>
                    </a:lnTo>
                    <a:lnTo>
                      <a:pt x="58" y="186"/>
                    </a:lnTo>
                    <a:lnTo>
                      <a:pt x="58" y="742"/>
                    </a:lnTo>
                    <a:lnTo>
                      <a:pt x="0" y="742"/>
                    </a:lnTo>
                    <a:close/>
                  </a:path>
                </a:pathLst>
              </a:custGeom>
              <a:solidFill>
                <a:srgbClr val="00CC99"/>
              </a:solidFill>
              <a:ln w="15">
                <a:solidFill>
                  <a:srgbClr val="000000"/>
                </a:solidFill>
                <a:round/>
                <a:headEnd/>
                <a:tailEnd/>
              </a:ln>
            </p:spPr>
            <p:txBody>
              <a:bodyPr/>
              <a:lstStyle/>
              <a:p>
                <a:endParaRPr lang="zh-CN" altLang="en-US"/>
              </a:p>
            </p:txBody>
          </p:sp>
        </p:grpSp>
        <p:grpSp>
          <p:nvGrpSpPr>
            <p:cNvPr id="90122" name="Group 77"/>
            <p:cNvGrpSpPr>
              <a:grpSpLocks/>
            </p:cNvGrpSpPr>
            <p:nvPr/>
          </p:nvGrpSpPr>
          <p:grpSpPr bwMode="auto">
            <a:xfrm>
              <a:off x="3909" y="1664"/>
              <a:ext cx="595" cy="1316"/>
              <a:chOff x="3909" y="1664"/>
              <a:chExt cx="595" cy="1316"/>
            </a:xfrm>
          </p:grpSpPr>
          <p:sp>
            <p:nvSpPr>
              <p:cNvPr id="90135" name="Freeform 75"/>
              <p:cNvSpPr>
                <a:spLocks/>
              </p:cNvSpPr>
              <p:nvPr/>
            </p:nvSpPr>
            <p:spPr bwMode="auto">
              <a:xfrm>
                <a:off x="3909" y="2027"/>
                <a:ext cx="303" cy="631"/>
              </a:xfrm>
              <a:custGeom>
                <a:avLst/>
                <a:gdLst>
                  <a:gd name="T0" fmla="*/ 0 w 303"/>
                  <a:gd name="T1" fmla="*/ 631 h 631"/>
                  <a:gd name="T2" fmla="*/ 60 w 303"/>
                  <a:gd name="T3" fmla="*/ 624 h 631"/>
                  <a:gd name="T4" fmla="*/ 91 w 303"/>
                  <a:gd name="T5" fmla="*/ 617 h 631"/>
                  <a:gd name="T6" fmla="*/ 144 w 303"/>
                  <a:gd name="T7" fmla="*/ 594 h 631"/>
                  <a:gd name="T8" fmla="*/ 171 w 303"/>
                  <a:gd name="T9" fmla="*/ 577 h 631"/>
                  <a:gd name="T10" fmla="*/ 215 w 303"/>
                  <a:gd name="T11" fmla="*/ 538 h 631"/>
                  <a:gd name="T12" fmla="*/ 252 w 303"/>
                  <a:gd name="T13" fmla="*/ 493 h 631"/>
                  <a:gd name="T14" fmla="*/ 279 w 303"/>
                  <a:gd name="T15" fmla="*/ 440 h 631"/>
                  <a:gd name="T16" fmla="*/ 290 w 303"/>
                  <a:gd name="T17" fmla="*/ 407 h 631"/>
                  <a:gd name="T18" fmla="*/ 302 w 303"/>
                  <a:gd name="T19" fmla="*/ 346 h 631"/>
                  <a:gd name="T20" fmla="*/ 302 w 303"/>
                  <a:gd name="T21" fmla="*/ 284 h 631"/>
                  <a:gd name="T22" fmla="*/ 292 w 303"/>
                  <a:gd name="T23" fmla="*/ 229 h 631"/>
                  <a:gd name="T24" fmla="*/ 281 w 303"/>
                  <a:gd name="T25" fmla="*/ 197 h 631"/>
                  <a:gd name="T26" fmla="*/ 258 w 303"/>
                  <a:gd name="T27" fmla="*/ 147 h 631"/>
                  <a:gd name="T28" fmla="*/ 226 w 303"/>
                  <a:gd name="T29" fmla="*/ 103 h 631"/>
                  <a:gd name="T30" fmla="*/ 187 w 303"/>
                  <a:gd name="T31" fmla="*/ 64 h 631"/>
                  <a:gd name="T32" fmla="*/ 163 w 303"/>
                  <a:gd name="T33" fmla="*/ 47 h 631"/>
                  <a:gd name="T34" fmla="*/ 116 w 303"/>
                  <a:gd name="T35" fmla="*/ 22 h 631"/>
                  <a:gd name="T36" fmla="*/ 63 w 303"/>
                  <a:gd name="T37" fmla="*/ 5 h 631"/>
                  <a:gd name="T38" fmla="*/ 33 w 303"/>
                  <a:gd name="T39" fmla="*/ 0 h 631"/>
                  <a:gd name="T40" fmla="*/ 60 w 303"/>
                  <a:gd name="T41" fmla="*/ 20 h 631"/>
                  <a:gd name="T42" fmla="*/ 56 w 303"/>
                  <a:gd name="T43" fmla="*/ 19 h 631"/>
                  <a:gd name="T44" fmla="*/ 110 w 303"/>
                  <a:gd name="T45" fmla="*/ 36 h 631"/>
                  <a:gd name="T46" fmla="*/ 156 w 303"/>
                  <a:gd name="T47" fmla="*/ 62 h 631"/>
                  <a:gd name="T48" fmla="*/ 154 w 303"/>
                  <a:gd name="T49" fmla="*/ 60 h 631"/>
                  <a:gd name="T50" fmla="*/ 196 w 303"/>
                  <a:gd name="T51" fmla="*/ 94 h 631"/>
                  <a:gd name="T52" fmla="*/ 232 w 303"/>
                  <a:gd name="T53" fmla="*/ 135 h 631"/>
                  <a:gd name="T54" fmla="*/ 259 w 303"/>
                  <a:gd name="T55" fmla="*/ 183 h 631"/>
                  <a:gd name="T56" fmla="*/ 276 w 303"/>
                  <a:gd name="T57" fmla="*/ 202 h 631"/>
                  <a:gd name="T58" fmla="*/ 277 w 303"/>
                  <a:gd name="T59" fmla="*/ 229 h 631"/>
                  <a:gd name="T60" fmla="*/ 287 w 303"/>
                  <a:gd name="T61" fmla="*/ 284 h 631"/>
                  <a:gd name="T62" fmla="*/ 287 w 303"/>
                  <a:gd name="T63" fmla="*/ 346 h 631"/>
                  <a:gd name="T64" fmla="*/ 275 w 303"/>
                  <a:gd name="T65" fmla="*/ 407 h 631"/>
                  <a:gd name="T66" fmla="*/ 273 w 303"/>
                  <a:gd name="T67" fmla="*/ 435 h 631"/>
                  <a:gd name="T68" fmla="*/ 255 w 303"/>
                  <a:gd name="T69" fmla="*/ 456 h 631"/>
                  <a:gd name="T70" fmla="*/ 223 w 303"/>
                  <a:gd name="T71" fmla="*/ 505 h 631"/>
                  <a:gd name="T72" fmla="*/ 182 w 303"/>
                  <a:gd name="T73" fmla="*/ 547 h 631"/>
                  <a:gd name="T74" fmla="*/ 165 w 303"/>
                  <a:gd name="T75" fmla="*/ 570 h 631"/>
                  <a:gd name="T76" fmla="*/ 138 w 303"/>
                  <a:gd name="T77" fmla="*/ 579 h 631"/>
                  <a:gd name="T78" fmla="*/ 85 w 303"/>
                  <a:gd name="T79" fmla="*/ 603 h 631"/>
                  <a:gd name="T80" fmla="*/ 60 w 303"/>
                  <a:gd name="T81" fmla="*/ 617 h 631"/>
                  <a:gd name="T82" fmla="*/ 31 w 303"/>
                  <a:gd name="T83" fmla="*/ 614 h 6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03"/>
                  <a:gd name="T127" fmla="*/ 0 h 631"/>
                  <a:gd name="T128" fmla="*/ 303 w 303"/>
                  <a:gd name="T129" fmla="*/ 631 h 63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03" h="631">
                    <a:moveTo>
                      <a:pt x="0" y="615"/>
                    </a:moveTo>
                    <a:lnTo>
                      <a:pt x="0" y="631"/>
                    </a:lnTo>
                    <a:lnTo>
                      <a:pt x="31" y="630"/>
                    </a:lnTo>
                    <a:lnTo>
                      <a:pt x="60" y="624"/>
                    </a:lnTo>
                    <a:lnTo>
                      <a:pt x="63" y="624"/>
                    </a:lnTo>
                    <a:lnTo>
                      <a:pt x="91" y="617"/>
                    </a:lnTo>
                    <a:lnTo>
                      <a:pt x="118" y="606"/>
                    </a:lnTo>
                    <a:lnTo>
                      <a:pt x="144" y="594"/>
                    </a:lnTo>
                    <a:lnTo>
                      <a:pt x="169" y="578"/>
                    </a:lnTo>
                    <a:lnTo>
                      <a:pt x="171" y="577"/>
                    </a:lnTo>
                    <a:lnTo>
                      <a:pt x="194" y="559"/>
                    </a:lnTo>
                    <a:lnTo>
                      <a:pt x="215" y="538"/>
                    </a:lnTo>
                    <a:lnTo>
                      <a:pt x="234" y="516"/>
                    </a:lnTo>
                    <a:lnTo>
                      <a:pt x="252" y="493"/>
                    </a:lnTo>
                    <a:lnTo>
                      <a:pt x="266" y="467"/>
                    </a:lnTo>
                    <a:lnTo>
                      <a:pt x="279" y="440"/>
                    </a:lnTo>
                    <a:lnTo>
                      <a:pt x="280" y="435"/>
                    </a:lnTo>
                    <a:lnTo>
                      <a:pt x="290" y="407"/>
                    </a:lnTo>
                    <a:lnTo>
                      <a:pt x="297" y="377"/>
                    </a:lnTo>
                    <a:lnTo>
                      <a:pt x="302" y="346"/>
                    </a:lnTo>
                    <a:lnTo>
                      <a:pt x="303" y="314"/>
                    </a:lnTo>
                    <a:lnTo>
                      <a:pt x="302" y="284"/>
                    </a:lnTo>
                    <a:lnTo>
                      <a:pt x="298" y="256"/>
                    </a:lnTo>
                    <a:lnTo>
                      <a:pt x="292" y="229"/>
                    </a:lnTo>
                    <a:lnTo>
                      <a:pt x="284" y="202"/>
                    </a:lnTo>
                    <a:lnTo>
                      <a:pt x="281" y="197"/>
                    </a:lnTo>
                    <a:lnTo>
                      <a:pt x="270" y="171"/>
                    </a:lnTo>
                    <a:lnTo>
                      <a:pt x="258" y="147"/>
                    </a:lnTo>
                    <a:lnTo>
                      <a:pt x="243" y="123"/>
                    </a:lnTo>
                    <a:lnTo>
                      <a:pt x="226" y="103"/>
                    </a:lnTo>
                    <a:lnTo>
                      <a:pt x="207" y="82"/>
                    </a:lnTo>
                    <a:lnTo>
                      <a:pt x="187" y="64"/>
                    </a:lnTo>
                    <a:lnTo>
                      <a:pt x="165" y="49"/>
                    </a:lnTo>
                    <a:lnTo>
                      <a:pt x="163" y="47"/>
                    </a:lnTo>
                    <a:lnTo>
                      <a:pt x="139" y="33"/>
                    </a:lnTo>
                    <a:lnTo>
                      <a:pt x="116" y="22"/>
                    </a:lnTo>
                    <a:lnTo>
                      <a:pt x="90" y="11"/>
                    </a:lnTo>
                    <a:lnTo>
                      <a:pt x="63" y="5"/>
                    </a:lnTo>
                    <a:lnTo>
                      <a:pt x="60" y="5"/>
                    </a:lnTo>
                    <a:lnTo>
                      <a:pt x="33" y="0"/>
                    </a:lnTo>
                    <a:lnTo>
                      <a:pt x="32" y="15"/>
                    </a:lnTo>
                    <a:lnTo>
                      <a:pt x="60" y="20"/>
                    </a:lnTo>
                    <a:lnTo>
                      <a:pt x="60" y="13"/>
                    </a:lnTo>
                    <a:lnTo>
                      <a:pt x="56" y="19"/>
                    </a:lnTo>
                    <a:lnTo>
                      <a:pt x="84" y="26"/>
                    </a:lnTo>
                    <a:lnTo>
                      <a:pt x="110" y="36"/>
                    </a:lnTo>
                    <a:lnTo>
                      <a:pt x="133" y="47"/>
                    </a:lnTo>
                    <a:lnTo>
                      <a:pt x="156" y="62"/>
                    </a:lnTo>
                    <a:lnTo>
                      <a:pt x="160" y="54"/>
                    </a:lnTo>
                    <a:lnTo>
                      <a:pt x="154" y="60"/>
                    </a:lnTo>
                    <a:lnTo>
                      <a:pt x="176" y="76"/>
                    </a:lnTo>
                    <a:lnTo>
                      <a:pt x="196" y="94"/>
                    </a:lnTo>
                    <a:lnTo>
                      <a:pt x="215" y="114"/>
                    </a:lnTo>
                    <a:lnTo>
                      <a:pt x="232" y="135"/>
                    </a:lnTo>
                    <a:lnTo>
                      <a:pt x="247" y="158"/>
                    </a:lnTo>
                    <a:lnTo>
                      <a:pt x="259" y="183"/>
                    </a:lnTo>
                    <a:lnTo>
                      <a:pt x="270" y="208"/>
                    </a:lnTo>
                    <a:lnTo>
                      <a:pt x="276" y="202"/>
                    </a:lnTo>
                    <a:lnTo>
                      <a:pt x="269" y="202"/>
                    </a:lnTo>
                    <a:lnTo>
                      <a:pt x="277" y="229"/>
                    </a:lnTo>
                    <a:lnTo>
                      <a:pt x="284" y="256"/>
                    </a:lnTo>
                    <a:lnTo>
                      <a:pt x="287" y="284"/>
                    </a:lnTo>
                    <a:lnTo>
                      <a:pt x="289" y="314"/>
                    </a:lnTo>
                    <a:lnTo>
                      <a:pt x="287" y="346"/>
                    </a:lnTo>
                    <a:lnTo>
                      <a:pt x="282" y="377"/>
                    </a:lnTo>
                    <a:lnTo>
                      <a:pt x="275" y="407"/>
                    </a:lnTo>
                    <a:lnTo>
                      <a:pt x="265" y="435"/>
                    </a:lnTo>
                    <a:lnTo>
                      <a:pt x="273" y="435"/>
                    </a:lnTo>
                    <a:lnTo>
                      <a:pt x="268" y="429"/>
                    </a:lnTo>
                    <a:lnTo>
                      <a:pt x="255" y="456"/>
                    </a:lnTo>
                    <a:lnTo>
                      <a:pt x="240" y="482"/>
                    </a:lnTo>
                    <a:lnTo>
                      <a:pt x="223" y="505"/>
                    </a:lnTo>
                    <a:lnTo>
                      <a:pt x="203" y="527"/>
                    </a:lnTo>
                    <a:lnTo>
                      <a:pt x="182" y="547"/>
                    </a:lnTo>
                    <a:lnTo>
                      <a:pt x="160" y="565"/>
                    </a:lnTo>
                    <a:lnTo>
                      <a:pt x="165" y="570"/>
                    </a:lnTo>
                    <a:lnTo>
                      <a:pt x="163" y="564"/>
                    </a:lnTo>
                    <a:lnTo>
                      <a:pt x="138" y="579"/>
                    </a:lnTo>
                    <a:lnTo>
                      <a:pt x="112" y="592"/>
                    </a:lnTo>
                    <a:lnTo>
                      <a:pt x="85" y="603"/>
                    </a:lnTo>
                    <a:lnTo>
                      <a:pt x="56" y="610"/>
                    </a:lnTo>
                    <a:lnTo>
                      <a:pt x="60" y="617"/>
                    </a:lnTo>
                    <a:lnTo>
                      <a:pt x="60" y="609"/>
                    </a:lnTo>
                    <a:lnTo>
                      <a:pt x="31" y="614"/>
                    </a:lnTo>
                    <a:lnTo>
                      <a:pt x="0" y="615"/>
                    </a:lnTo>
                    <a:close/>
                  </a:path>
                </a:pathLst>
              </a:custGeom>
              <a:solidFill>
                <a:srgbClr val="3333CC"/>
              </a:solidFill>
              <a:ln w="9525">
                <a:noFill/>
                <a:round/>
                <a:headEnd/>
                <a:tailEnd/>
              </a:ln>
            </p:spPr>
            <p:txBody>
              <a:bodyPr/>
              <a:lstStyle/>
              <a:p>
                <a:endParaRPr lang="zh-CN" altLang="en-US"/>
              </a:p>
            </p:txBody>
          </p:sp>
          <p:sp>
            <p:nvSpPr>
              <p:cNvPr id="90136" name="Freeform 76"/>
              <p:cNvSpPr>
                <a:spLocks/>
              </p:cNvSpPr>
              <p:nvPr/>
            </p:nvSpPr>
            <p:spPr bwMode="auto">
              <a:xfrm>
                <a:off x="3910" y="1664"/>
                <a:ext cx="594" cy="1316"/>
              </a:xfrm>
              <a:custGeom>
                <a:avLst/>
                <a:gdLst>
                  <a:gd name="T0" fmla="*/ 1 w 594"/>
                  <a:gd name="T1" fmla="*/ 1316 h 1316"/>
                  <a:gd name="T2" fmla="*/ 61 w 594"/>
                  <a:gd name="T3" fmla="*/ 1309 h 1316"/>
                  <a:gd name="T4" fmla="*/ 94 w 594"/>
                  <a:gd name="T5" fmla="*/ 1303 h 1316"/>
                  <a:gd name="T6" fmla="*/ 152 w 594"/>
                  <a:gd name="T7" fmla="*/ 1288 h 1316"/>
                  <a:gd name="T8" fmla="*/ 208 w 594"/>
                  <a:gd name="T9" fmla="*/ 1266 h 1316"/>
                  <a:gd name="T10" fmla="*/ 285 w 594"/>
                  <a:gd name="T11" fmla="*/ 1224 h 1316"/>
                  <a:gd name="T12" fmla="*/ 336 w 594"/>
                  <a:gd name="T13" fmla="*/ 1190 h 1316"/>
                  <a:gd name="T14" fmla="*/ 423 w 594"/>
                  <a:gd name="T15" fmla="*/ 1111 h 1316"/>
                  <a:gd name="T16" fmla="*/ 494 w 594"/>
                  <a:gd name="T17" fmla="*/ 1016 h 1316"/>
                  <a:gd name="T18" fmla="*/ 535 w 594"/>
                  <a:gd name="T19" fmla="*/ 936 h 1316"/>
                  <a:gd name="T20" fmla="*/ 548 w 594"/>
                  <a:gd name="T21" fmla="*/ 902 h 1316"/>
                  <a:gd name="T22" fmla="*/ 568 w 594"/>
                  <a:gd name="T23" fmla="*/ 845 h 1316"/>
                  <a:gd name="T24" fmla="*/ 583 w 594"/>
                  <a:gd name="T25" fmla="*/ 784 h 1316"/>
                  <a:gd name="T26" fmla="*/ 592 w 594"/>
                  <a:gd name="T27" fmla="*/ 722 h 1316"/>
                  <a:gd name="T28" fmla="*/ 594 w 594"/>
                  <a:gd name="T29" fmla="*/ 658 h 1316"/>
                  <a:gd name="T30" fmla="*/ 592 w 594"/>
                  <a:gd name="T31" fmla="*/ 595 h 1316"/>
                  <a:gd name="T32" fmla="*/ 583 w 594"/>
                  <a:gd name="T33" fmla="*/ 533 h 1316"/>
                  <a:gd name="T34" fmla="*/ 568 w 594"/>
                  <a:gd name="T35" fmla="*/ 472 h 1316"/>
                  <a:gd name="T36" fmla="*/ 550 w 594"/>
                  <a:gd name="T37" fmla="*/ 416 h 1316"/>
                  <a:gd name="T38" fmla="*/ 524 w 594"/>
                  <a:gd name="T39" fmla="*/ 354 h 1316"/>
                  <a:gd name="T40" fmla="*/ 462 w 594"/>
                  <a:gd name="T41" fmla="*/ 253 h 1316"/>
                  <a:gd name="T42" fmla="*/ 384 w 594"/>
                  <a:gd name="T43" fmla="*/ 166 h 1316"/>
                  <a:gd name="T44" fmla="*/ 292 w 594"/>
                  <a:gd name="T45" fmla="*/ 94 h 1316"/>
                  <a:gd name="T46" fmla="*/ 239 w 594"/>
                  <a:gd name="T47" fmla="*/ 64 h 1316"/>
                  <a:gd name="T48" fmla="*/ 185 w 594"/>
                  <a:gd name="T49" fmla="*/ 39 h 1316"/>
                  <a:gd name="T50" fmla="*/ 129 w 594"/>
                  <a:gd name="T51" fmla="*/ 21 h 1316"/>
                  <a:gd name="T52" fmla="*/ 98 w 594"/>
                  <a:gd name="T53" fmla="*/ 14 h 1316"/>
                  <a:gd name="T54" fmla="*/ 39 w 594"/>
                  <a:gd name="T55" fmla="*/ 2 h 1316"/>
                  <a:gd name="T56" fmla="*/ 8 w 594"/>
                  <a:gd name="T57" fmla="*/ 15 h 1316"/>
                  <a:gd name="T58" fmla="*/ 68 w 594"/>
                  <a:gd name="T59" fmla="*/ 23 h 1316"/>
                  <a:gd name="T60" fmla="*/ 98 w 594"/>
                  <a:gd name="T61" fmla="*/ 21 h 1316"/>
                  <a:gd name="T62" fmla="*/ 122 w 594"/>
                  <a:gd name="T63" fmla="*/ 36 h 1316"/>
                  <a:gd name="T64" fmla="*/ 179 w 594"/>
                  <a:gd name="T65" fmla="*/ 54 h 1316"/>
                  <a:gd name="T66" fmla="*/ 232 w 594"/>
                  <a:gd name="T67" fmla="*/ 78 h 1316"/>
                  <a:gd name="T68" fmla="*/ 287 w 594"/>
                  <a:gd name="T69" fmla="*/ 100 h 1316"/>
                  <a:gd name="T70" fmla="*/ 329 w 594"/>
                  <a:gd name="T71" fmla="*/ 140 h 1316"/>
                  <a:gd name="T72" fmla="*/ 414 w 594"/>
                  <a:gd name="T73" fmla="*/ 218 h 1316"/>
                  <a:gd name="T74" fmla="*/ 484 w 594"/>
                  <a:gd name="T75" fmla="*/ 314 h 1316"/>
                  <a:gd name="T76" fmla="*/ 536 w 594"/>
                  <a:gd name="T77" fmla="*/ 421 h 1316"/>
                  <a:gd name="T78" fmla="*/ 535 w 594"/>
                  <a:gd name="T79" fmla="*/ 416 h 1316"/>
                  <a:gd name="T80" fmla="*/ 553 w 594"/>
                  <a:gd name="T81" fmla="*/ 472 h 1316"/>
                  <a:gd name="T82" fmla="*/ 568 w 594"/>
                  <a:gd name="T83" fmla="*/ 533 h 1316"/>
                  <a:gd name="T84" fmla="*/ 577 w 594"/>
                  <a:gd name="T85" fmla="*/ 595 h 1316"/>
                  <a:gd name="T86" fmla="*/ 579 w 594"/>
                  <a:gd name="T87" fmla="*/ 658 h 1316"/>
                  <a:gd name="T88" fmla="*/ 577 w 594"/>
                  <a:gd name="T89" fmla="*/ 722 h 1316"/>
                  <a:gd name="T90" fmla="*/ 568 w 594"/>
                  <a:gd name="T91" fmla="*/ 784 h 1316"/>
                  <a:gd name="T92" fmla="*/ 553 w 594"/>
                  <a:gd name="T93" fmla="*/ 845 h 1316"/>
                  <a:gd name="T94" fmla="*/ 534 w 594"/>
                  <a:gd name="T95" fmla="*/ 902 h 1316"/>
                  <a:gd name="T96" fmla="*/ 536 w 594"/>
                  <a:gd name="T97" fmla="*/ 896 h 1316"/>
                  <a:gd name="T98" fmla="*/ 511 w 594"/>
                  <a:gd name="T99" fmla="*/ 951 h 1316"/>
                  <a:gd name="T100" fmla="*/ 450 w 594"/>
                  <a:gd name="T101" fmla="*/ 1053 h 1316"/>
                  <a:gd name="T102" fmla="*/ 371 w 594"/>
                  <a:gd name="T103" fmla="*/ 1141 h 1316"/>
                  <a:gd name="T104" fmla="*/ 331 w 594"/>
                  <a:gd name="T105" fmla="*/ 1185 h 1316"/>
                  <a:gd name="T106" fmla="*/ 279 w 594"/>
                  <a:gd name="T107" fmla="*/ 1210 h 1316"/>
                  <a:gd name="T108" fmla="*/ 202 w 594"/>
                  <a:gd name="T109" fmla="*/ 1252 h 1316"/>
                  <a:gd name="T110" fmla="*/ 146 w 594"/>
                  <a:gd name="T111" fmla="*/ 1273 h 1316"/>
                  <a:gd name="T112" fmla="*/ 88 w 594"/>
                  <a:gd name="T113" fmla="*/ 1289 h 1316"/>
                  <a:gd name="T114" fmla="*/ 90 w 594"/>
                  <a:gd name="T115" fmla="*/ 1288 h 1316"/>
                  <a:gd name="T116" fmla="*/ 31 w 594"/>
                  <a:gd name="T117" fmla="*/ 1298 h 131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594"/>
                  <a:gd name="T178" fmla="*/ 0 h 1316"/>
                  <a:gd name="T179" fmla="*/ 594 w 594"/>
                  <a:gd name="T180" fmla="*/ 1316 h 131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594" h="1316">
                    <a:moveTo>
                      <a:pt x="0" y="1300"/>
                    </a:moveTo>
                    <a:lnTo>
                      <a:pt x="1" y="1316"/>
                    </a:lnTo>
                    <a:lnTo>
                      <a:pt x="31" y="1313"/>
                    </a:lnTo>
                    <a:lnTo>
                      <a:pt x="61" y="1309"/>
                    </a:lnTo>
                    <a:lnTo>
                      <a:pt x="90" y="1303"/>
                    </a:lnTo>
                    <a:lnTo>
                      <a:pt x="94" y="1303"/>
                    </a:lnTo>
                    <a:lnTo>
                      <a:pt x="124" y="1295"/>
                    </a:lnTo>
                    <a:lnTo>
                      <a:pt x="152" y="1288"/>
                    </a:lnTo>
                    <a:lnTo>
                      <a:pt x="181" y="1277"/>
                    </a:lnTo>
                    <a:lnTo>
                      <a:pt x="208" y="1266"/>
                    </a:lnTo>
                    <a:lnTo>
                      <a:pt x="234" y="1254"/>
                    </a:lnTo>
                    <a:lnTo>
                      <a:pt x="285" y="1224"/>
                    </a:lnTo>
                    <a:lnTo>
                      <a:pt x="334" y="1191"/>
                    </a:lnTo>
                    <a:lnTo>
                      <a:pt x="336" y="1190"/>
                    </a:lnTo>
                    <a:lnTo>
                      <a:pt x="382" y="1152"/>
                    </a:lnTo>
                    <a:lnTo>
                      <a:pt x="423" y="1111"/>
                    </a:lnTo>
                    <a:lnTo>
                      <a:pt x="461" y="1065"/>
                    </a:lnTo>
                    <a:lnTo>
                      <a:pt x="494" y="1016"/>
                    </a:lnTo>
                    <a:lnTo>
                      <a:pt x="523" y="963"/>
                    </a:lnTo>
                    <a:lnTo>
                      <a:pt x="535" y="936"/>
                    </a:lnTo>
                    <a:lnTo>
                      <a:pt x="547" y="908"/>
                    </a:lnTo>
                    <a:lnTo>
                      <a:pt x="548" y="902"/>
                    </a:lnTo>
                    <a:lnTo>
                      <a:pt x="560" y="874"/>
                    </a:lnTo>
                    <a:lnTo>
                      <a:pt x="568" y="845"/>
                    </a:lnTo>
                    <a:lnTo>
                      <a:pt x="576" y="815"/>
                    </a:lnTo>
                    <a:lnTo>
                      <a:pt x="583" y="784"/>
                    </a:lnTo>
                    <a:lnTo>
                      <a:pt x="588" y="753"/>
                    </a:lnTo>
                    <a:lnTo>
                      <a:pt x="592" y="722"/>
                    </a:lnTo>
                    <a:lnTo>
                      <a:pt x="593" y="690"/>
                    </a:lnTo>
                    <a:lnTo>
                      <a:pt x="594" y="658"/>
                    </a:lnTo>
                    <a:lnTo>
                      <a:pt x="593" y="626"/>
                    </a:lnTo>
                    <a:lnTo>
                      <a:pt x="592" y="595"/>
                    </a:lnTo>
                    <a:lnTo>
                      <a:pt x="588" y="564"/>
                    </a:lnTo>
                    <a:lnTo>
                      <a:pt x="583" y="533"/>
                    </a:lnTo>
                    <a:lnTo>
                      <a:pt x="577" y="502"/>
                    </a:lnTo>
                    <a:lnTo>
                      <a:pt x="568" y="472"/>
                    </a:lnTo>
                    <a:lnTo>
                      <a:pt x="560" y="444"/>
                    </a:lnTo>
                    <a:lnTo>
                      <a:pt x="550" y="416"/>
                    </a:lnTo>
                    <a:lnTo>
                      <a:pt x="547" y="409"/>
                    </a:lnTo>
                    <a:lnTo>
                      <a:pt x="524" y="354"/>
                    </a:lnTo>
                    <a:lnTo>
                      <a:pt x="495" y="302"/>
                    </a:lnTo>
                    <a:lnTo>
                      <a:pt x="462" y="253"/>
                    </a:lnTo>
                    <a:lnTo>
                      <a:pt x="425" y="207"/>
                    </a:lnTo>
                    <a:lnTo>
                      <a:pt x="384" y="166"/>
                    </a:lnTo>
                    <a:lnTo>
                      <a:pt x="340" y="128"/>
                    </a:lnTo>
                    <a:lnTo>
                      <a:pt x="292" y="94"/>
                    </a:lnTo>
                    <a:lnTo>
                      <a:pt x="289" y="92"/>
                    </a:lnTo>
                    <a:lnTo>
                      <a:pt x="239" y="64"/>
                    </a:lnTo>
                    <a:lnTo>
                      <a:pt x="213" y="51"/>
                    </a:lnTo>
                    <a:lnTo>
                      <a:pt x="185" y="39"/>
                    </a:lnTo>
                    <a:lnTo>
                      <a:pt x="157" y="30"/>
                    </a:lnTo>
                    <a:lnTo>
                      <a:pt x="129" y="21"/>
                    </a:lnTo>
                    <a:lnTo>
                      <a:pt x="100" y="14"/>
                    </a:lnTo>
                    <a:lnTo>
                      <a:pt x="98" y="14"/>
                    </a:lnTo>
                    <a:lnTo>
                      <a:pt x="68" y="7"/>
                    </a:lnTo>
                    <a:lnTo>
                      <a:pt x="39" y="2"/>
                    </a:lnTo>
                    <a:lnTo>
                      <a:pt x="9" y="0"/>
                    </a:lnTo>
                    <a:lnTo>
                      <a:pt x="8" y="15"/>
                    </a:lnTo>
                    <a:lnTo>
                      <a:pt x="39" y="18"/>
                    </a:lnTo>
                    <a:lnTo>
                      <a:pt x="68" y="23"/>
                    </a:lnTo>
                    <a:lnTo>
                      <a:pt x="98" y="29"/>
                    </a:lnTo>
                    <a:lnTo>
                      <a:pt x="98" y="21"/>
                    </a:lnTo>
                    <a:lnTo>
                      <a:pt x="94" y="28"/>
                    </a:lnTo>
                    <a:lnTo>
                      <a:pt x="122" y="36"/>
                    </a:lnTo>
                    <a:lnTo>
                      <a:pt x="151" y="45"/>
                    </a:lnTo>
                    <a:lnTo>
                      <a:pt x="179" y="54"/>
                    </a:lnTo>
                    <a:lnTo>
                      <a:pt x="206" y="65"/>
                    </a:lnTo>
                    <a:lnTo>
                      <a:pt x="232" y="78"/>
                    </a:lnTo>
                    <a:lnTo>
                      <a:pt x="283" y="106"/>
                    </a:lnTo>
                    <a:lnTo>
                      <a:pt x="287" y="100"/>
                    </a:lnTo>
                    <a:lnTo>
                      <a:pt x="281" y="105"/>
                    </a:lnTo>
                    <a:lnTo>
                      <a:pt x="329" y="140"/>
                    </a:lnTo>
                    <a:lnTo>
                      <a:pt x="373" y="177"/>
                    </a:lnTo>
                    <a:lnTo>
                      <a:pt x="414" y="218"/>
                    </a:lnTo>
                    <a:lnTo>
                      <a:pt x="451" y="265"/>
                    </a:lnTo>
                    <a:lnTo>
                      <a:pt x="484" y="314"/>
                    </a:lnTo>
                    <a:lnTo>
                      <a:pt x="513" y="365"/>
                    </a:lnTo>
                    <a:lnTo>
                      <a:pt x="536" y="421"/>
                    </a:lnTo>
                    <a:lnTo>
                      <a:pt x="542" y="416"/>
                    </a:lnTo>
                    <a:lnTo>
                      <a:pt x="535" y="416"/>
                    </a:lnTo>
                    <a:lnTo>
                      <a:pt x="545" y="444"/>
                    </a:lnTo>
                    <a:lnTo>
                      <a:pt x="553" y="472"/>
                    </a:lnTo>
                    <a:lnTo>
                      <a:pt x="562" y="502"/>
                    </a:lnTo>
                    <a:lnTo>
                      <a:pt x="568" y="533"/>
                    </a:lnTo>
                    <a:lnTo>
                      <a:pt x="573" y="564"/>
                    </a:lnTo>
                    <a:lnTo>
                      <a:pt x="577" y="595"/>
                    </a:lnTo>
                    <a:lnTo>
                      <a:pt x="578" y="626"/>
                    </a:lnTo>
                    <a:lnTo>
                      <a:pt x="579" y="658"/>
                    </a:lnTo>
                    <a:lnTo>
                      <a:pt x="578" y="690"/>
                    </a:lnTo>
                    <a:lnTo>
                      <a:pt x="577" y="722"/>
                    </a:lnTo>
                    <a:lnTo>
                      <a:pt x="573" y="753"/>
                    </a:lnTo>
                    <a:lnTo>
                      <a:pt x="568" y="784"/>
                    </a:lnTo>
                    <a:lnTo>
                      <a:pt x="561" y="815"/>
                    </a:lnTo>
                    <a:lnTo>
                      <a:pt x="553" y="845"/>
                    </a:lnTo>
                    <a:lnTo>
                      <a:pt x="545" y="874"/>
                    </a:lnTo>
                    <a:lnTo>
                      <a:pt x="534" y="902"/>
                    </a:lnTo>
                    <a:lnTo>
                      <a:pt x="541" y="902"/>
                    </a:lnTo>
                    <a:lnTo>
                      <a:pt x="536" y="896"/>
                    </a:lnTo>
                    <a:lnTo>
                      <a:pt x="524" y="924"/>
                    </a:lnTo>
                    <a:lnTo>
                      <a:pt x="511" y="951"/>
                    </a:lnTo>
                    <a:lnTo>
                      <a:pt x="483" y="1004"/>
                    </a:lnTo>
                    <a:lnTo>
                      <a:pt x="450" y="1053"/>
                    </a:lnTo>
                    <a:lnTo>
                      <a:pt x="411" y="1100"/>
                    </a:lnTo>
                    <a:lnTo>
                      <a:pt x="371" y="1141"/>
                    </a:lnTo>
                    <a:lnTo>
                      <a:pt x="325" y="1178"/>
                    </a:lnTo>
                    <a:lnTo>
                      <a:pt x="331" y="1185"/>
                    </a:lnTo>
                    <a:lnTo>
                      <a:pt x="327" y="1177"/>
                    </a:lnTo>
                    <a:lnTo>
                      <a:pt x="279" y="1210"/>
                    </a:lnTo>
                    <a:lnTo>
                      <a:pt x="227" y="1240"/>
                    </a:lnTo>
                    <a:lnTo>
                      <a:pt x="202" y="1252"/>
                    </a:lnTo>
                    <a:lnTo>
                      <a:pt x="174" y="1263"/>
                    </a:lnTo>
                    <a:lnTo>
                      <a:pt x="146" y="1273"/>
                    </a:lnTo>
                    <a:lnTo>
                      <a:pt x="118" y="1281"/>
                    </a:lnTo>
                    <a:lnTo>
                      <a:pt x="88" y="1289"/>
                    </a:lnTo>
                    <a:lnTo>
                      <a:pt x="90" y="1295"/>
                    </a:lnTo>
                    <a:lnTo>
                      <a:pt x="90" y="1288"/>
                    </a:lnTo>
                    <a:lnTo>
                      <a:pt x="61" y="1294"/>
                    </a:lnTo>
                    <a:lnTo>
                      <a:pt x="31" y="1298"/>
                    </a:lnTo>
                    <a:lnTo>
                      <a:pt x="0" y="1300"/>
                    </a:lnTo>
                    <a:close/>
                  </a:path>
                </a:pathLst>
              </a:custGeom>
              <a:solidFill>
                <a:srgbClr val="3333CC"/>
              </a:solidFill>
              <a:ln w="9525">
                <a:noFill/>
                <a:round/>
                <a:headEnd/>
                <a:tailEnd/>
              </a:ln>
            </p:spPr>
            <p:txBody>
              <a:bodyPr/>
              <a:lstStyle/>
              <a:p>
                <a:endParaRPr lang="zh-CN" altLang="en-US"/>
              </a:p>
            </p:txBody>
          </p:sp>
        </p:grpSp>
        <p:grpSp>
          <p:nvGrpSpPr>
            <p:cNvPr id="90123" name="Group 87"/>
            <p:cNvGrpSpPr>
              <a:grpSpLocks/>
            </p:cNvGrpSpPr>
            <p:nvPr/>
          </p:nvGrpSpPr>
          <p:grpSpPr bwMode="auto">
            <a:xfrm>
              <a:off x="3858" y="1548"/>
              <a:ext cx="804" cy="1545"/>
              <a:chOff x="3858" y="1548"/>
              <a:chExt cx="804" cy="1545"/>
            </a:xfrm>
          </p:grpSpPr>
          <p:grpSp>
            <p:nvGrpSpPr>
              <p:cNvPr id="90126" name="Group 80"/>
              <p:cNvGrpSpPr>
                <a:grpSpLocks/>
              </p:cNvGrpSpPr>
              <p:nvPr/>
            </p:nvGrpSpPr>
            <p:grpSpPr bwMode="auto">
              <a:xfrm>
                <a:off x="3891" y="2302"/>
                <a:ext cx="771" cy="100"/>
                <a:chOff x="3891" y="2302"/>
                <a:chExt cx="771" cy="100"/>
              </a:xfrm>
            </p:grpSpPr>
            <p:sp>
              <p:nvSpPr>
                <p:cNvPr id="90133" name="Rectangle 78"/>
                <p:cNvSpPr>
                  <a:spLocks noChangeArrowheads="1"/>
                </p:cNvSpPr>
                <p:nvPr/>
              </p:nvSpPr>
              <p:spPr bwMode="auto">
                <a:xfrm>
                  <a:off x="3891" y="2344"/>
                  <a:ext cx="674" cy="15"/>
                </a:xfrm>
                <a:prstGeom prst="rect">
                  <a:avLst/>
                </a:prstGeom>
                <a:solidFill>
                  <a:srgbClr val="FF3300"/>
                </a:solidFill>
                <a:ln w="9525">
                  <a:noFill/>
                  <a:miter lim="800000"/>
                  <a:headEnd/>
                  <a:tailEnd/>
                </a:ln>
              </p:spPr>
              <p:txBody>
                <a:bodyPr/>
                <a:lstStyle/>
                <a:p>
                  <a:endParaRPr kumimoji="0" lang="zh-CN" altLang="zh-CN" sz="1800"/>
                </a:p>
              </p:txBody>
            </p:sp>
            <p:sp>
              <p:nvSpPr>
                <p:cNvPr id="90134" name="Freeform 79"/>
                <p:cNvSpPr>
                  <a:spLocks/>
                </p:cNvSpPr>
                <p:nvPr/>
              </p:nvSpPr>
              <p:spPr bwMode="auto">
                <a:xfrm>
                  <a:off x="4517" y="2302"/>
                  <a:ext cx="145" cy="100"/>
                </a:xfrm>
                <a:custGeom>
                  <a:avLst/>
                  <a:gdLst>
                    <a:gd name="T0" fmla="*/ 0 w 145"/>
                    <a:gd name="T1" fmla="*/ 100 h 100"/>
                    <a:gd name="T2" fmla="*/ 145 w 145"/>
                    <a:gd name="T3" fmla="*/ 49 h 100"/>
                    <a:gd name="T4" fmla="*/ 0 w 145"/>
                    <a:gd name="T5" fmla="*/ 0 h 100"/>
                    <a:gd name="T6" fmla="*/ 46 w 145"/>
                    <a:gd name="T7" fmla="*/ 49 h 100"/>
                    <a:gd name="T8" fmla="*/ 0 w 145"/>
                    <a:gd name="T9" fmla="*/ 100 h 100"/>
                    <a:gd name="T10" fmla="*/ 0 60000 65536"/>
                    <a:gd name="T11" fmla="*/ 0 60000 65536"/>
                    <a:gd name="T12" fmla="*/ 0 60000 65536"/>
                    <a:gd name="T13" fmla="*/ 0 60000 65536"/>
                    <a:gd name="T14" fmla="*/ 0 60000 65536"/>
                    <a:gd name="T15" fmla="*/ 0 w 145"/>
                    <a:gd name="T16" fmla="*/ 0 h 100"/>
                    <a:gd name="T17" fmla="*/ 145 w 145"/>
                    <a:gd name="T18" fmla="*/ 100 h 100"/>
                  </a:gdLst>
                  <a:ahLst/>
                  <a:cxnLst>
                    <a:cxn ang="T10">
                      <a:pos x="T0" y="T1"/>
                    </a:cxn>
                    <a:cxn ang="T11">
                      <a:pos x="T2" y="T3"/>
                    </a:cxn>
                    <a:cxn ang="T12">
                      <a:pos x="T4" y="T5"/>
                    </a:cxn>
                    <a:cxn ang="T13">
                      <a:pos x="T6" y="T7"/>
                    </a:cxn>
                    <a:cxn ang="T14">
                      <a:pos x="T8" y="T9"/>
                    </a:cxn>
                  </a:cxnLst>
                  <a:rect l="T15" t="T16" r="T17" b="T18"/>
                  <a:pathLst>
                    <a:path w="145" h="100">
                      <a:moveTo>
                        <a:pt x="0" y="100"/>
                      </a:moveTo>
                      <a:lnTo>
                        <a:pt x="145" y="49"/>
                      </a:lnTo>
                      <a:lnTo>
                        <a:pt x="0" y="0"/>
                      </a:lnTo>
                      <a:lnTo>
                        <a:pt x="46" y="49"/>
                      </a:lnTo>
                      <a:lnTo>
                        <a:pt x="0" y="100"/>
                      </a:lnTo>
                      <a:close/>
                    </a:path>
                  </a:pathLst>
                </a:custGeom>
                <a:solidFill>
                  <a:srgbClr val="FF3300"/>
                </a:solidFill>
                <a:ln w="9525">
                  <a:noFill/>
                  <a:round/>
                  <a:headEnd/>
                  <a:tailEnd/>
                </a:ln>
              </p:spPr>
              <p:txBody>
                <a:bodyPr/>
                <a:lstStyle/>
                <a:p>
                  <a:endParaRPr lang="zh-CN" altLang="en-US"/>
                </a:p>
              </p:txBody>
            </p:sp>
          </p:grpSp>
          <p:grpSp>
            <p:nvGrpSpPr>
              <p:cNvPr id="90127" name="Group 83"/>
              <p:cNvGrpSpPr>
                <a:grpSpLocks/>
              </p:cNvGrpSpPr>
              <p:nvPr/>
            </p:nvGrpSpPr>
            <p:grpSpPr bwMode="auto">
              <a:xfrm>
                <a:off x="3858" y="1548"/>
                <a:ext cx="420" cy="809"/>
                <a:chOff x="3858" y="1548"/>
                <a:chExt cx="420" cy="809"/>
              </a:xfrm>
            </p:grpSpPr>
            <p:sp>
              <p:nvSpPr>
                <p:cNvPr id="90131" name="Freeform 81"/>
                <p:cNvSpPr>
                  <a:spLocks/>
                </p:cNvSpPr>
                <p:nvPr/>
              </p:nvSpPr>
              <p:spPr bwMode="auto">
                <a:xfrm>
                  <a:off x="3858" y="1631"/>
                  <a:ext cx="381" cy="726"/>
                </a:xfrm>
                <a:custGeom>
                  <a:avLst/>
                  <a:gdLst>
                    <a:gd name="T0" fmla="*/ 0 w 381"/>
                    <a:gd name="T1" fmla="*/ 716 h 726"/>
                    <a:gd name="T2" fmla="*/ 11 w 381"/>
                    <a:gd name="T3" fmla="*/ 726 h 726"/>
                    <a:gd name="T4" fmla="*/ 381 w 381"/>
                    <a:gd name="T5" fmla="*/ 9 h 726"/>
                    <a:gd name="T6" fmla="*/ 370 w 381"/>
                    <a:gd name="T7" fmla="*/ 0 h 726"/>
                    <a:gd name="T8" fmla="*/ 0 w 381"/>
                    <a:gd name="T9" fmla="*/ 716 h 726"/>
                    <a:gd name="T10" fmla="*/ 0 60000 65536"/>
                    <a:gd name="T11" fmla="*/ 0 60000 65536"/>
                    <a:gd name="T12" fmla="*/ 0 60000 65536"/>
                    <a:gd name="T13" fmla="*/ 0 60000 65536"/>
                    <a:gd name="T14" fmla="*/ 0 60000 65536"/>
                    <a:gd name="T15" fmla="*/ 0 w 381"/>
                    <a:gd name="T16" fmla="*/ 0 h 726"/>
                    <a:gd name="T17" fmla="*/ 381 w 381"/>
                    <a:gd name="T18" fmla="*/ 726 h 726"/>
                  </a:gdLst>
                  <a:ahLst/>
                  <a:cxnLst>
                    <a:cxn ang="T10">
                      <a:pos x="T0" y="T1"/>
                    </a:cxn>
                    <a:cxn ang="T11">
                      <a:pos x="T2" y="T3"/>
                    </a:cxn>
                    <a:cxn ang="T12">
                      <a:pos x="T4" y="T5"/>
                    </a:cxn>
                    <a:cxn ang="T13">
                      <a:pos x="T6" y="T7"/>
                    </a:cxn>
                    <a:cxn ang="T14">
                      <a:pos x="T8" y="T9"/>
                    </a:cxn>
                  </a:cxnLst>
                  <a:rect l="T15" t="T16" r="T17" b="T18"/>
                  <a:pathLst>
                    <a:path w="381" h="726">
                      <a:moveTo>
                        <a:pt x="0" y="716"/>
                      </a:moveTo>
                      <a:lnTo>
                        <a:pt x="11" y="726"/>
                      </a:lnTo>
                      <a:lnTo>
                        <a:pt x="381" y="9"/>
                      </a:lnTo>
                      <a:lnTo>
                        <a:pt x="370" y="0"/>
                      </a:lnTo>
                      <a:lnTo>
                        <a:pt x="0" y="716"/>
                      </a:lnTo>
                      <a:close/>
                    </a:path>
                  </a:pathLst>
                </a:custGeom>
                <a:solidFill>
                  <a:srgbClr val="FF3300"/>
                </a:solidFill>
                <a:ln w="9525">
                  <a:noFill/>
                  <a:round/>
                  <a:headEnd/>
                  <a:tailEnd/>
                </a:ln>
              </p:spPr>
              <p:txBody>
                <a:bodyPr/>
                <a:lstStyle/>
                <a:p>
                  <a:endParaRPr lang="zh-CN" altLang="en-US"/>
                </a:p>
              </p:txBody>
            </p:sp>
            <p:sp>
              <p:nvSpPr>
                <p:cNvPr id="90132" name="Freeform 82"/>
                <p:cNvSpPr>
                  <a:spLocks/>
                </p:cNvSpPr>
                <p:nvPr/>
              </p:nvSpPr>
              <p:spPr bwMode="auto">
                <a:xfrm>
                  <a:off x="4168" y="1548"/>
                  <a:ext cx="110" cy="155"/>
                </a:xfrm>
                <a:custGeom>
                  <a:avLst/>
                  <a:gdLst>
                    <a:gd name="T0" fmla="*/ 83 w 110"/>
                    <a:gd name="T1" fmla="*/ 155 h 155"/>
                    <a:gd name="T2" fmla="*/ 110 w 110"/>
                    <a:gd name="T3" fmla="*/ 0 h 155"/>
                    <a:gd name="T4" fmla="*/ 0 w 110"/>
                    <a:gd name="T5" fmla="*/ 109 h 155"/>
                    <a:gd name="T6" fmla="*/ 63 w 110"/>
                    <a:gd name="T7" fmla="*/ 90 h 155"/>
                    <a:gd name="T8" fmla="*/ 83 w 110"/>
                    <a:gd name="T9" fmla="*/ 155 h 155"/>
                    <a:gd name="T10" fmla="*/ 0 60000 65536"/>
                    <a:gd name="T11" fmla="*/ 0 60000 65536"/>
                    <a:gd name="T12" fmla="*/ 0 60000 65536"/>
                    <a:gd name="T13" fmla="*/ 0 60000 65536"/>
                    <a:gd name="T14" fmla="*/ 0 60000 65536"/>
                    <a:gd name="T15" fmla="*/ 0 w 110"/>
                    <a:gd name="T16" fmla="*/ 0 h 155"/>
                    <a:gd name="T17" fmla="*/ 110 w 110"/>
                    <a:gd name="T18" fmla="*/ 155 h 155"/>
                  </a:gdLst>
                  <a:ahLst/>
                  <a:cxnLst>
                    <a:cxn ang="T10">
                      <a:pos x="T0" y="T1"/>
                    </a:cxn>
                    <a:cxn ang="T11">
                      <a:pos x="T2" y="T3"/>
                    </a:cxn>
                    <a:cxn ang="T12">
                      <a:pos x="T4" y="T5"/>
                    </a:cxn>
                    <a:cxn ang="T13">
                      <a:pos x="T6" y="T7"/>
                    </a:cxn>
                    <a:cxn ang="T14">
                      <a:pos x="T8" y="T9"/>
                    </a:cxn>
                  </a:cxnLst>
                  <a:rect l="T15" t="T16" r="T17" b="T18"/>
                  <a:pathLst>
                    <a:path w="110" h="155">
                      <a:moveTo>
                        <a:pt x="83" y="155"/>
                      </a:moveTo>
                      <a:lnTo>
                        <a:pt x="110" y="0"/>
                      </a:lnTo>
                      <a:lnTo>
                        <a:pt x="0" y="109"/>
                      </a:lnTo>
                      <a:lnTo>
                        <a:pt x="63" y="90"/>
                      </a:lnTo>
                      <a:lnTo>
                        <a:pt x="83" y="155"/>
                      </a:lnTo>
                      <a:close/>
                    </a:path>
                  </a:pathLst>
                </a:custGeom>
                <a:solidFill>
                  <a:srgbClr val="FF3300"/>
                </a:solidFill>
                <a:ln w="9525">
                  <a:noFill/>
                  <a:round/>
                  <a:headEnd/>
                  <a:tailEnd/>
                </a:ln>
              </p:spPr>
              <p:txBody>
                <a:bodyPr/>
                <a:lstStyle/>
                <a:p>
                  <a:endParaRPr lang="zh-CN" altLang="en-US"/>
                </a:p>
              </p:txBody>
            </p:sp>
          </p:grpSp>
          <p:grpSp>
            <p:nvGrpSpPr>
              <p:cNvPr id="90128" name="Group 86"/>
              <p:cNvGrpSpPr>
                <a:grpSpLocks/>
              </p:cNvGrpSpPr>
              <p:nvPr/>
            </p:nvGrpSpPr>
            <p:grpSpPr bwMode="auto">
              <a:xfrm>
                <a:off x="3858" y="2346"/>
                <a:ext cx="420" cy="747"/>
                <a:chOff x="3858" y="2346"/>
                <a:chExt cx="420" cy="747"/>
              </a:xfrm>
            </p:grpSpPr>
            <p:sp>
              <p:nvSpPr>
                <p:cNvPr id="90129" name="Freeform 84"/>
                <p:cNvSpPr>
                  <a:spLocks/>
                </p:cNvSpPr>
                <p:nvPr/>
              </p:nvSpPr>
              <p:spPr bwMode="auto">
                <a:xfrm>
                  <a:off x="3858" y="2346"/>
                  <a:ext cx="379" cy="666"/>
                </a:xfrm>
                <a:custGeom>
                  <a:avLst/>
                  <a:gdLst>
                    <a:gd name="T0" fmla="*/ 11 w 379"/>
                    <a:gd name="T1" fmla="*/ 0 h 666"/>
                    <a:gd name="T2" fmla="*/ 0 w 379"/>
                    <a:gd name="T3" fmla="*/ 11 h 666"/>
                    <a:gd name="T4" fmla="*/ 368 w 379"/>
                    <a:gd name="T5" fmla="*/ 666 h 666"/>
                    <a:gd name="T6" fmla="*/ 379 w 379"/>
                    <a:gd name="T7" fmla="*/ 656 h 666"/>
                    <a:gd name="T8" fmla="*/ 11 w 379"/>
                    <a:gd name="T9" fmla="*/ 0 h 666"/>
                    <a:gd name="T10" fmla="*/ 0 60000 65536"/>
                    <a:gd name="T11" fmla="*/ 0 60000 65536"/>
                    <a:gd name="T12" fmla="*/ 0 60000 65536"/>
                    <a:gd name="T13" fmla="*/ 0 60000 65536"/>
                    <a:gd name="T14" fmla="*/ 0 60000 65536"/>
                    <a:gd name="T15" fmla="*/ 0 w 379"/>
                    <a:gd name="T16" fmla="*/ 0 h 666"/>
                    <a:gd name="T17" fmla="*/ 379 w 379"/>
                    <a:gd name="T18" fmla="*/ 666 h 666"/>
                  </a:gdLst>
                  <a:ahLst/>
                  <a:cxnLst>
                    <a:cxn ang="T10">
                      <a:pos x="T0" y="T1"/>
                    </a:cxn>
                    <a:cxn ang="T11">
                      <a:pos x="T2" y="T3"/>
                    </a:cxn>
                    <a:cxn ang="T12">
                      <a:pos x="T4" y="T5"/>
                    </a:cxn>
                    <a:cxn ang="T13">
                      <a:pos x="T6" y="T7"/>
                    </a:cxn>
                    <a:cxn ang="T14">
                      <a:pos x="T8" y="T9"/>
                    </a:cxn>
                  </a:cxnLst>
                  <a:rect l="T15" t="T16" r="T17" b="T18"/>
                  <a:pathLst>
                    <a:path w="379" h="666">
                      <a:moveTo>
                        <a:pt x="11" y="0"/>
                      </a:moveTo>
                      <a:lnTo>
                        <a:pt x="0" y="11"/>
                      </a:lnTo>
                      <a:lnTo>
                        <a:pt x="368" y="666"/>
                      </a:lnTo>
                      <a:lnTo>
                        <a:pt x="379" y="656"/>
                      </a:lnTo>
                      <a:lnTo>
                        <a:pt x="11" y="0"/>
                      </a:lnTo>
                      <a:close/>
                    </a:path>
                  </a:pathLst>
                </a:custGeom>
                <a:solidFill>
                  <a:srgbClr val="FF3300"/>
                </a:solidFill>
                <a:ln w="9525">
                  <a:noFill/>
                  <a:round/>
                  <a:headEnd/>
                  <a:tailEnd/>
                </a:ln>
              </p:spPr>
              <p:txBody>
                <a:bodyPr/>
                <a:lstStyle/>
                <a:p>
                  <a:endParaRPr lang="zh-CN" altLang="en-US"/>
                </a:p>
              </p:txBody>
            </p:sp>
            <p:sp>
              <p:nvSpPr>
                <p:cNvPr id="90130" name="Freeform 85"/>
                <p:cNvSpPr>
                  <a:spLocks/>
                </p:cNvSpPr>
                <p:nvPr/>
              </p:nvSpPr>
              <p:spPr bwMode="auto">
                <a:xfrm>
                  <a:off x="4164" y="2939"/>
                  <a:ext cx="114" cy="154"/>
                </a:xfrm>
                <a:custGeom>
                  <a:avLst/>
                  <a:gdLst>
                    <a:gd name="T0" fmla="*/ 0 w 114"/>
                    <a:gd name="T1" fmla="*/ 49 h 154"/>
                    <a:gd name="T2" fmla="*/ 114 w 114"/>
                    <a:gd name="T3" fmla="*/ 154 h 154"/>
                    <a:gd name="T4" fmla="*/ 82 w 114"/>
                    <a:gd name="T5" fmla="*/ 0 h 154"/>
                    <a:gd name="T6" fmla="*/ 64 w 114"/>
                    <a:gd name="T7" fmla="*/ 65 h 154"/>
                    <a:gd name="T8" fmla="*/ 0 w 114"/>
                    <a:gd name="T9" fmla="*/ 49 h 154"/>
                    <a:gd name="T10" fmla="*/ 0 60000 65536"/>
                    <a:gd name="T11" fmla="*/ 0 60000 65536"/>
                    <a:gd name="T12" fmla="*/ 0 60000 65536"/>
                    <a:gd name="T13" fmla="*/ 0 60000 65536"/>
                    <a:gd name="T14" fmla="*/ 0 60000 65536"/>
                    <a:gd name="T15" fmla="*/ 0 w 114"/>
                    <a:gd name="T16" fmla="*/ 0 h 154"/>
                    <a:gd name="T17" fmla="*/ 114 w 114"/>
                    <a:gd name="T18" fmla="*/ 154 h 154"/>
                  </a:gdLst>
                  <a:ahLst/>
                  <a:cxnLst>
                    <a:cxn ang="T10">
                      <a:pos x="T0" y="T1"/>
                    </a:cxn>
                    <a:cxn ang="T11">
                      <a:pos x="T2" y="T3"/>
                    </a:cxn>
                    <a:cxn ang="T12">
                      <a:pos x="T4" y="T5"/>
                    </a:cxn>
                    <a:cxn ang="T13">
                      <a:pos x="T6" y="T7"/>
                    </a:cxn>
                    <a:cxn ang="T14">
                      <a:pos x="T8" y="T9"/>
                    </a:cxn>
                  </a:cxnLst>
                  <a:rect l="T15" t="T16" r="T17" b="T18"/>
                  <a:pathLst>
                    <a:path w="114" h="154">
                      <a:moveTo>
                        <a:pt x="0" y="49"/>
                      </a:moveTo>
                      <a:lnTo>
                        <a:pt x="114" y="154"/>
                      </a:lnTo>
                      <a:lnTo>
                        <a:pt x="82" y="0"/>
                      </a:lnTo>
                      <a:lnTo>
                        <a:pt x="64" y="65"/>
                      </a:lnTo>
                      <a:lnTo>
                        <a:pt x="0" y="49"/>
                      </a:lnTo>
                      <a:close/>
                    </a:path>
                  </a:pathLst>
                </a:custGeom>
                <a:solidFill>
                  <a:srgbClr val="FF3300"/>
                </a:solidFill>
                <a:ln w="9525">
                  <a:noFill/>
                  <a:round/>
                  <a:headEnd/>
                  <a:tailEnd/>
                </a:ln>
              </p:spPr>
              <p:txBody>
                <a:bodyPr/>
                <a:lstStyle/>
                <a:p>
                  <a:endParaRPr lang="zh-CN" altLang="en-US"/>
                </a:p>
              </p:txBody>
            </p:sp>
          </p:grpSp>
        </p:grpSp>
        <p:sp>
          <p:nvSpPr>
            <p:cNvPr id="90124" name="Rectangle 88"/>
            <p:cNvSpPr>
              <a:spLocks noChangeArrowheads="1"/>
            </p:cNvSpPr>
            <p:nvPr/>
          </p:nvSpPr>
          <p:spPr bwMode="auto">
            <a:xfrm>
              <a:off x="3528" y="1795"/>
              <a:ext cx="15" cy="1113"/>
            </a:xfrm>
            <a:prstGeom prst="rect">
              <a:avLst/>
            </a:prstGeom>
            <a:solidFill>
              <a:srgbClr val="3333CC"/>
            </a:solidFill>
            <a:ln w="9525">
              <a:noFill/>
              <a:miter lim="800000"/>
              <a:headEnd/>
              <a:tailEnd/>
            </a:ln>
          </p:spPr>
          <p:txBody>
            <a:bodyPr/>
            <a:lstStyle/>
            <a:p>
              <a:endParaRPr kumimoji="0" lang="zh-CN" altLang="zh-CN" sz="1800"/>
            </a:p>
          </p:txBody>
        </p:sp>
        <p:sp>
          <p:nvSpPr>
            <p:cNvPr id="90125" name="Rectangle 89"/>
            <p:cNvSpPr>
              <a:spLocks noChangeArrowheads="1"/>
            </p:cNvSpPr>
            <p:nvPr/>
          </p:nvSpPr>
          <p:spPr bwMode="auto">
            <a:xfrm>
              <a:off x="3173" y="1795"/>
              <a:ext cx="14" cy="1113"/>
            </a:xfrm>
            <a:prstGeom prst="rect">
              <a:avLst/>
            </a:prstGeom>
            <a:solidFill>
              <a:srgbClr val="3333CC"/>
            </a:solidFill>
            <a:ln w="9525">
              <a:noFill/>
              <a:miter lim="800000"/>
              <a:headEnd/>
              <a:tailEnd/>
            </a:ln>
          </p:spPr>
          <p:txBody>
            <a:bodyPr/>
            <a:lstStyle/>
            <a:p>
              <a:endParaRPr kumimoji="0" lang="zh-CN" altLang="zh-CN" sz="1800"/>
            </a:p>
          </p:txBody>
        </p:sp>
      </p:grpSp>
      <p:sp>
        <p:nvSpPr>
          <p:cNvPr id="87" name="Text Box 2"/>
          <p:cNvSpPr>
            <a:spLocks noChangeArrowheads="1"/>
          </p:cNvSpPr>
          <p:nvPr/>
        </p:nvSpPr>
        <p:spPr bwMode="auto">
          <a:xfrm>
            <a:off x="828675" y="874713"/>
            <a:ext cx="2159000" cy="401637"/>
          </a:xfrm>
          <a:prstGeom prst="homePlate">
            <a:avLst>
              <a:gd name="adj" fmla="val 49624"/>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二、波的衍射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left)">
                                      <p:cBhvr>
                                        <p:cTn id="7" dur="500"/>
                                        <p:tgtEl>
                                          <p:spTgt spid="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35"/>
                                        </p:tgtEl>
                                        <p:attrNameLst>
                                          <p:attrName>style.visibility</p:attrName>
                                        </p:attrNameLst>
                                      </p:cBhvr>
                                      <p:to>
                                        <p:strVal val="visible"/>
                                      </p:to>
                                    </p:set>
                                    <p:animEffect transition="in" filter="wipe(left)">
                                      <p:cBhvr>
                                        <p:cTn id="12" dur="500"/>
                                        <p:tgtEl>
                                          <p:spTgt spid="440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44036"/>
                                        </p:tgtEl>
                                        <p:attrNameLst>
                                          <p:attrName>style.visibility</p:attrName>
                                        </p:attrNameLst>
                                      </p:cBhvr>
                                      <p:to>
                                        <p:strVal val="visible"/>
                                      </p:to>
                                    </p:set>
                                    <p:anim calcmode="lin" valueType="num">
                                      <p:cBhvr>
                                        <p:cTn id="17" dur="500" fill="hold"/>
                                        <p:tgtEl>
                                          <p:spTgt spid="44036"/>
                                        </p:tgtEl>
                                        <p:attrNameLst>
                                          <p:attrName>ppt_w</p:attrName>
                                        </p:attrNameLst>
                                      </p:cBhvr>
                                      <p:tavLst>
                                        <p:tav tm="0">
                                          <p:val>
                                            <p:fltVal val="0"/>
                                          </p:val>
                                        </p:tav>
                                        <p:tav tm="100000">
                                          <p:val>
                                            <p:strVal val="#ppt_w"/>
                                          </p:val>
                                        </p:tav>
                                      </p:tavLst>
                                    </p:anim>
                                    <p:anim calcmode="lin" valueType="num">
                                      <p:cBhvr>
                                        <p:cTn id="18" dur="500" fill="hold"/>
                                        <p:tgtEl>
                                          <p:spTgt spid="44036"/>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slide(fromBottom)">
                                      <p:cBhvr>
                                        <p:cTn id="23" dur="500"/>
                                        <p:tgtEl>
                                          <p:spTgt spid="1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5059">
                                            <p:txEl>
                                              <p:pRg st="0" end="0"/>
                                            </p:txEl>
                                          </p:spTgt>
                                        </p:tgtEl>
                                        <p:attrNameLst>
                                          <p:attrName>style.visibility</p:attrName>
                                        </p:attrNameLst>
                                      </p:cBhvr>
                                      <p:to>
                                        <p:strVal val="visible"/>
                                      </p:to>
                                    </p:set>
                                    <p:animEffect transition="in" filter="wipe(left)">
                                      <p:cBhvr>
                                        <p:cTn id="28" dur="500"/>
                                        <p:tgtEl>
                                          <p:spTgt spid="45059">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5059">
                                            <p:txEl>
                                              <p:pRg st="1" end="1"/>
                                            </p:txEl>
                                          </p:spTgt>
                                        </p:tgtEl>
                                        <p:attrNameLst>
                                          <p:attrName>style.visibility</p:attrName>
                                        </p:attrNameLst>
                                      </p:cBhvr>
                                      <p:to>
                                        <p:strVal val="visible"/>
                                      </p:to>
                                    </p:set>
                                    <p:animEffect transition="in" filter="wipe(left)">
                                      <p:cBhvr>
                                        <p:cTn id="33" dur="500"/>
                                        <p:tgtEl>
                                          <p:spTgt spid="45059">
                                            <p:txEl>
                                              <p:pRg st="1" end="1"/>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5059">
                                            <p:txEl>
                                              <p:pRg st="2" end="2"/>
                                            </p:txEl>
                                          </p:spTgt>
                                        </p:tgtEl>
                                        <p:attrNameLst>
                                          <p:attrName>style.visibility</p:attrName>
                                        </p:attrNameLst>
                                      </p:cBhvr>
                                      <p:to>
                                        <p:strVal val="visible"/>
                                      </p:to>
                                    </p:set>
                                    <p:animEffect transition="in" filter="wipe(left)">
                                      <p:cBhvr>
                                        <p:cTn id="38" dur="500"/>
                                        <p:tgtEl>
                                          <p:spTgt spid="45059">
                                            <p:txEl>
                                              <p:pRg st="2" end="2"/>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16"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p:cTn id="43" dur="500" fill="hold"/>
                                        <p:tgtEl>
                                          <p:spTgt spid="2"/>
                                        </p:tgtEl>
                                        <p:attrNameLst>
                                          <p:attrName>ppt_w</p:attrName>
                                        </p:attrNameLst>
                                      </p:cBhvr>
                                      <p:tavLst>
                                        <p:tav tm="0">
                                          <p:val>
                                            <p:fltVal val="0"/>
                                          </p:val>
                                        </p:tav>
                                        <p:tav tm="100000">
                                          <p:val>
                                            <p:strVal val="#ppt_w"/>
                                          </p:val>
                                        </p:tav>
                                      </p:tavLst>
                                    </p:anim>
                                    <p:anim calcmode="lin" valueType="num">
                                      <p:cBhvr>
                                        <p:cTn id="44" dur="500" fill="hold"/>
                                        <p:tgtEl>
                                          <p:spTgt spid="2"/>
                                        </p:tgtEl>
                                        <p:attrNameLst>
                                          <p:attrName>ppt_h</p:attrName>
                                        </p:attrNameLst>
                                      </p:cBhvr>
                                      <p:tavLst>
                                        <p:tav tm="0">
                                          <p:val>
                                            <p:fltVal val="0"/>
                                          </p:val>
                                        </p:tav>
                                        <p:tav tm="100000">
                                          <p:val>
                                            <p:strVal val="#ppt_h"/>
                                          </p:val>
                                        </p:tav>
                                      </p:tavLst>
                                    </p:anim>
                                    <p:animEffect transition="in" filter="fade">
                                      <p:cBhvr>
                                        <p:cTn id="45" dur="500"/>
                                        <p:tgtEl>
                                          <p:spTgt spid="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ntr" presetSubtype="16" fill="hold" nodeType="clickEffect">
                                  <p:stCondLst>
                                    <p:cond delay="0"/>
                                  </p:stCondLst>
                                  <p:childTnLst>
                                    <p:set>
                                      <p:cBhvr>
                                        <p:cTn id="49" dur="1" fill="hold">
                                          <p:stCondLst>
                                            <p:cond delay="0"/>
                                          </p:stCondLst>
                                        </p:cTn>
                                        <p:tgtEl>
                                          <p:spTgt spid="20"/>
                                        </p:tgtEl>
                                        <p:attrNameLst>
                                          <p:attrName>style.visibility</p:attrName>
                                        </p:attrNameLst>
                                      </p:cBhvr>
                                      <p:to>
                                        <p:strVal val="visible"/>
                                      </p:to>
                                    </p:set>
                                    <p:anim calcmode="lin" valueType="num">
                                      <p:cBhvr>
                                        <p:cTn id="50" dur="500" fill="hold"/>
                                        <p:tgtEl>
                                          <p:spTgt spid="20"/>
                                        </p:tgtEl>
                                        <p:attrNameLst>
                                          <p:attrName>ppt_w</p:attrName>
                                        </p:attrNameLst>
                                      </p:cBhvr>
                                      <p:tavLst>
                                        <p:tav tm="0">
                                          <p:val>
                                            <p:fltVal val="0"/>
                                          </p:val>
                                        </p:tav>
                                        <p:tav tm="100000">
                                          <p:val>
                                            <p:strVal val="#ppt_w"/>
                                          </p:val>
                                        </p:tav>
                                      </p:tavLst>
                                    </p:anim>
                                    <p:anim calcmode="lin" valueType="num">
                                      <p:cBhvr>
                                        <p:cTn id="51" dur="500" fill="hold"/>
                                        <p:tgtEl>
                                          <p:spTgt spid="20"/>
                                        </p:tgtEl>
                                        <p:attrNameLst>
                                          <p:attrName>ppt_h</p:attrName>
                                        </p:attrNameLst>
                                      </p:cBhvr>
                                      <p:tavLst>
                                        <p:tav tm="0">
                                          <p:val>
                                            <p:fltVal val="0"/>
                                          </p:val>
                                        </p:tav>
                                        <p:tav tm="100000">
                                          <p:val>
                                            <p:strVal val="#ppt_h"/>
                                          </p:val>
                                        </p:tav>
                                      </p:tavLst>
                                    </p:anim>
                                    <p:animEffect transition="in" filter="fade">
                                      <p:cBhvr>
                                        <p:cTn id="5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autoUpdateAnimBg="0"/>
      <p:bldP spid="44036" grpId="0"/>
      <p:bldP spid="45059" grpId="0" build="p"/>
      <p:bldP spid="8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187950" y="2178050"/>
            <a:ext cx="815975" cy="303213"/>
            <a:chOff x="3252" y="1326"/>
            <a:chExt cx="600" cy="298"/>
          </a:xfrm>
        </p:grpSpPr>
        <p:grpSp>
          <p:nvGrpSpPr>
            <p:cNvPr id="49249" name="Group 3"/>
            <p:cNvGrpSpPr>
              <a:grpSpLocks/>
            </p:cNvGrpSpPr>
            <p:nvPr/>
          </p:nvGrpSpPr>
          <p:grpSpPr bwMode="auto">
            <a:xfrm>
              <a:off x="3252" y="1326"/>
              <a:ext cx="600" cy="298"/>
              <a:chOff x="1" y="0"/>
              <a:chExt cx="20000" cy="20000"/>
            </a:xfrm>
          </p:grpSpPr>
          <p:sp>
            <p:nvSpPr>
              <p:cNvPr id="49252" name="Line 4"/>
              <p:cNvSpPr>
                <a:spLocks noChangeShapeType="1"/>
              </p:cNvSpPr>
              <p:nvPr/>
            </p:nvSpPr>
            <p:spPr bwMode="auto">
              <a:xfrm flipH="1">
                <a:off x="11416" y="48"/>
                <a:ext cx="5732" cy="10000"/>
              </a:xfrm>
              <a:prstGeom prst="line">
                <a:avLst/>
              </a:prstGeom>
              <a:noFill/>
              <a:ln w="25400">
                <a:solidFill>
                  <a:srgbClr val="002060"/>
                </a:solidFill>
                <a:round/>
                <a:headEnd type="none" w="sm" len="sm"/>
                <a:tailEnd type="none" w="sm" len="sm"/>
              </a:ln>
            </p:spPr>
            <p:txBody>
              <a:bodyPr/>
              <a:lstStyle/>
              <a:p>
                <a:endParaRPr lang="zh-CN" altLang="en-US"/>
              </a:p>
            </p:txBody>
          </p:sp>
          <p:sp>
            <p:nvSpPr>
              <p:cNvPr id="49253" name="Line 5"/>
              <p:cNvSpPr>
                <a:spLocks noChangeShapeType="1"/>
              </p:cNvSpPr>
              <p:nvPr/>
            </p:nvSpPr>
            <p:spPr bwMode="auto">
              <a:xfrm>
                <a:off x="17125" y="48"/>
                <a:ext cx="2876" cy="10000"/>
              </a:xfrm>
              <a:prstGeom prst="line">
                <a:avLst/>
              </a:prstGeom>
              <a:noFill/>
              <a:ln w="25400">
                <a:solidFill>
                  <a:srgbClr val="002060"/>
                </a:solidFill>
                <a:round/>
                <a:headEnd type="none" w="sm" len="sm"/>
                <a:tailEnd type="none" w="sm" len="sm"/>
              </a:ln>
            </p:spPr>
            <p:txBody>
              <a:bodyPr/>
              <a:lstStyle/>
              <a:p>
                <a:endParaRPr lang="zh-CN" altLang="en-US"/>
              </a:p>
            </p:txBody>
          </p:sp>
          <p:sp>
            <p:nvSpPr>
              <p:cNvPr id="49254" name="Line 6"/>
              <p:cNvSpPr>
                <a:spLocks noChangeShapeType="1"/>
              </p:cNvSpPr>
              <p:nvPr/>
            </p:nvSpPr>
            <p:spPr bwMode="auto">
              <a:xfrm>
                <a:off x="1" y="19953"/>
                <a:ext cx="11438" cy="47"/>
              </a:xfrm>
              <a:prstGeom prst="line">
                <a:avLst/>
              </a:prstGeom>
              <a:noFill/>
              <a:ln w="25400">
                <a:solidFill>
                  <a:srgbClr val="002060"/>
                </a:solidFill>
                <a:round/>
                <a:headEnd type="none" w="sm" len="sm"/>
                <a:tailEnd type="none" w="sm" len="sm"/>
              </a:ln>
            </p:spPr>
            <p:txBody>
              <a:bodyPr/>
              <a:lstStyle/>
              <a:p>
                <a:endParaRPr lang="zh-CN" altLang="en-US"/>
              </a:p>
            </p:txBody>
          </p:sp>
          <p:grpSp>
            <p:nvGrpSpPr>
              <p:cNvPr id="49255" name="Group 7"/>
              <p:cNvGrpSpPr>
                <a:grpSpLocks/>
              </p:cNvGrpSpPr>
              <p:nvPr/>
            </p:nvGrpSpPr>
            <p:grpSpPr bwMode="auto">
              <a:xfrm>
                <a:off x="1" y="0"/>
                <a:ext cx="20000" cy="19952"/>
                <a:chOff x="0" y="0"/>
                <a:chExt cx="20000" cy="20000"/>
              </a:xfrm>
            </p:grpSpPr>
            <p:sp>
              <p:nvSpPr>
                <p:cNvPr id="49256" name="Line 8"/>
                <p:cNvSpPr>
                  <a:spLocks noChangeShapeType="1"/>
                </p:cNvSpPr>
                <p:nvPr/>
              </p:nvSpPr>
              <p:spPr bwMode="auto">
                <a:xfrm flipH="1">
                  <a:off x="0" y="0"/>
                  <a:ext cx="5732" cy="10024"/>
                </a:xfrm>
                <a:prstGeom prst="line">
                  <a:avLst/>
                </a:prstGeom>
                <a:noFill/>
                <a:ln w="25400">
                  <a:solidFill>
                    <a:srgbClr val="002060"/>
                  </a:solidFill>
                  <a:round/>
                  <a:headEnd type="none" w="sm" len="sm"/>
                  <a:tailEnd type="none" w="sm" len="sm"/>
                </a:ln>
              </p:spPr>
              <p:txBody>
                <a:bodyPr/>
                <a:lstStyle/>
                <a:p>
                  <a:endParaRPr lang="zh-CN" altLang="en-US"/>
                </a:p>
              </p:txBody>
            </p:sp>
            <p:sp>
              <p:nvSpPr>
                <p:cNvPr id="49257" name="Line 9"/>
                <p:cNvSpPr>
                  <a:spLocks noChangeShapeType="1"/>
                </p:cNvSpPr>
                <p:nvPr/>
              </p:nvSpPr>
              <p:spPr bwMode="auto">
                <a:xfrm>
                  <a:off x="5709" y="0"/>
                  <a:ext cx="11438" cy="48"/>
                </a:xfrm>
                <a:prstGeom prst="line">
                  <a:avLst/>
                </a:prstGeom>
                <a:noFill/>
                <a:ln w="25400">
                  <a:solidFill>
                    <a:srgbClr val="002060"/>
                  </a:solidFill>
                  <a:round/>
                  <a:headEnd type="none" w="sm" len="sm"/>
                  <a:tailEnd type="none" w="sm" len="sm"/>
                </a:ln>
              </p:spPr>
              <p:txBody>
                <a:bodyPr/>
                <a:lstStyle/>
                <a:p>
                  <a:endParaRPr lang="zh-CN" altLang="en-US"/>
                </a:p>
              </p:txBody>
            </p:sp>
            <p:sp>
              <p:nvSpPr>
                <p:cNvPr id="49258" name="Line 10"/>
                <p:cNvSpPr>
                  <a:spLocks noChangeShapeType="1"/>
                </p:cNvSpPr>
                <p:nvPr/>
              </p:nvSpPr>
              <p:spPr bwMode="auto">
                <a:xfrm>
                  <a:off x="0" y="9976"/>
                  <a:ext cx="11438" cy="48"/>
                </a:xfrm>
                <a:prstGeom prst="line">
                  <a:avLst/>
                </a:prstGeom>
                <a:noFill/>
                <a:ln w="25400">
                  <a:solidFill>
                    <a:srgbClr val="002060"/>
                  </a:solidFill>
                  <a:round/>
                  <a:headEnd type="none" w="sm" len="sm"/>
                  <a:tailEnd type="none" w="sm" len="sm"/>
                </a:ln>
              </p:spPr>
              <p:txBody>
                <a:bodyPr/>
                <a:lstStyle/>
                <a:p>
                  <a:endParaRPr lang="zh-CN" altLang="en-US"/>
                </a:p>
              </p:txBody>
            </p:sp>
            <p:sp>
              <p:nvSpPr>
                <p:cNvPr id="49259" name="Line 11"/>
                <p:cNvSpPr>
                  <a:spLocks noChangeShapeType="1"/>
                </p:cNvSpPr>
                <p:nvPr/>
              </p:nvSpPr>
              <p:spPr bwMode="auto">
                <a:xfrm>
                  <a:off x="0" y="9976"/>
                  <a:ext cx="23" cy="10024"/>
                </a:xfrm>
                <a:prstGeom prst="line">
                  <a:avLst/>
                </a:prstGeom>
                <a:noFill/>
                <a:ln w="25400">
                  <a:solidFill>
                    <a:srgbClr val="002060"/>
                  </a:solidFill>
                  <a:round/>
                  <a:headEnd type="none" w="sm" len="sm"/>
                  <a:tailEnd type="none" w="sm" len="sm"/>
                </a:ln>
              </p:spPr>
              <p:txBody>
                <a:bodyPr/>
                <a:lstStyle/>
                <a:p>
                  <a:endParaRPr lang="zh-CN" altLang="en-US"/>
                </a:p>
              </p:txBody>
            </p:sp>
            <p:sp>
              <p:nvSpPr>
                <p:cNvPr id="49260" name="Line 12"/>
                <p:cNvSpPr>
                  <a:spLocks noChangeShapeType="1"/>
                </p:cNvSpPr>
                <p:nvPr/>
              </p:nvSpPr>
              <p:spPr bwMode="auto">
                <a:xfrm>
                  <a:off x="11415" y="9976"/>
                  <a:ext cx="23" cy="10024"/>
                </a:xfrm>
                <a:prstGeom prst="line">
                  <a:avLst/>
                </a:prstGeom>
                <a:noFill/>
                <a:ln w="25400">
                  <a:solidFill>
                    <a:srgbClr val="002060"/>
                  </a:solidFill>
                  <a:round/>
                  <a:headEnd type="none" w="sm" len="sm"/>
                  <a:tailEnd type="none" w="sm" len="sm"/>
                </a:ln>
              </p:spPr>
              <p:txBody>
                <a:bodyPr/>
                <a:lstStyle/>
                <a:p>
                  <a:endParaRPr lang="zh-CN" altLang="en-US"/>
                </a:p>
              </p:txBody>
            </p:sp>
            <p:sp>
              <p:nvSpPr>
                <p:cNvPr id="49261" name="Line 13"/>
                <p:cNvSpPr>
                  <a:spLocks noChangeShapeType="1"/>
                </p:cNvSpPr>
                <p:nvPr/>
              </p:nvSpPr>
              <p:spPr bwMode="auto">
                <a:xfrm>
                  <a:off x="19977" y="9976"/>
                  <a:ext cx="23" cy="10024"/>
                </a:xfrm>
                <a:prstGeom prst="line">
                  <a:avLst/>
                </a:prstGeom>
                <a:noFill/>
                <a:ln w="25400">
                  <a:solidFill>
                    <a:srgbClr val="002060"/>
                  </a:solidFill>
                  <a:round/>
                  <a:headEnd type="none" w="sm" len="sm"/>
                  <a:tailEnd type="none" w="sm" len="sm"/>
                </a:ln>
              </p:spPr>
              <p:txBody>
                <a:bodyPr/>
                <a:lstStyle/>
                <a:p>
                  <a:endParaRPr lang="zh-CN" altLang="en-US"/>
                </a:p>
              </p:txBody>
            </p:sp>
            <p:sp>
              <p:nvSpPr>
                <p:cNvPr id="49262" name="Line 14"/>
                <p:cNvSpPr>
                  <a:spLocks noChangeShapeType="1"/>
                </p:cNvSpPr>
                <p:nvPr/>
              </p:nvSpPr>
              <p:spPr bwMode="auto">
                <a:xfrm>
                  <a:off x="11415" y="19953"/>
                  <a:ext cx="8585" cy="47"/>
                </a:xfrm>
                <a:prstGeom prst="line">
                  <a:avLst/>
                </a:prstGeom>
                <a:noFill/>
                <a:ln w="25400">
                  <a:solidFill>
                    <a:srgbClr val="002060"/>
                  </a:solidFill>
                  <a:round/>
                  <a:headEnd type="none" w="sm" len="sm"/>
                  <a:tailEnd type="none" w="sm" len="sm"/>
                </a:ln>
              </p:spPr>
              <p:txBody>
                <a:bodyPr/>
                <a:lstStyle/>
                <a:p>
                  <a:endParaRPr lang="zh-CN" altLang="en-US"/>
                </a:p>
              </p:txBody>
            </p:sp>
          </p:grpSp>
        </p:grpSp>
        <p:sp>
          <p:nvSpPr>
            <p:cNvPr id="49250" name="Rectangle 15"/>
            <p:cNvSpPr>
              <a:spLocks noChangeArrowheads="1"/>
            </p:cNvSpPr>
            <p:nvPr/>
          </p:nvSpPr>
          <p:spPr bwMode="auto">
            <a:xfrm>
              <a:off x="3680" y="1483"/>
              <a:ext cx="86" cy="75"/>
            </a:xfrm>
            <a:prstGeom prst="rect">
              <a:avLst/>
            </a:prstGeom>
            <a:solidFill>
              <a:srgbClr val="FFFF00"/>
            </a:solidFill>
            <a:ln w="25400">
              <a:solidFill>
                <a:srgbClr val="002060"/>
              </a:solidFill>
              <a:miter lim="800000"/>
              <a:headEnd/>
              <a:tailEnd/>
            </a:ln>
          </p:spPr>
          <p:txBody>
            <a:bodyPr/>
            <a:lstStyle/>
            <a:p>
              <a:endParaRPr kumimoji="0" lang="zh-CN" altLang="zh-CN" sz="1800"/>
            </a:p>
          </p:txBody>
        </p:sp>
        <p:sp>
          <p:nvSpPr>
            <p:cNvPr id="49251" name="Rectangle 16"/>
            <p:cNvSpPr>
              <a:spLocks noChangeArrowheads="1"/>
            </p:cNvSpPr>
            <p:nvPr/>
          </p:nvSpPr>
          <p:spPr bwMode="auto">
            <a:xfrm>
              <a:off x="3395" y="1512"/>
              <a:ext cx="86" cy="100"/>
            </a:xfrm>
            <a:prstGeom prst="rect">
              <a:avLst/>
            </a:prstGeom>
            <a:solidFill>
              <a:srgbClr val="FFFF00"/>
            </a:solidFill>
            <a:ln w="25400">
              <a:solidFill>
                <a:srgbClr val="002060"/>
              </a:solidFill>
              <a:miter lim="800000"/>
              <a:headEnd/>
              <a:tailEnd/>
            </a:ln>
          </p:spPr>
          <p:txBody>
            <a:bodyPr/>
            <a:lstStyle/>
            <a:p>
              <a:endParaRPr kumimoji="0" lang="zh-CN" altLang="zh-CN" sz="1800"/>
            </a:p>
          </p:txBody>
        </p:sp>
      </p:grpSp>
      <p:grpSp>
        <p:nvGrpSpPr>
          <p:cNvPr id="5" name="Group 17"/>
          <p:cNvGrpSpPr>
            <a:grpSpLocks/>
          </p:cNvGrpSpPr>
          <p:nvPr/>
        </p:nvGrpSpPr>
        <p:grpSpPr bwMode="auto">
          <a:xfrm>
            <a:off x="1535113" y="971550"/>
            <a:ext cx="995362" cy="1528763"/>
            <a:chOff x="564" y="144"/>
            <a:chExt cx="732" cy="1500"/>
          </a:xfrm>
        </p:grpSpPr>
        <p:grpSp>
          <p:nvGrpSpPr>
            <p:cNvPr id="49237" name="Group 18"/>
            <p:cNvGrpSpPr>
              <a:grpSpLocks/>
            </p:cNvGrpSpPr>
            <p:nvPr/>
          </p:nvGrpSpPr>
          <p:grpSpPr bwMode="auto">
            <a:xfrm>
              <a:off x="564" y="144"/>
              <a:ext cx="732" cy="732"/>
              <a:chOff x="564" y="1812"/>
              <a:chExt cx="1056" cy="1056"/>
            </a:xfrm>
          </p:grpSpPr>
          <p:sp>
            <p:nvSpPr>
              <p:cNvPr id="49246" name="Oval 19"/>
              <p:cNvSpPr>
                <a:spLocks noChangeArrowheads="1"/>
              </p:cNvSpPr>
              <p:nvPr/>
            </p:nvSpPr>
            <p:spPr bwMode="auto">
              <a:xfrm>
                <a:off x="864" y="2112"/>
                <a:ext cx="432" cy="432"/>
              </a:xfrm>
              <a:prstGeom prst="ellipse">
                <a:avLst/>
              </a:prstGeom>
              <a:noFill/>
              <a:ln w="19050">
                <a:solidFill>
                  <a:srgbClr val="FF0000"/>
                </a:solidFill>
                <a:prstDash val="sysDot"/>
                <a:round/>
                <a:headEnd/>
                <a:tailEnd/>
              </a:ln>
            </p:spPr>
            <p:txBody>
              <a:bodyPr wrap="none" anchor="ctr"/>
              <a:lstStyle/>
              <a:p>
                <a:endParaRPr kumimoji="0" lang="zh-CN" altLang="zh-CN" sz="1800"/>
              </a:p>
            </p:txBody>
          </p:sp>
          <p:sp>
            <p:nvSpPr>
              <p:cNvPr id="49247" name="Oval 20"/>
              <p:cNvSpPr>
                <a:spLocks noChangeArrowheads="1"/>
              </p:cNvSpPr>
              <p:nvPr/>
            </p:nvSpPr>
            <p:spPr bwMode="auto">
              <a:xfrm>
                <a:off x="720" y="1968"/>
                <a:ext cx="720" cy="720"/>
              </a:xfrm>
              <a:prstGeom prst="ellipse">
                <a:avLst/>
              </a:prstGeom>
              <a:noFill/>
              <a:ln w="19050">
                <a:solidFill>
                  <a:srgbClr val="FF0000"/>
                </a:solidFill>
                <a:prstDash val="sysDot"/>
                <a:round/>
                <a:headEnd/>
                <a:tailEnd/>
              </a:ln>
            </p:spPr>
            <p:txBody>
              <a:bodyPr wrap="none" anchor="ctr"/>
              <a:lstStyle/>
              <a:p>
                <a:endParaRPr kumimoji="0" lang="zh-CN" altLang="zh-CN" sz="1800"/>
              </a:p>
            </p:txBody>
          </p:sp>
          <p:sp>
            <p:nvSpPr>
              <p:cNvPr id="49248" name="Oval 21"/>
              <p:cNvSpPr>
                <a:spLocks noChangeArrowheads="1"/>
              </p:cNvSpPr>
              <p:nvPr/>
            </p:nvSpPr>
            <p:spPr bwMode="auto">
              <a:xfrm>
                <a:off x="564" y="1812"/>
                <a:ext cx="1056" cy="1056"/>
              </a:xfrm>
              <a:prstGeom prst="ellipse">
                <a:avLst/>
              </a:prstGeom>
              <a:noFill/>
              <a:ln w="19050">
                <a:solidFill>
                  <a:srgbClr val="FF0000"/>
                </a:solidFill>
                <a:prstDash val="sysDot"/>
                <a:round/>
                <a:headEnd/>
                <a:tailEnd/>
              </a:ln>
            </p:spPr>
            <p:txBody>
              <a:bodyPr wrap="none" anchor="ctr"/>
              <a:lstStyle/>
              <a:p>
                <a:endParaRPr kumimoji="0" lang="zh-CN" altLang="zh-CN" sz="1800"/>
              </a:p>
            </p:txBody>
          </p:sp>
        </p:grpSp>
        <p:sp>
          <p:nvSpPr>
            <p:cNvPr id="49238" name="Line 22"/>
            <p:cNvSpPr>
              <a:spLocks noChangeShapeType="1"/>
            </p:cNvSpPr>
            <p:nvPr/>
          </p:nvSpPr>
          <p:spPr bwMode="auto">
            <a:xfrm flipH="1">
              <a:off x="780" y="492"/>
              <a:ext cx="144" cy="1152"/>
            </a:xfrm>
            <a:prstGeom prst="line">
              <a:avLst/>
            </a:prstGeom>
            <a:noFill/>
            <a:ln w="38100">
              <a:solidFill>
                <a:schemeClr val="tx1"/>
              </a:solidFill>
              <a:round/>
              <a:headEnd/>
              <a:tailEnd/>
            </a:ln>
          </p:spPr>
          <p:txBody>
            <a:bodyPr wrap="none" anchor="ctr"/>
            <a:lstStyle/>
            <a:p>
              <a:endParaRPr lang="zh-CN" altLang="en-US"/>
            </a:p>
          </p:txBody>
        </p:sp>
        <p:sp>
          <p:nvSpPr>
            <p:cNvPr id="49239" name="Line 23"/>
            <p:cNvSpPr>
              <a:spLocks noChangeShapeType="1"/>
            </p:cNvSpPr>
            <p:nvPr/>
          </p:nvSpPr>
          <p:spPr bwMode="auto">
            <a:xfrm>
              <a:off x="924" y="492"/>
              <a:ext cx="96" cy="1152"/>
            </a:xfrm>
            <a:prstGeom prst="line">
              <a:avLst/>
            </a:prstGeom>
            <a:noFill/>
            <a:ln w="38100">
              <a:solidFill>
                <a:schemeClr val="tx1"/>
              </a:solidFill>
              <a:round/>
              <a:headEnd/>
              <a:tailEnd/>
            </a:ln>
          </p:spPr>
          <p:txBody>
            <a:bodyPr wrap="none" anchor="ctr"/>
            <a:lstStyle/>
            <a:p>
              <a:endParaRPr lang="zh-CN" altLang="en-US"/>
            </a:p>
          </p:txBody>
        </p:sp>
        <p:sp>
          <p:nvSpPr>
            <p:cNvPr id="49240" name="Line 24"/>
            <p:cNvSpPr>
              <a:spLocks noChangeShapeType="1"/>
            </p:cNvSpPr>
            <p:nvPr/>
          </p:nvSpPr>
          <p:spPr bwMode="auto">
            <a:xfrm flipV="1">
              <a:off x="864" y="840"/>
              <a:ext cx="96" cy="48"/>
            </a:xfrm>
            <a:prstGeom prst="line">
              <a:avLst/>
            </a:prstGeom>
            <a:noFill/>
            <a:ln w="28575">
              <a:solidFill>
                <a:schemeClr val="tx1"/>
              </a:solidFill>
              <a:round/>
              <a:headEnd/>
              <a:tailEnd/>
            </a:ln>
          </p:spPr>
          <p:txBody>
            <a:bodyPr wrap="none" anchor="ctr"/>
            <a:lstStyle/>
            <a:p>
              <a:endParaRPr lang="zh-CN" altLang="en-US"/>
            </a:p>
          </p:txBody>
        </p:sp>
        <p:sp>
          <p:nvSpPr>
            <p:cNvPr id="49241" name="Line 25"/>
            <p:cNvSpPr>
              <a:spLocks noChangeShapeType="1"/>
            </p:cNvSpPr>
            <p:nvPr/>
          </p:nvSpPr>
          <p:spPr bwMode="auto">
            <a:xfrm>
              <a:off x="876" y="924"/>
              <a:ext cx="96" cy="144"/>
            </a:xfrm>
            <a:prstGeom prst="line">
              <a:avLst/>
            </a:prstGeom>
            <a:noFill/>
            <a:ln w="28575">
              <a:solidFill>
                <a:schemeClr val="tx1"/>
              </a:solidFill>
              <a:round/>
              <a:headEnd/>
              <a:tailEnd/>
            </a:ln>
          </p:spPr>
          <p:txBody>
            <a:bodyPr wrap="none" anchor="ctr"/>
            <a:lstStyle/>
            <a:p>
              <a:endParaRPr lang="zh-CN" altLang="en-US"/>
            </a:p>
          </p:txBody>
        </p:sp>
        <p:sp>
          <p:nvSpPr>
            <p:cNvPr id="49242" name="Line 26"/>
            <p:cNvSpPr>
              <a:spLocks noChangeShapeType="1"/>
            </p:cNvSpPr>
            <p:nvPr/>
          </p:nvSpPr>
          <p:spPr bwMode="auto">
            <a:xfrm flipV="1">
              <a:off x="828" y="1068"/>
              <a:ext cx="144" cy="96"/>
            </a:xfrm>
            <a:prstGeom prst="line">
              <a:avLst/>
            </a:prstGeom>
            <a:noFill/>
            <a:ln w="28575">
              <a:solidFill>
                <a:schemeClr val="tx1"/>
              </a:solidFill>
              <a:round/>
              <a:headEnd/>
              <a:tailEnd/>
            </a:ln>
          </p:spPr>
          <p:txBody>
            <a:bodyPr wrap="none" anchor="ctr"/>
            <a:lstStyle/>
            <a:p>
              <a:endParaRPr lang="zh-CN" altLang="en-US"/>
            </a:p>
          </p:txBody>
        </p:sp>
        <p:sp>
          <p:nvSpPr>
            <p:cNvPr id="49243" name="Line 27"/>
            <p:cNvSpPr>
              <a:spLocks noChangeShapeType="1"/>
            </p:cNvSpPr>
            <p:nvPr/>
          </p:nvSpPr>
          <p:spPr bwMode="auto">
            <a:xfrm>
              <a:off x="828" y="1164"/>
              <a:ext cx="144" cy="144"/>
            </a:xfrm>
            <a:prstGeom prst="line">
              <a:avLst/>
            </a:prstGeom>
            <a:noFill/>
            <a:ln w="28575">
              <a:solidFill>
                <a:schemeClr val="tx1"/>
              </a:solidFill>
              <a:round/>
              <a:headEnd/>
              <a:tailEnd/>
            </a:ln>
          </p:spPr>
          <p:txBody>
            <a:bodyPr wrap="none" anchor="ctr"/>
            <a:lstStyle/>
            <a:p>
              <a:endParaRPr lang="zh-CN" altLang="en-US"/>
            </a:p>
          </p:txBody>
        </p:sp>
        <p:sp>
          <p:nvSpPr>
            <p:cNvPr id="49244" name="Line 28"/>
            <p:cNvSpPr>
              <a:spLocks noChangeShapeType="1"/>
            </p:cNvSpPr>
            <p:nvPr/>
          </p:nvSpPr>
          <p:spPr bwMode="auto">
            <a:xfrm flipH="1">
              <a:off x="792" y="1308"/>
              <a:ext cx="192" cy="144"/>
            </a:xfrm>
            <a:prstGeom prst="line">
              <a:avLst/>
            </a:prstGeom>
            <a:noFill/>
            <a:ln w="28575">
              <a:solidFill>
                <a:schemeClr val="tx1"/>
              </a:solidFill>
              <a:round/>
              <a:headEnd/>
              <a:tailEnd/>
            </a:ln>
          </p:spPr>
          <p:txBody>
            <a:bodyPr wrap="none" anchor="ctr"/>
            <a:lstStyle/>
            <a:p>
              <a:endParaRPr lang="zh-CN" altLang="en-US"/>
            </a:p>
          </p:txBody>
        </p:sp>
        <p:sp>
          <p:nvSpPr>
            <p:cNvPr id="49245" name="Line 29"/>
            <p:cNvSpPr>
              <a:spLocks noChangeShapeType="1"/>
            </p:cNvSpPr>
            <p:nvPr/>
          </p:nvSpPr>
          <p:spPr bwMode="auto">
            <a:xfrm>
              <a:off x="792" y="1452"/>
              <a:ext cx="240" cy="192"/>
            </a:xfrm>
            <a:prstGeom prst="line">
              <a:avLst/>
            </a:prstGeom>
            <a:noFill/>
            <a:ln w="28575">
              <a:solidFill>
                <a:schemeClr val="tx1"/>
              </a:solidFill>
              <a:round/>
              <a:headEnd/>
              <a:tailEnd/>
            </a:ln>
          </p:spPr>
          <p:txBody>
            <a:bodyPr wrap="none" anchor="ctr"/>
            <a:lstStyle/>
            <a:p>
              <a:endParaRPr lang="zh-CN" altLang="en-US"/>
            </a:p>
          </p:txBody>
        </p:sp>
      </p:grpSp>
      <p:grpSp>
        <p:nvGrpSpPr>
          <p:cNvPr id="7" name="Group 30"/>
          <p:cNvGrpSpPr>
            <a:grpSpLocks/>
          </p:cNvGrpSpPr>
          <p:nvPr/>
        </p:nvGrpSpPr>
        <p:grpSpPr bwMode="auto">
          <a:xfrm>
            <a:off x="5741988" y="1169988"/>
            <a:ext cx="2260600" cy="733425"/>
            <a:chOff x="3648" y="336"/>
            <a:chExt cx="1664" cy="720"/>
          </a:xfrm>
        </p:grpSpPr>
        <p:sp>
          <p:nvSpPr>
            <p:cNvPr id="49235" name="Text Box 31"/>
            <p:cNvSpPr txBox="1">
              <a:spLocks noChangeArrowheads="1"/>
            </p:cNvSpPr>
            <p:nvPr/>
          </p:nvSpPr>
          <p:spPr bwMode="auto">
            <a:xfrm>
              <a:off x="4128" y="336"/>
              <a:ext cx="1184" cy="544"/>
            </a:xfrm>
            <a:prstGeom prst="rect">
              <a:avLst/>
            </a:prstGeom>
            <a:solidFill>
              <a:schemeClr val="bg1"/>
            </a:solidFill>
            <a:ln w="19050">
              <a:solidFill>
                <a:srgbClr val="00B0F0"/>
              </a:solidFill>
              <a:miter lim="800000"/>
              <a:headEnd/>
              <a:tailEnd/>
            </a:ln>
          </p:spPr>
          <p:txBody>
            <a:bodyPr>
              <a:spAutoFit/>
            </a:bodyPr>
            <a:lstStyle/>
            <a:p>
              <a:r>
                <a:rPr lang="zh-CN" altLang="en-US" sz="1500" b="1">
                  <a:solidFill>
                    <a:srgbClr val="3333FF"/>
                  </a:solidFill>
                  <a:latin typeface="华文中宋"/>
                  <a:ea typeface="华文中宋"/>
                  <a:cs typeface="华文中宋"/>
                </a:rPr>
                <a:t>广播和电视哪个更容易收到 </a:t>
              </a:r>
              <a:r>
                <a:rPr lang="en-US" altLang="zh-CN" sz="1500" b="1">
                  <a:solidFill>
                    <a:srgbClr val="3333FF"/>
                  </a:solidFill>
                  <a:latin typeface="华文中宋"/>
                  <a:ea typeface="华文中宋"/>
                  <a:cs typeface="华文中宋"/>
                </a:rPr>
                <a:t>?</a:t>
              </a:r>
            </a:p>
          </p:txBody>
        </p:sp>
        <p:sp>
          <p:nvSpPr>
            <p:cNvPr id="49236" name="Line 32"/>
            <p:cNvSpPr>
              <a:spLocks noChangeShapeType="1"/>
            </p:cNvSpPr>
            <p:nvPr/>
          </p:nvSpPr>
          <p:spPr bwMode="auto">
            <a:xfrm flipV="1">
              <a:off x="3648" y="576"/>
              <a:ext cx="480" cy="480"/>
            </a:xfrm>
            <a:prstGeom prst="line">
              <a:avLst/>
            </a:prstGeom>
            <a:noFill/>
            <a:ln w="12700">
              <a:solidFill>
                <a:schemeClr val="tx1"/>
              </a:solidFill>
              <a:round/>
              <a:headEnd/>
              <a:tailEnd/>
            </a:ln>
          </p:spPr>
          <p:txBody>
            <a:bodyPr wrap="none" anchor="ctr"/>
            <a:lstStyle/>
            <a:p>
              <a:endParaRPr lang="zh-CN" altLang="en-US"/>
            </a:p>
          </p:txBody>
        </p:sp>
      </p:grpSp>
      <p:grpSp>
        <p:nvGrpSpPr>
          <p:cNvPr id="8" name="Group 33"/>
          <p:cNvGrpSpPr>
            <a:grpSpLocks/>
          </p:cNvGrpSpPr>
          <p:nvPr/>
        </p:nvGrpSpPr>
        <p:grpSpPr bwMode="auto">
          <a:xfrm>
            <a:off x="5530850" y="1878013"/>
            <a:ext cx="325438" cy="293687"/>
            <a:chOff x="3504" y="1032"/>
            <a:chExt cx="240" cy="288"/>
          </a:xfrm>
        </p:grpSpPr>
        <p:sp>
          <p:nvSpPr>
            <p:cNvPr id="49230" name="Line 34"/>
            <p:cNvSpPr>
              <a:spLocks noChangeShapeType="1"/>
            </p:cNvSpPr>
            <p:nvPr/>
          </p:nvSpPr>
          <p:spPr bwMode="auto">
            <a:xfrm flipV="1">
              <a:off x="3600" y="1128"/>
              <a:ext cx="0" cy="192"/>
            </a:xfrm>
            <a:prstGeom prst="line">
              <a:avLst/>
            </a:prstGeom>
            <a:noFill/>
            <a:ln w="19050">
              <a:solidFill>
                <a:schemeClr val="tx1"/>
              </a:solidFill>
              <a:round/>
              <a:headEnd/>
              <a:tailEnd/>
            </a:ln>
          </p:spPr>
          <p:txBody>
            <a:bodyPr wrap="none" anchor="ctr"/>
            <a:lstStyle/>
            <a:p>
              <a:endParaRPr lang="zh-CN" altLang="en-US"/>
            </a:p>
          </p:txBody>
        </p:sp>
        <p:sp>
          <p:nvSpPr>
            <p:cNvPr id="49231" name="Line 35"/>
            <p:cNvSpPr>
              <a:spLocks noChangeShapeType="1"/>
            </p:cNvSpPr>
            <p:nvPr/>
          </p:nvSpPr>
          <p:spPr bwMode="auto">
            <a:xfrm>
              <a:off x="3504" y="1032"/>
              <a:ext cx="192" cy="192"/>
            </a:xfrm>
            <a:prstGeom prst="line">
              <a:avLst/>
            </a:prstGeom>
            <a:noFill/>
            <a:ln w="19050">
              <a:solidFill>
                <a:schemeClr val="tx1"/>
              </a:solidFill>
              <a:round/>
              <a:headEnd/>
              <a:tailEnd/>
            </a:ln>
          </p:spPr>
          <p:txBody>
            <a:bodyPr wrap="none" anchor="ctr"/>
            <a:lstStyle/>
            <a:p>
              <a:endParaRPr lang="zh-CN" altLang="en-US"/>
            </a:p>
          </p:txBody>
        </p:sp>
        <p:sp>
          <p:nvSpPr>
            <p:cNvPr id="49232" name="Line 36"/>
            <p:cNvSpPr>
              <a:spLocks noChangeShapeType="1"/>
            </p:cNvSpPr>
            <p:nvPr/>
          </p:nvSpPr>
          <p:spPr bwMode="auto">
            <a:xfrm flipV="1">
              <a:off x="3504" y="1032"/>
              <a:ext cx="96" cy="96"/>
            </a:xfrm>
            <a:prstGeom prst="line">
              <a:avLst/>
            </a:prstGeom>
            <a:noFill/>
            <a:ln w="19050">
              <a:solidFill>
                <a:schemeClr val="tx1"/>
              </a:solidFill>
              <a:round/>
              <a:headEnd/>
              <a:tailEnd/>
            </a:ln>
          </p:spPr>
          <p:txBody>
            <a:bodyPr wrap="none" anchor="ctr"/>
            <a:lstStyle/>
            <a:p>
              <a:endParaRPr lang="zh-CN" altLang="en-US"/>
            </a:p>
          </p:txBody>
        </p:sp>
        <p:sp>
          <p:nvSpPr>
            <p:cNvPr id="49233" name="Line 37"/>
            <p:cNvSpPr>
              <a:spLocks noChangeShapeType="1"/>
            </p:cNvSpPr>
            <p:nvPr/>
          </p:nvSpPr>
          <p:spPr bwMode="auto">
            <a:xfrm flipV="1">
              <a:off x="3552" y="1080"/>
              <a:ext cx="96" cy="96"/>
            </a:xfrm>
            <a:prstGeom prst="line">
              <a:avLst/>
            </a:prstGeom>
            <a:noFill/>
            <a:ln w="19050">
              <a:solidFill>
                <a:schemeClr val="tx1"/>
              </a:solidFill>
              <a:round/>
              <a:headEnd/>
              <a:tailEnd/>
            </a:ln>
          </p:spPr>
          <p:txBody>
            <a:bodyPr wrap="none" anchor="ctr"/>
            <a:lstStyle/>
            <a:p>
              <a:endParaRPr lang="zh-CN" altLang="en-US"/>
            </a:p>
          </p:txBody>
        </p:sp>
        <p:sp>
          <p:nvSpPr>
            <p:cNvPr id="49234" name="Line 38"/>
            <p:cNvSpPr>
              <a:spLocks noChangeShapeType="1"/>
            </p:cNvSpPr>
            <p:nvPr/>
          </p:nvSpPr>
          <p:spPr bwMode="auto">
            <a:xfrm flipV="1">
              <a:off x="3552" y="1080"/>
              <a:ext cx="192" cy="192"/>
            </a:xfrm>
            <a:prstGeom prst="line">
              <a:avLst/>
            </a:prstGeom>
            <a:noFill/>
            <a:ln w="19050">
              <a:solidFill>
                <a:schemeClr val="tx1"/>
              </a:solidFill>
              <a:round/>
              <a:headEnd/>
              <a:tailEnd/>
            </a:ln>
          </p:spPr>
          <p:txBody>
            <a:bodyPr wrap="none" anchor="ctr"/>
            <a:lstStyle/>
            <a:p>
              <a:endParaRPr lang="zh-CN" altLang="en-US"/>
            </a:p>
          </p:txBody>
        </p:sp>
      </p:grpSp>
      <p:graphicFrame>
        <p:nvGraphicFramePr>
          <p:cNvPr id="46119" name="Object 61"/>
          <p:cNvGraphicFramePr>
            <a:graphicFrameLocks noChangeAspect="1"/>
          </p:cNvGraphicFramePr>
          <p:nvPr/>
        </p:nvGraphicFramePr>
        <p:xfrm>
          <a:off x="3473450" y="2890838"/>
          <a:ext cx="1739900" cy="1668462"/>
        </p:xfrm>
        <a:graphic>
          <a:graphicData uri="http://schemas.openxmlformats.org/presentationml/2006/ole">
            <p:oleObj spid="_x0000_s49213" name="剪辑" r:id="rId4" imgW="3032125" imgH="4533900" progId="">
              <p:embed/>
            </p:oleObj>
          </a:graphicData>
        </a:graphic>
      </p:graphicFrame>
      <p:graphicFrame>
        <p:nvGraphicFramePr>
          <p:cNvPr id="46120" name="Object 62"/>
          <p:cNvGraphicFramePr>
            <a:graphicFrameLocks noChangeAspect="1"/>
          </p:cNvGraphicFramePr>
          <p:nvPr/>
        </p:nvGraphicFramePr>
        <p:xfrm>
          <a:off x="2246313" y="3446463"/>
          <a:ext cx="1171575" cy="703262"/>
        </p:xfrm>
        <a:graphic>
          <a:graphicData uri="http://schemas.openxmlformats.org/presentationml/2006/ole">
            <p:oleObj spid="_x0000_s49214" name="剪辑" r:id="rId5" imgW="4519613" imgH="3467100" progId="">
              <p:embed/>
            </p:oleObj>
          </a:graphicData>
        </a:graphic>
      </p:graphicFrame>
      <p:graphicFrame>
        <p:nvGraphicFramePr>
          <p:cNvPr id="46121" name="Object 63"/>
          <p:cNvGraphicFramePr>
            <a:graphicFrameLocks noChangeAspect="1"/>
          </p:cNvGraphicFramePr>
          <p:nvPr/>
        </p:nvGraphicFramePr>
        <p:xfrm>
          <a:off x="5705475" y="3330575"/>
          <a:ext cx="561975" cy="742950"/>
        </p:xfrm>
        <a:graphic>
          <a:graphicData uri="http://schemas.openxmlformats.org/presentationml/2006/ole">
            <p:oleObj spid="_x0000_s49215" name="剪辑" r:id="rId6" imgW="4016999" imgH="3945437" progId="">
              <p:embed/>
            </p:oleObj>
          </a:graphicData>
        </a:graphic>
      </p:graphicFrame>
      <p:grpSp>
        <p:nvGrpSpPr>
          <p:cNvPr id="9" name="Group 42"/>
          <p:cNvGrpSpPr>
            <a:grpSpLocks/>
          </p:cNvGrpSpPr>
          <p:nvPr/>
        </p:nvGrpSpPr>
        <p:grpSpPr bwMode="auto">
          <a:xfrm>
            <a:off x="1355725" y="973138"/>
            <a:ext cx="5087938" cy="1514475"/>
            <a:chOff x="432" y="143"/>
            <a:chExt cx="3744" cy="1489"/>
          </a:xfrm>
        </p:grpSpPr>
        <p:grpSp>
          <p:nvGrpSpPr>
            <p:cNvPr id="49226" name="Group 43"/>
            <p:cNvGrpSpPr>
              <a:grpSpLocks/>
            </p:cNvGrpSpPr>
            <p:nvPr/>
          </p:nvGrpSpPr>
          <p:grpSpPr bwMode="auto">
            <a:xfrm>
              <a:off x="432" y="143"/>
              <a:ext cx="3744" cy="1489"/>
              <a:chOff x="432" y="143"/>
              <a:chExt cx="3744" cy="1489"/>
            </a:xfrm>
          </p:grpSpPr>
          <p:sp>
            <p:nvSpPr>
              <p:cNvPr id="33809" name="Line 44"/>
              <p:cNvSpPr>
                <a:spLocks noChangeShapeType="1"/>
              </p:cNvSpPr>
              <p:nvPr/>
            </p:nvSpPr>
            <p:spPr bwMode="auto">
              <a:xfrm flipV="1">
                <a:off x="432" y="1632"/>
                <a:ext cx="3744" cy="0"/>
              </a:xfrm>
              <a:prstGeom prst="line">
                <a:avLst/>
              </a:prstGeom>
              <a:noFill/>
              <a:ln w="57150">
                <a:solidFill>
                  <a:schemeClr val="accent6">
                    <a:lumMod val="50000"/>
                  </a:schemeClr>
                </a:solidFill>
                <a:round/>
                <a:headEnd type="none" w="sm" len="sm"/>
                <a:tailEnd type="none" w="sm" len="sm"/>
              </a:ln>
              <a:extLst/>
            </p:spPr>
            <p:txBody>
              <a:bodyPr/>
              <a:lstStyle/>
              <a:p>
                <a:pPr>
                  <a:defRPr/>
                </a:pPr>
                <a:endParaRPr kumimoji="0" lang="zh-CN" altLang="en-US" sz="1800">
                  <a:ea typeface="宋体" pitchFamily="2" charset="-122"/>
                </a:endParaRPr>
              </a:p>
            </p:txBody>
          </p:sp>
          <p:sp>
            <p:nvSpPr>
              <p:cNvPr id="49229" name="Freeform 45"/>
              <p:cNvSpPr>
                <a:spLocks/>
              </p:cNvSpPr>
              <p:nvPr/>
            </p:nvSpPr>
            <p:spPr bwMode="auto">
              <a:xfrm>
                <a:off x="1968" y="143"/>
                <a:ext cx="1082" cy="147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w 20000"/>
                  <a:gd name="T97" fmla="*/ 0 h 20000"/>
                  <a:gd name="T98" fmla="*/ 0 w 20000"/>
                  <a:gd name="T99" fmla="*/ 0 h 20000"/>
                  <a:gd name="T100" fmla="*/ 0 w 20000"/>
                  <a:gd name="T101" fmla="*/ 0 h 20000"/>
                  <a:gd name="T102" fmla="*/ 0 w 20000"/>
                  <a:gd name="T103" fmla="*/ 0 h 20000"/>
                  <a:gd name="T104" fmla="*/ 0 w 20000"/>
                  <a:gd name="T105" fmla="*/ 0 h 200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00"/>
                  <a:gd name="T160" fmla="*/ 0 h 20000"/>
                  <a:gd name="T161" fmla="*/ 20000 w 20000"/>
                  <a:gd name="T162" fmla="*/ 20000 h 200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00" h="20000">
                    <a:moveTo>
                      <a:pt x="0" y="19869"/>
                    </a:moveTo>
                    <a:lnTo>
                      <a:pt x="396" y="19791"/>
                    </a:lnTo>
                    <a:lnTo>
                      <a:pt x="594" y="19791"/>
                    </a:lnTo>
                    <a:lnTo>
                      <a:pt x="594" y="17636"/>
                    </a:lnTo>
                    <a:lnTo>
                      <a:pt x="792" y="17440"/>
                    </a:lnTo>
                    <a:lnTo>
                      <a:pt x="792" y="15088"/>
                    </a:lnTo>
                    <a:lnTo>
                      <a:pt x="989" y="14696"/>
                    </a:lnTo>
                    <a:lnTo>
                      <a:pt x="989" y="13325"/>
                    </a:lnTo>
                    <a:lnTo>
                      <a:pt x="1385" y="12541"/>
                    </a:lnTo>
                    <a:lnTo>
                      <a:pt x="1385" y="12149"/>
                    </a:lnTo>
                    <a:lnTo>
                      <a:pt x="1781" y="9798"/>
                    </a:lnTo>
                    <a:lnTo>
                      <a:pt x="1781" y="9602"/>
                    </a:lnTo>
                    <a:lnTo>
                      <a:pt x="1979" y="8426"/>
                    </a:lnTo>
                    <a:lnTo>
                      <a:pt x="2177" y="8230"/>
                    </a:lnTo>
                    <a:lnTo>
                      <a:pt x="2375" y="7054"/>
                    </a:lnTo>
                    <a:lnTo>
                      <a:pt x="2573" y="6662"/>
                    </a:lnTo>
                    <a:lnTo>
                      <a:pt x="2573" y="6270"/>
                    </a:lnTo>
                    <a:lnTo>
                      <a:pt x="2968" y="5879"/>
                    </a:lnTo>
                    <a:lnTo>
                      <a:pt x="3166" y="4703"/>
                    </a:lnTo>
                    <a:lnTo>
                      <a:pt x="3562" y="3919"/>
                    </a:lnTo>
                    <a:lnTo>
                      <a:pt x="3760" y="3723"/>
                    </a:lnTo>
                    <a:lnTo>
                      <a:pt x="3760" y="3331"/>
                    </a:lnTo>
                    <a:lnTo>
                      <a:pt x="3958" y="3331"/>
                    </a:lnTo>
                    <a:lnTo>
                      <a:pt x="4156" y="3135"/>
                    </a:lnTo>
                    <a:lnTo>
                      <a:pt x="4156" y="2939"/>
                    </a:lnTo>
                    <a:lnTo>
                      <a:pt x="4354" y="2939"/>
                    </a:lnTo>
                    <a:lnTo>
                      <a:pt x="4551" y="2547"/>
                    </a:lnTo>
                    <a:lnTo>
                      <a:pt x="4749" y="2547"/>
                    </a:lnTo>
                    <a:lnTo>
                      <a:pt x="5343" y="1960"/>
                    </a:lnTo>
                    <a:lnTo>
                      <a:pt x="6135" y="1568"/>
                    </a:lnTo>
                    <a:lnTo>
                      <a:pt x="6332" y="1372"/>
                    </a:lnTo>
                    <a:lnTo>
                      <a:pt x="6728" y="1176"/>
                    </a:lnTo>
                    <a:lnTo>
                      <a:pt x="6926" y="980"/>
                    </a:lnTo>
                    <a:lnTo>
                      <a:pt x="7322" y="980"/>
                    </a:lnTo>
                    <a:lnTo>
                      <a:pt x="7322" y="784"/>
                    </a:lnTo>
                    <a:lnTo>
                      <a:pt x="7916" y="784"/>
                    </a:lnTo>
                    <a:lnTo>
                      <a:pt x="7916" y="588"/>
                    </a:lnTo>
                    <a:lnTo>
                      <a:pt x="8311" y="588"/>
                    </a:lnTo>
                    <a:lnTo>
                      <a:pt x="8509" y="392"/>
                    </a:lnTo>
                    <a:lnTo>
                      <a:pt x="8707" y="392"/>
                    </a:lnTo>
                    <a:lnTo>
                      <a:pt x="8905" y="196"/>
                    </a:lnTo>
                    <a:lnTo>
                      <a:pt x="9894" y="196"/>
                    </a:lnTo>
                    <a:lnTo>
                      <a:pt x="10092" y="0"/>
                    </a:lnTo>
                    <a:lnTo>
                      <a:pt x="12665" y="0"/>
                    </a:lnTo>
                    <a:lnTo>
                      <a:pt x="12863" y="196"/>
                    </a:lnTo>
                    <a:lnTo>
                      <a:pt x="12863" y="392"/>
                    </a:lnTo>
                    <a:lnTo>
                      <a:pt x="13259" y="392"/>
                    </a:lnTo>
                    <a:lnTo>
                      <a:pt x="13259" y="588"/>
                    </a:lnTo>
                    <a:lnTo>
                      <a:pt x="13456" y="588"/>
                    </a:lnTo>
                    <a:lnTo>
                      <a:pt x="13654" y="784"/>
                    </a:lnTo>
                    <a:lnTo>
                      <a:pt x="13654" y="980"/>
                    </a:lnTo>
                    <a:lnTo>
                      <a:pt x="13852" y="1176"/>
                    </a:lnTo>
                    <a:lnTo>
                      <a:pt x="14050" y="1176"/>
                    </a:lnTo>
                    <a:lnTo>
                      <a:pt x="14050" y="1372"/>
                    </a:lnTo>
                    <a:lnTo>
                      <a:pt x="14248" y="1568"/>
                    </a:lnTo>
                    <a:lnTo>
                      <a:pt x="14446" y="1960"/>
                    </a:lnTo>
                    <a:lnTo>
                      <a:pt x="14446" y="2155"/>
                    </a:lnTo>
                    <a:lnTo>
                      <a:pt x="14644" y="2155"/>
                    </a:lnTo>
                    <a:lnTo>
                      <a:pt x="14644" y="2351"/>
                    </a:lnTo>
                    <a:lnTo>
                      <a:pt x="14842" y="2351"/>
                    </a:lnTo>
                    <a:lnTo>
                      <a:pt x="14842" y="2743"/>
                    </a:lnTo>
                    <a:lnTo>
                      <a:pt x="15040" y="2743"/>
                    </a:lnTo>
                    <a:lnTo>
                      <a:pt x="15040" y="2939"/>
                    </a:lnTo>
                    <a:lnTo>
                      <a:pt x="15237" y="2939"/>
                    </a:lnTo>
                    <a:lnTo>
                      <a:pt x="15237" y="3527"/>
                    </a:lnTo>
                    <a:lnTo>
                      <a:pt x="15435" y="3723"/>
                    </a:lnTo>
                    <a:lnTo>
                      <a:pt x="15435" y="3919"/>
                    </a:lnTo>
                    <a:lnTo>
                      <a:pt x="15633" y="4115"/>
                    </a:lnTo>
                    <a:lnTo>
                      <a:pt x="15633" y="4507"/>
                    </a:lnTo>
                    <a:lnTo>
                      <a:pt x="15831" y="4507"/>
                    </a:lnTo>
                    <a:lnTo>
                      <a:pt x="16029" y="4703"/>
                    </a:lnTo>
                    <a:lnTo>
                      <a:pt x="16029" y="5487"/>
                    </a:lnTo>
                    <a:lnTo>
                      <a:pt x="16425" y="5879"/>
                    </a:lnTo>
                    <a:lnTo>
                      <a:pt x="16425" y="6270"/>
                    </a:lnTo>
                    <a:lnTo>
                      <a:pt x="16623" y="6662"/>
                    </a:lnTo>
                    <a:lnTo>
                      <a:pt x="16623" y="6858"/>
                    </a:lnTo>
                    <a:lnTo>
                      <a:pt x="16821" y="7250"/>
                    </a:lnTo>
                    <a:lnTo>
                      <a:pt x="16821" y="7838"/>
                    </a:lnTo>
                    <a:lnTo>
                      <a:pt x="17018" y="8230"/>
                    </a:lnTo>
                    <a:lnTo>
                      <a:pt x="17216" y="8426"/>
                    </a:lnTo>
                    <a:lnTo>
                      <a:pt x="17216" y="9406"/>
                    </a:lnTo>
                    <a:lnTo>
                      <a:pt x="17414" y="9602"/>
                    </a:lnTo>
                    <a:lnTo>
                      <a:pt x="17414" y="9798"/>
                    </a:lnTo>
                    <a:lnTo>
                      <a:pt x="17612" y="9993"/>
                    </a:lnTo>
                    <a:lnTo>
                      <a:pt x="17612" y="11365"/>
                    </a:lnTo>
                    <a:lnTo>
                      <a:pt x="17810" y="11561"/>
                    </a:lnTo>
                    <a:lnTo>
                      <a:pt x="17810" y="11953"/>
                    </a:lnTo>
                    <a:lnTo>
                      <a:pt x="18008" y="11953"/>
                    </a:lnTo>
                    <a:lnTo>
                      <a:pt x="18008" y="13129"/>
                    </a:lnTo>
                    <a:lnTo>
                      <a:pt x="18206" y="13521"/>
                    </a:lnTo>
                    <a:lnTo>
                      <a:pt x="18404" y="13717"/>
                    </a:lnTo>
                    <a:lnTo>
                      <a:pt x="18404" y="15088"/>
                    </a:lnTo>
                    <a:lnTo>
                      <a:pt x="18602" y="15088"/>
                    </a:lnTo>
                    <a:lnTo>
                      <a:pt x="18602" y="15284"/>
                    </a:lnTo>
                    <a:lnTo>
                      <a:pt x="18799" y="15480"/>
                    </a:lnTo>
                    <a:lnTo>
                      <a:pt x="18799" y="16460"/>
                    </a:lnTo>
                    <a:lnTo>
                      <a:pt x="18997" y="16656"/>
                    </a:lnTo>
                    <a:lnTo>
                      <a:pt x="19195" y="17048"/>
                    </a:lnTo>
                    <a:lnTo>
                      <a:pt x="19195" y="18223"/>
                    </a:lnTo>
                    <a:lnTo>
                      <a:pt x="19591" y="18419"/>
                    </a:lnTo>
                    <a:lnTo>
                      <a:pt x="19591" y="19399"/>
                    </a:lnTo>
                    <a:lnTo>
                      <a:pt x="19789" y="19399"/>
                    </a:lnTo>
                    <a:lnTo>
                      <a:pt x="19789" y="19791"/>
                    </a:lnTo>
                    <a:lnTo>
                      <a:pt x="19987" y="19791"/>
                    </a:lnTo>
                    <a:lnTo>
                      <a:pt x="19987" y="19987"/>
                    </a:lnTo>
                    <a:lnTo>
                      <a:pt x="18997" y="19869"/>
                    </a:lnTo>
                  </a:path>
                </a:pathLst>
              </a:custGeom>
              <a:blipFill dpi="0" rotWithShape="1">
                <a:blip r:embed="rId7"/>
                <a:srcRect/>
                <a:tile tx="0" ty="0" sx="100000" sy="100000" flip="none" algn="tl"/>
              </a:blipFill>
              <a:ln w="25400">
                <a:solidFill>
                  <a:srgbClr val="008000"/>
                </a:solidFill>
                <a:round/>
                <a:headEnd type="none" w="sm" len="sm"/>
                <a:tailEnd type="none" w="sm" len="sm"/>
              </a:ln>
            </p:spPr>
            <p:txBody>
              <a:bodyPr/>
              <a:lstStyle/>
              <a:p>
                <a:endParaRPr lang="zh-CN" altLang="en-US"/>
              </a:p>
            </p:txBody>
          </p:sp>
        </p:grpSp>
        <p:sp>
          <p:nvSpPr>
            <p:cNvPr id="49227" name="Text Box 46"/>
            <p:cNvSpPr txBox="1">
              <a:spLocks noChangeArrowheads="1"/>
            </p:cNvSpPr>
            <p:nvPr/>
          </p:nvSpPr>
          <p:spPr bwMode="auto">
            <a:xfrm>
              <a:off x="2362" y="503"/>
              <a:ext cx="331" cy="772"/>
            </a:xfrm>
            <a:prstGeom prst="rect">
              <a:avLst/>
            </a:prstGeom>
            <a:noFill/>
            <a:ln w="9525">
              <a:noFill/>
              <a:miter lim="800000"/>
              <a:headEnd/>
              <a:tailEnd/>
            </a:ln>
          </p:spPr>
          <p:txBody>
            <a:bodyPr>
              <a:spAutoFit/>
            </a:bodyPr>
            <a:lstStyle/>
            <a:p>
              <a:pPr>
                <a:spcBef>
                  <a:spcPct val="50000"/>
                </a:spcBef>
              </a:pPr>
              <a:r>
                <a:rPr lang="zh-CN" altLang="en-US" sz="1500" b="1">
                  <a:solidFill>
                    <a:srgbClr val="FF66FF"/>
                  </a:solidFill>
                  <a:latin typeface="华文中宋"/>
                  <a:ea typeface="华文中宋"/>
                  <a:cs typeface="华文中宋"/>
                </a:rPr>
                <a:t>障碍物</a:t>
              </a:r>
            </a:p>
          </p:txBody>
        </p:sp>
      </p:grpSp>
      <p:sp>
        <p:nvSpPr>
          <p:cNvPr id="46127" name="Text Box 47"/>
          <p:cNvSpPr txBox="1">
            <a:spLocks noChangeArrowheads="1"/>
          </p:cNvSpPr>
          <p:nvPr/>
        </p:nvSpPr>
        <p:spPr bwMode="auto">
          <a:xfrm>
            <a:off x="1406525" y="2682875"/>
            <a:ext cx="1366838" cy="554038"/>
          </a:xfrm>
          <a:prstGeom prst="rect">
            <a:avLst/>
          </a:prstGeom>
          <a:noFill/>
          <a:ln w="9525">
            <a:solidFill>
              <a:srgbClr val="00B0F0"/>
            </a:solidFill>
            <a:miter lim="800000"/>
            <a:headEnd/>
            <a:tailEnd/>
          </a:ln>
        </p:spPr>
        <p:txBody>
          <a:bodyPr>
            <a:spAutoFit/>
          </a:bodyPr>
          <a:lstStyle/>
          <a:p>
            <a:pPr algn="ctr">
              <a:spcBef>
                <a:spcPct val="50000"/>
              </a:spcBef>
            </a:pPr>
            <a:r>
              <a:rPr lang="zh-CN" altLang="en-US" sz="1500" b="1">
                <a:solidFill>
                  <a:srgbClr val="0000FF"/>
                </a:solidFill>
                <a:latin typeface="华文中宋"/>
                <a:ea typeface="华文中宋"/>
                <a:cs typeface="华文中宋"/>
              </a:rPr>
              <a:t>声音强度相同的情况下</a:t>
            </a:r>
          </a:p>
        </p:txBody>
      </p:sp>
      <p:grpSp>
        <p:nvGrpSpPr>
          <p:cNvPr id="11" name="Group 48"/>
          <p:cNvGrpSpPr>
            <a:grpSpLocks/>
          </p:cNvGrpSpPr>
          <p:nvPr/>
        </p:nvGrpSpPr>
        <p:grpSpPr bwMode="auto">
          <a:xfrm>
            <a:off x="6227763" y="2643188"/>
            <a:ext cx="2016125" cy="757237"/>
            <a:chOff x="3153" y="2590"/>
            <a:chExt cx="1710" cy="988"/>
          </a:xfrm>
        </p:grpSpPr>
        <p:sp>
          <p:nvSpPr>
            <p:cNvPr id="49224" name="Text Box 49"/>
            <p:cNvSpPr txBox="1">
              <a:spLocks noChangeArrowheads="1"/>
            </p:cNvSpPr>
            <p:nvPr/>
          </p:nvSpPr>
          <p:spPr bwMode="auto">
            <a:xfrm>
              <a:off x="3278" y="2590"/>
              <a:ext cx="1585" cy="723"/>
            </a:xfrm>
            <a:prstGeom prst="rect">
              <a:avLst/>
            </a:prstGeom>
            <a:solidFill>
              <a:schemeClr val="bg1"/>
            </a:solidFill>
            <a:ln w="19050">
              <a:solidFill>
                <a:srgbClr val="00B0F0"/>
              </a:solidFill>
              <a:miter lim="800000"/>
              <a:headEnd/>
              <a:tailEnd/>
            </a:ln>
          </p:spPr>
          <p:txBody>
            <a:bodyPr>
              <a:spAutoFit/>
            </a:bodyPr>
            <a:lstStyle/>
            <a:p>
              <a:pPr>
                <a:spcBef>
                  <a:spcPct val="50000"/>
                </a:spcBef>
              </a:pPr>
              <a:r>
                <a:rPr lang="zh-CN" altLang="en-US" sz="1500" b="1">
                  <a:solidFill>
                    <a:srgbClr val="3333FF"/>
                  </a:solidFill>
                  <a:latin typeface="华文中宋"/>
                  <a:ea typeface="华文中宋"/>
                  <a:cs typeface="华文中宋"/>
                </a:rPr>
                <a:t>更容易听到男的还是女的说话的声音？</a:t>
              </a:r>
            </a:p>
          </p:txBody>
        </p:sp>
        <p:sp>
          <p:nvSpPr>
            <p:cNvPr id="49225" name="Line 50"/>
            <p:cNvSpPr>
              <a:spLocks noChangeShapeType="1"/>
            </p:cNvSpPr>
            <p:nvPr/>
          </p:nvSpPr>
          <p:spPr bwMode="auto">
            <a:xfrm flipV="1">
              <a:off x="3153" y="3342"/>
              <a:ext cx="199" cy="236"/>
            </a:xfrm>
            <a:prstGeom prst="line">
              <a:avLst/>
            </a:prstGeom>
            <a:noFill/>
            <a:ln w="19050">
              <a:solidFill>
                <a:schemeClr val="tx1"/>
              </a:solidFill>
              <a:round/>
              <a:headEnd/>
              <a:tailEnd/>
            </a:ln>
          </p:spPr>
          <p:txBody>
            <a:bodyPr wrap="none" anchor="ctr"/>
            <a:lstStyle/>
            <a:p>
              <a:endParaRPr lang="zh-CN" altLang="en-US"/>
            </a:p>
          </p:txBody>
        </p:sp>
      </p:grpSp>
      <p:sp>
        <p:nvSpPr>
          <p:cNvPr id="44036" name="Text Box 4"/>
          <p:cNvSpPr txBox="1">
            <a:spLocks noChangeArrowheads="1"/>
          </p:cNvSpPr>
          <p:nvPr/>
        </p:nvSpPr>
        <p:spPr bwMode="auto">
          <a:xfrm>
            <a:off x="323850" y="977900"/>
            <a:ext cx="1082675" cy="369888"/>
          </a:xfrm>
          <a:prstGeom prst="rect">
            <a:avLst/>
          </a:prstGeom>
          <a:noFill/>
          <a:ln w="9525">
            <a:noFill/>
            <a:miter lim="800000"/>
            <a:headEnd/>
            <a:tailEnd/>
          </a:ln>
        </p:spPr>
        <p:txBody>
          <a:bodyPr>
            <a:spAutoFit/>
          </a:bodyPr>
          <a:lstStyle/>
          <a:p>
            <a:pPr>
              <a:spcBef>
                <a:spcPct val="50000"/>
              </a:spcBef>
            </a:pPr>
            <a:r>
              <a:rPr lang="zh-CN" altLang="en-US" sz="1800" b="1">
                <a:solidFill>
                  <a:srgbClr val="FF0000"/>
                </a:solidFill>
                <a:latin typeface="华文中宋"/>
                <a:ea typeface="华文中宋"/>
                <a:cs typeface="Times New Roman" pitchFamily="18" charset="0"/>
              </a:rPr>
              <a:t>思考：</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4036"/>
                                        </p:tgtEl>
                                        <p:attrNameLst>
                                          <p:attrName>style.visibility</p:attrName>
                                        </p:attrNameLst>
                                      </p:cBhvr>
                                      <p:to>
                                        <p:strVal val="visible"/>
                                      </p:to>
                                    </p:set>
                                    <p:anim calcmode="lin" valueType="num">
                                      <p:cBhvr>
                                        <p:cTn id="7" dur="500" fill="hold"/>
                                        <p:tgtEl>
                                          <p:spTgt spid="44036"/>
                                        </p:tgtEl>
                                        <p:attrNameLst>
                                          <p:attrName>ppt_w</p:attrName>
                                        </p:attrNameLst>
                                      </p:cBhvr>
                                      <p:tavLst>
                                        <p:tav tm="0">
                                          <p:val>
                                            <p:fltVal val="0"/>
                                          </p:val>
                                        </p:tav>
                                        <p:tav tm="100000">
                                          <p:val>
                                            <p:strVal val="#ppt_w"/>
                                          </p:val>
                                        </p:tav>
                                      </p:tavLst>
                                    </p:anim>
                                    <p:anim calcmode="lin" valueType="num">
                                      <p:cBhvr>
                                        <p:cTn id="8" dur="500" fill="hold"/>
                                        <p:tgtEl>
                                          <p:spTgt spid="44036"/>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22" presetClass="entr" presetSubtype="8"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37"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outVertic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6119"/>
                                        </p:tgtEl>
                                        <p:attrNameLst>
                                          <p:attrName>style.visibility</p:attrName>
                                        </p:attrNameLst>
                                      </p:cBhvr>
                                      <p:to>
                                        <p:strVal val="visible"/>
                                      </p:to>
                                    </p:set>
                                    <p:animEffect transition="in" filter="wipe(left)">
                                      <p:cBhvr>
                                        <p:cTn id="37" dur="500"/>
                                        <p:tgtEl>
                                          <p:spTgt spid="4611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6120"/>
                                        </p:tgtEl>
                                        <p:attrNameLst>
                                          <p:attrName>style.visibility</p:attrName>
                                        </p:attrNameLst>
                                      </p:cBhvr>
                                      <p:to>
                                        <p:strVal val="visible"/>
                                      </p:to>
                                    </p:set>
                                    <p:animEffect transition="in" filter="wipe(left)">
                                      <p:cBhvr>
                                        <p:cTn id="42" dur="500"/>
                                        <p:tgtEl>
                                          <p:spTgt spid="4612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46121"/>
                                        </p:tgtEl>
                                        <p:attrNameLst>
                                          <p:attrName>style.visibility</p:attrName>
                                        </p:attrNameLst>
                                      </p:cBhvr>
                                      <p:to>
                                        <p:strVal val="visible"/>
                                      </p:to>
                                    </p:set>
                                    <p:animEffect transition="in" filter="wipe(down)">
                                      <p:cBhvr>
                                        <p:cTn id="47" dur="500"/>
                                        <p:tgtEl>
                                          <p:spTgt spid="46121"/>
                                        </p:tgtEl>
                                      </p:cBhvr>
                                    </p:animEffect>
                                  </p:childTnLst>
                                </p:cTn>
                              </p:par>
                            </p:childTnLst>
                          </p:cTn>
                        </p:par>
                        <p:par>
                          <p:cTn id="48" fill="hold" nodeType="afterGroup">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46127"/>
                                        </p:tgtEl>
                                        <p:attrNameLst>
                                          <p:attrName>style.visibility</p:attrName>
                                        </p:attrNameLst>
                                      </p:cBhvr>
                                      <p:to>
                                        <p:strVal val="visible"/>
                                      </p:to>
                                    </p:set>
                                    <p:animEffect transition="in" filter="wipe(left)">
                                      <p:cBhvr>
                                        <p:cTn id="51" dur="500"/>
                                        <p:tgtEl>
                                          <p:spTgt spid="4612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wipe(left)">
                                      <p:cBhvr>
                                        <p:cTn id="5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27" grpId="0" animBg="1" autoUpdateAnimBg="0"/>
      <p:bldP spid="4403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ChangeArrowheads="1"/>
          </p:cNvSpPr>
          <p:nvPr/>
        </p:nvSpPr>
        <p:spPr bwMode="auto">
          <a:xfrm>
            <a:off x="152400" y="1266825"/>
            <a:ext cx="8829675" cy="584200"/>
          </a:xfrm>
          <a:prstGeom prst="rect">
            <a:avLst/>
          </a:prstGeom>
          <a:noFill/>
          <a:ln w="9525">
            <a:noFill/>
            <a:miter lim="800000"/>
            <a:headEnd/>
            <a:tailEnd/>
          </a:ln>
        </p:spPr>
        <p:txBody>
          <a:bodyPr>
            <a:spAutoFit/>
          </a:bodyPr>
          <a:lstStyle/>
          <a:p>
            <a:r>
              <a:rPr lang="en-US" altLang="zh-CN" sz="1600" b="1">
                <a:latin typeface="华文中宋"/>
                <a:ea typeface="华文中宋"/>
                <a:cs typeface="华文中宋"/>
              </a:rPr>
              <a:t>1</a:t>
            </a:r>
            <a:r>
              <a:rPr lang="zh-CN" altLang="en-US" sz="1600" b="1">
                <a:latin typeface="华文中宋"/>
                <a:ea typeface="华文中宋"/>
                <a:cs typeface="华文中宋"/>
              </a:rPr>
              <a:t>、几列波在传播中相遇时，可以保持各自的特性</a:t>
            </a:r>
            <a:r>
              <a:rPr lang="en-US" altLang="zh-CN" sz="1600" b="1">
                <a:latin typeface="华文中宋"/>
                <a:ea typeface="华文中宋"/>
                <a:cs typeface="华文中宋"/>
              </a:rPr>
              <a:t>(</a:t>
            </a:r>
            <a:r>
              <a:rPr lang="zh-CN" altLang="en-US" sz="1600" b="1">
                <a:latin typeface="华文中宋"/>
                <a:ea typeface="华文中宋"/>
                <a:cs typeface="华文中宋"/>
              </a:rPr>
              <a:t>频率、波长、振幅、振动方向等</a:t>
            </a:r>
            <a:r>
              <a:rPr lang="en-US" altLang="zh-CN" sz="1600" b="1">
                <a:latin typeface="华文中宋"/>
                <a:ea typeface="华文中宋"/>
                <a:cs typeface="华文中宋"/>
              </a:rPr>
              <a:t>) </a:t>
            </a:r>
            <a:r>
              <a:rPr lang="zh-CN" altLang="en-US" sz="1600" b="1">
                <a:latin typeface="华文中宋"/>
                <a:ea typeface="华文中宋"/>
                <a:cs typeface="华文中宋"/>
              </a:rPr>
              <a:t>同时通过同一媒质，好象没有遇到其它波一样</a:t>
            </a:r>
          </a:p>
        </p:txBody>
      </p:sp>
      <p:sp>
        <p:nvSpPr>
          <p:cNvPr id="52228" name="Rectangle 4"/>
          <p:cNvSpPr>
            <a:spLocks noChangeArrowheads="1"/>
          </p:cNvSpPr>
          <p:nvPr/>
        </p:nvSpPr>
        <p:spPr bwMode="auto">
          <a:xfrm>
            <a:off x="196850" y="1825625"/>
            <a:ext cx="8870950" cy="339725"/>
          </a:xfrm>
          <a:prstGeom prst="rect">
            <a:avLst/>
          </a:prstGeom>
          <a:noFill/>
          <a:ln w="9525">
            <a:noFill/>
            <a:miter lim="800000"/>
            <a:headEnd/>
            <a:tailEnd/>
          </a:ln>
        </p:spPr>
        <p:txBody>
          <a:bodyPr>
            <a:spAutoFit/>
          </a:bodyPr>
          <a:lstStyle/>
          <a:p>
            <a:r>
              <a:rPr lang="en-US" altLang="zh-CN" sz="1600" b="1">
                <a:latin typeface="华文中宋"/>
                <a:ea typeface="华文中宋"/>
                <a:cs typeface="华文中宋"/>
              </a:rPr>
              <a:t>2</a:t>
            </a:r>
            <a:r>
              <a:rPr lang="zh-CN" altLang="en-US" sz="1600" b="1">
                <a:latin typeface="华文中宋"/>
                <a:ea typeface="华文中宋"/>
                <a:cs typeface="华文中宋"/>
              </a:rPr>
              <a:t>、在相遇的区域内，任一点的振动，为各列波单独存在时在该点产生的振动的合成振动。</a:t>
            </a:r>
          </a:p>
        </p:txBody>
      </p:sp>
      <p:sp>
        <p:nvSpPr>
          <p:cNvPr id="52230" name="Rectangle 6"/>
          <p:cNvSpPr>
            <a:spLocks noChangeArrowheads="1"/>
          </p:cNvSpPr>
          <p:nvPr/>
        </p:nvSpPr>
        <p:spPr bwMode="auto">
          <a:xfrm>
            <a:off x="107950" y="2139950"/>
            <a:ext cx="7231063" cy="368300"/>
          </a:xfrm>
          <a:prstGeom prst="rect">
            <a:avLst/>
          </a:prstGeom>
          <a:noFill/>
          <a:ln w="9525">
            <a:noFill/>
            <a:miter lim="800000"/>
            <a:headEnd/>
            <a:tailEnd/>
          </a:ln>
        </p:spPr>
        <p:txBody>
          <a:bodyPr>
            <a:spAutoFit/>
          </a:bodyPr>
          <a:lstStyle/>
          <a:p>
            <a:r>
              <a:rPr lang="zh-CN" altLang="en-US" sz="1800" b="1">
                <a:solidFill>
                  <a:srgbClr val="FF0000"/>
                </a:solidFill>
                <a:latin typeface="华文中宋"/>
                <a:ea typeface="华文中宋"/>
                <a:cs typeface="华文中宋"/>
              </a:rPr>
              <a:t>上述规律称为波的叠加原理，又称波的独立传播原理</a:t>
            </a:r>
          </a:p>
        </p:txBody>
      </p:sp>
      <p:pic>
        <p:nvPicPr>
          <p:cNvPr id="13" name="Picture 4" descr="波的叠加原理"/>
          <p:cNvPicPr>
            <a:picLocks noChangeAspect="1" noChangeArrowheads="1" noCrop="1"/>
          </p:cNvPicPr>
          <p:nvPr/>
        </p:nvPicPr>
        <p:blipFill>
          <a:blip r:embed="rId2"/>
          <a:srcRect/>
          <a:stretch>
            <a:fillRect/>
          </a:stretch>
        </p:blipFill>
        <p:spPr bwMode="auto">
          <a:xfrm>
            <a:off x="3492500" y="2625725"/>
            <a:ext cx="5295900" cy="1714500"/>
          </a:xfrm>
          <a:prstGeom prst="rect">
            <a:avLst/>
          </a:prstGeom>
          <a:noFill/>
          <a:ln w="9525">
            <a:noFill/>
            <a:miter lim="800000"/>
            <a:headEnd/>
            <a:tailEnd/>
          </a:ln>
        </p:spPr>
      </p:pic>
      <p:pic>
        <p:nvPicPr>
          <p:cNvPr id="131074" name="Picture 2"/>
          <p:cNvPicPr>
            <a:picLocks noChangeAspect="1" noChangeArrowheads="1"/>
          </p:cNvPicPr>
          <p:nvPr/>
        </p:nvPicPr>
        <p:blipFill>
          <a:blip r:embed="rId3"/>
          <a:srcRect/>
          <a:stretch>
            <a:fillRect/>
          </a:stretch>
        </p:blipFill>
        <p:spPr bwMode="auto">
          <a:xfrm>
            <a:off x="684213" y="2508250"/>
            <a:ext cx="1943100" cy="2058988"/>
          </a:xfrm>
          <a:prstGeom prst="rect">
            <a:avLst/>
          </a:prstGeom>
          <a:noFill/>
          <a:ln w="9525">
            <a:noFill/>
            <a:miter lim="800000"/>
            <a:headEnd/>
            <a:tailEnd/>
          </a:ln>
        </p:spPr>
      </p:pic>
      <p:sp>
        <p:nvSpPr>
          <p:cNvPr id="8" name="Text Box 2"/>
          <p:cNvSpPr>
            <a:spLocks noChangeArrowheads="1"/>
          </p:cNvSpPr>
          <p:nvPr/>
        </p:nvSpPr>
        <p:spPr bwMode="auto">
          <a:xfrm>
            <a:off x="828675" y="874713"/>
            <a:ext cx="2590800" cy="401637"/>
          </a:xfrm>
          <a:prstGeom prst="homePlate">
            <a:avLst>
              <a:gd name="adj" fmla="val 49604"/>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三、波的叠加原理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52227"/>
                                        </p:tgtEl>
                                        <p:attrNameLst>
                                          <p:attrName>style.visibility</p:attrName>
                                        </p:attrNameLst>
                                      </p:cBhvr>
                                      <p:to>
                                        <p:strVal val="visible"/>
                                      </p:to>
                                    </p:set>
                                    <p:anim calcmode="lin" valueType="num">
                                      <p:cBhvr>
                                        <p:cTn id="12" dur="500" fill="hold"/>
                                        <p:tgtEl>
                                          <p:spTgt spid="52227"/>
                                        </p:tgtEl>
                                        <p:attrNameLst>
                                          <p:attrName>ppt_w</p:attrName>
                                        </p:attrNameLst>
                                      </p:cBhvr>
                                      <p:tavLst>
                                        <p:tav tm="0">
                                          <p:val>
                                            <p:fltVal val="0"/>
                                          </p:val>
                                        </p:tav>
                                        <p:tav tm="100000">
                                          <p:val>
                                            <p:strVal val="#ppt_w"/>
                                          </p:val>
                                        </p:tav>
                                      </p:tavLst>
                                    </p:anim>
                                    <p:anim calcmode="lin" valueType="num">
                                      <p:cBhvr>
                                        <p:cTn id="13" dur="500" fill="hold"/>
                                        <p:tgtEl>
                                          <p:spTgt spid="52227"/>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52228"/>
                                        </p:tgtEl>
                                        <p:attrNameLst>
                                          <p:attrName>style.visibility</p:attrName>
                                        </p:attrNameLst>
                                      </p:cBhvr>
                                      <p:to>
                                        <p:strVal val="visible"/>
                                      </p:to>
                                    </p:set>
                                    <p:anim calcmode="lin" valueType="num">
                                      <p:cBhvr>
                                        <p:cTn id="18" dur="500" fill="hold"/>
                                        <p:tgtEl>
                                          <p:spTgt spid="52228"/>
                                        </p:tgtEl>
                                        <p:attrNameLst>
                                          <p:attrName>ppt_w</p:attrName>
                                        </p:attrNameLst>
                                      </p:cBhvr>
                                      <p:tavLst>
                                        <p:tav tm="0">
                                          <p:val>
                                            <p:fltVal val="0"/>
                                          </p:val>
                                        </p:tav>
                                        <p:tav tm="100000">
                                          <p:val>
                                            <p:strVal val="#ppt_w"/>
                                          </p:val>
                                        </p:tav>
                                      </p:tavLst>
                                    </p:anim>
                                    <p:anim calcmode="lin" valueType="num">
                                      <p:cBhvr>
                                        <p:cTn id="19" dur="500" fill="hold"/>
                                        <p:tgtEl>
                                          <p:spTgt spid="52228"/>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10" fill="hold" grpId="0" nodeType="clickEffect">
                                  <p:stCondLst>
                                    <p:cond delay="0"/>
                                  </p:stCondLst>
                                  <p:childTnLst>
                                    <p:set>
                                      <p:cBhvr>
                                        <p:cTn id="23" dur="1" fill="hold">
                                          <p:stCondLst>
                                            <p:cond delay="0"/>
                                          </p:stCondLst>
                                        </p:cTn>
                                        <p:tgtEl>
                                          <p:spTgt spid="52230"/>
                                        </p:tgtEl>
                                        <p:attrNameLst>
                                          <p:attrName>style.visibility</p:attrName>
                                        </p:attrNameLst>
                                      </p:cBhvr>
                                      <p:to>
                                        <p:strVal val="visible"/>
                                      </p:to>
                                    </p:set>
                                    <p:anim calcmode="lin" valueType="num">
                                      <p:cBhvr>
                                        <p:cTn id="24" dur="500" fill="hold"/>
                                        <p:tgtEl>
                                          <p:spTgt spid="52230"/>
                                        </p:tgtEl>
                                        <p:attrNameLst>
                                          <p:attrName>ppt_w</p:attrName>
                                        </p:attrNameLst>
                                      </p:cBhvr>
                                      <p:tavLst>
                                        <p:tav tm="0">
                                          <p:val>
                                            <p:fltVal val="0"/>
                                          </p:val>
                                        </p:tav>
                                        <p:tav tm="100000">
                                          <p:val>
                                            <p:strVal val="#ppt_w"/>
                                          </p:val>
                                        </p:tav>
                                      </p:tavLst>
                                    </p:anim>
                                    <p:anim calcmode="lin" valueType="num">
                                      <p:cBhvr>
                                        <p:cTn id="25" dur="500" fill="hold"/>
                                        <p:tgtEl>
                                          <p:spTgt spid="52230"/>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131074"/>
                                        </p:tgtEl>
                                        <p:attrNameLst>
                                          <p:attrName>style.visibility</p:attrName>
                                        </p:attrNameLst>
                                      </p:cBhvr>
                                      <p:to>
                                        <p:strVal val="visible"/>
                                      </p:to>
                                    </p:set>
                                    <p:anim calcmode="lin" valueType="num">
                                      <p:cBhvr>
                                        <p:cTn id="30" dur="500" fill="hold"/>
                                        <p:tgtEl>
                                          <p:spTgt spid="131074"/>
                                        </p:tgtEl>
                                        <p:attrNameLst>
                                          <p:attrName>ppt_w</p:attrName>
                                        </p:attrNameLst>
                                      </p:cBhvr>
                                      <p:tavLst>
                                        <p:tav tm="0">
                                          <p:val>
                                            <p:fltVal val="0"/>
                                          </p:val>
                                        </p:tav>
                                        <p:tav tm="100000">
                                          <p:val>
                                            <p:strVal val="#ppt_w"/>
                                          </p:val>
                                        </p:tav>
                                      </p:tavLst>
                                    </p:anim>
                                    <p:anim calcmode="lin" valueType="num">
                                      <p:cBhvr>
                                        <p:cTn id="31" dur="500" fill="hold"/>
                                        <p:tgtEl>
                                          <p:spTgt spid="131074"/>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16"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autoUpdateAnimBg="0"/>
      <p:bldP spid="52228" grpId="0" autoUpdateAnimBg="0"/>
      <p:bldP spid="52230" grpId="0" autoUpdateAnimBg="0"/>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ext Box 2"/>
          <p:cNvSpPr txBox="1">
            <a:spLocks noChangeArrowheads="1"/>
          </p:cNvSpPr>
          <p:nvPr/>
        </p:nvSpPr>
        <p:spPr bwMode="auto">
          <a:xfrm>
            <a:off x="373063" y="131763"/>
            <a:ext cx="2327275" cy="523875"/>
          </a:xfrm>
          <a:prstGeom prst="rect">
            <a:avLst/>
          </a:prstGeom>
          <a:noFill/>
          <a:ln w="9525">
            <a:noFill/>
            <a:miter lim="800000"/>
            <a:headEnd/>
            <a:tailEnd/>
          </a:ln>
        </p:spPr>
        <p:txBody>
          <a:bodyPr>
            <a:spAutoFit/>
          </a:bodyPr>
          <a:lstStyle/>
          <a:p>
            <a:endParaRPr lang="zh-CN" altLang="en-US">
              <a:solidFill>
                <a:srgbClr val="0000FF"/>
              </a:solidFill>
              <a:latin typeface="华文中宋"/>
              <a:ea typeface="华文中宋"/>
              <a:cs typeface="华文中宋"/>
            </a:endParaRPr>
          </a:p>
        </p:txBody>
      </p:sp>
      <p:grpSp>
        <p:nvGrpSpPr>
          <p:cNvPr id="2" name="Group 4"/>
          <p:cNvGrpSpPr>
            <a:grpSpLocks/>
          </p:cNvGrpSpPr>
          <p:nvPr/>
        </p:nvGrpSpPr>
        <p:grpSpPr bwMode="auto">
          <a:xfrm>
            <a:off x="1338263" y="1276350"/>
            <a:ext cx="2154237" cy="2224088"/>
            <a:chOff x="1050" y="1820"/>
            <a:chExt cx="1616" cy="2309"/>
          </a:xfrm>
        </p:grpSpPr>
        <p:pic>
          <p:nvPicPr>
            <p:cNvPr id="104454" name="Picture 5" descr="789"/>
            <p:cNvPicPr>
              <a:picLocks noChangeAspect="1" noChangeArrowheads="1"/>
            </p:cNvPicPr>
            <p:nvPr/>
          </p:nvPicPr>
          <p:blipFill>
            <a:blip r:embed="rId2"/>
            <a:srcRect/>
            <a:stretch>
              <a:fillRect/>
            </a:stretch>
          </p:blipFill>
          <p:spPr bwMode="auto">
            <a:xfrm rot="-5400000">
              <a:off x="866" y="2073"/>
              <a:ext cx="2030" cy="1523"/>
            </a:xfrm>
            <a:prstGeom prst="rect">
              <a:avLst/>
            </a:prstGeom>
            <a:noFill/>
            <a:ln w="9525">
              <a:noFill/>
              <a:miter lim="800000"/>
              <a:headEnd/>
              <a:tailEnd/>
            </a:ln>
          </p:spPr>
        </p:pic>
        <p:sp>
          <p:nvSpPr>
            <p:cNvPr id="104455" name="Text Box 6"/>
            <p:cNvSpPr txBox="1">
              <a:spLocks noChangeArrowheads="1"/>
            </p:cNvSpPr>
            <p:nvPr/>
          </p:nvSpPr>
          <p:spPr bwMode="auto">
            <a:xfrm>
              <a:off x="1050" y="3858"/>
              <a:ext cx="1616" cy="271"/>
            </a:xfrm>
            <a:prstGeom prst="rect">
              <a:avLst/>
            </a:prstGeom>
            <a:noFill/>
            <a:ln w="9525">
              <a:noFill/>
              <a:miter lim="800000"/>
              <a:headEnd/>
              <a:tailEnd/>
            </a:ln>
          </p:spPr>
          <p:txBody>
            <a:bodyPr>
              <a:spAutoFit/>
            </a:bodyPr>
            <a:lstStyle/>
            <a:p>
              <a:pPr algn="ctr">
                <a:spcBef>
                  <a:spcPct val="50000"/>
                </a:spcBef>
              </a:pPr>
              <a:r>
                <a:rPr lang="zh-CN" altLang="en-US" sz="1500" b="1">
                  <a:solidFill>
                    <a:srgbClr val="0000FF"/>
                  </a:solidFill>
                  <a:latin typeface="华文中宋"/>
                  <a:ea typeface="华文中宋"/>
                  <a:cs typeface="华文中宋"/>
                </a:rPr>
                <a:t>水波盘中水波的干涉</a:t>
              </a:r>
            </a:p>
          </p:txBody>
        </p:sp>
      </p:grpSp>
      <p:pic>
        <p:nvPicPr>
          <p:cNvPr id="49159" name="Picture 7" descr="波的干涉"/>
          <p:cNvPicPr>
            <a:picLocks noChangeAspect="1" noChangeArrowheads="1" noCrop="1"/>
          </p:cNvPicPr>
          <p:nvPr/>
        </p:nvPicPr>
        <p:blipFill>
          <a:blip r:embed="rId3"/>
          <a:srcRect/>
          <a:stretch>
            <a:fillRect/>
          </a:stretch>
        </p:blipFill>
        <p:spPr bwMode="auto">
          <a:xfrm>
            <a:off x="3986213" y="1304925"/>
            <a:ext cx="3322637" cy="1868488"/>
          </a:xfrm>
          <a:prstGeom prst="rect">
            <a:avLst/>
          </a:prstGeom>
          <a:noFill/>
          <a:ln w="9525">
            <a:noFill/>
            <a:miter lim="800000"/>
            <a:headEnd/>
            <a:tailEnd/>
          </a:ln>
        </p:spPr>
      </p:pic>
      <p:sp>
        <p:nvSpPr>
          <p:cNvPr id="9" name="Text Box 2"/>
          <p:cNvSpPr txBox="1">
            <a:spLocks noChangeArrowheads="1"/>
          </p:cNvSpPr>
          <p:nvPr/>
        </p:nvSpPr>
        <p:spPr bwMode="auto">
          <a:xfrm>
            <a:off x="755650" y="3489325"/>
            <a:ext cx="7631113" cy="923925"/>
          </a:xfrm>
          <a:prstGeom prst="rect">
            <a:avLst/>
          </a:prstGeom>
          <a:noFill/>
          <a:ln w="9525">
            <a:noFill/>
            <a:miter lim="800000"/>
            <a:headEnd/>
            <a:tailEnd/>
          </a:ln>
        </p:spPr>
        <p:txBody>
          <a:bodyPr>
            <a:spAutoFit/>
          </a:bodyPr>
          <a:lstStyle/>
          <a:p>
            <a:pPr eaLnBrk="0" hangingPunct="0"/>
            <a:r>
              <a:rPr lang="en-US" altLang="zh-CN" sz="1800" b="1">
                <a:solidFill>
                  <a:srgbClr val="0000FF"/>
                </a:solidFill>
                <a:latin typeface="华文中宋"/>
                <a:ea typeface="华文中宋"/>
                <a:cs typeface="华文中宋"/>
              </a:rPr>
              <a:t>1</a:t>
            </a:r>
            <a:r>
              <a:rPr lang="zh-CN" altLang="en-US" sz="1800" b="1">
                <a:solidFill>
                  <a:srgbClr val="0000FF"/>
                </a:solidFill>
                <a:latin typeface="华文中宋"/>
                <a:ea typeface="华文中宋"/>
                <a:cs typeface="华文中宋"/>
              </a:rPr>
              <a:t>、定义：</a:t>
            </a:r>
            <a:r>
              <a:rPr lang="zh-CN" altLang="en-US" sz="1800" b="1">
                <a:latin typeface="华文中宋"/>
                <a:ea typeface="华文中宋"/>
                <a:cs typeface="华文中宋"/>
              </a:rPr>
              <a:t>若两列波频率相同、振动方向相同、在相遇点的位相差恒定，则在合成波场中会出现某些点的振动始终加强，另一些点的振动始终减弱</a:t>
            </a:r>
            <a:r>
              <a:rPr lang="en-US" altLang="zh-CN" sz="1800" b="1">
                <a:latin typeface="华文中宋"/>
                <a:ea typeface="华文中宋"/>
                <a:cs typeface="华文中宋"/>
              </a:rPr>
              <a:t>(</a:t>
            </a:r>
            <a:r>
              <a:rPr lang="zh-CN" altLang="en-US" sz="1800" b="1">
                <a:latin typeface="华文中宋"/>
                <a:ea typeface="华文中宋"/>
                <a:cs typeface="华文中宋"/>
              </a:rPr>
              <a:t>或完全抵消</a:t>
            </a:r>
            <a:r>
              <a:rPr lang="en-US" altLang="zh-CN" sz="1800" b="1">
                <a:latin typeface="华文中宋"/>
                <a:ea typeface="华文中宋"/>
                <a:cs typeface="华文中宋"/>
              </a:rPr>
              <a:t>)</a:t>
            </a:r>
            <a:r>
              <a:rPr lang="zh-CN" altLang="en-US" sz="1800" b="1">
                <a:latin typeface="华文中宋"/>
                <a:ea typeface="华文中宋"/>
                <a:cs typeface="华文中宋"/>
              </a:rPr>
              <a:t>，这种现象称为</a:t>
            </a:r>
            <a:r>
              <a:rPr lang="zh-CN" altLang="en-US" sz="1800" b="1">
                <a:solidFill>
                  <a:srgbClr val="0000FF"/>
                </a:solidFill>
                <a:latin typeface="华文中宋"/>
                <a:ea typeface="华文中宋"/>
                <a:cs typeface="华文中宋"/>
              </a:rPr>
              <a:t>波的干涉</a:t>
            </a:r>
            <a:r>
              <a:rPr lang="zh-CN" altLang="en-US" sz="1800" b="1">
                <a:latin typeface="华文中宋"/>
                <a:ea typeface="华文中宋"/>
                <a:cs typeface="华文中宋"/>
              </a:rPr>
              <a:t>。</a:t>
            </a:r>
            <a:endParaRPr lang="en-US" altLang="zh-CN" sz="1800" b="1">
              <a:latin typeface="华文中宋"/>
              <a:ea typeface="华文中宋"/>
              <a:cs typeface="华文中宋"/>
            </a:endParaRPr>
          </a:p>
        </p:txBody>
      </p:sp>
      <p:sp>
        <p:nvSpPr>
          <p:cNvPr id="8" name="Text Box 2"/>
          <p:cNvSpPr>
            <a:spLocks noChangeArrowheads="1"/>
          </p:cNvSpPr>
          <p:nvPr/>
        </p:nvSpPr>
        <p:spPr bwMode="auto">
          <a:xfrm>
            <a:off x="828675" y="874713"/>
            <a:ext cx="1943100" cy="401637"/>
          </a:xfrm>
          <a:prstGeom prst="homePlate">
            <a:avLst>
              <a:gd name="adj" fmla="val 49611"/>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四、波的干涉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49159"/>
                                        </p:tgtEl>
                                        <p:attrNameLst>
                                          <p:attrName>style.visibility</p:attrName>
                                        </p:attrNameLst>
                                      </p:cBhvr>
                                      <p:to>
                                        <p:strVal val="visible"/>
                                      </p:to>
                                    </p:set>
                                    <p:anim calcmode="lin" valueType="num">
                                      <p:cBhvr>
                                        <p:cTn id="18" dur="500" fill="hold"/>
                                        <p:tgtEl>
                                          <p:spTgt spid="49159"/>
                                        </p:tgtEl>
                                        <p:attrNameLst>
                                          <p:attrName>ppt_w</p:attrName>
                                        </p:attrNameLst>
                                      </p:cBhvr>
                                      <p:tavLst>
                                        <p:tav tm="0">
                                          <p:val>
                                            <p:fltVal val="0"/>
                                          </p:val>
                                        </p:tav>
                                        <p:tav tm="100000">
                                          <p:val>
                                            <p:strVal val="#ppt_w"/>
                                          </p:val>
                                        </p:tav>
                                      </p:tavLst>
                                    </p:anim>
                                    <p:anim calcmode="lin" valueType="num">
                                      <p:cBhvr>
                                        <p:cTn id="19" dur="500" fill="hold"/>
                                        <p:tgtEl>
                                          <p:spTgt spid="49159"/>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81" name="Text Box 5"/>
          <p:cNvSpPr txBox="1">
            <a:spLocks noChangeArrowheads="1"/>
          </p:cNvSpPr>
          <p:nvPr/>
        </p:nvSpPr>
        <p:spPr bwMode="auto">
          <a:xfrm>
            <a:off x="2822575" y="906463"/>
            <a:ext cx="6142038" cy="369887"/>
          </a:xfrm>
          <a:prstGeom prst="rect">
            <a:avLst/>
          </a:prstGeom>
          <a:noFill/>
          <a:ln w="9525">
            <a:noFill/>
            <a:miter lim="800000"/>
            <a:headEnd/>
            <a:tailEnd/>
          </a:ln>
        </p:spPr>
        <p:txBody>
          <a:bodyPr>
            <a:spAutoFit/>
          </a:bodyPr>
          <a:lstStyle/>
          <a:p>
            <a:pPr>
              <a:spcBef>
                <a:spcPct val="50000"/>
              </a:spcBef>
            </a:pPr>
            <a:r>
              <a:rPr lang="zh-CN" altLang="en-US" sz="1800" b="1">
                <a:latin typeface="华文中宋"/>
                <a:ea typeface="华文中宋"/>
                <a:cs typeface="华文中宋"/>
              </a:rPr>
              <a:t>（</a:t>
            </a:r>
            <a:r>
              <a:rPr lang="en-US" altLang="zh-CN" sz="1800" b="1">
                <a:latin typeface="华文中宋"/>
                <a:ea typeface="华文中宋"/>
                <a:cs typeface="华文中宋"/>
              </a:rPr>
              <a:t>1</a:t>
            </a:r>
            <a:r>
              <a:rPr lang="zh-CN" altLang="en-US" sz="1800" b="1">
                <a:latin typeface="华文中宋"/>
                <a:ea typeface="华文中宋"/>
                <a:cs typeface="华文中宋"/>
              </a:rPr>
              <a:t>）频率相同；（</a:t>
            </a:r>
            <a:r>
              <a:rPr lang="en-US" altLang="zh-CN" sz="1800" b="1">
                <a:latin typeface="华文中宋"/>
                <a:ea typeface="华文中宋"/>
                <a:cs typeface="华文中宋"/>
              </a:rPr>
              <a:t>2</a:t>
            </a:r>
            <a:r>
              <a:rPr lang="zh-CN" altLang="en-US" sz="1800" b="1">
                <a:latin typeface="华文中宋"/>
                <a:ea typeface="华文中宋"/>
                <a:cs typeface="华文中宋"/>
              </a:rPr>
              <a:t>）相位差恒定；（</a:t>
            </a:r>
            <a:r>
              <a:rPr lang="en-US" altLang="zh-CN" sz="1800" b="1">
                <a:latin typeface="华文中宋"/>
                <a:ea typeface="华文中宋"/>
                <a:cs typeface="华文中宋"/>
              </a:rPr>
              <a:t>3</a:t>
            </a:r>
            <a:r>
              <a:rPr lang="zh-CN" altLang="en-US" sz="1800" b="1">
                <a:latin typeface="华文中宋"/>
                <a:ea typeface="华文中宋"/>
                <a:cs typeface="华文中宋"/>
              </a:rPr>
              <a:t>）振动方向相同；</a:t>
            </a:r>
          </a:p>
        </p:txBody>
      </p:sp>
      <p:sp>
        <p:nvSpPr>
          <p:cNvPr id="152583" name="Rectangle 7"/>
          <p:cNvSpPr>
            <a:spLocks noChangeArrowheads="1"/>
          </p:cNvSpPr>
          <p:nvPr/>
        </p:nvSpPr>
        <p:spPr bwMode="auto">
          <a:xfrm>
            <a:off x="1236663" y="977900"/>
            <a:ext cx="1390650" cy="369888"/>
          </a:xfrm>
          <a:prstGeom prst="rect">
            <a:avLst/>
          </a:prstGeom>
          <a:noFill/>
          <a:ln w="9525">
            <a:noFill/>
            <a:miter lim="800000"/>
            <a:headEnd/>
            <a:tailEnd/>
          </a:ln>
          <a:effectLst>
            <a:prstShdw prst="shdw17" dist="17961" dir="2700000">
              <a:srgbClr val="993D00"/>
            </a:prstShdw>
          </a:effectLst>
        </p:spPr>
        <p:txBody>
          <a:bodyPr>
            <a:spAutoFit/>
          </a:bodyPr>
          <a:lstStyle/>
          <a:p>
            <a:r>
              <a:rPr lang="zh-CN" altLang="en-US" sz="1800" b="1">
                <a:solidFill>
                  <a:srgbClr val="0000FF"/>
                </a:solidFill>
                <a:latin typeface="华文中宋"/>
                <a:ea typeface="华文中宋"/>
                <a:cs typeface="华文中宋"/>
              </a:rPr>
              <a:t>相干条件</a:t>
            </a:r>
          </a:p>
        </p:txBody>
      </p:sp>
      <p:sp>
        <p:nvSpPr>
          <p:cNvPr id="152584" name="Rectangle 8"/>
          <p:cNvSpPr>
            <a:spLocks noChangeArrowheads="1"/>
          </p:cNvSpPr>
          <p:nvPr/>
        </p:nvSpPr>
        <p:spPr bwMode="auto">
          <a:xfrm>
            <a:off x="841375" y="1492250"/>
            <a:ext cx="2217738" cy="368300"/>
          </a:xfrm>
          <a:prstGeom prst="rect">
            <a:avLst/>
          </a:prstGeom>
          <a:noFill/>
          <a:ln w="9525">
            <a:noFill/>
            <a:miter lim="800000"/>
            <a:headEnd/>
            <a:tailEnd/>
          </a:ln>
          <a:effectLst>
            <a:prstShdw prst="shdw17" dist="17961" dir="2700000">
              <a:srgbClr val="949769"/>
            </a:prstShdw>
          </a:effectLst>
        </p:spPr>
        <p:txBody>
          <a:bodyPr>
            <a:spAutoFit/>
          </a:bodyPr>
          <a:lstStyle/>
          <a:p>
            <a:r>
              <a:rPr lang="zh-CN" altLang="en-US" sz="1800" b="1">
                <a:solidFill>
                  <a:srgbClr val="0000FF"/>
                </a:solidFill>
                <a:latin typeface="华文中宋"/>
                <a:ea typeface="华文中宋"/>
                <a:cs typeface="华文中宋"/>
              </a:rPr>
              <a:t>相干波源与相干波 </a:t>
            </a:r>
          </a:p>
        </p:txBody>
      </p:sp>
      <p:sp>
        <p:nvSpPr>
          <p:cNvPr id="152585" name="Rectangle 9"/>
          <p:cNvSpPr>
            <a:spLocks noChangeArrowheads="1"/>
          </p:cNvSpPr>
          <p:nvPr/>
        </p:nvSpPr>
        <p:spPr bwMode="auto">
          <a:xfrm>
            <a:off x="2987675" y="1347788"/>
            <a:ext cx="4170363" cy="646112"/>
          </a:xfrm>
          <a:prstGeom prst="rect">
            <a:avLst/>
          </a:prstGeom>
          <a:noFill/>
          <a:ln w="9525">
            <a:noFill/>
            <a:miter lim="800000"/>
            <a:headEnd/>
            <a:tailEnd/>
          </a:ln>
          <a:effectLst>
            <a:prstShdw prst="shdw17" dist="17961" dir="2700000">
              <a:srgbClr val="949769"/>
            </a:prstShdw>
          </a:effectLst>
        </p:spPr>
        <p:txBody>
          <a:bodyPr>
            <a:spAutoFit/>
          </a:bodyPr>
          <a:lstStyle/>
          <a:p>
            <a:pPr algn="just"/>
            <a:r>
              <a:rPr lang="zh-CN" altLang="en-US" sz="1800" b="1">
                <a:latin typeface="华文中宋"/>
                <a:ea typeface="华文中宋"/>
                <a:cs typeface="华文中宋"/>
              </a:rPr>
              <a:t>满足相干条件的波源称为相干波源，</a:t>
            </a:r>
          </a:p>
          <a:p>
            <a:pPr algn="just"/>
            <a:r>
              <a:rPr lang="zh-CN" altLang="en-US" sz="1800" b="1">
                <a:latin typeface="华文中宋"/>
                <a:ea typeface="华文中宋"/>
                <a:cs typeface="华文中宋"/>
              </a:rPr>
              <a:t>能叠加产生干涉现象的波称为相干波。 </a:t>
            </a:r>
          </a:p>
        </p:txBody>
      </p:sp>
      <p:grpSp>
        <p:nvGrpSpPr>
          <p:cNvPr id="2" name="Group 2"/>
          <p:cNvGrpSpPr>
            <a:grpSpLocks/>
          </p:cNvGrpSpPr>
          <p:nvPr/>
        </p:nvGrpSpPr>
        <p:grpSpPr bwMode="auto">
          <a:xfrm>
            <a:off x="5756275" y="2895600"/>
            <a:ext cx="2955925" cy="1635125"/>
            <a:chOff x="3812" y="2027"/>
            <a:chExt cx="1457" cy="1001"/>
          </a:xfrm>
        </p:grpSpPr>
        <p:sp>
          <p:nvSpPr>
            <p:cNvPr id="52274" name="Oval 3"/>
            <p:cNvSpPr>
              <a:spLocks noChangeArrowheads="1"/>
            </p:cNvSpPr>
            <p:nvPr/>
          </p:nvSpPr>
          <p:spPr bwMode="auto">
            <a:xfrm>
              <a:off x="4021" y="2193"/>
              <a:ext cx="85" cy="85"/>
            </a:xfrm>
            <a:prstGeom prst="ellipse">
              <a:avLst/>
            </a:prstGeom>
            <a:solidFill>
              <a:srgbClr val="A50021"/>
            </a:solidFill>
            <a:ln w="9525">
              <a:solidFill>
                <a:srgbClr val="CC00CC"/>
              </a:solidFill>
              <a:round/>
              <a:headEnd/>
              <a:tailEnd/>
            </a:ln>
          </p:spPr>
          <p:txBody>
            <a:bodyPr wrap="none" anchor="ctr"/>
            <a:lstStyle/>
            <a:p>
              <a:endParaRPr kumimoji="0" lang="zh-CN" altLang="zh-CN" sz="1800"/>
            </a:p>
          </p:txBody>
        </p:sp>
        <p:sp>
          <p:nvSpPr>
            <p:cNvPr id="52275" name="Oval 4"/>
            <p:cNvSpPr>
              <a:spLocks noChangeArrowheads="1"/>
            </p:cNvSpPr>
            <p:nvPr/>
          </p:nvSpPr>
          <p:spPr bwMode="auto">
            <a:xfrm>
              <a:off x="3942" y="2822"/>
              <a:ext cx="85" cy="85"/>
            </a:xfrm>
            <a:prstGeom prst="ellipse">
              <a:avLst/>
            </a:prstGeom>
            <a:solidFill>
              <a:srgbClr val="A50021"/>
            </a:solidFill>
            <a:ln w="9525">
              <a:solidFill>
                <a:srgbClr val="CC00CC"/>
              </a:solidFill>
              <a:round/>
              <a:headEnd/>
              <a:tailEnd/>
            </a:ln>
          </p:spPr>
          <p:txBody>
            <a:bodyPr wrap="none" anchor="ctr"/>
            <a:lstStyle/>
            <a:p>
              <a:endParaRPr kumimoji="0" lang="zh-CN" altLang="zh-CN" sz="1800"/>
            </a:p>
          </p:txBody>
        </p:sp>
        <p:sp>
          <p:nvSpPr>
            <p:cNvPr id="52276" name="Text Box 5"/>
            <p:cNvSpPr txBox="1">
              <a:spLocks noChangeArrowheads="1"/>
            </p:cNvSpPr>
            <p:nvPr/>
          </p:nvSpPr>
          <p:spPr bwMode="auto">
            <a:xfrm>
              <a:off x="3812" y="2027"/>
              <a:ext cx="160" cy="198"/>
            </a:xfrm>
            <a:prstGeom prst="rect">
              <a:avLst/>
            </a:prstGeom>
            <a:noFill/>
            <a:ln w="9525">
              <a:noFill/>
              <a:miter lim="800000"/>
              <a:headEnd/>
              <a:tailEnd/>
            </a:ln>
          </p:spPr>
          <p:txBody>
            <a:bodyPr wrap="none">
              <a:spAutoFit/>
            </a:bodyPr>
            <a:lstStyle/>
            <a:p>
              <a:pPr algn="ctr"/>
              <a:r>
                <a:rPr lang="en-US" altLang="zh-CN" sz="1500" b="1" i="1"/>
                <a:t>s</a:t>
              </a:r>
              <a:r>
                <a:rPr lang="en-US" altLang="zh-CN" sz="1500" b="1" baseline="-25000"/>
                <a:t>1</a:t>
              </a:r>
            </a:p>
          </p:txBody>
        </p:sp>
        <p:sp>
          <p:nvSpPr>
            <p:cNvPr id="52277" name="Text Box 6"/>
            <p:cNvSpPr txBox="1">
              <a:spLocks noChangeArrowheads="1"/>
            </p:cNvSpPr>
            <p:nvPr/>
          </p:nvSpPr>
          <p:spPr bwMode="auto">
            <a:xfrm>
              <a:off x="3877" y="2830"/>
              <a:ext cx="160" cy="198"/>
            </a:xfrm>
            <a:prstGeom prst="rect">
              <a:avLst/>
            </a:prstGeom>
            <a:noFill/>
            <a:ln w="9525">
              <a:noFill/>
              <a:miter lim="800000"/>
              <a:headEnd/>
              <a:tailEnd/>
            </a:ln>
          </p:spPr>
          <p:txBody>
            <a:bodyPr wrap="none">
              <a:spAutoFit/>
            </a:bodyPr>
            <a:lstStyle/>
            <a:p>
              <a:pPr algn="ctr"/>
              <a:r>
                <a:rPr lang="en-US" altLang="zh-CN" sz="1500" b="1" i="1"/>
                <a:t>s</a:t>
              </a:r>
              <a:r>
                <a:rPr lang="en-US" altLang="zh-CN" sz="1500" b="1" baseline="-25000"/>
                <a:t>2</a:t>
              </a:r>
            </a:p>
          </p:txBody>
        </p:sp>
        <p:sp>
          <p:nvSpPr>
            <p:cNvPr id="52278" name="Line 7"/>
            <p:cNvSpPr>
              <a:spLocks noChangeShapeType="1"/>
            </p:cNvSpPr>
            <p:nvPr/>
          </p:nvSpPr>
          <p:spPr bwMode="auto">
            <a:xfrm flipV="1">
              <a:off x="4095" y="2193"/>
              <a:ext cx="1053" cy="50"/>
            </a:xfrm>
            <a:prstGeom prst="line">
              <a:avLst/>
            </a:prstGeom>
            <a:noFill/>
            <a:ln w="25400">
              <a:solidFill>
                <a:srgbClr val="0000FF"/>
              </a:solidFill>
              <a:round/>
              <a:headEnd/>
              <a:tailEnd type="stealth" w="lg" len="lg"/>
            </a:ln>
          </p:spPr>
          <p:txBody>
            <a:bodyPr wrap="none" anchor="ctr"/>
            <a:lstStyle/>
            <a:p>
              <a:endParaRPr lang="zh-CN" altLang="en-US"/>
            </a:p>
          </p:txBody>
        </p:sp>
        <p:sp>
          <p:nvSpPr>
            <p:cNvPr id="52279" name="Line 8"/>
            <p:cNvSpPr>
              <a:spLocks noChangeShapeType="1"/>
            </p:cNvSpPr>
            <p:nvPr/>
          </p:nvSpPr>
          <p:spPr bwMode="auto">
            <a:xfrm flipV="1">
              <a:off x="4012" y="2216"/>
              <a:ext cx="1135" cy="634"/>
            </a:xfrm>
            <a:prstGeom prst="line">
              <a:avLst/>
            </a:prstGeom>
            <a:noFill/>
            <a:ln w="25400">
              <a:solidFill>
                <a:srgbClr val="00B0F0"/>
              </a:solidFill>
              <a:round/>
              <a:headEnd/>
              <a:tailEnd type="stealth" w="lg" len="lg"/>
            </a:ln>
          </p:spPr>
          <p:txBody>
            <a:bodyPr wrap="none" anchor="ctr"/>
            <a:lstStyle/>
            <a:p>
              <a:endParaRPr lang="zh-CN" altLang="en-US"/>
            </a:p>
          </p:txBody>
        </p:sp>
        <p:sp>
          <p:nvSpPr>
            <p:cNvPr id="52280" name="Oval 9"/>
            <p:cNvSpPr>
              <a:spLocks noChangeArrowheads="1"/>
            </p:cNvSpPr>
            <p:nvPr/>
          </p:nvSpPr>
          <p:spPr bwMode="auto">
            <a:xfrm>
              <a:off x="5148" y="2160"/>
              <a:ext cx="85" cy="85"/>
            </a:xfrm>
            <a:prstGeom prst="ellipse">
              <a:avLst/>
            </a:prstGeom>
            <a:solidFill>
              <a:srgbClr val="00B0F0"/>
            </a:solidFill>
            <a:ln w="9525">
              <a:solidFill>
                <a:srgbClr val="FF00FF"/>
              </a:solidFill>
              <a:round/>
              <a:headEnd/>
              <a:tailEnd/>
            </a:ln>
          </p:spPr>
          <p:txBody>
            <a:bodyPr wrap="none" anchor="ctr"/>
            <a:lstStyle/>
            <a:p>
              <a:endParaRPr kumimoji="0" lang="zh-CN" altLang="zh-CN" sz="1800"/>
            </a:p>
          </p:txBody>
        </p:sp>
        <p:sp>
          <p:nvSpPr>
            <p:cNvPr id="52281" name="Text Box 10"/>
            <p:cNvSpPr txBox="1">
              <a:spLocks noChangeArrowheads="1"/>
            </p:cNvSpPr>
            <p:nvPr/>
          </p:nvSpPr>
          <p:spPr bwMode="auto">
            <a:xfrm>
              <a:off x="5131" y="2184"/>
              <a:ext cx="138" cy="198"/>
            </a:xfrm>
            <a:prstGeom prst="rect">
              <a:avLst/>
            </a:prstGeom>
            <a:noFill/>
            <a:ln w="9525">
              <a:noFill/>
              <a:miter lim="800000"/>
              <a:headEnd/>
              <a:tailEnd/>
            </a:ln>
          </p:spPr>
          <p:txBody>
            <a:bodyPr wrap="none">
              <a:spAutoFit/>
            </a:bodyPr>
            <a:lstStyle/>
            <a:p>
              <a:pPr algn="ctr"/>
              <a:r>
                <a:rPr lang="en-US" altLang="zh-CN" sz="1500" b="1" i="1"/>
                <a:t>p</a:t>
              </a:r>
            </a:p>
          </p:txBody>
        </p:sp>
        <p:sp>
          <p:nvSpPr>
            <p:cNvPr id="52282" name="Text Box 11"/>
            <p:cNvSpPr txBox="1">
              <a:spLocks noChangeArrowheads="1"/>
            </p:cNvSpPr>
            <p:nvPr/>
          </p:nvSpPr>
          <p:spPr bwMode="auto">
            <a:xfrm>
              <a:off x="4339" y="2165"/>
              <a:ext cx="160" cy="198"/>
            </a:xfrm>
            <a:prstGeom prst="rect">
              <a:avLst/>
            </a:prstGeom>
            <a:noFill/>
            <a:ln w="9525">
              <a:noFill/>
              <a:miter lim="800000"/>
              <a:headEnd/>
              <a:tailEnd/>
            </a:ln>
          </p:spPr>
          <p:txBody>
            <a:bodyPr wrap="none">
              <a:spAutoFit/>
            </a:bodyPr>
            <a:lstStyle/>
            <a:p>
              <a:pPr algn="ctr"/>
              <a:r>
                <a:rPr lang="en-US" altLang="zh-CN" sz="1500" b="1" i="1"/>
                <a:t>r</a:t>
              </a:r>
              <a:r>
                <a:rPr lang="en-US" altLang="zh-CN" sz="1500" b="1" baseline="-25000"/>
                <a:t>1</a:t>
              </a:r>
            </a:p>
          </p:txBody>
        </p:sp>
        <p:sp>
          <p:nvSpPr>
            <p:cNvPr id="52283" name="Text Box 12"/>
            <p:cNvSpPr txBox="1">
              <a:spLocks noChangeArrowheads="1"/>
            </p:cNvSpPr>
            <p:nvPr/>
          </p:nvSpPr>
          <p:spPr bwMode="auto">
            <a:xfrm>
              <a:off x="4475" y="2529"/>
              <a:ext cx="160" cy="198"/>
            </a:xfrm>
            <a:prstGeom prst="rect">
              <a:avLst/>
            </a:prstGeom>
            <a:noFill/>
            <a:ln w="9525">
              <a:noFill/>
              <a:miter lim="800000"/>
              <a:headEnd/>
              <a:tailEnd/>
            </a:ln>
          </p:spPr>
          <p:txBody>
            <a:bodyPr wrap="none">
              <a:spAutoFit/>
            </a:bodyPr>
            <a:lstStyle/>
            <a:p>
              <a:pPr algn="ctr"/>
              <a:r>
                <a:rPr lang="en-US" altLang="zh-CN" sz="1500" b="1" i="1"/>
                <a:t>r</a:t>
              </a:r>
              <a:r>
                <a:rPr lang="en-US" altLang="zh-CN" sz="1500" b="1" baseline="-25000"/>
                <a:t>2</a:t>
              </a:r>
            </a:p>
          </p:txBody>
        </p:sp>
        <p:sp>
          <p:nvSpPr>
            <p:cNvPr id="52284" name="Line 13"/>
            <p:cNvSpPr>
              <a:spLocks noChangeShapeType="1"/>
            </p:cNvSpPr>
            <p:nvPr/>
          </p:nvSpPr>
          <p:spPr bwMode="auto">
            <a:xfrm flipV="1">
              <a:off x="4547" y="2229"/>
              <a:ext cx="85" cy="0"/>
            </a:xfrm>
            <a:prstGeom prst="line">
              <a:avLst/>
            </a:prstGeom>
            <a:noFill/>
            <a:ln w="25400">
              <a:solidFill>
                <a:srgbClr val="FF00FF"/>
              </a:solidFill>
              <a:round/>
              <a:headEnd/>
              <a:tailEnd type="stealth" w="lg" len="lg"/>
            </a:ln>
          </p:spPr>
          <p:txBody>
            <a:bodyPr/>
            <a:lstStyle/>
            <a:p>
              <a:endParaRPr lang="zh-CN" altLang="en-US"/>
            </a:p>
          </p:txBody>
        </p:sp>
        <p:sp>
          <p:nvSpPr>
            <p:cNvPr id="52285" name="Line 14"/>
            <p:cNvSpPr>
              <a:spLocks noChangeShapeType="1"/>
            </p:cNvSpPr>
            <p:nvPr/>
          </p:nvSpPr>
          <p:spPr bwMode="auto">
            <a:xfrm flipV="1">
              <a:off x="4638" y="2472"/>
              <a:ext cx="57" cy="28"/>
            </a:xfrm>
            <a:prstGeom prst="line">
              <a:avLst/>
            </a:prstGeom>
            <a:noFill/>
            <a:ln w="25400">
              <a:solidFill>
                <a:srgbClr val="FF00FF"/>
              </a:solidFill>
              <a:round/>
              <a:headEnd/>
              <a:tailEnd type="stealth" w="lg" len="lg"/>
            </a:ln>
          </p:spPr>
          <p:txBody>
            <a:bodyPr/>
            <a:lstStyle/>
            <a:p>
              <a:endParaRPr lang="zh-CN" altLang="en-US"/>
            </a:p>
          </p:txBody>
        </p:sp>
      </p:grpSp>
      <p:sp>
        <p:nvSpPr>
          <p:cNvPr id="18" name="Text Box 17"/>
          <p:cNvSpPr txBox="1">
            <a:spLocks noChangeArrowheads="1"/>
          </p:cNvSpPr>
          <p:nvPr/>
        </p:nvSpPr>
        <p:spPr bwMode="auto">
          <a:xfrm>
            <a:off x="249238" y="1851025"/>
            <a:ext cx="3962400" cy="369888"/>
          </a:xfrm>
          <a:prstGeom prst="rect">
            <a:avLst/>
          </a:prstGeom>
          <a:noFill/>
          <a:ln w="9525">
            <a:noFill/>
            <a:miter lim="800000"/>
            <a:headEnd/>
            <a:tailEnd/>
          </a:ln>
        </p:spPr>
        <p:txBody>
          <a:bodyPr>
            <a:spAutoFit/>
          </a:bodyPr>
          <a:lstStyle/>
          <a:p>
            <a:pPr>
              <a:spcBef>
                <a:spcPct val="50000"/>
              </a:spcBef>
            </a:pPr>
            <a:r>
              <a:rPr lang="en-US" altLang="zh-CN" sz="1800" b="1">
                <a:solidFill>
                  <a:srgbClr val="0000FF"/>
                </a:solidFill>
                <a:latin typeface="华文中宋"/>
                <a:ea typeface="华文中宋"/>
                <a:cs typeface="华文中宋"/>
              </a:rPr>
              <a:t>2</a:t>
            </a:r>
            <a:r>
              <a:rPr lang="zh-CN" altLang="en-US" sz="1800" b="1">
                <a:solidFill>
                  <a:srgbClr val="0000FF"/>
                </a:solidFill>
                <a:latin typeface="华文中宋"/>
                <a:ea typeface="华文中宋"/>
                <a:cs typeface="华文中宋"/>
              </a:rPr>
              <a:t>、波场中的强度分布</a:t>
            </a:r>
          </a:p>
        </p:txBody>
      </p:sp>
      <p:sp>
        <p:nvSpPr>
          <p:cNvPr id="19" name="Rectangle 18"/>
          <p:cNvSpPr>
            <a:spLocks noChangeArrowheads="1"/>
          </p:cNvSpPr>
          <p:nvPr/>
        </p:nvSpPr>
        <p:spPr bwMode="auto">
          <a:xfrm>
            <a:off x="1174750" y="2211388"/>
            <a:ext cx="4441825" cy="369887"/>
          </a:xfrm>
          <a:prstGeom prst="rect">
            <a:avLst/>
          </a:prstGeom>
          <a:noFill/>
          <a:ln w="9525">
            <a:noFill/>
            <a:miter lim="800000"/>
            <a:headEnd/>
            <a:tailEnd/>
          </a:ln>
        </p:spPr>
        <p:txBody>
          <a:bodyPr wrap="none">
            <a:spAutoFit/>
          </a:bodyPr>
          <a:lstStyle/>
          <a:p>
            <a:pPr eaLnBrk="0" hangingPunct="0"/>
            <a:r>
              <a:rPr kumimoji="0" lang="zh-CN" altLang="en-US" sz="1800" b="1">
                <a:ea typeface="华文中宋"/>
                <a:cs typeface="华文中宋"/>
              </a:rPr>
              <a:t>设</a:t>
            </a:r>
            <a:r>
              <a:rPr kumimoji="0" lang="en-US" altLang="zh-CN" sz="1800" b="1" i="1">
                <a:ea typeface="华文中宋"/>
                <a:cs typeface="华文中宋"/>
              </a:rPr>
              <a:t>s</a:t>
            </a:r>
            <a:r>
              <a:rPr kumimoji="0" lang="en-US" altLang="zh-CN" sz="1800" b="1" baseline="-25000">
                <a:ea typeface="华文中宋"/>
                <a:cs typeface="华文中宋"/>
              </a:rPr>
              <a:t>1</a:t>
            </a:r>
            <a:r>
              <a:rPr kumimoji="0" lang="zh-CN" altLang="en-US" sz="1800" b="1">
                <a:ea typeface="华文中宋"/>
                <a:cs typeface="华文中宋"/>
              </a:rPr>
              <a:t>、</a:t>
            </a:r>
            <a:r>
              <a:rPr kumimoji="0" lang="en-US" altLang="zh-CN" sz="1800" b="1" i="1">
                <a:ea typeface="华文中宋"/>
                <a:cs typeface="华文中宋"/>
              </a:rPr>
              <a:t>s</a:t>
            </a:r>
            <a:r>
              <a:rPr kumimoji="0" lang="en-US" altLang="zh-CN" sz="1800" b="1" baseline="-25000">
                <a:ea typeface="华文中宋"/>
                <a:cs typeface="华文中宋"/>
              </a:rPr>
              <a:t>2</a:t>
            </a:r>
            <a:r>
              <a:rPr kumimoji="0" lang="zh-CN" altLang="en-US" sz="1800" b="1">
                <a:ea typeface="华文中宋"/>
                <a:cs typeface="华文中宋"/>
              </a:rPr>
              <a:t>为两相干波源，其振动方程分别为</a:t>
            </a:r>
          </a:p>
        </p:txBody>
      </p:sp>
      <p:graphicFrame>
        <p:nvGraphicFramePr>
          <p:cNvPr id="20" name="Object 38"/>
          <p:cNvGraphicFramePr>
            <a:graphicFrameLocks noChangeAspect="1"/>
          </p:cNvGraphicFramePr>
          <p:nvPr/>
        </p:nvGraphicFramePr>
        <p:xfrm>
          <a:off x="1998663" y="2624138"/>
          <a:ext cx="3178175" cy="371475"/>
        </p:xfrm>
        <a:graphic>
          <a:graphicData uri="http://schemas.openxmlformats.org/presentationml/2006/ole">
            <p:oleObj spid="_x0000_s52262" name="公式" r:id="rId3" imgW="1409700" imgH="228600" progId="Equation.3">
              <p:embed/>
            </p:oleObj>
          </a:graphicData>
        </a:graphic>
      </p:graphicFrame>
      <p:graphicFrame>
        <p:nvGraphicFramePr>
          <p:cNvPr id="21" name="Object 39"/>
          <p:cNvGraphicFramePr>
            <a:graphicFrameLocks noChangeAspect="1"/>
          </p:cNvGraphicFramePr>
          <p:nvPr/>
        </p:nvGraphicFramePr>
        <p:xfrm>
          <a:off x="1968500" y="3044825"/>
          <a:ext cx="3254375" cy="384175"/>
        </p:xfrm>
        <a:graphic>
          <a:graphicData uri="http://schemas.openxmlformats.org/presentationml/2006/ole">
            <p:oleObj spid="_x0000_s52263" name="公式" r:id="rId4" imgW="1435100" imgH="228600" progId="Equation.3">
              <p:embed/>
            </p:oleObj>
          </a:graphicData>
        </a:graphic>
      </p:graphicFrame>
      <p:sp>
        <p:nvSpPr>
          <p:cNvPr id="22" name="Text Box 21"/>
          <p:cNvSpPr txBox="1">
            <a:spLocks noChangeArrowheads="1"/>
          </p:cNvSpPr>
          <p:nvPr/>
        </p:nvSpPr>
        <p:spPr bwMode="auto">
          <a:xfrm>
            <a:off x="868363" y="3462338"/>
            <a:ext cx="5184775" cy="369887"/>
          </a:xfrm>
          <a:prstGeom prst="rect">
            <a:avLst/>
          </a:prstGeom>
          <a:noFill/>
          <a:ln w="9525">
            <a:noFill/>
            <a:miter lim="800000"/>
            <a:headEnd/>
            <a:tailEnd/>
          </a:ln>
        </p:spPr>
        <p:txBody>
          <a:bodyPr>
            <a:spAutoFit/>
          </a:bodyPr>
          <a:lstStyle/>
          <a:p>
            <a:r>
              <a:rPr lang="zh-CN" altLang="en-US" sz="1800" b="1">
                <a:ea typeface="华文中宋"/>
                <a:cs typeface="华文中宋"/>
              </a:rPr>
              <a:t>传播到</a:t>
            </a:r>
            <a:r>
              <a:rPr lang="en-US" altLang="zh-CN" sz="1800" b="1" i="1">
                <a:ea typeface="华文中宋"/>
                <a:cs typeface="华文中宋"/>
              </a:rPr>
              <a:t>p</a:t>
            </a:r>
            <a:r>
              <a:rPr lang="zh-CN" altLang="en-US" sz="1800" b="1">
                <a:ea typeface="华文中宋"/>
                <a:cs typeface="华文中宋"/>
              </a:rPr>
              <a:t>点引起的振动分别为： </a:t>
            </a:r>
          </a:p>
        </p:txBody>
      </p:sp>
      <p:graphicFrame>
        <p:nvGraphicFramePr>
          <p:cNvPr id="23" name="Object 40"/>
          <p:cNvGraphicFramePr>
            <a:graphicFrameLocks noChangeAspect="1"/>
          </p:cNvGraphicFramePr>
          <p:nvPr/>
        </p:nvGraphicFramePr>
        <p:xfrm>
          <a:off x="1962150" y="3779838"/>
          <a:ext cx="3259138" cy="557212"/>
        </p:xfrm>
        <a:graphic>
          <a:graphicData uri="http://schemas.openxmlformats.org/presentationml/2006/ole">
            <p:oleObj spid="_x0000_s52264" name="Equation" r:id="rId5" imgW="1663700" imgH="393700" progId="Equation.DSMT4">
              <p:embed/>
            </p:oleObj>
          </a:graphicData>
        </a:graphic>
      </p:graphicFrame>
      <p:graphicFrame>
        <p:nvGraphicFramePr>
          <p:cNvPr id="24" name="Object 41"/>
          <p:cNvGraphicFramePr>
            <a:graphicFrameLocks noChangeAspect="1"/>
          </p:cNvGraphicFramePr>
          <p:nvPr/>
        </p:nvGraphicFramePr>
        <p:xfrm>
          <a:off x="1920875" y="4275138"/>
          <a:ext cx="3365500" cy="585787"/>
        </p:xfrm>
        <a:graphic>
          <a:graphicData uri="http://schemas.openxmlformats.org/presentationml/2006/ole">
            <p:oleObj spid="_x0000_s52265" name="Equation" r:id="rId6" imgW="1726451" imgH="393529"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52583"/>
                                        </p:tgtEl>
                                        <p:attrNameLst>
                                          <p:attrName>style.visibility</p:attrName>
                                        </p:attrNameLst>
                                      </p:cBhvr>
                                      <p:to>
                                        <p:strVal val="visible"/>
                                      </p:to>
                                    </p:set>
                                    <p:anim calcmode="lin" valueType="num">
                                      <p:cBhvr>
                                        <p:cTn id="7" dur="500" fill="hold"/>
                                        <p:tgtEl>
                                          <p:spTgt spid="152583"/>
                                        </p:tgtEl>
                                        <p:attrNameLst>
                                          <p:attrName>ppt_w</p:attrName>
                                        </p:attrNameLst>
                                      </p:cBhvr>
                                      <p:tavLst>
                                        <p:tav tm="0">
                                          <p:val>
                                            <p:fltVal val="0"/>
                                          </p:val>
                                        </p:tav>
                                        <p:tav tm="100000">
                                          <p:val>
                                            <p:strVal val="#ppt_w"/>
                                          </p:val>
                                        </p:tav>
                                      </p:tavLst>
                                    </p:anim>
                                    <p:anim calcmode="lin" valueType="num">
                                      <p:cBhvr>
                                        <p:cTn id="8" dur="500" fill="hold"/>
                                        <p:tgtEl>
                                          <p:spTgt spid="152583"/>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17" presetClass="entr" presetSubtype="10" fill="hold" grpId="0" nodeType="afterEffect">
                                  <p:stCondLst>
                                    <p:cond delay="0"/>
                                  </p:stCondLst>
                                  <p:childTnLst>
                                    <p:set>
                                      <p:cBhvr>
                                        <p:cTn id="11" dur="1" fill="hold">
                                          <p:stCondLst>
                                            <p:cond delay="0"/>
                                          </p:stCondLst>
                                        </p:cTn>
                                        <p:tgtEl>
                                          <p:spTgt spid="152581"/>
                                        </p:tgtEl>
                                        <p:attrNameLst>
                                          <p:attrName>style.visibility</p:attrName>
                                        </p:attrNameLst>
                                      </p:cBhvr>
                                      <p:to>
                                        <p:strVal val="visible"/>
                                      </p:to>
                                    </p:set>
                                    <p:anim calcmode="lin" valueType="num">
                                      <p:cBhvr>
                                        <p:cTn id="12" dur="500" fill="hold"/>
                                        <p:tgtEl>
                                          <p:spTgt spid="152581"/>
                                        </p:tgtEl>
                                        <p:attrNameLst>
                                          <p:attrName>ppt_w</p:attrName>
                                        </p:attrNameLst>
                                      </p:cBhvr>
                                      <p:tavLst>
                                        <p:tav tm="0">
                                          <p:val>
                                            <p:fltVal val="0"/>
                                          </p:val>
                                        </p:tav>
                                        <p:tav tm="100000">
                                          <p:val>
                                            <p:strVal val="#ppt_w"/>
                                          </p:val>
                                        </p:tav>
                                      </p:tavLst>
                                    </p:anim>
                                    <p:anim calcmode="lin" valueType="num">
                                      <p:cBhvr>
                                        <p:cTn id="13" dur="500" fill="hold"/>
                                        <p:tgtEl>
                                          <p:spTgt spid="152581"/>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152584"/>
                                        </p:tgtEl>
                                        <p:attrNameLst>
                                          <p:attrName>style.visibility</p:attrName>
                                        </p:attrNameLst>
                                      </p:cBhvr>
                                      <p:to>
                                        <p:strVal val="visible"/>
                                      </p:to>
                                    </p:set>
                                    <p:anim calcmode="lin" valueType="num">
                                      <p:cBhvr>
                                        <p:cTn id="18" dur="500" fill="hold"/>
                                        <p:tgtEl>
                                          <p:spTgt spid="152584"/>
                                        </p:tgtEl>
                                        <p:attrNameLst>
                                          <p:attrName>ppt_w</p:attrName>
                                        </p:attrNameLst>
                                      </p:cBhvr>
                                      <p:tavLst>
                                        <p:tav tm="0">
                                          <p:val>
                                            <p:fltVal val="0"/>
                                          </p:val>
                                        </p:tav>
                                        <p:tav tm="100000">
                                          <p:val>
                                            <p:strVal val="#ppt_w"/>
                                          </p:val>
                                        </p:tav>
                                      </p:tavLst>
                                    </p:anim>
                                    <p:anim calcmode="lin" valueType="num">
                                      <p:cBhvr>
                                        <p:cTn id="19" dur="500" fill="hold"/>
                                        <p:tgtEl>
                                          <p:spTgt spid="152584"/>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10" fill="hold" grpId="0" nodeType="clickEffect">
                                  <p:stCondLst>
                                    <p:cond delay="0"/>
                                  </p:stCondLst>
                                  <p:childTnLst>
                                    <p:set>
                                      <p:cBhvr>
                                        <p:cTn id="23" dur="1" fill="hold">
                                          <p:stCondLst>
                                            <p:cond delay="0"/>
                                          </p:stCondLst>
                                        </p:cTn>
                                        <p:tgtEl>
                                          <p:spTgt spid="152585"/>
                                        </p:tgtEl>
                                        <p:attrNameLst>
                                          <p:attrName>style.visibility</p:attrName>
                                        </p:attrNameLst>
                                      </p:cBhvr>
                                      <p:to>
                                        <p:strVal val="visible"/>
                                      </p:to>
                                    </p:set>
                                    <p:anim calcmode="lin" valueType="num">
                                      <p:cBhvr>
                                        <p:cTn id="24" dur="500" fill="hold"/>
                                        <p:tgtEl>
                                          <p:spTgt spid="152585"/>
                                        </p:tgtEl>
                                        <p:attrNameLst>
                                          <p:attrName>ppt_w</p:attrName>
                                        </p:attrNameLst>
                                      </p:cBhvr>
                                      <p:tavLst>
                                        <p:tav tm="0">
                                          <p:val>
                                            <p:fltVal val="0"/>
                                          </p:val>
                                        </p:tav>
                                        <p:tav tm="100000">
                                          <p:val>
                                            <p:strVal val="#ppt_w"/>
                                          </p:val>
                                        </p:tav>
                                      </p:tavLst>
                                    </p:anim>
                                    <p:anim calcmode="lin" valueType="num">
                                      <p:cBhvr>
                                        <p:cTn id="25" dur="500" fill="hold"/>
                                        <p:tgtEl>
                                          <p:spTgt spid="152585"/>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8">
                                            <p:txEl>
                                              <p:pRg st="0" end="0"/>
                                            </p:txEl>
                                          </p:spTgt>
                                        </p:tgtEl>
                                        <p:attrNameLst>
                                          <p:attrName>style.visibility</p:attrName>
                                        </p:attrNameLst>
                                      </p:cBhvr>
                                      <p:to>
                                        <p:strVal val="visible"/>
                                      </p:to>
                                    </p:set>
                                    <p:animEffect transition="in" filter="wipe(left)">
                                      <p:cBhvr>
                                        <p:cTn id="30" dur="500"/>
                                        <p:tgtEl>
                                          <p:spTgt spid="18">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left)">
                                      <p:cBhvr>
                                        <p:cTn id="35" dur="500"/>
                                        <p:tgtEl>
                                          <p:spTgt spid="1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500"/>
                                        <p:tgtEl>
                                          <p:spTgt spid="2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left)">
                                      <p:cBhvr>
                                        <p:cTn id="45" dur="500"/>
                                        <p:tgtEl>
                                          <p:spTgt spid="2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wipe(left)">
                                      <p:cBhvr>
                                        <p:cTn id="50" dur="500"/>
                                        <p:tgtEl>
                                          <p:spTgt spid="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left)">
                                      <p:cBhvr>
                                        <p:cTn id="55" dur="500"/>
                                        <p:tgtEl>
                                          <p:spTgt spid="2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left)">
                                      <p:cBhvr>
                                        <p:cTn id="60" dur="500"/>
                                        <p:tgtEl>
                                          <p:spTgt spid="2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wipe(left)">
                                      <p:cBhvr>
                                        <p:cTn id="6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1" grpId="0" autoUpdateAnimBg="0"/>
      <p:bldP spid="152583" grpId="0" autoUpdateAnimBg="0"/>
      <p:bldP spid="152584" grpId="0" autoUpdateAnimBg="0"/>
      <p:bldP spid="152585" grpId="0" autoUpdateAnimBg="0"/>
      <p:bldP spid="18" grpId="0" build="p"/>
      <p:bldP spid="19" grpId="0" autoUpdateAnimBg="0"/>
      <p:bldP spid="22"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435" name="Object 28"/>
          <p:cNvGraphicFramePr>
            <a:graphicFrameLocks noChangeAspect="1"/>
          </p:cNvGraphicFramePr>
          <p:nvPr/>
        </p:nvGraphicFramePr>
        <p:xfrm>
          <a:off x="971550" y="2701925"/>
          <a:ext cx="3744913" cy="530225"/>
        </p:xfrm>
        <a:graphic>
          <a:graphicData uri="http://schemas.openxmlformats.org/presentationml/2006/ole">
            <p:oleObj spid="_x0000_s53276" name="公式" r:id="rId4" imgW="1346200" imgH="241300" progId="Equation.3">
              <p:embed/>
            </p:oleObj>
          </a:graphicData>
        </a:graphic>
      </p:graphicFrame>
      <p:graphicFrame>
        <p:nvGraphicFramePr>
          <p:cNvPr id="59437" name="Object 29"/>
          <p:cNvGraphicFramePr>
            <a:graphicFrameLocks noChangeAspect="1"/>
          </p:cNvGraphicFramePr>
          <p:nvPr/>
        </p:nvGraphicFramePr>
        <p:xfrm>
          <a:off x="5148263" y="2643188"/>
          <a:ext cx="3925887" cy="671512"/>
        </p:xfrm>
        <a:graphic>
          <a:graphicData uri="http://schemas.openxmlformats.org/presentationml/2006/ole">
            <p:oleObj spid="_x0000_s53277" name="Equation" r:id="rId5" imgW="1625600" imgH="393700" progId="Equation.DSMT4">
              <p:embed/>
            </p:oleObj>
          </a:graphicData>
        </a:graphic>
      </p:graphicFrame>
      <p:graphicFrame>
        <p:nvGraphicFramePr>
          <p:cNvPr id="59438" name="Object 30"/>
          <p:cNvGraphicFramePr>
            <a:graphicFrameLocks noChangeAspect="1"/>
          </p:cNvGraphicFramePr>
          <p:nvPr/>
        </p:nvGraphicFramePr>
        <p:xfrm>
          <a:off x="827088" y="1924050"/>
          <a:ext cx="2881312" cy="363538"/>
        </p:xfrm>
        <a:graphic>
          <a:graphicData uri="http://schemas.openxmlformats.org/presentationml/2006/ole">
            <p:oleObj spid="_x0000_s53278" name="公式" r:id="rId6" imgW="1244060" imgH="177723" progId="Equation.3">
              <p:embed/>
            </p:oleObj>
          </a:graphicData>
        </a:graphic>
      </p:graphicFrame>
      <p:sp>
        <p:nvSpPr>
          <p:cNvPr id="54279" name="Text Box 7"/>
          <p:cNvSpPr txBox="1">
            <a:spLocks noChangeArrowheads="1"/>
          </p:cNvSpPr>
          <p:nvPr/>
        </p:nvSpPr>
        <p:spPr bwMode="auto">
          <a:xfrm>
            <a:off x="755650" y="1122363"/>
            <a:ext cx="4752975" cy="369887"/>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rPr>
              <a:t>则，由同方向、同频率谐振动合成公式，有</a:t>
            </a:r>
          </a:p>
        </p:txBody>
      </p:sp>
      <p:graphicFrame>
        <p:nvGraphicFramePr>
          <p:cNvPr id="59432" name="Object 31"/>
          <p:cNvGraphicFramePr>
            <a:graphicFrameLocks noChangeAspect="1"/>
          </p:cNvGraphicFramePr>
          <p:nvPr/>
        </p:nvGraphicFramePr>
        <p:xfrm>
          <a:off x="3563938" y="3435350"/>
          <a:ext cx="3384550" cy="636588"/>
        </p:xfrm>
        <a:graphic>
          <a:graphicData uri="http://schemas.openxmlformats.org/presentationml/2006/ole">
            <p:oleObj spid="_x0000_s53279" name="Equation" r:id="rId7" imgW="1206500" imgH="292100" progId="Equation.DSMT4">
              <p:embed/>
            </p:oleObj>
          </a:graphicData>
        </a:graphic>
      </p:graphicFrame>
      <p:sp>
        <p:nvSpPr>
          <p:cNvPr id="59433" name="Rectangle 41"/>
          <p:cNvSpPr>
            <a:spLocks noChangeArrowheads="1"/>
          </p:cNvSpPr>
          <p:nvPr/>
        </p:nvSpPr>
        <p:spPr bwMode="auto">
          <a:xfrm>
            <a:off x="2266950" y="3859213"/>
            <a:ext cx="1009650" cy="368300"/>
          </a:xfrm>
          <a:prstGeom prst="rect">
            <a:avLst/>
          </a:prstGeom>
          <a:noFill/>
          <a:ln w="9525">
            <a:noFill/>
            <a:miter lim="800000"/>
            <a:headEnd/>
            <a:tailEnd/>
          </a:ln>
          <a:effectLst>
            <a:prstShdw prst="shdw17" dist="17961" dir="2700000">
              <a:srgbClr val="993D00"/>
            </a:prstShdw>
          </a:effectLst>
        </p:spPr>
        <p:txBody>
          <a:bodyPr>
            <a:spAutoFit/>
          </a:bodyPr>
          <a:lstStyle/>
          <a:p>
            <a:r>
              <a:rPr lang="zh-CN" altLang="en-US" sz="1800" b="1">
                <a:latin typeface="华文中宋"/>
                <a:ea typeface="华文中宋"/>
                <a:cs typeface="华文中宋"/>
              </a:rPr>
              <a:t>波强： </a:t>
            </a:r>
          </a:p>
        </p:txBody>
      </p:sp>
      <p:graphicFrame>
        <p:nvGraphicFramePr>
          <p:cNvPr id="59434" name="Object 32"/>
          <p:cNvGraphicFramePr>
            <a:graphicFrameLocks noChangeAspect="1"/>
          </p:cNvGraphicFramePr>
          <p:nvPr/>
        </p:nvGraphicFramePr>
        <p:xfrm>
          <a:off x="3492500" y="4083050"/>
          <a:ext cx="3527425" cy="425450"/>
        </p:xfrm>
        <a:graphic>
          <a:graphicData uri="http://schemas.openxmlformats.org/presentationml/2006/ole">
            <p:oleObj spid="_x0000_s53280" name="Equation" r:id="rId8" imgW="1726451" imgH="266584" progId="Equation.DSMT4">
              <p:embed/>
            </p:oleObj>
          </a:graphicData>
        </a:graphic>
      </p:graphicFrame>
      <p:graphicFrame>
        <p:nvGraphicFramePr>
          <p:cNvPr id="53281" name="Object 33"/>
          <p:cNvGraphicFramePr>
            <a:graphicFrameLocks noChangeAspect="1"/>
          </p:cNvGraphicFramePr>
          <p:nvPr/>
        </p:nvGraphicFramePr>
        <p:xfrm>
          <a:off x="3995738" y="1563688"/>
          <a:ext cx="5046662" cy="1008062"/>
        </p:xfrm>
        <a:graphic>
          <a:graphicData uri="http://schemas.openxmlformats.org/presentationml/2006/ole">
            <p:oleObj spid="_x0000_s53281" name="Equation" r:id="rId9" imgW="2908300" imgH="7620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54279">
                                            <p:txEl>
                                              <p:pRg st="0" end="0"/>
                                            </p:txEl>
                                          </p:spTgt>
                                        </p:tgtEl>
                                        <p:attrNameLst>
                                          <p:attrName>style.visibility</p:attrName>
                                        </p:attrNameLst>
                                      </p:cBhvr>
                                      <p:to>
                                        <p:strVal val="visible"/>
                                      </p:to>
                                    </p:set>
                                    <p:animEffect transition="in" filter="barn(outVertical)">
                                      <p:cBhvr>
                                        <p:cTn id="7" dur="500"/>
                                        <p:tgtEl>
                                          <p:spTgt spid="542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nodeType="clickEffect">
                                  <p:stCondLst>
                                    <p:cond delay="0"/>
                                  </p:stCondLst>
                                  <p:childTnLst>
                                    <p:set>
                                      <p:cBhvr>
                                        <p:cTn id="11" dur="1" fill="hold">
                                          <p:stCondLst>
                                            <p:cond delay="0"/>
                                          </p:stCondLst>
                                        </p:cTn>
                                        <p:tgtEl>
                                          <p:spTgt spid="59438"/>
                                        </p:tgtEl>
                                        <p:attrNameLst>
                                          <p:attrName>style.visibility</p:attrName>
                                        </p:attrNameLst>
                                      </p:cBhvr>
                                      <p:to>
                                        <p:strVal val="visible"/>
                                      </p:to>
                                    </p:set>
                                    <p:anim calcmode="lin" valueType="num">
                                      <p:cBhvr>
                                        <p:cTn id="12" dur="500" fill="hold"/>
                                        <p:tgtEl>
                                          <p:spTgt spid="59438"/>
                                        </p:tgtEl>
                                        <p:attrNameLst>
                                          <p:attrName>ppt_w</p:attrName>
                                        </p:attrNameLst>
                                      </p:cBhvr>
                                      <p:tavLst>
                                        <p:tav tm="0">
                                          <p:val>
                                            <p:fltVal val="0"/>
                                          </p:val>
                                        </p:tav>
                                        <p:tav tm="100000">
                                          <p:val>
                                            <p:strVal val="#ppt_w"/>
                                          </p:val>
                                        </p:tav>
                                      </p:tavLst>
                                    </p:anim>
                                    <p:anim calcmode="lin" valueType="num">
                                      <p:cBhvr>
                                        <p:cTn id="13" dur="500" fill="hold"/>
                                        <p:tgtEl>
                                          <p:spTgt spid="5943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nodeType="clickEffect">
                                  <p:stCondLst>
                                    <p:cond delay="0"/>
                                  </p:stCondLst>
                                  <p:childTnLst>
                                    <p:set>
                                      <p:cBhvr>
                                        <p:cTn id="17" dur="1" fill="hold">
                                          <p:stCondLst>
                                            <p:cond delay="0"/>
                                          </p:stCondLst>
                                        </p:cTn>
                                        <p:tgtEl>
                                          <p:spTgt spid="59435"/>
                                        </p:tgtEl>
                                        <p:attrNameLst>
                                          <p:attrName>style.visibility</p:attrName>
                                        </p:attrNameLst>
                                      </p:cBhvr>
                                      <p:to>
                                        <p:strVal val="visible"/>
                                      </p:to>
                                    </p:set>
                                    <p:anim calcmode="lin" valueType="num">
                                      <p:cBhvr>
                                        <p:cTn id="18" dur="500" fill="hold"/>
                                        <p:tgtEl>
                                          <p:spTgt spid="59435"/>
                                        </p:tgtEl>
                                        <p:attrNameLst>
                                          <p:attrName>ppt_w</p:attrName>
                                        </p:attrNameLst>
                                      </p:cBhvr>
                                      <p:tavLst>
                                        <p:tav tm="0">
                                          <p:val>
                                            <p:fltVal val="0"/>
                                          </p:val>
                                        </p:tav>
                                        <p:tav tm="100000">
                                          <p:val>
                                            <p:strVal val="#ppt_w"/>
                                          </p:val>
                                        </p:tav>
                                      </p:tavLst>
                                    </p:anim>
                                    <p:anim calcmode="lin" valueType="num">
                                      <p:cBhvr>
                                        <p:cTn id="19" dur="500" fill="hold"/>
                                        <p:tgtEl>
                                          <p:spTgt spid="5943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6"/>
                                            </p:cond>
                                          </p:stCondLst>
                                          <p:endCondLst>
                                            <p:cond evt="onStopAudio" delay="0">
                                              <p:tgtEl>
                                                <p:sldTgt/>
                                              </p:tgtEl>
                                            </p:cond>
                                          </p:endCondLst>
                                        </p:cTn>
                                        <p:tgtEl>
                                          <p:sndTgt r:embed="rId3" name="TYPE.WAV"/>
                                        </p:tgtEl>
                                      </p:cMediaNode>
                                    </p:audio>
                                  </p:sub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10" fill="hold" nodeType="clickEffect">
                                  <p:stCondLst>
                                    <p:cond delay="0"/>
                                  </p:stCondLst>
                                  <p:childTnLst>
                                    <p:set>
                                      <p:cBhvr>
                                        <p:cTn id="23" dur="1" fill="hold">
                                          <p:stCondLst>
                                            <p:cond delay="0"/>
                                          </p:stCondLst>
                                        </p:cTn>
                                        <p:tgtEl>
                                          <p:spTgt spid="59437"/>
                                        </p:tgtEl>
                                        <p:attrNameLst>
                                          <p:attrName>style.visibility</p:attrName>
                                        </p:attrNameLst>
                                      </p:cBhvr>
                                      <p:to>
                                        <p:strVal val="visible"/>
                                      </p:to>
                                    </p:set>
                                    <p:anim calcmode="lin" valueType="num">
                                      <p:cBhvr>
                                        <p:cTn id="24" dur="500" fill="hold"/>
                                        <p:tgtEl>
                                          <p:spTgt spid="59437"/>
                                        </p:tgtEl>
                                        <p:attrNameLst>
                                          <p:attrName>ppt_w</p:attrName>
                                        </p:attrNameLst>
                                      </p:cBhvr>
                                      <p:tavLst>
                                        <p:tav tm="0">
                                          <p:val>
                                            <p:fltVal val="0"/>
                                          </p:val>
                                        </p:tav>
                                        <p:tav tm="100000">
                                          <p:val>
                                            <p:strVal val="#ppt_w"/>
                                          </p:val>
                                        </p:tav>
                                      </p:tavLst>
                                    </p:anim>
                                    <p:anim calcmode="lin" valueType="num">
                                      <p:cBhvr>
                                        <p:cTn id="25" dur="500" fill="hold"/>
                                        <p:tgtEl>
                                          <p:spTgt spid="5943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2"/>
                                            </p:cond>
                                          </p:stCondLst>
                                          <p:endCondLst>
                                            <p:cond evt="onStopAudio" delay="0">
                                              <p:tgtEl>
                                                <p:sldTgt/>
                                              </p:tgtEl>
                                            </p:cond>
                                          </p:endCondLst>
                                        </p:cTn>
                                        <p:tgtEl>
                                          <p:sndTgt r:embed="rId3" name="TYPE.WAV"/>
                                        </p:tgtEl>
                                      </p:cMediaNode>
                                    </p:audio>
                                  </p:sub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59432"/>
                                        </p:tgtEl>
                                        <p:attrNameLst>
                                          <p:attrName>style.visibility</p:attrName>
                                        </p:attrNameLst>
                                      </p:cBhvr>
                                      <p:to>
                                        <p:strVal val="visible"/>
                                      </p:to>
                                    </p:set>
                                    <p:animEffect transition="in" filter="blinds(horizontal)">
                                      <p:cBhvr>
                                        <p:cTn id="30" dur="500"/>
                                        <p:tgtEl>
                                          <p:spTgt spid="59432"/>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59433"/>
                                        </p:tgtEl>
                                        <p:attrNameLst>
                                          <p:attrName>style.visibility</p:attrName>
                                        </p:attrNameLst>
                                      </p:cBhvr>
                                      <p:to>
                                        <p:strVal val="visible"/>
                                      </p:to>
                                    </p:set>
                                    <p:animEffect transition="in" filter="blinds(horizontal)">
                                      <p:cBhvr>
                                        <p:cTn id="33" dur="500"/>
                                        <p:tgtEl>
                                          <p:spTgt spid="5943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59434"/>
                                        </p:tgtEl>
                                        <p:attrNameLst>
                                          <p:attrName>style.visibility</p:attrName>
                                        </p:attrNameLst>
                                      </p:cBhvr>
                                      <p:to>
                                        <p:strVal val="visible"/>
                                      </p:to>
                                    </p:set>
                                    <p:animEffect transition="in" filter="blinds(horizontal)">
                                      <p:cBhvr>
                                        <p:cTn id="38" dur="500"/>
                                        <p:tgtEl>
                                          <p:spTgt spid="59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9" grpId="0" build="p" autoUpdateAnimBg="0"/>
      <p:bldP spid="5943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 Box 3"/>
          <p:cNvSpPr txBox="1">
            <a:spLocks noChangeArrowheads="1"/>
          </p:cNvSpPr>
          <p:nvPr/>
        </p:nvSpPr>
        <p:spPr bwMode="auto">
          <a:xfrm>
            <a:off x="484188" y="3633788"/>
            <a:ext cx="5167312" cy="338137"/>
          </a:xfrm>
          <a:prstGeom prst="rect">
            <a:avLst/>
          </a:prstGeom>
          <a:noFill/>
          <a:ln w="9525">
            <a:noFill/>
            <a:miter lim="800000"/>
            <a:headEnd/>
            <a:tailEnd/>
          </a:ln>
        </p:spPr>
        <p:txBody>
          <a:bodyPr>
            <a:spAutoFit/>
          </a:bodyPr>
          <a:lstStyle/>
          <a:p>
            <a:pPr>
              <a:spcBef>
                <a:spcPct val="50000"/>
              </a:spcBef>
            </a:pPr>
            <a:r>
              <a:rPr lang="zh-CN" altLang="en-US" sz="1600" b="1">
                <a:latin typeface="华文中宋"/>
                <a:ea typeface="华文中宋"/>
                <a:cs typeface="华文中宋"/>
              </a:rPr>
              <a:t>若</a:t>
            </a:r>
            <a:r>
              <a:rPr lang="zh-CN" altLang="en-US" sz="1600" b="1" i="1">
                <a:latin typeface="华文中宋"/>
                <a:ea typeface="华文中宋"/>
                <a:cs typeface="华文中宋"/>
                <a:sym typeface="Symbol" pitchFamily="18" charset="2"/>
              </a:rPr>
              <a:t></a:t>
            </a:r>
            <a:r>
              <a:rPr lang="en-US" altLang="zh-CN" sz="1600" b="1" baseline="-25000">
                <a:latin typeface="华文中宋"/>
                <a:ea typeface="华文中宋"/>
                <a:cs typeface="华文中宋"/>
                <a:sym typeface="Symbol" pitchFamily="18" charset="2"/>
              </a:rPr>
              <a:t>10</a:t>
            </a:r>
            <a:r>
              <a:rPr lang="en-US" altLang="zh-CN" sz="1600" b="1">
                <a:latin typeface="华文中宋"/>
                <a:ea typeface="华文中宋"/>
                <a:cs typeface="华文中宋"/>
                <a:sym typeface="Symbol" pitchFamily="18" charset="2"/>
              </a:rPr>
              <a:t>= </a:t>
            </a:r>
            <a:r>
              <a:rPr lang="en-US" altLang="zh-CN" sz="1600" b="1" i="1">
                <a:latin typeface="华文中宋"/>
                <a:ea typeface="华文中宋"/>
                <a:cs typeface="华文中宋"/>
                <a:sym typeface="Symbol" pitchFamily="18" charset="2"/>
              </a:rPr>
              <a:t></a:t>
            </a:r>
            <a:r>
              <a:rPr lang="en-US" altLang="zh-CN" sz="1600" b="1" baseline="-25000">
                <a:latin typeface="华文中宋"/>
                <a:ea typeface="华文中宋"/>
                <a:cs typeface="华文中宋"/>
                <a:sym typeface="Symbol" pitchFamily="18" charset="2"/>
              </a:rPr>
              <a:t>20 </a:t>
            </a:r>
            <a:r>
              <a:rPr lang="en-US" altLang="zh-CN" sz="1600" b="1">
                <a:latin typeface="华文中宋"/>
                <a:ea typeface="华文中宋"/>
                <a:cs typeface="华文中宋"/>
                <a:sym typeface="Symbol" pitchFamily="18" charset="2"/>
              </a:rPr>
              <a:t>, </a:t>
            </a:r>
            <a:r>
              <a:rPr lang="zh-CN" altLang="en-US" sz="1600" b="1">
                <a:latin typeface="华文中宋"/>
                <a:ea typeface="华文中宋"/>
                <a:cs typeface="华文中宋"/>
              </a:rPr>
              <a:t>上式简化为波程差</a:t>
            </a:r>
            <a:r>
              <a:rPr lang="zh-CN" altLang="en-US" sz="1600" b="1" i="1">
                <a:latin typeface="华文中宋"/>
                <a:ea typeface="华文中宋"/>
                <a:cs typeface="华文中宋"/>
                <a:sym typeface="Symbol" pitchFamily="18" charset="2"/>
              </a:rPr>
              <a:t></a:t>
            </a:r>
          </a:p>
        </p:txBody>
      </p:sp>
      <p:graphicFrame>
        <p:nvGraphicFramePr>
          <p:cNvPr id="60463" name="Object 38"/>
          <p:cNvGraphicFramePr>
            <a:graphicFrameLocks noChangeAspect="1"/>
          </p:cNvGraphicFramePr>
          <p:nvPr/>
        </p:nvGraphicFramePr>
        <p:xfrm>
          <a:off x="3260725" y="3646488"/>
          <a:ext cx="3040063" cy="1012825"/>
        </p:xfrm>
        <a:graphic>
          <a:graphicData uri="http://schemas.openxmlformats.org/presentationml/2006/ole">
            <p:oleObj spid="_x0000_s54310" name="公式" r:id="rId4" imgW="1117600" imgH="469900" progId="Equation.3">
              <p:embed/>
            </p:oleObj>
          </a:graphicData>
        </a:graphic>
      </p:graphicFrame>
      <p:sp>
        <p:nvSpPr>
          <p:cNvPr id="56325" name="Text Box 5"/>
          <p:cNvSpPr txBox="1">
            <a:spLocks noChangeArrowheads="1"/>
          </p:cNvSpPr>
          <p:nvPr/>
        </p:nvSpPr>
        <p:spPr bwMode="auto">
          <a:xfrm>
            <a:off x="6802438" y="3668713"/>
            <a:ext cx="1225550" cy="339725"/>
          </a:xfrm>
          <a:prstGeom prst="rect">
            <a:avLst/>
          </a:prstGeom>
          <a:noFill/>
          <a:ln w="9525">
            <a:noFill/>
            <a:miter lim="800000"/>
            <a:headEnd/>
            <a:tailEnd/>
          </a:ln>
        </p:spPr>
        <p:txBody>
          <a:bodyPr>
            <a:spAutoFit/>
          </a:bodyPr>
          <a:lstStyle/>
          <a:p>
            <a:pPr>
              <a:spcBef>
                <a:spcPct val="50000"/>
              </a:spcBef>
            </a:pPr>
            <a:r>
              <a:rPr lang="zh-CN" altLang="en-US" sz="1600" b="1">
                <a:latin typeface="华文中宋"/>
                <a:ea typeface="华文中宋"/>
                <a:cs typeface="华文中宋"/>
              </a:rPr>
              <a:t>干涉相长</a:t>
            </a:r>
            <a:endParaRPr lang="zh-CN" altLang="en-US" sz="1600" b="1">
              <a:latin typeface="华文中宋"/>
              <a:ea typeface="华文中宋"/>
              <a:cs typeface="华文中宋"/>
              <a:sym typeface="Symbol" pitchFamily="18" charset="2"/>
            </a:endParaRPr>
          </a:p>
        </p:txBody>
      </p:sp>
      <p:sp>
        <p:nvSpPr>
          <p:cNvPr id="56327" name="Rectangle 7"/>
          <p:cNvSpPr>
            <a:spLocks noChangeArrowheads="1"/>
          </p:cNvSpPr>
          <p:nvPr/>
        </p:nvSpPr>
        <p:spPr bwMode="auto">
          <a:xfrm>
            <a:off x="862013" y="1368425"/>
            <a:ext cx="3389312" cy="339725"/>
          </a:xfrm>
          <a:prstGeom prst="rect">
            <a:avLst/>
          </a:prstGeom>
          <a:noFill/>
          <a:ln w="9525">
            <a:noFill/>
            <a:miter lim="800000"/>
            <a:headEnd/>
            <a:tailEnd/>
          </a:ln>
        </p:spPr>
        <p:txBody>
          <a:bodyPr wrap="none">
            <a:spAutoFit/>
          </a:bodyPr>
          <a:lstStyle/>
          <a:p>
            <a:pPr>
              <a:buClr>
                <a:srgbClr val="FF66FF"/>
              </a:buClr>
              <a:buSzPct val="120000"/>
              <a:buFont typeface="Wingdings" pitchFamily="2" charset="2"/>
              <a:buNone/>
            </a:pPr>
            <a:r>
              <a:rPr lang="zh-CN" altLang="en-US" sz="1600" b="1">
                <a:solidFill>
                  <a:srgbClr val="0000FF"/>
                </a:solidFill>
                <a:latin typeface="华文中宋"/>
                <a:ea typeface="华文中宋"/>
                <a:cs typeface="华文中宋"/>
              </a:rPr>
              <a:t>（</a:t>
            </a:r>
            <a:r>
              <a:rPr lang="en-US" altLang="zh-CN" sz="1600" b="1">
                <a:solidFill>
                  <a:srgbClr val="0000FF"/>
                </a:solidFill>
                <a:latin typeface="华文中宋"/>
                <a:ea typeface="华文中宋"/>
                <a:cs typeface="华文中宋"/>
              </a:rPr>
              <a:t>2</a:t>
            </a:r>
            <a:r>
              <a:rPr lang="zh-CN" altLang="en-US" sz="1600" b="1">
                <a:solidFill>
                  <a:srgbClr val="0000FF"/>
                </a:solidFill>
                <a:latin typeface="华文中宋"/>
                <a:ea typeface="华文中宋"/>
                <a:cs typeface="华文中宋"/>
              </a:rPr>
              <a:t>）干涉相长与干涉相消的条件：</a:t>
            </a:r>
          </a:p>
        </p:txBody>
      </p:sp>
      <p:sp>
        <p:nvSpPr>
          <p:cNvPr id="56330" name="Text Box 10"/>
          <p:cNvSpPr txBox="1">
            <a:spLocks noChangeArrowheads="1"/>
          </p:cNvSpPr>
          <p:nvPr/>
        </p:nvSpPr>
        <p:spPr bwMode="auto">
          <a:xfrm>
            <a:off x="1619250" y="1744663"/>
            <a:ext cx="954088" cy="322262"/>
          </a:xfrm>
          <a:prstGeom prst="rect">
            <a:avLst/>
          </a:prstGeom>
          <a:noFill/>
          <a:ln w="9525">
            <a:noFill/>
            <a:miter lim="800000"/>
            <a:headEnd/>
            <a:tailEnd/>
          </a:ln>
          <a:effectLst>
            <a:prstShdw prst="shdw17" dist="17961" dir="2700000">
              <a:srgbClr val="993D00"/>
            </a:prstShdw>
          </a:effectLst>
        </p:spPr>
        <p:txBody>
          <a:bodyPr wrap="none">
            <a:spAutoFit/>
          </a:bodyPr>
          <a:lstStyle/>
          <a:p>
            <a:r>
              <a:rPr lang="zh-CN" altLang="en-US" sz="1500" b="1">
                <a:latin typeface="华文中宋"/>
                <a:ea typeface="华文中宋"/>
                <a:cs typeface="华文中宋"/>
              </a:rPr>
              <a:t>干涉相长</a:t>
            </a:r>
          </a:p>
        </p:txBody>
      </p:sp>
      <p:sp>
        <p:nvSpPr>
          <p:cNvPr id="56332" name="Text Box 12"/>
          <p:cNvSpPr txBox="1">
            <a:spLocks noChangeArrowheads="1"/>
          </p:cNvSpPr>
          <p:nvPr/>
        </p:nvSpPr>
        <p:spPr bwMode="auto">
          <a:xfrm>
            <a:off x="5754688" y="1692275"/>
            <a:ext cx="954087" cy="322263"/>
          </a:xfrm>
          <a:prstGeom prst="rect">
            <a:avLst/>
          </a:prstGeom>
          <a:noFill/>
          <a:ln w="9525">
            <a:noFill/>
            <a:miter lim="800000"/>
            <a:headEnd/>
            <a:tailEnd/>
          </a:ln>
          <a:effectLst>
            <a:prstShdw prst="shdw17" dist="17961" dir="2700000">
              <a:srgbClr val="993D00"/>
            </a:prstShdw>
          </a:effectLst>
        </p:spPr>
        <p:txBody>
          <a:bodyPr wrap="none">
            <a:spAutoFit/>
          </a:bodyPr>
          <a:lstStyle/>
          <a:p>
            <a:r>
              <a:rPr lang="zh-CN" altLang="en-US" sz="1500" b="1">
                <a:latin typeface="华文中宋"/>
                <a:ea typeface="华文中宋"/>
                <a:cs typeface="华文中宋"/>
              </a:rPr>
              <a:t>干涉相消</a:t>
            </a:r>
          </a:p>
        </p:txBody>
      </p:sp>
      <p:sp>
        <p:nvSpPr>
          <p:cNvPr id="60454" name="Rectangle 38"/>
          <p:cNvSpPr>
            <a:spLocks noChangeArrowheads="1"/>
          </p:cNvSpPr>
          <p:nvPr/>
        </p:nvSpPr>
        <p:spPr bwMode="auto">
          <a:xfrm>
            <a:off x="827088" y="1089025"/>
            <a:ext cx="8208962" cy="338138"/>
          </a:xfrm>
          <a:prstGeom prst="rect">
            <a:avLst/>
          </a:prstGeom>
          <a:noFill/>
          <a:ln w="9525">
            <a:noFill/>
            <a:miter lim="800000"/>
            <a:headEnd/>
            <a:tailEnd/>
          </a:ln>
        </p:spPr>
        <p:txBody>
          <a:bodyPr>
            <a:spAutoFit/>
          </a:bodyPr>
          <a:lstStyle/>
          <a:p>
            <a:pPr algn="just"/>
            <a:r>
              <a:rPr lang="zh-CN" altLang="en-US" sz="1600" b="1">
                <a:solidFill>
                  <a:srgbClr val="0000FF"/>
                </a:solidFill>
                <a:latin typeface="华文中宋"/>
                <a:ea typeface="华文中宋"/>
                <a:cs typeface="华文中宋"/>
              </a:rPr>
              <a:t>（</a:t>
            </a:r>
            <a:r>
              <a:rPr lang="en-US" altLang="zh-CN" sz="1600" b="1">
                <a:solidFill>
                  <a:srgbClr val="0000FF"/>
                </a:solidFill>
                <a:latin typeface="华文中宋"/>
                <a:ea typeface="华文中宋"/>
                <a:cs typeface="华文中宋"/>
              </a:rPr>
              <a:t>1</a:t>
            </a:r>
            <a:r>
              <a:rPr lang="zh-CN" altLang="en-US" sz="1600" b="1">
                <a:solidFill>
                  <a:srgbClr val="0000FF"/>
                </a:solidFill>
                <a:latin typeface="华文中宋"/>
                <a:ea typeface="华文中宋"/>
                <a:cs typeface="华文中宋"/>
              </a:rPr>
              <a:t>）合振幅仅由波程差（</a:t>
            </a:r>
            <a:r>
              <a:rPr lang="en-US" altLang="zh-CN" sz="1600" b="1" i="1">
                <a:solidFill>
                  <a:srgbClr val="0000FF"/>
                </a:solidFill>
                <a:ea typeface="华文中宋"/>
                <a:cs typeface="华文中宋"/>
              </a:rPr>
              <a:t>r</a:t>
            </a:r>
            <a:r>
              <a:rPr lang="en-US" altLang="zh-CN" sz="1600" b="1" baseline="-25000">
                <a:solidFill>
                  <a:srgbClr val="0000FF"/>
                </a:solidFill>
                <a:ea typeface="华文中宋"/>
                <a:cs typeface="华文中宋"/>
              </a:rPr>
              <a:t>2</a:t>
            </a:r>
            <a:r>
              <a:rPr lang="en-US" altLang="zh-CN" sz="1600" b="1" i="1">
                <a:solidFill>
                  <a:srgbClr val="0000FF"/>
                </a:solidFill>
                <a:ea typeface="华文中宋"/>
                <a:cs typeface="华文中宋"/>
              </a:rPr>
              <a:t>-r</a:t>
            </a:r>
            <a:r>
              <a:rPr lang="en-US" altLang="zh-CN" sz="1600" b="1" baseline="-25000">
                <a:solidFill>
                  <a:srgbClr val="0000FF"/>
                </a:solidFill>
                <a:ea typeface="华文中宋"/>
                <a:cs typeface="华文中宋"/>
              </a:rPr>
              <a:t>1</a:t>
            </a:r>
            <a:r>
              <a:rPr lang="zh-CN" altLang="en-US" sz="1600" b="1">
                <a:solidFill>
                  <a:srgbClr val="0000FF"/>
                </a:solidFill>
                <a:latin typeface="华文中宋"/>
                <a:ea typeface="华文中宋"/>
                <a:cs typeface="华文中宋"/>
              </a:rPr>
              <a:t>）决定，位相仅由位置决定，故这是一个稳定的叠加图样。</a:t>
            </a:r>
          </a:p>
        </p:txBody>
      </p:sp>
      <p:sp>
        <p:nvSpPr>
          <p:cNvPr id="54323" name="Rectangle 39"/>
          <p:cNvSpPr>
            <a:spLocks noChangeArrowheads="1"/>
          </p:cNvSpPr>
          <p:nvPr/>
        </p:nvSpPr>
        <p:spPr bwMode="auto">
          <a:xfrm>
            <a:off x="454025" y="835025"/>
            <a:ext cx="877888" cy="368300"/>
          </a:xfrm>
          <a:prstGeom prst="rect">
            <a:avLst/>
          </a:prstGeom>
          <a:noFill/>
          <a:ln w="9525">
            <a:noFill/>
            <a:miter lim="800000"/>
            <a:headEnd/>
            <a:tailEnd/>
          </a:ln>
        </p:spPr>
        <p:txBody>
          <a:bodyPr wrap="none">
            <a:spAutoFit/>
          </a:bodyPr>
          <a:lstStyle/>
          <a:p>
            <a:r>
              <a:rPr lang="zh-CN" altLang="en-US" sz="1800" b="1">
                <a:solidFill>
                  <a:srgbClr val="FF0000"/>
                </a:solidFill>
                <a:latin typeface="华文中宋"/>
                <a:ea typeface="华文中宋"/>
                <a:cs typeface="华文中宋"/>
              </a:rPr>
              <a:t>说明：</a:t>
            </a:r>
          </a:p>
        </p:txBody>
      </p:sp>
      <p:graphicFrame>
        <p:nvGraphicFramePr>
          <p:cNvPr id="60456" name="Object 39"/>
          <p:cNvGraphicFramePr>
            <a:graphicFrameLocks noChangeAspect="1"/>
          </p:cNvGraphicFramePr>
          <p:nvPr/>
        </p:nvGraphicFramePr>
        <p:xfrm>
          <a:off x="1379538" y="2620963"/>
          <a:ext cx="1620837" cy="363537"/>
        </p:xfrm>
        <a:graphic>
          <a:graphicData uri="http://schemas.openxmlformats.org/presentationml/2006/ole">
            <p:oleObj spid="_x0000_s54311" name="Equation" r:id="rId5" imgW="761669" imgH="228501" progId="Equation.DSMT4">
              <p:embed/>
            </p:oleObj>
          </a:graphicData>
        </a:graphic>
      </p:graphicFrame>
      <p:graphicFrame>
        <p:nvGraphicFramePr>
          <p:cNvPr id="60457" name="Object 40"/>
          <p:cNvGraphicFramePr>
            <a:graphicFrameLocks noChangeAspect="1"/>
          </p:cNvGraphicFramePr>
          <p:nvPr/>
        </p:nvGraphicFramePr>
        <p:xfrm>
          <a:off x="5562600" y="2600325"/>
          <a:ext cx="1754188" cy="404813"/>
        </p:xfrm>
        <a:graphic>
          <a:graphicData uri="http://schemas.openxmlformats.org/presentationml/2006/ole">
            <p:oleObj spid="_x0000_s54312" name="Equation" r:id="rId6" imgW="825500" imgH="254000" progId="Equation.DSMT4">
              <p:embed/>
            </p:oleObj>
          </a:graphicData>
        </a:graphic>
      </p:graphicFrame>
      <p:graphicFrame>
        <p:nvGraphicFramePr>
          <p:cNvPr id="60458" name="Object 41"/>
          <p:cNvGraphicFramePr>
            <a:graphicFrameLocks noChangeAspect="1"/>
          </p:cNvGraphicFramePr>
          <p:nvPr/>
        </p:nvGraphicFramePr>
        <p:xfrm>
          <a:off x="704850" y="2066925"/>
          <a:ext cx="3579813" cy="585788"/>
        </p:xfrm>
        <a:graphic>
          <a:graphicData uri="http://schemas.openxmlformats.org/presentationml/2006/ole">
            <p:oleObj spid="_x0000_s54313" name="Equation" r:id="rId7" imgW="1765300" imgH="393700" progId="Equation.DSMT4">
              <p:embed/>
            </p:oleObj>
          </a:graphicData>
        </a:graphic>
      </p:graphicFrame>
      <p:graphicFrame>
        <p:nvGraphicFramePr>
          <p:cNvPr id="60459" name="Object 42"/>
          <p:cNvGraphicFramePr>
            <a:graphicFrameLocks noChangeAspect="1"/>
          </p:cNvGraphicFramePr>
          <p:nvPr/>
        </p:nvGraphicFramePr>
        <p:xfrm>
          <a:off x="4572000" y="2066925"/>
          <a:ext cx="4032250" cy="549275"/>
        </p:xfrm>
        <a:graphic>
          <a:graphicData uri="http://schemas.openxmlformats.org/presentationml/2006/ole">
            <p:oleObj spid="_x0000_s54314" name="Equation" r:id="rId8" imgW="2082800" imgH="393700" progId="Equation.DSMT4">
              <p:embed/>
            </p:oleObj>
          </a:graphicData>
        </a:graphic>
      </p:graphicFrame>
      <p:graphicFrame>
        <p:nvGraphicFramePr>
          <p:cNvPr id="60460" name="Object 43"/>
          <p:cNvGraphicFramePr>
            <a:graphicFrameLocks noChangeAspect="1"/>
          </p:cNvGraphicFramePr>
          <p:nvPr/>
        </p:nvGraphicFramePr>
        <p:xfrm>
          <a:off x="1116013" y="3076575"/>
          <a:ext cx="2727325" cy="425450"/>
        </p:xfrm>
        <a:graphic>
          <a:graphicData uri="http://schemas.openxmlformats.org/presentationml/2006/ole">
            <p:oleObj spid="_x0000_s54315" name="Equation" r:id="rId9" imgW="1282700" imgH="266700" progId="Equation.DSMT4">
              <p:embed/>
            </p:oleObj>
          </a:graphicData>
        </a:graphic>
      </p:graphicFrame>
      <p:graphicFrame>
        <p:nvGraphicFramePr>
          <p:cNvPr id="60461" name="Object 44"/>
          <p:cNvGraphicFramePr>
            <a:graphicFrameLocks noChangeAspect="1"/>
          </p:cNvGraphicFramePr>
          <p:nvPr/>
        </p:nvGraphicFramePr>
        <p:xfrm>
          <a:off x="5221288" y="3082925"/>
          <a:ext cx="2727325" cy="425450"/>
        </p:xfrm>
        <a:graphic>
          <a:graphicData uri="http://schemas.openxmlformats.org/presentationml/2006/ole">
            <p:oleObj spid="_x0000_s54316" name="Equation" r:id="rId10" imgW="1282700" imgH="266700" progId="Equation.DSMT4">
              <p:embed/>
            </p:oleObj>
          </a:graphicData>
        </a:graphic>
      </p:graphicFrame>
      <p:sp>
        <p:nvSpPr>
          <p:cNvPr id="60462" name="Text Box 46"/>
          <p:cNvSpPr txBox="1">
            <a:spLocks noChangeArrowheads="1"/>
          </p:cNvSpPr>
          <p:nvPr/>
        </p:nvSpPr>
        <p:spPr bwMode="auto">
          <a:xfrm>
            <a:off x="6804025" y="4154488"/>
            <a:ext cx="1296988" cy="339725"/>
          </a:xfrm>
          <a:prstGeom prst="rect">
            <a:avLst/>
          </a:prstGeom>
          <a:noFill/>
          <a:ln w="9525">
            <a:noFill/>
            <a:miter lim="800000"/>
            <a:headEnd/>
            <a:tailEnd/>
          </a:ln>
        </p:spPr>
        <p:txBody>
          <a:bodyPr>
            <a:spAutoFit/>
          </a:bodyPr>
          <a:lstStyle/>
          <a:p>
            <a:pPr>
              <a:spcBef>
                <a:spcPct val="50000"/>
              </a:spcBef>
            </a:pPr>
            <a:r>
              <a:rPr lang="zh-CN" altLang="en-US" sz="1600" b="1">
                <a:latin typeface="华文中宋"/>
                <a:ea typeface="华文中宋"/>
                <a:cs typeface="华文中宋"/>
              </a:rPr>
              <a:t>干涉相消</a:t>
            </a:r>
            <a:endParaRPr lang="zh-CN" altLang="en-US" sz="1600" b="1">
              <a:latin typeface="华文中宋"/>
              <a:ea typeface="华文中宋"/>
              <a:cs typeface="华文中宋"/>
              <a:sym typeface="Symbol" pitchFamily="18" charset="2"/>
            </a:endParaRPr>
          </a:p>
        </p:txBody>
      </p:sp>
      <p:sp>
        <p:nvSpPr>
          <p:cNvPr id="54326" name="Text Box 54">
            <a:hlinkClick r:id="rId11" action="ppaction://hlinksldjump"/>
          </p:cNvPr>
          <p:cNvSpPr txBox="1">
            <a:spLocks noChangeArrowheads="1"/>
          </p:cNvSpPr>
          <p:nvPr/>
        </p:nvSpPr>
        <p:spPr bwMode="auto">
          <a:xfrm>
            <a:off x="8008938" y="3814763"/>
            <a:ext cx="895350" cy="51911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r>
              <a:rPr lang="zh-CN" altLang="en-US"/>
              <a:t>例题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0454"/>
                                        </p:tgtEl>
                                        <p:attrNameLst>
                                          <p:attrName>style.visibility</p:attrName>
                                        </p:attrNameLst>
                                      </p:cBhvr>
                                      <p:to>
                                        <p:strVal val="visible"/>
                                      </p:to>
                                    </p:set>
                                    <p:anim calcmode="lin" valueType="num">
                                      <p:cBhvr>
                                        <p:cTn id="7" dur="500" fill="hold"/>
                                        <p:tgtEl>
                                          <p:spTgt spid="60454"/>
                                        </p:tgtEl>
                                        <p:attrNameLst>
                                          <p:attrName>ppt_w</p:attrName>
                                        </p:attrNameLst>
                                      </p:cBhvr>
                                      <p:tavLst>
                                        <p:tav tm="0">
                                          <p:val>
                                            <p:fltVal val="0"/>
                                          </p:val>
                                        </p:tav>
                                        <p:tav tm="100000">
                                          <p:val>
                                            <p:strVal val="#ppt_w"/>
                                          </p:val>
                                        </p:tav>
                                      </p:tavLst>
                                    </p:anim>
                                    <p:anim calcmode="lin" valueType="num">
                                      <p:cBhvr>
                                        <p:cTn id="8" dur="500" fill="hold"/>
                                        <p:tgtEl>
                                          <p:spTgt spid="6045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56327"/>
                                        </p:tgtEl>
                                        <p:attrNameLst>
                                          <p:attrName>style.visibility</p:attrName>
                                        </p:attrNameLst>
                                      </p:cBhvr>
                                      <p:to>
                                        <p:strVal val="visible"/>
                                      </p:to>
                                    </p:set>
                                    <p:animEffect transition="in" filter="wipe(up)">
                                      <p:cBhvr>
                                        <p:cTn id="13" dur="500"/>
                                        <p:tgtEl>
                                          <p:spTgt spid="56327"/>
                                        </p:tgtEl>
                                      </p:cBhvr>
                                    </p:animEffect>
                                  </p:childTnLst>
                                  <p:subTnLst>
                                    <p:audio>
                                      <p:cMediaNode>
                                        <p:cTn display="0" masterRel="sameClick">
                                          <p:stCondLst>
                                            <p:cond evt="begin" delay="0">
                                              <p:tn val="11"/>
                                            </p:cond>
                                          </p:stCondLst>
                                          <p:endCondLst>
                                            <p:cond evt="onStopAudio" delay="0">
                                              <p:tgtEl>
                                                <p:sldTgt/>
                                              </p:tgtEl>
                                            </p:cond>
                                          </p:endCondLst>
                                        </p:cTn>
                                        <p:tgtEl>
                                          <p:sndTgt r:embed="rId3" name="TYPE.WAV"/>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6330"/>
                                        </p:tgtEl>
                                        <p:attrNameLst>
                                          <p:attrName>style.visibility</p:attrName>
                                        </p:attrNameLst>
                                      </p:cBhvr>
                                      <p:to>
                                        <p:strVal val="visible"/>
                                      </p:to>
                                    </p:set>
                                    <p:animEffect transition="in" filter="blinds(horizontal)">
                                      <p:cBhvr>
                                        <p:cTn id="18" dur="500"/>
                                        <p:tgtEl>
                                          <p:spTgt spid="5633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60458"/>
                                        </p:tgtEl>
                                        <p:attrNameLst>
                                          <p:attrName>style.visibility</p:attrName>
                                        </p:attrNameLst>
                                      </p:cBhvr>
                                      <p:to>
                                        <p:strVal val="visible"/>
                                      </p:to>
                                    </p:set>
                                    <p:animEffect transition="in" filter="blinds(horizontal)">
                                      <p:cBhvr>
                                        <p:cTn id="23" dur="500"/>
                                        <p:tgtEl>
                                          <p:spTgt spid="6045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60456"/>
                                        </p:tgtEl>
                                        <p:attrNameLst>
                                          <p:attrName>style.visibility</p:attrName>
                                        </p:attrNameLst>
                                      </p:cBhvr>
                                      <p:to>
                                        <p:strVal val="visible"/>
                                      </p:to>
                                    </p:set>
                                    <p:animEffect transition="in" filter="blinds(horizontal)">
                                      <p:cBhvr>
                                        <p:cTn id="28" dur="500"/>
                                        <p:tgtEl>
                                          <p:spTgt spid="6045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60460"/>
                                        </p:tgtEl>
                                        <p:attrNameLst>
                                          <p:attrName>style.visibility</p:attrName>
                                        </p:attrNameLst>
                                      </p:cBhvr>
                                      <p:to>
                                        <p:strVal val="visible"/>
                                      </p:to>
                                    </p:set>
                                    <p:animEffect transition="in" filter="blinds(horizontal)">
                                      <p:cBhvr>
                                        <p:cTn id="33" dur="500"/>
                                        <p:tgtEl>
                                          <p:spTgt spid="6046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56332"/>
                                        </p:tgtEl>
                                        <p:attrNameLst>
                                          <p:attrName>style.visibility</p:attrName>
                                        </p:attrNameLst>
                                      </p:cBhvr>
                                      <p:to>
                                        <p:strVal val="visible"/>
                                      </p:to>
                                    </p:set>
                                    <p:animEffect transition="in" filter="blinds(horizontal)">
                                      <p:cBhvr>
                                        <p:cTn id="38" dur="500"/>
                                        <p:tgtEl>
                                          <p:spTgt spid="5633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60459"/>
                                        </p:tgtEl>
                                        <p:attrNameLst>
                                          <p:attrName>style.visibility</p:attrName>
                                        </p:attrNameLst>
                                      </p:cBhvr>
                                      <p:to>
                                        <p:strVal val="visible"/>
                                      </p:to>
                                    </p:set>
                                    <p:animEffect transition="in" filter="blinds(horizontal)">
                                      <p:cBhvr>
                                        <p:cTn id="43" dur="500"/>
                                        <p:tgtEl>
                                          <p:spTgt spid="6045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60457"/>
                                        </p:tgtEl>
                                        <p:attrNameLst>
                                          <p:attrName>style.visibility</p:attrName>
                                        </p:attrNameLst>
                                      </p:cBhvr>
                                      <p:to>
                                        <p:strVal val="visible"/>
                                      </p:to>
                                    </p:set>
                                    <p:animEffect transition="in" filter="blinds(horizontal)">
                                      <p:cBhvr>
                                        <p:cTn id="48" dur="500"/>
                                        <p:tgtEl>
                                          <p:spTgt spid="6045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nodeType="clickEffect">
                                  <p:stCondLst>
                                    <p:cond delay="0"/>
                                  </p:stCondLst>
                                  <p:childTnLst>
                                    <p:set>
                                      <p:cBhvr>
                                        <p:cTn id="52" dur="1" fill="hold">
                                          <p:stCondLst>
                                            <p:cond delay="0"/>
                                          </p:stCondLst>
                                        </p:cTn>
                                        <p:tgtEl>
                                          <p:spTgt spid="60461"/>
                                        </p:tgtEl>
                                        <p:attrNameLst>
                                          <p:attrName>style.visibility</p:attrName>
                                        </p:attrNameLst>
                                      </p:cBhvr>
                                      <p:to>
                                        <p:strVal val="visible"/>
                                      </p:to>
                                    </p:set>
                                    <p:animEffect transition="in" filter="blinds(horizontal)">
                                      <p:cBhvr>
                                        <p:cTn id="53" dur="500"/>
                                        <p:tgtEl>
                                          <p:spTgt spid="6046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56323"/>
                                        </p:tgtEl>
                                        <p:attrNameLst>
                                          <p:attrName>style.visibility</p:attrName>
                                        </p:attrNameLst>
                                      </p:cBhvr>
                                      <p:to>
                                        <p:strVal val="visible"/>
                                      </p:to>
                                    </p:set>
                                    <p:animEffect transition="in" filter="blinds(horizontal)">
                                      <p:cBhvr>
                                        <p:cTn id="58" dur="500"/>
                                        <p:tgtEl>
                                          <p:spTgt spid="5632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60463"/>
                                        </p:tgtEl>
                                        <p:attrNameLst>
                                          <p:attrName>style.visibility</p:attrName>
                                        </p:attrNameLst>
                                      </p:cBhvr>
                                      <p:to>
                                        <p:strVal val="visible"/>
                                      </p:to>
                                    </p:set>
                                    <p:animEffect transition="in" filter="blinds(horizontal)">
                                      <p:cBhvr>
                                        <p:cTn id="63" dur="500"/>
                                        <p:tgtEl>
                                          <p:spTgt spid="60463"/>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56325"/>
                                        </p:tgtEl>
                                        <p:attrNameLst>
                                          <p:attrName>style.visibility</p:attrName>
                                        </p:attrNameLst>
                                      </p:cBhvr>
                                      <p:to>
                                        <p:strVal val="visible"/>
                                      </p:to>
                                    </p:set>
                                    <p:animEffect transition="in" filter="blinds(horizontal)">
                                      <p:cBhvr>
                                        <p:cTn id="66" dur="500"/>
                                        <p:tgtEl>
                                          <p:spTgt spid="56325"/>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60462"/>
                                        </p:tgtEl>
                                        <p:attrNameLst>
                                          <p:attrName>style.visibility</p:attrName>
                                        </p:attrNameLst>
                                      </p:cBhvr>
                                      <p:to>
                                        <p:strVal val="visible"/>
                                      </p:to>
                                    </p:set>
                                    <p:animEffect transition="in" filter="blinds(horizontal)">
                                      <p:cBhvr>
                                        <p:cTn id="69" dur="500"/>
                                        <p:tgtEl>
                                          <p:spTgt spid="60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p:bldP spid="56325" grpId="0"/>
      <p:bldP spid="56327" grpId="0" autoUpdateAnimBg="0"/>
      <p:bldP spid="56330" grpId="0"/>
      <p:bldP spid="56332" grpId="0"/>
      <p:bldP spid="60454" grpId="0" autoUpdateAnimBg="0"/>
      <p:bldP spid="6046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5"/>
          <p:cNvSpPr>
            <a:spLocks noChangeArrowheads="1"/>
          </p:cNvSpPr>
          <p:nvPr/>
        </p:nvSpPr>
        <p:spPr bwMode="auto">
          <a:xfrm>
            <a:off x="449263" y="1266825"/>
            <a:ext cx="8443912" cy="368300"/>
          </a:xfrm>
          <a:prstGeom prst="rect">
            <a:avLst/>
          </a:prstGeom>
          <a:noFill/>
          <a:ln w="9525">
            <a:noFill/>
            <a:miter lim="800000"/>
            <a:headEnd/>
            <a:tailEnd/>
          </a:ln>
        </p:spPr>
        <p:txBody>
          <a:bodyPr>
            <a:spAutoFit/>
          </a:bodyPr>
          <a:lstStyle/>
          <a:p>
            <a:pPr algn="just"/>
            <a:r>
              <a:rPr lang="en-US" altLang="zh-CN" sz="1800" b="1">
                <a:latin typeface="华文中宋"/>
                <a:ea typeface="华文中宋"/>
                <a:cs typeface="华文中宋"/>
              </a:rPr>
              <a:t>    </a:t>
            </a:r>
            <a:r>
              <a:rPr lang="zh-CN" altLang="en-US" sz="1800" b="1">
                <a:latin typeface="华文中宋"/>
                <a:ea typeface="华文中宋"/>
                <a:cs typeface="华文中宋"/>
              </a:rPr>
              <a:t>在同一介质中，两列振幅相同、相向传播的相干波叠加形成的波，称为驻波。</a:t>
            </a:r>
          </a:p>
        </p:txBody>
      </p:sp>
      <p:sp>
        <p:nvSpPr>
          <p:cNvPr id="3078" name="Rectangle 4"/>
          <p:cNvSpPr>
            <a:spLocks noChangeArrowheads="1"/>
          </p:cNvSpPr>
          <p:nvPr/>
        </p:nvSpPr>
        <p:spPr bwMode="auto">
          <a:xfrm>
            <a:off x="755650" y="1625600"/>
            <a:ext cx="6408738" cy="369888"/>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rPr>
              <a:t>它是一种特殊的干涉现象。</a:t>
            </a:r>
          </a:p>
        </p:txBody>
      </p:sp>
      <p:sp>
        <p:nvSpPr>
          <p:cNvPr id="6" name="Text Box 2"/>
          <p:cNvSpPr>
            <a:spLocks noChangeArrowheads="1"/>
          </p:cNvSpPr>
          <p:nvPr/>
        </p:nvSpPr>
        <p:spPr bwMode="auto">
          <a:xfrm>
            <a:off x="828675" y="874713"/>
            <a:ext cx="1943100" cy="401637"/>
          </a:xfrm>
          <a:prstGeom prst="homePlate">
            <a:avLst>
              <a:gd name="adj" fmla="val 49611"/>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一、驻波现象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6"/>
                                        </p:tgtEl>
                                        <p:attrNameLst>
                                          <p:attrName>style.visibility</p:attrName>
                                        </p:attrNameLst>
                                      </p:cBhvr>
                                      <p:to>
                                        <p:strVal val="visible"/>
                                      </p:to>
                                    </p:set>
                                    <p:animEffect transition="in" filter="wipe(left)">
                                      <p:cBhvr>
                                        <p:cTn id="12" dur="500"/>
                                        <p:tgtEl>
                                          <p:spTgt spid="30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8"/>
                                        </p:tgtEl>
                                        <p:attrNameLst>
                                          <p:attrName>style.visibility</p:attrName>
                                        </p:attrNameLst>
                                      </p:cBhvr>
                                      <p:to>
                                        <p:strVal val="visible"/>
                                      </p:to>
                                    </p:set>
                                    <p:animEffect transition="in" filter="wipe(left)">
                                      <p:cBhvr>
                                        <p:cTn id="17" dur="500"/>
                                        <p:tgtEl>
                                          <p:spTgt spid="3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p:bldP spid="3078" grpId="0"/>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ext Box 3"/>
          <p:cNvSpPr txBox="1">
            <a:spLocks noChangeArrowheads="1"/>
          </p:cNvSpPr>
          <p:nvPr/>
        </p:nvSpPr>
        <p:spPr bwMode="auto">
          <a:xfrm>
            <a:off x="1808163" y="3319463"/>
            <a:ext cx="5200650" cy="369887"/>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rPr>
              <a:t>波腹：振幅始终为极大值的点</a:t>
            </a:r>
          </a:p>
        </p:txBody>
      </p:sp>
      <p:sp>
        <p:nvSpPr>
          <p:cNvPr id="63494" name="Rectangle 6"/>
          <p:cNvSpPr>
            <a:spLocks noChangeArrowheads="1"/>
          </p:cNvSpPr>
          <p:nvPr/>
        </p:nvSpPr>
        <p:spPr bwMode="auto">
          <a:xfrm>
            <a:off x="1824038" y="3714750"/>
            <a:ext cx="6924675" cy="369888"/>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rPr>
              <a:t>相邻两个波节点或波腹点之间的距离为半个波长。</a:t>
            </a:r>
          </a:p>
        </p:txBody>
      </p:sp>
      <p:sp>
        <p:nvSpPr>
          <p:cNvPr id="63495" name="Rectangle 7"/>
          <p:cNvSpPr>
            <a:spLocks noChangeArrowheads="1"/>
          </p:cNvSpPr>
          <p:nvPr/>
        </p:nvSpPr>
        <p:spPr bwMode="auto">
          <a:xfrm>
            <a:off x="1814513" y="2957513"/>
            <a:ext cx="4473575" cy="369887"/>
          </a:xfrm>
          <a:prstGeom prst="rect">
            <a:avLst/>
          </a:prstGeom>
          <a:noFill/>
          <a:ln w="9525">
            <a:noFill/>
            <a:miter lim="800000"/>
            <a:headEnd/>
            <a:tailEnd/>
          </a:ln>
        </p:spPr>
        <p:txBody>
          <a:bodyPr>
            <a:spAutoFit/>
          </a:bodyPr>
          <a:lstStyle/>
          <a:p>
            <a:r>
              <a:rPr lang="zh-CN" altLang="en-US" sz="1800" b="1">
                <a:latin typeface="华文中宋"/>
                <a:ea typeface="华文中宋"/>
                <a:cs typeface="华文中宋"/>
              </a:rPr>
              <a:t>波节：介质中始终不振动的点；</a:t>
            </a:r>
          </a:p>
        </p:txBody>
      </p:sp>
      <p:sp>
        <p:nvSpPr>
          <p:cNvPr id="63517" name="Text Box 29"/>
          <p:cNvSpPr txBox="1">
            <a:spLocks noChangeArrowheads="1"/>
          </p:cNvSpPr>
          <p:nvPr/>
        </p:nvSpPr>
        <p:spPr bwMode="auto">
          <a:xfrm>
            <a:off x="2673350" y="1131888"/>
            <a:ext cx="3111500" cy="322262"/>
          </a:xfrm>
          <a:prstGeom prst="rect">
            <a:avLst/>
          </a:prstGeom>
          <a:noFill/>
          <a:ln w="9525">
            <a:noFill/>
            <a:miter lim="800000"/>
            <a:headEnd/>
            <a:tailEnd/>
          </a:ln>
        </p:spPr>
        <p:txBody>
          <a:bodyPr>
            <a:spAutoFit/>
          </a:bodyPr>
          <a:lstStyle/>
          <a:p>
            <a:pPr algn="ctr">
              <a:spcBef>
                <a:spcPct val="50000"/>
              </a:spcBef>
            </a:pPr>
            <a:r>
              <a:rPr lang="zh-CN" altLang="en-US" sz="1500" b="1">
                <a:latin typeface="华文中宋"/>
                <a:ea typeface="华文中宋"/>
                <a:cs typeface="华文中宋"/>
              </a:rPr>
              <a:t>绳上的驻波</a:t>
            </a:r>
          </a:p>
        </p:txBody>
      </p:sp>
      <p:grpSp>
        <p:nvGrpSpPr>
          <p:cNvPr id="2" name="Group 2079"/>
          <p:cNvGrpSpPr>
            <a:grpSpLocks/>
          </p:cNvGrpSpPr>
          <p:nvPr/>
        </p:nvGrpSpPr>
        <p:grpSpPr bwMode="auto">
          <a:xfrm>
            <a:off x="1304925" y="1566863"/>
            <a:ext cx="6064250" cy="1474787"/>
            <a:chOff x="884" y="1706"/>
            <a:chExt cx="3820" cy="1239"/>
          </a:xfrm>
        </p:grpSpPr>
        <p:sp>
          <p:nvSpPr>
            <p:cNvPr id="116755" name="Line 12"/>
            <p:cNvSpPr>
              <a:spLocks noChangeShapeType="1"/>
            </p:cNvSpPr>
            <p:nvPr/>
          </p:nvSpPr>
          <p:spPr bwMode="auto">
            <a:xfrm>
              <a:off x="4129" y="2035"/>
              <a:ext cx="355" cy="0"/>
            </a:xfrm>
            <a:prstGeom prst="line">
              <a:avLst/>
            </a:prstGeom>
            <a:noFill/>
            <a:ln w="38100">
              <a:solidFill>
                <a:schemeClr val="accent2"/>
              </a:solidFill>
              <a:round/>
              <a:headEnd/>
              <a:tailEnd/>
            </a:ln>
          </p:spPr>
          <p:txBody>
            <a:bodyPr wrap="none" anchor="ctr"/>
            <a:lstStyle/>
            <a:p>
              <a:endParaRPr lang="zh-CN" altLang="en-US"/>
            </a:p>
          </p:txBody>
        </p:sp>
        <p:sp>
          <p:nvSpPr>
            <p:cNvPr id="116756" name="AutoShape 13"/>
            <p:cNvSpPr>
              <a:spLocks noChangeArrowheads="1"/>
            </p:cNvSpPr>
            <p:nvPr/>
          </p:nvSpPr>
          <p:spPr bwMode="auto">
            <a:xfrm>
              <a:off x="4014" y="2096"/>
              <a:ext cx="111" cy="244"/>
            </a:xfrm>
            <a:prstGeom prst="triangle">
              <a:avLst>
                <a:gd name="adj" fmla="val 50000"/>
              </a:avLst>
            </a:prstGeom>
            <a:solidFill>
              <a:schemeClr val="accent2"/>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2"/>
              </a:extrusionClr>
            </a:sp3d>
          </p:spPr>
          <p:txBody>
            <a:bodyPr wrap="none" anchor="ctr">
              <a:flatTx/>
            </a:bodyPr>
            <a:lstStyle/>
            <a:p>
              <a:endParaRPr lang="zh-CN" altLang="en-US"/>
            </a:p>
          </p:txBody>
        </p:sp>
        <p:sp>
          <p:nvSpPr>
            <p:cNvPr id="116757" name="Arc 14"/>
            <p:cNvSpPr>
              <a:spLocks/>
            </p:cNvSpPr>
            <p:nvPr/>
          </p:nvSpPr>
          <p:spPr bwMode="auto">
            <a:xfrm rot="-5400000">
              <a:off x="1150" y="1848"/>
              <a:ext cx="311" cy="166"/>
            </a:xfrm>
            <a:custGeom>
              <a:avLst/>
              <a:gdLst>
                <a:gd name="T0" fmla="*/ 0 w 43200"/>
                <a:gd name="T1" fmla="*/ 0 h 21906"/>
                <a:gd name="T2" fmla="*/ 0 w 43200"/>
                <a:gd name="T3" fmla="*/ 0 h 21906"/>
                <a:gd name="T4" fmla="*/ 0 w 43200"/>
                <a:gd name="T5" fmla="*/ 0 h 21906"/>
                <a:gd name="T6" fmla="*/ 0 60000 65536"/>
                <a:gd name="T7" fmla="*/ 0 60000 65536"/>
                <a:gd name="T8" fmla="*/ 0 60000 65536"/>
                <a:gd name="T9" fmla="*/ 0 w 43200"/>
                <a:gd name="T10" fmla="*/ 0 h 21906"/>
                <a:gd name="T11" fmla="*/ 43200 w 43200"/>
                <a:gd name="T12" fmla="*/ 21906 h 21906"/>
              </a:gdLst>
              <a:ahLst/>
              <a:cxnLst>
                <a:cxn ang="T6">
                  <a:pos x="T0" y="T1"/>
                </a:cxn>
                <a:cxn ang="T7">
                  <a:pos x="T2" y="T3"/>
                </a:cxn>
                <a:cxn ang="T8">
                  <a:pos x="T4" y="T5"/>
                </a:cxn>
              </a:cxnLst>
              <a:rect l="T9" t="T10" r="T11" b="T12"/>
              <a:pathLst>
                <a:path w="43200" h="21906" fill="none" extrusionOk="0">
                  <a:moveTo>
                    <a:pt x="2" y="21905"/>
                  </a:moveTo>
                  <a:cubicBezTo>
                    <a:pt x="0" y="21804"/>
                    <a:pt x="0" y="21702"/>
                    <a:pt x="0" y="21600"/>
                  </a:cubicBezTo>
                  <a:cubicBezTo>
                    <a:pt x="0" y="9670"/>
                    <a:pt x="9670" y="0"/>
                    <a:pt x="21600" y="0"/>
                  </a:cubicBezTo>
                  <a:cubicBezTo>
                    <a:pt x="33529" y="-1"/>
                    <a:pt x="43199" y="9670"/>
                    <a:pt x="43200" y="21599"/>
                  </a:cubicBezTo>
                </a:path>
                <a:path w="43200" h="21906" stroke="0" extrusionOk="0">
                  <a:moveTo>
                    <a:pt x="2" y="21905"/>
                  </a:moveTo>
                  <a:cubicBezTo>
                    <a:pt x="0" y="21804"/>
                    <a:pt x="0" y="21702"/>
                    <a:pt x="0" y="21600"/>
                  </a:cubicBezTo>
                  <a:cubicBezTo>
                    <a:pt x="0" y="9670"/>
                    <a:pt x="9670" y="0"/>
                    <a:pt x="21600" y="0"/>
                  </a:cubicBezTo>
                  <a:cubicBezTo>
                    <a:pt x="33529" y="-1"/>
                    <a:pt x="43199" y="9670"/>
                    <a:pt x="43200" y="21599"/>
                  </a:cubicBezTo>
                  <a:lnTo>
                    <a:pt x="21600" y="21600"/>
                  </a:lnTo>
                  <a:lnTo>
                    <a:pt x="2" y="21905"/>
                  </a:lnTo>
                  <a:close/>
                </a:path>
              </a:pathLst>
            </a:custGeom>
            <a:solidFill>
              <a:srgbClr val="009999"/>
            </a:solidFill>
            <a:ln w="9525">
              <a:solidFill>
                <a:schemeClr val="tx1"/>
              </a:solidFill>
              <a:round/>
              <a:headEnd/>
              <a:tailEnd/>
            </a:ln>
          </p:spPr>
          <p:txBody>
            <a:bodyPr wrap="none" anchor="ctr"/>
            <a:lstStyle/>
            <a:p>
              <a:endParaRPr lang="zh-CN" altLang="en-US"/>
            </a:p>
          </p:txBody>
        </p:sp>
        <p:grpSp>
          <p:nvGrpSpPr>
            <p:cNvPr id="116758" name="Group 15"/>
            <p:cNvGrpSpPr>
              <a:grpSpLocks/>
            </p:cNvGrpSpPr>
            <p:nvPr/>
          </p:nvGrpSpPr>
          <p:grpSpPr bwMode="auto">
            <a:xfrm>
              <a:off x="884" y="1761"/>
              <a:ext cx="698" cy="311"/>
              <a:chOff x="576" y="1460"/>
              <a:chExt cx="698" cy="311"/>
            </a:xfrm>
          </p:grpSpPr>
          <p:sp>
            <p:nvSpPr>
              <p:cNvPr id="116773" name="Arc 16"/>
              <p:cNvSpPr>
                <a:spLocks/>
              </p:cNvSpPr>
              <p:nvPr/>
            </p:nvSpPr>
            <p:spPr bwMode="auto">
              <a:xfrm rot="-5400000">
                <a:off x="947" y="1565"/>
                <a:ext cx="186" cy="107"/>
              </a:xfrm>
              <a:custGeom>
                <a:avLst/>
                <a:gdLst>
                  <a:gd name="T0" fmla="*/ 0 w 43200"/>
                  <a:gd name="T1" fmla="*/ 0 h 21906"/>
                  <a:gd name="T2" fmla="*/ 0 w 43200"/>
                  <a:gd name="T3" fmla="*/ 0 h 21906"/>
                  <a:gd name="T4" fmla="*/ 0 w 43200"/>
                  <a:gd name="T5" fmla="*/ 0 h 21906"/>
                  <a:gd name="T6" fmla="*/ 0 60000 65536"/>
                  <a:gd name="T7" fmla="*/ 0 60000 65536"/>
                  <a:gd name="T8" fmla="*/ 0 60000 65536"/>
                  <a:gd name="T9" fmla="*/ 0 w 43200"/>
                  <a:gd name="T10" fmla="*/ 0 h 21906"/>
                  <a:gd name="T11" fmla="*/ 43200 w 43200"/>
                  <a:gd name="T12" fmla="*/ 21906 h 21906"/>
                </a:gdLst>
                <a:ahLst/>
                <a:cxnLst>
                  <a:cxn ang="T6">
                    <a:pos x="T0" y="T1"/>
                  </a:cxn>
                  <a:cxn ang="T7">
                    <a:pos x="T2" y="T3"/>
                  </a:cxn>
                  <a:cxn ang="T8">
                    <a:pos x="T4" y="T5"/>
                  </a:cxn>
                </a:cxnLst>
                <a:rect l="T9" t="T10" r="T11" b="T12"/>
                <a:pathLst>
                  <a:path w="43200" h="21906" fill="none" extrusionOk="0">
                    <a:moveTo>
                      <a:pt x="2" y="21905"/>
                    </a:moveTo>
                    <a:cubicBezTo>
                      <a:pt x="0" y="21804"/>
                      <a:pt x="0" y="21702"/>
                      <a:pt x="0" y="21600"/>
                    </a:cubicBezTo>
                    <a:cubicBezTo>
                      <a:pt x="0" y="9670"/>
                      <a:pt x="9670" y="0"/>
                      <a:pt x="21600" y="0"/>
                    </a:cubicBezTo>
                    <a:cubicBezTo>
                      <a:pt x="33529" y="-1"/>
                      <a:pt x="43199" y="9670"/>
                      <a:pt x="43200" y="21599"/>
                    </a:cubicBezTo>
                  </a:path>
                  <a:path w="43200" h="21906" stroke="0" extrusionOk="0">
                    <a:moveTo>
                      <a:pt x="2" y="21905"/>
                    </a:moveTo>
                    <a:cubicBezTo>
                      <a:pt x="0" y="21804"/>
                      <a:pt x="0" y="21702"/>
                      <a:pt x="0" y="21600"/>
                    </a:cubicBezTo>
                    <a:cubicBezTo>
                      <a:pt x="0" y="9670"/>
                      <a:pt x="9670" y="0"/>
                      <a:pt x="21600" y="0"/>
                    </a:cubicBezTo>
                    <a:cubicBezTo>
                      <a:pt x="33529" y="-1"/>
                      <a:pt x="43199" y="9670"/>
                      <a:pt x="43200" y="21599"/>
                    </a:cubicBezTo>
                    <a:lnTo>
                      <a:pt x="21600" y="21600"/>
                    </a:lnTo>
                    <a:lnTo>
                      <a:pt x="2" y="21905"/>
                    </a:lnTo>
                    <a:close/>
                  </a:path>
                </a:pathLst>
              </a:custGeom>
              <a:solidFill>
                <a:schemeClr val="bg1"/>
              </a:solidFill>
              <a:ln w="9525">
                <a:solidFill>
                  <a:schemeClr val="tx1"/>
                </a:solidFill>
                <a:round/>
                <a:headEnd/>
                <a:tailEnd/>
              </a:ln>
            </p:spPr>
            <p:txBody>
              <a:bodyPr wrap="none" anchor="ctr"/>
              <a:lstStyle/>
              <a:p>
                <a:endParaRPr lang="zh-CN" altLang="en-US"/>
              </a:p>
            </p:txBody>
          </p:sp>
          <p:sp>
            <p:nvSpPr>
              <p:cNvPr id="116774" name="Freeform 17"/>
              <p:cNvSpPr>
                <a:spLocks/>
              </p:cNvSpPr>
              <p:nvPr/>
            </p:nvSpPr>
            <p:spPr bwMode="auto">
              <a:xfrm>
                <a:off x="1064" y="1711"/>
                <a:ext cx="210" cy="60"/>
              </a:xfrm>
              <a:custGeom>
                <a:avLst/>
                <a:gdLst>
                  <a:gd name="T0" fmla="*/ 0 w 606"/>
                  <a:gd name="T1" fmla="*/ 0 h 84"/>
                  <a:gd name="T2" fmla="*/ 0 w 606"/>
                  <a:gd name="T3" fmla="*/ 0 h 84"/>
                  <a:gd name="T4" fmla="*/ 0 w 606"/>
                  <a:gd name="T5" fmla="*/ 1 h 84"/>
                  <a:gd name="T6" fmla="*/ 0 w 606"/>
                  <a:gd name="T7" fmla="*/ 1 h 84"/>
                  <a:gd name="T8" fmla="*/ 0 60000 65536"/>
                  <a:gd name="T9" fmla="*/ 0 60000 65536"/>
                  <a:gd name="T10" fmla="*/ 0 60000 65536"/>
                  <a:gd name="T11" fmla="*/ 0 60000 65536"/>
                  <a:gd name="T12" fmla="*/ 0 w 606"/>
                  <a:gd name="T13" fmla="*/ 0 h 84"/>
                  <a:gd name="T14" fmla="*/ 606 w 606"/>
                  <a:gd name="T15" fmla="*/ 84 h 84"/>
                </a:gdLst>
                <a:ahLst/>
                <a:cxnLst>
                  <a:cxn ang="T8">
                    <a:pos x="T0" y="T1"/>
                  </a:cxn>
                  <a:cxn ang="T9">
                    <a:pos x="T2" y="T3"/>
                  </a:cxn>
                  <a:cxn ang="T10">
                    <a:pos x="T4" y="T5"/>
                  </a:cxn>
                  <a:cxn ang="T11">
                    <a:pos x="T6" y="T7"/>
                  </a:cxn>
                </a:cxnLst>
                <a:rect l="T12" t="T13" r="T14" b="T15"/>
                <a:pathLst>
                  <a:path w="606" h="84">
                    <a:moveTo>
                      <a:pt x="6" y="0"/>
                    </a:moveTo>
                    <a:lnTo>
                      <a:pt x="606" y="0"/>
                    </a:lnTo>
                    <a:lnTo>
                      <a:pt x="606" y="84"/>
                    </a:lnTo>
                    <a:lnTo>
                      <a:pt x="0" y="84"/>
                    </a:lnTo>
                  </a:path>
                </a:pathLst>
              </a:custGeom>
              <a:solidFill>
                <a:srgbClr val="009999"/>
              </a:solidFill>
              <a:ln w="9525">
                <a:solidFill>
                  <a:schemeClr val="tx1"/>
                </a:solidFill>
                <a:round/>
                <a:headEnd/>
                <a:tailEnd/>
              </a:ln>
            </p:spPr>
            <p:txBody>
              <a:bodyPr wrap="none" anchor="ctr"/>
              <a:lstStyle/>
              <a:p>
                <a:endParaRPr lang="zh-CN" altLang="en-US"/>
              </a:p>
            </p:txBody>
          </p:sp>
          <p:sp>
            <p:nvSpPr>
              <p:cNvPr id="116775" name="Freeform 18"/>
              <p:cNvSpPr>
                <a:spLocks/>
              </p:cNvSpPr>
              <p:nvPr/>
            </p:nvSpPr>
            <p:spPr bwMode="auto">
              <a:xfrm>
                <a:off x="1064" y="1460"/>
                <a:ext cx="210" cy="66"/>
              </a:xfrm>
              <a:custGeom>
                <a:avLst/>
                <a:gdLst>
                  <a:gd name="T0" fmla="*/ 0 w 606"/>
                  <a:gd name="T1" fmla="*/ 0 h 84"/>
                  <a:gd name="T2" fmla="*/ 0 w 606"/>
                  <a:gd name="T3" fmla="*/ 0 h 84"/>
                  <a:gd name="T4" fmla="*/ 0 w 606"/>
                  <a:gd name="T5" fmla="*/ 3 h 84"/>
                  <a:gd name="T6" fmla="*/ 0 w 606"/>
                  <a:gd name="T7" fmla="*/ 3 h 84"/>
                  <a:gd name="T8" fmla="*/ 0 60000 65536"/>
                  <a:gd name="T9" fmla="*/ 0 60000 65536"/>
                  <a:gd name="T10" fmla="*/ 0 60000 65536"/>
                  <a:gd name="T11" fmla="*/ 0 60000 65536"/>
                  <a:gd name="T12" fmla="*/ 0 w 606"/>
                  <a:gd name="T13" fmla="*/ 0 h 84"/>
                  <a:gd name="T14" fmla="*/ 606 w 606"/>
                  <a:gd name="T15" fmla="*/ 84 h 84"/>
                </a:gdLst>
                <a:ahLst/>
                <a:cxnLst>
                  <a:cxn ang="T8">
                    <a:pos x="T0" y="T1"/>
                  </a:cxn>
                  <a:cxn ang="T9">
                    <a:pos x="T2" y="T3"/>
                  </a:cxn>
                  <a:cxn ang="T10">
                    <a:pos x="T4" y="T5"/>
                  </a:cxn>
                  <a:cxn ang="T11">
                    <a:pos x="T6" y="T7"/>
                  </a:cxn>
                </a:cxnLst>
                <a:rect l="T12" t="T13" r="T14" b="T15"/>
                <a:pathLst>
                  <a:path w="606" h="84">
                    <a:moveTo>
                      <a:pt x="6" y="0"/>
                    </a:moveTo>
                    <a:lnTo>
                      <a:pt x="606" y="0"/>
                    </a:lnTo>
                    <a:lnTo>
                      <a:pt x="606" y="84"/>
                    </a:lnTo>
                    <a:lnTo>
                      <a:pt x="0" y="84"/>
                    </a:lnTo>
                  </a:path>
                </a:pathLst>
              </a:custGeom>
              <a:solidFill>
                <a:srgbClr val="009999"/>
              </a:solidFill>
              <a:ln w="9525">
                <a:solidFill>
                  <a:schemeClr val="tx1"/>
                </a:solidFill>
                <a:round/>
                <a:headEnd/>
                <a:tailEnd/>
              </a:ln>
            </p:spPr>
            <p:txBody>
              <a:bodyPr wrap="none" anchor="ctr"/>
              <a:lstStyle/>
              <a:p>
                <a:endParaRPr lang="zh-CN" altLang="en-US"/>
              </a:p>
            </p:txBody>
          </p:sp>
          <p:sp>
            <p:nvSpPr>
              <p:cNvPr id="116776" name="Rectangle 19"/>
              <p:cNvSpPr>
                <a:spLocks noChangeArrowheads="1"/>
              </p:cNvSpPr>
              <p:nvPr/>
            </p:nvSpPr>
            <p:spPr bwMode="auto">
              <a:xfrm>
                <a:off x="576" y="1586"/>
                <a:ext cx="334" cy="67"/>
              </a:xfrm>
              <a:prstGeom prst="rect">
                <a:avLst/>
              </a:prstGeom>
              <a:solidFill>
                <a:srgbClr val="009999"/>
              </a:solidFill>
              <a:ln w="9525">
                <a:solidFill>
                  <a:schemeClr val="tx1"/>
                </a:solidFill>
                <a:miter lim="800000"/>
                <a:headEnd/>
                <a:tailEnd/>
              </a:ln>
            </p:spPr>
            <p:txBody>
              <a:bodyPr wrap="none" anchor="ctr"/>
              <a:lstStyle/>
              <a:p>
                <a:endParaRPr lang="zh-CN" altLang="en-US"/>
              </a:p>
            </p:txBody>
          </p:sp>
        </p:grpSp>
        <p:sp>
          <p:nvSpPr>
            <p:cNvPr id="116759" name="Rectangle 20"/>
            <p:cNvSpPr>
              <a:spLocks noChangeArrowheads="1"/>
            </p:cNvSpPr>
            <p:nvPr/>
          </p:nvSpPr>
          <p:spPr bwMode="auto">
            <a:xfrm>
              <a:off x="3878" y="2115"/>
              <a:ext cx="267" cy="439"/>
            </a:xfrm>
            <a:prstGeom prst="rect">
              <a:avLst/>
            </a:prstGeom>
            <a:noFill/>
            <a:ln w="9525">
              <a:noFill/>
              <a:miter lim="800000"/>
              <a:headEnd/>
              <a:tailEnd/>
            </a:ln>
          </p:spPr>
          <p:txBody>
            <a:bodyPr wrap="none">
              <a:spAutoFit/>
            </a:bodyPr>
            <a:lstStyle/>
            <a:p>
              <a:r>
                <a:rPr lang="en-US" altLang="zh-CN" b="1" i="1">
                  <a:solidFill>
                    <a:srgbClr val="FF0000"/>
                  </a:solidFill>
                </a:rPr>
                <a:t>B</a:t>
              </a:r>
            </a:p>
          </p:txBody>
        </p:sp>
        <p:grpSp>
          <p:nvGrpSpPr>
            <p:cNvPr id="116760" name="Group 21"/>
            <p:cNvGrpSpPr>
              <a:grpSpLocks/>
            </p:cNvGrpSpPr>
            <p:nvPr/>
          </p:nvGrpSpPr>
          <p:grpSpPr bwMode="auto">
            <a:xfrm>
              <a:off x="1593" y="1943"/>
              <a:ext cx="2539" cy="149"/>
              <a:chOff x="1441" y="1325"/>
              <a:chExt cx="2539" cy="149"/>
            </a:xfrm>
          </p:grpSpPr>
          <p:grpSp>
            <p:nvGrpSpPr>
              <p:cNvPr id="116767" name="Group 22"/>
              <p:cNvGrpSpPr>
                <a:grpSpLocks/>
              </p:cNvGrpSpPr>
              <p:nvPr/>
            </p:nvGrpSpPr>
            <p:grpSpPr bwMode="auto">
              <a:xfrm>
                <a:off x="1457" y="1325"/>
                <a:ext cx="2523" cy="75"/>
                <a:chOff x="1444" y="1344"/>
                <a:chExt cx="4016" cy="114"/>
              </a:xfrm>
            </p:grpSpPr>
            <p:sp>
              <p:nvSpPr>
                <p:cNvPr id="116771" name="Freeform 23"/>
                <p:cNvSpPr>
                  <a:spLocks/>
                </p:cNvSpPr>
                <p:nvPr/>
              </p:nvSpPr>
              <p:spPr bwMode="auto">
                <a:xfrm>
                  <a:off x="1444" y="1344"/>
                  <a:ext cx="2376" cy="114"/>
                </a:xfrm>
                <a:custGeom>
                  <a:avLst/>
                  <a:gdLst>
                    <a:gd name="T0" fmla="*/ 0 w 2376"/>
                    <a:gd name="T1" fmla="*/ 114 h 114"/>
                    <a:gd name="T2" fmla="*/ 396 w 2376"/>
                    <a:gd name="T3" fmla="*/ 0 h 114"/>
                    <a:gd name="T4" fmla="*/ 798 w 2376"/>
                    <a:gd name="T5" fmla="*/ 114 h 114"/>
                    <a:gd name="T6" fmla="*/ 1188 w 2376"/>
                    <a:gd name="T7" fmla="*/ 0 h 114"/>
                    <a:gd name="T8" fmla="*/ 1584 w 2376"/>
                    <a:gd name="T9" fmla="*/ 114 h 114"/>
                    <a:gd name="T10" fmla="*/ 1980 w 2376"/>
                    <a:gd name="T11" fmla="*/ 0 h 114"/>
                    <a:gd name="T12" fmla="*/ 2376 w 2376"/>
                    <a:gd name="T13" fmla="*/ 114 h 114"/>
                    <a:gd name="T14" fmla="*/ 0 60000 65536"/>
                    <a:gd name="T15" fmla="*/ 0 60000 65536"/>
                    <a:gd name="T16" fmla="*/ 0 60000 65536"/>
                    <a:gd name="T17" fmla="*/ 0 60000 65536"/>
                    <a:gd name="T18" fmla="*/ 0 60000 65536"/>
                    <a:gd name="T19" fmla="*/ 0 60000 65536"/>
                    <a:gd name="T20" fmla="*/ 0 60000 65536"/>
                    <a:gd name="T21" fmla="*/ 0 w 2376"/>
                    <a:gd name="T22" fmla="*/ 0 h 114"/>
                    <a:gd name="T23" fmla="*/ 2376 w 2376"/>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76" h="114">
                      <a:moveTo>
                        <a:pt x="0" y="114"/>
                      </a:moveTo>
                      <a:cubicBezTo>
                        <a:pt x="131" y="57"/>
                        <a:pt x="263" y="0"/>
                        <a:pt x="396" y="0"/>
                      </a:cubicBezTo>
                      <a:cubicBezTo>
                        <a:pt x="529" y="0"/>
                        <a:pt x="666" y="114"/>
                        <a:pt x="798" y="114"/>
                      </a:cubicBezTo>
                      <a:cubicBezTo>
                        <a:pt x="930" y="114"/>
                        <a:pt x="1057" y="0"/>
                        <a:pt x="1188" y="0"/>
                      </a:cubicBezTo>
                      <a:cubicBezTo>
                        <a:pt x="1319" y="0"/>
                        <a:pt x="1452" y="114"/>
                        <a:pt x="1584" y="114"/>
                      </a:cubicBezTo>
                      <a:cubicBezTo>
                        <a:pt x="1716" y="114"/>
                        <a:pt x="1848" y="0"/>
                        <a:pt x="1980" y="0"/>
                      </a:cubicBezTo>
                      <a:cubicBezTo>
                        <a:pt x="2112" y="0"/>
                        <a:pt x="2333" y="92"/>
                        <a:pt x="2376" y="114"/>
                      </a:cubicBezTo>
                    </a:path>
                  </a:pathLst>
                </a:custGeom>
                <a:gradFill rotWithShape="0">
                  <a:gsLst>
                    <a:gs pos="0">
                      <a:schemeClr val="accent2"/>
                    </a:gs>
                    <a:gs pos="100000">
                      <a:srgbClr val="9966FF"/>
                    </a:gs>
                  </a:gsLst>
                  <a:lin ang="5400000" scaled="1"/>
                </a:gradFill>
                <a:ln w="28575" cmpd="sng">
                  <a:pattFill prst="wdDnDiag">
                    <a:fgClr>
                      <a:srgbClr val="FFCC99"/>
                    </a:fgClr>
                    <a:bgClr>
                      <a:schemeClr val="hlink"/>
                    </a:bgClr>
                  </a:pattFill>
                  <a:prstDash val="solid"/>
                  <a:round/>
                  <a:headEnd/>
                  <a:tailEnd/>
                </a:ln>
              </p:spPr>
              <p:txBody>
                <a:bodyPr wrap="none" anchor="ctr"/>
                <a:lstStyle/>
                <a:p>
                  <a:endParaRPr lang="zh-CN" altLang="en-US"/>
                </a:p>
              </p:txBody>
            </p:sp>
            <p:sp>
              <p:nvSpPr>
                <p:cNvPr id="116772" name="Freeform 24"/>
                <p:cNvSpPr>
                  <a:spLocks/>
                </p:cNvSpPr>
                <p:nvPr/>
              </p:nvSpPr>
              <p:spPr bwMode="auto">
                <a:xfrm flipH="1">
                  <a:off x="3084" y="1344"/>
                  <a:ext cx="2376" cy="114"/>
                </a:xfrm>
                <a:custGeom>
                  <a:avLst/>
                  <a:gdLst>
                    <a:gd name="T0" fmla="*/ 0 w 2376"/>
                    <a:gd name="T1" fmla="*/ 114 h 114"/>
                    <a:gd name="T2" fmla="*/ 396 w 2376"/>
                    <a:gd name="T3" fmla="*/ 0 h 114"/>
                    <a:gd name="T4" fmla="*/ 798 w 2376"/>
                    <a:gd name="T5" fmla="*/ 114 h 114"/>
                    <a:gd name="T6" fmla="*/ 1188 w 2376"/>
                    <a:gd name="T7" fmla="*/ 0 h 114"/>
                    <a:gd name="T8" fmla="*/ 1584 w 2376"/>
                    <a:gd name="T9" fmla="*/ 114 h 114"/>
                    <a:gd name="T10" fmla="*/ 1980 w 2376"/>
                    <a:gd name="T11" fmla="*/ 0 h 114"/>
                    <a:gd name="T12" fmla="*/ 2376 w 2376"/>
                    <a:gd name="T13" fmla="*/ 114 h 114"/>
                    <a:gd name="T14" fmla="*/ 0 60000 65536"/>
                    <a:gd name="T15" fmla="*/ 0 60000 65536"/>
                    <a:gd name="T16" fmla="*/ 0 60000 65536"/>
                    <a:gd name="T17" fmla="*/ 0 60000 65536"/>
                    <a:gd name="T18" fmla="*/ 0 60000 65536"/>
                    <a:gd name="T19" fmla="*/ 0 60000 65536"/>
                    <a:gd name="T20" fmla="*/ 0 60000 65536"/>
                    <a:gd name="T21" fmla="*/ 0 w 2376"/>
                    <a:gd name="T22" fmla="*/ 0 h 114"/>
                    <a:gd name="T23" fmla="*/ 2376 w 2376"/>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76" h="114">
                      <a:moveTo>
                        <a:pt x="0" y="114"/>
                      </a:moveTo>
                      <a:cubicBezTo>
                        <a:pt x="131" y="57"/>
                        <a:pt x="263" y="0"/>
                        <a:pt x="396" y="0"/>
                      </a:cubicBezTo>
                      <a:cubicBezTo>
                        <a:pt x="529" y="0"/>
                        <a:pt x="666" y="114"/>
                        <a:pt x="798" y="114"/>
                      </a:cubicBezTo>
                      <a:cubicBezTo>
                        <a:pt x="930" y="114"/>
                        <a:pt x="1057" y="0"/>
                        <a:pt x="1188" y="0"/>
                      </a:cubicBezTo>
                      <a:cubicBezTo>
                        <a:pt x="1319" y="0"/>
                        <a:pt x="1452" y="114"/>
                        <a:pt x="1584" y="114"/>
                      </a:cubicBezTo>
                      <a:cubicBezTo>
                        <a:pt x="1716" y="114"/>
                        <a:pt x="1848" y="0"/>
                        <a:pt x="1980" y="0"/>
                      </a:cubicBezTo>
                      <a:cubicBezTo>
                        <a:pt x="2112" y="0"/>
                        <a:pt x="2333" y="92"/>
                        <a:pt x="2376" y="114"/>
                      </a:cubicBezTo>
                    </a:path>
                  </a:pathLst>
                </a:custGeom>
                <a:gradFill rotWithShape="0">
                  <a:gsLst>
                    <a:gs pos="0">
                      <a:schemeClr val="accent2"/>
                    </a:gs>
                    <a:gs pos="100000">
                      <a:srgbClr val="9966FF"/>
                    </a:gs>
                  </a:gsLst>
                  <a:lin ang="5400000" scaled="1"/>
                </a:gradFill>
                <a:ln w="28575" cmpd="sng">
                  <a:pattFill prst="wdDnDiag">
                    <a:fgClr>
                      <a:srgbClr val="FFCC99"/>
                    </a:fgClr>
                    <a:bgClr>
                      <a:schemeClr val="hlink"/>
                    </a:bgClr>
                  </a:pattFill>
                  <a:prstDash val="solid"/>
                  <a:round/>
                  <a:headEnd/>
                  <a:tailEnd/>
                </a:ln>
              </p:spPr>
              <p:txBody>
                <a:bodyPr wrap="none" anchor="ctr"/>
                <a:lstStyle/>
                <a:p>
                  <a:endParaRPr lang="zh-CN" altLang="en-US"/>
                </a:p>
              </p:txBody>
            </p:sp>
          </p:grpSp>
          <p:grpSp>
            <p:nvGrpSpPr>
              <p:cNvPr id="116768" name="Group 25"/>
              <p:cNvGrpSpPr>
                <a:grpSpLocks/>
              </p:cNvGrpSpPr>
              <p:nvPr/>
            </p:nvGrpSpPr>
            <p:grpSpPr bwMode="auto">
              <a:xfrm flipV="1">
                <a:off x="1441" y="1399"/>
                <a:ext cx="2523" cy="75"/>
                <a:chOff x="1444" y="1344"/>
                <a:chExt cx="4016" cy="114"/>
              </a:xfrm>
            </p:grpSpPr>
            <p:sp>
              <p:nvSpPr>
                <p:cNvPr id="116769" name="Freeform 26"/>
                <p:cNvSpPr>
                  <a:spLocks/>
                </p:cNvSpPr>
                <p:nvPr/>
              </p:nvSpPr>
              <p:spPr bwMode="auto">
                <a:xfrm>
                  <a:off x="1444" y="1344"/>
                  <a:ext cx="2376" cy="114"/>
                </a:xfrm>
                <a:custGeom>
                  <a:avLst/>
                  <a:gdLst>
                    <a:gd name="T0" fmla="*/ 0 w 2376"/>
                    <a:gd name="T1" fmla="*/ 114 h 114"/>
                    <a:gd name="T2" fmla="*/ 396 w 2376"/>
                    <a:gd name="T3" fmla="*/ 0 h 114"/>
                    <a:gd name="T4" fmla="*/ 798 w 2376"/>
                    <a:gd name="T5" fmla="*/ 114 h 114"/>
                    <a:gd name="T6" fmla="*/ 1188 w 2376"/>
                    <a:gd name="T7" fmla="*/ 0 h 114"/>
                    <a:gd name="T8" fmla="*/ 1584 w 2376"/>
                    <a:gd name="T9" fmla="*/ 114 h 114"/>
                    <a:gd name="T10" fmla="*/ 1980 w 2376"/>
                    <a:gd name="T11" fmla="*/ 0 h 114"/>
                    <a:gd name="T12" fmla="*/ 2376 w 2376"/>
                    <a:gd name="T13" fmla="*/ 114 h 114"/>
                    <a:gd name="T14" fmla="*/ 0 60000 65536"/>
                    <a:gd name="T15" fmla="*/ 0 60000 65536"/>
                    <a:gd name="T16" fmla="*/ 0 60000 65536"/>
                    <a:gd name="T17" fmla="*/ 0 60000 65536"/>
                    <a:gd name="T18" fmla="*/ 0 60000 65536"/>
                    <a:gd name="T19" fmla="*/ 0 60000 65536"/>
                    <a:gd name="T20" fmla="*/ 0 60000 65536"/>
                    <a:gd name="T21" fmla="*/ 0 w 2376"/>
                    <a:gd name="T22" fmla="*/ 0 h 114"/>
                    <a:gd name="T23" fmla="*/ 2376 w 2376"/>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76" h="114">
                      <a:moveTo>
                        <a:pt x="0" y="114"/>
                      </a:moveTo>
                      <a:cubicBezTo>
                        <a:pt x="131" y="57"/>
                        <a:pt x="263" y="0"/>
                        <a:pt x="396" y="0"/>
                      </a:cubicBezTo>
                      <a:cubicBezTo>
                        <a:pt x="529" y="0"/>
                        <a:pt x="666" y="114"/>
                        <a:pt x="798" y="114"/>
                      </a:cubicBezTo>
                      <a:cubicBezTo>
                        <a:pt x="930" y="114"/>
                        <a:pt x="1057" y="0"/>
                        <a:pt x="1188" y="0"/>
                      </a:cubicBezTo>
                      <a:cubicBezTo>
                        <a:pt x="1319" y="0"/>
                        <a:pt x="1452" y="114"/>
                        <a:pt x="1584" y="114"/>
                      </a:cubicBezTo>
                      <a:cubicBezTo>
                        <a:pt x="1716" y="114"/>
                        <a:pt x="1848" y="0"/>
                        <a:pt x="1980" y="0"/>
                      </a:cubicBezTo>
                      <a:cubicBezTo>
                        <a:pt x="2112" y="0"/>
                        <a:pt x="2333" y="92"/>
                        <a:pt x="2376" y="114"/>
                      </a:cubicBezTo>
                    </a:path>
                  </a:pathLst>
                </a:custGeom>
                <a:gradFill rotWithShape="0">
                  <a:gsLst>
                    <a:gs pos="0">
                      <a:schemeClr val="accent2"/>
                    </a:gs>
                    <a:gs pos="100000">
                      <a:srgbClr val="9966FF"/>
                    </a:gs>
                  </a:gsLst>
                  <a:lin ang="5400000" scaled="1"/>
                </a:gradFill>
                <a:ln w="28575" cmpd="sng">
                  <a:pattFill prst="wdDnDiag">
                    <a:fgClr>
                      <a:srgbClr val="FFCC99"/>
                    </a:fgClr>
                    <a:bgClr>
                      <a:schemeClr val="hlink"/>
                    </a:bgClr>
                  </a:pattFill>
                  <a:prstDash val="solid"/>
                  <a:round/>
                  <a:headEnd/>
                  <a:tailEnd/>
                </a:ln>
              </p:spPr>
              <p:txBody>
                <a:bodyPr wrap="none" anchor="ctr"/>
                <a:lstStyle/>
                <a:p>
                  <a:endParaRPr lang="zh-CN" altLang="en-US"/>
                </a:p>
              </p:txBody>
            </p:sp>
            <p:sp>
              <p:nvSpPr>
                <p:cNvPr id="116770" name="Freeform 27"/>
                <p:cNvSpPr>
                  <a:spLocks/>
                </p:cNvSpPr>
                <p:nvPr/>
              </p:nvSpPr>
              <p:spPr bwMode="auto">
                <a:xfrm flipH="1">
                  <a:off x="3084" y="1344"/>
                  <a:ext cx="2376" cy="114"/>
                </a:xfrm>
                <a:custGeom>
                  <a:avLst/>
                  <a:gdLst>
                    <a:gd name="T0" fmla="*/ 0 w 2376"/>
                    <a:gd name="T1" fmla="*/ 114 h 114"/>
                    <a:gd name="T2" fmla="*/ 396 w 2376"/>
                    <a:gd name="T3" fmla="*/ 0 h 114"/>
                    <a:gd name="T4" fmla="*/ 798 w 2376"/>
                    <a:gd name="T5" fmla="*/ 114 h 114"/>
                    <a:gd name="T6" fmla="*/ 1188 w 2376"/>
                    <a:gd name="T7" fmla="*/ 0 h 114"/>
                    <a:gd name="T8" fmla="*/ 1584 w 2376"/>
                    <a:gd name="T9" fmla="*/ 114 h 114"/>
                    <a:gd name="T10" fmla="*/ 1980 w 2376"/>
                    <a:gd name="T11" fmla="*/ 0 h 114"/>
                    <a:gd name="T12" fmla="*/ 2376 w 2376"/>
                    <a:gd name="T13" fmla="*/ 114 h 114"/>
                    <a:gd name="T14" fmla="*/ 0 60000 65536"/>
                    <a:gd name="T15" fmla="*/ 0 60000 65536"/>
                    <a:gd name="T16" fmla="*/ 0 60000 65536"/>
                    <a:gd name="T17" fmla="*/ 0 60000 65536"/>
                    <a:gd name="T18" fmla="*/ 0 60000 65536"/>
                    <a:gd name="T19" fmla="*/ 0 60000 65536"/>
                    <a:gd name="T20" fmla="*/ 0 60000 65536"/>
                    <a:gd name="T21" fmla="*/ 0 w 2376"/>
                    <a:gd name="T22" fmla="*/ 0 h 114"/>
                    <a:gd name="T23" fmla="*/ 2376 w 2376"/>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76" h="114">
                      <a:moveTo>
                        <a:pt x="0" y="114"/>
                      </a:moveTo>
                      <a:cubicBezTo>
                        <a:pt x="131" y="57"/>
                        <a:pt x="263" y="0"/>
                        <a:pt x="396" y="0"/>
                      </a:cubicBezTo>
                      <a:cubicBezTo>
                        <a:pt x="529" y="0"/>
                        <a:pt x="666" y="114"/>
                        <a:pt x="798" y="114"/>
                      </a:cubicBezTo>
                      <a:cubicBezTo>
                        <a:pt x="930" y="114"/>
                        <a:pt x="1057" y="0"/>
                        <a:pt x="1188" y="0"/>
                      </a:cubicBezTo>
                      <a:cubicBezTo>
                        <a:pt x="1319" y="0"/>
                        <a:pt x="1452" y="114"/>
                        <a:pt x="1584" y="114"/>
                      </a:cubicBezTo>
                      <a:cubicBezTo>
                        <a:pt x="1716" y="114"/>
                        <a:pt x="1848" y="0"/>
                        <a:pt x="1980" y="0"/>
                      </a:cubicBezTo>
                      <a:cubicBezTo>
                        <a:pt x="2112" y="0"/>
                        <a:pt x="2333" y="92"/>
                        <a:pt x="2376" y="114"/>
                      </a:cubicBezTo>
                    </a:path>
                  </a:pathLst>
                </a:custGeom>
                <a:gradFill rotWithShape="0">
                  <a:gsLst>
                    <a:gs pos="0">
                      <a:schemeClr val="accent2"/>
                    </a:gs>
                    <a:gs pos="100000">
                      <a:srgbClr val="9966FF"/>
                    </a:gs>
                  </a:gsLst>
                  <a:lin ang="5400000" scaled="1"/>
                </a:gradFill>
                <a:ln w="28575" cmpd="sng">
                  <a:pattFill prst="wdDnDiag">
                    <a:fgClr>
                      <a:srgbClr val="FFCC99"/>
                    </a:fgClr>
                    <a:bgClr>
                      <a:schemeClr val="hlink"/>
                    </a:bgClr>
                  </a:pattFill>
                  <a:prstDash val="solid"/>
                  <a:round/>
                  <a:headEnd/>
                  <a:tailEnd/>
                </a:ln>
              </p:spPr>
              <p:txBody>
                <a:bodyPr wrap="none" anchor="ctr"/>
                <a:lstStyle/>
                <a:p>
                  <a:endParaRPr lang="zh-CN" altLang="en-US"/>
                </a:p>
              </p:txBody>
            </p:sp>
          </p:grpSp>
        </p:grpSp>
        <p:sp>
          <p:nvSpPr>
            <p:cNvPr id="63516" name="Oval 28"/>
            <p:cNvSpPr>
              <a:spLocks noChangeArrowheads="1"/>
            </p:cNvSpPr>
            <p:nvPr/>
          </p:nvSpPr>
          <p:spPr bwMode="auto">
            <a:xfrm>
              <a:off x="4359" y="2074"/>
              <a:ext cx="155" cy="155"/>
            </a:xfrm>
            <a:prstGeom prst="ellipse">
              <a:avLst/>
            </a:prstGeom>
            <a:gradFill rotWithShape="0">
              <a:gsLst>
                <a:gs pos="0">
                  <a:schemeClr val="folHlink"/>
                </a:gs>
                <a:gs pos="100000">
                  <a:schemeClr val="folHlink">
                    <a:gamma/>
                    <a:shade val="46275"/>
                    <a:invGamma/>
                  </a:schemeClr>
                </a:gs>
              </a:gsLst>
              <a:path path="shape">
                <a:fillToRect l="50000" t="50000" r="50000" b="50000"/>
              </a:path>
            </a:gradFill>
            <a:ln w="19050">
              <a:round/>
              <a:headEnd/>
              <a:tailEnd/>
            </a:ln>
            <a:effectLst/>
            <a:scene3d>
              <a:camera prst="legacyPerspectiveFront">
                <a:rot lat="1500000" lon="1500000" rev="0"/>
              </a:camera>
              <a:lightRig rig="legacyFlat2" dir="b"/>
            </a:scene3d>
            <a:sp3d extrusionH="430200" prstMaterial="legacyMatte">
              <a:bevelT w="13500" h="13500" prst="angle"/>
              <a:bevelB w="13500" h="13500" prst="angle"/>
              <a:extrusionClr>
                <a:schemeClr val="folHlink"/>
              </a:extrusionClr>
            </a:sp3d>
          </p:spPr>
          <p:txBody>
            <a:bodyPr wrap="none" anchor="ctr">
              <a:flatTx/>
            </a:bodyPr>
            <a:lstStyle/>
            <a:p>
              <a:pPr>
                <a:defRPr/>
              </a:pPr>
              <a:endParaRPr lang="zh-CN" altLang="en-US">
                <a:ea typeface="宋体" pitchFamily="2" charset="-122"/>
              </a:endParaRPr>
            </a:p>
          </p:txBody>
        </p:sp>
        <p:sp>
          <p:nvSpPr>
            <p:cNvPr id="116762" name="Rectangle 31"/>
            <p:cNvSpPr>
              <a:spLocks noChangeArrowheads="1"/>
            </p:cNvSpPr>
            <p:nvPr/>
          </p:nvSpPr>
          <p:spPr bwMode="auto">
            <a:xfrm>
              <a:off x="4294" y="1706"/>
              <a:ext cx="255" cy="439"/>
            </a:xfrm>
            <a:prstGeom prst="rect">
              <a:avLst/>
            </a:prstGeom>
            <a:noFill/>
            <a:ln w="9525">
              <a:noFill/>
              <a:miter lim="800000"/>
              <a:headEnd/>
              <a:tailEnd/>
            </a:ln>
          </p:spPr>
          <p:txBody>
            <a:bodyPr wrap="none">
              <a:spAutoFit/>
            </a:bodyPr>
            <a:lstStyle/>
            <a:p>
              <a:r>
                <a:rPr lang="en-US" altLang="zh-CN" b="1" i="1"/>
                <a:t>P</a:t>
              </a:r>
            </a:p>
          </p:txBody>
        </p:sp>
        <p:sp>
          <p:nvSpPr>
            <p:cNvPr id="116763" name="AutoShape 32" descr="白色大理石"/>
            <p:cNvSpPr>
              <a:spLocks noChangeArrowheads="1"/>
            </p:cNvSpPr>
            <p:nvPr/>
          </p:nvSpPr>
          <p:spPr bwMode="auto">
            <a:xfrm>
              <a:off x="4377" y="2479"/>
              <a:ext cx="327" cy="466"/>
            </a:xfrm>
            <a:prstGeom prst="cube">
              <a:avLst>
                <a:gd name="adj" fmla="val 25000"/>
              </a:avLst>
            </a:prstGeom>
            <a:blipFill dpi="0" rotWithShape="0">
              <a:blip r:embed="rId2"/>
              <a:srcRect/>
              <a:tile tx="0" ty="0" sx="100000" sy="100000" flip="none" algn="tl"/>
            </a:blipFill>
            <a:ln w="38100">
              <a:solidFill>
                <a:srgbClr val="009999"/>
              </a:solidFill>
              <a:miter lim="800000"/>
              <a:headEnd/>
              <a:tailEnd/>
            </a:ln>
          </p:spPr>
          <p:txBody>
            <a:bodyPr wrap="none" anchor="ctr"/>
            <a:lstStyle/>
            <a:p>
              <a:endParaRPr lang="zh-CN" altLang="en-US"/>
            </a:p>
          </p:txBody>
        </p:sp>
        <p:sp>
          <p:nvSpPr>
            <p:cNvPr id="116764" name="Line 33"/>
            <p:cNvSpPr>
              <a:spLocks noChangeShapeType="1"/>
            </p:cNvSpPr>
            <p:nvPr/>
          </p:nvSpPr>
          <p:spPr bwMode="auto">
            <a:xfrm flipH="1">
              <a:off x="4538" y="2097"/>
              <a:ext cx="1" cy="435"/>
            </a:xfrm>
            <a:prstGeom prst="line">
              <a:avLst/>
            </a:prstGeom>
            <a:noFill/>
            <a:ln w="38100">
              <a:solidFill>
                <a:schemeClr val="accent2"/>
              </a:solidFill>
              <a:round/>
              <a:headEnd/>
              <a:tailEnd/>
            </a:ln>
          </p:spPr>
          <p:txBody>
            <a:bodyPr wrap="none" anchor="ctr"/>
            <a:lstStyle/>
            <a:p>
              <a:endParaRPr lang="zh-CN" altLang="en-US"/>
            </a:p>
          </p:txBody>
        </p:sp>
        <p:sp>
          <p:nvSpPr>
            <p:cNvPr id="116765" name="Freeform 34"/>
            <p:cNvSpPr>
              <a:spLocks/>
            </p:cNvSpPr>
            <p:nvPr/>
          </p:nvSpPr>
          <p:spPr bwMode="auto">
            <a:xfrm>
              <a:off x="4428" y="2016"/>
              <a:ext cx="118" cy="90"/>
            </a:xfrm>
            <a:custGeom>
              <a:avLst/>
              <a:gdLst>
                <a:gd name="T0" fmla="*/ 0 w 118"/>
                <a:gd name="T1" fmla="*/ 14 h 90"/>
                <a:gd name="T2" fmla="*/ 99 w 118"/>
                <a:gd name="T3" fmla="*/ 13 h 90"/>
                <a:gd name="T4" fmla="*/ 112 w 118"/>
                <a:gd name="T5" fmla="*/ 90 h 90"/>
                <a:gd name="T6" fmla="*/ 0 60000 65536"/>
                <a:gd name="T7" fmla="*/ 0 60000 65536"/>
                <a:gd name="T8" fmla="*/ 0 60000 65536"/>
                <a:gd name="T9" fmla="*/ 0 w 118"/>
                <a:gd name="T10" fmla="*/ 0 h 90"/>
                <a:gd name="T11" fmla="*/ 118 w 118"/>
                <a:gd name="T12" fmla="*/ 90 h 90"/>
              </a:gdLst>
              <a:ahLst/>
              <a:cxnLst>
                <a:cxn ang="T6">
                  <a:pos x="T0" y="T1"/>
                </a:cxn>
                <a:cxn ang="T7">
                  <a:pos x="T2" y="T3"/>
                </a:cxn>
                <a:cxn ang="T8">
                  <a:pos x="T4" y="T5"/>
                </a:cxn>
              </a:cxnLst>
              <a:rect l="T9" t="T10" r="T11" b="T12"/>
              <a:pathLst>
                <a:path w="118" h="90">
                  <a:moveTo>
                    <a:pt x="0" y="14"/>
                  </a:moveTo>
                  <a:cubicBezTo>
                    <a:pt x="0" y="28"/>
                    <a:pt x="80" y="0"/>
                    <a:pt x="99" y="13"/>
                  </a:cubicBezTo>
                  <a:cubicBezTo>
                    <a:pt x="118" y="26"/>
                    <a:pt x="112" y="72"/>
                    <a:pt x="112" y="90"/>
                  </a:cubicBezTo>
                </a:path>
              </a:pathLst>
            </a:custGeom>
            <a:noFill/>
            <a:ln w="38100" cap="flat" cmpd="sng">
              <a:solidFill>
                <a:schemeClr val="accent2"/>
              </a:solidFill>
              <a:prstDash val="solid"/>
              <a:round/>
              <a:headEnd type="none" w="med" len="med"/>
              <a:tailEnd type="none" w="med" len="med"/>
            </a:ln>
          </p:spPr>
          <p:txBody>
            <a:bodyPr wrap="none" anchor="ctr"/>
            <a:lstStyle/>
            <a:p>
              <a:endParaRPr lang="zh-CN" altLang="en-US"/>
            </a:p>
          </p:txBody>
        </p:sp>
        <p:sp>
          <p:nvSpPr>
            <p:cNvPr id="116766" name="Rectangle 35"/>
            <p:cNvSpPr>
              <a:spLocks noChangeArrowheads="1"/>
            </p:cNvSpPr>
            <p:nvPr/>
          </p:nvSpPr>
          <p:spPr bwMode="auto">
            <a:xfrm>
              <a:off x="1338" y="2138"/>
              <a:ext cx="267" cy="439"/>
            </a:xfrm>
            <a:prstGeom prst="rect">
              <a:avLst/>
            </a:prstGeom>
            <a:noFill/>
            <a:ln w="9525">
              <a:noFill/>
              <a:miter lim="800000"/>
              <a:headEnd/>
              <a:tailEnd/>
            </a:ln>
          </p:spPr>
          <p:txBody>
            <a:bodyPr wrap="none">
              <a:spAutoFit/>
            </a:bodyPr>
            <a:lstStyle/>
            <a:p>
              <a:r>
                <a:rPr lang="en-US" altLang="zh-CN" b="1" i="1">
                  <a:solidFill>
                    <a:srgbClr val="FF0000"/>
                  </a:solidFill>
                </a:rPr>
                <a:t>A</a:t>
              </a:r>
            </a:p>
          </p:txBody>
        </p:sp>
      </p:grpSp>
      <p:grpSp>
        <p:nvGrpSpPr>
          <p:cNvPr id="7" name="Group 36"/>
          <p:cNvGrpSpPr>
            <a:grpSpLocks/>
          </p:cNvGrpSpPr>
          <p:nvPr/>
        </p:nvGrpSpPr>
        <p:grpSpPr bwMode="auto">
          <a:xfrm>
            <a:off x="2765425" y="1765300"/>
            <a:ext cx="3292475" cy="377825"/>
            <a:chOff x="1541" y="1588"/>
            <a:chExt cx="2074" cy="317"/>
          </a:xfrm>
        </p:grpSpPr>
        <p:sp>
          <p:nvSpPr>
            <p:cNvPr id="116750" name="Line 37"/>
            <p:cNvSpPr>
              <a:spLocks noChangeShapeType="1"/>
            </p:cNvSpPr>
            <p:nvPr/>
          </p:nvSpPr>
          <p:spPr bwMode="auto">
            <a:xfrm flipH="1">
              <a:off x="1541" y="1592"/>
              <a:ext cx="12" cy="300"/>
            </a:xfrm>
            <a:prstGeom prst="line">
              <a:avLst/>
            </a:prstGeom>
            <a:noFill/>
            <a:ln w="38100">
              <a:solidFill>
                <a:srgbClr val="FF0000"/>
              </a:solidFill>
              <a:prstDash val="dash"/>
              <a:round/>
              <a:headEnd/>
              <a:tailEnd/>
            </a:ln>
          </p:spPr>
          <p:txBody>
            <a:bodyPr wrap="none" anchor="ctr"/>
            <a:lstStyle/>
            <a:p>
              <a:endParaRPr lang="zh-CN" altLang="en-US"/>
            </a:p>
          </p:txBody>
        </p:sp>
        <p:sp>
          <p:nvSpPr>
            <p:cNvPr id="116751" name="Line 38"/>
            <p:cNvSpPr>
              <a:spLocks noChangeShapeType="1"/>
            </p:cNvSpPr>
            <p:nvPr/>
          </p:nvSpPr>
          <p:spPr bwMode="auto">
            <a:xfrm flipH="1">
              <a:off x="2088" y="1588"/>
              <a:ext cx="12" cy="300"/>
            </a:xfrm>
            <a:prstGeom prst="line">
              <a:avLst/>
            </a:prstGeom>
            <a:noFill/>
            <a:ln w="38100">
              <a:solidFill>
                <a:srgbClr val="FF0000"/>
              </a:solidFill>
              <a:prstDash val="dash"/>
              <a:round/>
              <a:headEnd/>
              <a:tailEnd/>
            </a:ln>
          </p:spPr>
          <p:txBody>
            <a:bodyPr wrap="none" anchor="ctr"/>
            <a:lstStyle/>
            <a:p>
              <a:endParaRPr lang="zh-CN" altLang="en-US"/>
            </a:p>
          </p:txBody>
        </p:sp>
        <p:sp>
          <p:nvSpPr>
            <p:cNvPr id="116752" name="Line 39"/>
            <p:cNvSpPr>
              <a:spLocks noChangeShapeType="1"/>
            </p:cNvSpPr>
            <p:nvPr/>
          </p:nvSpPr>
          <p:spPr bwMode="auto">
            <a:xfrm flipH="1">
              <a:off x="2585" y="1596"/>
              <a:ext cx="12" cy="300"/>
            </a:xfrm>
            <a:prstGeom prst="line">
              <a:avLst/>
            </a:prstGeom>
            <a:noFill/>
            <a:ln w="38100">
              <a:solidFill>
                <a:srgbClr val="FF0000"/>
              </a:solidFill>
              <a:prstDash val="dash"/>
              <a:round/>
              <a:headEnd/>
              <a:tailEnd/>
            </a:ln>
          </p:spPr>
          <p:txBody>
            <a:bodyPr wrap="none" anchor="ctr"/>
            <a:lstStyle/>
            <a:p>
              <a:endParaRPr lang="zh-CN" altLang="en-US"/>
            </a:p>
          </p:txBody>
        </p:sp>
        <p:sp>
          <p:nvSpPr>
            <p:cNvPr id="116753" name="Line 40"/>
            <p:cNvSpPr>
              <a:spLocks noChangeShapeType="1"/>
            </p:cNvSpPr>
            <p:nvPr/>
          </p:nvSpPr>
          <p:spPr bwMode="auto">
            <a:xfrm flipH="1">
              <a:off x="3081" y="1605"/>
              <a:ext cx="12" cy="300"/>
            </a:xfrm>
            <a:prstGeom prst="line">
              <a:avLst/>
            </a:prstGeom>
            <a:noFill/>
            <a:ln w="38100">
              <a:solidFill>
                <a:srgbClr val="FF0000"/>
              </a:solidFill>
              <a:prstDash val="dash"/>
              <a:round/>
              <a:headEnd/>
              <a:tailEnd/>
            </a:ln>
          </p:spPr>
          <p:txBody>
            <a:bodyPr wrap="none" anchor="ctr"/>
            <a:lstStyle/>
            <a:p>
              <a:endParaRPr lang="zh-CN" altLang="en-US"/>
            </a:p>
          </p:txBody>
        </p:sp>
        <p:sp>
          <p:nvSpPr>
            <p:cNvPr id="116754" name="Line 41"/>
            <p:cNvSpPr>
              <a:spLocks noChangeShapeType="1"/>
            </p:cNvSpPr>
            <p:nvPr/>
          </p:nvSpPr>
          <p:spPr bwMode="auto">
            <a:xfrm flipH="1">
              <a:off x="3603" y="1600"/>
              <a:ext cx="12" cy="300"/>
            </a:xfrm>
            <a:prstGeom prst="line">
              <a:avLst/>
            </a:prstGeom>
            <a:noFill/>
            <a:ln w="38100">
              <a:solidFill>
                <a:srgbClr val="FF0000"/>
              </a:solidFill>
              <a:prstDash val="dash"/>
              <a:round/>
              <a:headEnd/>
              <a:tailEnd/>
            </a:ln>
          </p:spPr>
          <p:txBody>
            <a:bodyPr wrap="none" anchor="ctr"/>
            <a:lstStyle/>
            <a:p>
              <a:endParaRPr lang="zh-CN" altLang="en-US"/>
            </a:p>
          </p:txBody>
        </p:sp>
      </p:grpSp>
      <p:grpSp>
        <p:nvGrpSpPr>
          <p:cNvPr id="8" name="Group 2078"/>
          <p:cNvGrpSpPr>
            <a:grpSpLocks/>
          </p:cNvGrpSpPr>
          <p:nvPr/>
        </p:nvGrpSpPr>
        <p:grpSpPr bwMode="auto">
          <a:xfrm>
            <a:off x="2359025" y="1874838"/>
            <a:ext cx="4084638" cy="120650"/>
            <a:chOff x="1548" y="2738"/>
            <a:chExt cx="2573" cy="102"/>
          </a:xfrm>
        </p:grpSpPr>
        <p:sp>
          <p:nvSpPr>
            <p:cNvPr id="63531" name="Oval 43"/>
            <p:cNvSpPr>
              <a:spLocks noChangeArrowheads="1"/>
            </p:cNvSpPr>
            <p:nvPr/>
          </p:nvSpPr>
          <p:spPr bwMode="auto">
            <a:xfrm flipV="1">
              <a:off x="4059" y="2739"/>
              <a:ext cx="62" cy="101"/>
            </a:xfrm>
            <a:prstGeom prst="ellipse">
              <a:avLst/>
            </a:prstGeom>
            <a:gradFill rotWithShape="0">
              <a:gsLst>
                <a:gs pos="0">
                  <a:schemeClr val="accent2">
                    <a:gamma/>
                    <a:tint val="0"/>
                    <a:invGamma/>
                  </a:schemeClr>
                </a:gs>
                <a:gs pos="100000">
                  <a:schemeClr val="accent2"/>
                </a:gs>
              </a:gsLst>
              <a:path path="shape">
                <a:fillToRect l="50000" t="50000" r="50000" b="50000"/>
              </a:path>
            </a:gradFill>
            <a:ln w="38100">
              <a:solidFill>
                <a:schemeClr val="accent2"/>
              </a:solidFill>
              <a:round/>
              <a:headEnd/>
              <a:tailEnd/>
            </a:ln>
            <a:effectLst/>
          </p:spPr>
          <p:txBody>
            <a:bodyPr wrap="none" anchor="ctr"/>
            <a:lstStyle/>
            <a:p>
              <a:pPr>
                <a:defRPr/>
              </a:pPr>
              <a:endParaRPr lang="zh-CN" altLang="en-US">
                <a:ea typeface="宋体" pitchFamily="2" charset="-122"/>
              </a:endParaRPr>
            </a:p>
          </p:txBody>
        </p:sp>
        <p:sp>
          <p:nvSpPr>
            <p:cNvPr id="63532" name="Oval 44"/>
            <p:cNvSpPr>
              <a:spLocks noChangeArrowheads="1"/>
            </p:cNvSpPr>
            <p:nvPr/>
          </p:nvSpPr>
          <p:spPr bwMode="auto">
            <a:xfrm flipV="1">
              <a:off x="3588" y="2739"/>
              <a:ext cx="63" cy="101"/>
            </a:xfrm>
            <a:prstGeom prst="ellipse">
              <a:avLst/>
            </a:prstGeom>
            <a:gradFill rotWithShape="0">
              <a:gsLst>
                <a:gs pos="0">
                  <a:schemeClr val="accent2">
                    <a:gamma/>
                    <a:tint val="0"/>
                    <a:invGamma/>
                  </a:schemeClr>
                </a:gs>
                <a:gs pos="100000">
                  <a:schemeClr val="accent2"/>
                </a:gs>
              </a:gsLst>
              <a:path path="shape">
                <a:fillToRect l="50000" t="50000" r="50000" b="50000"/>
              </a:path>
            </a:gradFill>
            <a:ln w="38100">
              <a:solidFill>
                <a:schemeClr val="accent2"/>
              </a:solidFill>
              <a:round/>
              <a:headEnd/>
              <a:tailEnd/>
            </a:ln>
            <a:effectLst/>
          </p:spPr>
          <p:txBody>
            <a:bodyPr wrap="none" anchor="ctr"/>
            <a:lstStyle/>
            <a:p>
              <a:pPr>
                <a:defRPr/>
              </a:pPr>
              <a:endParaRPr lang="zh-CN" altLang="en-US">
                <a:ea typeface="宋体" pitchFamily="2" charset="-122"/>
              </a:endParaRPr>
            </a:p>
          </p:txBody>
        </p:sp>
        <p:sp>
          <p:nvSpPr>
            <p:cNvPr id="63533" name="Oval 45"/>
            <p:cNvSpPr>
              <a:spLocks noChangeArrowheads="1"/>
            </p:cNvSpPr>
            <p:nvPr/>
          </p:nvSpPr>
          <p:spPr bwMode="auto">
            <a:xfrm flipV="1">
              <a:off x="3089" y="2739"/>
              <a:ext cx="63" cy="101"/>
            </a:xfrm>
            <a:prstGeom prst="ellipse">
              <a:avLst/>
            </a:prstGeom>
            <a:gradFill rotWithShape="0">
              <a:gsLst>
                <a:gs pos="0">
                  <a:schemeClr val="accent2">
                    <a:gamma/>
                    <a:tint val="0"/>
                    <a:invGamma/>
                  </a:schemeClr>
                </a:gs>
                <a:gs pos="100000">
                  <a:schemeClr val="accent2"/>
                </a:gs>
              </a:gsLst>
              <a:path path="shape">
                <a:fillToRect l="50000" t="50000" r="50000" b="50000"/>
              </a:path>
            </a:gradFill>
            <a:ln w="38100">
              <a:solidFill>
                <a:schemeClr val="accent2"/>
              </a:solidFill>
              <a:round/>
              <a:headEnd/>
              <a:tailEnd/>
            </a:ln>
            <a:effectLst/>
          </p:spPr>
          <p:txBody>
            <a:bodyPr wrap="none" anchor="ctr"/>
            <a:lstStyle/>
            <a:p>
              <a:pPr>
                <a:defRPr/>
              </a:pPr>
              <a:endParaRPr lang="zh-CN" altLang="en-US">
                <a:ea typeface="宋体" pitchFamily="2" charset="-122"/>
              </a:endParaRPr>
            </a:p>
          </p:txBody>
        </p:sp>
        <p:sp>
          <p:nvSpPr>
            <p:cNvPr id="63534" name="Oval 46"/>
            <p:cNvSpPr>
              <a:spLocks noChangeArrowheads="1"/>
            </p:cNvSpPr>
            <p:nvPr/>
          </p:nvSpPr>
          <p:spPr bwMode="auto">
            <a:xfrm flipV="1">
              <a:off x="2545" y="2739"/>
              <a:ext cx="63" cy="101"/>
            </a:xfrm>
            <a:prstGeom prst="ellipse">
              <a:avLst/>
            </a:prstGeom>
            <a:gradFill rotWithShape="0">
              <a:gsLst>
                <a:gs pos="0">
                  <a:schemeClr val="accent2">
                    <a:gamma/>
                    <a:tint val="0"/>
                    <a:invGamma/>
                  </a:schemeClr>
                </a:gs>
                <a:gs pos="100000">
                  <a:schemeClr val="accent2"/>
                </a:gs>
              </a:gsLst>
              <a:path path="shape">
                <a:fillToRect l="50000" t="50000" r="50000" b="50000"/>
              </a:path>
            </a:gradFill>
            <a:ln w="38100">
              <a:solidFill>
                <a:schemeClr val="accent2"/>
              </a:solidFill>
              <a:round/>
              <a:headEnd/>
              <a:tailEnd/>
            </a:ln>
            <a:effectLst/>
          </p:spPr>
          <p:txBody>
            <a:bodyPr wrap="none" anchor="ctr"/>
            <a:lstStyle/>
            <a:p>
              <a:pPr>
                <a:defRPr/>
              </a:pPr>
              <a:endParaRPr lang="zh-CN" altLang="en-US">
                <a:ea typeface="宋体" pitchFamily="2" charset="-122"/>
              </a:endParaRPr>
            </a:p>
          </p:txBody>
        </p:sp>
        <p:sp>
          <p:nvSpPr>
            <p:cNvPr id="63535" name="Oval 47"/>
            <p:cNvSpPr>
              <a:spLocks noChangeArrowheads="1"/>
            </p:cNvSpPr>
            <p:nvPr/>
          </p:nvSpPr>
          <p:spPr bwMode="auto">
            <a:xfrm flipV="1">
              <a:off x="2064" y="2738"/>
              <a:ext cx="62" cy="102"/>
            </a:xfrm>
            <a:prstGeom prst="ellipse">
              <a:avLst/>
            </a:prstGeom>
            <a:gradFill rotWithShape="0">
              <a:gsLst>
                <a:gs pos="0">
                  <a:schemeClr val="accent2">
                    <a:gamma/>
                    <a:tint val="0"/>
                    <a:invGamma/>
                  </a:schemeClr>
                </a:gs>
                <a:gs pos="100000">
                  <a:schemeClr val="accent2"/>
                </a:gs>
              </a:gsLst>
              <a:path path="shape">
                <a:fillToRect l="50000" t="50000" r="50000" b="50000"/>
              </a:path>
            </a:gradFill>
            <a:ln w="38100">
              <a:solidFill>
                <a:schemeClr val="accent2"/>
              </a:solidFill>
              <a:round/>
              <a:headEnd/>
              <a:tailEnd/>
            </a:ln>
            <a:effectLst/>
          </p:spPr>
          <p:txBody>
            <a:bodyPr wrap="none" anchor="ctr"/>
            <a:lstStyle/>
            <a:p>
              <a:pPr>
                <a:defRPr/>
              </a:pPr>
              <a:endParaRPr lang="zh-CN" altLang="en-US">
                <a:ea typeface="宋体" pitchFamily="2" charset="-122"/>
              </a:endParaRPr>
            </a:p>
          </p:txBody>
        </p:sp>
        <p:sp>
          <p:nvSpPr>
            <p:cNvPr id="63536" name="Oval 48"/>
            <p:cNvSpPr>
              <a:spLocks noChangeArrowheads="1"/>
            </p:cNvSpPr>
            <p:nvPr/>
          </p:nvSpPr>
          <p:spPr bwMode="auto">
            <a:xfrm flipV="1">
              <a:off x="1548" y="2739"/>
              <a:ext cx="62" cy="101"/>
            </a:xfrm>
            <a:prstGeom prst="ellipse">
              <a:avLst/>
            </a:prstGeom>
            <a:gradFill rotWithShape="0">
              <a:gsLst>
                <a:gs pos="0">
                  <a:schemeClr val="accent2">
                    <a:gamma/>
                    <a:tint val="0"/>
                    <a:invGamma/>
                  </a:schemeClr>
                </a:gs>
                <a:gs pos="100000">
                  <a:schemeClr val="accent2"/>
                </a:gs>
              </a:gsLst>
              <a:path path="shape">
                <a:fillToRect l="50000" t="50000" r="50000" b="50000"/>
              </a:path>
            </a:gradFill>
            <a:ln w="38100">
              <a:solidFill>
                <a:schemeClr val="accent2"/>
              </a:solidFill>
              <a:round/>
              <a:headEnd/>
              <a:tailEnd/>
            </a:ln>
            <a:effectLst/>
          </p:spPr>
          <p:txBody>
            <a:bodyPr wrap="none" anchor="ctr"/>
            <a:lstStyle/>
            <a:p>
              <a:pPr>
                <a:defRPr/>
              </a:pPr>
              <a:endParaRPr lang="zh-CN" altLang="en-US">
                <a:ea typeface="宋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517"/>
                                        </p:tgtEl>
                                        <p:attrNameLst>
                                          <p:attrName>style.visibility</p:attrName>
                                        </p:attrNameLst>
                                      </p:cBhvr>
                                      <p:to>
                                        <p:strVal val="visible"/>
                                      </p:to>
                                    </p:set>
                                    <p:animEffect transition="in" filter="blinds(horizontal)">
                                      <p:cBhvr>
                                        <p:cTn id="7" dur="500"/>
                                        <p:tgtEl>
                                          <p:spTgt spid="635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63495">
                                            <p:txEl>
                                              <p:pRg st="0" end="0"/>
                                            </p:txEl>
                                          </p:spTgt>
                                        </p:tgtEl>
                                        <p:attrNameLst>
                                          <p:attrName>style.visibility</p:attrName>
                                        </p:attrNameLst>
                                      </p:cBhvr>
                                      <p:to>
                                        <p:strVal val="visible"/>
                                      </p:to>
                                    </p:set>
                                    <p:animEffect transition="in" filter="barn(outVertical)">
                                      <p:cBhvr>
                                        <p:cTn id="17" dur="500"/>
                                        <p:tgtEl>
                                          <p:spTgt spid="6349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37" fill="hold" grpId="0" nodeType="clickEffect">
                                  <p:stCondLst>
                                    <p:cond delay="0"/>
                                  </p:stCondLst>
                                  <p:childTnLst>
                                    <p:set>
                                      <p:cBhvr>
                                        <p:cTn id="26" dur="1" fill="hold">
                                          <p:stCondLst>
                                            <p:cond delay="0"/>
                                          </p:stCondLst>
                                        </p:cTn>
                                        <p:tgtEl>
                                          <p:spTgt spid="63491">
                                            <p:txEl>
                                              <p:pRg st="0" end="0"/>
                                            </p:txEl>
                                          </p:spTgt>
                                        </p:tgtEl>
                                        <p:attrNameLst>
                                          <p:attrName>style.visibility</p:attrName>
                                        </p:attrNameLst>
                                      </p:cBhvr>
                                      <p:to>
                                        <p:strVal val="visible"/>
                                      </p:to>
                                    </p:set>
                                    <p:animEffect transition="in" filter="barn(outVertical)">
                                      <p:cBhvr>
                                        <p:cTn id="27" dur="500"/>
                                        <p:tgtEl>
                                          <p:spTgt spid="63491">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up)">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63494">
                                            <p:txEl>
                                              <p:pRg st="0" end="0"/>
                                            </p:txEl>
                                          </p:spTgt>
                                        </p:tgtEl>
                                        <p:attrNameLst>
                                          <p:attrName>style.visibility</p:attrName>
                                        </p:attrNameLst>
                                      </p:cBhvr>
                                      <p:to>
                                        <p:strVal val="visible"/>
                                      </p:to>
                                    </p:set>
                                    <p:animEffect transition="in" filter="barn(outVertical)">
                                      <p:cBhvr>
                                        <p:cTn id="37" dur="500"/>
                                        <p:tgtEl>
                                          <p:spTgt spid="6349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autoUpdateAnimBg="0"/>
      <p:bldP spid="63494" grpId="0" build="p" autoUpdateAnimBg="0"/>
      <p:bldP spid="63495" grpId="0" build="p" autoUpdateAnimBg="0"/>
      <p:bldP spid="6351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5175" name="Object 32"/>
          <p:cNvGraphicFramePr>
            <a:graphicFrameLocks noChangeAspect="1"/>
          </p:cNvGraphicFramePr>
          <p:nvPr/>
        </p:nvGraphicFramePr>
        <p:xfrm>
          <a:off x="1908175" y="1676400"/>
          <a:ext cx="2938463" cy="652463"/>
        </p:xfrm>
        <a:graphic>
          <a:graphicData uri="http://schemas.openxmlformats.org/presentationml/2006/ole">
            <p:oleObj spid="_x0000_s56352" name="Equation" r:id="rId4" imgW="1485900" imgH="393700" progId="Equation.DSMT4">
              <p:embed/>
            </p:oleObj>
          </a:graphicData>
        </a:graphic>
      </p:graphicFrame>
      <p:graphicFrame>
        <p:nvGraphicFramePr>
          <p:cNvPr id="135176" name="Object 33"/>
          <p:cNvGraphicFramePr>
            <a:graphicFrameLocks noChangeAspect="1"/>
          </p:cNvGraphicFramePr>
          <p:nvPr/>
        </p:nvGraphicFramePr>
        <p:xfrm>
          <a:off x="4989513" y="1704975"/>
          <a:ext cx="3038475" cy="650875"/>
        </p:xfrm>
        <a:graphic>
          <a:graphicData uri="http://schemas.openxmlformats.org/presentationml/2006/ole">
            <p:oleObj spid="_x0000_s56353" name="Equation" r:id="rId5" imgW="1511300" imgH="393700" progId="Equation.DSMT4">
              <p:embed/>
            </p:oleObj>
          </a:graphicData>
        </a:graphic>
      </p:graphicFrame>
      <p:sp>
        <p:nvSpPr>
          <p:cNvPr id="64518" name="Text Box 6"/>
          <p:cNvSpPr txBox="1">
            <a:spLocks noChangeArrowheads="1"/>
          </p:cNvSpPr>
          <p:nvPr/>
        </p:nvSpPr>
        <p:spPr bwMode="auto">
          <a:xfrm>
            <a:off x="395288" y="2397125"/>
            <a:ext cx="4022725" cy="369888"/>
          </a:xfrm>
          <a:prstGeom prst="rect">
            <a:avLst/>
          </a:prstGeom>
          <a:noFill/>
          <a:ln w="9525">
            <a:noFill/>
            <a:miter lim="800000"/>
            <a:headEnd/>
            <a:tailEnd/>
          </a:ln>
        </p:spPr>
        <p:txBody>
          <a:bodyPr>
            <a:spAutoFit/>
          </a:bodyPr>
          <a:lstStyle/>
          <a:p>
            <a:pPr>
              <a:spcBef>
                <a:spcPct val="50000"/>
              </a:spcBef>
            </a:pPr>
            <a:r>
              <a:rPr lang="zh-CN" altLang="en-US" sz="1800" b="1">
                <a:ea typeface="华文中宋"/>
                <a:cs typeface="华文中宋"/>
              </a:rPr>
              <a:t>两波相遇，其合成波为</a:t>
            </a:r>
          </a:p>
        </p:txBody>
      </p:sp>
      <p:graphicFrame>
        <p:nvGraphicFramePr>
          <p:cNvPr id="135177" name="Object 34"/>
          <p:cNvGraphicFramePr>
            <a:graphicFrameLocks noChangeAspect="1"/>
          </p:cNvGraphicFramePr>
          <p:nvPr/>
        </p:nvGraphicFramePr>
        <p:xfrm>
          <a:off x="1173163" y="2881313"/>
          <a:ext cx="5414962" cy="698500"/>
        </p:xfrm>
        <a:graphic>
          <a:graphicData uri="http://schemas.openxmlformats.org/presentationml/2006/ole">
            <p:oleObj spid="_x0000_s56354" name="Equation" r:id="rId6" imgW="3289300" imgH="393700" progId="Equation.DSMT4">
              <p:embed/>
            </p:oleObj>
          </a:graphicData>
        </a:graphic>
      </p:graphicFrame>
      <p:graphicFrame>
        <p:nvGraphicFramePr>
          <p:cNvPr id="135178" name="Object 35"/>
          <p:cNvGraphicFramePr>
            <a:graphicFrameLocks noChangeAspect="1"/>
          </p:cNvGraphicFramePr>
          <p:nvPr/>
        </p:nvGraphicFramePr>
        <p:xfrm>
          <a:off x="6580188" y="2900363"/>
          <a:ext cx="2239962" cy="628650"/>
        </p:xfrm>
        <a:graphic>
          <a:graphicData uri="http://schemas.openxmlformats.org/presentationml/2006/ole">
            <p:oleObj spid="_x0000_s56355" name="Equation" r:id="rId7" imgW="1473200" imgH="393700" progId="Equation.DSMT4">
              <p:embed/>
            </p:oleObj>
          </a:graphicData>
        </a:graphic>
      </p:graphicFrame>
      <p:sp>
        <p:nvSpPr>
          <p:cNvPr id="64523" name="Rectangle 11"/>
          <p:cNvSpPr>
            <a:spLocks noChangeArrowheads="1"/>
          </p:cNvSpPr>
          <p:nvPr/>
        </p:nvSpPr>
        <p:spPr bwMode="auto">
          <a:xfrm>
            <a:off x="395288" y="1208088"/>
            <a:ext cx="5040312" cy="369887"/>
          </a:xfrm>
          <a:prstGeom prst="rect">
            <a:avLst/>
          </a:prstGeom>
          <a:noFill/>
          <a:ln w="9525">
            <a:noFill/>
            <a:miter lim="800000"/>
            <a:headEnd/>
            <a:tailEnd/>
          </a:ln>
        </p:spPr>
        <p:txBody>
          <a:bodyPr>
            <a:spAutoFit/>
          </a:bodyPr>
          <a:lstStyle/>
          <a:p>
            <a:r>
              <a:rPr lang="zh-CN" altLang="en-US" sz="1800" b="1">
                <a:ea typeface="华文中宋"/>
                <a:cs typeface="华文中宋"/>
              </a:rPr>
              <a:t>为简单计，设两列相向传播的波初位相均零。</a:t>
            </a:r>
          </a:p>
        </p:txBody>
      </p:sp>
      <p:sp>
        <p:nvSpPr>
          <p:cNvPr id="59412" name="Text Box 20"/>
          <p:cNvSpPr txBox="1">
            <a:spLocks noChangeArrowheads="1"/>
          </p:cNvSpPr>
          <p:nvPr/>
        </p:nvSpPr>
        <p:spPr bwMode="auto">
          <a:xfrm>
            <a:off x="971550" y="3641725"/>
            <a:ext cx="1716088" cy="369888"/>
          </a:xfrm>
          <a:prstGeom prst="rect">
            <a:avLst/>
          </a:prstGeom>
          <a:noFill/>
          <a:ln w="9525">
            <a:noFill/>
            <a:miter lim="800000"/>
            <a:headEnd/>
            <a:tailEnd/>
          </a:ln>
        </p:spPr>
        <p:txBody>
          <a:bodyPr>
            <a:spAutoFit/>
          </a:bodyPr>
          <a:lstStyle/>
          <a:p>
            <a:r>
              <a:rPr lang="zh-CN" altLang="en-US" sz="1800" b="1">
                <a:latin typeface="宋体" charset="-122"/>
                <a:ea typeface="华文中宋"/>
                <a:cs typeface="华文中宋"/>
              </a:rPr>
              <a:t>对于行波：</a:t>
            </a:r>
          </a:p>
        </p:txBody>
      </p:sp>
      <p:sp>
        <p:nvSpPr>
          <p:cNvPr id="24" name="Rectangle 21"/>
          <p:cNvSpPr>
            <a:spLocks noChangeArrowheads="1"/>
          </p:cNvSpPr>
          <p:nvPr/>
        </p:nvSpPr>
        <p:spPr bwMode="auto">
          <a:xfrm>
            <a:off x="1979613" y="4578350"/>
            <a:ext cx="3455987" cy="369888"/>
          </a:xfrm>
          <a:prstGeom prst="rect">
            <a:avLst/>
          </a:prstGeom>
          <a:noFill/>
          <a:ln w="9525">
            <a:noFill/>
            <a:miter lim="800000"/>
            <a:headEnd/>
            <a:tailEnd/>
          </a:ln>
        </p:spPr>
        <p:txBody>
          <a:bodyPr>
            <a:spAutoFit/>
          </a:bodyPr>
          <a:lstStyle/>
          <a:p>
            <a:r>
              <a:rPr lang="zh-CN" altLang="en-US" sz="1800" b="1">
                <a:ea typeface="华文中宋"/>
                <a:cs typeface="华文中宋"/>
              </a:rPr>
              <a:t>不具备传播的特征，</a:t>
            </a:r>
            <a:r>
              <a:rPr lang="zh-CN" altLang="en-US" sz="1800" b="1">
                <a:solidFill>
                  <a:srgbClr val="A50021"/>
                </a:solidFill>
                <a:ea typeface="华文中宋"/>
                <a:cs typeface="华文中宋"/>
              </a:rPr>
              <a:t>它不是行波。</a:t>
            </a:r>
          </a:p>
        </p:txBody>
      </p:sp>
      <p:graphicFrame>
        <p:nvGraphicFramePr>
          <p:cNvPr id="135172" name="Object 36"/>
          <p:cNvGraphicFramePr>
            <a:graphicFrameLocks noChangeAspect="1"/>
          </p:cNvGraphicFramePr>
          <p:nvPr/>
        </p:nvGraphicFramePr>
        <p:xfrm>
          <a:off x="2555875" y="3656013"/>
          <a:ext cx="3887788" cy="382587"/>
        </p:xfrm>
        <a:graphic>
          <a:graphicData uri="http://schemas.openxmlformats.org/presentationml/2006/ole">
            <p:oleObj spid="_x0000_s56356" name="公式" r:id="rId8" imgW="1104900" imgH="152400" progId="Equation.3">
              <p:embed/>
            </p:oleObj>
          </a:graphicData>
        </a:graphic>
      </p:graphicFrame>
      <p:graphicFrame>
        <p:nvGraphicFramePr>
          <p:cNvPr id="135173" name="Object 37"/>
          <p:cNvGraphicFramePr>
            <a:graphicFrameLocks noChangeAspect="1"/>
          </p:cNvGraphicFramePr>
          <p:nvPr/>
        </p:nvGraphicFramePr>
        <p:xfrm>
          <a:off x="2555875" y="4127500"/>
          <a:ext cx="3887788" cy="382588"/>
        </p:xfrm>
        <a:graphic>
          <a:graphicData uri="http://schemas.openxmlformats.org/presentationml/2006/ole">
            <p:oleObj spid="_x0000_s56357" name="公式" r:id="rId9" imgW="1104900" imgH="152400" progId="Equation.3">
              <p:embed/>
            </p:oleObj>
          </a:graphicData>
        </a:graphic>
      </p:graphicFrame>
      <p:sp>
        <p:nvSpPr>
          <p:cNvPr id="2" name="Text Box 20"/>
          <p:cNvSpPr txBox="1">
            <a:spLocks noChangeArrowheads="1"/>
          </p:cNvSpPr>
          <p:nvPr/>
        </p:nvSpPr>
        <p:spPr bwMode="auto">
          <a:xfrm>
            <a:off x="971550" y="4127500"/>
            <a:ext cx="1716088" cy="369888"/>
          </a:xfrm>
          <a:prstGeom prst="rect">
            <a:avLst/>
          </a:prstGeom>
          <a:noFill/>
          <a:ln w="9525">
            <a:noFill/>
            <a:miter lim="800000"/>
            <a:headEnd/>
            <a:tailEnd/>
          </a:ln>
        </p:spPr>
        <p:txBody>
          <a:bodyPr>
            <a:spAutoFit/>
          </a:bodyPr>
          <a:lstStyle/>
          <a:p>
            <a:r>
              <a:rPr lang="zh-CN" altLang="en-US" sz="1800" b="1">
                <a:latin typeface="宋体" charset="-122"/>
                <a:ea typeface="华文中宋"/>
                <a:cs typeface="华文中宋"/>
              </a:rPr>
              <a:t>对于驻波：</a:t>
            </a:r>
          </a:p>
        </p:txBody>
      </p:sp>
      <p:sp>
        <p:nvSpPr>
          <p:cNvPr id="14" name="Text Box 2"/>
          <p:cNvSpPr>
            <a:spLocks noChangeArrowheads="1"/>
          </p:cNvSpPr>
          <p:nvPr/>
        </p:nvSpPr>
        <p:spPr bwMode="auto">
          <a:xfrm>
            <a:off x="828675" y="874713"/>
            <a:ext cx="1943100" cy="401637"/>
          </a:xfrm>
          <a:prstGeom prst="homePlate">
            <a:avLst>
              <a:gd name="adj" fmla="val 49611"/>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二、驻波方程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64523"/>
                                        </p:tgtEl>
                                        <p:attrNameLst>
                                          <p:attrName>style.visibility</p:attrName>
                                        </p:attrNameLst>
                                      </p:cBhvr>
                                      <p:to>
                                        <p:strVal val="visible"/>
                                      </p:to>
                                    </p:set>
                                    <p:anim calcmode="lin" valueType="num">
                                      <p:cBhvr>
                                        <p:cTn id="12" dur="500" fill="hold"/>
                                        <p:tgtEl>
                                          <p:spTgt spid="64523"/>
                                        </p:tgtEl>
                                        <p:attrNameLst>
                                          <p:attrName>ppt_x</p:attrName>
                                        </p:attrNameLst>
                                      </p:cBhvr>
                                      <p:tavLst>
                                        <p:tav tm="0">
                                          <p:val>
                                            <p:strVal val="#ppt_x-#ppt_w/2"/>
                                          </p:val>
                                        </p:tav>
                                        <p:tav tm="100000">
                                          <p:val>
                                            <p:strVal val="#ppt_x"/>
                                          </p:val>
                                        </p:tav>
                                      </p:tavLst>
                                    </p:anim>
                                    <p:anim calcmode="lin" valueType="num">
                                      <p:cBhvr>
                                        <p:cTn id="13" dur="500" fill="hold"/>
                                        <p:tgtEl>
                                          <p:spTgt spid="64523"/>
                                        </p:tgtEl>
                                        <p:attrNameLst>
                                          <p:attrName>ppt_y</p:attrName>
                                        </p:attrNameLst>
                                      </p:cBhvr>
                                      <p:tavLst>
                                        <p:tav tm="0">
                                          <p:val>
                                            <p:strVal val="#ppt_y"/>
                                          </p:val>
                                        </p:tav>
                                        <p:tav tm="100000">
                                          <p:val>
                                            <p:strVal val="#ppt_y"/>
                                          </p:val>
                                        </p:tav>
                                      </p:tavLst>
                                    </p:anim>
                                    <p:anim calcmode="lin" valueType="num">
                                      <p:cBhvr>
                                        <p:cTn id="14" dur="500" fill="hold"/>
                                        <p:tgtEl>
                                          <p:spTgt spid="64523"/>
                                        </p:tgtEl>
                                        <p:attrNameLst>
                                          <p:attrName>ppt_w</p:attrName>
                                        </p:attrNameLst>
                                      </p:cBhvr>
                                      <p:tavLst>
                                        <p:tav tm="0">
                                          <p:val>
                                            <p:fltVal val="0"/>
                                          </p:val>
                                        </p:tav>
                                        <p:tav tm="100000">
                                          <p:val>
                                            <p:strVal val="#ppt_w"/>
                                          </p:val>
                                        </p:tav>
                                      </p:tavLst>
                                    </p:anim>
                                    <p:anim calcmode="lin" valueType="num">
                                      <p:cBhvr>
                                        <p:cTn id="15" dur="500" fill="hold"/>
                                        <p:tgtEl>
                                          <p:spTgt spid="64523"/>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8" fill="hold" nodeType="clickEffect">
                                  <p:stCondLst>
                                    <p:cond delay="0"/>
                                  </p:stCondLst>
                                  <p:childTnLst>
                                    <p:set>
                                      <p:cBhvr>
                                        <p:cTn id="19" dur="1" fill="hold">
                                          <p:stCondLst>
                                            <p:cond delay="0"/>
                                          </p:stCondLst>
                                        </p:cTn>
                                        <p:tgtEl>
                                          <p:spTgt spid="135175"/>
                                        </p:tgtEl>
                                        <p:attrNameLst>
                                          <p:attrName>style.visibility</p:attrName>
                                        </p:attrNameLst>
                                      </p:cBhvr>
                                      <p:to>
                                        <p:strVal val="visible"/>
                                      </p:to>
                                    </p:set>
                                    <p:anim calcmode="lin" valueType="num">
                                      <p:cBhvr>
                                        <p:cTn id="20" dur="500" fill="hold"/>
                                        <p:tgtEl>
                                          <p:spTgt spid="135175"/>
                                        </p:tgtEl>
                                        <p:attrNameLst>
                                          <p:attrName>ppt_x</p:attrName>
                                        </p:attrNameLst>
                                      </p:cBhvr>
                                      <p:tavLst>
                                        <p:tav tm="0">
                                          <p:val>
                                            <p:strVal val="#ppt_x-#ppt_w/2"/>
                                          </p:val>
                                        </p:tav>
                                        <p:tav tm="100000">
                                          <p:val>
                                            <p:strVal val="#ppt_x"/>
                                          </p:val>
                                        </p:tav>
                                      </p:tavLst>
                                    </p:anim>
                                    <p:anim calcmode="lin" valueType="num">
                                      <p:cBhvr>
                                        <p:cTn id="21" dur="500" fill="hold"/>
                                        <p:tgtEl>
                                          <p:spTgt spid="135175"/>
                                        </p:tgtEl>
                                        <p:attrNameLst>
                                          <p:attrName>ppt_y</p:attrName>
                                        </p:attrNameLst>
                                      </p:cBhvr>
                                      <p:tavLst>
                                        <p:tav tm="0">
                                          <p:val>
                                            <p:strVal val="#ppt_y"/>
                                          </p:val>
                                        </p:tav>
                                        <p:tav tm="100000">
                                          <p:val>
                                            <p:strVal val="#ppt_y"/>
                                          </p:val>
                                        </p:tav>
                                      </p:tavLst>
                                    </p:anim>
                                    <p:anim calcmode="lin" valueType="num">
                                      <p:cBhvr>
                                        <p:cTn id="22" dur="500" fill="hold"/>
                                        <p:tgtEl>
                                          <p:spTgt spid="135175"/>
                                        </p:tgtEl>
                                        <p:attrNameLst>
                                          <p:attrName>ppt_w</p:attrName>
                                        </p:attrNameLst>
                                      </p:cBhvr>
                                      <p:tavLst>
                                        <p:tav tm="0">
                                          <p:val>
                                            <p:fltVal val="0"/>
                                          </p:val>
                                        </p:tav>
                                        <p:tav tm="100000">
                                          <p:val>
                                            <p:strVal val="#ppt_w"/>
                                          </p:val>
                                        </p:tav>
                                      </p:tavLst>
                                    </p:anim>
                                    <p:anim calcmode="lin" valueType="num">
                                      <p:cBhvr>
                                        <p:cTn id="23" dur="500" fill="hold"/>
                                        <p:tgtEl>
                                          <p:spTgt spid="1351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8"/>
                                            </p:cond>
                                          </p:stCondLst>
                                          <p:endCondLst>
                                            <p:cond evt="onStopAudio" delay="0">
                                              <p:tgtEl>
                                                <p:sldTgt/>
                                              </p:tgtEl>
                                            </p:cond>
                                          </p:endCondLst>
                                        </p:cTn>
                                        <p:tgtEl>
                                          <p:sndTgt r:embed="rId3" name="chimes.wav"/>
                                        </p:tgtEl>
                                      </p:cMediaNode>
                                    </p:audio>
                                  </p:sub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8" fill="hold" nodeType="clickEffect">
                                  <p:stCondLst>
                                    <p:cond delay="0"/>
                                  </p:stCondLst>
                                  <p:childTnLst>
                                    <p:set>
                                      <p:cBhvr>
                                        <p:cTn id="27" dur="1" fill="hold">
                                          <p:stCondLst>
                                            <p:cond delay="0"/>
                                          </p:stCondLst>
                                        </p:cTn>
                                        <p:tgtEl>
                                          <p:spTgt spid="135176"/>
                                        </p:tgtEl>
                                        <p:attrNameLst>
                                          <p:attrName>style.visibility</p:attrName>
                                        </p:attrNameLst>
                                      </p:cBhvr>
                                      <p:to>
                                        <p:strVal val="visible"/>
                                      </p:to>
                                    </p:set>
                                    <p:anim calcmode="lin" valueType="num">
                                      <p:cBhvr>
                                        <p:cTn id="28" dur="500" fill="hold"/>
                                        <p:tgtEl>
                                          <p:spTgt spid="135176"/>
                                        </p:tgtEl>
                                        <p:attrNameLst>
                                          <p:attrName>ppt_x</p:attrName>
                                        </p:attrNameLst>
                                      </p:cBhvr>
                                      <p:tavLst>
                                        <p:tav tm="0">
                                          <p:val>
                                            <p:strVal val="#ppt_x-#ppt_w/2"/>
                                          </p:val>
                                        </p:tav>
                                        <p:tav tm="100000">
                                          <p:val>
                                            <p:strVal val="#ppt_x"/>
                                          </p:val>
                                        </p:tav>
                                      </p:tavLst>
                                    </p:anim>
                                    <p:anim calcmode="lin" valueType="num">
                                      <p:cBhvr>
                                        <p:cTn id="29" dur="500" fill="hold"/>
                                        <p:tgtEl>
                                          <p:spTgt spid="135176"/>
                                        </p:tgtEl>
                                        <p:attrNameLst>
                                          <p:attrName>ppt_y</p:attrName>
                                        </p:attrNameLst>
                                      </p:cBhvr>
                                      <p:tavLst>
                                        <p:tav tm="0">
                                          <p:val>
                                            <p:strVal val="#ppt_y"/>
                                          </p:val>
                                        </p:tav>
                                        <p:tav tm="100000">
                                          <p:val>
                                            <p:strVal val="#ppt_y"/>
                                          </p:val>
                                        </p:tav>
                                      </p:tavLst>
                                    </p:anim>
                                    <p:anim calcmode="lin" valueType="num">
                                      <p:cBhvr>
                                        <p:cTn id="30" dur="500" fill="hold"/>
                                        <p:tgtEl>
                                          <p:spTgt spid="135176"/>
                                        </p:tgtEl>
                                        <p:attrNameLst>
                                          <p:attrName>ppt_w</p:attrName>
                                        </p:attrNameLst>
                                      </p:cBhvr>
                                      <p:tavLst>
                                        <p:tav tm="0">
                                          <p:val>
                                            <p:fltVal val="0"/>
                                          </p:val>
                                        </p:tav>
                                        <p:tav tm="100000">
                                          <p:val>
                                            <p:strVal val="#ppt_w"/>
                                          </p:val>
                                        </p:tav>
                                      </p:tavLst>
                                    </p:anim>
                                    <p:anim calcmode="lin" valueType="num">
                                      <p:cBhvr>
                                        <p:cTn id="31" dur="500" fill="hold"/>
                                        <p:tgtEl>
                                          <p:spTgt spid="1351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6"/>
                                            </p:cond>
                                          </p:stCondLst>
                                          <p:endCondLst>
                                            <p:cond evt="onStopAudio" delay="0">
                                              <p:tgtEl>
                                                <p:sldTgt/>
                                              </p:tgtEl>
                                            </p:cond>
                                          </p:endCondLst>
                                        </p:cTn>
                                        <p:tgtEl>
                                          <p:sndTgt r:embed="rId3" name="chimes.wav"/>
                                        </p:tgtEl>
                                      </p:cMediaNode>
                                    </p:audio>
                                  </p:sub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8" fill="hold" grpId="0" nodeType="clickEffect">
                                  <p:stCondLst>
                                    <p:cond delay="0"/>
                                  </p:stCondLst>
                                  <p:childTnLst>
                                    <p:set>
                                      <p:cBhvr>
                                        <p:cTn id="35" dur="1" fill="hold">
                                          <p:stCondLst>
                                            <p:cond delay="0"/>
                                          </p:stCondLst>
                                        </p:cTn>
                                        <p:tgtEl>
                                          <p:spTgt spid="64518"/>
                                        </p:tgtEl>
                                        <p:attrNameLst>
                                          <p:attrName>style.visibility</p:attrName>
                                        </p:attrNameLst>
                                      </p:cBhvr>
                                      <p:to>
                                        <p:strVal val="visible"/>
                                      </p:to>
                                    </p:set>
                                    <p:anim calcmode="lin" valueType="num">
                                      <p:cBhvr>
                                        <p:cTn id="36" dur="500" fill="hold"/>
                                        <p:tgtEl>
                                          <p:spTgt spid="64518"/>
                                        </p:tgtEl>
                                        <p:attrNameLst>
                                          <p:attrName>ppt_x</p:attrName>
                                        </p:attrNameLst>
                                      </p:cBhvr>
                                      <p:tavLst>
                                        <p:tav tm="0">
                                          <p:val>
                                            <p:strVal val="#ppt_x-#ppt_w/2"/>
                                          </p:val>
                                        </p:tav>
                                        <p:tav tm="100000">
                                          <p:val>
                                            <p:strVal val="#ppt_x"/>
                                          </p:val>
                                        </p:tav>
                                      </p:tavLst>
                                    </p:anim>
                                    <p:anim calcmode="lin" valueType="num">
                                      <p:cBhvr>
                                        <p:cTn id="37" dur="500" fill="hold"/>
                                        <p:tgtEl>
                                          <p:spTgt spid="64518"/>
                                        </p:tgtEl>
                                        <p:attrNameLst>
                                          <p:attrName>ppt_y</p:attrName>
                                        </p:attrNameLst>
                                      </p:cBhvr>
                                      <p:tavLst>
                                        <p:tav tm="0">
                                          <p:val>
                                            <p:strVal val="#ppt_y"/>
                                          </p:val>
                                        </p:tav>
                                        <p:tav tm="100000">
                                          <p:val>
                                            <p:strVal val="#ppt_y"/>
                                          </p:val>
                                        </p:tav>
                                      </p:tavLst>
                                    </p:anim>
                                    <p:anim calcmode="lin" valueType="num">
                                      <p:cBhvr>
                                        <p:cTn id="38" dur="500" fill="hold"/>
                                        <p:tgtEl>
                                          <p:spTgt spid="64518"/>
                                        </p:tgtEl>
                                        <p:attrNameLst>
                                          <p:attrName>ppt_w</p:attrName>
                                        </p:attrNameLst>
                                      </p:cBhvr>
                                      <p:tavLst>
                                        <p:tav tm="0">
                                          <p:val>
                                            <p:fltVal val="0"/>
                                          </p:val>
                                        </p:tav>
                                        <p:tav tm="100000">
                                          <p:val>
                                            <p:strVal val="#ppt_w"/>
                                          </p:val>
                                        </p:tav>
                                      </p:tavLst>
                                    </p:anim>
                                    <p:anim calcmode="lin" valueType="num">
                                      <p:cBhvr>
                                        <p:cTn id="39" dur="500" fill="hold"/>
                                        <p:tgtEl>
                                          <p:spTgt spid="6451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4"/>
                                            </p:cond>
                                          </p:stCondLst>
                                          <p:endCondLst>
                                            <p:cond evt="onStopAudio" delay="0">
                                              <p:tgtEl>
                                                <p:sldTgt/>
                                              </p:tgtEl>
                                            </p:cond>
                                          </p:endCondLst>
                                        </p:cTn>
                                        <p:tgtEl>
                                          <p:sndTgt r:embed="rId3" name="chimes.wav"/>
                                        </p:tgtEl>
                                      </p:cMediaNode>
                                    </p:audio>
                                  </p:subTnLst>
                                </p:cTn>
                              </p:par>
                            </p:childTnLst>
                          </p:cTn>
                        </p:par>
                        <p:par>
                          <p:cTn id="40" fill="hold" nodeType="afterGroup">
                            <p:stCondLst>
                              <p:cond delay="500"/>
                            </p:stCondLst>
                            <p:childTnLst>
                              <p:par>
                                <p:cTn id="41" presetID="17" presetClass="entr" presetSubtype="8" fill="hold" nodeType="afterEffect">
                                  <p:stCondLst>
                                    <p:cond delay="0"/>
                                  </p:stCondLst>
                                  <p:childTnLst>
                                    <p:set>
                                      <p:cBhvr>
                                        <p:cTn id="42" dur="1" fill="hold">
                                          <p:stCondLst>
                                            <p:cond delay="0"/>
                                          </p:stCondLst>
                                        </p:cTn>
                                        <p:tgtEl>
                                          <p:spTgt spid="135177"/>
                                        </p:tgtEl>
                                        <p:attrNameLst>
                                          <p:attrName>style.visibility</p:attrName>
                                        </p:attrNameLst>
                                      </p:cBhvr>
                                      <p:to>
                                        <p:strVal val="visible"/>
                                      </p:to>
                                    </p:set>
                                    <p:anim calcmode="lin" valueType="num">
                                      <p:cBhvr>
                                        <p:cTn id="43" dur="500" fill="hold"/>
                                        <p:tgtEl>
                                          <p:spTgt spid="135177"/>
                                        </p:tgtEl>
                                        <p:attrNameLst>
                                          <p:attrName>ppt_x</p:attrName>
                                        </p:attrNameLst>
                                      </p:cBhvr>
                                      <p:tavLst>
                                        <p:tav tm="0">
                                          <p:val>
                                            <p:strVal val="#ppt_x-#ppt_w/2"/>
                                          </p:val>
                                        </p:tav>
                                        <p:tav tm="100000">
                                          <p:val>
                                            <p:strVal val="#ppt_x"/>
                                          </p:val>
                                        </p:tav>
                                      </p:tavLst>
                                    </p:anim>
                                    <p:anim calcmode="lin" valueType="num">
                                      <p:cBhvr>
                                        <p:cTn id="44" dur="500" fill="hold"/>
                                        <p:tgtEl>
                                          <p:spTgt spid="135177"/>
                                        </p:tgtEl>
                                        <p:attrNameLst>
                                          <p:attrName>ppt_y</p:attrName>
                                        </p:attrNameLst>
                                      </p:cBhvr>
                                      <p:tavLst>
                                        <p:tav tm="0">
                                          <p:val>
                                            <p:strVal val="#ppt_y"/>
                                          </p:val>
                                        </p:tav>
                                        <p:tav tm="100000">
                                          <p:val>
                                            <p:strVal val="#ppt_y"/>
                                          </p:val>
                                        </p:tav>
                                      </p:tavLst>
                                    </p:anim>
                                    <p:anim calcmode="lin" valueType="num">
                                      <p:cBhvr>
                                        <p:cTn id="45" dur="500" fill="hold"/>
                                        <p:tgtEl>
                                          <p:spTgt spid="135177"/>
                                        </p:tgtEl>
                                        <p:attrNameLst>
                                          <p:attrName>ppt_w</p:attrName>
                                        </p:attrNameLst>
                                      </p:cBhvr>
                                      <p:tavLst>
                                        <p:tav tm="0">
                                          <p:val>
                                            <p:fltVal val="0"/>
                                          </p:val>
                                        </p:tav>
                                        <p:tav tm="100000">
                                          <p:val>
                                            <p:strVal val="#ppt_w"/>
                                          </p:val>
                                        </p:tav>
                                      </p:tavLst>
                                    </p:anim>
                                    <p:anim calcmode="lin" valueType="num">
                                      <p:cBhvr>
                                        <p:cTn id="46" dur="500" fill="hold"/>
                                        <p:tgtEl>
                                          <p:spTgt spid="135177"/>
                                        </p:tgtEl>
                                        <p:attrNameLst>
                                          <p:attrName>ppt_h</p:attrName>
                                        </p:attrNameLst>
                                      </p:cBhvr>
                                      <p:tavLst>
                                        <p:tav tm="0">
                                          <p:val>
                                            <p:strVal val="#ppt_h"/>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7" presetClass="entr" presetSubtype="8" fill="hold" nodeType="clickEffect">
                                  <p:stCondLst>
                                    <p:cond delay="0"/>
                                  </p:stCondLst>
                                  <p:childTnLst>
                                    <p:set>
                                      <p:cBhvr>
                                        <p:cTn id="50" dur="1" fill="hold">
                                          <p:stCondLst>
                                            <p:cond delay="0"/>
                                          </p:stCondLst>
                                        </p:cTn>
                                        <p:tgtEl>
                                          <p:spTgt spid="135178"/>
                                        </p:tgtEl>
                                        <p:attrNameLst>
                                          <p:attrName>style.visibility</p:attrName>
                                        </p:attrNameLst>
                                      </p:cBhvr>
                                      <p:to>
                                        <p:strVal val="visible"/>
                                      </p:to>
                                    </p:set>
                                    <p:anim calcmode="lin" valueType="num">
                                      <p:cBhvr>
                                        <p:cTn id="51" dur="500" fill="hold"/>
                                        <p:tgtEl>
                                          <p:spTgt spid="135178"/>
                                        </p:tgtEl>
                                        <p:attrNameLst>
                                          <p:attrName>ppt_x</p:attrName>
                                        </p:attrNameLst>
                                      </p:cBhvr>
                                      <p:tavLst>
                                        <p:tav tm="0">
                                          <p:val>
                                            <p:strVal val="#ppt_x-#ppt_w/2"/>
                                          </p:val>
                                        </p:tav>
                                        <p:tav tm="100000">
                                          <p:val>
                                            <p:strVal val="#ppt_x"/>
                                          </p:val>
                                        </p:tav>
                                      </p:tavLst>
                                    </p:anim>
                                    <p:anim calcmode="lin" valueType="num">
                                      <p:cBhvr>
                                        <p:cTn id="52" dur="500" fill="hold"/>
                                        <p:tgtEl>
                                          <p:spTgt spid="135178"/>
                                        </p:tgtEl>
                                        <p:attrNameLst>
                                          <p:attrName>ppt_y</p:attrName>
                                        </p:attrNameLst>
                                      </p:cBhvr>
                                      <p:tavLst>
                                        <p:tav tm="0">
                                          <p:val>
                                            <p:strVal val="#ppt_y"/>
                                          </p:val>
                                        </p:tav>
                                        <p:tav tm="100000">
                                          <p:val>
                                            <p:strVal val="#ppt_y"/>
                                          </p:val>
                                        </p:tav>
                                      </p:tavLst>
                                    </p:anim>
                                    <p:anim calcmode="lin" valueType="num">
                                      <p:cBhvr>
                                        <p:cTn id="53" dur="500" fill="hold"/>
                                        <p:tgtEl>
                                          <p:spTgt spid="135178"/>
                                        </p:tgtEl>
                                        <p:attrNameLst>
                                          <p:attrName>ppt_w</p:attrName>
                                        </p:attrNameLst>
                                      </p:cBhvr>
                                      <p:tavLst>
                                        <p:tav tm="0">
                                          <p:val>
                                            <p:fltVal val="0"/>
                                          </p:val>
                                        </p:tav>
                                        <p:tav tm="100000">
                                          <p:val>
                                            <p:strVal val="#ppt_w"/>
                                          </p:val>
                                        </p:tav>
                                      </p:tavLst>
                                    </p:anim>
                                    <p:anim calcmode="lin" valueType="num">
                                      <p:cBhvr>
                                        <p:cTn id="54" dur="500" fill="hold"/>
                                        <p:tgtEl>
                                          <p:spTgt spid="135178"/>
                                        </p:tgtEl>
                                        <p:attrNameLst>
                                          <p:attrName>ppt_h</p:attrName>
                                        </p:attrNameLst>
                                      </p:cBhvr>
                                      <p:tavLst>
                                        <p:tav tm="0">
                                          <p:val>
                                            <p:strVal val="#ppt_h"/>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59412"/>
                                        </p:tgtEl>
                                        <p:attrNameLst>
                                          <p:attrName>style.visibility</p:attrName>
                                        </p:attrNameLst>
                                      </p:cBhvr>
                                      <p:to>
                                        <p:strVal val="visible"/>
                                      </p:to>
                                    </p:set>
                                    <p:animEffect transition="in" filter="wipe(left)">
                                      <p:cBhvr>
                                        <p:cTn id="59" dur="500"/>
                                        <p:tgtEl>
                                          <p:spTgt spid="5941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7" presetClass="entr" presetSubtype="8" fill="hold" nodeType="clickEffect">
                                  <p:stCondLst>
                                    <p:cond delay="0"/>
                                  </p:stCondLst>
                                  <p:childTnLst>
                                    <p:set>
                                      <p:cBhvr>
                                        <p:cTn id="63" dur="1" fill="hold">
                                          <p:stCondLst>
                                            <p:cond delay="0"/>
                                          </p:stCondLst>
                                        </p:cTn>
                                        <p:tgtEl>
                                          <p:spTgt spid="135172"/>
                                        </p:tgtEl>
                                        <p:attrNameLst>
                                          <p:attrName>style.visibility</p:attrName>
                                        </p:attrNameLst>
                                      </p:cBhvr>
                                      <p:to>
                                        <p:strVal val="visible"/>
                                      </p:to>
                                    </p:set>
                                    <p:anim calcmode="lin" valueType="num">
                                      <p:cBhvr>
                                        <p:cTn id="64" dur="500" fill="hold"/>
                                        <p:tgtEl>
                                          <p:spTgt spid="135172"/>
                                        </p:tgtEl>
                                        <p:attrNameLst>
                                          <p:attrName>ppt_x</p:attrName>
                                        </p:attrNameLst>
                                      </p:cBhvr>
                                      <p:tavLst>
                                        <p:tav tm="0">
                                          <p:val>
                                            <p:strVal val="#ppt_x-#ppt_w/2"/>
                                          </p:val>
                                        </p:tav>
                                        <p:tav tm="100000">
                                          <p:val>
                                            <p:strVal val="#ppt_x"/>
                                          </p:val>
                                        </p:tav>
                                      </p:tavLst>
                                    </p:anim>
                                    <p:anim calcmode="lin" valueType="num">
                                      <p:cBhvr>
                                        <p:cTn id="65" dur="500" fill="hold"/>
                                        <p:tgtEl>
                                          <p:spTgt spid="135172"/>
                                        </p:tgtEl>
                                        <p:attrNameLst>
                                          <p:attrName>ppt_y</p:attrName>
                                        </p:attrNameLst>
                                      </p:cBhvr>
                                      <p:tavLst>
                                        <p:tav tm="0">
                                          <p:val>
                                            <p:strVal val="#ppt_y"/>
                                          </p:val>
                                        </p:tav>
                                        <p:tav tm="100000">
                                          <p:val>
                                            <p:strVal val="#ppt_y"/>
                                          </p:val>
                                        </p:tav>
                                      </p:tavLst>
                                    </p:anim>
                                    <p:anim calcmode="lin" valueType="num">
                                      <p:cBhvr>
                                        <p:cTn id="66" dur="500" fill="hold"/>
                                        <p:tgtEl>
                                          <p:spTgt spid="135172"/>
                                        </p:tgtEl>
                                        <p:attrNameLst>
                                          <p:attrName>ppt_w</p:attrName>
                                        </p:attrNameLst>
                                      </p:cBhvr>
                                      <p:tavLst>
                                        <p:tav tm="0">
                                          <p:val>
                                            <p:fltVal val="0"/>
                                          </p:val>
                                        </p:tav>
                                        <p:tav tm="100000">
                                          <p:val>
                                            <p:strVal val="#ppt_w"/>
                                          </p:val>
                                        </p:tav>
                                      </p:tavLst>
                                    </p:anim>
                                    <p:anim calcmode="lin" valueType="num">
                                      <p:cBhvr>
                                        <p:cTn id="67" dur="500" fill="hold"/>
                                        <p:tgtEl>
                                          <p:spTgt spid="13517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3" name="chimes.wav"/>
                                        </p:tgtEl>
                                      </p:cMediaNode>
                                    </p:audio>
                                  </p:sub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
                                        </p:tgtEl>
                                        <p:attrNameLst>
                                          <p:attrName>style.visibility</p:attrName>
                                        </p:attrNameLst>
                                      </p:cBhvr>
                                      <p:to>
                                        <p:strVal val="visible"/>
                                      </p:to>
                                    </p:set>
                                    <p:animEffect transition="in" filter="wipe(left)">
                                      <p:cBhvr>
                                        <p:cTn id="72" dur="500"/>
                                        <p:tgtEl>
                                          <p:spTgt spid="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7" presetClass="entr" presetSubtype="8" fill="hold" nodeType="clickEffect">
                                  <p:stCondLst>
                                    <p:cond delay="0"/>
                                  </p:stCondLst>
                                  <p:childTnLst>
                                    <p:set>
                                      <p:cBhvr>
                                        <p:cTn id="76" dur="1" fill="hold">
                                          <p:stCondLst>
                                            <p:cond delay="0"/>
                                          </p:stCondLst>
                                        </p:cTn>
                                        <p:tgtEl>
                                          <p:spTgt spid="135173"/>
                                        </p:tgtEl>
                                        <p:attrNameLst>
                                          <p:attrName>style.visibility</p:attrName>
                                        </p:attrNameLst>
                                      </p:cBhvr>
                                      <p:to>
                                        <p:strVal val="visible"/>
                                      </p:to>
                                    </p:set>
                                    <p:anim calcmode="lin" valueType="num">
                                      <p:cBhvr>
                                        <p:cTn id="77" dur="500" fill="hold"/>
                                        <p:tgtEl>
                                          <p:spTgt spid="135173"/>
                                        </p:tgtEl>
                                        <p:attrNameLst>
                                          <p:attrName>ppt_x</p:attrName>
                                        </p:attrNameLst>
                                      </p:cBhvr>
                                      <p:tavLst>
                                        <p:tav tm="0">
                                          <p:val>
                                            <p:strVal val="#ppt_x-#ppt_w/2"/>
                                          </p:val>
                                        </p:tav>
                                        <p:tav tm="100000">
                                          <p:val>
                                            <p:strVal val="#ppt_x"/>
                                          </p:val>
                                        </p:tav>
                                      </p:tavLst>
                                    </p:anim>
                                    <p:anim calcmode="lin" valueType="num">
                                      <p:cBhvr>
                                        <p:cTn id="78" dur="500" fill="hold"/>
                                        <p:tgtEl>
                                          <p:spTgt spid="135173"/>
                                        </p:tgtEl>
                                        <p:attrNameLst>
                                          <p:attrName>ppt_y</p:attrName>
                                        </p:attrNameLst>
                                      </p:cBhvr>
                                      <p:tavLst>
                                        <p:tav tm="0">
                                          <p:val>
                                            <p:strVal val="#ppt_y"/>
                                          </p:val>
                                        </p:tav>
                                        <p:tav tm="100000">
                                          <p:val>
                                            <p:strVal val="#ppt_y"/>
                                          </p:val>
                                        </p:tav>
                                      </p:tavLst>
                                    </p:anim>
                                    <p:anim calcmode="lin" valueType="num">
                                      <p:cBhvr>
                                        <p:cTn id="79" dur="500" fill="hold"/>
                                        <p:tgtEl>
                                          <p:spTgt spid="135173"/>
                                        </p:tgtEl>
                                        <p:attrNameLst>
                                          <p:attrName>ppt_w</p:attrName>
                                        </p:attrNameLst>
                                      </p:cBhvr>
                                      <p:tavLst>
                                        <p:tav tm="0">
                                          <p:val>
                                            <p:fltVal val="0"/>
                                          </p:val>
                                        </p:tav>
                                        <p:tav tm="100000">
                                          <p:val>
                                            <p:strVal val="#ppt_w"/>
                                          </p:val>
                                        </p:tav>
                                      </p:tavLst>
                                    </p:anim>
                                    <p:anim calcmode="lin" valueType="num">
                                      <p:cBhvr>
                                        <p:cTn id="80" dur="500" fill="hold"/>
                                        <p:tgtEl>
                                          <p:spTgt spid="13517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5"/>
                                            </p:cond>
                                          </p:stCondLst>
                                          <p:endCondLst>
                                            <p:cond evt="onStopAudio" delay="0">
                                              <p:tgtEl>
                                                <p:sldTgt/>
                                              </p:tgtEl>
                                            </p:cond>
                                          </p:endCondLst>
                                        </p:cTn>
                                        <p:tgtEl>
                                          <p:sndTgt r:embed="rId3" name="chimes.wav"/>
                                        </p:tgtEl>
                                      </p:cMediaNode>
                                    </p:audio>
                                  </p:sub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24"/>
                                        </p:tgtEl>
                                        <p:attrNameLst>
                                          <p:attrName>style.visibility</p:attrName>
                                        </p:attrNameLst>
                                      </p:cBhvr>
                                      <p:to>
                                        <p:strVal val="visible"/>
                                      </p:to>
                                    </p:set>
                                    <p:animEffect transition="in" filter="wipe(left)">
                                      <p:cBhvr>
                                        <p:cTn id="8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8" grpId="0" autoUpdateAnimBg="0"/>
      <p:bldP spid="64523" grpId="0" autoUpdateAnimBg="0"/>
      <p:bldP spid="59412" grpId="0" autoUpdateAnimBg="0"/>
      <p:bldP spid="24" grpId="0" autoUpdateAnimBg="0"/>
      <p:bldP spid="2" grpId="0" autoUpdateAnimBg="0"/>
      <p:bldP spid="1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ChangeArrowheads="1"/>
          </p:cNvSpPr>
          <p:nvPr/>
        </p:nvSpPr>
        <p:spPr bwMode="auto">
          <a:xfrm>
            <a:off x="611188" y="4243388"/>
            <a:ext cx="8316912" cy="344487"/>
          </a:xfrm>
          <a:prstGeom prst="rect">
            <a:avLst/>
          </a:prstGeom>
          <a:noFill/>
          <a:ln w="9525">
            <a:noFill/>
            <a:miter lim="800000"/>
            <a:headEnd/>
            <a:tailEnd/>
          </a:ln>
        </p:spPr>
        <p:txBody>
          <a:bodyPr>
            <a:spAutoFit/>
          </a:bodyPr>
          <a:lstStyle/>
          <a:p>
            <a:pPr>
              <a:lnSpc>
                <a:spcPct val="110000"/>
              </a:lnSpc>
              <a:buClr>
                <a:srgbClr val="FF66FF"/>
              </a:buClr>
              <a:buSzPct val="120000"/>
              <a:buFont typeface="Wingdings" pitchFamily="2" charset="2"/>
              <a:buNone/>
            </a:pPr>
            <a:r>
              <a:rPr lang="zh-CN" altLang="en-US" sz="1600" b="1">
                <a:latin typeface="华文中宋"/>
                <a:ea typeface="华文中宋"/>
                <a:cs typeface="华文中宋"/>
              </a:rPr>
              <a:t>各点都在自己平衡位置附近作频率为</a:t>
            </a:r>
            <a:r>
              <a:rPr lang="en-US" altLang="zh-CN" sz="1600" b="1" i="1">
                <a:ea typeface="华文中宋"/>
                <a:cs typeface="华文中宋"/>
              </a:rPr>
              <a:t>v</a:t>
            </a:r>
            <a:r>
              <a:rPr lang="zh-CN" altLang="en-US" sz="1600" b="1">
                <a:latin typeface="华文中宋"/>
                <a:ea typeface="华文中宋"/>
                <a:cs typeface="华文中宋"/>
              </a:rPr>
              <a:t>的谐振动，各点的振幅随位置的不同作周期性变化。</a:t>
            </a:r>
          </a:p>
        </p:txBody>
      </p:sp>
      <p:sp>
        <p:nvSpPr>
          <p:cNvPr id="65540" name="Rectangle 4"/>
          <p:cNvSpPr>
            <a:spLocks noChangeArrowheads="1"/>
          </p:cNvSpPr>
          <p:nvPr/>
        </p:nvSpPr>
        <p:spPr bwMode="auto">
          <a:xfrm>
            <a:off x="684213" y="1331913"/>
            <a:ext cx="2320925" cy="376237"/>
          </a:xfrm>
          <a:prstGeom prst="rect">
            <a:avLst/>
          </a:prstGeom>
          <a:noFill/>
          <a:ln w="9525">
            <a:noFill/>
            <a:miter lim="800000"/>
            <a:headEnd/>
            <a:tailEnd/>
          </a:ln>
        </p:spPr>
        <p:txBody>
          <a:bodyPr wrap="none">
            <a:spAutoFit/>
          </a:bodyPr>
          <a:lstStyle/>
          <a:p>
            <a:pPr>
              <a:lnSpc>
                <a:spcPct val="110000"/>
              </a:lnSpc>
            </a:pPr>
            <a:r>
              <a:rPr lang="en-US" altLang="zh-CN" sz="1800" b="1">
                <a:solidFill>
                  <a:srgbClr val="009900"/>
                </a:solidFill>
                <a:latin typeface="华文中宋"/>
                <a:ea typeface="华文中宋"/>
                <a:cs typeface="华文中宋"/>
              </a:rPr>
              <a:t>1</a:t>
            </a:r>
            <a:r>
              <a:rPr lang="zh-CN" altLang="en-US" sz="1800" b="1">
                <a:solidFill>
                  <a:srgbClr val="009900"/>
                </a:solidFill>
                <a:latin typeface="华文中宋"/>
                <a:ea typeface="华文中宋"/>
                <a:cs typeface="华文中宋"/>
              </a:rPr>
              <a:t>、 振幅分布的特点 </a:t>
            </a:r>
          </a:p>
        </p:txBody>
      </p:sp>
      <p:graphicFrame>
        <p:nvGraphicFramePr>
          <p:cNvPr id="97315" name="Object 35"/>
          <p:cNvGraphicFramePr>
            <a:graphicFrameLocks noChangeAspect="1"/>
          </p:cNvGraphicFramePr>
          <p:nvPr/>
        </p:nvGraphicFramePr>
        <p:xfrm>
          <a:off x="3108325" y="1230313"/>
          <a:ext cx="4416425" cy="728662"/>
        </p:xfrm>
        <a:graphic>
          <a:graphicData uri="http://schemas.openxmlformats.org/presentationml/2006/ole">
            <p:oleObj spid="_x0000_s57379" name="Equation" r:id="rId3" imgW="1879600" imgH="393700" progId="Equation.DSMT4">
              <p:embed/>
            </p:oleObj>
          </a:graphicData>
        </a:graphic>
      </p:graphicFrame>
      <p:grpSp>
        <p:nvGrpSpPr>
          <p:cNvPr id="2" name="Group 51"/>
          <p:cNvGrpSpPr>
            <a:grpSpLocks/>
          </p:cNvGrpSpPr>
          <p:nvPr/>
        </p:nvGrpSpPr>
        <p:grpSpPr bwMode="auto">
          <a:xfrm>
            <a:off x="4284663" y="1330325"/>
            <a:ext cx="1873250" cy="954088"/>
            <a:chOff x="2154" y="799"/>
            <a:chExt cx="1225" cy="800"/>
          </a:xfrm>
        </p:grpSpPr>
        <p:grpSp>
          <p:nvGrpSpPr>
            <p:cNvPr id="57394" name="Group 38"/>
            <p:cNvGrpSpPr>
              <a:grpSpLocks/>
            </p:cNvGrpSpPr>
            <p:nvPr/>
          </p:nvGrpSpPr>
          <p:grpSpPr bwMode="auto">
            <a:xfrm>
              <a:off x="2200" y="799"/>
              <a:ext cx="1134" cy="499"/>
              <a:chOff x="2200" y="799"/>
              <a:chExt cx="1134" cy="499"/>
            </a:xfrm>
          </p:grpSpPr>
          <p:sp>
            <p:nvSpPr>
              <p:cNvPr id="57398" name="Line 36"/>
              <p:cNvSpPr>
                <a:spLocks noChangeShapeType="1"/>
              </p:cNvSpPr>
              <p:nvPr/>
            </p:nvSpPr>
            <p:spPr bwMode="auto">
              <a:xfrm>
                <a:off x="2200" y="799"/>
                <a:ext cx="0" cy="499"/>
              </a:xfrm>
              <a:prstGeom prst="line">
                <a:avLst/>
              </a:prstGeom>
              <a:noFill/>
              <a:ln w="28575">
                <a:solidFill>
                  <a:srgbClr val="FF0000"/>
                </a:solidFill>
                <a:round/>
                <a:headEnd/>
                <a:tailEnd/>
              </a:ln>
            </p:spPr>
            <p:txBody>
              <a:bodyPr/>
              <a:lstStyle/>
              <a:p>
                <a:endParaRPr lang="zh-CN" altLang="en-US"/>
              </a:p>
            </p:txBody>
          </p:sp>
          <p:sp>
            <p:nvSpPr>
              <p:cNvPr id="57399" name="Line 37"/>
              <p:cNvSpPr>
                <a:spLocks noChangeShapeType="1"/>
              </p:cNvSpPr>
              <p:nvPr/>
            </p:nvSpPr>
            <p:spPr bwMode="auto">
              <a:xfrm>
                <a:off x="3334" y="799"/>
                <a:ext cx="0" cy="499"/>
              </a:xfrm>
              <a:prstGeom prst="line">
                <a:avLst/>
              </a:prstGeom>
              <a:noFill/>
              <a:ln w="28575">
                <a:solidFill>
                  <a:srgbClr val="FF0000"/>
                </a:solidFill>
                <a:round/>
                <a:headEnd/>
                <a:tailEnd/>
              </a:ln>
            </p:spPr>
            <p:txBody>
              <a:bodyPr/>
              <a:lstStyle/>
              <a:p>
                <a:endParaRPr lang="zh-CN" altLang="en-US"/>
              </a:p>
            </p:txBody>
          </p:sp>
        </p:grpSp>
        <p:grpSp>
          <p:nvGrpSpPr>
            <p:cNvPr id="57395" name="Group 48"/>
            <p:cNvGrpSpPr>
              <a:grpSpLocks/>
            </p:cNvGrpSpPr>
            <p:nvPr/>
          </p:nvGrpSpPr>
          <p:grpSpPr bwMode="auto">
            <a:xfrm>
              <a:off x="2154" y="1328"/>
              <a:ext cx="1225" cy="271"/>
              <a:chOff x="2154" y="1328"/>
              <a:chExt cx="1225" cy="271"/>
            </a:xfrm>
          </p:grpSpPr>
          <p:sp>
            <p:nvSpPr>
              <p:cNvPr id="57396" name="Rectangle 8"/>
              <p:cNvSpPr>
                <a:spLocks noChangeArrowheads="1"/>
              </p:cNvSpPr>
              <p:nvPr/>
            </p:nvSpPr>
            <p:spPr bwMode="auto">
              <a:xfrm>
                <a:off x="2426" y="1328"/>
                <a:ext cx="726" cy="271"/>
              </a:xfrm>
              <a:prstGeom prst="rect">
                <a:avLst/>
              </a:prstGeom>
              <a:noFill/>
              <a:ln w="9525">
                <a:noFill/>
                <a:miter lim="800000"/>
                <a:headEnd/>
                <a:tailEnd/>
              </a:ln>
            </p:spPr>
            <p:txBody>
              <a:bodyPr>
                <a:spAutoFit/>
              </a:bodyPr>
              <a:lstStyle/>
              <a:p>
                <a:pPr algn="ctr"/>
                <a:r>
                  <a:rPr lang="zh-CN" altLang="en-US" sz="1500" b="1">
                    <a:latin typeface="华文中宋"/>
                    <a:ea typeface="华文中宋"/>
                    <a:cs typeface="华文中宋"/>
                  </a:rPr>
                  <a:t>振幅</a:t>
                </a:r>
                <a:endParaRPr lang="zh-CN" altLang="en-US" sz="1500" b="1">
                  <a:latin typeface="华文中宋"/>
                  <a:ea typeface="华文中宋"/>
                  <a:cs typeface="华文中宋"/>
                  <a:sym typeface="Symbol" pitchFamily="18" charset="2"/>
                </a:endParaRPr>
              </a:p>
            </p:txBody>
          </p:sp>
          <p:sp>
            <p:nvSpPr>
              <p:cNvPr id="57397" name="Line 39"/>
              <p:cNvSpPr>
                <a:spLocks noChangeShapeType="1"/>
              </p:cNvSpPr>
              <p:nvPr/>
            </p:nvSpPr>
            <p:spPr bwMode="auto">
              <a:xfrm>
                <a:off x="2154" y="1344"/>
                <a:ext cx="1225" cy="0"/>
              </a:xfrm>
              <a:prstGeom prst="line">
                <a:avLst/>
              </a:prstGeom>
              <a:noFill/>
              <a:ln w="57150" cmpd="thinThick">
                <a:solidFill>
                  <a:srgbClr val="009900"/>
                </a:solidFill>
                <a:round/>
                <a:headEnd/>
                <a:tailEnd/>
              </a:ln>
            </p:spPr>
            <p:txBody>
              <a:bodyPr/>
              <a:lstStyle/>
              <a:p>
                <a:endParaRPr lang="zh-CN" altLang="en-US"/>
              </a:p>
            </p:txBody>
          </p:sp>
        </p:grpSp>
      </p:grpSp>
      <p:grpSp>
        <p:nvGrpSpPr>
          <p:cNvPr id="5" name="Group 44"/>
          <p:cNvGrpSpPr>
            <a:grpSpLocks/>
          </p:cNvGrpSpPr>
          <p:nvPr/>
        </p:nvGrpSpPr>
        <p:grpSpPr bwMode="auto">
          <a:xfrm>
            <a:off x="1979613" y="2506663"/>
            <a:ext cx="4968875" cy="1468437"/>
            <a:chOff x="975" y="1525"/>
            <a:chExt cx="3130" cy="1233"/>
          </a:xfrm>
        </p:grpSpPr>
        <p:graphicFrame>
          <p:nvGraphicFramePr>
            <p:cNvPr id="57380" name="Object 36"/>
            <p:cNvGraphicFramePr>
              <a:graphicFrameLocks noChangeAspect="1"/>
            </p:cNvGraphicFramePr>
            <p:nvPr/>
          </p:nvGraphicFramePr>
          <p:xfrm>
            <a:off x="1111" y="1570"/>
            <a:ext cx="2767" cy="1188"/>
          </p:xfrm>
          <a:graphic>
            <a:graphicData uri="http://schemas.openxmlformats.org/presentationml/2006/ole">
              <p:oleObj spid="_x0000_s57380" name="Graph" r:id="rId4" imgW="4166006" imgH="3138221" progId="">
                <p:embed/>
              </p:oleObj>
            </a:graphicData>
          </a:graphic>
        </p:graphicFrame>
        <p:sp>
          <p:nvSpPr>
            <p:cNvPr id="57392" name="Line 42"/>
            <p:cNvSpPr>
              <a:spLocks noChangeShapeType="1"/>
            </p:cNvSpPr>
            <p:nvPr/>
          </p:nvSpPr>
          <p:spPr bwMode="auto">
            <a:xfrm>
              <a:off x="975" y="2205"/>
              <a:ext cx="3130" cy="0"/>
            </a:xfrm>
            <a:prstGeom prst="line">
              <a:avLst/>
            </a:prstGeom>
            <a:noFill/>
            <a:ln w="28575">
              <a:solidFill>
                <a:schemeClr val="tx1"/>
              </a:solidFill>
              <a:round/>
              <a:headEnd/>
              <a:tailEnd type="stealth" w="lg" len="lg"/>
            </a:ln>
          </p:spPr>
          <p:txBody>
            <a:bodyPr/>
            <a:lstStyle/>
            <a:p>
              <a:endParaRPr lang="zh-CN" altLang="en-US"/>
            </a:p>
          </p:txBody>
        </p:sp>
        <p:sp>
          <p:nvSpPr>
            <p:cNvPr id="57393" name="Line 43"/>
            <p:cNvSpPr>
              <a:spLocks noChangeShapeType="1"/>
            </p:cNvSpPr>
            <p:nvPr/>
          </p:nvSpPr>
          <p:spPr bwMode="auto">
            <a:xfrm flipV="1">
              <a:off x="1111" y="1525"/>
              <a:ext cx="0" cy="1179"/>
            </a:xfrm>
            <a:prstGeom prst="line">
              <a:avLst/>
            </a:prstGeom>
            <a:noFill/>
            <a:ln w="28575">
              <a:solidFill>
                <a:schemeClr val="tx1"/>
              </a:solidFill>
              <a:round/>
              <a:headEnd/>
              <a:tailEnd type="stealth" w="lg" len="lg"/>
            </a:ln>
          </p:spPr>
          <p:txBody>
            <a:bodyPr/>
            <a:lstStyle/>
            <a:p>
              <a:endParaRPr lang="zh-CN" altLang="en-US"/>
            </a:p>
          </p:txBody>
        </p:sp>
      </p:grpSp>
      <p:grpSp>
        <p:nvGrpSpPr>
          <p:cNvPr id="6" name="Group 50"/>
          <p:cNvGrpSpPr>
            <a:grpSpLocks/>
          </p:cNvGrpSpPr>
          <p:nvPr/>
        </p:nvGrpSpPr>
        <p:grpSpPr bwMode="auto">
          <a:xfrm>
            <a:off x="5178425" y="3579813"/>
            <a:ext cx="1338263" cy="439737"/>
            <a:chOff x="3106" y="2612"/>
            <a:chExt cx="1308" cy="582"/>
          </a:xfrm>
        </p:grpSpPr>
        <p:graphicFrame>
          <p:nvGraphicFramePr>
            <p:cNvPr id="57381" name="Object 37"/>
            <p:cNvGraphicFramePr>
              <a:graphicFrameLocks noChangeAspect="1"/>
            </p:cNvGraphicFramePr>
            <p:nvPr/>
          </p:nvGraphicFramePr>
          <p:xfrm>
            <a:off x="3333" y="2623"/>
            <a:ext cx="1081" cy="571"/>
          </p:xfrm>
          <a:graphic>
            <a:graphicData uri="http://schemas.openxmlformats.org/presentationml/2006/ole">
              <p:oleObj spid="_x0000_s57381" name="Equation" r:id="rId5" imgW="748975" imgH="393529" progId="Equation.DSMT4">
                <p:embed/>
              </p:oleObj>
            </a:graphicData>
          </a:graphic>
        </p:graphicFrame>
        <p:sp>
          <p:nvSpPr>
            <p:cNvPr id="57391" name="Line 46"/>
            <p:cNvSpPr>
              <a:spLocks noChangeShapeType="1"/>
            </p:cNvSpPr>
            <p:nvPr/>
          </p:nvSpPr>
          <p:spPr bwMode="auto">
            <a:xfrm flipH="1" flipV="1">
              <a:off x="3106" y="2612"/>
              <a:ext cx="182" cy="181"/>
            </a:xfrm>
            <a:prstGeom prst="line">
              <a:avLst/>
            </a:prstGeom>
            <a:noFill/>
            <a:ln w="25400">
              <a:solidFill>
                <a:schemeClr val="tx1"/>
              </a:solidFill>
              <a:round/>
              <a:headEnd/>
              <a:tailEnd type="stealth" w="lg" len="lg"/>
            </a:ln>
          </p:spPr>
          <p:txBody>
            <a:bodyPr/>
            <a:lstStyle/>
            <a:p>
              <a:endParaRPr lang="zh-CN" altLang="en-US"/>
            </a:p>
          </p:txBody>
        </p:sp>
      </p:grpSp>
      <p:grpSp>
        <p:nvGrpSpPr>
          <p:cNvPr id="7" name="Group 49"/>
          <p:cNvGrpSpPr>
            <a:grpSpLocks/>
          </p:cNvGrpSpPr>
          <p:nvPr/>
        </p:nvGrpSpPr>
        <p:grpSpPr bwMode="auto">
          <a:xfrm>
            <a:off x="2484438" y="2355850"/>
            <a:ext cx="1150937" cy="576263"/>
            <a:chOff x="1419" y="1626"/>
            <a:chExt cx="1154" cy="744"/>
          </a:xfrm>
        </p:grpSpPr>
        <p:graphicFrame>
          <p:nvGraphicFramePr>
            <p:cNvPr id="57382" name="Object 38"/>
            <p:cNvGraphicFramePr>
              <a:graphicFrameLocks noChangeAspect="1"/>
            </p:cNvGraphicFramePr>
            <p:nvPr/>
          </p:nvGraphicFramePr>
          <p:xfrm>
            <a:off x="1419" y="1626"/>
            <a:ext cx="1154" cy="625"/>
          </p:xfrm>
          <a:graphic>
            <a:graphicData uri="http://schemas.openxmlformats.org/presentationml/2006/ole">
              <p:oleObj spid="_x0000_s57382" name="Equation" r:id="rId6" imgW="799753" imgH="431613" progId="Equation.DSMT4">
                <p:embed/>
              </p:oleObj>
            </a:graphicData>
          </a:graphic>
        </p:graphicFrame>
        <p:sp>
          <p:nvSpPr>
            <p:cNvPr id="57390" name="Line 47"/>
            <p:cNvSpPr>
              <a:spLocks noChangeShapeType="1"/>
            </p:cNvSpPr>
            <p:nvPr/>
          </p:nvSpPr>
          <p:spPr bwMode="auto">
            <a:xfrm>
              <a:off x="2319" y="2279"/>
              <a:ext cx="182" cy="91"/>
            </a:xfrm>
            <a:prstGeom prst="line">
              <a:avLst/>
            </a:prstGeom>
            <a:noFill/>
            <a:ln w="25400">
              <a:solidFill>
                <a:schemeClr val="tx1"/>
              </a:solidFill>
              <a:round/>
              <a:headEnd/>
              <a:tailEnd type="stealth" w="lg" len="lg"/>
            </a:ln>
          </p:spPr>
          <p:txBody>
            <a:bodyPr/>
            <a:lstStyle/>
            <a:p>
              <a:endParaRPr lang="zh-CN" altLang="en-US"/>
            </a:p>
          </p:txBody>
        </p:sp>
      </p:grpSp>
      <p:sp>
        <p:nvSpPr>
          <p:cNvPr id="23" name="Text Box 2"/>
          <p:cNvSpPr>
            <a:spLocks noChangeArrowheads="1"/>
          </p:cNvSpPr>
          <p:nvPr/>
        </p:nvSpPr>
        <p:spPr bwMode="auto">
          <a:xfrm>
            <a:off x="828675" y="874713"/>
            <a:ext cx="1943100" cy="401637"/>
          </a:xfrm>
          <a:prstGeom prst="homePlate">
            <a:avLst>
              <a:gd name="adj" fmla="val 49611"/>
            </a:avLst>
          </a:prstGeom>
          <a:solidFill>
            <a:srgbClr val="539A84"/>
          </a:solidFill>
          <a:ln w="9525">
            <a:noFill/>
            <a:miter lim="800000"/>
            <a:headEnd/>
            <a:tailEnd/>
          </a:ln>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三、驻波特征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65540"/>
                                        </p:tgtEl>
                                        <p:attrNameLst>
                                          <p:attrName>style.visibility</p:attrName>
                                        </p:attrNameLst>
                                      </p:cBhvr>
                                      <p:to>
                                        <p:strVal val="visible"/>
                                      </p:to>
                                    </p:set>
                                    <p:anim calcmode="lin" valueType="num">
                                      <p:cBhvr>
                                        <p:cTn id="12" dur="500" fill="hold"/>
                                        <p:tgtEl>
                                          <p:spTgt spid="65540"/>
                                        </p:tgtEl>
                                        <p:attrNameLst>
                                          <p:attrName>ppt_x</p:attrName>
                                        </p:attrNameLst>
                                      </p:cBhvr>
                                      <p:tavLst>
                                        <p:tav tm="0">
                                          <p:val>
                                            <p:strVal val="#ppt_x-#ppt_w/2"/>
                                          </p:val>
                                        </p:tav>
                                        <p:tav tm="100000">
                                          <p:val>
                                            <p:strVal val="#ppt_x"/>
                                          </p:val>
                                        </p:tav>
                                      </p:tavLst>
                                    </p:anim>
                                    <p:anim calcmode="lin" valueType="num">
                                      <p:cBhvr>
                                        <p:cTn id="13" dur="500" fill="hold"/>
                                        <p:tgtEl>
                                          <p:spTgt spid="65540"/>
                                        </p:tgtEl>
                                        <p:attrNameLst>
                                          <p:attrName>ppt_y</p:attrName>
                                        </p:attrNameLst>
                                      </p:cBhvr>
                                      <p:tavLst>
                                        <p:tav tm="0">
                                          <p:val>
                                            <p:strVal val="#ppt_y"/>
                                          </p:val>
                                        </p:tav>
                                        <p:tav tm="100000">
                                          <p:val>
                                            <p:strVal val="#ppt_y"/>
                                          </p:val>
                                        </p:tav>
                                      </p:tavLst>
                                    </p:anim>
                                    <p:anim calcmode="lin" valueType="num">
                                      <p:cBhvr>
                                        <p:cTn id="14" dur="500" fill="hold"/>
                                        <p:tgtEl>
                                          <p:spTgt spid="65540"/>
                                        </p:tgtEl>
                                        <p:attrNameLst>
                                          <p:attrName>ppt_w</p:attrName>
                                        </p:attrNameLst>
                                      </p:cBhvr>
                                      <p:tavLst>
                                        <p:tav tm="0">
                                          <p:val>
                                            <p:fltVal val="0"/>
                                          </p:val>
                                        </p:tav>
                                        <p:tav tm="100000">
                                          <p:val>
                                            <p:strVal val="#ppt_w"/>
                                          </p:val>
                                        </p:tav>
                                      </p:tavLst>
                                    </p:anim>
                                    <p:anim calcmode="lin" valueType="num">
                                      <p:cBhvr>
                                        <p:cTn id="15" dur="500" fill="hold"/>
                                        <p:tgtEl>
                                          <p:spTgt spid="65540"/>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8" fill="hold" nodeType="clickEffect">
                                  <p:stCondLst>
                                    <p:cond delay="0"/>
                                  </p:stCondLst>
                                  <p:childTnLst>
                                    <p:set>
                                      <p:cBhvr>
                                        <p:cTn id="19" dur="1" fill="hold">
                                          <p:stCondLst>
                                            <p:cond delay="0"/>
                                          </p:stCondLst>
                                        </p:cTn>
                                        <p:tgtEl>
                                          <p:spTgt spid="97315"/>
                                        </p:tgtEl>
                                        <p:attrNameLst>
                                          <p:attrName>style.visibility</p:attrName>
                                        </p:attrNameLst>
                                      </p:cBhvr>
                                      <p:to>
                                        <p:strVal val="visible"/>
                                      </p:to>
                                    </p:set>
                                    <p:anim calcmode="lin" valueType="num">
                                      <p:cBhvr>
                                        <p:cTn id="20" dur="500" fill="hold"/>
                                        <p:tgtEl>
                                          <p:spTgt spid="97315"/>
                                        </p:tgtEl>
                                        <p:attrNameLst>
                                          <p:attrName>ppt_x</p:attrName>
                                        </p:attrNameLst>
                                      </p:cBhvr>
                                      <p:tavLst>
                                        <p:tav tm="0">
                                          <p:val>
                                            <p:strVal val="#ppt_x-#ppt_w/2"/>
                                          </p:val>
                                        </p:tav>
                                        <p:tav tm="100000">
                                          <p:val>
                                            <p:strVal val="#ppt_x"/>
                                          </p:val>
                                        </p:tav>
                                      </p:tavLst>
                                    </p:anim>
                                    <p:anim calcmode="lin" valueType="num">
                                      <p:cBhvr>
                                        <p:cTn id="21" dur="500" fill="hold"/>
                                        <p:tgtEl>
                                          <p:spTgt spid="97315"/>
                                        </p:tgtEl>
                                        <p:attrNameLst>
                                          <p:attrName>ppt_y</p:attrName>
                                        </p:attrNameLst>
                                      </p:cBhvr>
                                      <p:tavLst>
                                        <p:tav tm="0">
                                          <p:val>
                                            <p:strVal val="#ppt_y"/>
                                          </p:val>
                                        </p:tav>
                                        <p:tav tm="100000">
                                          <p:val>
                                            <p:strVal val="#ppt_y"/>
                                          </p:val>
                                        </p:tav>
                                      </p:tavLst>
                                    </p:anim>
                                    <p:anim calcmode="lin" valueType="num">
                                      <p:cBhvr>
                                        <p:cTn id="22" dur="500" fill="hold"/>
                                        <p:tgtEl>
                                          <p:spTgt spid="97315"/>
                                        </p:tgtEl>
                                        <p:attrNameLst>
                                          <p:attrName>ppt_w</p:attrName>
                                        </p:attrNameLst>
                                      </p:cBhvr>
                                      <p:tavLst>
                                        <p:tav tm="0">
                                          <p:val>
                                            <p:fltVal val="0"/>
                                          </p:val>
                                        </p:tav>
                                        <p:tav tm="100000">
                                          <p:val>
                                            <p:strVal val="#ppt_w"/>
                                          </p:val>
                                        </p:tav>
                                      </p:tavLst>
                                    </p:anim>
                                    <p:anim calcmode="lin" valueType="num">
                                      <p:cBhvr>
                                        <p:cTn id="23" dur="500" fill="hold"/>
                                        <p:tgtEl>
                                          <p:spTgt spid="97315"/>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blinds(horizontal)">
                                      <p:cBhvr>
                                        <p:cTn id="33" dur="500"/>
                                        <p:tgtEl>
                                          <p:spTgt spid="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blinds(horizontal)">
                                      <p:cBhvr>
                                        <p:cTn id="38" dur="500"/>
                                        <p:tgtEl>
                                          <p:spTgt spid="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blinds(horizontal)">
                                      <p:cBhvr>
                                        <p:cTn id="43" dur="500"/>
                                        <p:tgtEl>
                                          <p:spTgt spid="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7" presetClass="entr" presetSubtype="8" fill="hold" grpId="0" nodeType="clickEffect">
                                  <p:stCondLst>
                                    <p:cond delay="0"/>
                                  </p:stCondLst>
                                  <p:childTnLst>
                                    <p:set>
                                      <p:cBhvr>
                                        <p:cTn id="47" dur="1" fill="hold">
                                          <p:stCondLst>
                                            <p:cond delay="0"/>
                                          </p:stCondLst>
                                        </p:cTn>
                                        <p:tgtEl>
                                          <p:spTgt spid="65539"/>
                                        </p:tgtEl>
                                        <p:attrNameLst>
                                          <p:attrName>style.visibility</p:attrName>
                                        </p:attrNameLst>
                                      </p:cBhvr>
                                      <p:to>
                                        <p:strVal val="visible"/>
                                      </p:to>
                                    </p:set>
                                    <p:anim calcmode="lin" valueType="num">
                                      <p:cBhvr>
                                        <p:cTn id="48" dur="500" fill="hold"/>
                                        <p:tgtEl>
                                          <p:spTgt spid="65539"/>
                                        </p:tgtEl>
                                        <p:attrNameLst>
                                          <p:attrName>ppt_x</p:attrName>
                                        </p:attrNameLst>
                                      </p:cBhvr>
                                      <p:tavLst>
                                        <p:tav tm="0">
                                          <p:val>
                                            <p:strVal val="#ppt_x-#ppt_w/2"/>
                                          </p:val>
                                        </p:tav>
                                        <p:tav tm="100000">
                                          <p:val>
                                            <p:strVal val="#ppt_x"/>
                                          </p:val>
                                        </p:tav>
                                      </p:tavLst>
                                    </p:anim>
                                    <p:anim calcmode="lin" valueType="num">
                                      <p:cBhvr>
                                        <p:cTn id="49" dur="500" fill="hold"/>
                                        <p:tgtEl>
                                          <p:spTgt spid="65539"/>
                                        </p:tgtEl>
                                        <p:attrNameLst>
                                          <p:attrName>ppt_y</p:attrName>
                                        </p:attrNameLst>
                                      </p:cBhvr>
                                      <p:tavLst>
                                        <p:tav tm="0">
                                          <p:val>
                                            <p:strVal val="#ppt_y"/>
                                          </p:val>
                                        </p:tav>
                                        <p:tav tm="100000">
                                          <p:val>
                                            <p:strVal val="#ppt_y"/>
                                          </p:val>
                                        </p:tav>
                                      </p:tavLst>
                                    </p:anim>
                                    <p:anim calcmode="lin" valueType="num">
                                      <p:cBhvr>
                                        <p:cTn id="50" dur="500" fill="hold"/>
                                        <p:tgtEl>
                                          <p:spTgt spid="65539"/>
                                        </p:tgtEl>
                                        <p:attrNameLst>
                                          <p:attrName>ppt_w</p:attrName>
                                        </p:attrNameLst>
                                      </p:cBhvr>
                                      <p:tavLst>
                                        <p:tav tm="0">
                                          <p:val>
                                            <p:fltVal val="0"/>
                                          </p:val>
                                        </p:tav>
                                        <p:tav tm="100000">
                                          <p:val>
                                            <p:strVal val="#ppt_w"/>
                                          </p:val>
                                        </p:tav>
                                      </p:tavLst>
                                    </p:anim>
                                    <p:anim calcmode="lin" valueType="num">
                                      <p:cBhvr>
                                        <p:cTn id="51" dur="500" fill="hold"/>
                                        <p:tgtEl>
                                          <p:spTgt spid="6553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autoUpdateAnimBg="0"/>
      <p:bldP spid="65540" grpId="0" autoUpdateAnimBg="0"/>
      <p:bldP spid="2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395288" y="771525"/>
            <a:ext cx="2160587" cy="369888"/>
          </a:xfrm>
          <a:prstGeom prst="rect">
            <a:avLst/>
          </a:prstGeom>
          <a:noFill/>
          <a:ln w="9525">
            <a:noFill/>
            <a:miter lim="800000"/>
            <a:headEnd/>
            <a:tailEnd/>
          </a:ln>
        </p:spPr>
        <p:txBody>
          <a:bodyPr>
            <a:spAutoFit/>
          </a:bodyPr>
          <a:lstStyle/>
          <a:p>
            <a:pPr>
              <a:buClr>
                <a:srgbClr val="FF66FF"/>
              </a:buClr>
              <a:buSzPct val="120000"/>
              <a:buFont typeface="Wingdings" pitchFamily="2" charset="2"/>
              <a:buNone/>
            </a:pPr>
            <a:r>
              <a:rPr lang="zh-CN" altLang="en-US" sz="1800" b="1">
                <a:ea typeface="华文中宋"/>
                <a:cs typeface="华文中宋"/>
              </a:rPr>
              <a:t>波节和波腹位置</a:t>
            </a:r>
            <a:endParaRPr lang="zh-CN" altLang="en-US" sz="1800" b="1">
              <a:ea typeface="华文中宋"/>
              <a:cs typeface="华文中宋"/>
              <a:sym typeface="Symbol" pitchFamily="18" charset="2"/>
            </a:endParaRPr>
          </a:p>
        </p:txBody>
      </p:sp>
      <p:sp>
        <p:nvSpPr>
          <p:cNvPr id="66565" name="Rectangle 5"/>
          <p:cNvSpPr>
            <a:spLocks noChangeArrowheads="1"/>
          </p:cNvSpPr>
          <p:nvPr/>
        </p:nvSpPr>
        <p:spPr bwMode="auto">
          <a:xfrm>
            <a:off x="1816100" y="2266950"/>
            <a:ext cx="1531938" cy="323850"/>
          </a:xfrm>
          <a:prstGeom prst="rect">
            <a:avLst/>
          </a:prstGeom>
          <a:noFill/>
          <a:ln w="9525">
            <a:noFill/>
            <a:miter lim="800000"/>
            <a:headEnd/>
            <a:tailEnd/>
          </a:ln>
        </p:spPr>
        <p:txBody>
          <a:bodyPr wrap="none">
            <a:spAutoFit/>
          </a:bodyPr>
          <a:lstStyle/>
          <a:p>
            <a:r>
              <a:rPr lang="zh-CN" altLang="en-US" sz="1500" b="1">
                <a:ea typeface="华文中宋"/>
                <a:cs typeface="华文中宋"/>
              </a:rPr>
              <a:t>波腹：振幅极大</a:t>
            </a:r>
          </a:p>
        </p:txBody>
      </p:sp>
      <p:grpSp>
        <p:nvGrpSpPr>
          <p:cNvPr id="2" name="Group 70"/>
          <p:cNvGrpSpPr>
            <a:grpSpLocks/>
          </p:cNvGrpSpPr>
          <p:nvPr/>
        </p:nvGrpSpPr>
        <p:grpSpPr bwMode="auto">
          <a:xfrm>
            <a:off x="1033463" y="4368800"/>
            <a:ext cx="4618037" cy="811213"/>
            <a:chOff x="521" y="3552"/>
            <a:chExt cx="2909" cy="682"/>
          </a:xfrm>
        </p:grpSpPr>
        <p:sp>
          <p:nvSpPr>
            <p:cNvPr id="58542" name="Rectangle 14"/>
            <p:cNvSpPr>
              <a:spLocks noChangeArrowheads="1"/>
            </p:cNvSpPr>
            <p:nvPr/>
          </p:nvSpPr>
          <p:spPr bwMode="auto">
            <a:xfrm>
              <a:off x="521" y="3552"/>
              <a:ext cx="2909" cy="682"/>
            </a:xfrm>
            <a:prstGeom prst="rect">
              <a:avLst/>
            </a:prstGeom>
            <a:noFill/>
            <a:ln w="9525">
              <a:noFill/>
              <a:miter lim="800000"/>
              <a:headEnd/>
              <a:tailEnd/>
            </a:ln>
          </p:spPr>
          <p:txBody>
            <a:bodyPr>
              <a:spAutoFit/>
            </a:bodyPr>
            <a:lstStyle/>
            <a:p>
              <a:r>
                <a:rPr lang="zh-CN" altLang="en-US" sz="1800" b="1">
                  <a:ea typeface="华文中宋"/>
                  <a:cs typeface="华文中宋"/>
                </a:rPr>
                <a:t>（</a:t>
              </a:r>
              <a:r>
                <a:rPr lang="en-US" altLang="zh-CN" sz="1800" b="1">
                  <a:ea typeface="华文中宋"/>
                  <a:cs typeface="华文中宋"/>
                </a:rPr>
                <a:t>1</a:t>
              </a:r>
              <a:r>
                <a:rPr lang="zh-CN" altLang="en-US" sz="1800" b="1">
                  <a:ea typeface="华文中宋"/>
                  <a:cs typeface="华文中宋"/>
                </a:rPr>
                <a:t>） 两相邻波节（或波腹）的间距为         ；</a:t>
              </a:r>
            </a:p>
            <a:p>
              <a:pPr>
                <a:lnSpc>
                  <a:spcPct val="160000"/>
                </a:lnSpc>
              </a:pPr>
              <a:r>
                <a:rPr lang="zh-CN" altLang="en-US" sz="1800" b="1">
                  <a:ea typeface="华文中宋"/>
                  <a:cs typeface="华文中宋"/>
                </a:rPr>
                <a:t>（</a:t>
              </a:r>
              <a:r>
                <a:rPr lang="en-US" altLang="zh-CN" sz="1800" b="1">
                  <a:ea typeface="华文中宋"/>
                  <a:cs typeface="华文中宋"/>
                </a:rPr>
                <a:t>2</a:t>
              </a:r>
              <a:r>
                <a:rPr lang="zh-CN" altLang="en-US" sz="1800" b="1">
                  <a:ea typeface="华文中宋"/>
                  <a:cs typeface="华文中宋"/>
                </a:rPr>
                <a:t>） 两相邻波节和波腹之间距为           。 </a:t>
              </a:r>
            </a:p>
          </p:txBody>
        </p:sp>
        <p:graphicFrame>
          <p:nvGraphicFramePr>
            <p:cNvPr id="58485" name="Object 117"/>
            <p:cNvGraphicFramePr>
              <a:graphicFrameLocks noChangeAspect="1"/>
            </p:cNvGraphicFramePr>
            <p:nvPr/>
          </p:nvGraphicFramePr>
          <p:xfrm>
            <a:off x="2958" y="3555"/>
            <a:ext cx="382" cy="308"/>
          </p:xfrm>
          <a:graphic>
            <a:graphicData uri="http://schemas.openxmlformats.org/presentationml/2006/ole">
              <p:oleObj spid="_x0000_s58485" name="公式" r:id="rId4" imgW="203024" imgH="164957" progId="Equation.3">
                <p:embed/>
              </p:oleObj>
            </a:graphicData>
          </a:graphic>
        </p:graphicFrame>
        <p:graphicFrame>
          <p:nvGraphicFramePr>
            <p:cNvPr id="58486" name="Object 118"/>
            <p:cNvGraphicFramePr>
              <a:graphicFrameLocks noChangeAspect="1"/>
            </p:cNvGraphicFramePr>
            <p:nvPr/>
          </p:nvGraphicFramePr>
          <p:xfrm>
            <a:off x="2705" y="3868"/>
            <a:ext cx="363" cy="291"/>
          </p:xfrm>
          <a:graphic>
            <a:graphicData uri="http://schemas.openxmlformats.org/presentationml/2006/ole">
              <p:oleObj spid="_x0000_s58486" name="公式" r:id="rId5" imgW="203024" imgH="164957" progId="Equation.3">
                <p:embed/>
              </p:oleObj>
            </a:graphicData>
          </a:graphic>
        </p:graphicFrame>
      </p:grpSp>
      <p:grpSp>
        <p:nvGrpSpPr>
          <p:cNvPr id="3" name="Group 26"/>
          <p:cNvGrpSpPr>
            <a:grpSpLocks/>
          </p:cNvGrpSpPr>
          <p:nvPr/>
        </p:nvGrpSpPr>
        <p:grpSpPr bwMode="auto">
          <a:xfrm>
            <a:off x="755650" y="1076325"/>
            <a:ext cx="7561263" cy="854075"/>
            <a:chOff x="476" y="763"/>
            <a:chExt cx="4763" cy="717"/>
          </a:xfrm>
        </p:grpSpPr>
        <p:graphicFrame>
          <p:nvGraphicFramePr>
            <p:cNvPr id="58487" name="Object 119"/>
            <p:cNvGraphicFramePr>
              <a:graphicFrameLocks noChangeAspect="1"/>
            </p:cNvGraphicFramePr>
            <p:nvPr/>
          </p:nvGraphicFramePr>
          <p:xfrm>
            <a:off x="1338" y="808"/>
            <a:ext cx="3705" cy="672"/>
          </p:xfrm>
          <a:graphic>
            <a:graphicData uri="http://schemas.openxmlformats.org/presentationml/2006/ole">
              <p:oleObj spid="_x0000_s58487" name="Graph" r:id="rId6" imgW="5329123" imgH="3261360" progId="">
                <p:embed/>
              </p:oleObj>
            </a:graphicData>
          </a:graphic>
        </p:graphicFrame>
        <p:sp>
          <p:nvSpPr>
            <p:cNvPr id="58528" name="Line 6"/>
            <p:cNvSpPr>
              <a:spLocks noChangeShapeType="1"/>
            </p:cNvSpPr>
            <p:nvPr/>
          </p:nvSpPr>
          <p:spPr bwMode="auto">
            <a:xfrm>
              <a:off x="1292" y="1352"/>
              <a:ext cx="3947" cy="0"/>
            </a:xfrm>
            <a:prstGeom prst="line">
              <a:avLst/>
            </a:prstGeom>
            <a:noFill/>
            <a:ln w="25400">
              <a:solidFill>
                <a:schemeClr val="tx1"/>
              </a:solidFill>
              <a:round/>
              <a:headEnd/>
              <a:tailEnd type="stealth" w="lg" len="lg"/>
            </a:ln>
          </p:spPr>
          <p:txBody>
            <a:bodyPr/>
            <a:lstStyle/>
            <a:p>
              <a:endParaRPr lang="zh-CN" altLang="en-US"/>
            </a:p>
          </p:txBody>
        </p:sp>
        <p:sp>
          <p:nvSpPr>
            <p:cNvPr id="58529" name="Line 7"/>
            <p:cNvSpPr>
              <a:spLocks noChangeShapeType="1"/>
            </p:cNvSpPr>
            <p:nvPr/>
          </p:nvSpPr>
          <p:spPr bwMode="auto">
            <a:xfrm flipV="1">
              <a:off x="1701" y="763"/>
              <a:ext cx="0" cy="680"/>
            </a:xfrm>
            <a:prstGeom prst="line">
              <a:avLst/>
            </a:prstGeom>
            <a:noFill/>
            <a:ln w="25400">
              <a:solidFill>
                <a:schemeClr val="tx1"/>
              </a:solidFill>
              <a:round/>
              <a:headEnd/>
              <a:tailEnd type="stealth" w="lg" len="lg"/>
            </a:ln>
          </p:spPr>
          <p:txBody>
            <a:bodyPr/>
            <a:lstStyle/>
            <a:p>
              <a:endParaRPr lang="zh-CN" altLang="en-US"/>
            </a:p>
          </p:txBody>
        </p:sp>
        <p:grpSp>
          <p:nvGrpSpPr>
            <p:cNvPr id="58530" name="Group 15"/>
            <p:cNvGrpSpPr>
              <a:grpSpLocks noChangeAspect="1"/>
            </p:cNvGrpSpPr>
            <p:nvPr/>
          </p:nvGrpSpPr>
          <p:grpSpPr bwMode="auto">
            <a:xfrm>
              <a:off x="476" y="845"/>
              <a:ext cx="861" cy="479"/>
              <a:chOff x="430" y="572"/>
              <a:chExt cx="861" cy="479"/>
            </a:xfrm>
          </p:grpSpPr>
          <p:sp>
            <p:nvSpPr>
              <p:cNvPr id="58531" name="AutoShape 14"/>
              <p:cNvSpPr>
                <a:spLocks noChangeAspect="1" noChangeArrowheads="1" noTextEdit="1"/>
              </p:cNvSpPr>
              <p:nvPr/>
            </p:nvSpPr>
            <p:spPr bwMode="auto">
              <a:xfrm>
                <a:off x="430" y="572"/>
                <a:ext cx="861" cy="479"/>
              </a:xfrm>
              <a:prstGeom prst="rect">
                <a:avLst/>
              </a:prstGeom>
              <a:noFill/>
              <a:ln w="9525">
                <a:noFill/>
                <a:miter lim="800000"/>
                <a:headEnd/>
                <a:tailEnd/>
              </a:ln>
            </p:spPr>
            <p:txBody>
              <a:bodyPr/>
              <a:lstStyle/>
              <a:p>
                <a:endParaRPr lang="zh-CN" altLang="en-US"/>
              </a:p>
            </p:txBody>
          </p:sp>
          <p:sp>
            <p:nvSpPr>
              <p:cNvPr id="58532" name="Line 16"/>
              <p:cNvSpPr>
                <a:spLocks noChangeShapeType="1"/>
              </p:cNvSpPr>
              <p:nvPr/>
            </p:nvSpPr>
            <p:spPr bwMode="auto">
              <a:xfrm>
                <a:off x="904" y="809"/>
                <a:ext cx="199" cy="1"/>
              </a:xfrm>
              <a:prstGeom prst="line">
                <a:avLst/>
              </a:prstGeom>
              <a:noFill/>
              <a:ln w="14288">
                <a:solidFill>
                  <a:srgbClr val="000000"/>
                </a:solidFill>
                <a:round/>
                <a:headEnd/>
                <a:tailEnd/>
              </a:ln>
            </p:spPr>
            <p:txBody>
              <a:bodyPr/>
              <a:lstStyle/>
              <a:p>
                <a:endParaRPr lang="zh-CN" altLang="en-US"/>
              </a:p>
            </p:txBody>
          </p:sp>
          <p:sp>
            <p:nvSpPr>
              <p:cNvPr id="58533" name="Line 17"/>
              <p:cNvSpPr>
                <a:spLocks noChangeShapeType="1"/>
              </p:cNvSpPr>
              <p:nvPr/>
            </p:nvSpPr>
            <p:spPr bwMode="auto">
              <a:xfrm>
                <a:off x="471" y="617"/>
                <a:ext cx="1" cy="384"/>
              </a:xfrm>
              <a:prstGeom prst="line">
                <a:avLst/>
              </a:prstGeom>
              <a:noFill/>
              <a:ln w="14288">
                <a:solidFill>
                  <a:srgbClr val="000000"/>
                </a:solidFill>
                <a:round/>
                <a:headEnd/>
                <a:tailEnd/>
              </a:ln>
            </p:spPr>
            <p:txBody>
              <a:bodyPr/>
              <a:lstStyle/>
              <a:p>
                <a:endParaRPr lang="zh-CN" altLang="en-US"/>
              </a:p>
            </p:txBody>
          </p:sp>
          <p:sp>
            <p:nvSpPr>
              <p:cNvPr id="58534" name="Line 18"/>
              <p:cNvSpPr>
                <a:spLocks noChangeShapeType="1"/>
              </p:cNvSpPr>
              <p:nvPr/>
            </p:nvSpPr>
            <p:spPr bwMode="auto">
              <a:xfrm>
                <a:off x="1229" y="617"/>
                <a:ext cx="1" cy="384"/>
              </a:xfrm>
              <a:prstGeom prst="line">
                <a:avLst/>
              </a:prstGeom>
              <a:noFill/>
              <a:ln w="14288">
                <a:solidFill>
                  <a:srgbClr val="000000"/>
                </a:solidFill>
                <a:round/>
                <a:headEnd/>
                <a:tailEnd/>
              </a:ln>
            </p:spPr>
            <p:txBody>
              <a:bodyPr/>
              <a:lstStyle/>
              <a:p>
                <a:endParaRPr lang="zh-CN" altLang="en-US"/>
              </a:p>
            </p:txBody>
          </p:sp>
          <p:sp>
            <p:nvSpPr>
              <p:cNvPr id="58535" name="Rectangle 19"/>
              <p:cNvSpPr>
                <a:spLocks noChangeArrowheads="1"/>
              </p:cNvSpPr>
              <p:nvPr/>
            </p:nvSpPr>
            <p:spPr bwMode="auto">
              <a:xfrm>
                <a:off x="1140" y="717"/>
                <a:ext cx="73" cy="233"/>
              </a:xfrm>
              <a:prstGeom prst="rect">
                <a:avLst/>
              </a:prstGeom>
              <a:noFill/>
              <a:ln w="9525">
                <a:noFill/>
                <a:miter lim="800000"/>
                <a:headEnd/>
                <a:tailEnd/>
              </a:ln>
            </p:spPr>
            <p:txBody>
              <a:bodyPr wrap="none" lIns="0" tIns="0" rIns="0" bIns="0">
                <a:spAutoFit/>
              </a:bodyPr>
              <a:lstStyle/>
              <a:p>
                <a:r>
                  <a:rPr lang="en-US" altLang="zh-CN" sz="1800" b="1" i="1">
                    <a:solidFill>
                      <a:srgbClr val="000000"/>
                    </a:solidFill>
                  </a:rPr>
                  <a:t>x</a:t>
                </a:r>
                <a:endParaRPr lang="en-US" altLang="zh-CN"/>
              </a:p>
            </p:txBody>
          </p:sp>
          <p:sp>
            <p:nvSpPr>
              <p:cNvPr id="58536" name="Rectangle 20"/>
              <p:cNvSpPr>
                <a:spLocks noChangeArrowheads="1"/>
              </p:cNvSpPr>
              <p:nvPr/>
            </p:nvSpPr>
            <p:spPr bwMode="auto">
              <a:xfrm>
                <a:off x="577" y="717"/>
                <a:ext cx="97" cy="233"/>
              </a:xfrm>
              <a:prstGeom prst="rect">
                <a:avLst/>
              </a:prstGeom>
              <a:noFill/>
              <a:ln w="9525">
                <a:noFill/>
                <a:miter lim="800000"/>
                <a:headEnd/>
                <a:tailEnd/>
              </a:ln>
            </p:spPr>
            <p:txBody>
              <a:bodyPr wrap="none" lIns="0" tIns="0" rIns="0" bIns="0">
                <a:spAutoFit/>
              </a:bodyPr>
              <a:lstStyle/>
              <a:p>
                <a:r>
                  <a:rPr lang="en-US" altLang="zh-CN" sz="1800" b="1" i="1">
                    <a:solidFill>
                      <a:srgbClr val="000000"/>
                    </a:solidFill>
                  </a:rPr>
                  <a:t>A</a:t>
                </a:r>
                <a:endParaRPr lang="en-US" altLang="zh-CN"/>
              </a:p>
            </p:txBody>
          </p:sp>
          <p:sp>
            <p:nvSpPr>
              <p:cNvPr id="58537" name="Rectangle 21"/>
              <p:cNvSpPr>
                <a:spLocks noChangeArrowheads="1"/>
              </p:cNvSpPr>
              <p:nvPr/>
            </p:nvSpPr>
            <p:spPr bwMode="auto">
              <a:xfrm>
                <a:off x="957" y="815"/>
                <a:ext cx="80" cy="233"/>
              </a:xfrm>
              <a:prstGeom prst="rect">
                <a:avLst/>
              </a:prstGeom>
              <a:noFill/>
              <a:ln w="9525">
                <a:noFill/>
                <a:miter lim="800000"/>
                <a:headEnd/>
                <a:tailEnd/>
              </a:ln>
            </p:spPr>
            <p:txBody>
              <a:bodyPr wrap="none" lIns="0" tIns="0" rIns="0" bIns="0">
                <a:spAutoFit/>
              </a:bodyPr>
              <a:lstStyle/>
              <a:p>
                <a:r>
                  <a:rPr lang="en-US" altLang="zh-CN" sz="1800" b="1" i="1">
                    <a:solidFill>
                      <a:srgbClr val="000000"/>
                    </a:solidFill>
                    <a:latin typeface="Symbol" pitchFamily="18" charset="2"/>
                  </a:rPr>
                  <a:t>l</a:t>
                </a:r>
                <a:endParaRPr lang="en-US" altLang="zh-CN"/>
              </a:p>
            </p:txBody>
          </p:sp>
          <p:sp>
            <p:nvSpPr>
              <p:cNvPr id="58538" name="Rectangle 22"/>
              <p:cNvSpPr>
                <a:spLocks noChangeArrowheads="1"/>
              </p:cNvSpPr>
              <p:nvPr/>
            </p:nvSpPr>
            <p:spPr bwMode="auto">
              <a:xfrm>
                <a:off x="986" y="603"/>
                <a:ext cx="80" cy="233"/>
              </a:xfrm>
              <a:prstGeom prst="rect">
                <a:avLst/>
              </a:prstGeom>
              <a:noFill/>
              <a:ln w="9525">
                <a:noFill/>
                <a:miter lim="800000"/>
                <a:headEnd/>
                <a:tailEnd/>
              </a:ln>
            </p:spPr>
            <p:txBody>
              <a:bodyPr wrap="none" lIns="0" tIns="0" rIns="0" bIns="0">
                <a:spAutoFit/>
              </a:bodyPr>
              <a:lstStyle/>
              <a:p>
                <a:r>
                  <a:rPr lang="en-US" altLang="zh-CN" sz="1800" b="1">
                    <a:solidFill>
                      <a:srgbClr val="000000"/>
                    </a:solidFill>
                    <a:latin typeface="Symbol" pitchFamily="18" charset="2"/>
                  </a:rPr>
                  <a:t>p</a:t>
                </a:r>
                <a:endParaRPr lang="en-US" altLang="zh-CN"/>
              </a:p>
            </p:txBody>
          </p:sp>
          <p:sp>
            <p:nvSpPr>
              <p:cNvPr id="58539" name="Rectangle 23"/>
              <p:cNvSpPr>
                <a:spLocks noChangeArrowheads="1"/>
              </p:cNvSpPr>
              <p:nvPr/>
            </p:nvSpPr>
            <p:spPr bwMode="auto">
              <a:xfrm>
                <a:off x="920" y="620"/>
                <a:ext cx="73" cy="233"/>
              </a:xfrm>
              <a:prstGeom prst="rect">
                <a:avLst/>
              </a:prstGeom>
              <a:noFill/>
              <a:ln w="9525">
                <a:noFill/>
                <a:miter lim="800000"/>
                <a:headEnd/>
                <a:tailEnd/>
              </a:ln>
            </p:spPr>
            <p:txBody>
              <a:bodyPr wrap="none" lIns="0" tIns="0" rIns="0" bIns="0">
                <a:spAutoFit/>
              </a:bodyPr>
              <a:lstStyle/>
              <a:p>
                <a:r>
                  <a:rPr lang="en-US" altLang="zh-CN" sz="1800" b="1">
                    <a:solidFill>
                      <a:srgbClr val="000000"/>
                    </a:solidFill>
                  </a:rPr>
                  <a:t>2</a:t>
                </a:r>
                <a:endParaRPr lang="en-US" altLang="zh-CN"/>
              </a:p>
            </p:txBody>
          </p:sp>
          <p:sp>
            <p:nvSpPr>
              <p:cNvPr id="58540" name="Rectangle 24"/>
              <p:cNvSpPr>
                <a:spLocks noChangeArrowheads="1"/>
              </p:cNvSpPr>
              <p:nvPr/>
            </p:nvSpPr>
            <p:spPr bwMode="auto">
              <a:xfrm>
                <a:off x="686" y="717"/>
                <a:ext cx="194" cy="233"/>
              </a:xfrm>
              <a:prstGeom prst="rect">
                <a:avLst/>
              </a:prstGeom>
              <a:noFill/>
              <a:ln w="9525">
                <a:noFill/>
                <a:miter lim="800000"/>
                <a:headEnd/>
                <a:tailEnd/>
              </a:ln>
            </p:spPr>
            <p:txBody>
              <a:bodyPr wrap="none" lIns="0" tIns="0" rIns="0" bIns="0">
                <a:spAutoFit/>
              </a:bodyPr>
              <a:lstStyle/>
              <a:p>
                <a:r>
                  <a:rPr lang="en-US" altLang="zh-CN" sz="1800" b="1">
                    <a:solidFill>
                      <a:srgbClr val="000000"/>
                    </a:solidFill>
                  </a:rPr>
                  <a:t>cos</a:t>
                </a:r>
                <a:endParaRPr lang="en-US" altLang="zh-CN"/>
              </a:p>
            </p:txBody>
          </p:sp>
          <p:sp>
            <p:nvSpPr>
              <p:cNvPr id="58541" name="Rectangle 25"/>
              <p:cNvSpPr>
                <a:spLocks noChangeArrowheads="1"/>
              </p:cNvSpPr>
              <p:nvPr/>
            </p:nvSpPr>
            <p:spPr bwMode="auto">
              <a:xfrm>
                <a:off x="490" y="717"/>
                <a:ext cx="73" cy="233"/>
              </a:xfrm>
              <a:prstGeom prst="rect">
                <a:avLst/>
              </a:prstGeom>
              <a:noFill/>
              <a:ln w="9525">
                <a:noFill/>
                <a:miter lim="800000"/>
                <a:headEnd/>
                <a:tailEnd/>
              </a:ln>
            </p:spPr>
            <p:txBody>
              <a:bodyPr wrap="none" lIns="0" tIns="0" rIns="0" bIns="0">
                <a:spAutoFit/>
              </a:bodyPr>
              <a:lstStyle/>
              <a:p>
                <a:r>
                  <a:rPr lang="en-US" altLang="zh-CN" sz="1800" b="1">
                    <a:solidFill>
                      <a:srgbClr val="000000"/>
                    </a:solidFill>
                  </a:rPr>
                  <a:t>2</a:t>
                </a:r>
                <a:endParaRPr lang="en-US" altLang="zh-CN"/>
              </a:p>
            </p:txBody>
          </p:sp>
        </p:grpSp>
      </p:grpSp>
      <p:graphicFrame>
        <p:nvGraphicFramePr>
          <p:cNvPr id="134172" name="Object 120"/>
          <p:cNvGraphicFramePr>
            <a:graphicFrameLocks noChangeAspect="1"/>
          </p:cNvGraphicFramePr>
          <p:nvPr/>
        </p:nvGraphicFramePr>
        <p:xfrm>
          <a:off x="733425" y="2595563"/>
          <a:ext cx="3983038" cy="1038225"/>
        </p:xfrm>
        <a:graphic>
          <a:graphicData uri="http://schemas.openxmlformats.org/presentationml/2006/ole">
            <p:oleObj spid="_x0000_s58488" name="公式" r:id="rId7" imgW="1765300" imgH="609600" progId="Equation.3">
              <p:embed/>
            </p:oleObj>
          </a:graphicData>
        </a:graphic>
      </p:graphicFrame>
      <p:grpSp>
        <p:nvGrpSpPr>
          <p:cNvPr id="5" name="Group 58"/>
          <p:cNvGrpSpPr>
            <a:grpSpLocks/>
          </p:cNvGrpSpPr>
          <p:nvPr/>
        </p:nvGrpSpPr>
        <p:grpSpPr bwMode="auto">
          <a:xfrm>
            <a:off x="2627313" y="863600"/>
            <a:ext cx="4967287" cy="969963"/>
            <a:chOff x="1655" y="438"/>
            <a:chExt cx="3129" cy="815"/>
          </a:xfrm>
        </p:grpSpPr>
        <p:graphicFrame>
          <p:nvGraphicFramePr>
            <p:cNvPr id="58489" name="Object 121"/>
            <p:cNvGraphicFramePr>
              <a:graphicFrameLocks noChangeAspect="1"/>
            </p:cNvGraphicFramePr>
            <p:nvPr/>
          </p:nvGraphicFramePr>
          <p:xfrm>
            <a:off x="2303" y="456"/>
            <a:ext cx="361" cy="207"/>
          </p:xfrm>
          <a:graphic>
            <a:graphicData uri="http://schemas.openxmlformats.org/presentationml/2006/ole">
              <p:oleObj spid="_x0000_s58489" name="公式" r:id="rId8" imgW="203024" imgH="164957" progId="Equation.3">
                <p:embed/>
              </p:oleObj>
            </a:graphicData>
          </a:graphic>
        </p:graphicFrame>
        <p:grpSp>
          <p:nvGrpSpPr>
            <p:cNvPr id="58523" name="Group 34"/>
            <p:cNvGrpSpPr>
              <a:grpSpLocks/>
            </p:cNvGrpSpPr>
            <p:nvPr/>
          </p:nvGrpSpPr>
          <p:grpSpPr bwMode="auto">
            <a:xfrm>
              <a:off x="2472" y="663"/>
              <a:ext cx="2177" cy="590"/>
              <a:chOff x="2472" y="799"/>
              <a:chExt cx="2177" cy="590"/>
            </a:xfrm>
          </p:grpSpPr>
          <p:sp>
            <p:nvSpPr>
              <p:cNvPr id="58524" name="Line 30"/>
              <p:cNvSpPr>
                <a:spLocks noChangeShapeType="1"/>
              </p:cNvSpPr>
              <p:nvPr/>
            </p:nvSpPr>
            <p:spPr bwMode="auto">
              <a:xfrm>
                <a:off x="2472" y="800"/>
                <a:ext cx="0" cy="589"/>
              </a:xfrm>
              <a:prstGeom prst="line">
                <a:avLst/>
              </a:prstGeom>
              <a:noFill/>
              <a:ln w="19050">
                <a:solidFill>
                  <a:schemeClr val="tx1"/>
                </a:solidFill>
                <a:prstDash val="dash"/>
                <a:round/>
                <a:headEnd/>
                <a:tailEnd/>
              </a:ln>
            </p:spPr>
            <p:txBody>
              <a:bodyPr/>
              <a:lstStyle/>
              <a:p>
                <a:endParaRPr lang="zh-CN" altLang="en-US"/>
              </a:p>
            </p:txBody>
          </p:sp>
          <p:sp>
            <p:nvSpPr>
              <p:cNvPr id="58525" name="Line 31"/>
              <p:cNvSpPr>
                <a:spLocks noChangeShapeType="1"/>
              </p:cNvSpPr>
              <p:nvPr/>
            </p:nvSpPr>
            <p:spPr bwMode="auto">
              <a:xfrm>
                <a:off x="4649" y="799"/>
                <a:ext cx="0" cy="589"/>
              </a:xfrm>
              <a:prstGeom prst="line">
                <a:avLst/>
              </a:prstGeom>
              <a:noFill/>
              <a:ln w="19050">
                <a:solidFill>
                  <a:schemeClr val="tx1"/>
                </a:solidFill>
                <a:prstDash val="dash"/>
                <a:round/>
                <a:headEnd/>
                <a:tailEnd/>
              </a:ln>
            </p:spPr>
            <p:txBody>
              <a:bodyPr/>
              <a:lstStyle/>
              <a:p>
                <a:endParaRPr lang="zh-CN" altLang="en-US"/>
              </a:p>
            </p:txBody>
          </p:sp>
          <p:sp>
            <p:nvSpPr>
              <p:cNvPr id="58526" name="Line 32"/>
              <p:cNvSpPr>
                <a:spLocks noChangeShapeType="1"/>
              </p:cNvSpPr>
              <p:nvPr/>
            </p:nvSpPr>
            <p:spPr bwMode="auto">
              <a:xfrm>
                <a:off x="3923" y="799"/>
                <a:ext cx="0" cy="589"/>
              </a:xfrm>
              <a:prstGeom prst="line">
                <a:avLst/>
              </a:prstGeom>
              <a:noFill/>
              <a:ln w="19050">
                <a:solidFill>
                  <a:schemeClr val="tx1"/>
                </a:solidFill>
                <a:prstDash val="dash"/>
                <a:round/>
                <a:headEnd/>
                <a:tailEnd/>
              </a:ln>
            </p:spPr>
            <p:txBody>
              <a:bodyPr/>
              <a:lstStyle/>
              <a:p>
                <a:endParaRPr lang="zh-CN" altLang="en-US"/>
              </a:p>
            </p:txBody>
          </p:sp>
          <p:sp>
            <p:nvSpPr>
              <p:cNvPr id="58527" name="Line 33"/>
              <p:cNvSpPr>
                <a:spLocks noChangeShapeType="1"/>
              </p:cNvSpPr>
              <p:nvPr/>
            </p:nvSpPr>
            <p:spPr bwMode="auto">
              <a:xfrm>
                <a:off x="3198" y="799"/>
                <a:ext cx="0" cy="589"/>
              </a:xfrm>
              <a:prstGeom prst="line">
                <a:avLst/>
              </a:prstGeom>
              <a:noFill/>
              <a:ln w="19050">
                <a:solidFill>
                  <a:schemeClr val="tx1"/>
                </a:solidFill>
                <a:prstDash val="dash"/>
                <a:round/>
                <a:headEnd/>
                <a:tailEnd/>
              </a:ln>
            </p:spPr>
            <p:txBody>
              <a:bodyPr/>
              <a:lstStyle/>
              <a:p>
                <a:endParaRPr lang="zh-CN" altLang="en-US"/>
              </a:p>
            </p:txBody>
          </p:sp>
        </p:grpSp>
        <p:graphicFrame>
          <p:nvGraphicFramePr>
            <p:cNvPr id="58490" name="Object 122"/>
            <p:cNvGraphicFramePr>
              <a:graphicFrameLocks noChangeAspect="1"/>
            </p:cNvGraphicFramePr>
            <p:nvPr/>
          </p:nvGraphicFramePr>
          <p:xfrm>
            <a:off x="1655" y="488"/>
            <a:ext cx="180" cy="175"/>
          </p:xfrm>
          <a:graphic>
            <a:graphicData uri="http://schemas.openxmlformats.org/presentationml/2006/ole">
              <p:oleObj spid="_x0000_s58490" name="公式" r:id="rId9" imgW="101556" imgH="139639" progId="Equation.3">
                <p:embed/>
              </p:oleObj>
            </a:graphicData>
          </a:graphic>
        </p:graphicFrame>
        <p:graphicFrame>
          <p:nvGraphicFramePr>
            <p:cNvPr id="58491" name="Object 123"/>
            <p:cNvGraphicFramePr>
              <a:graphicFrameLocks noChangeAspect="1"/>
            </p:cNvGraphicFramePr>
            <p:nvPr/>
          </p:nvGraphicFramePr>
          <p:xfrm>
            <a:off x="3084" y="454"/>
            <a:ext cx="203" cy="175"/>
          </p:xfrm>
          <a:graphic>
            <a:graphicData uri="http://schemas.openxmlformats.org/presentationml/2006/ole">
              <p:oleObj spid="_x0000_s58491" name="公式" r:id="rId10" imgW="114201" imgH="139579" progId="Equation.3">
                <p:embed/>
              </p:oleObj>
            </a:graphicData>
          </a:graphic>
        </p:graphicFrame>
        <p:graphicFrame>
          <p:nvGraphicFramePr>
            <p:cNvPr id="58492" name="Object 124"/>
            <p:cNvGraphicFramePr>
              <a:graphicFrameLocks noChangeAspect="1"/>
            </p:cNvGraphicFramePr>
            <p:nvPr/>
          </p:nvGraphicFramePr>
          <p:xfrm>
            <a:off x="3675" y="438"/>
            <a:ext cx="473" cy="207"/>
          </p:xfrm>
          <a:graphic>
            <a:graphicData uri="http://schemas.openxmlformats.org/presentationml/2006/ole">
              <p:oleObj spid="_x0000_s58492" name="公式" r:id="rId11" imgW="266353" imgH="164885" progId="Equation.3">
                <p:embed/>
              </p:oleObj>
            </a:graphicData>
          </a:graphic>
        </p:graphicFrame>
        <p:graphicFrame>
          <p:nvGraphicFramePr>
            <p:cNvPr id="58493" name="Object 125"/>
            <p:cNvGraphicFramePr>
              <a:graphicFrameLocks noChangeAspect="1"/>
            </p:cNvGraphicFramePr>
            <p:nvPr/>
          </p:nvGraphicFramePr>
          <p:xfrm>
            <a:off x="4491" y="454"/>
            <a:ext cx="293" cy="175"/>
          </p:xfrm>
          <a:graphic>
            <a:graphicData uri="http://schemas.openxmlformats.org/presentationml/2006/ole">
              <p:oleObj spid="_x0000_s58493" name="公式" r:id="rId12" imgW="164957" imgH="139579" progId="Equation.3">
                <p:embed/>
              </p:oleObj>
            </a:graphicData>
          </a:graphic>
        </p:graphicFrame>
      </p:grpSp>
      <p:sp>
        <p:nvSpPr>
          <p:cNvPr id="134187" name="Rectangle 43"/>
          <p:cNvSpPr>
            <a:spLocks noChangeArrowheads="1"/>
          </p:cNvSpPr>
          <p:nvPr/>
        </p:nvSpPr>
        <p:spPr bwMode="auto">
          <a:xfrm>
            <a:off x="5632450" y="2301875"/>
            <a:ext cx="1531938" cy="323850"/>
          </a:xfrm>
          <a:prstGeom prst="rect">
            <a:avLst/>
          </a:prstGeom>
          <a:noFill/>
          <a:ln w="9525">
            <a:noFill/>
            <a:miter lim="800000"/>
            <a:headEnd/>
            <a:tailEnd/>
          </a:ln>
        </p:spPr>
        <p:txBody>
          <a:bodyPr wrap="none">
            <a:spAutoFit/>
          </a:bodyPr>
          <a:lstStyle/>
          <a:p>
            <a:r>
              <a:rPr lang="zh-CN" altLang="en-US" sz="1500" b="1">
                <a:ea typeface="华文中宋"/>
                <a:cs typeface="华文中宋"/>
              </a:rPr>
              <a:t>波节：振幅为零</a:t>
            </a:r>
          </a:p>
        </p:txBody>
      </p:sp>
      <p:graphicFrame>
        <p:nvGraphicFramePr>
          <p:cNvPr id="134188" name="Object 126"/>
          <p:cNvGraphicFramePr>
            <a:graphicFrameLocks noChangeAspect="1"/>
          </p:cNvGraphicFramePr>
          <p:nvPr/>
        </p:nvGraphicFramePr>
        <p:xfrm>
          <a:off x="4930775" y="2627313"/>
          <a:ext cx="3386138" cy="1006475"/>
        </p:xfrm>
        <a:graphic>
          <a:graphicData uri="http://schemas.openxmlformats.org/presentationml/2006/ole">
            <p:oleObj spid="_x0000_s58494" name="公式" r:id="rId13" imgW="1549400" imgH="609600" progId="Equation.3">
              <p:embed/>
            </p:oleObj>
          </a:graphicData>
        </a:graphic>
      </p:graphicFrame>
      <p:graphicFrame>
        <p:nvGraphicFramePr>
          <p:cNvPr id="134189" name="Object 127"/>
          <p:cNvGraphicFramePr>
            <a:graphicFrameLocks noChangeAspect="1"/>
          </p:cNvGraphicFramePr>
          <p:nvPr/>
        </p:nvGraphicFramePr>
        <p:xfrm>
          <a:off x="1763713" y="3744913"/>
          <a:ext cx="792162" cy="455612"/>
        </p:xfrm>
        <a:graphic>
          <a:graphicData uri="http://schemas.openxmlformats.org/presentationml/2006/ole">
            <p:oleObj spid="_x0000_s58495" name="公式" r:id="rId14" imgW="380835" imgH="291973" progId="Equation.3">
              <p:embed/>
            </p:oleObj>
          </a:graphicData>
        </a:graphic>
      </p:graphicFrame>
      <p:graphicFrame>
        <p:nvGraphicFramePr>
          <p:cNvPr id="134190" name="Object 128"/>
          <p:cNvGraphicFramePr>
            <a:graphicFrameLocks noChangeAspect="1"/>
          </p:cNvGraphicFramePr>
          <p:nvPr/>
        </p:nvGraphicFramePr>
        <p:xfrm>
          <a:off x="5722938" y="3702050"/>
          <a:ext cx="1512887" cy="522288"/>
        </p:xfrm>
        <a:graphic>
          <a:graphicData uri="http://schemas.openxmlformats.org/presentationml/2006/ole">
            <p:oleObj spid="_x0000_s58496" name="公式" r:id="rId15" imgW="634725" imgH="291973" progId="Equation.3">
              <p:embed/>
            </p:oleObj>
          </a:graphicData>
        </a:graphic>
      </p:graphicFrame>
      <p:sp>
        <p:nvSpPr>
          <p:cNvPr id="134191" name="Line 47"/>
          <p:cNvSpPr>
            <a:spLocks noChangeShapeType="1"/>
          </p:cNvSpPr>
          <p:nvPr/>
        </p:nvSpPr>
        <p:spPr bwMode="auto">
          <a:xfrm>
            <a:off x="4859338" y="2590800"/>
            <a:ext cx="0" cy="1636713"/>
          </a:xfrm>
          <a:prstGeom prst="line">
            <a:avLst/>
          </a:prstGeom>
          <a:noFill/>
          <a:ln w="25400">
            <a:solidFill>
              <a:srgbClr val="339966"/>
            </a:solidFill>
            <a:round/>
            <a:headEnd/>
            <a:tailEnd/>
          </a:ln>
        </p:spPr>
        <p:txBody>
          <a:bodyPr/>
          <a:lstStyle/>
          <a:p>
            <a:endParaRPr lang="zh-CN" altLang="en-US"/>
          </a:p>
        </p:txBody>
      </p:sp>
      <p:sp>
        <p:nvSpPr>
          <p:cNvPr id="134192" name="Rectangle 48"/>
          <p:cNvSpPr>
            <a:spLocks noChangeArrowheads="1"/>
          </p:cNvSpPr>
          <p:nvPr/>
        </p:nvSpPr>
        <p:spPr bwMode="auto">
          <a:xfrm>
            <a:off x="468313" y="4362450"/>
            <a:ext cx="876300" cy="369888"/>
          </a:xfrm>
          <a:prstGeom prst="rect">
            <a:avLst/>
          </a:prstGeom>
          <a:noFill/>
          <a:ln w="9525">
            <a:noFill/>
            <a:miter lim="800000"/>
            <a:headEnd/>
            <a:tailEnd/>
          </a:ln>
        </p:spPr>
        <p:txBody>
          <a:bodyPr wrap="none">
            <a:spAutoFit/>
          </a:bodyPr>
          <a:lstStyle/>
          <a:p>
            <a:r>
              <a:rPr lang="zh-CN" altLang="en-US" sz="1800" b="1">
                <a:solidFill>
                  <a:srgbClr val="FF0000"/>
                </a:solidFill>
                <a:ea typeface="华文中宋"/>
                <a:cs typeface="华文中宋"/>
              </a:rPr>
              <a:t>说明：</a:t>
            </a:r>
          </a:p>
        </p:txBody>
      </p:sp>
      <p:grpSp>
        <p:nvGrpSpPr>
          <p:cNvPr id="7" name="Group 65"/>
          <p:cNvGrpSpPr>
            <a:grpSpLocks/>
          </p:cNvGrpSpPr>
          <p:nvPr/>
        </p:nvGrpSpPr>
        <p:grpSpPr bwMode="auto">
          <a:xfrm>
            <a:off x="2987675" y="1130300"/>
            <a:ext cx="4090988" cy="1081088"/>
            <a:chOff x="1882" y="663"/>
            <a:chExt cx="2577" cy="907"/>
          </a:xfrm>
        </p:grpSpPr>
        <p:sp>
          <p:nvSpPr>
            <p:cNvPr id="58519" name="Line 49"/>
            <p:cNvSpPr>
              <a:spLocks noChangeShapeType="1"/>
            </p:cNvSpPr>
            <p:nvPr/>
          </p:nvSpPr>
          <p:spPr bwMode="auto">
            <a:xfrm>
              <a:off x="2835" y="663"/>
              <a:ext cx="0" cy="681"/>
            </a:xfrm>
            <a:prstGeom prst="line">
              <a:avLst/>
            </a:prstGeom>
            <a:noFill/>
            <a:ln w="19050">
              <a:solidFill>
                <a:srgbClr val="FF0000"/>
              </a:solidFill>
              <a:prstDash val="dash"/>
              <a:round/>
              <a:headEnd/>
              <a:tailEnd/>
            </a:ln>
          </p:spPr>
          <p:txBody>
            <a:bodyPr/>
            <a:lstStyle/>
            <a:p>
              <a:endParaRPr lang="zh-CN" altLang="en-US"/>
            </a:p>
          </p:txBody>
        </p:sp>
        <p:sp>
          <p:nvSpPr>
            <p:cNvPr id="58520" name="Line 50"/>
            <p:cNvSpPr>
              <a:spLocks noChangeShapeType="1"/>
            </p:cNvSpPr>
            <p:nvPr/>
          </p:nvSpPr>
          <p:spPr bwMode="auto">
            <a:xfrm>
              <a:off x="2064" y="663"/>
              <a:ext cx="0" cy="681"/>
            </a:xfrm>
            <a:prstGeom prst="line">
              <a:avLst/>
            </a:prstGeom>
            <a:noFill/>
            <a:ln w="19050">
              <a:solidFill>
                <a:srgbClr val="FF0000"/>
              </a:solidFill>
              <a:prstDash val="dash"/>
              <a:round/>
              <a:headEnd/>
              <a:tailEnd/>
            </a:ln>
          </p:spPr>
          <p:txBody>
            <a:bodyPr/>
            <a:lstStyle/>
            <a:p>
              <a:endParaRPr lang="zh-CN" altLang="en-US"/>
            </a:p>
          </p:txBody>
        </p:sp>
        <p:sp>
          <p:nvSpPr>
            <p:cNvPr id="58521" name="Line 51"/>
            <p:cNvSpPr>
              <a:spLocks noChangeShapeType="1"/>
            </p:cNvSpPr>
            <p:nvPr/>
          </p:nvSpPr>
          <p:spPr bwMode="auto">
            <a:xfrm>
              <a:off x="3560" y="663"/>
              <a:ext cx="0" cy="681"/>
            </a:xfrm>
            <a:prstGeom prst="line">
              <a:avLst/>
            </a:prstGeom>
            <a:noFill/>
            <a:ln w="19050">
              <a:solidFill>
                <a:srgbClr val="FF0000"/>
              </a:solidFill>
              <a:prstDash val="dash"/>
              <a:round/>
              <a:headEnd/>
              <a:tailEnd/>
            </a:ln>
          </p:spPr>
          <p:txBody>
            <a:bodyPr/>
            <a:lstStyle/>
            <a:p>
              <a:endParaRPr lang="zh-CN" altLang="en-US"/>
            </a:p>
          </p:txBody>
        </p:sp>
        <p:sp>
          <p:nvSpPr>
            <p:cNvPr id="58522" name="Line 52"/>
            <p:cNvSpPr>
              <a:spLocks noChangeShapeType="1"/>
            </p:cNvSpPr>
            <p:nvPr/>
          </p:nvSpPr>
          <p:spPr bwMode="auto">
            <a:xfrm>
              <a:off x="4286" y="663"/>
              <a:ext cx="0" cy="681"/>
            </a:xfrm>
            <a:prstGeom prst="line">
              <a:avLst/>
            </a:prstGeom>
            <a:noFill/>
            <a:ln w="19050">
              <a:solidFill>
                <a:srgbClr val="FF0000"/>
              </a:solidFill>
              <a:prstDash val="dash"/>
              <a:round/>
              <a:headEnd/>
              <a:tailEnd/>
            </a:ln>
          </p:spPr>
          <p:txBody>
            <a:bodyPr/>
            <a:lstStyle/>
            <a:p>
              <a:endParaRPr lang="zh-CN" altLang="en-US"/>
            </a:p>
          </p:txBody>
        </p:sp>
        <p:graphicFrame>
          <p:nvGraphicFramePr>
            <p:cNvPr id="58497" name="Object 129"/>
            <p:cNvGraphicFramePr>
              <a:graphicFrameLocks noChangeAspect="1"/>
            </p:cNvGraphicFramePr>
            <p:nvPr/>
          </p:nvGraphicFramePr>
          <p:xfrm>
            <a:off x="1882" y="1349"/>
            <a:ext cx="275" cy="221"/>
          </p:xfrm>
          <a:graphic>
            <a:graphicData uri="http://schemas.openxmlformats.org/presentationml/2006/ole">
              <p:oleObj spid="_x0000_s58497" name="公式" r:id="rId16" imgW="203024" imgH="164957" progId="Equation.3">
                <p:embed/>
              </p:oleObj>
            </a:graphicData>
          </a:graphic>
        </p:graphicFrame>
        <p:graphicFrame>
          <p:nvGraphicFramePr>
            <p:cNvPr id="58498" name="Object 130"/>
            <p:cNvGraphicFramePr>
              <a:graphicFrameLocks noChangeAspect="1"/>
            </p:cNvGraphicFramePr>
            <p:nvPr/>
          </p:nvGraphicFramePr>
          <p:xfrm>
            <a:off x="2619" y="1344"/>
            <a:ext cx="344" cy="221"/>
          </p:xfrm>
          <a:graphic>
            <a:graphicData uri="http://schemas.openxmlformats.org/presentationml/2006/ole">
              <p:oleObj spid="_x0000_s58498" name="公式" r:id="rId17" imgW="253780" imgH="164957" progId="Equation.3">
                <p:embed/>
              </p:oleObj>
            </a:graphicData>
          </a:graphic>
        </p:graphicFrame>
        <p:graphicFrame>
          <p:nvGraphicFramePr>
            <p:cNvPr id="58499" name="Object 131"/>
            <p:cNvGraphicFramePr>
              <a:graphicFrameLocks noChangeAspect="1"/>
            </p:cNvGraphicFramePr>
            <p:nvPr/>
          </p:nvGraphicFramePr>
          <p:xfrm>
            <a:off x="3390" y="1344"/>
            <a:ext cx="344" cy="221"/>
          </p:xfrm>
          <a:graphic>
            <a:graphicData uri="http://schemas.openxmlformats.org/presentationml/2006/ole">
              <p:oleObj spid="_x0000_s58499" name="公式" r:id="rId18" imgW="253780" imgH="164957" progId="Equation.3">
                <p:embed/>
              </p:oleObj>
            </a:graphicData>
          </a:graphic>
        </p:graphicFrame>
        <p:graphicFrame>
          <p:nvGraphicFramePr>
            <p:cNvPr id="58500" name="Object 132"/>
            <p:cNvGraphicFramePr>
              <a:graphicFrameLocks noChangeAspect="1"/>
            </p:cNvGraphicFramePr>
            <p:nvPr/>
          </p:nvGraphicFramePr>
          <p:xfrm>
            <a:off x="4116" y="1344"/>
            <a:ext cx="343" cy="221"/>
          </p:xfrm>
          <a:graphic>
            <a:graphicData uri="http://schemas.openxmlformats.org/presentationml/2006/ole">
              <p:oleObj spid="_x0000_s58500" name="公式" r:id="rId19" imgW="253780" imgH="164957" progId="Equation.3">
                <p:embed/>
              </p:oleObj>
            </a:graphicData>
          </a:graphic>
        </p:graphicFrame>
      </p:grpSp>
      <p:grpSp>
        <p:nvGrpSpPr>
          <p:cNvPr id="8" name="Group 64"/>
          <p:cNvGrpSpPr>
            <a:grpSpLocks/>
          </p:cNvGrpSpPr>
          <p:nvPr/>
        </p:nvGrpSpPr>
        <p:grpSpPr bwMode="auto">
          <a:xfrm>
            <a:off x="3924300" y="968375"/>
            <a:ext cx="1728788" cy="1220788"/>
            <a:chOff x="2472" y="527"/>
            <a:chExt cx="1089" cy="1025"/>
          </a:xfrm>
        </p:grpSpPr>
        <p:sp>
          <p:nvSpPr>
            <p:cNvPr id="58517" name="Line 60"/>
            <p:cNvSpPr>
              <a:spLocks noChangeShapeType="1"/>
            </p:cNvSpPr>
            <p:nvPr/>
          </p:nvSpPr>
          <p:spPr bwMode="auto">
            <a:xfrm>
              <a:off x="2472" y="709"/>
              <a:ext cx="726" cy="0"/>
            </a:xfrm>
            <a:prstGeom prst="line">
              <a:avLst/>
            </a:prstGeom>
            <a:noFill/>
            <a:ln w="25400">
              <a:solidFill>
                <a:schemeClr val="tx1"/>
              </a:solidFill>
              <a:prstDash val="dash"/>
              <a:round/>
              <a:headEnd type="stealth" w="lg" len="lg"/>
              <a:tailEnd type="stealth" w="lg" len="lg"/>
            </a:ln>
          </p:spPr>
          <p:txBody>
            <a:bodyPr/>
            <a:lstStyle/>
            <a:p>
              <a:endParaRPr lang="zh-CN" altLang="en-US"/>
            </a:p>
          </p:txBody>
        </p:sp>
        <p:sp>
          <p:nvSpPr>
            <p:cNvPr id="58518" name="Line 61"/>
            <p:cNvSpPr>
              <a:spLocks noChangeShapeType="1"/>
            </p:cNvSpPr>
            <p:nvPr/>
          </p:nvSpPr>
          <p:spPr bwMode="auto">
            <a:xfrm>
              <a:off x="2835" y="1344"/>
              <a:ext cx="726" cy="0"/>
            </a:xfrm>
            <a:prstGeom prst="line">
              <a:avLst/>
            </a:prstGeom>
            <a:noFill/>
            <a:ln w="25400">
              <a:solidFill>
                <a:schemeClr val="tx1"/>
              </a:solidFill>
              <a:prstDash val="dash"/>
              <a:round/>
              <a:headEnd type="stealth" w="lg" len="lg"/>
              <a:tailEnd type="stealth" w="lg" len="lg"/>
            </a:ln>
          </p:spPr>
          <p:txBody>
            <a:bodyPr/>
            <a:lstStyle/>
            <a:p>
              <a:endParaRPr lang="zh-CN" altLang="en-US"/>
            </a:p>
          </p:txBody>
        </p:sp>
        <p:graphicFrame>
          <p:nvGraphicFramePr>
            <p:cNvPr id="58501" name="Object 133"/>
            <p:cNvGraphicFramePr>
              <a:graphicFrameLocks noChangeAspect="1"/>
            </p:cNvGraphicFramePr>
            <p:nvPr/>
          </p:nvGraphicFramePr>
          <p:xfrm>
            <a:off x="3061" y="1344"/>
            <a:ext cx="269" cy="208"/>
          </p:xfrm>
          <a:graphic>
            <a:graphicData uri="http://schemas.openxmlformats.org/presentationml/2006/ole">
              <p:oleObj spid="_x0000_s58501" name="Equation" r:id="rId20" imgW="279279" imgH="215806" progId="Equation.DSMT4">
                <p:embed/>
              </p:oleObj>
            </a:graphicData>
          </a:graphic>
        </p:graphicFrame>
        <p:graphicFrame>
          <p:nvGraphicFramePr>
            <p:cNvPr id="58502" name="Object 134"/>
            <p:cNvGraphicFramePr>
              <a:graphicFrameLocks noChangeAspect="1"/>
            </p:cNvGraphicFramePr>
            <p:nvPr/>
          </p:nvGraphicFramePr>
          <p:xfrm>
            <a:off x="2699" y="527"/>
            <a:ext cx="269" cy="208"/>
          </p:xfrm>
          <a:graphic>
            <a:graphicData uri="http://schemas.openxmlformats.org/presentationml/2006/ole">
              <p:oleObj spid="_x0000_s58502" name="Equation" r:id="rId21" imgW="279279" imgH="215806" progId="Equation.DSMT4">
                <p:embed/>
              </p:oleObj>
            </a:graphicData>
          </a:graphic>
        </p:graphicFrame>
      </p:grpSp>
      <p:grpSp>
        <p:nvGrpSpPr>
          <p:cNvPr id="9" name="Group 69"/>
          <p:cNvGrpSpPr>
            <a:grpSpLocks/>
          </p:cNvGrpSpPr>
          <p:nvPr/>
        </p:nvGrpSpPr>
        <p:grpSpPr bwMode="auto">
          <a:xfrm>
            <a:off x="5076825" y="774700"/>
            <a:ext cx="644525" cy="411163"/>
            <a:chOff x="3198" y="364"/>
            <a:chExt cx="406" cy="345"/>
          </a:xfrm>
        </p:grpSpPr>
        <p:sp>
          <p:nvSpPr>
            <p:cNvPr id="58515" name="Line 66"/>
            <p:cNvSpPr>
              <a:spLocks noChangeShapeType="1"/>
            </p:cNvSpPr>
            <p:nvPr/>
          </p:nvSpPr>
          <p:spPr bwMode="auto">
            <a:xfrm>
              <a:off x="3198" y="709"/>
              <a:ext cx="362" cy="0"/>
            </a:xfrm>
            <a:prstGeom prst="line">
              <a:avLst/>
            </a:prstGeom>
            <a:noFill/>
            <a:ln w="25400">
              <a:solidFill>
                <a:schemeClr val="tx1"/>
              </a:solidFill>
              <a:prstDash val="dash"/>
              <a:round/>
              <a:headEnd type="stealth" w="lg" len="lg"/>
              <a:tailEnd type="stealth" w="lg" len="lg"/>
            </a:ln>
          </p:spPr>
          <p:txBody>
            <a:bodyPr/>
            <a:lstStyle/>
            <a:p>
              <a:endParaRPr lang="zh-CN" altLang="en-US"/>
            </a:p>
          </p:txBody>
        </p:sp>
        <p:graphicFrame>
          <p:nvGraphicFramePr>
            <p:cNvPr id="58503" name="Object 135"/>
            <p:cNvGraphicFramePr>
              <a:graphicFrameLocks noChangeAspect="1"/>
            </p:cNvGraphicFramePr>
            <p:nvPr/>
          </p:nvGraphicFramePr>
          <p:xfrm>
            <a:off x="3334" y="364"/>
            <a:ext cx="270" cy="208"/>
          </p:xfrm>
          <a:graphic>
            <a:graphicData uri="http://schemas.openxmlformats.org/presentationml/2006/ole">
              <p:oleObj spid="_x0000_s58503" name="Equation" r:id="rId22" imgW="279279" imgH="215806" progId="Equation.DSMT4">
                <p:embed/>
              </p:oleObj>
            </a:graphicData>
          </a:graphic>
        </p:graphicFrame>
        <p:sp>
          <p:nvSpPr>
            <p:cNvPr id="58516" name="Line 68"/>
            <p:cNvSpPr>
              <a:spLocks noChangeShapeType="1"/>
            </p:cNvSpPr>
            <p:nvPr/>
          </p:nvSpPr>
          <p:spPr bwMode="auto">
            <a:xfrm flipH="1">
              <a:off x="3379" y="527"/>
              <a:ext cx="91" cy="182"/>
            </a:xfrm>
            <a:prstGeom prst="line">
              <a:avLst/>
            </a:prstGeom>
            <a:noFill/>
            <a:ln w="9525">
              <a:solidFill>
                <a:schemeClr val="tx1"/>
              </a:solidFill>
              <a:round/>
              <a:headEnd/>
              <a:tailEnd type="triangl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66562"/>
                                        </p:tgtEl>
                                        <p:attrNameLst>
                                          <p:attrName>style.visibility</p:attrName>
                                        </p:attrNameLst>
                                      </p:cBhvr>
                                      <p:to>
                                        <p:strVal val="visible"/>
                                      </p:to>
                                    </p:set>
                                    <p:anim calcmode="lin" valueType="num">
                                      <p:cBhvr>
                                        <p:cTn id="7" dur="500" fill="hold"/>
                                        <p:tgtEl>
                                          <p:spTgt spid="66562"/>
                                        </p:tgtEl>
                                        <p:attrNameLst>
                                          <p:attrName>ppt_x</p:attrName>
                                        </p:attrNameLst>
                                      </p:cBhvr>
                                      <p:tavLst>
                                        <p:tav tm="0">
                                          <p:val>
                                            <p:strVal val="#ppt_x-#ppt_w/2"/>
                                          </p:val>
                                        </p:tav>
                                        <p:tav tm="100000">
                                          <p:val>
                                            <p:strVal val="#ppt_x"/>
                                          </p:val>
                                        </p:tav>
                                      </p:tavLst>
                                    </p:anim>
                                    <p:anim calcmode="lin" valueType="num">
                                      <p:cBhvr>
                                        <p:cTn id="8" dur="500" fill="hold"/>
                                        <p:tgtEl>
                                          <p:spTgt spid="66562"/>
                                        </p:tgtEl>
                                        <p:attrNameLst>
                                          <p:attrName>ppt_y</p:attrName>
                                        </p:attrNameLst>
                                      </p:cBhvr>
                                      <p:tavLst>
                                        <p:tav tm="0">
                                          <p:val>
                                            <p:strVal val="#ppt_y"/>
                                          </p:val>
                                        </p:tav>
                                        <p:tav tm="100000">
                                          <p:val>
                                            <p:strVal val="#ppt_y"/>
                                          </p:val>
                                        </p:tav>
                                      </p:tavLst>
                                    </p:anim>
                                    <p:anim calcmode="lin" valueType="num">
                                      <p:cBhvr>
                                        <p:cTn id="9" dur="500" fill="hold"/>
                                        <p:tgtEl>
                                          <p:spTgt spid="66562"/>
                                        </p:tgtEl>
                                        <p:attrNameLst>
                                          <p:attrName>ppt_w</p:attrName>
                                        </p:attrNameLst>
                                      </p:cBhvr>
                                      <p:tavLst>
                                        <p:tav tm="0">
                                          <p:val>
                                            <p:fltVal val="0"/>
                                          </p:val>
                                        </p:tav>
                                        <p:tav tm="100000">
                                          <p:val>
                                            <p:strVal val="#ppt_w"/>
                                          </p:val>
                                        </p:tav>
                                      </p:tavLst>
                                    </p:anim>
                                    <p:anim calcmode="lin" valueType="num">
                                      <p:cBhvr>
                                        <p:cTn id="10" dur="500" fill="hold"/>
                                        <p:tgtEl>
                                          <p:spTgt spid="6656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linds(horizontal)">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66565"/>
                                        </p:tgtEl>
                                        <p:attrNameLst>
                                          <p:attrName>style.visibility</p:attrName>
                                        </p:attrNameLst>
                                      </p:cBhvr>
                                      <p:to>
                                        <p:strVal val="visible"/>
                                      </p:to>
                                    </p:set>
                                    <p:anim calcmode="lin" valueType="num">
                                      <p:cBhvr>
                                        <p:cTn id="20" dur="500" fill="hold"/>
                                        <p:tgtEl>
                                          <p:spTgt spid="66565"/>
                                        </p:tgtEl>
                                        <p:attrNameLst>
                                          <p:attrName>ppt_x</p:attrName>
                                        </p:attrNameLst>
                                      </p:cBhvr>
                                      <p:tavLst>
                                        <p:tav tm="0">
                                          <p:val>
                                            <p:strVal val="#ppt_x-#ppt_w/2"/>
                                          </p:val>
                                        </p:tav>
                                        <p:tav tm="100000">
                                          <p:val>
                                            <p:strVal val="#ppt_x"/>
                                          </p:val>
                                        </p:tav>
                                      </p:tavLst>
                                    </p:anim>
                                    <p:anim calcmode="lin" valueType="num">
                                      <p:cBhvr>
                                        <p:cTn id="21" dur="500" fill="hold"/>
                                        <p:tgtEl>
                                          <p:spTgt spid="66565"/>
                                        </p:tgtEl>
                                        <p:attrNameLst>
                                          <p:attrName>ppt_y</p:attrName>
                                        </p:attrNameLst>
                                      </p:cBhvr>
                                      <p:tavLst>
                                        <p:tav tm="0">
                                          <p:val>
                                            <p:strVal val="#ppt_y"/>
                                          </p:val>
                                        </p:tav>
                                        <p:tav tm="100000">
                                          <p:val>
                                            <p:strVal val="#ppt_y"/>
                                          </p:val>
                                        </p:tav>
                                      </p:tavLst>
                                    </p:anim>
                                    <p:anim calcmode="lin" valueType="num">
                                      <p:cBhvr>
                                        <p:cTn id="22" dur="500" fill="hold"/>
                                        <p:tgtEl>
                                          <p:spTgt spid="66565"/>
                                        </p:tgtEl>
                                        <p:attrNameLst>
                                          <p:attrName>ppt_w</p:attrName>
                                        </p:attrNameLst>
                                      </p:cBhvr>
                                      <p:tavLst>
                                        <p:tav tm="0">
                                          <p:val>
                                            <p:fltVal val="0"/>
                                          </p:val>
                                        </p:tav>
                                        <p:tav tm="100000">
                                          <p:val>
                                            <p:strVal val="#ppt_w"/>
                                          </p:val>
                                        </p:tav>
                                      </p:tavLst>
                                    </p:anim>
                                    <p:anim calcmode="lin" valueType="num">
                                      <p:cBhvr>
                                        <p:cTn id="23" dur="500" fill="hold"/>
                                        <p:tgtEl>
                                          <p:spTgt spid="6656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8"/>
                                            </p:cond>
                                          </p:stCondLst>
                                          <p:endCondLst>
                                            <p:cond evt="onStopAudio" delay="0">
                                              <p:tgtEl>
                                                <p:sldTgt/>
                                              </p:tgtEl>
                                            </p:cond>
                                          </p:endCondLst>
                                        </p:cTn>
                                        <p:tgtEl>
                                          <p:sndTgt r:embed="rId3" name="TYPE.WAV"/>
                                        </p:tgtEl>
                                      </p:cMediaNode>
                                    </p:audio>
                                  </p:subTnLst>
                                </p:cTn>
                              </p:par>
                            </p:childTnLst>
                          </p:cTn>
                        </p:par>
                        <p:par>
                          <p:cTn id="24" fill="hold" nodeType="afterGroup">
                            <p:stCondLst>
                              <p:cond delay="500"/>
                            </p:stCondLst>
                            <p:childTnLst>
                              <p:par>
                                <p:cTn id="25" presetID="3" presetClass="entr" presetSubtype="10" fill="hold" grpId="0" nodeType="afterEffect">
                                  <p:stCondLst>
                                    <p:cond delay="0"/>
                                  </p:stCondLst>
                                  <p:childTnLst>
                                    <p:set>
                                      <p:cBhvr>
                                        <p:cTn id="26" dur="1" fill="hold">
                                          <p:stCondLst>
                                            <p:cond delay="0"/>
                                          </p:stCondLst>
                                        </p:cTn>
                                        <p:tgtEl>
                                          <p:spTgt spid="134191"/>
                                        </p:tgtEl>
                                        <p:attrNameLst>
                                          <p:attrName>style.visibility</p:attrName>
                                        </p:attrNameLst>
                                      </p:cBhvr>
                                      <p:to>
                                        <p:strVal val="visible"/>
                                      </p:to>
                                    </p:set>
                                    <p:animEffect transition="in" filter="blinds(horizontal)">
                                      <p:cBhvr>
                                        <p:cTn id="27" dur="500"/>
                                        <p:tgtEl>
                                          <p:spTgt spid="1341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34172"/>
                                        </p:tgtEl>
                                        <p:attrNameLst>
                                          <p:attrName>style.visibility</p:attrName>
                                        </p:attrNameLst>
                                      </p:cBhvr>
                                      <p:to>
                                        <p:strVal val="visible"/>
                                      </p:to>
                                    </p:set>
                                    <p:animEffect transition="in" filter="blinds(horizontal)">
                                      <p:cBhvr>
                                        <p:cTn id="32" dur="500"/>
                                        <p:tgtEl>
                                          <p:spTgt spid="13417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34189"/>
                                        </p:tgtEl>
                                        <p:attrNameLst>
                                          <p:attrName>style.visibility</p:attrName>
                                        </p:attrNameLst>
                                      </p:cBhvr>
                                      <p:to>
                                        <p:strVal val="visible"/>
                                      </p:to>
                                    </p:set>
                                    <p:animEffect transition="in" filter="blinds(horizontal)">
                                      <p:cBhvr>
                                        <p:cTn id="37" dur="500"/>
                                        <p:tgtEl>
                                          <p:spTgt spid="13418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7" presetClass="entr" presetSubtype="8" fill="hold" grpId="0" nodeType="clickEffect">
                                  <p:stCondLst>
                                    <p:cond delay="0"/>
                                  </p:stCondLst>
                                  <p:childTnLst>
                                    <p:set>
                                      <p:cBhvr>
                                        <p:cTn id="46" dur="1" fill="hold">
                                          <p:stCondLst>
                                            <p:cond delay="0"/>
                                          </p:stCondLst>
                                        </p:cTn>
                                        <p:tgtEl>
                                          <p:spTgt spid="134187"/>
                                        </p:tgtEl>
                                        <p:attrNameLst>
                                          <p:attrName>style.visibility</p:attrName>
                                        </p:attrNameLst>
                                      </p:cBhvr>
                                      <p:to>
                                        <p:strVal val="visible"/>
                                      </p:to>
                                    </p:set>
                                    <p:anim calcmode="lin" valueType="num">
                                      <p:cBhvr>
                                        <p:cTn id="47" dur="500" fill="hold"/>
                                        <p:tgtEl>
                                          <p:spTgt spid="134187"/>
                                        </p:tgtEl>
                                        <p:attrNameLst>
                                          <p:attrName>ppt_x</p:attrName>
                                        </p:attrNameLst>
                                      </p:cBhvr>
                                      <p:tavLst>
                                        <p:tav tm="0">
                                          <p:val>
                                            <p:strVal val="#ppt_x-#ppt_w/2"/>
                                          </p:val>
                                        </p:tav>
                                        <p:tav tm="100000">
                                          <p:val>
                                            <p:strVal val="#ppt_x"/>
                                          </p:val>
                                        </p:tav>
                                      </p:tavLst>
                                    </p:anim>
                                    <p:anim calcmode="lin" valueType="num">
                                      <p:cBhvr>
                                        <p:cTn id="48" dur="500" fill="hold"/>
                                        <p:tgtEl>
                                          <p:spTgt spid="134187"/>
                                        </p:tgtEl>
                                        <p:attrNameLst>
                                          <p:attrName>ppt_y</p:attrName>
                                        </p:attrNameLst>
                                      </p:cBhvr>
                                      <p:tavLst>
                                        <p:tav tm="0">
                                          <p:val>
                                            <p:strVal val="#ppt_y"/>
                                          </p:val>
                                        </p:tav>
                                        <p:tav tm="100000">
                                          <p:val>
                                            <p:strVal val="#ppt_y"/>
                                          </p:val>
                                        </p:tav>
                                      </p:tavLst>
                                    </p:anim>
                                    <p:anim calcmode="lin" valueType="num">
                                      <p:cBhvr>
                                        <p:cTn id="49" dur="500" fill="hold"/>
                                        <p:tgtEl>
                                          <p:spTgt spid="134187"/>
                                        </p:tgtEl>
                                        <p:attrNameLst>
                                          <p:attrName>ppt_w</p:attrName>
                                        </p:attrNameLst>
                                      </p:cBhvr>
                                      <p:tavLst>
                                        <p:tav tm="0">
                                          <p:val>
                                            <p:fltVal val="0"/>
                                          </p:val>
                                        </p:tav>
                                        <p:tav tm="100000">
                                          <p:val>
                                            <p:strVal val="#ppt_w"/>
                                          </p:val>
                                        </p:tav>
                                      </p:tavLst>
                                    </p:anim>
                                    <p:anim calcmode="lin" valueType="num">
                                      <p:cBhvr>
                                        <p:cTn id="50" dur="500" fill="hold"/>
                                        <p:tgtEl>
                                          <p:spTgt spid="13418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5"/>
                                            </p:cond>
                                          </p:stCondLst>
                                          <p:endCondLst>
                                            <p:cond evt="onStopAudio" delay="0">
                                              <p:tgtEl>
                                                <p:sldTgt/>
                                              </p:tgtEl>
                                            </p:cond>
                                          </p:endCondLst>
                                        </p:cTn>
                                        <p:tgtEl>
                                          <p:sndTgt r:embed="rId3" name="TYPE.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134188"/>
                                        </p:tgtEl>
                                        <p:attrNameLst>
                                          <p:attrName>style.visibility</p:attrName>
                                        </p:attrNameLst>
                                      </p:cBhvr>
                                      <p:to>
                                        <p:strVal val="visible"/>
                                      </p:to>
                                    </p:set>
                                    <p:animEffect transition="in" filter="blinds(horizontal)">
                                      <p:cBhvr>
                                        <p:cTn id="55" dur="500"/>
                                        <p:tgtEl>
                                          <p:spTgt spid="13418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3" presetClass="entr" presetSubtype="10" fill="hold" nodeType="clickEffect">
                                  <p:stCondLst>
                                    <p:cond delay="0"/>
                                  </p:stCondLst>
                                  <p:childTnLst>
                                    <p:set>
                                      <p:cBhvr>
                                        <p:cTn id="59" dur="1" fill="hold">
                                          <p:stCondLst>
                                            <p:cond delay="0"/>
                                          </p:stCondLst>
                                        </p:cTn>
                                        <p:tgtEl>
                                          <p:spTgt spid="134190"/>
                                        </p:tgtEl>
                                        <p:attrNameLst>
                                          <p:attrName>style.visibility</p:attrName>
                                        </p:attrNameLst>
                                      </p:cBhvr>
                                      <p:to>
                                        <p:strVal val="visible"/>
                                      </p:to>
                                    </p:set>
                                    <p:animEffect transition="in" filter="blinds(horizontal)">
                                      <p:cBhvr>
                                        <p:cTn id="60" dur="500"/>
                                        <p:tgtEl>
                                          <p:spTgt spid="13419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3" presetClass="entr" presetSubtype="10" fill="hold" nodeType="click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blinds(horizontal)">
                                      <p:cBhvr>
                                        <p:cTn id="65" dur="500"/>
                                        <p:tgtEl>
                                          <p:spTgt spid="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134192"/>
                                        </p:tgtEl>
                                        <p:attrNameLst>
                                          <p:attrName>style.visibility</p:attrName>
                                        </p:attrNameLst>
                                      </p:cBhvr>
                                      <p:to>
                                        <p:strVal val="visible"/>
                                      </p:to>
                                    </p:set>
                                    <p:animEffect transition="in" filter="blinds(horizontal)">
                                      <p:cBhvr>
                                        <p:cTn id="70" dur="500"/>
                                        <p:tgtEl>
                                          <p:spTgt spid="134192"/>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3" presetClass="entr" presetSubtype="10" fill="hold" nodeType="clickEffect">
                                  <p:stCondLst>
                                    <p:cond delay="0"/>
                                  </p:stCondLst>
                                  <p:childTnLst>
                                    <p:set>
                                      <p:cBhvr>
                                        <p:cTn id="74" dur="1" fill="hold">
                                          <p:stCondLst>
                                            <p:cond delay="0"/>
                                          </p:stCondLst>
                                        </p:cTn>
                                        <p:tgtEl>
                                          <p:spTgt spid="2"/>
                                        </p:tgtEl>
                                        <p:attrNameLst>
                                          <p:attrName>style.visibility</p:attrName>
                                        </p:attrNameLst>
                                      </p:cBhvr>
                                      <p:to>
                                        <p:strVal val="visible"/>
                                      </p:to>
                                    </p:set>
                                    <p:animEffect transition="in" filter="blinds(horizontal)">
                                      <p:cBhvr>
                                        <p:cTn id="75" dur="500"/>
                                        <p:tgtEl>
                                          <p:spTgt spid="2"/>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3" presetClass="entr" presetSubtype="10" fill="hold" nodeType="clickEffect">
                                  <p:stCondLst>
                                    <p:cond delay="0"/>
                                  </p:stCondLst>
                                  <p:childTnLst>
                                    <p:set>
                                      <p:cBhvr>
                                        <p:cTn id="79" dur="1" fill="hold">
                                          <p:stCondLst>
                                            <p:cond delay="0"/>
                                          </p:stCondLst>
                                        </p:cTn>
                                        <p:tgtEl>
                                          <p:spTgt spid="8"/>
                                        </p:tgtEl>
                                        <p:attrNameLst>
                                          <p:attrName>style.visibility</p:attrName>
                                        </p:attrNameLst>
                                      </p:cBhvr>
                                      <p:to>
                                        <p:strVal val="visible"/>
                                      </p:to>
                                    </p:set>
                                    <p:animEffect transition="in" filter="blinds(horizontal)">
                                      <p:cBhvr>
                                        <p:cTn id="80" dur="500"/>
                                        <p:tgtEl>
                                          <p:spTgt spid="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3" presetClass="entr" presetSubtype="10" fill="hold" nodeType="clickEffect">
                                  <p:stCondLst>
                                    <p:cond delay="0"/>
                                  </p:stCondLst>
                                  <p:childTnLst>
                                    <p:set>
                                      <p:cBhvr>
                                        <p:cTn id="84" dur="1" fill="hold">
                                          <p:stCondLst>
                                            <p:cond delay="0"/>
                                          </p:stCondLst>
                                        </p:cTn>
                                        <p:tgtEl>
                                          <p:spTgt spid="9"/>
                                        </p:tgtEl>
                                        <p:attrNameLst>
                                          <p:attrName>style.visibility</p:attrName>
                                        </p:attrNameLst>
                                      </p:cBhvr>
                                      <p:to>
                                        <p:strVal val="visible"/>
                                      </p:to>
                                    </p:set>
                                    <p:animEffect transition="in" filter="blinds(horizontal)">
                                      <p:cBhvr>
                                        <p:cTn id="8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autoUpdateAnimBg="0"/>
      <p:bldP spid="66565" grpId="0" autoUpdateAnimBg="0"/>
      <p:bldP spid="134187" grpId="0" autoUpdateAnimBg="0"/>
      <p:bldP spid="134191" grpId="0" animBg="1"/>
      <p:bldP spid="13419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179388" y="906463"/>
            <a:ext cx="2447925" cy="369887"/>
          </a:xfrm>
          <a:prstGeom prst="rect">
            <a:avLst/>
          </a:prstGeom>
          <a:noFill/>
          <a:ln w="9525">
            <a:noFill/>
            <a:miter lim="800000"/>
            <a:headEnd/>
            <a:tailEnd/>
          </a:ln>
        </p:spPr>
        <p:txBody>
          <a:bodyPr>
            <a:spAutoFit/>
          </a:bodyPr>
          <a:lstStyle/>
          <a:p>
            <a:pPr eaLnBrk="0" hangingPunct="0"/>
            <a:r>
              <a:rPr kumimoji="0" lang="en-US" altLang="zh-CN" sz="1800" b="1">
                <a:solidFill>
                  <a:srgbClr val="009900"/>
                </a:solidFill>
                <a:latin typeface="华文中宋"/>
                <a:ea typeface="华文中宋"/>
                <a:cs typeface="华文中宋"/>
              </a:rPr>
              <a:t>2</a:t>
            </a:r>
            <a:r>
              <a:rPr kumimoji="0" lang="zh-CN" altLang="en-US" sz="1800" b="1">
                <a:solidFill>
                  <a:srgbClr val="009900"/>
                </a:solidFill>
                <a:latin typeface="华文中宋"/>
                <a:ea typeface="华文中宋"/>
                <a:cs typeface="华文中宋"/>
              </a:rPr>
              <a:t>、</a:t>
            </a:r>
            <a:r>
              <a:rPr lang="zh-CN" altLang="en-US" sz="1800" b="1">
                <a:solidFill>
                  <a:srgbClr val="009900"/>
                </a:solidFill>
                <a:latin typeface="华文中宋"/>
                <a:ea typeface="华文中宋"/>
                <a:cs typeface="华文中宋"/>
              </a:rPr>
              <a:t>位相分布的特点</a:t>
            </a:r>
          </a:p>
        </p:txBody>
      </p:sp>
      <p:graphicFrame>
        <p:nvGraphicFramePr>
          <p:cNvPr id="63491" name="Object 42"/>
          <p:cNvGraphicFramePr>
            <a:graphicFrameLocks noChangeAspect="1"/>
          </p:cNvGraphicFramePr>
          <p:nvPr/>
        </p:nvGraphicFramePr>
        <p:xfrm>
          <a:off x="2755900" y="898525"/>
          <a:ext cx="2897188" cy="587375"/>
        </p:xfrm>
        <a:graphic>
          <a:graphicData uri="http://schemas.openxmlformats.org/presentationml/2006/ole">
            <p:oleObj spid="_x0000_s59434" name="Equation" r:id="rId3" imgW="1497950" imgH="406224" progId="Equation.3">
              <p:embed/>
            </p:oleObj>
          </a:graphicData>
        </a:graphic>
      </p:graphicFrame>
      <p:graphicFrame>
        <p:nvGraphicFramePr>
          <p:cNvPr id="63492" name="Object 43"/>
          <p:cNvGraphicFramePr>
            <a:graphicFrameLocks noChangeAspect="1"/>
          </p:cNvGraphicFramePr>
          <p:nvPr/>
        </p:nvGraphicFramePr>
        <p:xfrm>
          <a:off x="5610225" y="1003300"/>
          <a:ext cx="1841500" cy="371475"/>
        </p:xfrm>
        <a:graphic>
          <a:graphicData uri="http://schemas.openxmlformats.org/presentationml/2006/ole">
            <p:oleObj spid="_x0000_s59435" name="Equation" r:id="rId4" imgW="748975" imgH="203112" progId="Equation.3">
              <p:embed/>
            </p:oleObj>
          </a:graphicData>
        </a:graphic>
      </p:graphicFrame>
      <p:grpSp>
        <p:nvGrpSpPr>
          <p:cNvPr id="2" name="Group 5"/>
          <p:cNvGrpSpPr>
            <a:grpSpLocks/>
          </p:cNvGrpSpPr>
          <p:nvPr/>
        </p:nvGrpSpPr>
        <p:grpSpPr bwMode="auto">
          <a:xfrm>
            <a:off x="4232275" y="1374775"/>
            <a:ext cx="1816100" cy="549275"/>
            <a:chOff x="2159" y="974"/>
            <a:chExt cx="1144" cy="461"/>
          </a:xfrm>
        </p:grpSpPr>
        <p:sp>
          <p:nvSpPr>
            <p:cNvPr id="59459" name="Rectangle 6"/>
            <p:cNvSpPr>
              <a:spLocks noChangeArrowheads="1"/>
            </p:cNvSpPr>
            <p:nvPr/>
          </p:nvSpPr>
          <p:spPr bwMode="auto">
            <a:xfrm>
              <a:off x="2159" y="1164"/>
              <a:ext cx="1144" cy="271"/>
            </a:xfrm>
            <a:prstGeom prst="rect">
              <a:avLst/>
            </a:prstGeom>
            <a:noFill/>
            <a:ln w="9525">
              <a:noFill/>
              <a:miter lim="800000"/>
              <a:headEnd/>
              <a:tailEnd/>
            </a:ln>
          </p:spPr>
          <p:txBody>
            <a:bodyPr>
              <a:spAutoFit/>
            </a:bodyPr>
            <a:lstStyle/>
            <a:p>
              <a:r>
                <a:rPr lang="zh-CN" altLang="en-US" sz="1500" b="1">
                  <a:latin typeface="华文中宋"/>
                  <a:ea typeface="华文中宋"/>
                  <a:cs typeface="华文中宋"/>
                </a:rPr>
                <a:t>位相中没有</a:t>
              </a:r>
              <a:r>
                <a:rPr lang="en-US" altLang="zh-CN" sz="1500" b="1" i="1">
                  <a:ea typeface="华文中宋"/>
                  <a:cs typeface="Times New Roman" pitchFamily="18" charset="0"/>
                </a:rPr>
                <a:t>x</a:t>
              </a:r>
              <a:r>
                <a:rPr lang="en-US" altLang="zh-CN" sz="1500" b="1" i="1">
                  <a:latin typeface="华文中宋"/>
                  <a:ea typeface="华文中宋"/>
                  <a:cs typeface="华文中宋"/>
                </a:rPr>
                <a:t> </a:t>
              </a:r>
              <a:r>
                <a:rPr lang="zh-CN" altLang="en-US" sz="1500" b="1">
                  <a:latin typeface="华文中宋"/>
                  <a:ea typeface="华文中宋"/>
                  <a:cs typeface="华文中宋"/>
                </a:rPr>
                <a:t>坐标</a:t>
              </a:r>
            </a:p>
          </p:txBody>
        </p:sp>
        <p:sp>
          <p:nvSpPr>
            <p:cNvPr id="59460" name="Line 7"/>
            <p:cNvSpPr>
              <a:spLocks noChangeShapeType="1"/>
            </p:cNvSpPr>
            <p:nvPr/>
          </p:nvSpPr>
          <p:spPr bwMode="auto">
            <a:xfrm>
              <a:off x="2491" y="974"/>
              <a:ext cx="537" cy="0"/>
            </a:xfrm>
            <a:prstGeom prst="line">
              <a:avLst/>
            </a:prstGeom>
            <a:noFill/>
            <a:ln w="28575">
              <a:solidFill>
                <a:srgbClr val="CC00CC"/>
              </a:solidFill>
              <a:round/>
              <a:headEnd/>
              <a:tailEnd/>
            </a:ln>
          </p:spPr>
          <p:txBody>
            <a:bodyPr wrap="none" anchor="ctr"/>
            <a:lstStyle/>
            <a:p>
              <a:endParaRPr lang="zh-CN" altLang="en-US"/>
            </a:p>
          </p:txBody>
        </p:sp>
        <p:sp>
          <p:nvSpPr>
            <p:cNvPr id="59461" name="Line 8"/>
            <p:cNvSpPr>
              <a:spLocks noChangeShapeType="1"/>
            </p:cNvSpPr>
            <p:nvPr/>
          </p:nvSpPr>
          <p:spPr bwMode="auto">
            <a:xfrm flipV="1">
              <a:off x="2740" y="981"/>
              <a:ext cx="0" cy="194"/>
            </a:xfrm>
            <a:prstGeom prst="line">
              <a:avLst/>
            </a:prstGeom>
            <a:noFill/>
            <a:ln w="28575">
              <a:solidFill>
                <a:srgbClr val="CC00CC"/>
              </a:solidFill>
              <a:round/>
              <a:headEnd/>
              <a:tailEnd type="triangle" w="med" len="med"/>
            </a:ln>
          </p:spPr>
          <p:txBody>
            <a:bodyPr wrap="none" anchor="ctr"/>
            <a:lstStyle/>
            <a:p>
              <a:endParaRPr lang="zh-CN" altLang="en-US"/>
            </a:p>
          </p:txBody>
        </p:sp>
      </p:grpSp>
      <p:sp>
        <p:nvSpPr>
          <p:cNvPr id="63497" name="Rectangle 9"/>
          <p:cNvSpPr>
            <a:spLocks noChangeArrowheads="1"/>
          </p:cNvSpPr>
          <p:nvPr/>
        </p:nvSpPr>
        <p:spPr bwMode="auto">
          <a:xfrm>
            <a:off x="2609850" y="2578100"/>
            <a:ext cx="1152525" cy="323850"/>
          </a:xfrm>
          <a:prstGeom prst="rect">
            <a:avLst/>
          </a:prstGeom>
          <a:noFill/>
          <a:ln w="9525">
            <a:noFill/>
            <a:miter lim="800000"/>
            <a:headEnd/>
            <a:tailEnd/>
          </a:ln>
          <a:effectLst>
            <a:prstShdw prst="shdw17" dist="17961" dir="2700000">
              <a:srgbClr val="993D00"/>
            </a:prstShdw>
          </a:effectLst>
        </p:spPr>
        <p:txBody>
          <a:bodyPr>
            <a:spAutoFit/>
          </a:bodyPr>
          <a:lstStyle/>
          <a:p>
            <a:pPr eaLnBrk="0" hangingPunct="0"/>
            <a:r>
              <a:rPr kumimoji="0" lang="en-US" altLang="zh-CN" sz="1500" b="1">
                <a:sym typeface="Symbol" pitchFamily="18" charset="2"/>
              </a:rPr>
              <a:t></a:t>
            </a:r>
            <a:r>
              <a:rPr kumimoji="0" lang="en-US" altLang="zh-CN" sz="1500" b="1"/>
              <a:t>(</a:t>
            </a:r>
            <a:r>
              <a:rPr kumimoji="0" lang="en-US" altLang="zh-CN" sz="1500" b="1" i="1"/>
              <a:t>x</a:t>
            </a:r>
            <a:r>
              <a:rPr kumimoji="0" lang="en-US" altLang="zh-CN" sz="1500" b="1"/>
              <a:t>) </a:t>
            </a:r>
            <a:r>
              <a:rPr kumimoji="0" lang="zh-CN" altLang="en-US" sz="1500" b="1"/>
              <a:t>＞</a:t>
            </a:r>
            <a:r>
              <a:rPr kumimoji="0" lang="en-US" altLang="zh-CN" sz="1500" b="1"/>
              <a:t>0</a:t>
            </a:r>
          </a:p>
        </p:txBody>
      </p:sp>
      <p:grpSp>
        <p:nvGrpSpPr>
          <p:cNvPr id="3" name="Group 10"/>
          <p:cNvGrpSpPr>
            <a:grpSpLocks/>
          </p:cNvGrpSpPr>
          <p:nvPr/>
        </p:nvGrpSpPr>
        <p:grpSpPr bwMode="auto">
          <a:xfrm>
            <a:off x="1601788" y="2563813"/>
            <a:ext cx="6154737" cy="788987"/>
            <a:chOff x="885" y="1698"/>
            <a:chExt cx="3877" cy="662"/>
          </a:xfrm>
        </p:grpSpPr>
        <p:grpSp>
          <p:nvGrpSpPr>
            <p:cNvPr id="59444" name="Group 11"/>
            <p:cNvGrpSpPr>
              <a:grpSpLocks/>
            </p:cNvGrpSpPr>
            <p:nvPr/>
          </p:nvGrpSpPr>
          <p:grpSpPr bwMode="auto">
            <a:xfrm>
              <a:off x="939" y="1969"/>
              <a:ext cx="3823" cy="56"/>
              <a:chOff x="965" y="1262"/>
              <a:chExt cx="3823" cy="56"/>
            </a:xfrm>
          </p:grpSpPr>
          <p:sp>
            <p:nvSpPr>
              <p:cNvPr id="59455" name="Line 12"/>
              <p:cNvSpPr>
                <a:spLocks noChangeShapeType="1"/>
              </p:cNvSpPr>
              <p:nvPr/>
            </p:nvSpPr>
            <p:spPr bwMode="auto">
              <a:xfrm>
                <a:off x="965" y="1287"/>
                <a:ext cx="3823" cy="0"/>
              </a:xfrm>
              <a:prstGeom prst="line">
                <a:avLst/>
              </a:prstGeom>
              <a:noFill/>
              <a:ln w="19050">
                <a:solidFill>
                  <a:srgbClr val="00B0F0"/>
                </a:solidFill>
                <a:round/>
                <a:headEnd/>
                <a:tailEnd type="triangle" w="med" len="med"/>
              </a:ln>
            </p:spPr>
            <p:txBody>
              <a:bodyPr wrap="none" anchor="ctr"/>
              <a:lstStyle/>
              <a:p>
                <a:endParaRPr lang="zh-CN" altLang="en-US"/>
              </a:p>
            </p:txBody>
          </p:sp>
          <p:sp>
            <p:nvSpPr>
              <p:cNvPr id="59456" name="Oval 13"/>
              <p:cNvSpPr>
                <a:spLocks noChangeArrowheads="1"/>
              </p:cNvSpPr>
              <p:nvPr/>
            </p:nvSpPr>
            <p:spPr bwMode="auto">
              <a:xfrm>
                <a:off x="1098" y="1262"/>
                <a:ext cx="56" cy="56"/>
              </a:xfrm>
              <a:prstGeom prst="ellipse">
                <a:avLst/>
              </a:prstGeom>
              <a:solidFill>
                <a:srgbClr val="FF5050"/>
              </a:solidFill>
              <a:ln w="9525">
                <a:noFill/>
                <a:round/>
                <a:headEnd/>
                <a:tailEnd/>
              </a:ln>
            </p:spPr>
            <p:txBody>
              <a:bodyPr wrap="none" anchor="ctr"/>
              <a:lstStyle/>
              <a:p>
                <a:endParaRPr kumimoji="0" lang="zh-CN" altLang="zh-CN" sz="1800"/>
              </a:p>
            </p:txBody>
          </p:sp>
          <p:sp>
            <p:nvSpPr>
              <p:cNvPr id="59457" name="Oval 14"/>
              <p:cNvSpPr>
                <a:spLocks noChangeArrowheads="1"/>
              </p:cNvSpPr>
              <p:nvPr/>
            </p:nvSpPr>
            <p:spPr bwMode="auto">
              <a:xfrm>
                <a:off x="2524" y="1262"/>
                <a:ext cx="56" cy="56"/>
              </a:xfrm>
              <a:prstGeom prst="ellipse">
                <a:avLst/>
              </a:prstGeom>
              <a:solidFill>
                <a:srgbClr val="FF5050"/>
              </a:solidFill>
              <a:ln w="9525">
                <a:noFill/>
                <a:round/>
                <a:headEnd/>
                <a:tailEnd/>
              </a:ln>
            </p:spPr>
            <p:txBody>
              <a:bodyPr wrap="none" anchor="ctr"/>
              <a:lstStyle/>
              <a:p>
                <a:endParaRPr kumimoji="0" lang="zh-CN" altLang="zh-CN" sz="1800"/>
              </a:p>
            </p:txBody>
          </p:sp>
          <p:sp>
            <p:nvSpPr>
              <p:cNvPr id="59458" name="Oval 15"/>
              <p:cNvSpPr>
                <a:spLocks noChangeArrowheads="1"/>
              </p:cNvSpPr>
              <p:nvPr/>
            </p:nvSpPr>
            <p:spPr bwMode="auto">
              <a:xfrm>
                <a:off x="3921" y="1262"/>
                <a:ext cx="56" cy="56"/>
              </a:xfrm>
              <a:prstGeom prst="ellipse">
                <a:avLst/>
              </a:prstGeom>
              <a:solidFill>
                <a:srgbClr val="FF5050"/>
              </a:solidFill>
              <a:ln w="9525">
                <a:noFill/>
                <a:round/>
                <a:headEnd/>
                <a:tailEnd/>
              </a:ln>
            </p:spPr>
            <p:txBody>
              <a:bodyPr wrap="none" anchor="ctr"/>
              <a:lstStyle/>
              <a:p>
                <a:endParaRPr kumimoji="0" lang="zh-CN" altLang="zh-CN" sz="1800"/>
              </a:p>
            </p:txBody>
          </p:sp>
        </p:grpSp>
        <p:grpSp>
          <p:nvGrpSpPr>
            <p:cNvPr id="59445" name="Group 16"/>
            <p:cNvGrpSpPr>
              <a:grpSpLocks/>
            </p:cNvGrpSpPr>
            <p:nvPr/>
          </p:nvGrpSpPr>
          <p:grpSpPr bwMode="auto">
            <a:xfrm>
              <a:off x="885" y="2042"/>
              <a:ext cx="3386" cy="318"/>
              <a:chOff x="911" y="1335"/>
              <a:chExt cx="3386" cy="318"/>
            </a:xfrm>
          </p:grpSpPr>
          <p:sp>
            <p:nvSpPr>
              <p:cNvPr id="59452" name="Text Box 17"/>
              <p:cNvSpPr txBox="1">
                <a:spLocks noChangeArrowheads="1"/>
              </p:cNvSpPr>
              <p:nvPr/>
            </p:nvSpPr>
            <p:spPr bwMode="auto">
              <a:xfrm>
                <a:off x="911" y="1382"/>
                <a:ext cx="460" cy="271"/>
              </a:xfrm>
              <a:prstGeom prst="rect">
                <a:avLst/>
              </a:prstGeom>
              <a:noFill/>
              <a:ln w="9525">
                <a:noFill/>
                <a:miter lim="800000"/>
                <a:headEnd/>
                <a:tailEnd/>
              </a:ln>
              <a:effectLst>
                <a:prstShdw prst="shdw17" dist="17961" dir="2700000">
                  <a:srgbClr val="993D00"/>
                </a:prstShdw>
              </a:effectLst>
            </p:spPr>
            <p:txBody>
              <a:bodyPr wrap="none">
                <a:spAutoFit/>
              </a:bodyPr>
              <a:lstStyle/>
              <a:p>
                <a:pPr eaLnBrk="0" hangingPunct="0"/>
                <a:r>
                  <a:rPr kumimoji="0" lang="en-US" altLang="zh-CN" sz="1500" b="1">
                    <a:sym typeface="Symbol" pitchFamily="18" charset="2"/>
                  </a:rPr>
                  <a:t></a:t>
                </a:r>
                <a:r>
                  <a:rPr kumimoji="0" lang="en-US" altLang="zh-CN" sz="1500" b="1"/>
                  <a:t>(</a:t>
                </a:r>
                <a:r>
                  <a:rPr kumimoji="0" lang="en-US" altLang="zh-CN" sz="1500" b="1" i="1"/>
                  <a:t>x</a:t>
                </a:r>
                <a:r>
                  <a:rPr kumimoji="0" lang="en-US" altLang="zh-CN" sz="1500" b="1"/>
                  <a:t>)=0</a:t>
                </a:r>
              </a:p>
            </p:txBody>
          </p:sp>
          <p:sp>
            <p:nvSpPr>
              <p:cNvPr id="59453" name="Text Box 18"/>
              <p:cNvSpPr txBox="1">
                <a:spLocks noChangeArrowheads="1"/>
              </p:cNvSpPr>
              <p:nvPr/>
            </p:nvSpPr>
            <p:spPr bwMode="auto">
              <a:xfrm>
                <a:off x="2312" y="1382"/>
                <a:ext cx="460" cy="271"/>
              </a:xfrm>
              <a:prstGeom prst="rect">
                <a:avLst/>
              </a:prstGeom>
              <a:noFill/>
              <a:ln w="9525">
                <a:noFill/>
                <a:miter lim="800000"/>
                <a:headEnd/>
                <a:tailEnd/>
              </a:ln>
              <a:effectLst>
                <a:prstShdw prst="shdw17" dist="17961" dir="2700000">
                  <a:srgbClr val="993D00"/>
                </a:prstShdw>
              </a:effectLst>
            </p:spPr>
            <p:txBody>
              <a:bodyPr wrap="none">
                <a:spAutoFit/>
              </a:bodyPr>
              <a:lstStyle/>
              <a:p>
                <a:pPr eaLnBrk="0" hangingPunct="0"/>
                <a:r>
                  <a:rPr kumimoji="0" lang="en-US" altLang="zh-CN" sz="1500" b="1">
                    <a:sym typeface="Symbol" pitchFamily="18" charset="2"/>
                  </a:rPr>
                  <a:t></a:t>
                </a:r>
                <a:r>
                  <a:rPr kumimoji="0" lang="en-US" altLang="zh-CN" sz="1500" b="1"/>
                  <a:t>(</a:t>
                </a:r>
                <a:r>
                  <a:rPr kumimoji="0" lang="en-US" altLang="zh-CN" sz="1500" b="1" i="1"/>
                  <a:t>x</a:t>
                </a:r>
                <a:r>
                  <a:rPr kumimoji="0" lang="en-US" altLang="zh-CN" sz="1500" b="1"/>
                  <a:t>)=0</a:t>
                </a:r>
              </a:p>
            </p:txBody>
          </p:sp>
          <p:sp>
            <p:nvSpPr>
              <p:cNvPr id="59454" name="Text Box 19"/>
              <p:cNvSpPr txBox="1">
                <a:spLocks noChangeArrowheads="1"/>
              </p:cNvSpPr>
              <p:nvPr/>
            </p:nvSpPr>
            <p:spPr bwMode="auto">
              <a:xfrm>
                <a:off x="3837" y="1335"/>
                <a:ext cx="460" cy="271"/>
              </a:xfrm>
              <a:prstGeom prst="rect">
                <a:avLst/>
              </a:prstGeom>
              <a:noFill/>
              <a:ln w="9525">
                <a:noFill/>
                <a:miter lim="800000"/>
                <a:headEnd/>
                <a:tailEnd/>
              </a:ln>
              <a:effectLst>
                <a:prstShdw prst="shdw17" dist="17961" dir="2700000">
                  <a:srgbClr val="993D00"/>
                </a:prstShdw>
              </a:effectLst>
            </p:spPr>
            <p:txBody>
              <a:bodyPr wrap="none">
                <a:spAutoFit/>
              </a:bodyPr>
              <a:lstStyle/>
              <a:p>
                <a:pPr eaLnBrk="0" hangingPunct="0"/>
                <a:r>
                  <a:rPr kumimoji="0" lang="en-US" altLang="zh-CN" sz="1500" b="1">
                    <a:sym typeface="Symbol" pitchFamily="18" charset="2"/>
                  </a:rPr>
                  <a:t></a:t>
                </a:r>
                <a:r>
                  <a:rPr kumimoji="0" lang="en-US" altLang="zh-CN" sz="1500" b="1"/>
                  <a:t>(</a:t>
                </a:r>
                <a:r>
                  <a:rPr kumimoji="0" lang="en-US" altLang="zh-CN" sz="1500" b="1" i="1"/>
                  <a:t>x</a:t>
                </a:r>
                <a:r>
                  <a:rPr kumimoji="0" lang="en-US" altLang="zh-CN" sz="1500" b="1"/>
                  <a:t>)=0</a:t>
                </a:r>
              </a:p>
            </p:txBody>
          </p:sp>
        </p:grpSp>
        <p:grpSp>
          <p:nvGrpSpPr>
            <p:cNvPr id="59446" name="Group 20"/>
            <p:cNvGrpSpPr>
              <a:grpSpLocks/>
            </p:cNvGrpSpPr>
            <p:nvPr/>
          </p:nvGrpSpPr>
          <p:grpSpPr bwMode="auto">
            <a:xfrm>
              <a:off x="1128" y="1698"/>
              <a:ext cx="2817" cy="297"/>
              <a:chOff x="1154" y="991"/>
              <a:chExt cx="2817" cy="297"/>
            </a:xfrm>
          </p:grpSpPr>
          <p:sp>
            <p:nvSpPr>
              <p:cNvPr id="59450" name="Freeform 21"/>
              <p:cNvSpPr>
                <a:spLocks/>
              </p:cNvSpPr>
              <p:nvPr/>
            </p:nvSpPr>
            <p:spPr bwMode="auto">
              <a:xfrm>
                <a:off x="2561" y="991"/>
                <a:ext cx="1410" cy="296"/>
              </a:xfrm>
              <a:custGeom>
                <a:avLst/>
                <a:gdLst>
                  <a:gd name="T0" fmla="*/ 0 w 1410"/>
                  <a:gd name="T1" fmla="*/ 284 h 296"/>
                  <a:gd name="T2" fmla="*/ 711 w 1410"/>
                  <a:gd name="T3" fmla="*/ 2 h 296"/>
                  <a:gd name="T4" fmla="*/ 1410 w 1410"/>
                  <a:gd name="T5" fmla="*/ 296 h 296"/>
                  <a:gd name="T6" fmla="*/ 0 60000 65536"/>
                  <a:gd name="T7" fmla="*/ 0 60000 65536"/>
                  <a:gd name="T8" fmla="*/ 0 60000 65536"/>
                  <a:gd name="T9" fmla="*/ 0 w 1410"/>
                  <a:gd name="T10" fmla="*/ 0 h 296"/>
                  <a:gd name="T11" fmla="*/ 1410 w 1410"/>
                  <a:gd name="T12" fmla="*/ 296 h 296"/>
                </a:gdLst>
                <a:ahLst/>
                <a:cxnLst>
                  <a:cxn ang="T6">
                    <a:pos x="T0" y="T1"/>
                  </a:cxn>
                  <a:cxn ang="T7">
                    <a:pos x="T2" y="T3"/>
                  </a:cxn>
                  <a:cxn ang="T8">
                    <a:pos x="T4" y="T5"/>
                  </a:cxn>
                </a:cxnLst>
                <a:rect l="T9" t="T10" r="T11" b="T12"/>
                <a:pathLst>
                  <a:path w="1410" h="296">
                    <a:moveTo>
                      <a:pt x="0" y="284"/>
                    </a:moveTo>
                    <a:cubicBezTo>
                      <a:pt x="238" y="142"/>
                      <a:pt x="476" y="0"/>
                      <a:pt x="711" y="2"/>
                    </a:cubicBezTo>
                    <a:cubicBezTo>
                      <a:pt x="946" y="4"/>
                      <a:pt x="1178" y="150"/>
                      <a:pt x="1410" y="296"/>
                    </a:cubicBezTo>
                  </a:path>
                </a:pathLst>
              </a:custGeom>
              <a:noFill/>
              <a:ln w="19050">
                <a:solidFill>
                  <a:srgbClr val="FF5050"/>
                </a:solidFill>
                <a:prstDash val="dash"/>
                <a:round/>
                <a:headEnd/>
                <a:tailEnd/>
              </a:ln>
            </p:spPr>
            <p:txBody>
              <a:bodyPr wrap="none" anchor="ctr"/>
              <a:lstStyle/>
              <a:p>
                <a:endParaRPr lang="zh-CN" altLang="en-US"/>
              </a:p>
            </p:txBody>
          </p:sp>
          <p:sp>
            <p:nvSpPr>
              <p:cNvPr id="59451" name="Freeform 22"/>
              <p:cNvSpPr>
                <a:spLocks/>
              </p:cNvSpPr>
              <p:nvPr/>
            </p:nvSpPr>
            <p:spPr bwMode="auto">
              <a:xfrm>
                <a:off x="1154" y="992"/>
                <a:ext cx="1410" cy="296"/>
              </a:xfrm>
              <a:custGeom>
                <a:avLst/>
                <a:gdLst>
                  <a:gd name="T0" fmla="*/ 0 w 1410"/>
                  <a:gd name="T1" fmla="*/ 284 h 296"/>
                  <a:gd name="T2" fmla="*/ 711 w 1410"/>
                  <a:gd name="T3" fmla="*/ 2 h 296"/>
                  <a:gd name="T4" fmla="*/ 1410 w 1410"/>
                  <a:gd name="T5" fmla="*/ 296 h 296"/>
                  <a:gd name="T6" fmla="*/ 0 60000 65536"/>
                  <a:gd name="T7" fmla="*/ 0 60000 65536"/>
                  <a:gd name="T8" fmla="*/ 0 60000 65536"/>
                  <a:gd name="T9" fmla="*/ 0 w 1410"/>
                  <a:gd name="T10" fmla="*/ 0 h 296"/>
                  <a:gd name="T11" fmla="*/ 1410 w 1410"/>
                  <a:gd name="T12" fmla="*/ 296 h 296"/>
                </a:gdLst>
                <a:ahLst/>
                <a:cxnLst>
                  <a:cxn ang="T6">
                    <a:pos x="T0" y="T1"/>
                  </a:cxn>
                  <a:cxn ang="T7">
                    <a:pos x="T2" y="T3"/>
                  </a:cxn>
                  <a:cxn ang="T8">
                    <a:pos x="T4" y="T5"/>
                  </a:cxn>
                </a:cxnLst>
                <a:rect l="T9" t="T10" r="T11" b="T12"/>
                <a:pathLst>
                  <a:path w="1410" h="296">
                    <a:moveTo>
                      <a:pt x="0" y="284"/>
                    </a:moveTo>
                    <a:cubicBezTo>
                      <a:pt x="238" y="142"/>
                      <a:pt x="476" y="0"/>
                      <a:pt x="711" y="2"/>
                    </a:cubicBezTo>
                    <a:cubicBezTo>
                      <a:pt x="946" y="4"/>
                      <a:pt x="1178" y="150"/>
                      <a:pt x="1410" y="296"/>
                    </a:cubicBezTo>
                  </a:path>
                </a:pathLst>
              </a:custGeom>
              <a:noFill/>
              <a:ln w="28575">
                <a:solidFill>
                  <a:schemeClr val="hlink"/>
                </a:solidFill>
                <a:round/>
                <a:headEnd/>
                <a:tailEnd/>
              </a:ln>
            </p:spPr>
            <p:txBody>
              <a:bodyPr wrap="none" anchor="ctr"/>
              <a:lstStyle/>
              <a:p>
                <a:endParaRPr lang="zh-CN" altLang="en-US"/>
              </a:p>
            </p:txBody>
          </p:sp>
        </p:grpSp>
        <p:grpSp>
          <p:nvGrpSpPr>
            <p:cNvPr id="59447" name="Group 23"/>
            <p:cNvGrpSpPr>
              <a:grpSpLocks/>
            </p:cNvGrpSpPr>
            <p:nvPr/>
          </p:nvGrpSpPr>
          <p:grpSpPr bwMode="auto">
            <a:xfrm>
              <a:off x="1128" y="1996"/>
              <a:ext cx="2841" cy="297"/>
              <a:chOff x="1154" y="1289"/>
              <a:chExt cx="2841" cy="297"/>
            </a:xfrm>
          </p:grpSpPr>
          <p:sp>
            <p:nvSpPr>
              <p:cNvPr id="59448" name="Freeform 24"/>
              <p:cNvSpPr>
                <a:spLocks/>
              </p:cNvSpPr>
              <p:nvPr/>
            </p:nvSpPr>
            <p:spPr bwMode="auto">
              <a:xfrm flipV="1">
                <a:off x="2585" y="1290"/>
                <a:ext cx="1410" cy="296"/>
              </a:xfrm>
              <a:custGeom>
                <a:avLst/>
                <a:gdLst>
                  <a:gd name="T0" fmla="*/ 0 w 1410"/>
                  <a:gd name="T1" fmla="*/ 284 h 296"/>
                  <a:gd name="T2" fmla="*/ 711 w 1410"/>
                  <a:gd name="T3" fmla="*/ 2 h 296"/>
                  <a:gd name="T4" fmla="*/ 1410 w 1410"/>
                  <a:gd name="T5" fmla="*/ 296 h 296"/>
                  <a:gd name="T6" fmla="*/ 0 60000 65536"/>
                  <a:gd name="T7" fmla="*/ 0 60000 65536"/>
                  <a:gd name="T8" fmla="*/ 0 60000 65536"/>
                  <a:gd name="T9" fmla="*/ 0 w 1410"/>
                  <a:gd name="T10" fmla="*/ 0 h 296"/>
                  <a:gd name="T11" fmla="*/ 1410 w 1410"/>
                  <a:gd name="T12" fmla="*/ 296 h 296"/>
                </a:gdLst>
                <a:ahLst/>
                <a:cxnLst>
                  <a:cxn ang="T6">
                    <a:pos x="T0" y="T1"/>
                  </a:cxn>
                  <a:cxn ang="T7">
                    <a:pos x="T2" y="T3"/>
                  </a:cxn>
                  <a:cxn ang="T8">
                    <a:pos x="T4" y="T5"/>
                  </a:cxn>
                </a:cxnLst>
                <a:rect l="T9" t="T10" r="T11" b="T12"/>
                <a:pathLst>
                  <a:path w="1410" h="296">
                    <a:moveTo>
                      <a:pt x="0" y="284"/>
                    </a:moveTo>
                    <a:cubicBezTo>
                      <a:pt x="238" y="142"/>
                      <a:pt x="476" y="0"/>
                      <a:pt x="711" y="2"/>
                    </a:cubicBezTo>
                    <a:cubicBezTo>
                      <a:pt x="946" y="4"/>
                      <a:pt x="1178" y="150"/>
                      <a:pt x="1410" y="296"/>
                    </a:cubicBezTo>
                  </a:path>
                </a:pathLst>
              </a:custGeom>
              <a:noFill/>
              <a:ln w="28575">
                <a:solidFill>
                  <a:schemeClr val="hlink"/>
                </a:solidFill>
                <a:round/>
                <a:headEnd/>
                <a:tailEnd/>
              </a:ln>
            </p:spPr>
            <p:txBody>
              <a:bodyPr wrap="none" anchor="ctr"/>
              <a:lstStyle/>
              <a:p>
                <a:endParaRPr lang="zh-CN" altLang="en-US"/>
              </a:p>
            </p:txBody>
          </p:sp>
          <p:sp>
            <p:nvSpPr>
              <p:cNvPr id="59449" name="Freeform 25"/>
              <p:cNvSpPr>
                <a:spLocks/>
              </p:cNvSpPr>
              <p:nvPr/>
            </p:nvSpPr>
            <p:spPr bwMode="auto">
              <a:xfrm flipV="1">
                <a:off x="1154" y="1289"/>
                <a:ext cx="1410" cy="296"/>
              </a:xfrm>
              <a:custGeom>
                <a:avLst/>
                <a:gdLst>
                  <a:gd name="T0" fmla="*/ 0 w 1410"/>
                  <a:gd name="T1" fmla="*/ 284 h 296"/>
                  <a:gd name="T2" fmla="*/ 711 w 1410"/>
                  <a:gd name="T3" fmla="*/ 2 h 296"/>
                  <a:gd name="T4" fmla="*/ 1410 w 1410"/>
                  <a:gd name="T5" fmla="*/ 296 h 296"/>
                  <a:gd name="T6" fmla="*/ 0 60000 65536"/>
                  <a:gd name="T7" fmla="*/ 0 60000 65536"/>
                  <a:gd name="T8" fmla="*/ 0 60000 65536"/>
                  <a:gd name="T9" fmla="*/ 0 w 1410"/>
                  <a:gd name="T10" fmla="*/ 0 h 296"/>
                  <a:gd name="T11" fmla="*/ 1410 w 1410"/>
                  <a:gd name="T12" fmla="*/ 296 h 296"/>
                </a:gdLst>
                <a:ahLst/>
                <a:cxnLst>
                  <a:cxn ang="T6">
                    <a:pos x="T0" y="T1"/>
                  </a:cxn>
                  <a:cxn ang="T7">
                    <a:pos x="T2" y="T3"/>
                  </a:cxn>
                  <a:cxn ang="T8">
                    <a:pos x="T4" y="T5"/>
                  </a:cxn>
                </a:cxnLst>
                <a:rect l="T9" t="T10" r="T11" b="T12"/>
                <a:pathLst>
                  <a:path w="1410" h="296">
                    <a:moveTo>
                      <a:pt x="0" y="284"/>
                    </a:moveTo>
                    <a:cubicBezTo>
                      <a:pt x="238" y="142"/>
                      <a:pt x="476" y="0"/>
                      <a:pt x="711" y="2"/>
                    </a:cubicBezTo>
                    <a:cubicBezTo>
                      <a:pt x="946" y="4"/>
                      <a:pt x="1178" y="150"/>
                      <a:pt x="1410" y="296"/>
                    </a:cubicBezTo>
                  </a:path>
                </a:pathLst>
              </a:custGeom>
              <a:noFill/>
              <a:ln w="19050">
                <a:solidFill>
                  <a:srgbClr val="FF5050"/>
                </a:solidFill>
                <a:prstDash val="dash"/>
                <a:round/>
                <a:headEnd/>
                <a:tailEnd/>
              </a:ln>
            </p:spPr>
            <p:txBody>
              <a:bodyPr wrap="none" anchor="ctr"/>
              <a:lstStyle/>
              <a:p>
                <a:endParaRPr lang="zh-CN" altLang="en-US"/>
              </a:p>
            </p:txBody>
          </p:sp>
        </p:grpSp>
      </p:grpSp>
      <p:graphicFrame>
        <p:nvGraphicFramePr>
          <p:cNvPr id="63514" name="Object 44"/>
          <p:cNvGraphicFramePr>
            <a:graphicFrameLocks noChangeAspect="1"/>
          </p:cNvGraphicFramePr>
          <p:nvPr/>
        </p:nvGraphicFramePr>
        <p:xfrm>
          <a:off x="1349375" y="1928813"/>
          <a:ext cx="2814638" cy="569912"/>
        </p:xfrm>
        <a:graphic>
          <a:graphicData uri="http://schemas.openxmlformats.org/presentationml/2006/ole">
            <p:oleObj spid="_x0000_s59436" name="Equation" r:id="rId5" imgW="1497950" imgH="406224" progId="Equation.3">
              <p:embed/>
            </p:oleObj>
          </a:graphicData>
        </a:graphic>
      </p:graphicFrame>
      <p:sp>
        <p:nvSpPr>
          <p:cNvPr id="63515" name="Rectangle 27"/>
          <p:cNvSpPr>
            <a:spLocks noChangeArrowheads="1"/>
          </p:cNvSpPr>
          <p:nvPr/>
        </p:nvSpPr>
        <p:spPr bwMode="auto">
          <a:xfrm>
            <a:off x="4830763" y="2938463"/>
            <a:ext cx="874712" cy="323850"/>
          </a:xfrm>
          <a:prstGeom prst="rect">
            <a:avLst/>
          </a:prstGeom>
          <a:noFill/>
          <a:ln w="9525">
            <a:noFill/>
            <a:miter lim="800000"/>
            <a:headEnd/>
            <a:tailEnd/>
          </a:ln>
          <a:effectLst>
            <a:prstShdw prst="shdw17" dist="17961" dir="2700000">
              <a:srgbClr val="993D00"/>
            </a:prstShdw>
          </a:effectLst>
        </p:spPr>
        <p:txBody>
          <a:bodyPr wrap="none">
            <a:spAutoFit/>
          </a:bodyPr>
          <a:lstStyle/>
          <a:p>
            <a:pPr eaLnBrk="0" hangingPunct="0"/>
            <a:r>
              <a:rPr kumimoji="0" lang="en-US" altLang="zh-CN" sz="1500" b="1">
                <a:sym typeface="Symbol" pitchFamily="18" charset="2"/>
              </a:rPr>
              <a:t></a:t>
            </a:r>
            <a:r>
              <a:rPr kumimoji="0" lang="en-US" altLang="zh-CN" sz="1500" b="1"/>
              <a:t>(</a:t>
            </a:r>
            <a:r>
              <a:rPr kumimoji="0" lang="en-US" altLang="zh-CN" sz="1500" b="1" i="1"/>
              <a:t>x</a:t>
            </a:r>
            <a:r>
              <a:rPr kumimoji="0" lang="en-US" altLang="zh-CN" sz="1500" b="1"/>
              <a:t>)  &lt; 0</a:t>
            </a:r>
          </a:p>
        </p:txBody>
      </p:sp>
      <p:graphicFrame>
        <p:nvGraphicFramePr>
          <p:cNvPr id="63516" name="Object 45"/>
          <p:cNvGraphicFramePr>
            <a:graphicFrameLocks noChangeAspect="1"/>
          </p:cNvGraphicFramePr>
          <p:nvPr/>
        </p:nvGraphicFramePr>
        <p:xfrm>
          <a:off x="4233863" y="3370263"/>
          <a:ext cx="3375025" cy="538162"/>
        </p:xfrm>
        <a:graphic>
          <a:graphicData uri="http://schemas.openxmlformats.org/presentationml/2006/ole">
            <p:oleObj spid="_x0000_s59437" name="Equation" r:id="rId6" imgW="1904174" imgH="406224" progId="Equation.3">
              <p:embed/>
            </p:oleObj>
          </a:graphicData>
        </a:graphic>
      </p:graphicFrame>
      <p:sp>
        <p:nvSpPr>
          <p:cNvPr id="63517" name="Text Box 29"/>
          <p:cNvSpPr txBox="1">
            <a:spLocks noChangeArrowheads="1"/>
          </p:cNvSpPr>
          <p:nvPr/>
        </p:nvSpPr>
        <p:spPr bwMode="auto">
          <a:xfrm>
            <a:off x="1614488" y="4017963"/>
            <a:ext cx="5670550" cy="646112"/>
          </a:xfrm>
          <a:prstGeom prst="rect">
            <a:avLst/>
          </a:prstGeom>
          <a:noFill/>
          <a:ln w="9525">
            <a:noFill/>
            <a:miter lim="800000"/>
            <a:headEnd/>
            <a:tailEnd/>
          </a:ln>
        </p:spPr>
        <p:txBody>
          <a:bodyPr>
            <a:spAutoFit/>
          </a:bodyPr>
          <a:lstStyle/>
          <a:p>
            <a:r>
              <a:rPr lang="zh-CN" altLang="en-US" sz="1800" b="1">
                <a:solidFill>
                  <a:srgbClr val="0000FF"/>
                </a:solidFill>
                <a:latin typeface="华文中宋"/>
                <a:ea typeface="华文中宋"/>
                <a:cs typeface="华文中宋"/>
              </a:rPr>
              <a:t>相邻两波节间各点振动位相相同；</a:t>
            </a:r>
          </a:p>
          <a:p>
            <a:r>
              <a:rPr lang="zh-CN" altLang="en-US" sz="1800" b="1">
                <a:solidFill>
                  <a:srgbClr val="0000FF"/>
                </a:solidFill>
                <a:latin typeface="华文中宋"/>
                <a:ea typeface="华文中宋"/>
                <a:cs typeface="华文中宋"/>
              </a:rPr>
              <a:t>波节两边各点振动位相相差</a:t>
            </a:r>
            <a:r>
              <a:rPr lang="en-US" altLang="zh-CN" sz="1800" b="1">
                <a:solidFill>
                  <a:srgbClr val="0000FF"/>
                </a:solidFill>
                <a:latin typeface="华文中宋"/>
                <a:ea typeface="华文中宋"/>
                <a:cs typeface="华文中宋"/>
              </a:rPr>
              <a:t>π</a:t>
            </a:r>
            <a:r>
              <a:rPr lang="en-US" altLang="zh-CN" sz="1800">
                <a:solidFill>
                  <a:srgbClr val="0000FF"/>
                </a:solidFill>
                <a:latin typeface="华文中宋"/>
                <a:ea typeface="华文中宋"/>
                <a:cs typeface="华文中宋"/>
              </a:rPr>
              <a:t> </a:t>
            </a:r>
            <a:r>
              <a:rPr lang="zh-CN" altLang="en-US" sz="1800" b="1">
                <a:solidFill>
                  <a:srgbClr val="0000FF"/>
                </a:solidFill>
                <a:latin typeface="华文中宋"/>
                <a:ea typeface="华文中宋"/>
                <a:cs typeface="华文中宋"/>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90"/>
                                        </p:tgtEl>
                                        <p:attrNameLst>
                                          <p:attrName>style.visibility</p:attrName>
                                        </p:attrNameLst>
                                      </p:cBhvr>
                                      <p:to>
                                        <p:strVal val="visible"/>
                                      </p:to>
                                    </p:set>
                                    <p:animEffect transition="in" filter="wipe(left)">
                                      <p:cBhvr>
                                        <p:cTn id="7" dur="500"/>
                                        <p:tgtEl>
                                          <p:spTgt spid="634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3491"/>
                                        </p:tgtEl>
                                        <p:attrNameLst>
                                          <p:attrName>style.visibility</p:attrName>
                                        </p:attrNameLst>
                                      </p:cBhvr>
                                      <p:to>
                                        <p:strVal val="visible"/>
                                      </p:to>
                                    </p:set>
                                    <p:animEffect transition="in" filter="wipe(left)">
                                      <p:cBhvr>
                                        <p:cTn id="12" dur="500"/>
                                        <p:tgtEl>
                                          <p:spTgt spid="634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3492"/>
                                        </p:tgtEl>
                                        <p:attrNameLst>
                                          <p:attrName>style.visibility</p:attrName>
                                        </p:attrNameLst>
                                      </p:cBhvr>
                                      <p:to>
                                        <p:strVal val="visible"/>
                                      </p:to>
                                    </p:set>
                                    <p:animEffect transition="in" filter="wipe(left)">
                                      <p:cBhvr>
                                        <p:cTn id="17" dur="500"/>
                                        <p:tgtEl>
                                          <p:spTgt spid="634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ppt_w</p:attrName>
                                        </p:attrNameLst>
                                      </p:cBhvr>
                                      <p:tavLst>
                                        <p:tav tm="0">
                                          <p:val>
                                            <p:fltVal val="0"/>
                                          </p:val>
                                        </p:tav>
                                        <p:tav tm="100000">
                                          <p:val>
                                            <p:strVal val="#ppt_w"/>
                                          </p:val>
                                        </p:tav>
                                      </p:tavLst>
                                    </p:anim>
                                    <p:anim calcmode="lin" valueType="num">
                                      <p:cBhvr>
                                        <p:cTn id="2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3497"/>
                                        </p:tgtEl>
                                        <p:attrNameLst>
                                          <p:attrName>style.visibility</p:attrName>
                                        </p:attrNameLst>
                                      </p:cBhvr>
                                      <p:to>
                                        <p:strVal val="visible"/>
                                      </p:to>
                                    </p:set>
                                    <p:animEffect transition="in" filter="wipe(left)">
                                      <p:cBhvr>
                                        <p:cTn id="33" dur="500"/>
                                        <p:tgtEl>
                                          <p:spTgt spid="6349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63514"/>
                                        </p:tgtEl>
                                        <p:attrNameLst>
                                          <p:attrName>style.visibility</p:attrName>
                                        </p:attrNameLst>
                                      </p:cBhvr>
                                      <p:to>
                                        <p:strVal val="visible"/>
                                      </p:to>
                                    </p:set>
                                    <p:animEffect transition="in" filter="wipe(left)">
                                      <p:cBhvr>
                                        <p:cTn id="38" dur="500"/>
                                        <p:tgtEl>
                                          <p:spTgt spid="6351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63515"/>
                                        </p:tgtEl>
                                        <p:attrNameLst>
                                          <p:attrName>style.visibility</p:attrName>
                                        </p:attrNameLst>
                                      </p:cBhvr>
                                      <p:to>
                                        <p:strVal val="visible"/>
                                      </p:to>
                                    </p:set>
                                    <p:animEffect transition="in" filter="wipe(left)">
                                      <p:cBhvr>
                                        <p:cTn id="43" dur="500"/>
                                        <p:tgtEl>
                                          <p:spTgt spid="6351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63516"/>
                                        </p:tgtEl>
                                        <p:attrNameLst>
                                          <p:attrName>style.visibility</p:attrName>
                                        </p:attrNameLst>
                                      </p:cBhvr>
                                      <p:to>
                                        <p:strVal val="visible"/>
                                      </p:to>
                                    </p:set>
                                    <p:animEffect transition="in" filter="wipe(left)">
                                      <p:cBhvr>
                                        <p:cTn id="48" dur="500"/>
                                        <p:tgtEl>
                                          <p:spTgt spid="6351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63517"/>
                                        </p:tgtEl>
                                        <p:attrNameLst>
                                          <p:attrName>style.visibility</p:attrName>
                                        </p:attrNameLst>
                                      </p:cBhvr>
                                      <p:to>
                                        <p:strVal val="visible"/>
                                      </p:to>
                                    </p:set>
                                    <p:animEffect transition="in" filter="wipe(left)">
                                      <p:cBhvr>
                                        <p:cTn id="53" dur="500"/>
                                        <p:tgtEl>
                                          <p:spTgt spid="63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p:bldP spid="63497" grpId="0"/>
      <p:bldP spid="63515" grpId="0"/>
      <p:bldP spid="6351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827088" y="1203325"/>
            <a:ext cx="6192837" cy="369888"/>
          </a:xfrm>
          <a:prstGeom prst="rect">
            <a:avLst/>
          </a:prstGeom>
          <a:noFill/>
          <a:ln w="9525">
            <a:noFill/>
            <a:miter lim="800000"/>
            <a:headEnd/>
            <a:tailEnd/>
          </a:ln>
        </p:spPr>
        <p:txBody>
          <a:bodyPr>
            <a:spAutoFit/>
          </a:bodyPr>
          <a:lstStyle/>
          <a:p>
            <a:r>
              <a:rPr kumimoji="0" lang="en-US" altLang="zh-CN" sz="1800" b="1">
                <a:ea typeface="华文中宋"/>
                <a:cs typeface="华文中宋"/>
              </a:rPr>
              <a:t>  </a:t>
            </a:r>
            <a:r>
              <a:rPr kumimoji="0" lang="zh-CN" altLang="en-US" sz="1800" b="1">
                <a:ea typeface="华文中宋"/>
                <a:cs typeface="华文中宋"/>
              </a:rPr>
              <a:t>波阻</a:t>
            </a:r>
            <a:r>
              <a:rPr kumimoji="0" lang="en-US" altLang="zh-CN" sz="1800" b="1">
                <a:ea typeface="华文中宋"/>
                <a:cs typeface="华文中宋"/>
              </a:rPr>
              <a:t>(</a:t>
            </a:r>
            <a:r>
              <a:rPr kumimoji="0" lang="zh-CN" altLang="en-US" sz="1800" b="1">
                <a:ea typeface="华文中宋"/>
                <a:cs typeface="华文中宋"/>
              </a:rPr>
              <a:t>波的阻抗</a:t>
            </a:r>
            <a:r>
              <a:rPr kumimoji="0" lang="en-US" altLang="zh-CN" sz="1800" b="1">
                <a:ea typeface="华文中宋"/>
                <a:cs typeface="华文中宋"/>
              </a:rPr>
              <a:t>): </a:t>
            </a:r>
            <a:r>
              <a:rPr kumimoji="0" lang="zh-CN" altLang="en-US" sz="1800" b="1">
                <a:ea typeface="华文中宋"/>
                <a:cs typeface="华文中宋"/>
              </a:rPr>
              <a:t>是指介质的密度与波速之乘积     </a:t>
            </a:r>
            <a:r>
              <a:rPr kumimoji="0" lang="en-US" altLang="zh-CN" sz="1800" b="1" i="1">
                <a:ea typeface="华文中宋"/>
                <a:cs typeface="华文中宋"/>
              </a:rPr>
              <a:t>z </a:t>
            </a:r>
            <a:r>
              <a:rPr kumimoji="0" lang="en-US" altLang="zh-CN" sz="1800" b="1">
                <a:ea typeface="华文中宋"/>
                <a:cs typeface="华文中宋"/>
              </a:rPr>
              <a:t>= </a:t>
            </a:r>
            <a:r>
              <a:rPr kumimoji="0" lang="en-US" altLang="zh-CN" sz="1800" b="1" i="1">
                <a:ea typeface="华文中宋"/>
                <a:cs typeface="华文中宋"/>
                <a:sym typeface="Symbol" pitchFamily="18" charset="2"/>
              </a:rPr>
              <a:t></a:t>
            </a:r>
            <a:r>
              <a:rPr kumimoji="0" lang="en-US" altLang="zh-CN" sz="1800" b="1" i="1">
                <a:ea typeface="华文中宋"/>
                <a:cs typeface="华文中宋"/>
              </a:rPr>
              <a:t>u</a:t>
            </a:r>
            <a:r>
              <a:rPr kumimoji="0" lang="en-US" altLang="zh-CN" sz="1800" b="1">
                <a:ea typeface="华文中宋"/>
                <a:cs typeface="华文中宋"/>
              </a:rPr>
              <a:t> </a:t>
            </a:r>
          </a:p>
        </p:txBody>
      </p:sp>
      <p:sp>
        <p:nvSpPr>
          <p:cNvPr id="5" name="Text Box 4"/>
          <p:cNvSpPr txBox="1">
            <a:spLocks noChangeArrowheads="1"/>
          </p:cNvSpPr>
          <p:nvPr/>
        </p:nvSpPr>
        <p:spPr bwMode="auto">
          <a:xfrm>
            <a:off x="2916238" y="1492250"/>
            <a:ext cx="1860550" cy="368300"/>
          </a:xfrm>
          <a:prstGeom prst="rect">
            <a:avLst/>
          </a:prstGeom>
          <a:noFill/>
          <a:ln w="9525">
            <a:noFill/>
            <a:miter lim="800000"/>
            <a:headEnd/>
            <a:tailEnd/>
          </a:ln>
        </p:spPr>
        <p:txBody>
          <a:bodyPr>
            <a:spAutoFit/>
          </a:bodyPr>
          <a:lstStyle/>
          <a:p>
            <a:pPr>
              <a:spcBef>
                <a:spcPct val="50000"/>
              </a:spcBef>
            </a:pPr>
            <a:r>
              <a:rPr lang="en-US" altLang="zh-CN" sz="1800" b="1" i="1">
                <a:ea typeface="华文中宋"/>
                <a:cs typeface="华文中宋"/>
              </a:rPr>
              <a:t>z</a:t>
            </a:r>
            <a:r>
              <a:rPr lang="zh-CN" altLang="en-US" sz="1800" b="1">
                <a:ea typeface="华文中宋"/>
                <a:cs typeface="华文中宋"/>
              </a:rPr>
              <a:t>大 </a:t>
            </a:r>
            <a:r>
              <a:rPr lang="en-US" altLang="zh-CN" sz="1800" b="1">
                <a:ea typeface="华文中宋"/>
                <a:cs typeface="华文中宋"/>
              </a:rPr>
              <a:t>— </a:t>
            </a:r>
            <a:r>
              <a:rPr lang="zh-CN" altLang="en-US" sz="1800" b="1">
                <a:ea typeface="华文中宋"/>
                <a:cs typeface="华文中宋"/>
              </a:rPr>
              <a:t>波密媒质</a:t>
            </a:r>
          </a:p>
        </p:txBody>
      </p:sp>
      <p:sp>
        <p:nvSpPr>
          <p:cNvPr id="6" name="Text Box 5"/>
          <p:cNvSpPr txBox="1">
            <a:spLocks noChangeArrowheads="1"/>
          </p:cNvSpPr>
          <p:nvPr/>
        </p:nvSpPr>
        <p:spPr bwMode="auto">
          <a:xfrm>
            <a:off x="2960688" y="1897063"/>
            <a:ext cx="1793875" cy="368300"/>
          </a:xfrm>
          <a:prstGeom prst="rect">
            <a:avLst/>
          </a:prstGeom>
          <a:noFill/>
          <a:ln w="9525">
            <a:noFill/>
            <a:miter lim="800000"/>
            <a:headEnd/>
            <a:tailEnd/>
          </a:ln>
        </p:spPr>
        <p:txBody>
          <a:bodyPr>
            <a:spAutoFit/>
          </a:bodyPr>
          <a:lstStyle/>
          <a:p>
            <a:pPr>
              <a:spcBef>
                <a:spcPct val="50000"/>
              </a:spcBef>
            </a:pPr>
            <a:r>
              <a:rPr lang="en-US" altLang="zh-CN" sz="1800" b="1" i="1">
                <a:ea typeface="华文中宋"/>
                <a:cs typeface="华文中宋"/>
              </a:rPr>
              <a:t>z</a:t>
            </a:r>
            <a:r>
              <a:rPr lang="zh-CN" altLang="en-US" sz="1800" b="1">
                <a:ea typeface="华文中宋"/>
                <a:cs typeface="华文中宋"/>
              </a:rPr>
              <a:t>小 </a:t>
            </a:r>
            <a:r>
              <a:rPr lang="en-US" altLang="zh-CN" sz="1800" b="1">
                <a:ea typeface="华文中宋"/>
                <a:cs typeface="华文中宋"/>
              </a:rPr>
              <a:t>— </a:t>
            </a:r>
            <a:r>
              <a:rPr lang="zh-CN" altLang="en-US" sz="1800" b="1">
                <a:ea typeface="华文中宋"/>
                <a:cs typeface="华文中宋"/>
              </a:rPr>
              <a:t>波疏媒质</a:t>
            </a:r>
          </a:p>
        </p:txBody>
      </p:sp>
      <p:grpSp>
        <p:nvGrpSpPr>
          <p:cNvPr id="2" name="Group 6"/>
          <p:cNvGrpSpPr>
            <a:grpSpLocks/>
          </p:cNvGrpSpPr>
          <p:nvPr/>
        </p:nvGrpSpPr>
        <p:grpSpPr bwMode="auto">
          <a:xfrm>
            <a:off x="4706938" y="1579563"/>
            <a:ext cx="968375" cy="685800"/>
            <a:chOff x="4787" y="1278"/>
            <a:chExt cx="615" cy="576"/>
          </a:xfrm>
        </p:grpSpPr>
        <p:sp>
          <p:nvSpPr>
            <p:cNvPr id="82984" name="AutoShape 7"/>
            <p:cNvSpPr>
              <a:spLocks/>
            </p:cNvSpPr>
            <p:nvPr/>
          </p:nvSpPr>
          <p:spPr bwMode="auto">
            <a:xfrm>
              <a:off x="4787" y="1278"/>
              <a:ext cx="96" cy="576"/>
            </a:xfrm>
            <a:prstGeom prst="rightBrace">
              <a:avLst>
                <a:gd name="adj1" fmla="val 50000"/>
                <a:gd name="adj2" fmla="val 50000"/>
              </a:avLst>
            </a:prstGeom>
            <a:noFill/>
            <a:ln w="19050">
              <a:solidFill>
                <a:srgbClr val="00B0F0"/>
              </a:solidFill>
              <a:round/>
              <a:headEnd/>
              <a:tailEnd/>
            </a:ln>
          </p:spPr>
          <p:txBody>
            <a:bodyPr wrap="none" anchor="ctr"/>
            <a:lstStyle/>
            <a:p>
              <a:endParaRPr kumimoji="0" lang="zh-CN" altLang="zh-CN" sz="1800">
                <a:ea typeface="华文中宋"/>
                <a:cs typeface="华文中宋"/>
              </a:endParaRPr>
            </a:p>
          </p:txBody>
        </p:sp>
        <p:sp>
          <p:nvSpPr>
            <p:cNvPr id="82985" name="Text Box 8"/>
            <p:cNvSpPr txBox="1">
              <a:spLocks noChangeArrowheads="1"/>
            </p:cNvSpPr>
            <p:nvPr/>
          </p:nvSpPr>
          <p:spPr bwMode="auto">
            <a:xfrm>
              <a:off x="4881" y="1284"/>
              <a:ext cx="521" cy="543"/>
            </a:xfrm>
            <a:prstGeom prst="rect">
              <a:avLst/>
            </a:prstGeom>
            <a:noFill/>
            <a:ln w="9525">
              <a:noFill/>
              <a:miter lim="800000"/>
              <a:headEnd/>
              <a:tailEnd/>
            </a:ln>
          </p:spPr>
          <p:txBody>
            <a:bodyPr>
              <a:spAutoFit/>
            </a:bodyPr>
            <a:lstStyle/>
            <a:p>
              <a:pPr>
                <a:spcBef>
                  <a:spcPct val="50000"/>
                </a:spcBef>
              </a:pPr>
              <a:r>
                <a:rPr lang="zh-CN" altLang="en-US" sz="1800" b="1">
                  <a:solidFill>
                    <a:srgbClr val="00B0F0"/>
                  </a:solidFill>
                  <a:ea typeface="华文中宋"/>
                  <a:cs typeface="华文中宋"/>
                </a:rPr>
                <a:t>相对而言</a:t>
              </a:r>
            </a:p>
          </p:txBody>
        </p:sp>
      </p:grpSp>
      <p:sp>
        <p:nvSpPr>
          <p:cNvPr id="10" name="Text Box 9"/>
          <p:cNvSpPr txBox="1">
            <a:spLocks noChangeArrowheads="1"/>
          </p:cNvSpPr>
          <p:nvPr/>
        </p:nvSpPr>
        <p:spPr bwMode="auto">
          <a:xfrm>
            <a:off x="565150" y="2228850"/>
            <a:ext cx="4070350" cy="369888"/>
          </a:xfrm>
          <a:prstGeom prst="rect">
            <a:avLst/>
          </a:prstGeom>
          <a:noFill/>
          <a:ln w="9525">
            <a:noFill/>
            <a:miter lim="800000"/>
            <a:headEnd/>
            <a:tailEnd/>
          </a:ln>
        </p:spPr>
        <p:txBody>
          <a:bodyPr>
            <a:spAutoFit/>
          </a:bodyPr>
          <a:lstStyle/>
          <a:p>
            <a:pPr algn="just">
              <a:spcBef>
                <a:spcPct val="50000"/>
              </a:spcBef>
            </a:pPr>
            <a:r>
              <a:rPr lang="en-US" altLang="zh-CN" sz="1800" b="1">
                <a:solidFill>
                  <a:srgbClr val="0000FF"/>
                </a:solidFill>
                <a:ea typeface="华文中宋"/>
                <a:cs typeface="华文中宋"/>
              </a:rPr>
              <a:t>1</a:t>
            </a:r>
            <a:r>
              <a:rPr lang="zh-CN" altLang="en-US" sz="1800" b="1">
                <a:solidFill>
                  <a:srgbClr val="0000FF"/>
                </a:solidFill>
                <a:ea typeface="华文中宋"/>
                <a:cs typeface="华文中宋"/>
              </a:rPr>
              <a:t>、若 </a:t>
            </a:r>
            <a:r>
              <a:rPr lang="zh-CN" altLang="en-US" sz="1800" b="1" i="1">
                <a:solidFill>
                  <a:srgbClr val="0000FF"/>
                </a:solidFill>
                <a:ea typeface="华文中宋"/>
                <a:cs typeface="华文中宋"/>
                <a:sym typeface="Symbol" pitchFamily="18" charset="2"/>
              </a:rPr>
              <a:t></a:t>
            </a:r>
            <a:r>
              <a:rPr lang="en-US" altLang="zh-CN" sz="1800" b="1" baseline="-25000">
                <a:solidFill>
                  <a:srgbClr val="0000FF"/>
                </a:solidFill>
                <a:ea typeface="华文中宋"/>
                <a:cs typeface="华文中宋"/>
                <a:sym typeface="Symbol" pitchFamily="18" charset="2"/>
              </a:rPr>
              <a:t>1</a:t>
            </a:r>
            <a:r>
              <a:rPr lang="en-US" altLang="zh-CN" sz="1800" b="1" i="1">
                <a:solidFill>
                  <a:srgbClr val="0000FF"/>
                </a:solidFill>
                <a:ea typeface="华文中宋"/>
                <a:cs typeface="华文中宋"/>
                <a:sym typeface="Symbol" pitchFamily="18" charset="2"/>
              </a:rPr>
              <a:t>u</a:t>
            </a:r>
            <a:r>
              <a:rPr lang="en-US" altLang="zh-CN" sz="1800" b="1" baseline="-25000">
                <a:solidFill>
                  <a:srgbClr val="0000FF"/>
                </a:solidFill>
                <a:ea typeface="华文中宋"/>
                <a:cs typeface="华文中宋"/>
              </a:rPr>
              <a:t>1</a:t>
            </a:r>
            <a:r>
              <a:rPr lang="en-US" altLang="zh-CN" sz="1800" b="1">
                <a:solidFill>
                  <a:srgbClr val="0000FF"/>
                </a:solidFill>
                <a:ea typeface="华文中宋"/>
                <a:cs typeface="华文中宋"/>
              </a:rPr>
              <a:t> &gt; </a:t>
            </a:r>
            <a:r>
              <a:rPr lang="en-US" altLang="zh-CN" sz="1800" b="1" i="1">
                <a:solidFill>
                  <a:srgbClr val="0000FF"/>
                </a:solidFill>
                <a:ea typeface="华文中宋"/>
                <a:cs typeface="华文中宋"/>
                <a:sym typeface="Symbol" pitchFamily="18" charset="2"/>
              </a:rPr>
              <a:t></a:t>
            </a:r>
            <a:r>
              <a:rPr lang="en-US" altLang="zh-CN" sz="1800" b="1" baseline="-25000">
                <a:solidFill>
                  <a:srgbClr val="0000FF"/>
                </a:solidFill>
                <a:ea typeface="华文中宋"/>
                <a:cs typeface="华文中宋"/>
                <a:sym typeface="Symbol" pitchFamily="18" charset="2"/>
              </a:rPr>
              <a:t>2</a:t>
            </a:r>
            <a:r>
              <a:rPr lang="en-US" altLang="zh-CN" sz="1800" b="1" i="1">
                <a:solidFill>
                  <a:srgbClr val="0000FF"/>
                </a:solidFill>
                <a:ea typeface="华文中宋"/>
                <a:cs typeface="华文中宋"/>
                <a:sym typeface="Symbol" pitchFamily="18" charset="2"/>
              </a:rPr>
              <a:t>u</a:t>
            </a:r>
            <a:r>
              <a:rPr lang="en-US" altLang="zh-CN" sz="1800" b="1" baseline="-25000">
                <a:solidFill>
                  <a:srgbClr val="0000FF"/>
                </a:solidFill>
                <a:ea typeface="华文中宋"/>
                <a:cs typeface="华文中宋"/>
              </a:rPr>
              <a:t>2  </a:t>
            </a:r>
            <a:r>
              <a:rPr lang="en-US" altLang="zh-CN" sz="1800" b="1">
                <a:solidFill>
                  <a:srgbClr val="0000FF"/>
                </a:solidFill>
                <a:ea typeface="华文中宋"/>
                <a:cs typeface="华文中宋"/>
              </a:rPr>
              <a:t>,  </a:t>
            </a:r>
            <a:r>
              <a:rPr lang="zh-CN" altLang="en-US" sz="1800" b="1">
                <a:solidFill>
                  <a:srgbClr val="0000FF"/>
                </a:solidFill>
                <a:ea typeface="华文中宋"/>
                <a:cs typeface="华文中宋"/>
              </a:rPr>
              <a:t>即波密</a:t>
            </a:r>
            <a:r>
              <a:rPr lang="zh-CN" altLang="en-US" sz="1800" b="1">
                <a:solidFill>
                  <a:srgbClr val="0000FF"/>
                </a:solidFill>
                <a:ea typeface="华文中宋"/>
                <a:cs typeface="华文中宋"/>
                <a:sym typeface="Symbol" pitchFamily="18" charset="2"/>
              </a:rPr>
              <a:t>波疏</a:t>
            </a:r>
            <a:endParaRPr lang="zh-CN" altLang="en-US" sz="1800" b="1">
              <a:solidFill>
                <a:srgbClr val="0000FF"/>
              </a:solidFill>
              <a:ea typeface="华文中宋"/>
              <a:cs typeface="华文中宋"/>
            </a:endParaRPr>
          </a:p>
        </p:txBody>
      </p:sp>
      <p:sp>
        <p:nvSpPr>
          <p:cNvPr id="11" name="Text Box 10"/>
          <p:cNvSpPr txBox="1">
            <a:spLocks noChangeArrowheads="1"/>
          </p:cNvSpPr>
          <p:nvPr/>
        </p:nvSpPr>
        <p:spPr bwMode="auto">
          <a:xfrm>
            <a:off x="955675" y="2706688"/>
            <a:ext cx="2609850" cy="369887"/>
          </a:xfrm>
          <a:prstGeom prst="rect">
            <a:avLst/>
          </a:prstGeom>
          <a:noFill/>
          <a:ln w="9525">
            <a:noFill/>
            <a:miter lim="800000"/>
            <a:headEnd/>
            <a:tailEnd/>
          </a:ln>
        </p:spPr>
        <p:txBody>
          <a:bodyPr>
            <a:spAutoFit/>
          </a:bodyPr>
          <a:lstStyle/>
          <a:p>
            <a:pPr algn="just"/>
            <a:r>
              <a:rPr lang="zh-CN" altLang="en-US" sz="1800" b="1">
                <a:ea typeface="华文中宋"/>
                <a:cs typeface="华文中宋"/>
              </a:rPr>
              <a:t>若忽略透射</a:t>
            </a:r>
            <a:r>
              <a:rPr lang="en-US" altLang="zh-CN" sz="1800" b="1">
                <a:ea typeface="华文中宋"/>
                <a:cs typeface="华文中宋"/>
              </a:rPr>
              <a:t>:</a:t>
            </a:r>
          </a:p>
        </p:txBody>
      </p:sp>
      <p:grpSp>
        <p:nvGrpSpPr>
          <p:cNvPr id="7" name="组合 57"/>
          <p:cNvGrpSpPr>
            <a:grpSpLocks/>
          </p:cNvGrpSpPr>
          <p:nvPr/>
        </p:nvGrpSpPr>
        <p:grpSpPr bwMode="auto">
          <a:xfrm>
            <a:off x="2190750" y="3084513"/>
            <a:ext cx="4640263" cy="1447800"/>
            <a:chOff x="2190455" y="4112053"/>
            <a:chExt cx="4640263" cy="1930528"/>
          </a:xfrm>
        </p:grpSpPr>
        <p:sp>
          <p:nvSpPr>
            <p:cNvPr id="82979" name="Line 38"/>
            <p:cNvSpPr>
              <a:spLocks noChangeShapeType="1"/>
            </p:cNvSpPr>
            <p:nvPr/>
          </p:nvSpPr>
          <p:spPr bwMode="auto">
            <a:xfrm>
              <a:off x="2190455" y="5242696"/>
              <a:ext cx="4640263" cy="0"/>
            </a:xfrm>
            <a:prstGeom prst="line">
              <a:avLst/>
            </a:prstGeom>
            <a:noFill/>
            <a:ln w="12700">
              <a:solidFill>
                <a:srgbClr val="0070C0"/>
              </a:solidFill>
              <a:round/>
              <a:headEnd/>
              <a:tailEnd type="triangle" w="sm" len="lg"/>
            </a:ln>
          </p:spPr>
          <p:txBody>
            <a:bodyPr/>
            <a:lstStyle/>
            <a:p>
              <a:endParaRPr lang="zh-CN" altLang="en-US"/>
            </a:p>
          </p:txBody>
        </p:sp>
        <p:sp>
          <p:nvSpPr>
            <p:cNvPr id="82980" name="Text Box 69"/>
            <p:cNvSpPr txBox="1">
              <a:spLocks noChangeArrowheads="1"/>
            </p:cNvSpPr>
            <p:nvPr/>
          </p:nvSpPr>
          <p:spPr bwMode="auto">
            <a:xfrm>
              <a:off x="6475425" y="5150195"/>
              <a:ext cx="341886" cy="355059"/>
            </a:xfrm>
            <a:prstGeom prst="rect">
              <a:avLst/>
            </a:prstGeom>
            <a:noFill/>
            <a:ln w="9525">
              <a:noFill/>
              <a:miter lim="800000"/>
              <a:headEnd/>
              <a:tailEnd/>
            </a:ln>
          </p:spPr>
          <p:txBody>
            <a:bodyPr/>
            <a:lstStyle/>
            <a:p>
              <a:pPr algn="just"/>
              <a:r>
                <a:rPr lang="en-US" altLang="zh-CN" sz="1800" b="1" i="1"/>
                <a:t>x</a:t>
              </a:r>
            </a:p>
          </p:txBody>
        </p:sp>
        <p:sp>
          <p:nvSpPr>
            <p:cNvPr id="54" name="矩形 53"/>
            <p:cNvSpPr/>
            <p:nvPr/>
          </p:nvSpPr>
          <p:spPr>
            <a:xfrm>
              <a:off x="4543130" y="4402055"/>
              <a:ext cx="57150" cy="1640526"/>
            </a:xfrm>
            <a:prstGeom prst="rect">
              <a:avLst/>
            </a:prstGeom>
            <a:pattFill prst="dkDnDiag">
              <a:fgClr>
                <a:schemeClr val="accent1"/>
              </a:fgClr>
              <a:bgClr>
                <a:schemeClr val="bg1"/>
              </a:bgClr>
            </a:patt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0" lang="zh-CN" altLang="en-US" sz="1800"/>
            </a:p>
          </p:txBody>
        </p:sp>
        <p:cxnSp>
          <p:nvCxnSpPr>
            <p:cNvPr id="56" name="直接连接符 55"/>
            <p:cNvCxnSpPr/>
            <p:nvPr/>
          </p:nvCxnSpPr>
          <p:spPr>
            <a:xfrm>
              <a:off x="4533605" y="4393588"/>
              <a:ext cx="0" cy="164899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82983" name="Text Box 9"/>
            <p:cNvSpPr txBox="1">
              <a:spLocks noChangeArrowheads="1"/>
            </p:cNvSpPr>
            <p:nvPr/>
          </p:nvSpPr>
          <p:spPr bwMode="auto">
            <a:xfrm>
              <a:off x="3910325" y="4112053"/>
              <a:ext cx="1396965" cy="430915"/>
            </a:xfrm>
            <a:prstGeom prst="rect">
              <a:avLst/>
            </a:prstGeom>
            <a:noFill/>
            <a:ln w="9525">
              <a:noFill/>
              <a:miter lim="800000"/>
              <a:headEnd/>
              <a:tailEnd/>
            </a:ln>
          </p:spPr>
          <p:txBody>
            <a:bodyPr>
              <a:spAutoFit/>
            </a:bodyPr>
            <a:lstStyle/>
            <a:p>
              <a:pPr algn="just">
                <a:spcBef>
                  <a:spcPct val="50000"/>
                </a:spcBef>
              </a:pPr>
              <a:r>
                <a:rPr lang="en-US" altLang="zh-CN" sz="1500" b="1" i="1">
                  <a:sym typeface="Symbol" pitchFamily="18" charset="2"/>
                </a:rPr>
                <a:t></a:t>
              </a:r>
              <a:r>
                <a:rPr lang="en-US" altLang="zh-CN" sz="1500" b="1" baseline="-25000">
                  <a:sym typeface="Symbol" pitchFamily="18" charset="2"/>
                </a:rPr>
                <a:t>1</a:t>
              </a:r>
              <a:r>
                <a:rPr lang="en-US" altLang="zh-CN" sz="1500" b="1" i="1">
                  <a:sym typeface="Symbol" pitchFamily="18" charset="2"/>
                </a:rPr>
                <a:t>u</a:t>
              </a:r>
              <a:r>
                <a:rPr lang="en-US" altLang="zh-CN" sz="1500" b="1" baseline="-25000"/>
                <a:t>1 </a:t>
              </a:r>
              <a:r>
                <a:rPr lang="en-US" altLang="zh-CN" sz="1500" b="1"/>
                <a:t> </a:t>
              </a:r>
              <a:r>
                <a:rPr lang="en-US" altLang="zh-CN" sz="1500" b="1">
                  <a:solidFill>
                    <a:srgbClr val="FF0000"/>
                  </a:solidFill>
                </a:rPr>
                <a:t>&gt;</a:t>
              </a:r>
              <a:r>
                <a:rPr lang="en-US" altLang="zh-CN" sz="1500" b="1"/>
                <a:t>  </a:t>
              </a:r>
              <a:r>
                <a:rPr lang="en-US" altLang="zh-CN" sz="1500" b="1" i="1">
                  <a:sym typeface="Symbol" pitchFamily="18" charset="2"/>
                </a:rPr>
                <a:t></a:t>
              </a:r>
              <a:r>
                <a:rPr lang="en-US" altLang="zh-CN" sz="1500" b="1" baseline="-25000">
                  <a:sym typeface="Symbol" pitchFamily="18" charset="2"/>
                </a:rPr>
                <a:t>2</a:t>
              </a:r>
              <a:r>
                <a:rPr lang="en-US" altLang="zh-CN" sz="1500" b="1" i="1">
                  <a:sym typeface="Symbol" pitchFamily="18" charset="2"/>
                </a:rPr>
                <a:t>u</a:t>
              </a:r>
              <a:r>
                <a:rPr lang="en-US" altLang="zh-CN" sz="1500" b="1" baseline="-25000"/>
                <a:t>2 </a:t>
              </a:r>
              <a:endParaRPr lang="en-US" altLang="zh-CN" sz="1500" b="1"/>
            </a:p>
          </p:txBody>
        </p:sp>
      </p:grpSp>
      <p:grpSp>
        <p:nvGrpSpPr>
          <p:cNvPr id="8" name="Group 17"/>
          <p:cNvGrpSpPr>
            <a:grpSpLocks/>
          </p:cNvGrpSpPr>
          <p:nvPr/>
        </p:nvGrpSpPr>
        <p:grpSpPr bwMode="auto">
          <a:xfrm>
            <a:off x="4516438" y="3657600"/>
            <a:ext cx="2047875" cy="622300"/>
            <a:chOff x="5773" y="3220"/>
            <a:chExt cx="3107" cy="1260"/>
          </a:xfrm>
        </p:grpSpPr>
        <p:sp>
          <p:nvSpPr>
            <p:cNvPr id="82976" name="Freeform 18"/>
            <p:cNvSpPr>
              <a:spLocks/>
            </p:cNvSpPr>
            <p:nvPr/>
          </p:nvSpPr>
          <p:spPr bwMode="auto">
            <a:xfrm flipV="1">
              <a:off x="5773" y="3359"/>
              <a:ext cx="359" cy="491"/>
            </a:xfrm>
            <a:custGeom>
              <a:avLst/>
              <a:gdLst>
                <a:gd name="T0" fmla="*/ 0 w 9263"/>
                <a:gd name="T1" fmla="*/ 0 h 10300"/>
                <a:gd name="T2" fmla="*/ 0 w 9263"/>
                <a:gd name="T3" fmla="*/ 0 h 10300"/>
                <a:gd name="T4" fmla="*/ 0 60000 65536"/>
                <a:gd name="T5" fmla="*/ 0 60000 65536"/>
                <a:gd name="T6" fmla="*/ 0 w 9263"/>
                <a:gd name="T7" fmla="*/ 0 h 10300"/>
                <a:gd name="T8" fmla="*/ 9263 w 9263"/>
                <a:gd name="T9" fmla="*/ 10300 h 10300"/>
              </a:gdLst>
              <a:ahLst/>
              <a:cxnLst>
                <a:cxn ang="T4">
                  <a:pos x="T0" y="T1"/>
                </a:cxn>
                <a:cxn ang="T5">
                  <a:pos x="T2" y="T3"/>
                </a:cxn>
              </a:cxnLst>
              <a:rect l="T6" t="T7" r="T8" b="T9"/>
              <a:pathLst>
                <a:path w="9263" h="10300">
                  <a:moveTo>
                    <a:pt x="0" y="10300"/>
                  </a:moveTo>
                  <a:cubicBezTo>
                    <a:pt x="4650" y="6619"/>
                    <a:pt x="3443" y="6608"/>
                    <a:pt x="9263" y="0"/>
                  </a:cubicBezTo>
                </a:path>
              </a:pathLst>
            </a:custGeom>
            <a:noFill/>
            <a:ln w="12700">
              <a:solidFill>
                <a:srgbClr val="0000FF"/>
              </a:solidFill>
              <a:prstDash val="dash"/>
              <a:round/>
              <a:headEnd/>
              <a:tailEnd/>
            </a:ln>
          </p:spPr>
          <p:txBody>
            <a:bodyPr/>
            <a:lstStyle/>
            <a:p>
              <a:endParaRPr lang="zh-CN" altLang="en-US"/>
            </a:p>
          </p:txBody>
        </p:sp>
        <p:sp>
          <p:nvSpPr>
            <p:cNvPr id="82977" name="Freeform 19"/>
            <p:cNvSpPr>
              <a:spLocks/>
            </p:cNvSpPr>
            <p:nvPr/>
          </p:nvSpPr>
          <p:spPr bwMode="auto">
            <a:xfrm>
              <a:off x="6160" y="3850"/>
              <a:ext cx="1350" cy="630"/>
            </a:xfrm>
            <a:custGeom>
              <a:avLst/>
              <a:gdLst>
                <a:gd name="T0" fmla="*/ 0 w 1040"/>
                <a:gd name="T1" fmla="*/ 0 h 740"/>
                <a:gd name="T2" fmla="*/ 2147483647 w 1040"/>
                <a:gd name="T3" fmla="*/ 3 h 740"/>
                <a:gd name="T4" fmla="*/ 2147483647 w 1040"/>
                <a:gd name="T5" fmla="*/ 0 h 740"/>
                <a:gd name="T6" fmla="*/ 0 60000 65536"/>
                <a:gd name="T7" fmla="*/ 0 60000 65536"/>
                <a:gd name="T8" fmla="*/ 0 60000 65536"/>
                <a:gd name="T9" fmla="*/ 0 w 1040"/>
                <a:gd name="T10" fmla="*/ 0 h 740"/>
                <a:gd name="T11" fmla="*/ 1040 w 1040"/>
                <a:gd name="T12" fmla="*/ 740 h 740"/>
              </a:gdLst>
              <a:ahLst/>
              <a:cxnLst>
                <a:cxn ang="T6">
                  <a:pos x="T0" y="T1"/>
                </a:cxn>
                <a:cxn ang="T7">
                  <a:pos x="T2" y="T3"/>
                </a:cxn>
                <a:cxn ang="T8">
                  <a:pos x="T4" y="T5"/>
                </a:cxn>
              </a:cxnLst>
              <a:rect l="T9" t="T10" r="T11" b="T12"/>
              <a:pathLst>
                <a:path w="1040" h="740">
                  <a:moveTo>
                    <a:pt x="0" y="0"/>
                  </a:moveTo>
                  <a:cubicBezTo>
                    <a:pt x="173" y="370"/>
                    <a:pt x="347" y="740"/>
                    <a:pt x="520" y="740"/>
                  </a:cubicBezTo>
                  <a:cubicBezTo>
                    <a:pt x="693" y="740"/>
                    <a:pt x="866" y="370"/>
                    <a:pt x="1040" y="0"/>
                  </a:cubicBezTo>
                </a:path>
              </a:pathLst>
            </a:custGeom>
            <a:noFill/>
            <a:ln w="12700">
              <a:solidFill>
                <a:srgbClr val="0000FF"/>
              </a:solidFill>
              <a:prstDash val="dash"/>
              <a:round/>
              <a:headEnd/>
              <a:tailEnd/>
            </a:ln>
          </p:spPr>
          <p:txBody>
            <a:bodyPr/>
            <a:lstStyle/>
            <a:p>
              <a:endParaRPr lang="zh-CN" altLang="en-US"/>
            </a:p>
          </p:txBody>
        </p:sp>
        <p:sp>
          <p:nvSpPr>
            <p:cNvPr id="82978" name="Freeform 20"/>
            <p:cNvSpPr>
              <a:spLocks/>
            </p:cNvSpPr>
            <p:nvPr/>
          </p:nvSpPr>
          <p:spPr bwMode="auto">
            <a:xfrm flipV="1">
              <a:off x="7530" y="3220"/>
              <a:ext cx="1350" cy="630"/>
            </a:xfrm>
            <a:custGeom>
              <a:avLst/>
              <a:gdLst>
                <a:gd name="T0" fmla="*/ 0 w 1040"/>
                <a:gd name="T1" fmla="*/ 0 h 740"/>
                <a:gd name="T2" fmla="*/ 2147483647 w 1040"/>
                <a:gd name="T3" fmla="*/ 3 h 740"/>
                <a:gd name="T4" fmla="*/ 2147483647 w 1040"/>
                <a:gd name="T5" fmla="*/ 0 h 740"/>
                <a:gd name="T6" fmla="*/ 0 60000 65536"/>
                <a:gd name="T7" fmla="*/ 0 60000 65536"/>
                <a:gd name="T8" fmla="*/ 0 60000 65536"/>
                <a:gd name="T9" fmla="*/ 0 w 1040"/>
                <a:gd name="T10" fmla="*/ 0 h 740"/>
                <a:gd name="T11" fmla="*/ 1040 w 1040"/>
                <a:gd name="T12" fmla="*/ 740 h 740"/>
              </a:gdLst>
              <a:ahLst/>
              <a:cxnLst>
                <a:cxn ang="T6">
                  <a:pos x="T0" y="T1"/>
                </a:cxn>
                <a:cxn ang="T7">
                  <a:pos x="T2" y="T3"/>
                </a:cxn>
                <a:cxn ang="T8">
                  <a:pos x="T4" y="T5"/>
                </a:cxn>
              </a:cxnLst>
              <a:rect l="T9" t="T10" r="T11" b="T12"/>
              <a:pathLst>
                <a:path w="1040" h="740">
                  <a:moveTo>
                    <a:pt x="0" y="0"/>
                  </a:moveTo>
                  <a:cubicBezTo>
                    <a:pt x="173" y="370"/>
                    <a:pt x="347" y="740"/>
                    <a:pt x="520" y="740"/>
                  </a:cubicBezTo>
                  <a:cubicBezTo>
                    <a:pt x="693" y="740"/>
                    <a:pt x="866" y="370"/>
                    <a:pt x="1040" y="0"/>
                  </a:cubicBezTo>
                </a:path>
              </a:pathLst>
            </a:custGeom>
            <a:noFill/>
            <a:ln w="12700">
              <a:solidFill>
                <a:srgbClr val="0000FF"/>
              </a:solidFill>
              <a:prstDash val="dash"/>
              <a:round/>
              <a:headEnd/>
              <a:tailEnd/>
            </a:ln>
          </p:spPr>
          <p:txBody>
            <a:bodyPr/>
            <a:lstStyle/>
            <a:p>
              <a:endParaRPr lang="zh-CN" altLang="en-US"/>
            </a:p>
          </p:txBody>
        </p:sp>
      </p:grpSp>
      <p:grpSp>
        <p:nvGrpSpPr>
          <p:cNvPr id="9" name="组合 71"/>
          <p:cNvGrpSpPr>
            <a:grpSpLocks/>
          </p:cNvGrpSpPr>
          <p:nvPr/>
        </p:nvGrpSpPr>
        <p:grpSpPr bwMode="auto">
          <a:xfrm>
            <a:off x="2073275" y="3578225"/>
            <a:ext cx="2459038" cy="666750"/>
            <a:chOff x="207357" y="4798243"/>
            <a:chExt cx="2459038" cy="889479"/>
          </a:xfrm>
        </p:grpSpPr>
        <p:sp>
          <p:nvSpPr>
            <p:cNvPr id="82971" name="Freeform 12"/>
            <p:cNvSpPr>
              <a:spLocks/>
            </p:cNvSpPr>
            <p:nvPr/>
          </p:nvSpPr>
          <p:spPr bwMode="auto">
            <a:xfrm>
              <a:off x="1979007" y="4857459"/>
              <a:ext cx="687388" cy="422275"/>
            </a:xfrm>
            <a:custGeom>
              <a:avLst/>
              <a:gdLst>
                <a:gd name="T0" fmla="*/ 0 w 10000"/>
                <a:gd name="T1" fmla="*/ 2147483647 h 10002"/>
                <a:gd name="T2" fmla="*/ 2147483647 w 10000"/>
                <a:gd name="T3" fmla="*/ 2147483647 h 10002"/>
                <a:gd name="T4" fmla="*/ 2147483647 w 10000"/>
                <a:gd name="T5" fmla="*/ 2147483647 h 10002"/>
                <a:gd name="T6" fmla="*/ 0 60000 65536"/>
                <a:gd name="T7" fmla="*/ 0 60000 65536"/>
                <a:gd name="T8" fmla="*/ 0 60000 65536"/>
                <a:gd name="T9" fmla="*/ 0 w 10000"/>
                <a:gd name="T10" fmla="*/ 0 h 10002"/>
                <a:gd name="T11" fmla="*/ 10000 w 10000"/>
                <a:gd name="T12" fmla="*/ 10002 h 10002"/>
              </a:gdLst>
              <a:ahLst/>
              <a:cxnLst>
                <a:cxn ang="T6">
                  <a:pos x="T0" y="T1"/>
                </a:cxn>
                <a:cxn ang="T7">
                  <a:pos x="T2" y="T3"/>
                </a:cxn>
                <a:cxn ang="T8">
                  <a:pos x="T4" y="T5"/>
                </a:cxn>
              </a:cxnLst>
              <a:rect l="T9" t="T10" r="T11" b="T12"/>
              <a:pathLst>
                <a:path w="10000" h="10002">
                  <a:moveTo>
                    <a:pt x="0" y="10002"/>
                  </a:moveTo>
                  <a:cubicBezTo>
                    <a:pt x="3556" y="1432"/>
                    <a:pt x="4338" y="-53"/>
                    <a:pt x="6538" y="2"/>
                  </a:cubicBezTo>
                  <a:cubicBezTo>
                    <a:pt x="8738" y="57"/>
                    <a:pt x="9279" y="2972"/>
                    <a:pt x="10000" y="3753"/>
                  </a:cubicBezTo>
                </a:path>
              </a:pathLst>
            </a:custGeom>
            <a:noFill/>
            <a:ln w="12700">
              <a:solidFill>
                <a:srgbClr val="0000FF"/>
              </a:solidFill>
              <a:round/>
              <a:headEnd/>
              <a:tailEnd/>
            </a:ln>
          </p:spPr>
          <p:txBody>
            <a:bodyPr/>
            <a:lstStyle/>
            <a:p>
              <a:endParaRPr lang="zh-CN" altLang="en-US"/>
            </a:p>
          </p:txBody>
        </p:sp>
        <p:grpSp>
          <p:nvGrpSpPr>
            <p:cNvPr id="82972" name="Group 14"/>
            <p:cNvGrpSpPr>
              <a:grpSpLocks/>
            </p:cNvGrpSpPr>
            <p:nvPr/>
          </p:nvGrpSpPr>
          <p:grpSpPr bwMode="auto">
            <a:xfrm>
              <a:off x="207357" y="4857459"/>
              <a:ext cx="1778000" cy="830263"/>
              <a:chOff x="2110" y="3220"/>
              <a:chExt cx="2700" cy="1260"/>
            </a:xfrm>
          </p:grpSpPr>
          <p:sp>
            <p:nvSpPr>
              <p:cNvPr id="82974" name="Freeform 15"/>
              <p:cNvSpPr>
                <a:spLocks/>
              </p:cNvSpPr>
              <p:nvPr/>
            </p:nvSpPr>
            <p:spPr bwMode="auto">
              <a:xfrm>
                <a:off x="3460" y="3850"/>
                <a:ext cx="1350" cy="630"/>
              </a:xfrm>
              <a:custGeom>
                <a:avLst/>
                <a:gdLst>
                  <a:gd name="T0" fmla="*/ 0 w 1040"/>
                  <a:gd name="T1" fmla="*/ 0 h 740"/>
                  <a:gd name="T2" fmla="*/ 2147483647 w 1040"/>
                  <a:gd name="T3" fmla="*/ 3 h 740"/>
                  <a:gd name="T4" fmla="*/ 2147483647 w 1040"/>
                  <a:gd name="T5" fmla="*/ 0 h 740"/>
                  <a:gd name="T6" fmla="*/ 0 60000 65536"/>
                  <a:gd name="T7" fmla="*/ 0 60000 65536"/>
                  <a:gd name="T8" fmla="*/ 0 60000 65536"/>
                  <a:gd name="T9" fmla="*/ 0 w 1040"/>
                  <a:gd name="T10" fmla="*/ 0 h 740"/>
                  <a:gd name="T11" fmla="*/ 1040 w 1040"/>
                  <a:gd name="T12" fmla="*/ 740 h 740"/>
                </a:gdLst>
                <a:ahLst/>
                <a:cxnLst>
                  <a:cxn ang="T6">
                    <a:pos x="T0" y="T1"/>
                  </a:cxn>
                  <a:cxn ang="T7">
                    <a:pos x="T2" y="T3"/>
                  </a:cxn>
                  <a:cxn ang="T8">
                    <a:pos x="T4" y="T5"/>
                  </a:cxn>
                </a:cxnLst>
                <a:rect l="T9" t="T10" r="T11" b="T12"/>
                <a:pathLst>
                  <a:path w="1040" h="740">
                    <a:moveTo>
                      <a:pt x="0" y="0"/>
                    </a:moveTo>
                    <a:cubicBezTo>
                      <a:pt x="173" y="370"/>
                      <a:pt x="347" y="740"/>
                      <a:pt x="520" y="740"/>
                    </a:cubicBezTo>
                    <a:cubicBezTo>
                      <a:pt x="693" y="740"/>
                      <a:pt x="866" y="370"/>
                      <a:pt x="1040" y="0"/>
                    </a:cubicBezTo>
                  </a:path>
                </a:pathLst>
              </a:custGeom>
              <a:noFill/>
              <a:ln w="12700">
                <a:solidFill>
                  <a:srgbClr val="0000FF"/>
                </a:solidFill>
                <a:round/>
                <a:headEnd/>
                <a:tailEnd/>
              </a:ln>
            </p:spPr>
            <p:txBody>
              <a:bodyPr/>
              <a:lstStyle/>
              <a:p>
                <a:endParaRPr lang="zh-CN" altLang="en-US"/>
              </a:p>
            </p:txBody>
          </p:sp>
          <p:sp>
            <p:nvSpPr>
              <p:cNvPr id="82975" name="Freeform 16"/>
              <p:cNvSpPr>
                <a:spLocks/>
              </p:cNvSpPr>
              <p:nvPr/>
            </p:nvSpPr>
            <p:spPr bwMode="auto">
              <a:xfrm flipV="1">
                <a:off x="2110" y="3220"/>
                <a:ext cx="1350" cy="630"/>
              </a:xfrm>
              <a:custGeom>
                <a:avLst/>
                <a:gdLst>
                  <a:gd name="T0" fmla="*/ 0 w 1040"/>
                  <a:gd name="T1" fmla="*/ 0 h 740"/>
                  <a:gd name="T2" fmla="*/ 2147483647 w 1040"/>
                  <a:gd name="T3" fmla="*/ 3 h 740"/>
                  <a:gd name="T4" fmla="*/ 2147483647 w 1040"/>
                  <a:gd name="T5" fmla="*/ 0 h 740"/>
                  <a:gd name="T6" fmla="*/ 0 60000 65536"/>
                  <a:gd name="T7" fmla="*/ 0 60000 65536"/>
                  <a:gd name="T8" fmla="*/ 0 60000 65536"/>
                  <a:gd name="T9" fmla="*/ 0 w 1040"/>
                  <a:gd name="T10" fmla="*/ 0 h 740"/>
                  <a:gd name="T11" fmla="*/ 1040 w 1040"/>
                  <a:gd name="T12" fmla="*/ 740 h 740"/>
                </a:gdLst>
                <a:ahLst/>
                <a:cxnLst>
                  <a:cxn ang="T6">
                    <a:pos x="T0" y="T1"/>
                  </a:cxn>
                  <a:cxn ang="T7">
                    <a:pos x="T2" y="T3"/>
                  </a:cxn>
                  <a:cxn ang="T8">
                    <a:pos x="T4" y="T5"/>
                  </a:cxn>
                </a:cxnLst>
                <a:rect l="T9" t="T10" r="T11" b="T12"/>
                <a:pathLst>
                  <a:path w="1040" h="740">
                    <a:moveTo>
                      <a:pt x="0" y="0"/>
                    </a:moveTo>
                    <a:cubicBezTo>
                      <a:pt x="173" y="370"/>
                      <a:pt x="347" y="740"/>
                      <a:pt x="520" y="740"/>
                    </a:cubicBezTo>
                    <a:cubicBezTo>
                      <a:pt x="693" y="740"/>
                      <a:pt x="866" y="370"/>
                      <a:pt x="1040" y="0"/>
                    </a:cubicBezTo>
                  </a:path>
                </a:pathLst>
              </a:custGeom>
              <a:noFill/>
              <a:ln w="12700">
                <a:solidFill>
                  <a:srgbClr val="0000FF"/>
                </a:solidFill>
                <a:round/>
                <a:headEnd/>
                <a:tailEnd/>
              </a:ln>
            </p:spPr>
            <p:txBody>
              <a:bodyPr/>
              <a:lstStyle/>
              <a:p>
                <a:endParaRPr lang="zh-CN" altLang="en-US"/>
              </a:p>
            </p:txBody>
          </p:sp>
        </p:grpSp>
        <p:cxnSp>
          <p:nvCxnSpPr>
            <p:cNvPr id="71" name="直接箭头连接符 70"/>
            <p:cNvCxnSpPr/>
            <p:nvPr/>
          </p:nvCxnSpPr>
          <p:spPr>
            <a:xfrm>
              <a:off x="820132" y="4798243"/>
              <a:ext cx="433388" cy="0"/>
            </a:xfrm>
            <a:prstGeom prst="straightConnector1">
              <a:avLst/>
            </a:prstGeom>
            <a:ln w="12700">
              <a:solidFill>
                <a:srgbClr val="00B0F0"/>
              </a:solidFill>
              <a:tailEnd type="arrow"/>
            </a:ln>
          </p:spPr>
          <p:style>
            <a:lnRef idx="1">
              <a:schemeClr val="accent1"/>
            </a:lnRef>
            <a:fillRef idx="0">
              <a:schemeClr val="accent1"/>
            </a:fillRef>
            <a:effectRef idx="0">
              <a:schemeClr val="accent1"/>
            </a:effectRef>
            <a:fontRef idx="minor">
              <a:schemeClr val="tx1"/>
            </a:fontRef>
          </p:style>
        </p:cxnSp>
      </p:grpSp>
      <p:grpSp>
        <p:nvGrpSpPr>
          <p:cNvPr id="13" name="Group 70"/>
          <p:cNvGrpSpPr>
            <a:grpSpLocks/>
          </p:cNvGrpSpPr>
          <p:nvPr/>
        </p:nvGrpSpPr>
        <p:grpSpPr bwMode="auto">
          <a:xfrm>
            <a:off x="2278063" y="3636963"/>
            <a:ext cx="2262187" cy="666750"/>
            <a:chOff x="1046" y="3073"/>
            <a:chExt cx="1687" cy="663"/>
          </a:xfrm>
        </p:grpSpPr>
        <p:sp>
          <p:nvSpPr>
            <p:cNvPr id="82966" name="Freeform 71"/>
            <p:cNvSpPr>
              <a:spLocks/>
            </p:cNvSpPr>
            <p:nvPr/>
          </p:nvSpPr>
          <p:spPr bwMode="auto">
            <a:xfrm>
              <a:off x="1899" y="3371"/>
              <a:ext cx="664" cy="298"/>
            </a:xfrm>
            <a:custGeom>
              <a:avLst/>
              <a:gdLst>
                <a:gd name="T0" fmla="*/ 0 w 10000"/>
                <a:gd name="T1" fmla="*/ 0 h 10000"/>
                <a:gd name="T2" fmla="*/ 0 w 10000"/>
                <a:gd name="T3" fmla="*/ 0 h 10000"/>
                <a:gd name="T4" fmla="*/ 0 w 10000"/>
                <a:gd name="T5" fmla="*/ 0 h 10000"/>
                <a:gd name="T6" fmla="*/ 0 60000 65536"/>
                <a:gd name="T7" fmla="*/ 0 60000 65536"/>
                <a:gd name="T8" fmla="*/ 0 60000 65536"/>
                <a:gd name="T9" fmla="*/ 0 w 10000"/>
                <a:gd name="T10" fmla="*/ 0 h 10000"/>
                <a:gd name="T11" fmla="*/ 10000 w 10000"/>
                <a:gd name="T12" fmla="*/ 10000 h 10000"/>
              </a:gdLst>
              <a:ahLst/>
              <a:cxnLst>
                <a:cxn ang="T6">
                  <a:pos x="T0" y="T1"/>
                </a:cxn>
                <a:cxn ang="T7">
                  <a:pos x="T2" y="T3"/>
                </a:cxn>
                <a:cxn ang="T8">
                  <a:pos x="T4" y="T5"/>
                </a:cxn>
              </a:cxnLst>
              <a:rect l="T9" t="T10" r="T11" b="T12"/>
              <a:pathLst>
                <a:path w="10000" h="10000">
                  <a:moveTo>
                    <a:pt x="0" y="0"/>
                  </a:moveTo>
                  <a:cubicBezTo>
                    <a:pt x="1663" y="5000"/>
                    <a:pt x="3337" y="10000"/>
                    <a:pt x="5000" y="10000"/>
                  </a:cubicBezTo>
                  <a:cubicBezTo>
                    <a:pt x="6667" y="10000"/>
                    <a:pt x="9170" y="3499"/>
                    <a:pt x="10000" y="0"/>
                  </a:cubicBezTo>
                </a:path>
              </a:pathLst>
            </a:custGeom>
            <a:noFill/>
            <a:ln w="12700">
              <a:solidFill>
                <a:srgbClr val="00B0F0"/>
              </a:solidFill>
              <a:round/>
              <a:headEnd/>
              <a:tailEnd/>
            </a:ln>
          </p:spPr>
          <p:txBody>
            <a:bodyPr/>
            <a:lstStyle/>
            <a:p>
              <a:endParaRPr lang="zh-CN" altLang="en-US"/>
            </a:p>
          </p:txBody>
        </p:sp>
        <p:sp>
          <p:nvSpPr>
            <p:cNvPr id="82967" name="Freeform 72"/>
            <p:cNvSpPr>
              <a:spLocks/>
            </p:cNvSpPr>
            <p:nvPr/>
          </p:nvSpPr>
          <p:spPr bwMode="auto">
            <a:xfrm flipV="1">
              <a:off x="1233" y="3073"/>
              <a:ext cx="664" cy="298"/>
            </a:xfrm>
            <a:custGeom>
              <a:avLst/>
              <a:gdLst>
                <a:gd name="T0" fmla="*/ 0 w 1040"/>
                <a:gd name="T1" fmla="*/ 0 h 740"/>
                <a:gd name="T2" fmla="*/ 1 w 1040"/>
                <a:gd name="T3" fmla="*/ 0 h 740"/>
                <a:gd name="T4" fmla="*/ 1 w 1040"/>
                <a:gd name="T5" fmla="*/ 0 h 740"/>
                <a:gd name="T6" fmla="*/ 0 60000 65536"/>
                <a:gd name="T7" fmla="*/ 0 60000 65536"/>
                <a:gd name="T8" fmla="*/ 0 60000 65536"/>
                <a:gd name="T9" fmla="*/ 0 w 1040"/>
                <a:gd name="T10" fmla="*/ 0 h 740"/>
                <a:gd name="T11" fmla="*/ 1040 w 1040"/>
                <a:gd name="T12" fmla="*/ 740 h 740"/>
              </a:gdLst>
              <a:ahLst/>
              <a:cxnLst>
                <a:cxn ang="T6">
                  <a:pos x="T0" y="T1"/>
                </a:cxn>
                <a:cxn ang="T7">
                  <a:pos x="T2" y="T3"/>
                </a:cxn>
                <a:cxn ang="T8">
                  <a:pos x="T4" y="T5"/>
                </a:cxn>
              </a:cxnLst>
              <a:rect l="T9" t="T10" r="T11" b="T12"/>
              <a:pathLst>
                <a:path w="1040" h="740">
                  <a:moveTo>
                    <a:pt x="0" y="0"/>
                  </a:moveTo>
                  <a:cubicBezTo>
                    <a:pt x="173" y="370"/>
                    <a:pt x="347" y="740"/>
                    <a:pt x="520" y="740"/>
                  </a:cubicBezTo>
                  <a:cubicBezTo>
                    <a:pt x="693" y="740"/>
                    <a:pt x="866" y="370"/>
                    <a:pt x="1040" y="0"/>
                  </a:cubicBezTo>
                </a:path>
              </a:pathLst>
            </a:custGeom>
            <a:noFill/>
            <a:ln w="12700">
              <a:solidFill>
                <a:srgbClr val="00B0F0"/>
              </a:solidFill>
              <a:round/>
              <a:headEnd/>
              <a:tailEnd/>
            </a:ln>
          </p:spPr>
          <p:txBody>
            <a:bodyPr/>
            <a:lstStyle/>
            <a:p>
              <a:endParaRPr lang="zh-CN" altLang="en-US"/>
            </a:p>
          </p:txBody>
        </p:sp>
        <p:sp>
          <p:nvSpPr>
            <p:cNvPr id="82968" name="Freeform 73"/>
            <p:cNvSpPr>
              <a:spLocks/>
            </p:cNvSpPr>
            <p:nvPr/>
          </p:nvSpPr>
          <p:spPr bwMode="auto">
            <a:xfrm flipV="1">
              <a:off x="1046" y="3351"/>
              <a:ext cx="197" cy="256"/>
            </a:xfrm>
            <a:custGeom>
              <a:avLst/>
              <a:gdLst>
                <a:gd name="T0" fmla="*/ 0 w 10000"/>
                <a:gd name="T1" fmla="*/ 0 h 10000"/>
                <a:gd name="T2" fmla="*/ 0 w 10000"/>
                <a:gd name="T3" fmla="*/ 0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10000" y="10000"/>
                  </a:moveTo>
                  <a:cubicBezTo>
                    <a:pt x="8094" y="6942"/>
                    <a:pt x="4404" y="3333"/>
                    <a:pt x="0" y="0"/>
                  </a:cubicBezTo>
                </a:path>
              </a:pathLst>
            </a:custGeom>
            <a:noFill/>
            <a:ln w="12700">
              <a:solidFill>
                <a:srgbClr val="00B0F0"/>
              </a:solidFill>
              <a:round/>
              <a:headEnd/>
              <a:tailEnd/>
            </a:ln>
          </p:spPr>
          <p:txBody>
            <a:bodyPr/>
            <a:lstStyle/>
            <a:p>
              <a:endParaRPr lang="zh-CN" altLang="en-US"/>
            </a:p>
          </p:txBody>
        </p:sp>
        <p:sp>
          <p:nvSpPr>
            <p:cNvPr id="82969" name="Line 74"/>
            <p:cNvSpPr>
              <a:spLocks noChangeShapeType="1"/>
            </p:cNvSpPr>
            <p:nvPr/>
          </p:nvSpPr>
          <p:spPr bwMode="auto">
            <a:xfrm flipH="1">
              <a:off x="2066" y="3736"/>
              <a:ext cx="314" cy="0"/>
            </a:xfrm>
            <a:prstGeom prst="line">
              <a:avLst/>
            </a:prstGeom>
            <a:noFill/>
            <a:ln w="12700">
              <a:solidFill>
                <a:srgbClr val="00B0F0"/>
              </a:solidFill>
              <a:round/>
              <a:headEnd/>
              <a:tailEnd type="triangle" w="med" len="med"/>
            </a:ln>
          </p:spPr>
          <p:txBody>
            <a:bodyPr/>
            <a:lstStyle/>
            <a:p>
              <a:endParaRPr lang="zh-CN" altLang="en-US"/>
            </a:p>
          </p:txBody>
        </p:sp>
        <p:sp>
          <p:nvSpPr>
            <p:cNvPr id="82970" name="Freeform 75"/>
            <p:cNvSpPr>
              <a:spLocks/>
            </p:cNvSpPr>
            <p:nvPr/>
          </p:nvSpPr>
          <p:spPr bwMode="auto">
            <a:xfrm>
              <a:off x="2556" y="3184"/>
              <a:ext cx="177" cy="197"/>
            </a:xfrm>
            <a:custGeom>
              <a:avLst/>
              <a:gdLst>
                <a:gd name="T0" fmla="*/ 0 w 10000"/>
                <a:gd name="T1" fmla="*/ 0 h 10000"/>
                <a:gd name="T2" fmla="*/ 0 w 10000"/>
                <a:gd name="T3" fmla="*/ 0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10000"/>
                  </a:moveTo>
                  <a:cubicBezTo>
                    <a:pt x="3333" y="3811"/>
                    <a:pt x="5873" y="120"/>
                    <a:pt x="10000" y="0"/>
                  </a:cubicBezTo>
                </a:path>
              </a:pathLst>
            </a:custGeom>
            <a:noFill/>
            <a:ln w="12700">
              <a:solidFill>
                <a:srgbClr val="00B0F0"/>
              </a:solidFill>
              <a:round/>
              <a:headEnd/>
              <a:tailEnd/>
            </a:ln>
          </p:spPr>
          <p:txBody>
            <a:bodyPr/>
            <a:lstStyle/>
            <a:p>
              <a:endParaRPr lang="zh-CN" altLang="en-US"/>
            </a:p>
          </p:txBody>
        </p:sp>
      </p:grpSp>
      <p:grpSp>
        <p:nvGrpSpPr>
          <p:cNvPr id="14" name="Group 25"/>
          <p:cNvGrpSpPr>
            <a:grpSpLocks/>
          </p:cNvGrpSpPr>
          <p:nvPr/>
        </p:nvGrpSpPr>
        <p:grpSpPr bwMode="auto">
          <a:xfrm>
            <a:off x="3422650" y="3754438"/>
            <a:ext cx="1233488" cy="1136650"/>
            <a:chOff x="1900" y="2986"/>
            <a:chExt cx="920" cy="1131"/>
          </a:xfrm>
        </p:grpSpPr>
        <p:sp>
          <p:nvSpPr>
            <p:cNvPr id="82964" name="Text Box 26"/>
            <p:cNvSpPr txBox="1">
              <a:spLocks noChangeArrowheads="1"/>
            </p:cNvSpPr>
            <p:nvPr/>
          </p:nvSpPr>
          <p:spPr bwMode="auto">
            <a:xfrm>
              <a:off x="1900" y="3813"/>
              <a:ext cx="920" cy="304"/>
            </a:xfrm>
            <a:prstGeom prst="rect">
              <a:avLst/>
            </a:prstGeom>
            <a:noFill/>
            <a:ln w="9525">
              <a:noFill/>
              <a:miter lim="800000"/>
              <a:headEnd/>
              <a:tailEnd/>
            </a:ln>
          </p:spPr>
          <p:txBody>
            <a:bodyPr/>
            <a:lstStyle/>
            <a:p>
              <a:pPr algn="just"/>
              <a:r>
                <a:rPr lang="zh-CN" altLang="en-US" sz="1500" b="1">
                  <a:solidFill>
                    <a:srgbClr val="FF0000"/>
                  </a:solidFill>
                  <a:ea typeface="华文中宋"/>
                  <a:cs typeface="华文中宋"/>
                </a:rPr>
                <a:t>相位不变</a:t>
              </a:r>
              <a:endParaRPr lang="zh-CN" altLang="en-US" sz="1500">
                <a:solidFill>
                  <a:srgbClr val="FF0000"/>
                </a:solidFill>
                <a:ea typeface="华文中宋"/>
                <a:cs typeface="华文中宋"/>
              </a:endParaRPr>
            </a:p>
          </p:txBody>
        </p:sp>
        <p:sp>
          <p:nvSpPr>
            <p:cNvPr id="82965" name="Line 27"/>
            <p:cNvSpPr>
              <a:spLocks noChangeShapeType="1"/>
            </p:cNvSpPr>
            <p:nvPr/>
          </p:nvSpPr>
          <p:spPr bwMode="auto">
            <a:xfrm flipV="1">
              <a:off x="2405" y="2986"/>
              <a:ext cx="324" cy="830"/>
            </a:xfrm>
            <a:prstGeom prst="line">
              <a:avLst/>
            </a:prstGeom>
            <a:noFill/>
            <a:ln w="9525">
              <a:solidFill>
                <a:srgbClr val="00B0F0"/>
              </a:solidFill>
              <a:round/>
              <a:headEnd/>
              <a:tailEnd/>
            </a:ln>
          </p:spPr>
          <p:txBody>
            <a:bodyPr/>
            <a:lstStyle/>
            <a:p>
              <a:endParaRPr lang="zh-CN" altLang="en-US"/>
            </a:p>
          </p:txBody>
        </p:sp>
      </p:grpSp>
      <p:grpSp>
        <p:nvGrpSpPr>
          <p:cNvPr id="15" name="Group 76"/>
          <p:cNvGrpSpPr>
            <a:grpSpLocks/>
          </p:cNvGrpSpPr>
          <p:nvPr/>
        </p:nvGrpSpPr>
        <p:grpSpPr bwMode="auto">
          <a:xfrm>
            <a:off x="2298700" y="3427413"/>
            <a:ext cx="2252663" cy="998537"/>
            <a:chOff x="1067" y="2879"/>
            <a:chExt cx="1680" cy="993"/>
          </a:xfrm>
        </p:grpSpPr>
        <p:sp>
          <p:nvSpPr>
            <p:cNvPr id="82961" name="Freeform 77"/>
            <p:cNvSpPr>
              <a:spLocks/>
            </p:cNvSpPr>
            <p:nvPr/>
          </p:nvSpPr>
          <p:spPr bwMode="auto">
            <a:xfrm>
              <a:off x="1734" y="3376"/>
              <a:ext cx="667" cy="496"/>
            </a:xfrm>
            <a:custGeom>
              <a:avLst/>
              <a:gdLst>
                <a:gd name="T0" fmla="*/ 0 w 1040"/>
                <a:gd name="T1" fmla="*/ 0 h 740"/>
                <a:gd name="T2" fmla="*/ 1 w 1040"/>
                <a:gd name="T3" fmla="*/ 1 h 740"/>
                <a:gd name="T4" fmla="*/ 1 w 1040"/>
                <a:gd name="T5" fmla="*/ 0 h 740"/>
                <a:gd name="T6" fmla="*/ 0 60000 65536"/>
                <a:gd name="T7" fmla="*/ 0 60000 65536"/>
                <a:gd name="T8" fmla="*/ 0 60000 65536"/>
                <a:gd name="T9" fmla="*/ 0 w 1040"/>
                <a:gd name="T10" fmla="*/ 0 h 740"/>
                <a:gd name="T11" fmla="*/ 1040 w 1040"/>
                <a:gd name="T12" fmla="*/ 740 h 740"/>
              </a:gdLst>
              <a:ahLst/>
              <a:cxnLst>
                <a:cxn ang="T6">
                  <a:pos x="T0" y="T1"/>
                </a:cxn>
                <a:cxn ang="T7">
                  <a:pos x="T2" y="T3"/>
                </a:cxn>
                <a:cxn ang="T8">
                  <a:pos x="T4" y="T5"/>
                </a:cxn>
              </a:cxnLst>
              <a:rect l="T9" t="T10" r="T11" b="T12"/>
              <a:pathLst>
                <a:path w="1040" h="740">
                  <a:moveTo>
                    <a:pt x="0" y="0"/>
                  </a:moveTo>
                  <a:cubicBezTo>
                    <a:pt x="173" y="370"/>
                    <a:pt x="347" y="740"/>
                    <a:pt x="520" y="740"/>
                  </a:cubicBezTo>
                  <a:cubicBezTo>
                    <a:pt x="693" y="740"/>
                    <a:pt x="866" y="370"/>
                    <a:pt x="1040" y="0"/>
                  </a:cubicBezTo>
                </a:path>
              </a:pathLst>
            </a:custGeom>
            <a:noFill/>
            <a:ln w="28575">
              <a:solidFill>
                <a:srgbClr val="C00000"/>
              </a:solidFill>
              <a:round/>
              <a:headEnd/>
              <a:tailEnd/>
            </a:ln>
          </p:spPr>
          <p:txBody>
            <a:bodyPr/>
            <a:lstStyle/>
            <a:p>
              <a:endParaRPr lang="zh-CN" altLang="en-US"/>
            </a:p>
          </p:txBody>
        </p:sp>
        <p:sp>
          <p:nvSpPr>
            <p:cNvPr id="82962" name="Freeform 78"/>
            <p:cNvSpPr>
              <a:spLocks/>
            </p:cNvSpPr>
            <p:nvPr/>
          </p:nvSpPr>
          <p:spPr bwMode="auto">
            <a:xfrm flipV="1">
              <a:off x="1067" y="2879"/>
              <a:ext cx="667" cy="497"/>
            </a:xfrm>
            <a:custGeom>
              <a:avLst/>
              <a:gdLst>
                <a:gd name="T0" fmla="*/ 0 w 1040"/>
                <a:gd name="T1" fmla="*/ 0 h 740"/>
                <a:gd name="T2" fmla="*/ 1 w 1040"/>
                <a:gd name="T3" fmla="*/ 1 h 740"/>
                <a:gd name="T4" fmla="*/ 1 w 1040"/>
                <a:gd name="T5" fmla="*/ 0 h 740"/>
                <a:gd name="T6" fmla="*/ 0 60000 65536"/>
                <a:gd name="T7" fmla="*/ 0 60000 65536"/>
                <a:gd name="T8" fmla="*/ 0 60000 65536"/>
                <a:gd name="T9" fmla="*/ 0 w 1040"/>
                <a:gd name="T10" fmla="*/ 0 h 740"/>
                <a:gd name="T11" fmla="*/ 1040 w 1040"/>
                <a:gd name="T12" fmla="*/ 740 h 740"/>
              </a:gdLst>
              <a:ahLst/>
              <a:cxnLst>
                <a:cxn ang="T6">
                  <a:pos x="T0" y="T1"/>
                </a:cxn>
                <a:cxn ang="T7">
                  <a:pos x="T2" y="T3"/>
                </a:cxn>
                <a:cxn ang="T8">
                  <a:pos x="T4" y="T5"/>
                </a:cxn>
              </a:cxnLst>
              <a:rect l="T9" t="T10" r="T11" b="T12"/>
              <a:pathLst>
                <a:path w="1040" h="740">
                  <a:moveTo>
                    <a:pt x="0" y="0"/>
                  </a:moveTo>
                  <a:cubicBezTo>
                    <a:pt x="173" y="370"/>
                    <a:pt x="347" y="740"/>
                    <a:pt x="520" y="740"/>
                  </a:cubicBezTo>
                  <a:cubicBezTo>
                    <a:pt x="693" y="740"/>
                    <a:pt x="866" y="370"/>
                    <a:pt x="1040" y="0"/>
                  </a:cubicBezTo>
                </a:path>
              </a:pathLst>
            </a:custGeom>
            <a:noFill/>
            <a:ln w="28575">
              <a:solidFill>
                <a:srgbClr val="C00000"/>
              </a:solidFill>
              <a:round/>
              <a:headEnd/>
              <a:tailEnd/>
            </a:ln>
          </p:spPr>
          <p:txBody>
            <a:bodyPr/>
            <a:lstStyle/>
            <a:p>
              <a:endParaRPr lang="zh-CN" altLang="en-US"/>
            </a:p>
          </p:txBody>
        </p:sp>
        <p:sp>
          <p:nvSpPr>
            <p:cNvPr id="82963" name="Freeform 81"/>
            <p:cNvSpPr>
              <a:spLocks/>
            </p:cNvSpPr>
            <p:nvPr/>
          </p:nvSpPr>
          <p:spPr bwMode="auto">
            <a:xfrm>
              <a:off x="2403" y="2879"/>
              <a:ext cx="344" cy="502"/>
            </a:xfrm>
            <a:custGeom>
              <a:avLst/>
              <a:gdLst>
                <a:gd name="T0" fmla="*/ 0 w 700"/>
                <a:gd name="T1" fmla="*/ 0 h 1020"/>
                <a:gd name="T2" fmla="*/ 0 w 700"/>
                <a:gd name="T3" fmla="*/ 0 h 1020"/>
                <a:gd name="T4" fmla="*/ 0 w 700"/>
                <a:gd name="T5" fmla="*/ 0 h 1020"/>
                <a:gd name="T6" fmla="*/ 0 w 700"/>
                <a:gd name="T7" fmla="*/ 0 h 1020"/>
                <a:gd name="T8" fmla="*/ 0 w 700"/>
                <a:gd name="T9" fmla="*/ 0 h 1020"/>
                <a:gd name="T10" fmla="*/ 0 w 700"/>
                <a:gd name="T11" fmla="*/ 0 h 1020"/>
                <a:gd name="T12" fmla="*/ 0 60000 65536"/>
                <a:gd name="T13" fmla="*/ 0 60000 65536"/>
                <a:gd name="T14" fmla="*/ 0 60000 65536"/>
                <a:gd name="T15" fmla="*/ 0 60000 65536"/>
                <a:gd name="T16" fmla="*/ 0 60000 65536"/>
                <a:gd name="T17" fmla="*/ 0 60000 65536"/>
                <a:gd name="T18" fmla="*/ 0 w 700"/>
                <a:gd name="T19" fmla="*/ 0 h 1020"/>
                <a:gd name="T20" fmla="*/ 700 w 700"/>
                <a:gd name="T21" fmla="*/ 1020 h 1020"/>
              </a:gdLst>
              <a:ahLst/>
              <a:cxnLst>
                <a:cxn ang="T12">
                  <a:pos x="T0" y="T1"/>
                </a:cxn>
                <a:cxn ang="T13">
                  <a:pos x="T2" y="T3"/>
                </a:cxn>
                <a:cxn ang="T14">
                  <a:pos x="T4" y="T5"/>
                </a:cxn>
                <a:cxn ang="T15">
                  <a:pos x="T6" y="T7"/>
                </a:cxn>
                <a:cxn ang="T16">
                  <a:pos x="T8" y="T9"/>
                </a:cxn>
                <a:cxn ang="T17">
                  <a:pos x="T10" y="T11"/>
                </a:cxn>
              </a:cxnLst>
              <a:rect l="T18" t="T19" r="T20" b="T21"/>
              <a:pathLst>
                <a:path w="700" h="1020">
                  <a:moveTo>
                    <a:pt x="0" y="1020"/>
                  </a:moveTo>
                  <a:cubicBezTo>
                    <a:pt x="70" y="851"/>
                    <a:pt x="140" y="683"/>
                    <a:pt x="200" y="560"/>
                  </a:cubicBezTo>
                  <a:cubicBezTo>
                    <a:pt x="260" y="437"/>
                    <a:pt x="317" y="350"/>
                    <a:pt x="360" y="280"/>
                  </a:cubicBezTo>
                  <a:cubicBezTo>
                    <a:pt x="403" y="210"/>
                    <a:pt x="423" y="180"/>
                    <a:pt x="460" y="140"/>
                  </a:cubicBezTo>
                  <a:cubicBezTo>
                    <a:pt x="497" y="100"/>
                    <a:pt x="540" y="63"/>
                    <a:pt x="580" y="40"/>
                  </a:cubicBezTo>
                  <a:cubicBezTo>
                    <a:pt x="620" y="17"/>
                    <a:pt x="680" y="7"/>
                    <a:pt x="700" y="0"/>
                  </a:cubicBezTo>
                </a:path>
              </a:pathLst>
            </a:custGeom>
            <a:noFill/>
            <a:ln w="28575">
              <a:solidFill>
                <a:srgbClr val="C00000"/>
              </a:solidFill>
              <a:round/>
              <a:headEnd/>
              <a:tailEnd/>
            </a:ln>
          </p:spPr>
          <p:txBody>
            <a:bodyPr/>
            <a:lstStyle/>
            <a:p>
              <a:endParaRPr lang="zh-CN" altLang="en-US"/>
            </a:p>
          </p:txBody>
        </p:sp>
      </p:grpSp>
      <p:grpSp>
        <p:nvGrpSpPr>
          <p:cNvPr id="16" name="Group 22"/>
          <p:cNvGrpSpPr>
            <a:grpSpLocks/>
          </p:cNvGrpSpPr>
          <p:nvPr/>
        </p:nvGrpSpPr>
        <p:grpSpPr bwMode="auto">
          <a:xfrm>
            <a:off x="4535488" y="3279775"/>
            <a:ext cx="1722437" cy="306388"/>
            <a:chOff x="2673" y="3182"/>
            <a:chExt cx="1286" cy="305"/>
          </a:xfrm>
        </p:grpSpPr>
        <p:sp>
          <p:nvSpPr>
            <p:cNvPr id="82959" name="Text Box 23"/>
            <p:cNvSpPr txBox="1">
              <a:spLocks noChangeArrowheads="1"/>
            </p:cNvSpPr>
            <p:nvPr/>
          </p:nvSpPr>
          <p:spPr bwMode="auto">
            <a:xfrm>
              <a:off x="3348" y="3182"/>
              <a:ext cx="611" cy="305"/>
            </a:xfrm>
            <a:prstGeom prst="rect">
              <a:avLst/>
            </a:prstGeom>
            <a:noFill/>
            <a:ln w="9525">
              <a:noFill/>
              <a:miter lim="800000"/>
              <a:headEnd/>
              <a:tailEnd/>
            </a:ln>
          </p:spPr>
          <p:txBody>
            <a:bodyPr/>
            <a:lstStyle/>
            <a:p>
              <a:pPr algn="just"/>
              <a:r>
                <a:rPr lang="zh-CN" altLang="en-US" sz="1500" b="1">
                  <a:solidFill>
                    <a:srgbClr val="FF00FF"/>
                  </a:solidFill>
                  <a:ea typeface="华文中宋"/>
                  <a:cs typeface="华文中宋"/>
                </a:rPr>
                <a:t>波腹</a:t>
              </a:r>
            </a:p>
          </p:txBody>
        </p:sp>
        <p:sp>
          <p:nvSpPr>
            <p:cNvPr id="82960" name="Line 24"/>
            <p:cNvSpPr>
              <a:spLocks noChangeShapeType="1"/>
            </p:cNvSpPr>
            <p:nvPr/>
          </p:nvSpPr>
          <p:spPr bwMode="auto">
            <a:xfrm>
              <a:off x="2673" y="3338"/>
              <a:ext cx="675" cy="14"/>
            </a:xfrm>
            <a:prstGeom prst="line">
              <a:avLst/>
            </a:prstGeom>
            <a:noFill/>
            <a:ln w="9525">
              <a:solidFill>
                <a:srgbClr val="FF00FF"/>
              </a:solidFill>
              <a:round/>
              <a:headEnd/>
              <a:tailEnd/>
            </a:ln>
          </p:spPr>
          <p:txBody>
            <a:bodyPr/>
            <a:lstStyle/>
            <a:p>
              <a:endParaRPr lang="zh-CN" altLang="en-US"/>
            </a:p>
          </p:txBody>
        </p:sp>
      </p:grpSp>
      <p:sp>
        <p:nvSpPr>
          <p:cNvPr id="43" name="Text Box 2"/>
          <p:cNvSpPr>
            <a:spLocks noChangeArrowheads="1"/>
          </p:cNvSpPr>
          <p:nvPr/>
        </p:nvSpPr>
        <p:spPr bwMode="auto">
          <a:xfrm>
            <a:off x="828675" y="874713"/>
            <a:ext cx="1917700" cy="400050"/>
          </a:xfrm>
          <a:prstGeom prst="homePlate">
            <a:avLst>
              <a:gd name="adj" fmla="val 49623"/>
            </a:avLst>
          </a:prstGeom>
          <a:solidFill>
            <a:srgbClr val="539A84"/>
          </a:solidFill>
          <a:ln w="9525">
            <a:noFill/>
            <a:miter lim="800000"/>
            <a:headEnd/>
            <a:tailEnd/>
          </a:ln>
        </p:spPr>
        <p:txBody>
          <a:bodyPr>
            <a:spAutoFit/>
          </a:bodyPr>
          <a:lstStyle/>
          <a:p>
            <a:pPr>
              <a:spcBef>
                <a:spcPct val="50000"/>
              </a:spcBef>
            </a:pPr>
            <a:r>
              <a:rPr lang="zh-CN" altLang="en-US" sz="2000" b="1">
                <a:solidFill>
                  <a:srgbClr val="0000FF"/>
                </a:solidFill>
                <a:ea typeface="华文中宋"/>
                <a:cs typeface="华文中宋"/>
              </a:rPr>
              <a:t>四、半波损失</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16"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 calcmode="lin" valueType="num">
                                      <p:cBhvr>
                                        <p:cTn id="42" dur="500" fill="hold"/>
                                        <p:tgtEl>
                                          <p:spTgt spid="7"/>
                                        </p:tgtEl>
                                        <p:attrNameLst>
                                          <p:attrName>ppt_w</p:attrName>
                                        </p:attrNameLst>
                                      </p:cBhvr>
                                      <p:tavLst>
                                        <p:tav tm="0">
                                          <p:val>
                                            <p:fltVal val="0"/>
                                          </p:val>
                                        </p:tav>
                                        <p:tav tm="100000">
                                          <p:val>
                                            <p:strVal val="#ppt_w"/>
                                          </p:val>
                                        </p:tav>
                                      </p:tavLst>
                                    </p:anim>
                                    <p:anim calcmode="lin" valueType="num">
                                      <p:cBhvr>
                                        <p:cTn id="43" dur="500" fill="hold"/>
                                        <p:tgtEl>
                                          <p:spTgt spid="7"/>
                                        </p:tgtEl>
                                        <p:attrNameLst>
                                          <p:attrName>ppt_h</p:attrName>
                                        </p:attrNameLst>
                                      </p:cBhvr>
                                      <p:tavLst>
                                        <p:tav tm="0">
                                          <p:val>
                                            <p:fltVal val="0"/>
                                          </p:val>
                                        </p:tav>
                                        <p:tav tm="100000">
                                          <p:val>
                                            <p:strVal val="#ppt_h"/>
                                          </p:val>
                                        </p:tav>
                                      </p:tavLst>
                                    </p:anim>
                                    <p:animEffect transition="in" filter="fade">
                                      <p:cBhvr>
                                        <p:cTn id="44" dur="500"/>
                                        <p:tgtEl>
                                          <p:spTgt spid="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2" presetClass="entr" presetSubtype="8"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p:tgtEl>
                                          <p:spTgt spid="9"/>
                                        </p:tgtEl>
                                        <p:attrNameLst>
                                          <p:attrName>ppt_x</p:attrName>
                                        </p:attrNameLst>
                                      </p:cBhvr>
                                      <p:tavLst>
                                        <p:tav tm="0">
                                          <p:val>
                                            <p:strVal val="#ppt_x-#ppt_w*1.125000"/>
                                          </p:val>
                                        </p:tav>
                                        <p:tav tm="100000">
                                          <p:val>
                                            <p:strVal val="#ppt_x"/>
                                          </p:val>
                                        </p:tav>
                                      </p:tavLst>
                                    </p:anim>
                                    <p:animEffect transition="in" filter="wipe(right)">
                                      <p:cBhvr>
                                        <p:cTn id="50" dur="500"/>
                                        <p:tgtEl>
                                          <p:spTgt spid="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ipe(left)">
                                      <p:cBhvr>
                                        <p:cTn id="55" dur="500"/>
                                        <p:tgtEl>
                                          <p:spTgt spid="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2" fill="hold" nodeType="click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wipe(right)">
                                      <p:cBhvr>
                                        <p:cTn id="60" dur="500"/>
                                        <p:tgtEl>
                                          <p:spTgt spid="1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wipe(up)">
                                      <p:cBhvr>
                                        <p:cTn id="65" dur="500"/>
                                        <p:tgtEl>
                                          <p:spTgt spid="14"/>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0" presetClass="entr" presetSubtype="0" fill="hold"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500"/>
                                        <p:tgtEl>
                                          <p:spTgt spid="1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wipe(left)">
                                      <p:cBhvr>
                                        <p:cTn id="7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0" grpId="0"/>
      <p:bldP spid="11" grpId="0"/>
      <p:bldP spid="4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795338" y="781050"/>
            <a:ext cx="5421312" cy="369888"/>
          </a:xfrm>
          <a:prstGeom prst="rect">
            <a:avLst/>
          </a:prstGeom>
          <a:noFill/>
          <a:ln w="9525">
            <a:noFill/>
            <a:miter lim="800000"/>
            <a:headEnd/>
            <a:tailEnd/>
          </a:ln>
        </p:spPr>
        <p:txBody>
          <a:bodyPr>
            <a:spAutoFit/>
          </a:bodyPr>
          <a:lstStyle/>
          <a:p>
            <a:pPr algn="just">
              <a:spcBef>
                <a:spcPct val="50000"/>
              </a:spcBef>
            </a:pPr>
            <a:r>
              <a:rPr lang="en-US" altLang="zh-CN" sz="1800" b="1">
                <a:solidFill>
                  <a:srgbClr val="0000FF"/>
                </a:solidFill>
                <a:ea typeface="华文中宋"/>
                <a:cs typeface="华文中宋"/>
              </a:rPr>
              <a:t>2</a:t>
            </a:r>
            <a:r>
              <a:rPr lang="zh-CN" altLang="en-US" sz="1800" b="1">
                <a:solidFill>
                  <a:srgbClr val="0000FF"/>
                </a:solidFill>
                <a:ea typeface="华文中宋"/>
                <a:cs typeface="华文中宋"/>
              </a:rPr>
              <a:t>、若</a:t>
            </a:r>
            <a:r>
              <a:rPr lang="zh-CN" altLang="en-US" sz="1800" b="1" i="1">
                <a:solidFill>
                  <a:srgbClr val="0000FF"/>
                </a:solidFill>
                <a:ea typeface="华文中宋"/>
                <a:cs typeface="华文中宋"/>
                <a:sym typeface="Symbol" pitchFamily="18" charset="2"/>
              </a:rPr>
              <a:t></a:t>
            </a:r>
            <a:r>
              <a:rPr lang="en-US" altLang="zh-CN" sz="1800" b="1" baseline="-25000">
                <a:solidFill>
                  <a:srgbClr val="0000FF"/>
                </a:solidFill>
                <a:ea typeface="华文中宋"/>
                <a:cs typeface="华文中宋"/>
                <a:sym typeface="Symbol" pitchFamily="18" charset="2"/>
              </a:rPr>
              <a:t>1</a:t>
            </a:r>
            <a:r>
              <a:rPr lang="en-US" altLang="zh-CN" sz="1800" b="1" i="1">
                <a:solidFill>
                  <a:srgbClr val="0000FF"/>
                </a:solidFill>
                <a:ea typeface="华文中宋"/>
                <a:cs typeface="华文中宋"/>
                <a:sym typeface="Symbol" pitchFamily="18" charset="2"/>
              </a:rPr>
              <a:t>u</a:t>
            </a:r>
            <a:r>
              <a:rPr lang="en-US" altLang="zh-CN" sz="1800" b="1" baseline="-25000">
                <a:solidFill>
                  <a:srgbClr val="0000FF"/>
                </a:solidFill>
                <a:ea typeface="华文中宋"/>
                <a:cs typeface="华文中宋"/>
              </a:rPr>
              <a:t>1</a:t>
            </a:r>
            <a:r>
              <a:rPr lang="en-US" altLang="zh-CN" sz="1800" b="1">
                <a:solidFill>
                  <a:srgbClr val="0000FF"/>
                </a:solidFill>
                <a:ea typeface="华文中宋"/>
                <a:cs typeface="华文中宋"/>
              </a:rPr>
              <a:t> &lt; </a:t>
            </a:r>
            <a:r>
              <a:rPr lang="en-US" altLang="zh-CN" sz="1800" b="1" i="1">
                <a:solidFill>
                  <a:srgbClr val="0000FF"/>
                </a:solidFill>
                <a:ea typeface="华文中宋"/>
                <a:cs typeface="华文中宋"/>
                <a:sym typeface="Symbol" pitchFamily="18" charset="2"/>
              </a:rPr>
              <a:t></a:t>
            </a:r>
            <a:r>
              <a:rPr lang="en-US" altLang="zh-CN" sz="1800" b="1" baseline="-25000">
                <a:solidFill>
                  <a:srgbClr val="0000FF"/>
                </a:solidFill>
                <a:ea typeface="华文中宋"/>
                <a:cs typeface="华文中宋"/>
                <a:sym typeface="Symbol" pitchFamily="18" charset="2"/>
              </a:rPr>
              <a:t>2</a:t>
            </a:r>
            <a:r>
              <a:rPr lang="en-US" altLang="zh-CN" sz="1800" b="1" i="1">
                <a:solidFill>
                  <a:srgbClr val="0000FF"/>
                </a:solidFill>
                <a:ea typeface="华文中宋"/>
                <a:cs typeface="华文中宋"/>
                <a:sym typeface="Symbol" pitchFamily="18" charset="2"/>
              </a:rPr>
              <a:t>u</a:t>
            </a:r>
            <a:r>
              <a:rPr lang="en-US" altLang="zh-CN" sz="1800" b="1" baseline="-25000">
                <a:solidFill>
                  <a:srgbClr val="0000FF"/>
                </a:solidFill>
                <a:ea typeface="华文中宋"/>
                <a:cs typeface="华文中宋"/>
              </a:rPr>
              <a:t>2</a:t>
            </a:r>
            <a:r>
              <a:rPr lang="en-US" altLang="zh-CN" sz="1800" b="1">
                <a:solidFill>
                  <a:srgbClr val="0000FF"/>
                </a:solidFill>
                <a:ea typeface="华文中宋"/>
                <a:cs typeface="华文中宋"/>
              </a:rPr>
              <a:t> </a:t>
            </a:r>
            <a:r>
              <a:rPr lang="zh-CN" altLang="en-US" sz="1800" b="1">
                <a:solidFill>
                  <a:srgbClr val="0000FF"/>
                </a:solidFill>
                <a:ea typeface="华文中宋"/>
                <a:cs typeface="华文中宋"/>
              </a:rPr>
              <a:t>，即波</a:t>
            </a:r>
            <a:r>
              <a:rPr lang="zh-CN" altLang="en-US" sz="1800" b="1">
                <a:solidFill>
                  <a:srgbClr val="0000FF"/>
                </a:solidFill>
                <a:ea typeface="华文中宋"/>
                <a:cs typeface="华文中宋"/>
                <a:sym typeface="Symbol" pitchFamily="18" charset="2"/>
              </a:rPr>
              <a:t>疏波</a:t>
            </a:r>
            <a:r>
              <a:rPr lang="zh-CN" altLang="en-US" sz="1800" b="1">
                <a:solidFill>
                  <a:srgbClr val="0000FF"/>
                </a:solidFill>
                <a:ea typeface="华文中宋"/>
                <a:cs typeface="华文中宋"/>
              </a:rPr>
              <a:t>密</a:t>
            </a:r>
            <a:endParaRPr lang="zh-CN" altLang="en-US" sz="1800" b="1">
              <a:solidFill>
                <a:srgbClr val="0000FF"/>
              </a:solidFill>
              <a:ea typeface="华文中宋"/>
              <a:cs typeface="华文中宋"/>
              <a:sym typeface="Symbol" pitchFamily="18" charset="2"/>
            </a:endParaRPr>
          </a:p>
        </p:txBody>
      </p:sp>
      <p:sp>
        <p:nvSpPr>
          <p:cNvPr id="4" name="Text Box 3"/>
          <p:cNvSpPr txBox="1">
            <a:spLocks noChangeArrowheads="1"/>
          </p:cNvSpPr>
          <p:nvPr/>
        </p:nvSpPr>
        <p:spPr bwMode="auto">
          <a:xfrm>
            <a:off x="1230313" y="1204913"/>
            <a:ext cx="2705100" cy="446087"/>
          </a:xfrm>
          <a:prstGeom prst="rect">
            <a:avLst/>
          </a:prstGeom>
          <a:noFill/>
          <a:ln w="9525">
            <a:noFill/>
            <a:miter lim="800000"/>
            <a:headEnd/>
            <a:tailEnd/>
          </a:ln>
        </p:spPr>
        <p:txBody>
          <a:bodyPr/>
          <a:lstStyle/>
          <a:p>
            <a:pPr algn="just"/>
            <a:r>
              <a:rPr lang="zh-CN" altLang="en-US" sz="1800" b="1">
                <a:ea typeface="华文中宋"/>
                <a:cs typeface="华文中宋"/>
              </a:rPr>
              <a:t>若忽略透射：</a:t>
            </a:r>
          </a:p>
        </p:txBody>
      </p:sp>
      <p:grpSp>
        <p:nvGrpSpPr>
          <p:cNvPr id="2" name="组合 4"/>
          <p:cNvGrpSpPr>
            <a:grpSpLocks/>
          </p:cNvGrpSpPr>
          <p:nvPr/>
        </p:nvGrpSpPr>
        <p:grpSpPr bwMode="auto">
          <a:xfrm>
            <a:off x="1954213" y="1681163"/>
            <a:ext cx="4640262" cy="1447800"/>
            <a:chOff x="2190455" y="4112053"/>
            <a:chExt cx="4640263" cy="1930528"/>
          </a:xfrm>
        </p:grpSpPr>
        <p:sp>
          <p:nvSpPr>
            <p:cNvPr id="84007" name="Line 38"/>
            <p:cNvSpPr>
              <a:spLocks noChangeShapeType="1"/>
            </p:cNvSpPr>
            <p:nvPr/>
          </p:nvSpPr>
          <p:spPr bwMode="auto">
            <a:xfrm>
              <a:off x="2190455" y="5242696"/>
              <a:ext cx="4640263" cy="0"/>
            </a:xfrm>
            <a:prstGeom prst="line">
              <a:avLst/>
            </a:prstGeom>
            <a:noFill/>
            <a:ln w="12700">
              <a:solidFill>
                <a:srgbClr val="0070C0"/>
              </a:solidFill>
              <a:round/>
              <a:headEnd/>
              <a:tailEnd type="triangle" w="sm" len="lg"/>
            </a:ln>
          </p:spPr>
          <p:txBody>
            <a:bodyPr/>
            <a:lstStyle/>
            <a:p>
              <a:endParaRPr lang="zh-CN" altLang="en-US"/>
            </a:p>
          </p:txBody>
        </p:sp>
        <p:sp>
          <p:nvSpPr>
            <p:cNvPr id="84008" name="Text Box 69"/>
            <p:cNvSpPr txBox="1">
              <a:spLocks noChangeArrowheads="1"/>
            </p:cNvSpPr>
            <p:nvPr/>
          </p:nvSpPr>
          <p:spPr bwMode="auto">
            <a:xfrm>
              <a:off x="6475425" y="5150195"/>
              <a:ext cx="341886" cy="355059"/>
            </a:xfrm>
            <a:prstGeom prst="rect">
              <a:avLst/>
            </a:prstGeom>
            <a:noFill/>
            <a:ln w="9525">
              <a:noFill/>
              <a:miter lim="800000"/>
              <a:headEnd/>
              <a:tailEnd/>
            </a:ln>
          </p:spPr>
          <p:txBody>
            <a:bodyPr/>
            <a:lstStyle/>
            <a:p>
              <a:pPr algn="just"/>
              <a:r>
                <a:rPr lang="en-US" altLang="zh-CN" sz="1800" b="1" i="1"/>
                <a:t>x</a:t>
              </a:r>
            </a:p>
          </p:txBody>
        </p:sp>
        <p:sp>
          <p:nvSpPr>
            <p:cNvPr id="8" name="矩形 7"/>
            <p:cNvSpPr/>
            <p:nvPr/>
          </p:nvSpPr>
          <p:spPr>
            <a:xfrm>
              <a:off x="4543131" y="4402055"/>
              <a:ext cx="57150" cy="1640526"/>
            </a:xfrm>
            <a:prstGeom prst="rect">
              <a:avLst/>
            </a:prstGeom>
            <a:pattFill prst="dkDnDiag">
              <a:fgClr>
                <a:schemeClr val="accent1"/>
              </a:fgClr>
              <a:bgClr>
                <a:schemeClr val="bg1"/>
              </a:bgClr>
            </a:patt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0" lang="zh-CN" altLang="en-US" sz="1800"/>
            </a:p>
          </p:txBody>
        </p:sp>
        <p:cxnSp>
          <p:nvCxnSpPr>
            <p:cNvPr id="9" name="直接连接符 8"/>
            <p:cNvCxnSpPr/>
            <p:nvPr/>
          </p:nvCxnSpPr>
          <p:spPr>
            <a:xfrm>
              <a:off x="4533606" y="4393588"/>
              <a:ext cx="0" cy="164899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84011" name="Text Box 9"/>
            <p:cNvSpPr txBox="1">
              <a:spLocks noChangeArrowheads="1"/>
            </p:cNvSpPr>
            <p:nvPr/>
          </p:nvSpPr>
          <p:spPr bwMode="auto">
            <a:xfrm>
              <a:off x="3910325" y="4112053"/>
              <a:ext cx="1396965" cy="430915"/>
            </a:xfrm>
            <a:prstGeom prst="rect">
              <a:avLst/>
            </a:prstGeom>
            <a:noFill/>
            <a:ln w="9525">
              <a:noFill/>
              <a:miter lim="800000"/>
              <a:headEnd/>
              <a:tailEnd/>
            </a:ln>
          </p:spPr>
          <p:txBody>
            <a:bodyPr>
              <a:spAutoFit/>
            </a:bodyPr>
            <a:lstStyle/>
            <a:p>
              <a:pPr algn="just">
                <a:spcBef>
                  <a:spcPct val="50000"/>
                </a:spcBef>
              </a:pPr>
              <a:r>
                <a:rPr lang="en-US" altLang="zh-CN" sz="1500" b="1" i="1">
                  <a:sym typeface="Symbol" pitchFamily="18" charset="2"/>
                </a:rPr>
                <a:t></a:t>
              </a:r>
              <a:r>
                <a:rPr lang="en-US" altLang="zh-CN" sz="1500" b="1" baseline="-25000">
                  <a:sym typeface="Symbol" pitchFamily="18" charset="2"/>
                </a:rPr>
                <a:t>1</a:t>
              </a:r>
              <a:r>
                <a:rPr lang="en-US" altLang="zh-CN" sz="1500" b="1" i="1">
                  <a:sym typeface="Symbol" pitchFamily="18" charset="2"/>
                </a:rPr>
                <a:t>u</a:t>
              </a:r>
              <a:r>
                <a:rPr lang="en-US" altLang="zh-CN" sz="1500" b="1" baseline="-25000"/>
                <a:t>1 </a:t>
              </a:r>
              <a:r>
                <a:rPr lang="en-US" altLang="zh-CN" sz="1500" b="1"/>
                <a:t> </a:t>
              </a:r>
              <a:r>
                <a:rPr lang="en-US" altLang="zh-CN" sz="1500" b="1">
                  <a:solidFill>
                    <a:srgbClr val="FF0000"/>
                  </a:solidFill>
                </a:rPr>
                <a:t>&lt; </a:t>
              </a:r>
              <a:r>
                <a:rPr lang="en-US" altLang="zh-CN" sz="1500" b="1"/>
                <a:t> </a:t>
              </a:r>
              <a:r>
                <a:rPr lang="en-US" altLang="zh-CN" sz="1500" b="1" i="1">
                  <a:sym typeface="Symbol" pitchFamily="18" charset="2"/>
                </a:rPr>
                <a:t></a:t>
              </a:r>
              <a:r>
                <a:rPr lang="en-US" altLang="zh-CN" sz="1500" b="1" baseline="-25000">
                  <a:sym typeface="Symbol" pitchFamily="18" charset="2"/>
                </a:rPr>
                <a:t>2</a:t>
              </a:r>
              <a:r>
                <a:rPr lang="en-US" altLang="zh-CN" sz="1500" b="1" i="1">
                  <a:sym typeface="Symbol" pitchFamily="18" charset="2"/>
                </a:rPr>
                <a:t>u</a:t>
              </a:r>
              <a:r>
                <a:rPr lang="en-US" altLang="zh-CN" sz="1500" b="1" baseline="-25000"/>
                <a:t>2 </a:t>
              </a:r>
              <a:endParaRPr lang="en-US" altLang="zh-CN" sz="1500" b="1"/>
            </a:p>
          </p:txBody>
        </p:sp>
      </p:grpSp>
      <p:grpSp>
        <p:nvGrpSpPr>
          <p:cNvPr id="5" name="Group 17"/>
          <p:cNvGrpSpPr>
            <a:grpSpLocks/>
          </p:cNvGrpSpPr>
          <p:nvPr/>
        </p:nvGrpSpPr>
        <p:grpSpPr bwMode="auto">
          <a:xfrm>
            <a:off x="4281488" y="2255838"/>
            <a:ext cx="2047875" cy="622300"/>
            <a:chOff x="5773" y="3220"/>
            <a:chExt cx="3107" cy="1260"/>
          </a:xfrm>
        </p:grpSpPr>
        <p:sp>
          <p:nvSpPr>
            <p:cNvPr id="84004" name="Freeform 18"/>
            <p:cNvSpPr>
              <a:spLocks/>
            </p:cNvSpPr>
            <p:nvPr/>
          </p:nvSpPr>
          <p:spPr bwMode="auto">
            <a:xfrm flipV="1">
              <a:off x="5773" y="3359"/>
              <a:ext cx="359" cy="491"/>
            </a:xfrm>
            <a:custGeom>
              <a:avLst/>
              <a:gdLst>
                <a:gd name="T0" fmla="*/ 0 w 9263"/>
                <a:gd name="T1" fmla="*/ 0 h 10300"/>
                <a:gd name="T2" fmla="*/ 0 w 9263"/>
                <a:gd name="T3" fmla="*/ 0 h 10300"/>
                <a:gd name="T4" fmla="*/ 0 60000 65536"/>
                <a:gd name="T5" fmla="*/ 0 60000 65536"/>
                <a:gd name="T6" fmla="*/ 0 w 9263"/>
                <a:gd name="T7" fmla="*/ 0 h 10300"/>
                <a:gd name="T8" fmla="*/ 9263 w 9263"/>
                <a:gd name="T9" fmla="*/ 10300 h 10300"/>
              </a:gdLst>
              <a:ahLst/>
              <a:cxnLst>
                <a:cxn ang="T4">
                  <a:pos x="T0" y="T1"/>
                </a:cxn>
                <a:cxn ang="T5">
                  <a:pos x="T2" y="T3"/>
                </a:cxn>
              </a:cxnLst>
              <a:rect l="T6" t="T7" r="T8" b="T9"/>
              <a:pathLst>
                <a:path w="9263" h="10300">
                  <a:moveTo>
                    <a:pt x="0" y="10300"/>
                  </a:moveTo>
                  <a:cubicBezTo>
                    <a:pt x="4650" y="6619"/>
                    <a:pt x="3443" y="6608"/>
                    <a:pt x="9263" y="0"/>
                  </a:cubicBezTo>
                </a:path>
              </a:pathLst>
            </a:custGeom>
            <a:noFill/>
            <a:ln w="12700">
              <a:solidFill>
                <a:srgbClr val="0000FF"/>
              </a:solidFill>
              <a:prstDash val="dash"/>
              <a:round/>
              <a:headEnd/>
              <a:tailEnd/>
            </a:ln>
          </p:spPr>
          <p:txBody>
            <a:bodyPr/>
            <a:lstStyle/>
            <a:p>
              <a:endParaRPr lang="zh-CN" altLang="en-US"/>
            </a:p>
          </p:txBody>
        </p:sp>
        <p:sp>
          <p:nvSpPr>
            <p:cNvPr id="84005" name="Freeform 19"/>
            <p:cNvSpPr>
              <a:spLocks/>
            </p:cNvSpPr>
            <p:nvPr/>
          </p:nvSpPr>
          <p:spPr bwMode="auto">
            <a:xfrm>
              <a:off x="6160" y="3850"/>
              <a:ext cx="1350" cy="630"/>
            </a:xfrm>
            <a:custGeom>
              <a:avLst/>
              <a:gdLst>
                <a:gd name="T0" fmla="*/ 0 w 1040"/>
                <a:gd name="T1" fmla="*/ 0 h 740"/>
                <a:gd name="T2" fmla="*/ 2147483647 w 1040"/>
                <a:gd name="T3" fmla="*/ 3 h 740"/>
                <a:gd name="T4" fmla="*/ 2147483647 w 1040"/>
                <a:gd name="T5" fmla="*/ 0 h 740"/>
                <a:gd name="T6" fmla="*/ 0 60000 65536"/>
                <a:gd name="T7" fmla="*/ 0 60000 65536"/>
                <a:gd name="T8" fmla="*/ 0 60000 65536"/>
                <a:gd name="T9" fmla="*/ 0 w 1040"/>
                <a:gd name="T10" fmla="*/ 0 h 740"/>
                <a:gd name="T11" fmla="*/ 1040 w 1040"/>
                <a:gd name="T12" fmla="*/ 740 h 740"/>
              </a:gdLst>
              <a:ahLst/>
              <a:cxnLst>
                <a:cxn ang="T6">
                  <a:pos x="T0" y="T1"/>
                </a:cxn>
                <a:cxn ang="T7">
                  <a:pos x="T2" y="T3"/>
                </a:cxn>
                <a:cxn ang="T8">
                  <a:pos x="T4" y="T5"/>
                </a:cxn>
              </a:cxnLst>
              <a:rect l="T9" t="T10" r="T11" b="T12"/>
              <a:pathLst>
                <a:path w="1040" h="740">
                  <a:moveTo>
                    <a:pt x="0" y="0"/>
                  </a:moveTo>
                  <a:cubicBezTo>
                    <a:pt x="173" y="370"/>
                    <a:pt x="347" y="740"/>
                    <a:pt x="520" y="740"/>
                  </a:cubicBezTo>
                  <a:cubicBezTo>
                    <a:pt x="693" y="740"/>
                    <a:pt x="866" y="370"/>
                    <a:pt x="1040" y="0"/>
                  </a:cubicBezTo>
                </a:path>
              </a:pathLst>
            </a:custGeom>
            <a:noFill/>
            <a:ln w="12700">
              <a:solidFill>
                <a:srgbClr val="0000FF"/>
              </a:solidFill>
              <a:prstDash val="dash"/>
              <a:round/>
              <a:headEnd/>
              <a:tailEnd/>
            </a:ln>
          </p:spPr>
          <p:txBody>
            <a:bodyPr/>
            <a:lstStyle/>
            <a:p>
              <a:endParaRPr lang="zh-CN" altLang="en-US"/>
            </a:p>
          </p:txBody>
        </p:sp>
        <p:sp>
          <p:nvSpPr>
            <p:cNvPr id="84006" name="Freeform 20"/>
            <p:cNvSpPr>
              <a:spLocks/>
            </p:cNvSpPr>
            <p:nvPr/>
          </p:nvSpPr>
          <p:spPr bwMode="auto">
            <a:xfrm flipV="1">
              <a:off x="7530" y="3220"/>
              <a:ext cx="1350" cy="630"/>
            </a:xfrm>
            <a:custGeom>
              <a:avLst/>
              <a:gdLst>
                <a:gd name="T0" fmla="*/ 0 w 1040"/>
                <a:gd name="T1" fmla="*/ 0 h 740"/>
                <a:gd name="T2" fmla="*/ 2147483647 w 1040"/>
                <a:gd name="T3" fmla="*/ 3 h 740"/>
                <a:gd name="T4" fmla="*/ 2147483647 w 1040"/>
                <a:gd name="T5" fmla="*/ 0 h 740"/>
                <a:gd name="T6" fmla="*/ 0 60000 65536"/>
                <a:gd name="T7" fmla="*/ 0 60000 65536"/>
                <a:gd name="T8" fmla="*/ 0 60000 65536"/>
                <a:gd name="T9" fmla="*/ 0 w 1040"/>
                <a:gd name="T10" fmla="*/ 0 h 740"/>
                <a:gd name="T11" fmla="*/ 1040 w 1040"/>
                <a:gd name="T12" fmla="*/ 740 h 740"/>
              </a:gdLst>
              <a:ahLst/>
              <a:cxnLst>
                <a:cxn ang="T6">
                  <a:pos x="T0" y="T1"/>
                </a:cxn>
                <a:cxn ang="T7">
                  <a:pos x="T2" y="T3"/>
                </a:cxn>
                <a:cxn ang="T8">
                  <a:pos x="T4" y="T5"/>
                </a:cxn>
              </a:cxnLst>
              <a:rect l="T9" t="T10" r="T11" b="T12"/>
              <a:pathLst>
                <a:path w="1040" h="740">
                  <a:moveTo>
                    <a:pt x="0" y="0"/>
                  </a:moveTo>
                  <a:cubicBezTo>
                    <a:pt x="173" y="370"/>
                    <a:pt x="347" y="740"/>
                    <a:pt x="520" y="740"/>
                  </a:cubicBezTo>
                  <a:cubicBezTo>
                    <a:pt x="693" y="740"/>
                    <a:pt x="866" y="370"/>
                    <a:pt x="1040" y="0"/>
                  </a:cubicBezTo>
                </a:path>
              </a:pathLst>
            </a:custGeom>
            <a:noFill/>
            <a:ln w="12700">
              <a:solidFill>
                <a:srgbClr val="0000FF"/>
              </a:solidFill>
              <a:prstDash val="dash"/>
              <a:round/>
              <a:headEnd/>
              <a:tailEnd/>
            </a:ln>
          </p:spPr>
          <p:txBody>
            <a:bodyPr/>
            <a:lstStyle/>
            <a:p>
              <a:endParaRPr lang="zh-CN" altLang="en-US"/>
            </a:p>
          </p:txBody>
        </p:sp>
      </p:grpSp>
      <p:grpSp>
        <p:nvGrpSpPr>
          <p:cNvPr id="6" name="组合 14"/>
          <p:cNvGrpSpPr>
            <a:grpSpLocks/>
          </p:cNvGrpSpPr>
          <p:nvPr/>
        </p:nvGrpSpPr>
        <p:grpSpPr bwMode="auto">
          <a:xfrm>
            <a:off x="1819275" y="2146300"/>
            <a:ext cx="2459038" cy="666750"/>
            <a:chOff x="207357" y="4798243"/>
            <a:chExt cx="2459038" cy="889479"/>
          </a:xfrm>
        </p:grpSpPr>
        <p:sp>
          <p:nvSpPr>
            <p:cNvPr id="83999" name="Freeform 12"/>
            <p:cNvSpPr>
              <a:spLocks/>
            </p:cNvSpPr>
            <p:nvPr/>
          </p:nvSpPr>
          <p:spPr bwMode="auto">
            <a:xfrm>
              <a:off x="1979007" y="4857459"/>
              <a:ext cx="687388" cy="422275"/>
            </a:xfrm>
            <a:custGeom>
              <a:avLst/>
              <a:gdLst>
                <a:gd name="T0" fmla="*/ 0 w 10000"/>
                <a:gd name="T1" fmla="*/ 2147483647 h 10002"/>
                <a:gd name="T2" fmla="*/ 2147483647 w 10000"/>
                <a:gd name="T3" fmla="*/ 2147483647 h 10002"/>
                <a:gd name="T4" fmla="*/ 2147483647 w 10000"/>
                <a:gd name="T5" fmla="*/ 2147483647 h 10002"/>
                <a:gd name="T6" fmla="*/ 0 60000 65536"/>
                <a:gd name="T7" fmla="*/ 0 60000 65536"/>
                <a:gd name="T8" fmla="*/ 0 60000 65536"/>
                <a:gd name="T9" fmla="*/ 0 w 10000"/>
                <a:gd name="T10" fmla="*/ 0 h 10002"/>
                <a:gd name="T11" fmla="*/ 10000 w 10000"/>
                <a:gd name="T12" fmla="*/ 10002 h 10002"/>
              </a:gdLst>
              <a:ahLst/>
              <a:cxnLst>
                <a:cxn ang="T6">
                  <a:pos x="T0" y="T1"/>
                </a:cxn>
                <a:cxn ang="T7">
                  <a:pos x="T2" y="T3"/>
                </a:cxn>
                <a:cxn ang="T8">
                  <a:pos x="T4" y="T5"/>
                </a:cxn>
              </a:cxnLst>
              <a:rect l="T9" t="T10" r="T11" b="T12"/>
              <a:pathLst>
                <a:path w="10000" h="10002">
                  <a:moveTo>
                    <a:pt x="0" y="10002"/>
                  </a:moveTo>
                  <a:cubicBezTo>
                    <a:pt x="3556" y="1432"/>
                    <a:pt x="4338" y="-53"/>
                    <a:pt x="6538" y="2"/>
                  </a:cubicBezTo>
                  <a:cubicBezTo>
                    <a:pt x="8738" y="57"/>
                    <a:pt x="9279" y="2972"/>
                    <a:pt x="10000" y="3753"/>
                  </a:cubicBezTo>
                </a:path>
              </a:pathLst>
            </a:custGeom>
            <a:noFill/>
            <a:ln w="12700">
              <a:solidFill>
                <a:srgbClr val="0000FF"/>
              </a:solidFill>
              <a:round/>
              <a:headEnd/>
              <a:tailEnd/>
            </a:ln>
          </p:spPr>
          <p:txBody>
            <a:bodyPr/>
            <a:lstStyle/>
            <a:p>
              <a:endParaRPr lang="zh-CN" altLang="en-US"/>
            </a:p>
          </p:txBody>
        </p:sp>
        <p:grpSp>
          <p:nvGrpSpPr>
            <p:cNvPr id="84000" name="Group 14"/>
            <p:cNvGrpSpPr>
              <a:grpSpLocks/>
            </p:cNvGrpSpPr>
            <p:nvPr/>
          </p:nvGrpSpPr>
          <p:grpSpPr bwMode="auto">
            <a:xfrm>
              <a:off x="207357" y="4857459"/>
              <a:ext cx="1778000" cy="830263"/>
              <a:chOff x="2110" y="3220"/>
              <a:chExt cx="2700" cy="1260"/>
            </a:xfrm>
          </p:grpSpPr>
          <p:sp>
            <p:nvSpPr>
              <p:cNvPr id="84002" name="Freeform 15"/>
              <p:cNvSpPr>
                <a:spLocks/>
              </p:cNvSpPr>
              <p:nvPr/>
            </p:nvSpPr>
            <p:spPr bwMode="auto">
              <a:xfrm>
                <a:off x="3460" y="3850"/>
                <a:ext cx="1350" cy="630"/>
              </a:xfrm>
              <a:custGeom>
                <a:avLst/>
                <a:gdLst>
                  <a:gd name="T0" fmla="*/ 0 w 1040"/>
                  <a:gd name="T1" fmla="*/ 0 h 740"/>
                  <a:gd name="T2" fmla="*/ 2147483647 w 1040"/>
                  <a:gd name="T3" fmla="*/ 3 h 740"/>
                  <a:gd name="T4" fmla="*/ 2147483647 w 1040"/>
                  <a:gd name="T5" fmla="*/ 0 h 740"/>
                  <a:gd name="T6" fmla="*/ 0 60000 65536"/>
                  <a:gd name="T7" fmla="*/ 0 60000 65536"/>
                  <a:gd name="T8" fmla="*/ 0 60000 65536"/>
                  <a:gd name="T9" fmla="*/ 0 w 1040"/>
                  <a:gd name="T10" fmla="*/ 0 h 740"/>
                  <a:gd name="T11" fmla="*/ 1040 w 1040"/>
                  <a:gd name="T12" fmla="*/ 740 h 740"/>
                </a:gdLst>
                <a:ahLst/>
                <a:cxnLst>
                  <a:cxn ang="T6">
                    <a:pos x="T0" y="T1"/>
                  </a:cxn>
                  <a:cxn ang="T7">
                    <a:pos x="T2" y="T3"/>
                  </a:cxn>
                  <a:cxn ang="T8">
                    <a:pos x="T4" y="T5"/>
                  </a:cxn>
                </a:cxnLst>
                <a:rect l="T9" t="T10" r="T11" b="T12"/>
                <a:pathLst>
                  <a:path w="1040" h="740">
                    <a:moveTo>
                      <a:pt x="0" y="0"/>
                    </a:moveTo>
                    <a:cubicBezTo>
                      <a:pt x="173" y="370"/>
                      <a:pt x="347" y="740"/>
                      <a:pt x="520" y="740"/>
                    </a:cubicBezTo>
                    <a:cubicBezTo>
                      <a:pt x="693" y="740"/>
                      <a:pt x="866" y="370"/>
                      <a:pt x="1040" y="0"/>
                    </a:cubicBezTo>
                  </a:path>
                </a:pathLst>
              </a:custGeom>
              <a:noFill/>
              <a:ln w="12700">
                <a:solidFill>
                  <a:srgbClr val="0000FF"/>
                </a:solidFill>
                <a:round/>
                <a:headEnd/>
                <a:tailEnd/>
              </a:ln>
            </p:spPr>
            <p:txBody>
              <a:bodyPr/>
              <a:lstStyle/>
              <a:p>
                <a:endParaRPr lang="zh-CN" altLang="en-US"/>
              </a:p>
            </p:txBody>
          </p:sp>
          <p:sp>
            <p:nvSpPr>
              <p:cNvPr id="84003" name="Freeform 16"/>
              <p:cNvSpPr>
                <a:spLocks/>
              </p:cNvSpPr>
              <p:nvPr/>
            </p:nvSpPr>
            <p:spPr bwMode="auto">
              <a:xfrm flipV="1">
                <a:off x="2110" y="3220"/>
                <a:ext cx="1350" cy="630"/>
              </a:xfrm>
              <a:custGeom>
                <a:avLst/>
                <a:gdLst>
                  <a:gd name="T0" fmla="*/ 0 w 1040"/>
                  <a:gd name="T1" fmla="*/ 0 h 740"/>
                  <a:gd name="T2" fmla="*/ 2147483647 w 1040"/>
                  <a:gd name="T3" fmla="*/ 3 h 740"/>
                  <a:gd name="T4" fmla="*/ 2147483647 w 1040"/>
                  <a:gd name="T5" fmla="*/ 0 h 740"/>
                  <a:gd name="T6" fmla="*/ 0 60000 65536"/>
                  <a:gd name="T7" fmla="*/ 0 60000 65536"/>
                  <a:gd name="T8" fmla="*/ 0 60000 65536"/>
                  <a:gd name="T9" fmla="*/ 0 w 1040"/>
                  <a:gd name="T10" fmla="*/ 0 h 740"/>
                  <a:gd name="T11" fmla="*/ 1040 w 1040"/>
                  <a:gd name="T12" fmla="*/ 740 h 740"/>
                </a:gdLst>
                <a:ahLst/>
                <a:cxnLst>
                  <a:cxn ang="T6">
                    <a:pos x="T0" y="T1"/>
                  </a:cxn>
                  <a:cxn ang="T7">
                    <a:pos x="T2" y="T3"/>
                  </a:cxn>
                  <a:cxn ang="T8">
                    <a:pos x="T4" y="T5"/>
                  </a:cxn>
                </a:cxnLst>
                <a:rect l="T9" t="T10" r="T11" b="T12"/>
                <a:pathLst>
                  <a:path w="1040" h="740">
                    <a:moveTo>
                      <a:pt x="0" y="0"/>
                    </a:moveTo>
                    <a:cubicBezTo>
                      <a:pt x="173" y="370"/>
                      <a:pt x="347" y="740"/>
                      <a:pt x="520" y="740"/>
                    </a:cubicBezTo>
                    <a:cubicBezTo>
                      <a:pt x="693" y="740"/>
                      <a:pt x="866" y="370"/>
                      <a:pt x="1040" y="0"/>
                    </a:cubicBezTo>
                  </a:path>
                </a:pathLst>
              </a:custGeom>
              <a:noFill/>
              <a:ln w="12700">
                <a:solidFill>
                  <a:srgbClr val="0000FF"/>
                </a:solidFill>
                <a:round/>
                <a:headEnd/>
                <a:tailEnd/>
              </a:ln>
            </p:spPr>
            <p:txBody>
              <a:bodyPr/>
              <a:lstStyle/>
              <a:p>
                <a:endParaRPr lang="zh-CN" altLang="en-US"/>
              </a:p>
            </p:txBody>
          </p:sp>
        </p:grpSp>
        <p:cxnSp>
          <p:nvCxnSpPr>
            <p:cNvPr id="18" name="直接箭头连接符 17"/>
            <p:cNvCxnSpPr/>
            <p:nvPr/>
          </p:nvCxnSpPr>
          <p:spPr>
            <a:xfrm>
              <a:off x="820132" y="4798243"/>
              <a:ext cx="433388" cy="0"/>
            </a:xfrm>
            <a:prstGeom prst="straightConnector1">
              <a:avLst/>
            </a:prstGeom>
            <a:ln w="12700">
              <a:solidFill>
                <a:srgbClr val="00B0F0"/>
              </a:solidFill>
              <a:tailEnd type="arrow"/>
            </a:ln>
          </p:spPr>
          <p:style>
            <a:lnRef idx="1">
              <a:schemeClr val="accent1"/>
            </a:lnRef>
            <a:fillRef idx="0">
              <a:schemeClr val="accent1"/>
            </a:fillRef>
            <a:effectRef idx="0">
              <a:schemeClr val="accent1"/>
            </a:effectRef>
            <a:fontRef idx="minor">
              <a:schemeClr val="tx1"/>
            </a:fontRef>
          </p:style>
        </p:cxnSp>
      </p:grpSp>
      <p:grpSp>
        <p:nvGrpSpPr>
          <p:cNvPr id="10" name="Group 25"/>
          <p:cNvGrpSpPr>
            <a:grpSpLocks/>
          </p:cNvGrpSpPr>
          <p:nvPr/>
        </p:nvGrpSpPr>
        <p:grpSpPr bwMode="auto">
          <a:xfrm>
            <a:off x="3319463" y="2747963"/>
            <a:ext cx="1233487" cy="831850"/>
            <a:chOff x="2027" y="2986"/>
            <a:chExt cx="920" cy="828"/>
          </a:xfrm>
        </p:grpSpPr>
        <p:sp>
          <p:nvSpPr>
            <p:cNvPr id="83997" name="Text Box 26"/>
            <p:cNvSpPr txBox="1">
              <a:spLocks noChangeArrowheads="1"/>
            </p:cNvSpPr>
            <p:nvPr/>
          </p:nvSpPr>
          <p:spPr bwMode="auto">
            <a:xfrm>
              <a:off x="2027" y="3510"/>
              <a:ext cx="920" cy="304"/>
            </a:xfrm>
            <a:prstGeom prst="rect">
              <a:avLst/>
            </a:prstGeom>
            <a:noFill/>
            <a:ln w="9525">
              <a:noFill/>
              <a:miter lim="800000"/>
              <a:headEnd/>
              <a:tailEnd/>
            </a:ln>
          </p:spPr>
          <p:txBody>
            <a:bodyPr/>
            <a:lstStyle/>
            <a:p>
              <a:pPr algn="just"/>
              <a:r>
                <a:rPr lang="zh-CN" altLang="en-US" sz="1500" b="1">
                  <a:solidFill>
                    <a:srgbClr val="FF0000"/>
                  </a:solidFill>
                  <a:ea typeface="华文中宋"/>
                  <a:cs typeface="华文中宋"/>
                </a:rPr>
                <a:t>相位突变</a:t>
              </a:r>
              <a:r>
                <a:rPr lang="zh-CN" altLang="en-US" sz="1500" b="1">
                  <a:solidFill>
                    <a:srgbClr val="FF0000"/>
                  </a:solidFill>
                  <a:ea typeface="华文中宋"/>
                  <a:cs typeface="华文中宋"/>
                  <a:sym typeface="Symbol" pitchFamily="18" charset="2"/>
                </a:rPr>
                <a:t></a:t>
              </a:r>
              <a:endParaRPr lang="zh-CN" altLang="en-US" sz="1500">
                <a:solidFill>
                  <a:srgbClr val="FF0000"/>
                </a:solidFill>
                <a:ea typeface="华文中宋"/>
                <a:cs typeface="华文中宋"/>
              </a:endParaRPr>
            </a:p>
          </p:txBody>
        </p:sp>
        <p:sp>
          <p:nvSpPr>
            <p:cNvPr id="83998" name="Line 27"/>
            <p:cNvSpPr>
              <a:spLocks noChangeShapeType="1"/>
            </p:cNvSpPr>
            <p:nvPr/>
          </p:nvSpPr>
          <p:spPr bwMode="auto">
            <a:xfrm flipV="1">
              <a:off x="2518" y="2986"/>
              <a:ext cx="211" cy="472"/>
            </a:xfrm>
            <a:prstGeom prst="line">
              <a:avLst/>
            </a:prstGeom>
            <a:noFill/>
            <a:ln w="9525">
              <a:solidFill>
                <a:srgbClr val="00B0F0"/>
              </a:solidFill>
              <a:round/>
              <a:headEnd/>
              <a:tailEnd/>
            </a:ln>
          </p:spPr>
          <p:txBody>
            <a:bodyPr/>
            <a:lstStyle/>
            <a:p>
              <a:endParaRPr lang="zh-CN" altLang="en-US"/>
            </a:p>
          </p:txBody>
        </p:sp>
      </p:grpSp>
      <p:grpSp>
        <p:nvGrpSpPr>
          <p:cNvPr id="11" name="Group 80"/>
          <p:cNvGrpSpPr>
            <a:grpSpLocks/>
          </p:cNvGrpSpPr>
          <p:nvPr/>
        </p:nvGrpSpPr>
        <p:grpSpPr bwMode="auto">
          <a:xfrm>
            <a:off x="1989138" y="2189163"/>
            <a:ext cx="2305050" cy="673100"/>
            <a:chOff x="1037" y="1123"/>
            <a:chExt cx="1718" cy="670"/>
          </a:xfrm>
        </p:grpSpPr>
        <p:sp>
          <p:nvSpPr>
            <p:cNvPr id="83992" name="Freeform 81"/>
            <p:cNvSpPr>
              <a:spLocks/>
            </p:cNvSpPr>
            <p:nvPr/>
          </p:nvSpPr>
          <p:spPr bwMode="auto">
            <a:xfrm>
              <a:off x="1037" y="1208"/>
              <a:ext cx="197" cy="255"/>
            </a:xfrm>
            <a:custGeom>
              <a:avLst/>
              <a:gdLst>
                <a:gd name="T0" fmla="*/ 0 w 10000"/>
                <a:gd name="T1" fmla="*/ 0 h 10000"/>
                <a:gd name="T2" fmla="*/ 0 w 10000"/>
                <a:gd name="T3" fmla="*/ 0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10000" y="10000"/>
                  </a:moveTo>
                  <a:cubicBezTo>
                    <a:pt x="8094" y="7219"/>
                    <a:pt x="4403" y="2505"/>
                    <a:pt x="0" y="0"/>
                  </a:cubicBezTo>
                </a:path>
              </a:pathLst>
            </a:custGeom>
            <a:noFill/>
            <a:ln w="12700">
              <a:solidFill>
                <a:srgbClr val="00B0F0"/>
              </a:solidFill>
              <a:round/>
              <a:headEnd/>
              <a:tailEnd/>
            </a:ln>
          </p:spPr>
          <p:txBody>
            <a:bodyPr/>
            <a:lstStyle/>
            <a:p>
              <a:endParaRPr lang="zh-CN" altLang="en-US"/>
            </a:p>
          </p:txBody>
        </p:sp>
        <p:sp>
          <p:nvSpPr>
            <p:cNvPr id="83993" name="Freeform 82"/>
            <p:cNvSpPr>
              <a:spLocks/>
            </p:cNvSpPr>
            <p:nvPr/>
          </p:nvSpPr>
          <p:spPr bwMode="auto">
            <a:xfrm flipV="1">
              <a:off x="1891" y="1123"/>
              <a:ext cx="663" cy="330"/>
            </a:xfrm>
            <a:custGeom>
              <a:avLst/>
              <a:gdLst>
                <a:gd name="T0" fmla="*/ 0 w 1040"/>
                <a:gd name="T1" fmla="*/ 0 h 740"/>
                <a:gd name="T2" fmla="*/ 1 w 1040"/>
                <a:gd name="T3" fmla="*/ 0 h 740"/>
                <a:gd name="T4" fmla="*/ 1 w 1040"/>
                <a:gd name="T5" fmla="*/ 0 h 740"/>
                <a:gd name="T6" fmla="*/ 0 60000 65536"/>
                <a:gd name="T7" fmla="*/ 0 60000 65536"/>
                <a:gd name="T8" fmla="*/ 0 60000 65536"/>
                <a:gd name="T9" fmla="*/ 0 w 1040"/>
                <a:gd name="T10" fmla="*/ 0 h 740"/>
                <a:gd name="T11" fmla="*/ 1040 w 1040"/>
                <a:gd name="T12" fmla="*/ 740 h 740"/>
              </a:gdLst>
              <a:ahLst/>
              <a:cxnLst>
                <a:cxn ang="T6">
                  <a:pos x="T0" y="T1"/>
                </a:cxn>
                <a:cxn ang="T7">
                  <a:pos x="T2" y="T3"/>
                </a:cxn>
                <a:cxn ang="T8">
                  <a:pos x="T4" y="T5"/>
                </a:cxn>
              </a:cxnLst>
              <a:rect l="T9" t="T10" r="T11" b="T12"/>
              <a:pathLst>
                <a:path w="1040" h="740">
                  <a:moveTo>
                    <a:pt x="0" y="0"/>
                  </a:moveTo>
                  <a:cubicBezTo>
                    <a:pt x="173" y="370"/>
                    <a:pt x="347" y="740"/>
                    <a:pt x="520" y="740"/>
                  </a:cubicBezTo>
                  <a:cubicBezTo>
                    <a:pt x="693" y="740"/>
                    <a:pt x="866" y="370"/>
                    <a:pt x="1040" y="0"/>
                  </a:cubicBezTo>
                </a:path>
              </a:pathLst>
            </a:custGeom>
            <a:noFill/>
            <a:ln w="12700">
              <a:solidFill>
                <a:srgbClr val="00B0F0"/>
              </a:solidFill>
              <a:round/>
              <a:headEnd/>
              <a:tailEnd/>
            </a:ln>
          </p:spPr>
          <p:txBody>
            <a:bodyPr/>
            <a:lstStyle/>
            <a:p>
              <a:endParaRPr lang="zh-CN" altLang="en-US"/>
            </a:p>
          </p:txBody>
        </p:sp>
        <p:sp>
          <p:nvSpPr>
            <p:cNvPr id="83994" name="Freeform 83"/>
            <p:cNvSpPr>
              <a:spLocks/>
            </p:cNvSpPr>
            <p:nvPr/>
          </p:nvSpPr>
          <p:spPr bwMode="auto">
            <a:xfrm>
              <a:off x="1227" y="1454"/>
              <a:ext cx="664" cy="297"/>
            </a:xfrm>
            <a:custGeom>
              <a:avLst/>
              <a:gdLst>
                <a:gd name="T0" fmla="*/ 0 w 10000"/>
                <a:gd name="T1" fmla="*/ 0 h 10000"/>
                <a:gd name="T2" fmla="*/ 0 w 10000"/>
                <a:gd name="T3" fmla="*/ 0 h 10000"/>
                <a:gd name="T4" fmla="*/ 0 w 10000"/>
                <a:gd name="T5" fmla="*/ 0 h 10000"/>
                <a:gd name="T6" fmla="*/ 0 60000 65536"/>
                <a:gd name="T7" fmla="*/ 0 60000 65536"/>
                <a:gd name="T8" fmla="*/ 0 60000 65536"/>
                <a:gd name="T9" fmla="*/ 0 w 10000"/>
                <a:gd name="T10" fmla="*/ 0 h 10000"/>
                <a:gd name="T11" fmla="*/ 10000 w 10000"/>
                <a:gd name="T12" fmla="*/ 10000 h 10000"/>
              </a:gdLst>
              <a:ahLst/>
              <a:cxnLst>
                <a:cxn ang="T6">
                  <a:pos x="T0" y="T1"/>
                </a:cxn>
                <a:cxn ang="T7">
                  <a:pos x="T2" y="T3"/>
                </a:cxn>
                <a:cxn ang="T8">
                  <a:pos x="T4" y="T5"/>
                </a:cxn>
              </a:cxnLst>
              <a:rect l="T9" t="T10" r="T11" b="T12"/>
              <a:pathLst>
                <a:path w="10000" h="10000">
                  <a:moveTo>
                    <a:pt x="0" y="0"/>
                  </a:moveTo>
                  <a:cubicBezTo>
                    <a:pt x="1134" y="4526"/>
                    <a:pt x="3337" y="10000"/>
                    <a:pt x="5000" y="10000"/>
                  </a:cubicBezTo>
                  <a:cubicBezTo>
                    <a:pt x="6663" y="10000"/>
                    <a:pt x="8327" y="5000"/>
                    <a:pt x="10000" y="0"/>
                  </a:cubicBezTo>
                </a:path>
              </a:pathLst>
            </a:custGeom>
            <a:noFill/>
            <a:ln w="12700">
              <a:solidFill>
                <a:srgbClr val="00B0F0"/>
              </a:solidFill>
              <a:round/>
              <a:headEnd/>
              <a:tailEnd/>
            </a:ln>
          </p:spPr>
          <p:txBody>
            <a:bodyPr/>
            <a:lstStyle/>
            <a:p>
              <a:endParaRPr lang="zh-CN" altLang="en-US"/>
            </a:p>
          </p:txBody>
        </p:sp>
        <p:sp>
          <p:nvSpPr>
            <p:cNvPr id="83995" name="Line 84"/>
            <p:cNvSpPr>
              <a:spLocks noChangeShapeType="1"/>
            </p:cNvSpPr>
            <p:nvPr/>
          </p:nvSpPr>
          <p:spPr bwMode="auto">
            <a:xfrm flipH="1">
              <a:off x="1342" y="1793"/>
              <a:ext cx="315" cy="0"/>
            </a:xfrm>
            <a:prstGeom prst="line">
              <a:avLst/>
            </a:prstGeom>
            <a:noFill/>
            <a:ln w="12700">
              <a:solidFill>
                <a:srgbClr val="00B0F0"/>
              </a:solidFill>
              <a:round/>
              <a:headEnd/>
              <a:tailEnd type="arrow" w="med" len="med"/>
            </a:ln>
          </p:spPr>
          <p:txBody>
            <a:bodyPr/>
            <a:lstStyle/>
            <a:p>
              <a:endParaRPr lang="zh-CN" altLang="en-US"/>
            </a:p>
          </p:txBody>
        </p:sp>
        <p:sp>
          <p:nvSpPr>
            <p:cNvPr id="83996" name="Freeform 85"/>
            <p:cNvSpPr>
              <a:spLocks/>
            </p:cNvSpPr>
            <p:nvPr/>
          </p:nvSpPr>
          <p:spPr bwMode="auto">
            <a:xfrm>
              <a:off x="2555" y="1454"/>
              <a:ext cx="200" cy="233"/>
            </a:xfrm>
            <a:custGeom>
              <a:avLst/>
              <a:gdLst>
                <a:gd name="T0" fmla="*/ 0 w 10000"/>
                <a:gd name="T1" fmla="*/ 0 h 10000"/>
                <a:gd name="T2" fmla="*/ 0 w 10000"/>
                <a:gd name="T3" fmla="*/ 0 h 10000"/>
                <a:gd name="T4" fmla="*/ 0 60000 65536"/>
                <a:gd name="T5" fmla="*/ 0 60000 65536"/>
                <a:gd name="T6" fmla="*/ 0 w 10000"/>
                <a:gd name="T7" fmla="*/ 0 h 10000"/>
                <a:gd name="T8" fmla="*/ 10000 w 10000"/>
                <a:gd name="T9" fmla="*/ 10000 h 10000"/>
              </a:gdLst>
              <a:ahLst/>
              <a:cxnLst>
                <a:cxn ang="T4">
                  <a:pos x="T0" y="T1"/>
                </a:cxn>
                <a:cxn ang="T5">
                  <a:pos x="T2" y="T3"/>
                </a:cxn>
              </a:cxnLst>
              <a:rect l="T6" t="T7" r="T8" b="T9"/>
              <a:pathLst>
                <a:path w="10000" h="10000">
                  <a:moveTo>
                    <a:pt x="0" y="0"/>
                  </a:moveTo>
                  <a:cubicBezTo>
                    <a:pt x="3640" y="3964"/>
                    <a:pt x="5835" y="7189"/>
                    <a:pt x="10000" y="10000"/>
                  </a:cubicBezTo>
                </a:path>
              </a:pathLst>
            </a:custGeom>
            <a:noFill/>
            <a:ln w="12700">
              <a:solidFill>
                <a:srgbClr val="00B0F0"/>
              </a:solidFill>
              <a:round/>
              <a:headEnd/>
              <a:tailEnd/>
            </a:ln>
          </p:spPr>
          <p:txBody>
            <a:bodyPr wrap="none" anchor="ctr"/>
            <a:lstStyle/>
            <a:p>
              <a:endParaRPr lang="zh-CN" altLang="en-US"/>
            </a:p>
          </p:txBody>
        </p:sp>
      </p:grpSp>
      <p:grpSp>
        <p:nvGrpSpPr>
          <p:cNvPr id="12" name="Group 19"/>
          <p:cNvGrpSpPr>
            <a:grpSpLocks/>
          </p:cNvGrpSpPr>
          <p:nvPr/>
        </p:nvGrpSpPr>
        <p:grpSpPr bwMode="auto">
          <a:xfrm>
            <a:off x="1627188" y="2001838"/>
            <a:ext cx="2682875" cy="1057275"/>
            <a:chOff x="1610" y="2780"/>
            <a:chExt cx="4230" cy="2140"/>
          </a:xfrm>
        </p:grpSpPr>
        <p:sp>
          <p:nvSpPr>
            <p:cNvPr id="83989" name="Freeform 20"/>
            <p:cNvSpPr>
              <a:spLocks/>
            </p:cNvSpPr>
            <p:nvPr/>
          </p:nvSpPr>
          <p:spPr bwMode="auto">
            <a:xfrm>
              <a:off x="3020" y="3850"/>
              <a:ext cx="1410" cy="1070"/>
            </a:xfrm>
            <a:custGeom>
              <a:avLst/>
              <a:gdLst>
                <a:gd name="T0" fmla="*/ 0 w 1040"/>
                <a:gd name="T1" fmla="*/ 0 h 740"/>
                <a:gd name="T2" fmla="*/ 2147483647 w 1040"/>
                <a:gd name="T3" fmla="*/ 2147483647 h 740"/>
                <a:gd name="T4" fmla="*/ 2147483647 w 1040"/>
                <a:gd name="T5" fmla="*/ 0 h 740"/>
                <a:gd name="T6" fmla="*/ 0 60000 65536"/>
                <a:gd name="T7" fmla="*/ 0 60000 65536"/>
                <a:gd name="T8" fmla="*/ 0 60000 65536"/>
                <a:gd name="T9" fmla="*/ 0 w 1040"/>
                <a:gd name="T10" fmla="*/ 0 h 740"/>
                <a:gd name="T11" fmla="*/ 1040 w 1040"/>
                <a:gd name="T12" fmla="*/ 740 h 740"/>
              </a:gdLst>
              <a:ahLst/>
              <a:cxnLst>
                <a:cxn ang="T6">
                  <a:pos x="T0" y="T1"/>
                </a:cxn>
                <a:cxn ang="T7">
                  <a:pos x="T2" y="T3"/>
                </a:cxn>
                <a:cxn ang="T8">
                  <a:pos x="T4" y="T5"/>
                </a:cxn>
              </a:cxnLst>
              <a:rect l="T9" t="T10" r="T11" b="T12"/>
              <a:pathLst>
                <a:path w="1040" h="740">
                  <a:moveTo>
                    <a:pt x="0" y="0"/>
                  </a:moveTo>
                  <a:cubicBezTo>
                    <a:pt x="173" y="370"/>
                    <a:pt x="347" y="740"/>
                    <a:pt x="520" y="740"/>
                  </a:cubicBezTo>
                  <a:cubicBezTo>
                    <a:pt x="693" y="740"/>
                    <a:pt x="866" y="370"/>
                    <a:pt x="1040" y="0"/>
                  </a:cubicBezTo>
                </a:path>
              </a:pathLst>
            </a:custGeom>
            <a:noFill/>
            <a:ln w="28575">
              <a:solidFill>
                <a:srgbClr val="C00000"/>
              </a:solidFill>
              <a:round/>
              <a:headEnd/>
              <a:tailEnd/>
            </a:ln>
          </p:spPr>
          <p:txBody>
            <a:bodyPr/>
            <a:lstStyle/>
            <a:p>
              <a:endParaRPr lang="zh-CN" altLang="en-US"/>
            </a:p>
          </p:txBody>
        </p:sp>
        <p:sp>
          <p:nvSpPr>
            <p:cNvPr id="83990" name="Freeform 21"/>
            <p:cNvSpPr>
              <a:spLocks/>
            </p:cNvSpPr>
            <p:nvPr/>
          </p:nvSpPr>
          <p:spPr bwMode="auto">
            <a:xfrm flipV="1">
              <a:off x="4430" y="2780"/>
              <a:ext cx="1410" cy="1070"/>
            </a:xfrm>
            <a:custGeom>
              <a:avLst/>
              <a:gdLst>
                <a:gd name="T0" fmla="*/ 0 w 1040"/>
                <a:gd name="T1" fmla="*/ 0 h 740"/>
                <a:gd name="T2" fmla="*/ 2147483647 w 1040"/>
                <a:gd name="T3" fmla="*/ 2147483647 h 740"/>
                <a:gd name="T4" fmla="*/ 2147483647 w 1040"/>
                <a:gd name="T5" fmla="*/ 0 h 740"/>
                <a:gd name="T6" fmla="*/ 0 60000 65536"/>
                <a:gd name="T7" fmla="*/ 0 60000 65536"/>
                <a:gd name="T8" fmla="*/ 0 60000 65536"/>
                <a:gd name="T9" fmla="*/ 0 w 1040"/>
                <a:gd name="T10" fmla="*/ 0 h 740"/>
                <a:gd name="T11" fmla="*/ 1040 w 1040"/>
                <a:gd name="T12" fmla="*/ 740 h 740"/>
              </a:gdLst>
              <a:ahLst/>
              <a:cxnLst>
                <a:cxn ang="T6">
                  <a:pos x="T0" y="T1"/>
                </a:cxn>
                <a:cxn ang="T7">
                  <a:pos x="T2" y="T3"/>
                </a:cxn>
                <a:cxn ang="T8">
                  <a:pos x="T4" y="T5"/>
                </a:cxn>
              </a:cxnLst>
              <a:rect l="T9" t="T10" r="T11" b="T12"/>
              <a:pathLst>
                <a:path w="1040" h="740">
                  <a:moveTo>
                    <a:pt x="0" y="0"/>
                  </a:moveTo>
                  <a:cubicBezTo>
                    <a:pt x="173" y="370"/>
                    <a:pt x="347" y="740"/>
                    <a:pt x="520" y="740"/>
                  </a:cubicBezTo>
                  <a:cubicBezTo>
                    <a:pt x="693" y="740"/>
                    <a:pt x="866" y="370"/>
                    <a:pt x="1040" y="0"/>
                  </a:cubicBezTo>
                </a:path>
              </a:pathLst>
            </a:custGeom>
            <a:noFill/>
            <a:ln w="28575">
              <a:solidFill>
                <a:srgbClr val="C00000"/>
              </a:solidFill>
              <a:round/>
              <a:headEnd/>
              <a:tailEnd/>
            </a:ln>
          </p:spPr>
          <p:txBody>
            <a:bodyPr/>
            <a:lstStyle/>
            <a:p>
              <a:endParaRPr lang="zh-CN" altLang="en-US"/>
            </a:p>
          </p:txBody>
        </p:sp>
        <p:sp>
          <p:nvSpPr>
            <p:cNvPr id="83991" name="Freeform 22"/>
            <p:cNvSpPr>
              <a:spLocks/>
            </p:cNvSpPr>
            <p:nvPr/>
          </p:nvSpPr>
          <p:spPr bwMode="auto">
            <a:xfrm flipV="1">
              <a:off x="1610" y="2780"/>
              <a:ext cx="1410" cy="1070"/>
            </a:xfrm>
            <a:custGeom>
              <a:avLst/>
              <a:gdLst>
                <a:gd name="T0" fmla="*/ 0 w 1040"/>
                <a:gd name="T1" fmla="*/ 0 h 740"/>
                <a:gd name="T2" fmla="*/ 2147483647 w 1040"/>
                <a:gd name="T3" fmla="*/ 2147483647 h 740"/>
                <a:gd name="T4" fmla="*/ 2147483647 w 1040"/>
                <a:gd name="T5" fmla="*/ 0 h 740"/>
                <a:gd name="T6" fmla="*/ 0 60000 65536"/>
                <a:gd name="T7" fmla="*/ 0 60000 65536"/>
                <a:gd name="T8" fmla="*/ 0 60000 65536"/>
                <a:gd name="T9" fmla="*/ 0 w 1040"/>
                <a:gd name="T10" fmla="*/ 0 h 740"/>
                <a:gd name="T11" fmla="*/ 1040 w 1040"/>
                <a:gd name="T12" fmla="*/ 740 h 740"/>
              </a:gdLst>
              <a:ahLst/>
              <a:cxnLst>
                <a:cxn ang="T6">
                  <a:pos x="T0" y="T1"/>
                </a:cxn>
                <a:cxn ang="T7">
                  <a:pos x="T2" y="T3"/>
                </a:cxn>
                <a:cxn ang="T8">
                  <a:pos x="T4" y="T5"/>
                </a:cxn>
              </a:cxnLst>
              <a:rect l="T9" t="T10" r="T11" b="T12"/>
              <a:pathLst>
                <a:path w="1040" h="740">
                  <a:moveTo>
                    <a:pt x="0" y="0"/>
                  </a:moveTo>
                  <a:cubicBezTo>
                    <a:pt x="173" y="370"/>
                    <a:pt x="347" y="740"/>
                    <a:pt x="520" y="740"/>
                  </a:cubicBezTo>
                  <a:cubicBezTo>
                    <a:pt x="693" y="740"/>
                    <a:pt x="866" y="370"/>
                    <a:pt x="1040" y="0"/>
                  </a:cubicBezTo>
                </a:path>
              </a:pathLst>
            </a:custGeom>
            <a:noFill/>
            <a:ln w="28575">
              <a:solidFill>
                <a:srgbClr val="C00000"/>
              </a:solidFill>
              <a:round/>
              <a:headEnd/>
              <a:tailEnd/>
            </a:ln>
          </p:spPr>
          <p:txBody>
            <a:bodyPr/>
            <a:lstStyle/>
            <a:p>
              <a:endParaRPr lang="zh-CN" altLang="en-US"/>
            </a:p>
          </p:txBody>
        </p:sp>
      </p:grpSp>
      <p:grpSp>
        <p:nvGrpSpPr>
          <p:cNvPr id="13" name="Group 22"/>
          <p:cNvGrpSpPr>
            <a:grpSpLocks/>
          </p:cNvGrpSpPr>
          <p:nvPr/>
        </p:nvGrpSpPr>
        <p:grpSpPr bwMode="auto">
          <a:xfrm>
            <a:off x="4327525" y="1960563"/>
            <a:ext cx="1544638" cy="519112"/>
            <a:chOff x="2673" y="2823"/>
            <a:chExt cx="1153" cy="515"/>
          </a:xfrm>
        </p:grpSpPr>
        <p:sp>
          <p:nvSpPr>
            <p:cNvPr id="83987" name="Text Box 23"/>
            <p:cNvSpPr txBox="1">
              <a:spLocks noChangeArrowheads="1"/>
            </p:cNvSpPr>
            <p:nvPr/>
          </p:nvSpPr>
          <p:spPr bwMode="auto">
            <a:xfrm>
              <a:off x="3215" y="2823"/>
              <a:ext cx="611" cy="305"/>
            </a:xfrm>
            <a:prstGeom prst="rect">
              <a:avLst/>
            </a:prstGeom>
            <a:noFill/>
            <a:ln w="9525">
              <a:noFill/>
              <a:miter lim="800000"/>
              <a:headEnd/>
              <a:tailEnd/>
            </a:ln>
          </p:spPr>
          <p:txBody>
            <a:bodyPr/>
            <a:lstStyle/>
            <a:p>
              <a:pPr algn="just"/>
              <a:r>
                <a:rPr lang="zh-CN" altLang="en-US" sz="1500" b="1">
                  <a:solidFill>
                    <a:srgbClr val="FF00FF"/>
                  </a:solidFill>
                </a:rPr>
                <a:t>波节</a:t>
              </a:r>
            </a:p>
          </p:txBody>
        </p:sp>
        <p:sp>
          <p:nvSpPr>
            <p:cNvPr id="83988" name="Line 24"/>
            <p:cNvSpPr>
              <a:spLocks noChangeShapeType="1"/>
            </p:cNvSpPr>
            <p:nvPr/>
          </p:nvSpPr>
          <p:spPr bwMode="auto">
            <a:xfrm flipV="1">
              <a:off x="2673" y="3015"/>
              <a:ext cx="527" cy="323"/>
            </a:xfrm>
            <a:prstGeom prst="line">
              <a:avLst/>
            </a:prstGeom>
            <a:noFill/>
            <a:ln w="9525">
              <a:solidFill>
                <a:srgbClr val="FF00FF"/>
              </a:solidFill>
              <a:round/>
              <a:headEnd/>
              <a:tailEnd/>
            </a:ln>
          </p:spPr>
          <p:txBody>
            <a:bodyPr/>
            <a:lstStyle/>
            <a:p>
              <a:endParaRPr lang="zh-CN" altLang="en-US"/>
            </a:p>
          </p:txBody>
        </p:sp>
      </p:grpSp>
      <p:grpSp>
        <p:nvGrpSpPr>
          <p:cNvPr id="14" name="组合 66"/>
          <p:cNvGrpSpPr>
            <a:grpSpLocks/>
          </p:cNvGrpSpPr>
          <p:nvPr/>
        </p:nvGrpSpPr>
        <p:grpSpPr bwMode="auto">
          <a:xfrm>
            <a:off x="4344988" y="2765425"/>
            <a:ext cx="906462" cy="461963"/>
            <a:chOff x="4345757" y="3114365"/>
            <a:chExt cx="904973" cy="618376"/>
          </a:xfrm>
        </p:grpSpPr>
        <p:sp>
          <p:nvSpPr>
            <p:cNvPr id="83983" name="Line 75"/>
            <p:cNvSpPr>
              <a:spLocks noChangeShapeType="1"/>
            </p:cNvSpPr>
            <p:nvPr/>
          </p:nvSpPr>
          <p:spPr bwMode="auto">
            <a:xfrm>
              <a:off x="4366068" y="3114365"/>
              <a:ext cx="882650" cy="0"/>
            </a:xfrm>
            <a:prstGeom prst="line">
              <a:avLst/>
            </a:prstGeom>
            <a:noFill/>
            <a:ln w="12700">
              <a:solidFill>
                <a:srgbClr val="FF66FF"/>
              </a:solidFill>
              <a:prstDash val="dash"/>
              <a:round/>
              <a:headEnd/>
              <a:tailEnd/>
            </a:ln>
          </p:spPr>
          <p:txBody>
            <a:bodyPr/>
            <a:lstStyle/>
            <a:p>
              <a:endParaRPr lang="zh-CN" altLang="en-US"/>
            </a:p>
          </p:txBody>
        </p:sp>
        <p:cxnSp>
          <p:nvCxnSpPr>
            <p:cNvPr id="63" name="直接连接符 62"/>
            <p:cNvCxnSpPr/>
            <p:nvPr/>
          </p:nvCxnSpPr>
          <p:spPr>
            <a:xfrm>
              <a:off x="5250730" y="3120741"/>
              <a:ext cx="0" cy="433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4345757" y="3469241"/>
              <a:ext cx="904973"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83986" name="TextBox 65"/>
            <p:cNvSpPr txBox="1">
              <a:spLocks noChangeArrowheads="1"/>
            </p:cNvSpPr>
            <p:nvPr/>
          </p:nvSpPr>
          <p:spPr bwMode="auto">
            <a:xfrm>
              <a:off x="4526282" y="3300796"/>
              <a:ext cx="488778" cy="431945"/>
            </a:xfrm>
            <a:prstGeom prst="rect">
              <a:avLst/>
            </a:prstGeom>
            <a:solidFill>
              <a:schemeClr val="bg1"/>
            </a:solidFill>
            <a:ln w="9525">
              <a:noFill/>
              <a:miter lim="800000"/>
              <a:headEnd/>
              <a:tailEnd/>
            </a:ln>
          </p:spPr>
          <p:txBody>
            <a:bodyPr>
              <a:spAutoFit/>
            </a:bodyPr>
            <a:lstStyle/>
            <a:p>
              <a:r>
                <a:rPr kumimoji="0" lang="en-US" altLang="zh-CN" sz="1500" b="1">
                  <a:sym typeface="Symbol" pitchFamily="18" charset="2"/>
                </a:rPr>
                <a:t>/2</a:t>
              </a:r>
              <a:endParaRPr kumimoji="0" lang="en-US" altLang="zh-CN" sz="1500" b="1"/>
            </a:p>
          </p:txBody>
        </p:sp>
      </p:grpSp>
      <p:sp>
        <p:nvSpPr>
          <p:cNvPr id="68" name="Text Box 86"/>
          <p:cNvSpPr txBox="1">
            <a:spLocks noChangeArrowheads="1"/>
          </p:cNvSpPr>
          <p:nvPr/>
        </p:nvSpPr>
        <p:spPr bwMode="auto">
          <a:xfrm>
            <a:off x="2627313" y="3714750"/>
            <a:ext cx="2306637" cy="369888"/>
          </a:xfrm>
          <a:prstGeom prst="rect">
            <a:avLst/>
          </a:prstGeom>
          <a:noFill/>
          <a:ln w="9525">
            <a:noFill/>
            <a:miter lim="800000"/>
            <a:headEnd/>
            <a:tailEnd/>
          </a:ln>
        </p:spPr>
        <p:txBody>
          <a:bodyPr>
            <a:spAutoFit/>
          </a:bodyPr>
          <a:lstStyle/>
          <a:p>
            <a:pPr algn="just">
              <a:spcBef>
                <a:spcPct val="50000"/>
              </a:spcBef>
            </a:pPr>
            <a:r>
              <a:rPr lang="zh-CN" altLang="en-US" sz="1800" b="1">
                <a:solidFill>
                  <a:srgbClr val="FF0000"/>
                </a:solidFill>
                <a:ea typeface="华文中宋"/>
                <a:cs typeface="华文中宋"/>
              </a:rPr>
              <a:t>反射波的相位突变</a:t>
            </a:r>
            <a:r>
              <a:rPr lang="zh-CN" altLang="en-US" sz="1800" b="1">
                <a:solidFill>
                  <a:srgbClr val="FF0000"/>
                </a:solidFill>
                <a:ea typeface="华文中宋"/>
                <a:cs typeface="华文中宋"/>
                <a:sym typeface="Symbol" pitchFamily="18" charset="2"/>
              </a:rPr>
              <a:t></a:t>
            </a:r>
          </a:p>
        </p:txBody>
      </p:sp>
      <p:sp>
        <p:nvSpPr>
          <p:cNvPr id="71" name="Text Box 87"/>
          <p:cNvSpPr txBox="1">
            <a:spLocks noChangeArrowheads="1"/>
          </p:cNvSpPr>
          <p:nvPr/>
        </p:nvSpPr>
        <p:spPr bwMode="auto">
          <a:xfrm>
            <a:off x="4687888" y="3714750"/>
            <a:ext cx="3159125" cy="369888"/>
          </a:xfrm>
          <a:prstGeom prst="rect">
            <a:avLst/>
          </a:prstGeom>
          <a:noFill/>
          <a:ln w="9525">
            <a:noFill/>
            <a:miter lim="800000"/>
            <a:headEnd/>
            <a:tailEnd/>
          </a:ln>
        </p:spPr>
        <p:txBody>
          <a:bodyPr>
            <a:spAutoFit/>
          </a:bodyPr>
          <a:lstStyle/>
          <a:p>
            <a:pPr>
              <a:spcBef>
                <a:spcPct val="50000"/>
              </a:spcBef>
            </a:pPr>
            <a:r>
              <a:rPr lang="en-US" altLang="zh-CN" sz="1800" b="1">
                <a:solidFill>
                  <a:srgbClr val="0000FF"/>
                </a:solidFill>
                <a:ea typeface="华文中宋"/>
                <a:cs typeface="华文中宋"/>
              </a:rPr>
              <a:t>——</a:t>
            </a:r>
            <a:r>
              <a:rPr lang="zh-CN" altLang="en-US" sz="1800" b="1">
                <a:solidFill>
                  <a:srgbClr val="0000FF"/>
                </a:solidFill>
                <a:ea typeface="华文中宋"/>
                <a:cs typeface="华文中宋"/>
              </a:rPr>
              <a:t>半波损失</a:t>
            </a:r>
          </a:p>
        </p:txBody>
      </p:sp>
      <p:sp>
        <p:nvSpPr>
          <p:cNvPr id="72" name="Text Box 88"/>
          <p:cNvSpPr txBox="1">
            <a:spLocks noChangeArrowheads="1"/>
          </p:cNvSpPr>
          <p:nvPr/>
        </p:nvSpPr>
        <p:spPr bwMode="auto">
          <a:xfrm>
            <a:off x="1379538" y="4156075"/>
            <a:ext cx="2039937" cy="369888"/>
          </a:xfrm>
          <a:prstGeom prst="rect">
            <a:avLst/>
          </a:prstGeom>
          <a:noFill/>
          <a:ln w="9525">
            <a:noFill/>
            <a:miter lim="800000"/>
            <a:headEnd/>
            <a:tailEnd/>
          </a:ln>
        </p:spPr>
        <p:txBody>
          <a:bodyPr>
            <a:spAutoFit/>
          </a:bodyPr>
          <a:lstStyle/>
          <a:p>
            <a:r>
              <a:rPr lang="zh-CN" altLang="en-US" sz="1800" b="1">
                <a:solidFill>
                  <a:srgbClr val="0000FF"/>
                </a:solidFill>
                <a:ea typeface="华文中宋"/>
                <a:cs typeface="华文中宋"/>
              </a:rPr>
              <a:t>透射波：</a:t>
            </a:r>
            <a:endParaRPr lang="zh-CN" altLang="en-US" sz="1800" b="1">
              <a:ea typeface="华文中宋"/>
              <a:cs typeface="华文中宋"/>
            </a:endParaRPr>
          </a:p>
        </p:txBody>
      </p:sp>
      <p:sp>
        <p:nvSpPr>
          <p:cNvPr id="73" name="Text Box 89"/>
          <p:cNvSpPr txBox="1">
            <a:spLocks noChangeArrowheads="1"/>
          </p:cNvSpPr>
          <p:nvPr/>
        </p:nvSpPr>
        <p:spPr bwMode="auto">
          <a:xfrm>
            <a:off x="2774950" y="4171950"/>
            <a:ext cx="5299075" cy="369888"/>
          </a:xfrm>
          <a:prstGeom prst="rect">
            <a:avLst/>
          </a:prstGeom>
          <a:noFill/>
          <a:ln w="9525">
            <a:noFill/>
            <a:miter lim="800000"/>
            <a:headEnd/>
            <a:tailEnd/>
          </a:ln>
        </p:spPr>
        <p:txBody>
          <a:bodyPr>
            <a:spAutoFit/>
          </a:bodyPr>
          <a:lstStyle/>
          <a:p>
            <a:pPr>
              <a:spcBef>
                <a:spcPct val="50000"/>
              </a:spcBef>
            </a:pPr>
            <a:r>
              <a:rPr lang="zh-CN" altLang="en-US" sz="1800" b="1">
                <a:ea typeface="华文中宋"/>
                <a:cs typeface="华文中宋"/>
              </a:rPr>
              <a:t>透射波总是与入射波同相</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3" presetClass="entr" presetSubtype="16"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500" fill="hold"/>
                                        <p:tgtEl>
                                          <p:spTgt spid="2"/>
                                        </p:tgtEl>
                                        <p:attrNameLst>
                                          <p:attrName>ppt_w</p:attrName>
                                        </p:attrNameLst>
                                      </p:cBhvr>
                                      <p:tavLst>
                                        <p:tav tm="0">
                                          <p:val>
                                            <p:fltVal val="0"/>
                                          </p:val>
                                        </p:tav>
                                        <p:tav tm="100000">
                                          <p:val>
                                            <p:strVal val="#ppt_w"/>
                                          </p:val>
                                        </p:tav>
                                      </p:tavLst>
                                    </p:anim>
                                    <p:anim calcmode="lin" valueType="num">
                                      <p:cBhvr>
                                        <p:cTn id="17" dur="500" fill="hold"/>
                                        <p:tgtEl>
                                          <p:spTgt spid="2"/>
                                        </p:tgtEl>
                                        <p:attrNameLst>
                                          <p:attrName>ppt_h</p:attrName>
                                        </p:attrNameLst>
                                      </p:cBhvr>
                                      <p:tavLst>
                                        <p:tav tm="0">
                                          <p:val>
                                            <p:fltVal val="0"/>
                                          </p:val>
                                        </p:tav>
                                        <p:tav tm="100000">
                                          <p:val>
                                            <p:strVal val="#ppt_h"/>
                                          </p:val>
                                        </p:tav>
                                      </p:tavLst>
                                    </p:anim>
                                    <p:animEffect transition="in" filter="fade">
                                      <p:cBhvr>
                                        <p:cTn id="18" dur="5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p:tgtEl>
                                          <p:spTgt spid="6"/>
                                        </p:tgtEl>
                                        <p:attrNameLst>
                                          <p:attrName>ppt_x</p:attrName>
                                        </p:attrNameLst>
                                      </p:cBhvr>
                                      <p:tavLst>
                                        <p:tav tm="0">
                                          <p:val>
                                            <p:strVal val="#ppt_x-#ppt_w*1.125000"/>
                                          </p:val>
                                        </p:tav>
                                        <p:tav tm="100000">
                                          <p:val>
                                            <p:strVal val="#ppt_x"/>
                                          </p:val>
                                        </p:tav>
                                      </p:tavLst>
                                    </p:anim>
                                    <p:animEffect transition="in" filter="wipe(right)">
                                      <p:cBhvr>
                                        <p:cTn id="24" dur="500"/>
                                        <p:tgtEl>
                                          <p:spTgt spid="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up)">
                                      <p:cBhvr>
                                        <p:cTn id="34" dur="500"/>
                                        <p:tgtEl>
                                          <p:spTgt spid="1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2"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right)">
                                      <p:cBhvr>
                                        <p:cTn id="39" dur="500"/>
                                        <p:tgtEl>
                                          <p:spTgt spid="1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2" fill="hold"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right)">
                                      <p:cBhvr>
                                        <p:cTn id="44" dur="500"/>
                                        <p:tgtEl>
                                          <p:spTgt spid="1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left)">
                                      <p:cBhvr>
                                        <p:cTn id="49" dur="500"/>
                                        <p:tgtEl>
                                          <p:spTgt spid="1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3" presetClass="entr" presetSubtype="16"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p:cTn id="54" dur="500" fill="hold"/>
                                        <p:tgtEl>
                                          <p:spTgt spid="14"/>
                                        </p:tgtEl>
                                        <p:attrNameLst>
                                          <p:attrName>ppt_w</p:attrName>
                                        </p:attrNameLst>
                                      </p:cBhvr>
                                      <p:tavLst>
                                        <p:tav tm="0">
                                          <p:val>
                                            <p:fltVal val="0"/>
                                          </p:val>
                                        </p:tav>
                                        <p:tav tm="100000">
                                          <p:val>
                                            <p:strVal val="#ppt_w"/>
                                          </p:val>
                                        </p:tav>
                                      </p:tavLst>
                                    </p:anim>
                                    <p:anim calcmode="lin" valueType="num">
                                      <p:cBhvr>
                                        <p:cTn id="55" dur="500" fill="hold"/>
                                        <p:tgtEl>
                                          <p:spTgt spid="14"/>
                                        </p:tgtEl>
                                        <p:attrNameLst>
                                          <p:attrName>ppt_h</p:attrName>
                                        </p:attrNameLst>
                                      </p:cBhvr>
                                      <p:tavLst>
                                        <p:tav tm="0">
                                          <p:val>
                                            <p:fltVal val="0"/>
                                          </p:val>
                                        </p:tav>
                                        <p:tav tm="100000">
                                          <p:val>
                                            <p:strVal val="#ppt_h"/>
                                          </p:val>
                                        </p:tav>
                                      </p:tavLst>
                                    </p:anim>
                                    <p:animEffect transition="in" filter="fade">
                                      <p:cBhvr>
                                        <p:cTn id="56" dur="500"/>
                                        <p:tgtEl>
                                          <p:spTgt spid="1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68"/>
                                        </p:tgtEl>
                                        <p:attrNameLst>
                                          <p:attrName>style.visibility</p:attrName>
                                        </p:attrNameLst>
                                      </p:cBhvr>
                                      <p:to>
                                        <p:strVal val="visible"/>
                                      </p:to>
                                    </p:set>
                                    <p:animEffect transition="in" filter="wipe(left)">
                                      <p:cBhvr>
                                        <p:cTn id="61" dur="500"/>
                                        <p:tgtEl>
                                          <p:spTgt spid="68"/>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71"/>
                                        </p:tgtEl>
                                        <p:attrNameLst>
                                          <p:attrName>style.visibility</p:attrName>
                                        </p:attrNameLst>
                                      </p:cBhvr>
                                      <p:to>
                                        <p:strVal val="visible"/>
                                      </p:to>
                                    </p:set>
                                    <p:animEffect transition="in" filter="wipe(left)">
                                      <p:cBhvr>
                                        <p:cTn id="66" dur="500"/>
                                        <p:tgtEl>
                                          <p:spTgt spid="71"/>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72"/>
                                        </p:tgtEl>
                                        <p:attrNameLst>
                                          <p:attrName>style.visibility</p:attrName>
                                        </p:attrNameLst>
                                      </p:cBhvr>
                                      <p:to>
                                        <p:strVal val="visible"/>
                                      </p:to>
                                    </p:set>
                                    <p:animEffect transition="in" filter="wipe(left)">
                                      <p:cBhvr>
                                        <p:cTn id="71" dur="500"/>
                                        <p:tgtEl>
                                          <p:spTgt spid="7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73"/>
                                        </p:tgtEl>
                                        <p:attrNameLst>
                                          <p:attrName>style.visibility</p:attrName>
                                        </p:attrNameLst>
                                      </p:cBhvr>
                                      <p:to>
                                        <p:strVal val="visible"/>
                                      </p:to>
                                    </p:set>
                                    <p:animEffect transition="in" filter="wipe(left)">
                                      <p:cBhvr>
                                        <p:cTn id="76"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68" grpId="0"/>
      <p:bldP spid="71" grpId="0" autoUpdateAnimBg="0"/>
      <p:bldP spid="72" grpId="0" autoUpdateAnimBg="0"/>
      <p:bldP spid="73"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905125" y="874713"/>
            <a:ext cx="4546600" cy="425450"/>
          </a:xfrm>
          <a:prstGeom prst="rect">
            <a:avLst/>
          </a:prstGeom>
          <a:noFill/>
          <a:ln w="9525">
            <a:noFill/>
            <a:miter lim="800000"/>
            <a:headEnd/>
            <a:tailEnd/>
          </a:ln>
        </p:spPr>
        <p:txBody>
          <a:bodyPr>
            <a:spAutoFit/>
          </a:bodyPr>
          <a:lstStyle/>
          <a:p>
            <a:pPr>
              <a:lnSpc>
                <a:spcPct val="120000"/>
              </a:lnSpc>
            </a:pPr>
            <a:r>
              <a:rPr lang="zh-CN" altLang="en-US" sz="1800" b="1">
                <a:solidFill>
                  <a:srgbClr val="0000FF"/>
                </a:solidFill>
                <a:ea typeface="华文中宋"/>
                <a:cs typeface="华文中宋"/>
              </a:rPr>
              <a:t>波在一定边界内传播时就会形成各种驻波。</a:t>
            </a:r>
          </a:p>
        </p:txBody>
      </p:sp>
      <p:sp>
        <p:nvSpPr>
          <p:cNvPr id="4" name="Rectangle 26"/>
          <p:cNvSpPr>
            <a:spLocks noChangeArrowheads="1"/>
          </p:cNvSpPr>
          <p:nvPr/>
        </p:nvSpPr>
        <p:spPr bwMode="auto">
          <a:xfrm>
            <a:off x="971550" y="1203325"/>
            <a:ext cx="4824413" cy="369888"/>
          </a:xfrm>
          <a:prstGeom prst="rect">
            <a:avLst/>
          </a:prstGeom>
          <a:noFill/>
          <a:ln w="9525">
            <a:noFill/>
            <a:miter lim="800000"/>
            <a:headEnd/>
            <a:tailEnd/>
          </a:ln>
        </p:spPr>
        <p:txBody>
          <a:bodyPr>
            <a:spAutoFit/>
          </a:bodyPr>
          <a:lstStyle/>
          <a:p>
            <a:r>
              <a:rPr lang="zh-CN" altLang="en-US" sz="1800" b="1">
                <a:ea typeface="华文中宋"/>
                <a:cs typeface="华文中宋"/>
              </a:rPr>
              <a:t>两端固定的</a:t>
            </a:r>
            <a:r>
              <a:rPr lang="zh-CN" altLang="en-US" sz="1800" b="1">
                <a:solidFill>
                  <a:srgbClr val="C00000"/>
                </a:solidFill>
                <a:ea typeface="华文中宋"/>
                <a:cs typeface="华文中宋"/>
              </a:rPr>
              <a:t>弦</a:t>
            </a:r>
            <a:r>
              <a:rPr lang="zh-CN" altLang="en-US" sz="1800" b="1">
                <a:ea typeface="华文中宋"/>
                <a:cs typeface="华文中宋"/>
              </a:rPr>
              <a:t>，形成驻波必须满足以下条件：</a:t>
            </a:r>
          </a:p>
        </p:txBody>
      </p:sp>
      <p:graphicFrame>
        <p:nvGraphicFramePr>
          <p:cNvPr id="5" name="Object 126"/>
          <p:cNvGraphicFramePr>
            <a:graphicFrameLocks noChangeAspect="1"/>
          </p:cNvGraphicFramePr>
          <p:nvPr/>
        </p:nvGraphicFramePr>
        <p:xfrm>
          <a:off x="2000250" y="1447800"/>
          <a:ext cx="915988" cy="476250"/>
        </p:xfrm>
        <a:graphic>
          <a:graphicData uri="http://schemas.openxmlformats.org/presentationml/2006/ole">
            <p:oleObj spid="_x0000_s62590" name="公式" r:id="rId3" imgW="583947" imgH="406224" progId="Equation.3">
              <p:embed/>
            </p:oleObj>
          </a:graphicData>
        </a:graphic>
      </p:graphicFrame>
      <p:sp>
        <p:nvSpPr>
          <p:cNvPr id="208" name="Rectangle 26"/>
          <p:cNvSpPr>
            <a:spLocks noChangeArrowheads="1"/>
          </p:cNvSpPr>
          <p:nvPr/>
        </p:nvSpPr>
        <p:spPr bwMode="auto">
          <a:xfrm>
            <a:off x="3263900" y="1498600"/>
            <a:ext cx="1163638" cy="368300"/>
          </a:xfrm>
          <a:prstGeom prst="rect">
            <a:avLst/>
          </a:prstGeom>
          <a:noFill/>
          <a:ln w="9525">
            <a:noFill/>
            <a:miter lim="800000"/>
            <a:headEnd/>
            <a:tailEnd/>
          </a:ln>
        </p:spPr>
        <p:txBody>
          <a:bodyPr>
            <a:spAutoFit/>
          </a:bodyPr>
          <a:lstStyle/>
          <a:p>
            <a:r>
              <a:rPr lang="en-US" altLang="zh-CN" sz="1800" b="1" i="1"/>
              <a:t>n</a:t>
            </a:r>
            <a:r>
              <a:rPr lang="en-US" altLang="zh-CN" sz="1800" b="1"/>
              <a:t>=1,2,3…</a:t>
            </a:r>
          </a:p>
        </p:txBody>
      </p:sp>
      <p:grpSp>
        <p:nvGrpSpPr>
          <p:cNvPr id="2" name="组合 232"/>
          <p:cNvGrpSpPr>
            <a:grpSpLocks/>
          </p:cNvGrpSpPr>
          <p:nvPr/>
        </p:nvGrpSpPr>
        <p:grpSpPr bwMode="auto">
          <a:xfrm>
            <a:off x="971550" y="2500313"/>
            <a:ext cx="3238500" cy="1936750"/>
            <a:chOff x="489813" y="3347105"/>
            <a:chExt cx="3781498" cy="3292715"/>
          </a:xfrm>
        </p:grpSpPr>
        <p:cxnSp>
          <p:nvCxnSpPr>
            <p:cNvPr id="62603" name="AutoShape 137"/>
            <p:cNvCxnSpPr>
              <a:cxnSpLocks noChangeShapeType="1"/>
            </p:cNvCxnSpPr>
            <p:nvPr/>
          </p:nvCxnSpPr>
          <p:spPr bwMode="auto">
            <a:xfrm>
              <a:off x="1161475" y="3539189"/>
              <a:ext cx="2987620" cy="0"/>
            </a:xfrm>
            <a:prstGeom prst="straightConnector1">
              <a:avLst/>
            </a:prstGeom>
            <a:noFill/>
            <a:ln w="3175">
              <a:solidFill>
                <a:srgbClr val="0066CC"/>
              </a:solidFill>
              <a:prstDash val="sysDash"/>
              <a:round/>
              <a:headEnd/>
              <a:tailEnd/>
            </a:ln>
          </p:spPr>
        </p:cxnSp>
        <p:sp>
          <p:nvSpPr>
            <p:cNvPr id="62604" name="Freeform 136"/>
            <p:cNvSpPr>
              <a:spLocks/>
            </p:cNvSpPr>
            <p:nvPr/>
          </p:nvSpPr>
          <p:spPr bwMode="auto">
            <a:xfrm>
              <a:off x="1176752" y="3351092"/>
              <a:ext cx="2987620" cy="180458"/>
            </a:xfrm>
            <a:custGeom>
              <a:avLst/>
              <a:gdLst>
                <a:gd name="T0" fmla="*/ 0 w 3792"/>
                <a:gd name="T1" fmla="*/ 2147483647 h 948"/>
                <a:gd name="T2" fmla="*/ 2147483647 w 3792"/>
                <a:gd name="T3" fmla="*/ 0 h 948"/>
                <a:gd name="T4" fmla="*/ 2147483647 w 3792"/>
                <a:gd name="T5" fmla="*/ 2147483647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19050">
              <a:solidFill>
                <a:srgbClr val="0066CC"/>
              </a:solidFill>
              <a:round/>
              <a:headEnd/>
              <a:tailEnd/>
            </a:ln>
          </p:spPr>
          <p:txBody>
            <a:bodyPr/>
            <a:lstStyle/>
            <a:p>
              <a:endParaRPr lang="zh-CN" altLang="en-US"/>
            </a:p>
          </p:txBody>
        </p:sp>
        <p:sp>
          <p:nvSpPr>
            <p:cNvPr id="62605" name="Freeform 135"/>
            <p:cNvSpPr>
              <a:spLocks/>
            </p:cNvSpPr>
            <p:nvPr/>
          </p:nvSpPr>
          <p:spPr bwMode="auto">
            <a:xfrm flipV="1">
              <a:off x="1176752" y="3531550"/>
              <a:ext cx="2987620" cy="180458"/>
            </a:xfrm>
            <a:custGeom>
              <a:avLst/>
              <a:gdLst>
                <a:gd name="T0" fmla="*/ 0 w 3792"/>
                <a:gd name="T1" fmla="*/ 2147483647 h 948"/>
                <a:gd name="T2" fmla="*/ 2147483647 w 3792"/>
                <a:gd name="T3" fmla="*/ 0 h 948"/>
                <a:gd name="T4" fmla="*/ 2147483647 w 3792"/>
                <a:gd name="T5" fmla="*/ 2147483647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06" name="Freeform 134"/>
            <p:cNvSpPr>
              <a:spLocks/>
            </p:cNvSpPr>
            <p:nvPr/>
          </p:nvSpPr>
          <p:spPr bwMode="auto">
            <a:xfrm>
              <a:off x="1176752" y="3415064"/>
              <a:ext cx="2987620" cy="115531"/>
            </a:xfrm>
            <a:custGeom>
              <a:avLst/>
              <a:gdLst>
                <a:gd name="T0" fmla="*/ 0 w 3792"/>
                <a:gd name="T1" fmla="*/ 2147483647 h 948"/>
                <a:gd name="T2" fmla="*/ 2147483647 w 3792"/>
                <a:gd name="T3" fmla="*/ 0 h 948"/>
                <a:gd name="T4" fmla="*/ 2147483647 w 3792"/>
                <a:gd name="T5" fmla="*/ 2147483647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07" name="Freeform 133"/>
            <p:cNvSpPr>
              <a:spLocks/>
            </p:cNvSpPr>
            <p:nvPr/>
          </p:nvSpPr>
          <p:spPr bwMode="auto">
            <a:xfrm flipV="1">
              <a:off x="1176752" y="3529641"/>
              <a:ext cx="2987620" cy="116486"/>
            </a:xfrm>
            <a:custGeom>
              <a:avLst/>
              <a:gdLst>
                <a:gd name="T0" fmla="*/ 0 w 3792"/>
                <a:gd name="T1" fmla="*/ 2147483647 h 948"/>
                <a:gd name="T2" fmla="*/ 2147483647 w 3792"/>
                <a:gd name="T3" fmla="*/ 0 h 948"/>
                <a:gd name="T4" fmla="*/ 2147483647 w 3792"/>
                <a:gd name="T5" fmla="*/ 2147483647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08" name="Freeform 132"/>
            <p:cNvSpPr>
              <a:spLocks/>
            </p:cNvSpPr>
            <p:nvPr/>
          </p:nvSpPr>
          <p:spPr bwMode="auto">
            <a:xfrm>
              <a:off x="1233086" y="3475217"/>
              <a:ext cx="2987620" cy="45831"/>
            </a:xfrm>
            <a:custGeom>
              <a:avLst/>
              <a:gdLst>
                <a:gd name="T0" fmla="*/ 0 w 3792"/>
                <a:gd name="T1" fmla="*/ 2147483647 h 948"/>
                <a:gd name="T2" fmla="*/ 2147483647 w 3792"/>
                <a:gd name="T3" fmla="*/ 0 h 948"/>
                <a:gd name="T4" fmla="*/ 2147483647 w 3792"/>
                <a:gd name="T5" fmla="*/ 2147483647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09" name="Freeform 131"/>
            <p:cNvSpPr>
              <a:spLocks/>
            </p:cNvSpPr>
            <p:nvPr/>
          </p:nvSpPr>
          <p:spPr bwMode="auto">
            <a:xfrm flipV="1">
              <a:off x="1161475" y="3539189"/>
              <a:ext cx="2987620" cy="45831"/>
            </a:xfrm>
            <a:custGeom>
              <a:avLst/>
              <a:gdLst>
                <a:gd name="T0" fmla="*/ 0 w 3792"/>
                <a:gd name="T1" fmla="*/ 2147483647 h 948"/>
                <a:gd name="T2" fmla="*/ 2147483647 w 3792"/>
                <a:gd name="T3" fmla="*/ 0 h 948"/>
                <a:gd name="T4" fmla="*/ 2147483647 w 3792"/>
                <a:gd name="T5" fmla="*/ 2147483647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10" name="Rectangle 130"/>
            <p:cNvSpPr>
              <a:spLocks noChangeArrowheads="1"/>
            </p:cNvSpPr>
            <p:nvPr/>
          </p:nvSpPr>
          <p:spPr bwMode="auto">
            <a:xfrm>
              <a:off x="1088909" y="3353957"/>
              <a:ext cx="106939" cy="360915"/>
            </a:xfrm>
            <a:prstGeom prst="rect">
              <a:avLst/>
            </a:prstGeom>
            <a:gradFill rotWithShape="0">
              <a:gsLst>
                <a:gs pos="0">
                  <a:srgbClr val="FFEBE0"/>
                </a:gs>
                <a:gs pos="100000">
                  <a:srgbClr val="FF9966"/>
                </a:gs>
              </a:gsLst>
              <a:lin ang="0" scaled="1"/>
            </a:gradFill>
            <a:ln w="9525">
              <a:solidFill>
                <a:srgbClr val="000000"/>
              </a:solidFill>
              <a:miter lim="800000"/>
              <a:headEnd/>
              <a:tailEnd/>
            </a:ln>
          </p:spPr>
          <p:txBody>
            <a:bodyPr/>
            <a:lstStyle/>
            <a:p>
              <a:endParaRPr kumimoji="0" lang="zh-CN" altLang="zh-CN" sz="1600"/>
            </a:p>
          </p:txBody>
        </p:sp>
        <p:sp>
          <p:nvSpPr>
            <p:cNvPr id="62611" name="Rectangle 129"/>
            <p:cNvSpPr>
              <a:spLocks noChangeArrowheads="1"/>
            </p:cNvSpPr>
            <p:nvPr/>
          </p:nvSpPr>
          <p:spPr bwMode="auto">
            <a:xfrm>
              <a:off x="4164372" y="3353957"/>
              <a:ext cx="106939" cy="360915"/>
            </a:xfrm>
            <a:prstGeom prst="rect">
              <a:avLst/>
            </a:prstGeom>
            <a:gradFill rotWithShape="0">
              <a:gsLst>
                <a:gs pos="0">
                  <a:srgbClr val="FF9966"/>
                </a:gs>
                <a:gs pos="100000">
                  <a:srgbClr val="FFEBE0"/>
                </a:gs>
              </a:gsLst>
              <a:lin ang="0" scaled="1"/>
            </a:gradFill>
            <a:ln w="9525">
              <a:solidFill>
                <a:srgbClr val="000000"/>
              </a:solidFill>
              <a:miter lim="800000"/>
              <a:headEnd/>
              <a:tailEnd/>
            </a:ln>
          </p:spPr>
          <p:txBody>
            <a:bodyPr/>
            <a:lstStyle/>
            <a:p>
              <a:endParaRPr kumimoji="0" lang="zh-CN" altLang="zh-CN" sz="1600"/>
            </a:p>
          </p:txBody>
        </p:sp>
        <p:cxnSp>
          <p:nvCxnSpPr>
            <p:cNvPr id="62612" name="AutoShape 128"/>
            <p:cNvCxnSpPr>
              <a:cxnSpLocks noChangeShapeType="1"/>
            </p:cNvCxnSpPr>
            <p:nvPr/>
          </p:nvCxnSpPr>
          <p:spPr bwMode="auto">
            <a:xfrm flipV="1">
              <a:off x="1274143" y="5994593"/>
              <a:ext cx="2890229" cy="3819"/>
            </a:xfrm>
            <a:prstGeom prst="straightConnector1">
              <a:avLst/>
            </a:prstGeom>
            <a:noFill/>
            <a:ln w="3175">
              <a:solidFill>
                <a:srgbClr val="0066CC"/>
              </a:solidFill>
              <a:prstDash val="sysDash"/>
              <a:round/>
              <a:headEnd/>
              <a:tailEnd/>
            </a:ln>
          </p:spPr>
        </p:cxnSp>
        <p:sp>
          <p:nvSpPr>
            <p:cNvPr id="62613" name="Freeform 127"/>
            <p:cNvSpPr>
              <a:spLocks/>
            </p:cNvSpPr>
            <p:nvPr/>
          </p:nvSpPr>
          <p:spPr bwMode="auto">
            <a:xfrm>
              <a:off x="3411022" y="5769260"/>
              <a:ext cx="738073" cy="224379"/>
            </a:xfrm>
            <a:custGeom>
              <a:avLst/>
              <a:gdLst>
                <a:gd name="T0" fmla="*/ 0 w 3792"/>
                <a:gd name="T1" fmla="*/ 2147483647 h 948"/>
                <a:gd name="T2" fmla="*/ 2147483647 w 3792"/>
                <a:gd name="T3" fmla="*/ 0 h 948"/>
                <a:gd name="T4" fmla="*/ 2147483647 w 3792"/>
                <a:gd name="T5" fmla="*/ 2147483647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14" name="Freeform 126"/>
            <p:cNvSpPr>
              <a:spLocks/>
            </p:cNvSpPr>
            <p:nvPr/>
          </p:nvSpPr>
          <p:spPr bwMode="auto">
            <a:xfrm flipV="1">
              <a:off x="3411022" y="5990774"/>
              <a:ext cx="738073" cy="223424"/>
            </a:xfrm>
            <a:custGeom>
              <a:avLst/>
              <a:gdLst>
                <a:gd name="T0" fmla="*/ 0 w 3792"/>
                <a:gd name="T1" fmla="*/ 2147483647 h 948"/>
                <a:gd name="T2" fmla="*/ 2147483647 w 3792"/>
                <a:gd name="T3" fmla="*/ 0 h 948"/>
                <a:gd name="T4" fmla="*/ 2147483647 w 3792"/>
                <a:gd name="T5" fmla="*/ 2147483647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19050">
              <a:solidFill>
                <a:srgbClr val="0066CC"/>
              </a:solidFill>
              <a:round/>
              <a:headEnd/>
              <a:tailEnd/>
            </a:ln>
          </p:spPr>
          <p:txBody>
            <a:bodyPr/>
            <a:lstStyle/>
            <a:p>
              <a:endParaRPr lang="zh-CN" altLang="en-US"/>
            </a:p>
          </p:txBody>
        </p:sp>
        <p:sp>
          <p:nvSpPr>
            <p:cNvPr id="62615" name="Freeform 125"/>
            <p:cNvSpPr>
              <a:spLocks/>
            </p:cNvSpPr>
            <p:nvPr/>
          </p:nvSpPr>
          <p:spPr bwMode="auto">
            <a:xfrm>
              <a:off x="3411022" y="5847553"/>
              <a:ext cx="738073" cy="143220"/>
            </a:xfrm>
            <a:custGeom>
              <a:avLst/>
              <a:gdLst>
                <a:gd name="T0" fmla="*/ 0 w 3792"/>
                <a:gd name="T1" fmla="*/ 2147483647 h 948"/>
                <a:gd name="T2" fmla="*/ 2147483647 w 3792"/>
                <a:gd name="T3" fmla="*/ 0 h 948"/>
                <a:gd name="T4" fmla="*/ 2147483647 w 3792"/>
                <a:gd name="T5" fmla="*/ 2147483647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16" name="Freeform 124"/>
            <p:cNvSpPr>
              <a:spLocks/>
            </p:cNvSpPr>
            <p:nvPr/>
          </p:nvSpPr>
          <p:spPr bwMode="auto">
            <a:xfrm flipV="1">
              <a:off x="3411022" y="5989819"/>
              <a:ext cx="738073" cy="143220"/>
            </a:xfrm>
            <a:custGeom>
              <a:avLst/>
              <a:gdLst>
                <a:gd name="T0" fmla="*/ 0 w 3792"/>
                <a:gd name="T1" fmla="*/ 2147483647 h 948"/>
                <a:gd name="T2" fmla="*/ 2147483647 w 3792"/>
                <a:gd name="T3" fmla="*/ 0 h 948"/>
                <a:gd name="T4" fmla="*/ 2147483647 w 3792"/>
                <a:gd name="T5" fmla="*/ 2147483647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17" name="Freeform 123"/>
            <p:cNvSpPr>
              <a:spLocks/>
            </p:cNvSpPr>
            <p:nvPr/>
          </p:nvSpPr>
          <p:spPr bwMode="auto">
            <a:xfrm>
              <a:off x="3426299" y="5924892"/>
              <a:ext cx="738073" cy="56333"/>
            </a:xfrm>
            <a:custGeom>
              <a:avLst/>
              <a:gdLst>
                <a:gd name="T0" fmla="*/ 0 w 3792"/>
                <a:gd name="T1" fmla="*/ 2147483647 h 948"/>
                <a:gd name="T2" fmla="*/ 2147483647 w 3792"/>
                <a:gd name="T3" fmla="*/ 0 h 948"/>
                <a:gd name="T4" fmla="*/ 2147483647 w 3792"/>
                <a:gd name="T5" fmla="*/ 2147483647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18" name="Freeform 122"/>
            <p:cNvSpPr>
              <a:spLocks/>
            </p:cNvSpPr>
            <p:nvPr/>
          </p:nvSpPr>
          <p:spPr bwMode="auto">
            <a:xfrm flipV="1">
              <a:off x="3426299" y="5993638"/>
              <a:ext cx="738073" cy="56333"/>
            </a:xfrm>
            <a:custGeom>
              <a:avLst/>
              <a:gdLst>
                <a:gd name="T0" fmla="*/ 0 w 3792"/>
                <a:gd name="T1" fmla="*/ 2147483647 h 948"/>
                <a:gd name="T2" fmla="*/ 2147483647 w 3792"/>
                <a:gd name="T3" fmla="*/ 0 h 948"/>
                <a:gd name="T4" fmla="*/ 2147483647 w 3792"/>
                <a:gd name="T5" fmla="*/ 2147483647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grpSp>
          <p:nvGrpSpPr>
            <p:cNvPr id="62619" name="Group 113"/>
            <p:cNvGrpSpPr>
              <a:grpSpLocks/>
            </p:cNvGrpSpPr>
            <p:nvPr/>
          </p:nvGrpSpPr>
          <p:grpSpPr bwMode="auto">
            <a:xfrm>
              <a:off x="1206352" y="5778803"/>
              <a:ext cx="2211354" cy="446847"/>
              <a:chOff x="3108" y="2664"/>
              <a:chExt cx="5472" cy="540"/>
            </a:xfrm>
          </p:grpSpPr>
          <p:grpSp>
            <p:nvGrpSpPr>
              <p:cNvPr id="62694" name="Group 118"/>
              <p:cNvGrpSpPr>
                <a:grpSpLocks/>
              </p:cNvGrpSpPr>
              <p:nvPr/>
            </p:nvGrpSpPr>
            <p:grpSpPr bwMode="auto">
              <a:xfrm>
                <a:off x="3108" y="2664"/>
                <a:ext cx="5472" cy="271"/>
                <a:chOff x="3108" y="2472"/>
                <a:chExt cx="5472" cy="457"/>
              </a:xfrm>
            </p:grpSpPr>
            <p:sp>
              <p:nvSpPr>
                <p:cNvPr id="62699" name="Freeform 121"/>
                <p:cNvSpPr>
                  <a:spLocks/>
                </p:cNvSpPr>
                <p:nvPr/>
              </p:nvSpPr>
              <p:spPr bwMode="auto">
                <a:xfrm>
                  <a:off x="3108" y="2472"/>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19050">
                  <a:solidFill>
                    <a:srgbClr val="0066CC"/>
                  </a:solidFill>
                  <a:round/>
                  <a:headEnd/>
                  <a:tailEnd/>
                </a:ln>
              </p:spPr>
              <p:txBody>
                <a:bodyPr/>
                <a:lstStyle/>
                <a:p>
                  <a:endParaRPr lang="zh-CN" altLang="en-US"/>
                </a:p>
              </p:txBody>
            </p:sp>
            <p:sp>
              <p:nvSpPr>
                <p:cNvPr id="62700" name="Freeform 120"/>
                <p:cNvSpPr>
                  <a:spLocks/>
                </p:cNvSpPr>
                <p:nvPr/>
              </p:nvSpPr>
              <p:spPr bwMode="auto">
                <a:xfrm>
                  <a:off x="4932"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701" name="Freeform 119"/>
                <p:cNvSpPr>
                  <a:spLocks/>
                </p:cNvSpPr>
                <p:nvPr/>
              </p:nvSpPr>
              <p:spPr bwMode="auto">
                <a:xfrm>
                  <a:off x="6756"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19050">
                  <a:solidFill>
                    <a:srgbClr val="0066CC"/>
                  </a:solidFill>
                  <a:round/>
                  <a:headEnd/>
                  <a:tailEnd/>
                </a:ln>
              </p:spPr>
              <p:txBody>
                <a:bodyPr/>
                <a:lstStyle/>
                <a:p>
                  <a:endParaRPr lang="zh-CN" altLang="en-US"/>
                </a:p>
              </p:txBody>
            </p:sp>
          </p:grpSp>
          <p:grpSp>
            <p:nvGrpSpPr>
              <p:cNvPr id="62695" name="Group 114"/>
              <p:cNvGrpSpPr>
                <a:grpSpLocks/>
              </p:cNvGrpSpPr>
              <p:nvPr/>
            </p:nvGrpSpPr>
            <p:grpSpPr bwMode="auto">
              <a:xfrm flipV="1">
                <a:off x="3108" y="2933"/>
                <a:ext cx="5472" cy="271"/>
                <a:chOff x="3108" y="2472"/>
                <a:chExt cx="5472" cy="457"/>
              </a:xfrm>
            </p:grpSpPr>
            <p:sp>
              <p:nvSpPr>
                <p:cNvPr id="62696" name="Freeform 117"/>
                <p:cNvSpPr>
                  <a:spLocks/>
                </p:cNvSpPr>
                <p:nvPr/>
              </p:nvSpPr>
              <p:spPr bwMode="auto">
                <a:xfrm>
                  <a:off x="3108" y="2472"/>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97" name="Freeform 116"/>
                <p:cNvSpPr>
                  <a:spLocks/>
                </p:cNvSpPr>
                <p:nvPr/>
              </p:nvSpPr>
              <p:spPr bwMode="auto">
                <a:xfrm>
                  <a:off x="4932"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19050">
                  <a:solidFill>
                    <a:srgbClr val="0066CC"/>
                  </a:solidFill>
                  <a:round/>
                  <a:headEnd/>
                  <a:tailEnd/>
                </a:ln>
              </p:spPr>
              <p:txBody>
                <a:bodyPr/>
                <a:lstStyle/>
                <a:p>
                  <a:endParaRPr lang="zh-CN" altLang="en-US"/>
                </a:p>
              </p:txBody>
            </p:sp>
            <p:sp>
              <p:nvSpPr>
                <p:cNvPr id="62698" name="Freeform 115"/>
                <p:cNvSpPr>
                  <a:spLocks/>
                </p:cNvSpPr>
                <p:nvPr/>
              </p:nvSpPr>
              <p:spPr bwMode="auto">
                <a:xfrm>
                  <a:off x="6756"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grpSp>
        </p:grpSp>
        <p:grpSp>
          <p:nvGrpSpPr>
            <p:cNvPr id="62620" name="Group 104"/>
            <p:cNvGrpSpPr>
              <a:grpSpLocks/>
            </p:cNvGrpSpPr>
            <p:nvPr/>
          </p:nvGrpSpPr>
          <p:grpSpPr bwMode="auto">
            <a:xfrm>
              <a:off x="1206352" y="5858061"/>
              <a:ext cx="2211354" cy="285487"/>
              <a:chOff x="3108" y="2664"/>
              <a:chExt cx="5472" cy="540"/>
            </a:xfrm>
          </p:grpSpPr>
          <p:grpSp>
            <p:nvGrpSpPr>
              <p:cNvPr id="62686" name="Group 109"/>
              <p:cNvGrpSpPr>
                <a:grpSpLocks/>
              </p:cNvGrpSpPr>
              <p:nvPr/>
            </p:nvGrpSpPr>
            <p:grpSpPr bwMode="auto">
              <a:xfrm>
                <a:off x="3108" y="2664"/>
                <a:ext cx="5472" cy="271"/>
                <a:chOff x="3108" y="2472"/>
                <a:chExt cx="5472" cy="457"/>
              </a:xfrm>
            </p:grpSpPr>
            <p:sp>
              <p:nvSpPr>
                <p:cNvPr id="62691" name="Freeform 112"/>
                <p:cNvSpPr>
                  <a:spLocks/>
                </p:cNvSpPr>
                <p:nvPr/>
              </p:nvSpPr>
              <p:spPr bwMode="auto">
                <a:xfrm>
                  <a:off x="3108" y="2472"/>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92" name="Freeform 111"/>
                <p:cNvSpPr>
                  <a:spLocks/>
                </p:cNvSpPr>
                <p:nvPr/>
              </p:nvSpPr>
              <p:spPr bwMode="auto">
                <a:xfrm>
                  <a:off x="4932"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93" name="Freeform 110"/>
                <p:cNvSpPr>
                  <a:spLocks/>
                </p:cNvSpPr>
                <p:nvPr/>
              </p:nvSpPr>
              <p:spPr bwMode="auto">
                <a:xfrm>
                  <a:off x="6756"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grpSp>
          <p:grpSp>
            <p:nvGrpSpPr>
              <p:cNvPr id="62687" name="Group 105"/>
              <p:cNvGrpSpPr>
                <a:grpSpLocks/>
              </p:cNvGrpSpPr>
              <p:nvPr/>
            </p:nvGrpSpPr>
            <p:grpSpPr bwMode="auto">
              <a:xfrm flipV="1">
                <a:off x="3108" y="2933"/>
                <a:ext cx="5472" cy="271"/>
                <a:chOff x="3108" y="2472"/>
                <a:chExt cx="5472" cy="457"/>
              </a:xfrm>
            </p:grpSpPr>
            <p:sp>
              <p:nvSpPr>
                <p:cNvPr id="62688" name="Freeform 108"/>
                <p:cNvSpPr>
                  <a:spLocks/>
                </p:cNvSpPr>
                <p:nvPr/>
              </p:nvSpPr>
              <p:spPr bwMode="auto">
                <a:xfrm>
                  <a:off x="3108" y="2472"/>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89" name="Freeform 107"/>
                <p:cNvSpPr>
                  <a:spLocks/>
                </p:cNvSpPr>
                <p:nvPr/>
              </p:nvSpPr>
              <p:spPr bwMode="auto">
                <a:xfrm>
                  <a:off x="4932"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90" name="Freeform 106"/>
                <p:cNvSpPr>
                  <a:spLocks/>
                </p:cNvSpPr>
                <p:nvPr/>
              </p:nvSpPr>
              <p:spPr bwMode="auto">
                <a:xfrm>
                  <a:off x="6756"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grpSp>
        </p:grpSp>
        <p:grpSp>
          <p:nvGrpSpPr>
            <p:cNvPr id="62621" name="Group 100"/>
            <p:cNvGrpSpPr>
              <a:grpSpLocks/>
            </p:cNvGrpSpPr>
            <p:nvPr/>
          </p:nvGrpSpPr>
          <p:grpSpPr bwMode="auto">
            <a:xfrm>
              <a:off x="1209216" y="5944943"/>
              <a:ext cx="2211354" cy="56333"/>
              <a:chOff x="3108" y="2472"/>
              <a:chExt cx="5472" cy="457"/>
            </a:xfrm>
          </p:grpSpPr>
          <p:sp>
            <p:nvSpPr>
              <p:cNvPr id="62683" name="Freeform 103"/>
              <p:cNvSpPr>
                <a:spLocks/>
              </p:cNvSpPr>
              <p:nvPr/>
            </p:nvSpPr>
            <p:spPr bwMode="auto">
              <a:xfrm>
                <a:off x="3108" y="2472"/>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84" name="Freeform 102"/>
              <p:cNvSpPr>
                <a:spLocks/>
              </p:cNvSpPr>
              <p:nvPr/>
            </p:nvSpPr>
            <p:spPr bwMode="auto">
              <a:xfrm>
                <a:off x="4932"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85" name="Freeform 101"/>
              <p:cNvSpPr>
                <a:spLocks/>
              </p:cNvSpPr>
              <p:nvPr/>
            </p:nvSpPr>
            <p:spPr bwMode="auto">
              <a:xfrm>
                <a:off x="6756"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grpSp>
        <p:grpSp>
          <p:nvGrpSpPr>
            <p:cNvPr id="62622" name="Group 96"/>
            <p:cNvGrpSpPr>
              <a:grpSpLocks/>
            </p:cNvGrpSpPr>
            <p:nvPr/>
          </p:nvGrpSpPr>
          <p:grpSpPr bwMode="auto">
            <a:xfrm flipV="1">
              <a:off x="1209216" y="6000322"/>
              <a:ext cx="2211354" cy="57288"/>
              <a:chOff x="3108" y="2472"/>
              <a:chExt cx="5472" cy="457"/>
            </a:xfrm>
          </p:grpSpPr>
          <p:sp>
            <p:nvSpPr>
              <p:cNvPr id="62680" name="Freeform 99"/>
              <p:cNvSpPr>
                <a:spLocks/>
              </p:cNvSpPr>
              <p:nvPr/>
            </p:nvSpPr>
            <p:spPr bwMode="auto">
              <a:xfrm>
                <a:off x="3108" y="2472"/>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81" name="Freeform 98"/>
              <p:cNvSpPr>
                <a:spLocks/>
              </p:cNvSpPr>
              <p:nvPr/>
            </p:nvSpPr>
            <p:spPr bwMode="auto">
              <a:xfrm>
                <a:off x="4932"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82" name="Freeform 97"/>
              <p:cNvSpPr>
                <a:spLocks/>
              </p:cNvSpPr>
              <p:nvPr/>
            </p:nvSpPr>
            <p:spPr bwMode="auto">
              <a:xfrm>
                <a:off x="6756"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grpSp>
        <p:sp>
          <p:nvSpPr>
            <p:cNvPr id="62623" name="Rectangle 95"/>
            <p:cNvSpPr>
              <a:spLocks noChangeArrowheads="1"/>
            </p:cNvSpPr>
            <p:nvPr/>
          </p:nvSpPr>
          <p:spPr bwMode="auto">
            <a:xfrm>
              <a:off x="1098457" y="5809361"/>
              <a:ext cx="107894" cy="361870"/>
            </a:xfrm>
            <a:prstGeom prst="rect">
              <a:avLst/>
            </a:prstGeom>
            <a:gradFill rotWithShape="0">
              <a:gsLst>
                <a:gs pos="0">
                  <a:srgbClr val="FFEBE0"/>
                </a:gs>
                <a:gs pos="100000">
                  <a:srgbClr val="FF9966"/>
                </a:gs>
              </a:gsLst>
              <a:lin ang="0" scaled="1"/>
            </a:gradFill>
            <a:ln w="9525">
              <a:solidFill>
                <a:srgbClr val="000000"/>
              </a:solidFill>
              <a:miter lim="800000"/>
              <a:headEnd/>
              <a:tailEnd/>
            </a:ln>
          </p:spPr>
          <p:txBody>
            <a:bodyPr/>
            <a:lstStyle/>
            <a:p>
              <a:endParaRPr kumimoji="0" lang="zh-CN" altLang="zh-CN" sz="1600"/>
            </a:p>
          </p:txBody>
        </p:sp>
        <p:sp>
          <p:nvSpPr>
            <p:cNvPr id="62624" name="Rectangle 94"/>
            <p:cNvSpPr>
              <a:spLocks noChangeArrowheads="1"/>
            </p:cNvSpPr>
            <p:nvPr/>
          </p:nvSpPr>
          <p:spPr bwMode="auto">
            <a:xfrm>
              <a:off x="4151959" y="5825593"/>
              <a:ext cx="107894" cy="360915"/>
            </a:xfrm>
            <a:prstGeom prst="rect">
              <a:avLst/>
            </a:prstGeom>
            <a:gradFill rotWithShape="0">
              <a:gsLst>
                <a:gs pos="0">
                  <a:srgbClr val="FF9966"/>
                </a:gs>
                <a:gs pos="100000">
                  <a:srgbClr val="FFEBE0"/>
                </a:gs>
              </a:gsLst>
              <a:lin ang="0" scaled="1"/>
            </a:gradFill>
            <a:ln w="9525">
              <a:solidFill>
                <a:srgbClr val="000000"/>
              </a:solidFill>
              <a:miter lim="800000"/>
              <a:headEnd/>
              <a:tailEnd/>
            </a:ln>
          </p:spPr>
          <p:txBody>
            <a:bodyPr/>
            <a:lstStyle/>
            <a:p>
              <a:endParaRPr kumimoji="0" lang="zh-CN" altLang="zh-CN" sz="1600"/>
            </a:p>
          </p:txBody>
        </p:sp>
        <p:cxnSp>
          <p:nvCxnSpPr>
            <p:cNvPr id="62625" name="AutoShape 93"/>
            <p:cNvCxnSpPr>
              <a:cxnSpLocks noChangeShapeType="1"/>
            </p:cNvCxnSpPr>
            <p:nvPr/>
          </p:nvCxnSpPr>
          <p:spPr bwMode="auto">
            <a:xfrm flipV="1">
              <a:off x="1233086" y="5122312"/>
              <a:ext cx="2931286" cy="9548"/>
            </a:xfrm>
            <a:prstGeom prst="straightConnector1">
              <a:avLst/>
            </a:prstGeom>
            <a:noFill/>
            <a:ln w="3175">
              <a:solidFill>
                <a:srgbClr val="0066CC"/>
              </a:solidFill>
              <a:prstDash val="sysDash"/>
              <a:round/>
              <a:headEnd/>
              <a:tailEnd/>
            </a:ln>
          </p:spPr>
        </p:cxnSp>
        <p:grpSp>
          <p:nvGrpSpPr>
            <p:cNvPr id="62626" name="Group 65"/>
            <p:cNvGrpSpPr>
              <a:grpSpLocks/>
            </p:cNvGrpSpPr>
            <p:nvPr/>
          </p:nvGrpSpPr>
          <p:grpSpPr bwMode="auto">
            <a:xfrm>
              <a:off x="1196803" y="4914159"/>
              <a:ext cx="2967569" cy="435389"/>
              <a:chOff x="1525" y="3100"/>
              <a:chExt cx="3942" cy="480"/>
            </a:xfrm>
          </p:grpSpPr>
          <p:grpSp>
            <p:nvGrpSpPr>
              <p:cNvPr id="62653" name="Group 84"/>
              <p:cNvGrpSpPr>
                <a:grpSpLocks/>
              </p:cNvGrpSpPr>
              <p:nvPr/>
            </p:nvGrpSpPr>
            <p:grpSpPr bwMode="auto">
              <a:xfrm>
                <a:off x="1525" y="3100"/>
                <a:ext cx="3936" cy="480"/>
                <a:chOff x="3108" y="2664"/>
                <a:chExt cx="5472" cy="540"/>
              </a:xfrm>
            </p:grpSpPr>
            <p:grpSp>
              <p:nvGrpSpPr>
                <p:cNvPr id="62672" name="Group 89"/>
                <p:cNvGrpSpPr>
                  <a:grpSpLocks/>
                </p:cNvGrpSpPr>
                <p:nvPr/>
              </p:nvGrpSpPr>
              <p:grpSpPr bwMode="auto">
                <a:xfrm>
                  <a:off x="3108" y="2664"/>
                  <a:ext cx="5472" cy="271"/>
                  <a:chOff x="3108" y="2472"/>
                  <a:chExt cx="5472" cy="457"/>
                </a:xfrm>
              </p:grpSpPr>
              <p:sp>
                <p:nvSpPr>
                  <p:cNvPr id="62677" name="Freeform 92"/>
                  <p:cNvSpPr>
                    <a:spLocks/>
                  </p:cNvSpPr>
                  <p:nvPr/>
                </p:nvSpPr>
                <p:spPr bwMode="auto">
                  <a:xfrm>
                    <a:off x="3108" y="2472"/>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19050">
                    <a:solidFill>
                      <a:srgbClr val="0066CC"/>
                    </a:solidFill>
                    <a:round/>
                    <a:headEnd/>
                    <a:tailEnd/>
                  </a:ln>
                </p:spPr>
                <p:txBody>
                  <a:bodyPr/>
                  <a:lstStyle/>
                  <a:p>
                    <a:endParaRPr lang="zh-CN" altLang="en-US"/>
                  </a:p>
                </p:txBody>
              </p:sp>
              <p:sp>
                <p:nvSpPr>
                  <p:cNvPr id="62678" name="Freeform 91"/>
                  <p:cNvSpPr>
                    <a:spLocks/>
                  </p:cNvSpPr>
                  <p:nvPr/>
                </p:nvSpPr>
                <p:spPr bwMode="auto">
                  <a:xfrm>
                    <a:off x="4932"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79" name="Freeform 90"/>
                  <p:cNvSpPr>
                    <a:spLocks/>
                  </p:cNvSpPr>
                  <p:nvPr/>
                </p:nvSpPr>
                <p:spPr bwMode="auto">
                  <a:xfrm>
                    <a:off x="6756"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19050">
                    <a:solidFill>
                      <a:srgbClr val="0066CC"/>
                    </a:solidFill>
                    <a:round/>
                    <a:headEnd/>
                    <a:tailEnd/>
                  </a:ln>
                </p:spPr>
                <p:txBody>
                  <a:bodyPr/>
                  <a:lstStyle/>
                  <a:p>
                    <a:endParaRPr lang="zh-CN" altLang="en-US"/>
                  </a:p>
                </p:txBody>
              </p:sp>
            </p:grpSp>
            <p:grpSp>
              <p:nvGrpSpPr>
                <p:cNvPr id="62673" name="Group 85"/>
                <p:cNvGrpSpPr>
                  <a:grpSpLocks/>
                </p:cNvGrpSpPr>
                <p:nvPr/>
              </p:nvGrpSpPr>
              <p:grpSpPr bwMode="auto">
                <a:xfrm flipV="1">
                  <a:off x="3108" y="2933"/>
                  <a:ext cx="5472" cy="271"/>
                  <a:chOff x="3108" y="2472"/>
                  <a:chExt cx="5472" cy="457"/>
                </a:xfrm>
              </p:grpSpPr>
              <p:sp>
                <p:nvSpPr>
                  <p:cNvPr id="62674" name="Freeform 88"/>
                  <p:cNvSpPr>
                    <a:spLocks/>
                  </p:cNvSpPr>
                  <p:nvPr/>
                </p:nvSpPr>
                <p:spPr bwMode="auto">
                  <a:xfrm>
                    <a:off x="3108" y="2472"/>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75" name="Freeform 87"/>
                  <p:cNvSpPr>
                    <a:spLocks/>
                  </p:cNvSpPr>
                  <p:nvPr/>
                </p:nvSpPr>
                <p:spPr bwMode="auto">
                  <a:xfrm>
                    <a:off x="4932"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19050">
                    <a:solidFill>
                      <a:srgbClr val="0066CC"/>
                    </a:solidFill>
                    <a:round/>
                    <a:headEnd/>
                    <a:tailEnd/>
                  </a:ln>
                </p:spPr>
                <p:txBody>
                  <a:bodyPr/>
                  <a:lstStyle/>
                  <a:p>
                    <a:endParaRPr lang="zh-CN" altLang="en-US"/>
                  </a:p>
                </p:txBody>
              </p:sp>
              <p:sp>
                <p:nvSpPr>
                  <p:cNvPr id="62676" name="Freeform 86"/>
                  <p:cNvSpPr>
                    <a:spLocks/>
                  </p:cNvSpPr>
                  <p:nvPr/>
                </p:nvSpPr>
                <p:spPr bwMode="auto">
                  <a:xfrm>
                    <a:off x="6756"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grpSp>
          </p:grpSp>
          <p:grpSp>
            <p:nvGrpSpPr>
              <p:cNvPr id="62654" name="Group 75"/>
              <p:cNvGrpSpPr>
                <a:grpSpLocks/>
              </p:cNvGrpSpPr>
              <p:nvPr/>
            </p:nvGrpSpPr>
            <p:grpSpPr bwMode="auto">
              <a:xfrm>
                <a:off x="1525" y="3185"/>
                <a:ext cx="3936" cy="307"/>
                <a:chOff x="3108" y="2664"/>
                <a:chExt cx="5472" cy="540"/>
              </a:xfrm>
            </p:grpSpPr>
            <p:grpSp>
              <p:nvGrpSpPr>
                <p:cNvPr id="62664" name="Group 80"/>
                <p:cNvGrpSpPr>
                  <a:grpSpLocks/>
                </p:cNvGrpSpPr>
                <p:nvPr/>
              </p:nvGrpSpPr>
              <p:grpSpPr bwMode="auto">
                <a:xfrm>
                  <a:off x="3108" y="2664"/>
                  <a:ext cx="5472" cy="271"/>
                  <a:chOff x="3108" y="2472"/>
                  <a:chExt cx="5472" cy="457"/>
                </a:xfrm>
              </p:grpSpPr>
              <p:sp>
                <p:nvSpPr>
                  <p:cNvPr id="62669" name="Freeform 83"/>
                  <p:cNvSpPr>
                    <a:spLocks/>
                  </p:cNvSpPr>
                  <p:nvPr/>
                </p:nvSpPr>
                <p:spPr bwMode="auto">
                  <a:xfrm>
                    <a:off x="3108" y="2472"/>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70" name="Freeform 82"/>
                  <p:cNvSpPr>
                    <a:spLocks/>
                  </p:cNvSpPr>
                  <p:nvPr/>
                </p:nvSpPr>
                <p:spPr bwMode="auto">
                  <a:xfrm>
                    <a:off x="4932"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71" name="Freeform 81"/>
                  <p:cNvSpPr>
                    <a:spLocks/>
                  </p:cNvSpPr>
                  <p:nvPr/>
                </p:nvSpPr>
                <p:spPr bwMode="auto">
                  <a:xfrm>
                    <a:off x="6756"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grpSp>
            <p:grpSp>
              <p:nvGrpSpPr>
                <p:cNvPr id="62665" name="Group 76"/>
                <p:cNvGrpSpPr>
                  <a:grpSpLocks/>
                </p:cNvGrpSpPr>
                <p:nvPr/>
              </p:nvGrpSpPr>
              <p:grpSpPr bwMode="auto">
                <a:xfrm flipV="1">
                  <a:off x="3108" y="2933"/>
                  <a:ext cx="5472" cy="271"/>
                  <a:chOff x="3108" y="2472"/>
                  <a:chExt cx="5472" cy="457"/>
                </a:xfrm>
              </p:grpSpPr>
              <p:sp>
                <p:nvSpPr>
                  <p:cNvPr id="62666" name="Freeform 79"/>
                  <p:cNvSpPr>
                    <a:spLocks/>
                  </p:cNvSpPr>
                  <p:nvPr/>
                </p:nvSpPr>
                <p:spPr bwMode="auto">
                  <a:xfrm>
                    <a:off x="3108" y="2472"/>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67" name="Freeform 78"/>
                  <p:cNvSpPr>
                    <a:spLocks/>
                  </p:cNvSpPr>
                  <p:nvPr/>
                </p:nvSpPr>
                <p:spPr bwMode="auto">
                  <a:xfrm>
                    <a:off x="4932"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68" name="Freeform 77"/>
                  <p:cNvSpPr>
                    <a:spLocks/>
                  </p:cNvSpPr>
                  <p:nvPr/>
                </p:nvSpPr>
                <p:spPr bwMode="auto">
                  <a:xfrm>
                    <a:off x="6756"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grpSp>
          </p:grpSp>
          <p:grpSp>
            <p:nvGrpSpPr>
              <p:cNvPr id="62655" name="Group 66"/>
              <p:cNvGrpSpPr>
                <a:grpSpLocks/>
              </p:cNvGrpSpPr>
              <p:nvPr/>
            </p:nvGrpSpPr>
            <p:grpSpPr bwMode="auto">
              <a:xfrm>
                <a:off x="1531" y="3274"/>
                <a:ext cx="3936" cy="122"/>
                <a:chOff x="3108" y="2664"/>
                <a:chExt cx="5472" cy="540"/>
              </a:xfrm>
            </p:grpSpPr>
            <p:grpSp>
              <p:nvGrpSpPr>
                <p:cNvPr id="62656" name="Group 71"/>
                <p:cNvGrpSpPr>
                  <a:grpSpLocks/>
                </p:cNvGrpSpPr>
                <p:nvPr/>
              </p:nvGrpSpPr>
              <p:grpSpPr bwMode="auto">
                <a:xfrm>
                  <a:off x="3108" y="2664"/>
                  <a:ext cx="5472" cy="271"/>
                  <a:chOff x="3108" y="2472"/>
                  <a:chExt cx="5472" cy="457"/>
                </a:xfrm>
              </p:grpSpPr>
              <p:sp>
                <p:nvSpPr>
                  <p:cNvPr id="62661" name="Freeform 74"/>
                  <p:cNvSpPr>
                    <a:spLocks/>
                  </p:cNvSpPr>
                  <p:nvPr/>
                </p:nvSpPr>
                <p:spPr bwMode="auto">
                  <a:xfrm>
                    <a:off x="3108" y="2472"/>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62" name="Freeform 73"/>
                  <p:cNvSpPr>
                    <a:spLocks/>
                  </p:cNvSpPr>
                  <p:nvPr/>
                </p:nvSpPr>
                <p:spPr bwMode="auto">
                  <a:xfrm>
                    <a:off x="4932"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63" name="Freeform 72"/>
                  <p:cNvSpPr>
                    <a:spLocks/>
                  </p:cNvSpPr>
                  <p:nvPr/>
                </p:nvSpPr>
                <p:spPr bwMode="auto">
                  <a:xfrm>
                    <a:off x="6756"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grpSp>
            <p:grpSp>
              <p:nvGrpSpPr>
                <p:cNvPr id="62657" name="Group 67"/>
                <p:cNvGrpSpPr>
                  <a:grpSpLocks/>
                </p:cNvGrpSpPr>
                <p:nvPr/>
              </p:nvGrpSpPr>
              <p:grpSpPr bwMode="auto">
                <a:xfrm flipV="1">
                  <a:off x="3108" y="2933"/>
                  <a:ext cx="5472" cy="271"/>
                  <a:chOff x="3108" y="2472"/>
                  <a:chExt cx="5472" cy="457"/>
                </a:xfrm>
              </p:grpSpPr>
              <p:sp>
                <p:nvSpPr>
                  <p:cNvPr id="62658" name="Freeform 70"/>
                  <p:cNvSpPr>
                    <a:spLocks/>
                  </p:cNvSpPr>
                  <p:nvPr/>
                </p:nvSpPr>
                <p:spPr bwMode="auto">
                  <a:xfrm>
                    <a:off x="3108" y="2472"/>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59" name="Freeform 69"/>
                  <p:cNvSpPr>
                    <a:spLocks/>
                  </p:cNvSpPr>
                  <p:nvPr/>
                </p:nvSpPr>
                <p:spPr bwMode="auto">
                  <a:xfrm>
                    <a:off x="4932"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60" name="Freeform 68"/>
                  <p:cNvSpPr>
                    <a:spLocks/>
                  </p:cNvSpPr>
                  <p:nvPr/>
                </p:nvSpPr>
                <p:spPr bwMode="auto">
                  <a:xfrm>
                    <a:off x="6756" y="2473"/>
                    <a:ext cx="1824" cy="456"/>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grpSp>
          </p:grpSp>
        </p:grpSp>
        <p:sp>
          <p:nvSpPr>
            <p:cNvPr id="62627" name="Rectangle 64"/>
            <p:cNvSpPr>
              <a:spLocks noChangeArrowheads="1"/>
            </p:cNvSpPr>
            <p:nvPr/>
          </p:nvSpPr>
          <p:spPr bwMode="auto">
            <a:xfrm>
              <a:off x="1088909" y="4933261"/>
              <a:ext cx="107894" cy="360915"/>
            </a:xfrm>
            <a:prstGeom prst="rect">
              <a:avLst/>
            </a:prstGeom>
            <a:gradFill rotWithShape="0">
              <a:gsLst>
                <a:gs pos="0">
                  <a:srgbClr val="FFEBE0"/>
                </a:gs>
                <a:gs pos="100000">
                  <a:srgbClr val="FF9966"/>
                </a:gs>
              </a:gsLst>
              <a:lin ang="0" scaled="1"/>
            </a:gradFill>
            <a:ln w="9525">
              <a:solidFill>
                <a:srgbClr val="000000"/>
              </a:solidFill>
              <a:miter lim="800000"/>
              <a:headEnd/>
              <a:tailEnd/>
            </a:ln>
          </p:spPr>
          <p:txBody>
            <a:bodyPr/>
            <a:lstStyle/>
            <a:p>
              <a:endParaRPr kumimoji="0" lang="zh-CN" altLang="zh-CN" sz="1600"/>
            </a:p>
          </p:txBody>
        </p:sp>
        <p:sp>
          <p:nvSpPr>
            <p:cNvPr id="62628" name="Rectangle 63"/>
            <p:cNvSpPr>
              <a:spLocks noChangeArrowheads="1"/>
            </p:cNvSpPr>
            <p:nvPr/>
          </p:nvSpPr>
          <p:spPr bwMode="auto">
            <a:xfrm>
              <a:off x="4164372" y="4951403"/>
              <a:ext cx="106939" cy="360915"/>
            </a:xfrm>
            <a:prstGeom prst="rect">
              <a:avLst/>
            </a:prstGeom>
            <a:gradFill rotWithShape="0">
              <a:gsLst>
                <a:gs pos="0">
                  <a:srgbClr val="FF9966"/>
                </a:gs>
                <a:gs pos="100000">
                  <a:srgbClr val="FFEBE0"/>
                </a:gs>
              </a:gsLst>
              <a:lin ang="0" scaled="1"/>
            </a:gradFill>
            <a:ln w="9525">
              <a:solidFill>
                <a:srgbClr val="000000"/>
              </a:solidFill>
              <a:miter lim="800000"/>
              <a:headEnd/>
              <a:tailEnd/>
            </a:ln>
          </p:spPr>
          <p:txBody>
            <a:bodyPr/>
            <a:lstStyle/>
            <a:p>
              <a:endParaRPr kumimoji="0" lang="zh-CN" altLang="zh-CN" sz="1600"/>
            </a:p>
          </p:txBody>
        </p:sp>
        <p:cxnSp>
          <p:nvCxnSpPr>
            <p:cNvPr id="62629" name="AutoShape 62"/>
            <p:cNvCxnSpPr>
              <a:cxnSpLocks noChangeShapeType="1"/>
            </p:cNvCxnSpPr>
            <p:nvPr/>
          </p:nvCxnSpPr>
          <p:spPr bwMode="auto">
            <a:xfrm>
              <a:off x="1202532" y="4268736"/>
              <a:ext cx="2949427" cy="15277"/>
            </a:xfrm>
            <a:prstGeom prst="straightConnector1">
              <a:avLst/>
            </a:prstGeom>
            <a:noFill/>
            <a:ln w="3175">
              <a:solidFill>
                <a:srgbClr val="0066CC"/>
              </a:solidFill>
              <a:prstDash val="sysDash"/>
              <a:round/>
              <a:headEnd/>
              <a:tailEnd/>
            </a:ln>
          </p:spPr>
        </p:cxnSp>
        <p:grpSp>
          <p:nvGrpSpPr>
            <p:cNvPr id="62630" name="Group 49"/>
            <p:cNvGrpSpPr>
              <a:grpSpLocks/>
            </p:cNvGrpSpPr>
            <p:nvPr/>
          </p:nvGrpSpPr>
          <p:grpSpPr bwMode="auto">
            <a:xfrm>
              <a:off x="1195849" y="4106425"/>
              <a:ext cx="2968524" cy="360916"/>
              <a:chOff x="1856" y="2492"/>
              <a:chExt cx="2921" cy="480"/>
            </a:xfrm>
          </p:grpSpPr>
          <p:sp>
            <p:nvSpPr>
              <p:cNvPr id="62641" name="Freeform 61"/>
              <p:cNvSpPr>
                <a:spLocks/>
              </p:cNvSpPr>
              <p:nvPr/>
            </p:nvSpPr>
            <p:spPr bwMode="auto">
              <a:xfrm>
                <a:off x="1856" y="2492"/>
                <a:ext cx="1458" cy="240"/>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19050">
                <a:solidFill>
                  <a:srgbClr val="0066CC"/>
                </a:solidFill>
                <a:round/>
                <a:headEnd/>
                <a:tailEnd/>
              </a:ln>
            </p:spPr>
            <p:txBody>
              <a:bodyPr/>
              <a:lstStyle/>
              <a:p>
                <a:endParaRPr lang="zh-CN" altLang="en-US"/>
              </a:p>
            </p:txBody>
          </p:sp>
          <p:sp>
            <p:nvSpPr>
              <p:cNvPr id="62642" name="Freeform 60"/>
              <p:cNvSpPr>
                <a:spLocks/>
              </p:cNvSpPr>
              <p:nvPr/>
            </p:nvSpPr>
            <p:spPr bwMode="auto">
              <a:xfrm>
                <a:off x="3314" y="2493"/>
                <a:ext cx="1457" cy="240"/>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43" name="Freeform 59"/>
              <p:cNvSpPr>
                <a:spLocks/>
              </p:cNvSpPr>
              <p:nvPr/>
            </p:nvSpPr>
            <p:spPr bwMode="auto">
              <a:xfrm flipV="1">
                <a:off x="1856" y="2732"/>
                <a:ext cx="1458" cy="240"/>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44" name="Freeform 58"/>
              <p:cNvSpPr>
                <a:spLocks/>
              </p:cNvSpPr>
              <p:nvPr/>
            </p:nvSpPr>
            <p:spPr bwMode="auto">
              <a:xfrm flipV="1">
                <a:off x="3314" y="2731"/>
                <a:ext cx="1457" cy="240"/>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19050">
                <a:solidFill>
                  <a:srgbClr val="0066CC"/>
                </a:solidFill>
                <a:round/>
                <a:headEnd/>
                <a:tailEnd/>
              </a:ln>
            </p:spPr>
            <p:txBody>
              <a:bodyPr/>
              <a:lstStyle/>
              <a:p>
                <a:endParaRPr lang="zh-CN" altLang="en-US"/>
              </a:p>
            </p:txBody>
          </p:sp>
          <p:sp>
            <p:nvSpPr>
              <p:cNvPr id="62645" name="Freeform 57"/>
              <p:cNvSpPr>
                <a:spLocks/>
              </p:cNvSpPr>
              <p:nvPr/>
            </p:nvSpPr>
            <p:spPr bwMode="auto">
              <a:xfrm>
                <a:off x="1856" y="2577"/>
                <a:ext cx="1458" cy="154"/>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46" name="Freeform 56"/>
              <p:cNvSpPr>
                <a:spLocks/>
              </p:cNvSpPr>
              <p:nvPr/>
            </p:nvSpPr>
            <p:spPr bwMode="auto">
              <a:xfrm>
                <a:off x="3314" y="2577"/>
                <a:ext cx="1457" cy="154"/>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47" name="Freeform 55"/>
              <p:cNvSpPr>
                <a:spLocks/>
              </p:cNvSpPr>
              <p:nvPr/>
            </p:nvSpPr>
            <p:spPr bwMode="auto">
              <a:xfrm flipV="1">
                <a:off x="1856" y="2730"/>
                <a:ext cx="1458" cy="154"/>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48" name="Freeform 54"/>
              <p:cNvSpPr>
                <a:spLocks/>
              </p:cNvSpPr>
              <p:nvPr/>
            </p:nvSpPr>
            <p:spPr bwMode="auto">
              <a:xfrm flipV="1">
                <a:off x="3314" y="2730"/>
                <a:ext cx="1457" cy="154"/>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49" name="Freeform 53"/>
              <p:cNvSpPr>
                <a:spLocks/>
              </p:cNvSpPr>
              <p:nvPr/>
            </p:nvSpPr>
            <p:spPr bwMode="auto">
              <a:xfrm>
                <a:off x="1862" y="2661"/>
                <a:ext cx="1458" cy="61"/>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50" name="Freeform 52"/>
              <p:cNvSpPr>
                <a:spLocks/>
              </p:cNvSpPr>
              <p:nvPr/>
            </p:nvSpPr>
            <p:spPr bwMode="auto">
              <a:xfrm>
                <a:off x="3320" y="2661"/>
                <a:ext cx="1457" cy="61"/>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51" name="Freeform 51"/>
              <p:cNvSpPr>
                <a:spLocks/>
              </p:cNvSpPr>
              <p:nvPr/>
            </p:nvSpPr>
            <p:spPr bwMode="auto">
              <a:xfrm flipV="1">
                <a:off x="1862" y="2721"/>
                <a:ext cx="1458" cy="61"/>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sp>
            <p:nvSpPr>
              <p:cNvPr id="62652" name="Freeform 50"/>
              <p:cNvSpPr>
                <a:spLocks/>
              </p:cNvSpPr>
              <p:nvPr/>
            </p:nvSpPr>
            <p:spPr bwMode="auto">
              <a:xfrm flipV="1">
                <a:off x="3320" y="2721"/>
                <a:ext cx="1457" cy="61"/>
              </a:xfrm>
              <a:custGeom>
                <a:avLst/>
                <a:gdLst>
                  <a:gd name="T0" fmla="*/ 0 w 3792"/>
                  <a:gd name="T1" fmla="*/ 0 h 948"/>
                  <a:gd name="T2" fmla="*/ 0 w 3792"/>
                  <a:gd name="T3" fmla="*/ 0 h 948"/>
                  <a:gd name="T4" fmla="*/ 0 w 3792"/>
                  <a:gd name="T5" fmla="*/ 0 h 948"/>
                  <a:gd name="T6" fmla="*/ 0 60000 65536"/>
                  <a:gd name="T7" fmla="*/ 0 60000 65536"/>
                  <a:gd name="T8" fmla="*/ 0 60000 65536"/>
                  <a:gd name="T9" fmla="*/ 0 w 3792"/>
                  <a:gd name="T10" fmla="*/ 0 h 948"/>
                  <a:gd name="T11" fmla="*/ 3792 w 3792"/>
                  <a:gd name="T12" fmla="*/ 948 h 948"/>
                </a:gdLst>
                <a:ahLst/>
                <a:cxnLst>
                  <a:cxn ang="T6">
                    <a:pos x="T0" y="T1"/>
                  </a:cxn>
                  <a:cxn ang="T7">
                    <a:pos x="T2" y="T3"/>
                  </a:cxn>
                  <a:cxn ang="T8">
                    <a:pos x="T4" y="T5"/>
                  </a:cxn>
                </a:cxnLst>
                <a:rect l="T9" t="T10" r="T11" b="T12"/>
                <a:pathLst>
                  <a:path w="3792" h="948">
                    <a:moveTo>
                      <a:pt x="0" y="948"/>
                    </a:moveTo>
                    <a:cubicBezTo>
                      <a:pt x="508" y="492"/>
                      <a:pt x="1100" y="0"/>
                      <a:pt x="1896" y="0"/>
                    </a:cubicBezTo>
                    <a:cubicBezTo>
                      <a:pt x="2692" y="0"/>
                      <a:pt x="3328" y="564"/>
                      <a:pt x="3792" y="948"/>
                    </a:cubicBezTo>
                  </a:path>
                </a:pathLst>
              </a:custGeom>
              <a:noFill/>
              <a:ln w="3175">
                <a:solidFill>
                  <a:srgbClr val="0066CC"/>
                </a:solidFill>
                <a:prstDash val="sysDash"/>
                <a:round/>
                <a:headEnd/>
                <a:tailEnd/>
              </a:ln>
            </p:spPr>
            <p:txBody>
              <a:bodyPr/>
              <a:lstStyle/>
              <a:p>
                <a:endParaRPr lang="zh-CN" altLang="en-US"/>
              </a:p>
            </p:txBody>
          </p:sp>
        </p:grpSp>
        <p:sp>
          <p:nvSpPr>
            <p:cNvPr id="62631" name="Rectangle 48"/>
            <p:cNvSpPr>
              <a:spLocks noChangeArrowheads="1"/>
            </p:cNvSpPr>
            <p:nvPr/>
          </p:nvSpPr>
          <p:spPr bwMode="auto">
            <a:xfrm>
              <a:off x="1088909" y="4106420"/>
              <a:ext cx="106939" cy="360915"/>
            </a:xfrm>
            <a:prstGeom prst="rect">
              <a:avLst/>
            </a:prstGeom>
            <a:gradFill rotWithShape="0">
              <a:gsLst>
                <a:gs pos="0">
                  <a:srgbClr val="FFEBE0"/>
                </a:gs>
                <a:gs pos="100000">
                  <a:srgbClr val="FF9966"/>
                </a:gs>
              </a:gsLst>
              <a:lin ang="0" scaled="1"/>
            </a:gradFill>
            <a:ln w="9525">
              <a:solidFill>
                <a:srgbClr val="000000"/>
              </a:solidFill>
              <a:miter lim="800000"/>
              <a:headEnd/>
              <a:tailEnd/>
            </a:ln>
          </p:spPr>
          <p:txBody>
            <a:bodyPr/>
            <a:lstStyle/>
            <a:p>
              <a:endParaRPr kumimoji="0" lang="zh-CN" altLang="zh-CN" sz="1600"/>
            </a:p>
          </p:txBody>
        </p:sp>
        <p:sp>
          <p:nvSpPr>
            <p:cNvPr id="62632" name="Rectangle 47"/>
            <p:cNvSpPr>
              <a:spLocks noChangeArrowheads="1"/>
            </p:cNvSpPr>
            <p:nvPr/>
          </p:nvSpPr>
          <p:spPr bwMode="auto">
            <a:xfrm>
              <a:off x="4151959" y="4112149"/>
              <a:ext cx="107894" cy="361870"/>
            </a:xfrm>
            <a:prstGeom prst="rect">
              <a:avLst/>
            </a:prstGeom>
            <a:gradFill rotWithShape="0">
              <a:gsLst>
                <a:gs pos="0">
                  <a:srgbClr val="FF9966"/>
                </a:gs>
                <a:gs pos="100000">
                  <a:srgbClr val="FFEBE0"/>
                </a:gs>
              </a:gsLst>
              <a:lin ang="0" scaled="1"/>
            </a:gradFill>
            <a:ln w="9525">
              <a:solidFill>
                <a:srgbClr val="000000"/>
              </a:solidFill>
              <a:miter lim="800000"/>
              <a:headEnd/>
              <a:tailEnd/>
            </a:ln>
          </p:spPr>
          <p:txBody>
            <a:bodyPr/>
            <a:lstStyle/>
            <a:p>
              <a:endParaRPr kumimoji="0" lang="zh-CN" altLang="zh-CN" sz="1600"/>
            </a:p>
          </p:txBody>
        </p:sp>
        <p:sp>
          <p:nvSpPr>
            <p:cNvPr id="62633" name="Text Box 46"/>
            <p:cNvSpPr txBox="1">
              <a:spLocks noChangeArrowheads="1"/>
            </p:cNvSpPr>
            <p:nvPr/>
          </p:nvSpPr>
          <p:spPr bwMode="auto">
            <a:xfrm>
              <a:off x="489814" y="3347105"/>
              <a:ext cx="672939" cy="363779"/>
            </a:xfrm>
            <a:prstGeom prst="rect">
              <a:avLst/>
            </a:prstGeom>
            <a:noFill/>
            <a:ln w="9525">
              <a:noFill/>
              <a:miter lim="800000"/>
              <a:headEnd/>
              <a:tailEnd/>
            </a:ln>
          </p:spPr>
          <p:txBody>
            <a:bodyPr lIns="73133" tIns="36567" rIns="73133" bIns="36567"/>
            <a:lstStyle/>
            <a:p>
              <a:pPr eaLnBrk="0" hangingPunct="0"/>
              <a:r>
                <a:rPr kumimoji="0" lang="en-US" altLang="zh-CN" sz="1500" b="1"/>
                <a:t>N=1</a:t>
              </a:r>
            </a:p>
          </p:txBody>
        </p:sp>
        <p:sp>
          <p:nvSpPr>
            <p:cNvPr id="62634" name="Text Box 45"/>
            <p:cNvSpPr txBox="1">
              <a:spLocks noChangeArrowheads="1"/>
            </p:cNvSpPr>
            <p:nvPr/>
          </p:nvSpPr>
          <p:spPr bwMode="auto">
            <a:xfrm>
              <a:off x="489813" y="4103555"/>
              <a:ext cx="686939" cy="363779"/>
            </a:xfrm>
            <a:prstGeom prst="rect">
              <a:avLst/>
            </a:prstGeom>
            <a:noFill/>
            <a:ln w="9525">
              <a:noFill/>
              <a:miter lim="800000"/>
              <a:headEnd/>
              <a:tailEnd/>
            </a:ln>
          </p:spPr>
          <p:txBody>
            <a:bodyPr lIns="73133" tIns="36567" rIns="73133" bIns="36567"/>
            <a:lstStyle/>
            <a:p>
              <a:pPr eaLnBrk="0" hangingPunct="0"/>
              <a:r>
                <a:rPr kumimoji="0" lang="en-US" altLang="zh-CN" sz="1600" b="1"/>
                <a:t>N=2</a:t>
              </a:r>
            </a:p>
          </p:txBody>
        </p:sp>
        <p:sp>
          <p:nvSpPr>
            <p:cNvPr id="62635" name="Text Box 44"/>
            <p:cNvSpPr txBox="1">
              <a:spLocks noChangeArrowheads="1"/>
            </p:cNvSpPr>
            <p:nvPr/>
          </p:nvSpPr>
          <p:spPr bwMode="auto">
            <a:xfrm>
              <a:off x="489814" y="4914165"/>
              <a:ext cx="686937" cy="363779"/>
            </a:xfrm>
            <a:prstGeom prst="rect">
              <a:avLst/>
            </a:prstGeom>
            <a:noFill/>
            <a:ln w="9525">
              <a:noFill/>
              <a:miter lim="800000"/>
              <a:headEnd/>
              <a:tailEnd/>
            </a:ln>
          </p:spPr>
          <p:txBody>
            <a:bodyPr lIns="73133" tIns="36567" rIns="73133" bIns="36567"/>
            <a:lstStyle/>
            <a:p>
              <a:pPr eaLnBrk="0" hangingPunct="0"/>
              <a:r>
                <a:rPr kumimoji="0" lang="en-US" altLang="zh-CN" sz="1600" b="1"/>
                <a:t>N=3</a:t>
              </a:r>
            </a:p>
          </p:txBody>
        </p:sp>
        <p:sp>
          <p:nvSpPr>
            <p:cNvPr id="62636" name="Text Box 43"/>
            <p:cNvSpPr txBox="1">
              <a:spLocks noChangeArrowheads="1"/>
            </p:cNvSpPr>
            <p:nvPr/>
          </p:nvSpPr>
          <p:spPr bwMode="auto">
            <a:xfrm>
              <a:off x="489871" y="5798465"/>
              <a:ext cx="770405" cy="363779"/>
            </a:xfrm>
            <a:prstGeom prst="rect">
              <a:avLst/>
            </a:prstGeom>
            <a:noFill/>
            <a:ln w="9525">
              <a:noFill/>
              <a:miter lim="800000"/>
              <a:headEnd/>
              <a:tailEnd/>
            </a:ln>
          </p:spPr>
          <p:txBody>
            <a:bodyPr lIns="73133" tIns="36567" rIns="73133" bIns="36567"/>
            <a:lstStyle/>
            <a:p>
              <a:pPr eaLnBrk="0" hangingPunct="0"/>
              <a:r>
                <a:rPr kumimoji="0" lang="en-US" altLang="zh-CN" sz="1600" b="1"/>
                <a:t>N=4</a:t>
              </a:r>
            </a:p>
          </p:txBody>
        </p:sp>
        <p:sp>
          <p:nvSpPr>
            <p:cNvPr id="62637" name="Text Box 10"/>
            <p:cNvSpPr txBox="1">
              <a:spLocks noChangeArrowheads="1"/>
            </p:cNvSpPr>
            <p:nvPr/>
          </p:nvSpPr>
          <p:spPr bwMode="auto">
            <a:xfrm>
              <a:off x="2237972" y="3648625"/>
              <a:ext cx="639739" cy="406065"/>
            </a:xfrm>
            <a:prstGeom prst="rect">
              <a:avLst/>
            </a:prstGeom>
            <a:noFill/>
            <a:ln w="9525">
              <a:noFill/>
              <a:miter lim="800000"/>
              <a:headEnd/>
              <a:tailEnd/>
            </a:ln>
          </p:spPr>
          <p:txBody>
            <a:bodyPr wrap="none" lIns="73133" tIns="36567" rIns="73133" bIns="36567">
              <a:spAutoFit/>
            </a:bodyPr>
            <a:lstStyle/>
            <a:p>
              <a:pPr eaLnBrk="0" hangingPunct="0"/>
              <a:r>
                <a:rPr kumimoji="0" lang="en-US" altLang="zh-CN" sz="1500" b="1">
                  <a:solidFill>
                    <a:srgbClr val="FF0000"/>
                  </a:solidFill>
                </a:rPr>
                <a:t>L=</a:t>
              </a:r>
              <a:r>
                <a:rPr kumimoji="0" lang="en-US" altLang="zh-CN" sz="1500" b="1">
                  <a:solidFill>
                    <a:srgbClr val="FF0000"/>
                  </a:solidFill>
                  <a:sym typeface="Symbol" pitchFamily="18" charset="2"/>
                </a:rPr>
                <a:t></a:t>
              </a:r>
              <a:r>
                <a:rPr kumimoji="0" lang="en-US" altLang="zh-CN" sz="1500" b="1">
                  <a:solidFill>
                    <a:srgbClr val="FF0000"/>
                  </a:solidFill>
                </a:rPr>
                <a:t>/2</a:t>
              </a:r>
              <a:endParaRPr kumimoji="0" lang="en-US" altLang="zh-CN" sz="1500" b="1">
                <a:solidFill>
                  <a:srgbClr val="FF0000"/>
                </a:solidFill>
                <a:sym typeface="Symbol" pitchFamily="18" charset="2"/>
              </a:endParaRPr>
            </a:p>
          </p:txBody>
        </p:sp>
        <p:sp>
          <p:nvSpPr>
            <p:cNvPr id="62638" name="Text Box 8"/>
            <p:cNvSpPr txBox="1">
              <a:spLocks noChangeArrowheads="1"/>
            </p:cNvSpPr>
            <p:nvPr/>
          </p:nvSpPr>
          <p:spPr bwMode="auto">
            <a:xfrm>
              <a:off x="2246146" y="4412913"/>
              <a:ext cx="596760" cy="406065"/>
            </a:xfrm>
            <a:prstGeom prst="rect">
              <a:avLst/>
            </a:prstGeom>
            <a:noFill/>
            <a:ln w="9525">
              <a:noFill/>
              <a:miter lim="800000"/>
              <a:headEnd/>
              <a:tailEnd/>
            </a:ln>
          </p:spPr>
          <p:txBody>
            <a:bodyPr lIns="73133" tIns="36567" rIns="73133" bIns="36567">
              <a:spAutoFit/>
            </a:bodyPr>
            <a:lstStyle/>
            <a:p>
              <a:pPr eaLnBrk="0" hangingPunct="0"/>
              <a:r>
                <a:rPr kumimoji="0" lang="en-US" altLang="zh-CN" sz="1500" b="1">
                  <a:solidFill>
                    <a:srgbClr val="FF0000"/>
                  </a:solidFill>
                </a:rPr>
                <a:t>L=</a:t>
              </a:r>
              <a:r>
                <a:rPr kumimoji="0" lang="en-US" altLang="zh-CN" sz="1500" b="1">
                  <a:solidFill>
                    <a:srgbClr val="FF0000"/>
                  </a:solidFill>
                  <a:sym typeface="Symbol" pitchFamily="18" charset="2"/>
                </a:rPr>
                <a:t></a:t>
              </a:r>
            </a:p>
          </p:txBody>
        </p:sp>
        <p:sp>
          <p:nvSpPr>
            <p:cNvPr id="62639" name="Text Box 7"/>
            <p:cNvSpPr txBox="1">
              <a:spLocks noChangeArrowheads="1"/>
            </p:cNvSpPr>
            <p:nvPr/>
          </p:nvSpPr>
          <p:spPr bwMode="auto">
            <a:xfrm>
              <a:off x="2272892" y="5318088"/>
              <a:ext cx="1138129" cy="517928"/>
            </a:xfrm>
            <a:prstGeom prst="rect">
              <a:avLst/>
            </a:prstGeom>
            <a:noFill/>
            <a:ln w="9525">
              <a:noFill/>
              <a:miter lim="800000"/>
              <a:headEnd/>
              <a:tailEnd/>
            </a:ln>
          </p:spPr>
          <p:txBody>
            <a:bodyPr lIns="73133" tIns="36567" rIns="73133" bIns="36567">
              <a:spAutoFit/>
            </a:bodyPr>
            <a:lstStyle/>
            <a:p>
              <a:pPr eaLnBrk="0" hangingPunct="0"/>
              <a:r>
                <a:rPr kumimoji="0" lang="en-US" altLang="zh-CN" sz="1500" b="1">
                  <a:solidFill>
                    <a:srgbClr val="FF0000"/>
                  </a:solidFill>
                </a:rPr>
                <a:t>L=3</a:t>
              </a:r>
              <a:r>
                <a:rPr kumimoji="0" lang="en-US" altLang="zh-CN" sz="1500" b="1">
                  <a:solidFill>
                    <a:srgbClr val="FF0000"/>
                  </a:solidFill>
                  <a:sym typeface="Symbol" pitchFamily="18" charset="2"/>
                </a:rPr>
                <a:t></a:t>
              </a:r>
              <a:r>
                <a:rPr kumimoji="0" lang="en-US" altLang="zh-CN" sz="1500" b="1">
                  <a:solidFill>
                    <a:srgbClr val="FF0000"/>
                  </a:solidFill>
                </a:rPr>
                <a:t>/2</a:t>
              </a:r>
              <a:endParaRPr kumimoji="0" lang="en-US" altLang="zh-CN" sz="1500" b="1">
                <a:solidFill>
                  <a:srgbClr val="FF0000"/>
                </a:solidFill>
                <a:sym typeface="Symbol" pitchFamily="18" charset="2"/>
              </a:endParaRPr>
            </a:p>
          </p:txBody>
        </p:sp>
        <p:sp>
          <p:nvSpPr>
            <p:cNvPr id="62640" name="Text Box 6"/>
            <p:cNvSpPr txBox="1">
              <a:spLocks noChangeArrowheads="1"/>
            </p:cNvSpPr>
            <p:nvPr/>
          </p:nvSpPr>
          <p:spPr bwMode="auto">
            <a:xfrm>
              <a:off x="2287179" y="6233755"/>
              <a:ext cx="834923" cy="406065"/>
            </a:xfrm>
            <a:prstGeom prst="rect">
              <a:avLst/>
            </a:prstGeom>
            <a:noFill/>
            <a:ln w="9525">
              <a:noFill/>
              <a:miter lim="800000"/>
              <a:headEnd/>
              <a:tailEnd/>
            </a:ln>
          </p:spPr>
          <p:txBody>
            <a:bodyPr lIns="73133" tIns="36567" rIns="73133" bIns="36567">
              <a:spAutoFit/>
            </a:bodyPr>
            <a:lstStyle/>
            <a:p>
              <a:pPr eaLnBrk="0" hangingPunct="0"/>
              <a:r>
                <a:rPr kumimoji="0" lang="en-US" altLang="zh-CN" sz="1500" b="1">
                  <a:solidFill>
                    <a:srgbClr val="FF0000"/>
                  </a:solidFill>
                </a:rPr>
                <a:t>L=2</a:t>
              </a:r>
              <a:r>
                <a:rPr kumimoji="0" lang="en-US" altLang="zh-CN" sz="1500" b="1">
                  <a:solidFill>
                    <a:srgbClr val="FF0000"/>
                  </a:solidFill>
                  <a:sym typeface="Symbol" pitchFamily="18" charset="2"/>
                </a:rPr>
                <a:t></a:t>
              </a:r>
            </a:p>
          </p:txBody>
        </p:sp>
      </p:grpSp>
      <p:graphicFrame>
        <p:nvGraphicFramePr>
          <p:cNvPr id="309" name="Object 127"/>
          <p:cNvGraphicFramePr>
            <a:graphicFrameLocks noChangeAspect="1"/>
          </p:cNvGraphicFramePr>
          <p:nvPr/>
        </p:nvGraphicFramePr>
        <p:xfrm>
          <a:off x="1692275" y="1860550"/>
          <a:ext cx="1692275" cy="566738"/>
        </p:xfrm>
        <a:graphic>
          <a:graphicData uri="http://schemas.openxmlformats.org/presentationml/2006/ole">
            <p:oleObj spid="_x0000_s62591" name="公式" r:id="rId4" imgW="990170" imgH="444307" progId="Equation.3">
              <p:embed/>
            </p:oleObj>
          </a:graphicData>
        </a:graphic>
      </p:graphicFrame>
      <p:sp>
        <p:nvSpPr>
          <p:cNvPr id="177263" name="Rectangle 111"/>
          <p:cNvSpPr>
            <a:spLocks noChangeArrowheads="1"/>
          </p:cNvSpPr>
          <p:nvPr/>
        </p:nvSpPr>
        <p:spPr bwMode="auto">
          <a:xfrm>
            <a:off x="4716463" y="2058988"/>
            <a:ext cx="3878262" cy="368300"/>
          </a:xfrm>
          <a:prstGeom prst="rect">
            <a:avLst/>
          </a:prstGeom>
          <a:noFill/>
          <a:ln w="9525">
            <a:noFill/>
            <a:miter lim="800000"/>
            <a:headEnd/>
            <a:tailEnd/>
          </a:ln>
        </p:spPr>
        <p:txBody>
          <a:bodyPr wrap="none">
            <a:spAutoFit/>
          </a:bodyPr>
          <a:lstStyle/>
          <a:p>
            <a:r>
              <a:rPr lang="zh-CN" altLang="en-US" sz="1800" b="1">
                <a:solidFill>
                  <a:srgbClr val="0000FF"/>
                </a:solidFill>
                <a:ea typeface="华文中宋"/>
                <a:cs typeface="华文中宋"/>
              </a:rPr>
              <a:t>简振模式：允许频率对应的驻波振动</a:t>
            </a:r>
          </a:p>
        </p:txBody>
      </p:sp>
      <p:pic>
        <p:nvPicPr>
          <p:cNvPr id="177368" name="Picture 216"/>
          <p:cNvPicPr>
            <a:picLocks noChangeAspect="1" noChangeArrowheads="1"/>
          </p:cNvPicPr>
          <p:nvPr/>
        </p:nvPicPr>
        <p:blipFill>
          <a:blip r:embed="rId5"/>
          <a:srcRect/>
          <a:stretch>
            <a:fillRect/>
          </a:stretch>
        </p:blipFill>
        <p:spPr bwMode="auto">
          <a:xfrm>
            <a:off x="4791075" y="2500313"/>
            <a:ext cx="3136900" cy="2016125"/>
          </a:xfrm>
          <a:prstGeom prst="rect">
            <a:avLst/>
          </a:prstGeom>
          <a:noFill/>
          <a:ln w="9525">
            <a:noFill/>
            <a:miter lim="800000"/>
            <a:headEnd/>
            <a:tailEnd/>
          </a:ln>
        </p:spPr>
      </p:pic>
      <p:grpSp>
        <p:nvGrpSpPr>
          <p:cNvPr id="25" name="Group 219"/>
          <p:cNvGrpSpPr>
            <a:grpSpLocks/>
          </p:cNvGrpSpPr>
          <p:nvPr/>
        </p:nvGrpSpPr>
        <p:grpSpPr bwMode="auto">
          <a:xfrm>
            <a:off x="4716463" y="1501775"/>
            <a:ext cx="3382962" cy="355600"/>
            <a:chOff x="3198" y="1071"/>
            <a:chExt cx="2131" cy="299"/>
          </a:xfrm>
        </p:grpSpPr>
        <p:sp>
          <p:nvSpPr>
            <p:cNvPr id="62602" name="Text Box 29"/>
            <p:cNvSpPr txBox="1">
              <a:spLocks noChangeArrowheads="1"/>
            </p:cNvSpPr>
            <p:nvPr/>
          </p:nvSpPr>
          <p:spPr bwMode="auto">
            <a:xfrm>
              <a:off x="3198" y="1117"/>
              <a:ext cx="2070" cy="245"/>
            </a:xfrm>
            <a:prstGeom prst="rect">
              <a:avLst/>
            </a:prstGeom>
            <a:noFill/>
            <a:ln w="9525">
              <a:noFill/>
              <a:miter lim="800000"/>
              <a:headEnd/>
              <a:tailEnd/>
            </a:ln>
          </p:spPr>
          <p:txBody>
            <a:bodyPr>
              <a:spAutoFit/>
            </a:bodyPr>
            <a:lstStyle/>
            <a:p>
              <a:pPr>
                <a:lnSpc>
                  <a:spcPct val="70000"/>
                </a:lnSpc>
                <a:spcBef>
                  <a:spcPct val="50000"/>
                </a:spcBef>
              </a:pPr>
              <a:r>
                <a:rPr lang="zh-CN" altLang="en-US" sz="1800" b="1">
                  <a:ea typeface="华文中宋"/>
                  <a:cs typeface="华文中宋"/>
                </a:rPr>
                <a:t>基频：      谐频：</a:t>
              </a:r>
            </a:p>
          </p:txBody>
        </p:sp>
        <p:graphicFrame>
          <p:nvGraphicFramePr>
            <p:cNvPr id="62592" name="Object 128"/>
            <p:cNvGraphicFramePr>
              <a:graphicFrameLocks noChangeAspect="1"/>
            </p:cNvGraphicFramePr>
            <p:nvPr/>
          </p:nvGraphicFramePr>
          <p:xfrm>
            <a:off x="3651" y="1071"/>
            <a:ext cx="216" cy="299"/>
          </p:xfrm>
          <a:graphic>
            <a:graphicData uri="http://schemas.openxmlformats.org/presentationml/2006/ole">
              <p:oleObj spid="_x0000_s62592" name="Equation" r:id="rId6" imgW="165028" imgH="228501" progId="Equation.DSMT4">
                <p:embed/>
              </p:oleObj>
            </a:graphicData>
          </a:graphic>
        </p:graphicFrame>
        <p:graphicFrame>
          <p:nvGraphicFramePr>
            <p:cNvPr id="62593" name="Object 129"/>
            <p:cNvGraphicFramePr>
              <a:graphicFrameLocks noChangeAspect="1"/>
            </p:cNvGraphicFramePr>
            <p:nvPr/>
          </p:nvGraphicFramePr>
          <p:xfrm>
            <a:off x="4286" y="1071"/>
            <a:ext cx="1043" cy="284"/>
          </p:xfrm>
          <a:graphic>
            <a:graphicData uri="http://schemas.openxmlformats.org/presentationml/2006/ole">
              <p:oleObj spid="_x0000_s62593" name="Equation" r:id="rId7" imgW="838200" imgH="228600" progId="Equation.DSMT4">
                <p:embed/>
              </p:oleObj>
            </a:graphicData>
          </a:graphic>
        </p:graphicFrame>
      </p:grpSp>
      <p:sp>
        <p:nvSpPr>
          <p:cNvPr id="114" name="Text Box 2"/>
          <p:cNvSpPr>
            <a:spLocks noChangeArrowheads="1"/>
          </p:cNvSpPr>
          <p:nvPr/>
        </p:nvSpPr>
        <p:spPr bwMode="auto">
          <a:xfrm>
            <a:off x="828675" y="874713"/>
            <a:ext cx="2033588" cy="400050"/>
          </a:xfrm>
          <a:prstGeom prst="homePlate">
            <a:avLst>
              <a:gd name="adj" fmla="val 49633"/>
            </a:avLst>
          </a:prstGeom>
          <a:solidFill>
            <a:srgbClr val="539A84"/>
          </a:solidFill>
          <a:ln w="9525">
            <a:noFill/>
            <a:miter lim="800000"/>
            <a:headEnd/>
            <a:tailEnd/>
          </a:ln>
        </p:spPr>
        <p:txBody>
          <a:bodyPr>
            <a:spAutoFit/>
          </a:bodyPr>
          <a:lstStyle/>
          <a:p>
            <a:r>
              <a:rPr lang="zh-CN" altLang="en-US" sz="2000" b="1">
                <a:solidFill>
                  <a:srgbClr val="0000FF"/>
                </a:solidFill>
                <a:ea typeface="华文中宋"/>
                <a:cs typeface="华文中宋"/>
              </a:rPr>
              <a:t>五、简振模式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wipe(left)">
                                      <p:cBhvr>
                                        <p:cTn id="7" dur="500"/>
                                        <p:tgtEl>
                                          <p:spTgt spid="1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8"/>
                                        </p:tgtEl>
                                        <p:attrNameLst>
                                          <p:attrName>style.visibility</p:attrName>
                                        </p:attrNameLst>
                                      </p:cBhvr>
                                      <p:to>
                                        <p:strVal val="visible"/>
                                      </p:to>
                                    </p:set>
                                    <p:animEffect transition="in" filter="wipe(left)">
                                      <p:cBhvr>
                                        <p:cTn id="27" dur="500"/>
                                        <p:tgtEl>
                                          <p:spTgt spid="20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3" presetClass="entr" presetSubtype="16"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ppt_w</p:attrName>
                                        </p:attrNameLst>
                                      </p:cBhvr>
                                      <p:tavLst>
                                        <p:tav tm="0">
                                          <p:val>
                                            <p:fltVal val="0"/>
                                          </p:val>
                                        </p:tav>
                                        <p:tav tm="100000">
                                          <p:val>
                                            <p:strVal val="#ppt_w"/>
                                          </p:val>
                                        </p:tav>
                                      </p:tavLst>
                                    </p:anim>
                                    <p:anim calcmode="lin" valueType="num">
                                      <p:cBhvr>
                                        <p:cTn id="3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309"/>
                                        </p:tgtEl>
                                        <p:attrNameLst>
                                          <p:attrName>style.visibility</p:attrName>
                                        </p:attrNameLst>
                                      </p:cBhvr>
                                      <p:to>
                                        <p:strVal val="visible"/>
                                      </p:to>
                                    </p:set>
                                    <p:animEffect transition="in" filter="wipe(left)">
                                      <p:cBhvr>
                                        <p:cTn id="38" dur="500"/>
                                        <p:tgtEl>
                                          <p:spTgt spid="30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blinds(horizontal)">
                                      <p:cBhvr>
                                        <p:cTn id="43" dur="500"/>
                                        <p:tgtEl>
                                          <p:spTgt spid="2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77263"/>
                                        </p:tgtEl>
                                        <p:attrNameLst>
                                          <p:attrName>style.visibility</p:attrName>
                                        </p:attrNameLst>
                                      </p:cBhvr>
                                      <p:to>
                                        <p:strVal val="visible"/>
                                      </p:to>
                                    </p:set>
                                    <p:animEffect transition="in" filter="blinds(horizontal)">
                                      <p:cBhvr>
                                        <p:cTn id="48" dur="500"/>
                                        <p:tgtEl>
                                          <p:spTgt spid="17726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nodeType="clickEffect">
                                  <p:stCondLst>
                                    <p:cond delay="0"/>
                                  </p:stCondLst>
                                  <p:childTnLst>
                                    <p:set>
                                      <p:cBhvr>
                                        <p:cTn id="52" dur="1" fill="hold">
                                          <p:stCondLst>
                                            <p:cond delay="0"/>
                                          </p:stCondLst>
                                        </p:cTn>
                                        <p:tgtEl>
                                          <p:spTgt spid="177368"/>
                                        </p:tgtEl>
                                        <p:attrNameLst>
                                          <p:attrName>style.visibility</p:attrName>
                                        </p:attrNameLst>
                                      </p:cBhvr>
                                      <p:to>
                                        <p:strVal val="visible"/>
                                      </p:to>
                                    </p:set>
                                    <p:animEffect transition="in" filter="blinds(horizontal)">
                                      <p:cBhvr>
                                        <p:cTn id="53" dur="500"/>
                                        <p:tgtEl>
                                          <p:spTgt spid="177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208" grpId="0" autoUpdateAnimBg="0"/>
      <p:bldP spid="177263" grpId="0"/>
      <p:bldP spid="11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ChangeArrowheads="1"/>
          </p:cNvSpPr>
          <p:nvPr/>
        </p:nvSpPr>
        <p:spPr bwMode="auto">
          <a:xfrm>
            <a:off x="696913" y="3722688"/>
            <a:ext cx="2146300" cy="369887"/>
          </a:xfrm>
          <a:prstGeom prst="rect">
            <a:avLst/>
          </a:prstGeom>
          <a:noFill/>
          <a:ln w="9525">
            <a:noFill/>
            <a:miter lim="800000"/>
            <a:headEnd/>
            <a:tailEnd/>
          </a:ln>
        </p:spPr>
        <p:txBody>
          <a:bodyPr wrap="none">
            <a:spAutoFit/>
          </a:bodyPr>
          <a:lstStyle/>
          <a:p>
            <a:r>
              <a:rPr lang="zh-CN" altLang="en-US" sz="1800" b="1">
                <a:ea typeface="华文中宋"/>
                <a:cs typeface="华文中宋"/>
              </a:rPr>
              <a:t>（</a:t>
            </a:r>
            <a:r>
              <a:rPr lang="en-US" altLang="zh-CN" sz="1800" b="1">
                <a:ea typeface="华文中宋"/>
                <a:cs typeface="华文中宋"/>
              </a:rPr>
              <a:t>2</a:t>
            </a:r>
            <a:r>
              <a:rPr lang="zh-CN" altLang="en-US" sz="1800" b="1">
                <a:ea typeface="华文中宋"/>
                <a:cs typeface="华文中宋"/>
              </a:rPr>
              <a:t>）驻波的表达式</a:t>
            </a:r>
          </a:p>
        </p:txBody>
      </p:sp>
      <p:graphicFrame>
        <p:nvGraphicFramePr>
          <p:cNvPr id="76804" name="Object 27"/>
          <p:cNvGraphicFramePr>
            <a:graphicFrameLocks noChangeAspect="1"/>
          </p:cNvGraphicFramePr>
          <p:nvPr/>
        </p:nvGraphicFramePr>
        <p:xfrm>
          <a:off x="3132138" y="3940175"/>
          <a:ext cx="4368800" cy="606425"/>
        </p:xfrm>
        <a:graphic>
          <a:graphicData uri="http://schemas.openxmlformats.org/presentationml/2006/ole">
            <p:oleObj spid="_x0000_s63515" name="Equation" r:id="rId3" imgW="2324100" imgH="431800" progId="Equation.DSMT4">
              <p:embed/>
            </p:oleObj>
          </a:graphicData>
        </a:graphic>
      </p:graphicFrame>
      <p:grpSp>
        <p:nvGrpSpPr>
          <p:cNvPr id="63521" name="Group 23"/>
          <p:cNvGrpSpPr>
            <a:grpSpLocks/>
          </p:cNvGrpSpPr>
          <p:nvPr/>
        </p:nvGrpSpPr>
        <p:grpSpPr bwMode="auto">
          <a:xfrm>
            <a:off x="323850" y="844550"/>
            <a:ext cx="8534400" cy="1465263"/>
            <a:chOff x="204" y="-57"/>
            <a:chExt cx="5376" cy="1231"/>
          </a:xfrm>
        </p:grpSpPr>
        <p:sp>
          <p:nvSpPr>
            <p:cNvPr id="63524" name="Text Box 13"/>
            <p:cNvSpPr txBox="1">
              <a:spLocks noChangeArrowheads="1"/>
            </p:cNvSpPr>
            <p:nvPr/>
          </p:nvSpPr>
          <p:spPr bwMode="auto">
            <a:xfrm>
              <a:off x="204" y="73"/>
              <a:ext cx="5376" cy="1101"/>
            </a:xfrm>
            <a:prstGeom prst="rect">
              <a:avLst/>
            </a:prstGeom>
            <a:noFill/>
            <a:ln w="9525">
              <a:noFill/>
              <a:miter lim="800000"/>
              <a:headEnd/>
              <a:tailEnd/>
            </a:ln>
          </p:spPr>
          <p:txBody>
            <a:bodyPr>
              <a:spAutoFit/>
            </a:bodyPr>
            <a:lstStyle/>
            <a:p>
              <a:pPr>
                <a:lnSpc>
                  <a:spcPct val="110000"/>
                </a:lnSpc>
              </a:pPr>
              <a:r>
                <a:rPr lang="zh-CN" altLang="en-US" sz="1800" b="1">
                  <a:solidFill>
                    <a:srgbClr val="0000FF"/>
                  </a:solidFill>
                  <a:ea typeface="华文中宋"/>
                  <a:cs typeface="华文中宋"/>
                </a:rPr>
                <a:t>例  设入射波的表达式为</a:t>
              </a:r>
              <a:r>
                <a:rPr lang="en-US" altLang="zh-CN" sz="1800" b="1">
                  <a:solidFill>
                    <a:srgbClr val="0000FF"/>
                  </a:solidFill>
                  <a:ea typeface="华文中宋"/>
                  <a:cs typeface="华文中宋"/>
                </a:rPr>
                <a:t>                                                                   </a:t>
              </a:r>
              <a:r>
                <a:rPr lang="zh-CN" altLang="en-US" sz="1800" b="1">
                  <a:solidFill>
                    <a:srgbClr val="0000FF"/>
                  </a:solidFill>
                  <a:ea typeface="华文中宋"/>
                  <a:cs typeface="华文中宋"/>
                </a:rPr>
                <a:t>，波在</a:t>
              </a:r>
              <a:r>
                <a:rPr lang="en-US" altLang="zh-CN" sz="1800" b="1" i="1">
                  <a:solidFill>
                    <a:srgbClr val="0000FF"/>
                  </a:solidFill>
                  <a:ea typeface="华文中宋"/>
                  <a:cs typeface="华文中宋"/>
                </a:rPr>
                <a:t>x</a:t>
              </a:r>
              <a:r>
                <a:rPr lang="en-US" altLang="zh-CN" sz="1800" b="1">
                  <a:solidFill>
                    <a:srgbClr val="0000FF"/>
                  </a:solidFill>
                  <a:ea typeface="华文中宋"/>
                  <a:cs typeface="华文中宋"/>
                </a:rPr>
                <a:t>=0</a:t>
              </a:r>
              <a:r>
                <a:rPr lang="zh-CN" altLang="en-US" sz="1800" b="1">
                  <a:solidFill>
                    <a:srgbClr val="0000FF"/>
                  </a:solidFill>
                  <a:ea typeface="华文中宋"/>
                  <a:cs typeface="华文中宋"/>
                </a:rPr>
                <a:t>处反射</a:t>
              </a:r>
              <a:r>
                <a:rPr lang="en-US" altLang="zh-CN" sz="1800" b="1">
                  <a:solidFill>
                    <a:srgbClr val="0000FF"/>
                  </a:solidFill>
                  <a:ea typeface="华文中宋"/>
                  <a:cs typeface="华文中宋"/>
                </a:rPr>
                <a:t>,</a:t>
              </a:r>
              <a:r>
                <a:rPr lang="zh-CN" altLang="en-US" sz="1800" b="1">
                  <a:solidFill>
                    <a:srgbClr val="0000FF"/>
                  </a:solidFill>
                  <a:ea typeface="华文中宋"/>
                  <a:cs typeface="华文中宋"/>
                </a:rPr>
                <a:t>反射点为一固定端。求：</a:t>
              </a:r>
            </a:p>
            <a:p>
              <a:pPr>
                <a:lnSpc>
                  <a:spcPct val="110000"/>
                </a:lnSpc>
              </a:pPr>
              <a:r>
                <a:rPr lang="zh-CN" altLang="en-US" sz="1800" b="1">
                  <a:solidFill>
                    <a:srgbClr val="0000FF"/>
                  </a:solidFill>
                  <a:ea typeface="华文中宋"/>
                  <a:cs typeface="华文中宋"/>
                </a:rPr>
                <a:t>（</a:t>
              </a:r>
              <a:r>
                <a:rPr lang="en-US" altLang="zh-CN" sz="1800" b="1">
                  <a:solidFill>
                    <a:srgbClr val="0000FF"/>
                  </a:solidFill>
                  <a:ea typeface="华文中宋"/>
                  <a:cs typeface="华文中宋"/>
                </a:rPr>
                <a:t>1</a:t>
              </a:r>
              <a:r>
                <a:rPr lang="zh-CN" altLang="en-US" sz="1800" b="1">
                  <a:solidFill>
                    <a:srgbClr val="0000FF"/>
                  </a:solidFill>
                  <a:ea typeface="华文中宋"/>
                  <a:cs typeface="华文中宋"/>
                </a:rPr>
                <a:t>）反射波的表达式；  （</a:t>
              </a:r>
              <a:r>
                <a:rPr lang="en-US" altLang="zh-CN" sz="1800" b="1">
                  <a:solidFill>
                    <a:srgbClr val="0000FF"/>
                  </a:solidFill>
                  <a:ea typeface="华文中宋"/>
                  <a:cs typeface="华文中宋"/>
                </a:rPr>
                <a:t>2</a:t>
              </a:r>
              <a:r>
                <a:rPr lang="zh-CN" altLang="en-US" sz="1800" b="1">
                  <a:solidFill>
                    <a:srgbClr val="0000FF"/>
                  </a:solidFill>
                  <a:ea typeface="华文中宋"/>
                  <a:cs typeface="华文中宋"/>
                </a:rPr>
                <a:t>）驻波的表达式；</a:t>
              </a:r>
            </a:p>
            <a:p>
              <a:pPr>
                <a:lnSpc>
                  <a:spcPct val="110000"/>
                </a:lnSpc>
              </a:pPr>
              <a:r>
                <a:rPr lang="zh-CN" altLang="en-US" sz="1800" b="1">
                  <a:solidFill>
                    <a:srgbClr val="0000FF"/>
                  </a:solidFill>
                  <a:ea typeface="华文中宋"/>
                  <a:cs typeface="华文中宋"/>
                </a:rPr>
                <a:t>（</a:t>
              </a:r>
              <a:r>
                <a:rPr lang="en-US" altLang="zh-CN" sz="1800" b="1">
                  <a:solidFill>
                    <a:srgbClr val="0000FF"/>
                  </a:solidFill>
                  <a:ea typeface="华文中宋"/>
                  <a:cs typeface="华文中宋"/>
                </a:rPr>
                <a:t>3</a:t>
              </a:r>
              <a:r>
                <a:rPr lang="zh-CN" altLang="en-US" sz="1800" b="1">
                  <a:solidFill>
                    <a:srgbClr val="0000FF"/>
                  </a:solidFill>
                  <a:ea typeface="华文中宋"/>
                  <a:cs typeface="华文中宋"/>
                </a:rPr>
                <a:t>）入射波和反射波合成的驻波的波腹所在处的坐标。</a:t>
              </a:r>
            </a:p>
          </p:txBody>
        </p:sp>
        <p:graphicFrame>
          <p:nvGraphicFramePr>
            <p:cNvPr id="63516" name="Object 28"/>
            <p:cNvGraphicFramePr>
              <a:graphicFrameLocks noChangeAspect="1"/>
            </p:cNvGraphicFramePr>
            <p:nvPr/>
          </p:nvGraphicFramePr>
          <p:xfrm>
            <a:off x="1882" y="-57"/>
            <a:ext cx="2319" cy="617"/>
          </p:xfrm>
          <a:graphic>
            <a:graphicData uri="http://schemas.openxmlformats.org/presentationml/2006/ole">
              <p:oleObj spid="_x0000_s63516" name="Equation" r:id="rId4" imgW="1714500" imgH="457200" progId="Equation.DSMT4">
                <p:embed/>
              </p:oleObj>
            </a:graphicData>
          </a:graphic>
        </p:graphicFrame>
      </p:grpSp>
      <p:sp>
        <p:nvSpPr>
          <p:cNvPr id="76817" name="Rectangle 17"/>
          <p:cNvSpPr>
            <a:spLocks noChangeArrowheads="1"/>
          </p:cNvSpPr>
          <p:nvPr/>
        </p:nvSpPr>
        <p:spPr bwMode="auto">
          <a:xfrm>
            <a:off x="609600" y="2571750"/>
            <a:ext cx="2378075" cy="369888"/>
          </a:xfrm>
          <a:prstGeom prst="rect">
            <a:avLst/>
          </a:prstGeom>
          <a:noFill/>
          <a:ln w="9525">
            <a:noFill/>
            <a:miter lim="800000"/>
            <a:headEnd/>
            <a:tailEnd/>
          </a:ln>
        </p:spPr>
        <p:txBody>
          <a:bodyPr wrap="none">
            <a:spAutoFit/>
          </a:bodyPr>
          <a:lstStyle/>
          <a:p>
            <a:r>
              <a:rPr lang="zh-CN" altLang="en-US" sz="1800" b="1">
                <a:ea typeface="华文中宋"/>
                <a:cs typeface="华文中宋"/>
              </a:rPr>
              <a:t>（</a:t>
            </a:r>
            <a:r>
              <a:rPr lang="en-US" altLang="zh-CN" sz="1800" b="1">
                <a:ea typeface="华文中宋"/>
                <a:cs typeface="华文中宋"/>
              </a:rPr>
              <a:t>1</a:t>
            </a:r>
            <a:r>
              <a:rPr lang="zh-CN" altLang="en-US" sz="1800" b="1">
                <a:ea typeface="华文中宋"/>
                <a:cs typeface="华文中宋"/>
              </a:rPr>
              <a:t>）反射波的表达式</a:t>
            </a:r>
          </a:p>
        </p:txBody>
      </p:sp>
      <p:graphicFrame>
        <p:nvGraphicFramePr>
          <p:cNvPr id="76818" name="Object 29"/>
          <p:cNvGraphicFramePr>
            <a:graphicFrameLocks noChangeAspect="1"/>
          </p:cNvGraphicFramePr>
          <p:nvPr/>
        </p:nvGraphicFramePr>
        <p:xfrm>
          <a:off x="3049588" y="2492375"/>
          <a:ext cx="3754437" cy="558800"/>
        </p:xfrm>
        <a:graphic>
          <a:graphicData uri="http://schemas.openxmlformats.org/presentationml/2006/ole">
            <p:oleObj spid="_x0000_s63517" name="Equation" r:id="rId5" imgW="2159000" imgH="457200" progId="Equation.DSMT4">
              <p:embed/>
            </p:oleObj>
          </a:graphicData>
        </a:graphic>
      </p:graphicFrame>
      <p:sp>
        <p:nvSpPr>
          <p:cNvPr id="76819" name="Text Box 19"/>
          <p:cNvSpPr txBox="1">
            <a:spLocks noChangeArrowheads="1"/>
          </p:cNvSpPr>
          <p:nvPr/>
        </p:nvSpPr>
        <p:spPr bwMode="auto">
          <a:xfrm>
            <a:off x="469900" y="2211388"/>
            <a:ext cx="646113" cy="369887"/>
          </a:xfrm>
          <a:prstGeom prst="rect">
            <a:avLst/>
          </a:prstGeom>
          <a:noFill/>
          <a:ln w="9525">
            <a:noFill/>
            <a:miter lim="800000"/>
            <a:headEnd/>
            <a:tailEnd/>
          </a:ln>
        </p:spPr>
        <p:txBody>
          <a:bodyPr wrap="none">
            <a:spAutoFit/>
          </a:bodyPr>
          <a:lstStyle/>
          <a:p>
            <a:r>
              <a:rPr lang="zh-CN" altLang="en-US" sz="1800" b="1">
                <a:solidFill>
                  <a:srgbClr val="FF0000"/>
                </a:solidFill>
                <a:ea typeface="华文中宋"/>
                <a:cs typeface="华文中宋"/>
              </a:rPr>
              <a:t>解：</a:t>
            </a:r>
          </a:p>
        </p:txBody>
      </p:sp>
      <p:graphicFrame>
        <p:nvGraphicFramePr>
          <p:cNvPr id="76824" name="Object 30"/>
          <p:cNvGraphicFramePr>
            <a:graphicFrameLocks noChangeAspect="1"/>
          </p:cNvGraphicFramePr>
          <p:nvPr/>
        </p:nvGraphicFramePr>
        <p:xfrm>
          <a:off x="6765925" y="2500313"/>
          <a:ext cx="2198688" cy="544512"/>
        </p:xfrm>
        <a:graphic>
          <a:graphicData uri="http://schemas.openxmlformats.org/presentationml/2006/ole">
            <p:oleObj spid="_x0000_s63518" name="Equation" r:id="rId6" imgW="1218671" imgH="431613" progId="Equation.DSMT4">
              <p:embed/>
            </p:oleObj>
          </a:graphicData>
        </a:graphic>
      </p:graphicFrame>
      <p:graphicFrame>
        <p:nvGraphicFramePr>
          <p:cNvPr id="76825" name="Object 31"/>
          <p:cNvGraphicFramePr>
            <a:graphicFrameLocks noChangeAspect="1"/>
          </p:cNvGraphicFramePr>
          <p:nvPr/>
        </p:nvGraphicFramePr>
        <p:xfrm>
          <a:off x="3132138" y="3363913"/>
          <a:ext cx="4464050" cy="573087"/>
        </p:xfrm>
        <a:graphic>
          <a:graphicData uri="http://schemas.openxmlformats.org/presentationml/2006/ole">
            <p:oleObj spid="_x0000_s63519" name="Equation" r:id="rId7" imgW="2373870" imgH="406224"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6819"/>
                                        </p:tgtEl>
                                        <p:attrNameLst>
                                          <p:attrName>style.visibility</p:attrName>
                                        </p:attrNameLst>
                                      </p:cBhvr>
                                      <p:to>
                                        <p:strVal val="visible"/>
                                      </p:to>
                                    </p:set>
                                    <p:animEffect transition="in" filter="blinds(horizontal)">
                                      <p:cBhvr>
                                        <p:cTn id="7" dur="500"/>
                                        <p:tgtEl>
                                          <p:spTgt spid="7681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6817"/>
                                        </p:tgtEl>
                                        <p:attrNameLst>
                                          <p:attrName>style.visibility</p:attrName>
                                        </p:attrNameLst>
                                      </p:cBhvr>
                                      <p:to>
                                        <p:strVal val="visible"/>
                                      </p:to>
                                    </p:set>
                                    <p:animEffect transition="in" filter="blinds(horizontal)">
                                      <p:cBhvr>
                                        <p:cTn id="10" dur="500"/>
                                        <p:tgtEl>
                                          <p:spTgt spid="7681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76818"/>
                                        </p:tgtEl>
                                        <p:attrNameLst>
                                          <p:attrName>style.visibility</p:attrName>
                                        </p:attrNameLst>
                                      </p:cBhvr>
                                      <p:to>
                                        <p:strVal val="visible"/>
                                      </p:to>
                                    </p:set>
                                    <p:animEffect transition="in" filter="blinds(horizontal)">
                                      <p:cBhvr>
                                        <p:cTn id="15" dur="500"/>
                                        <p:tgtEl>
                                          <p:spTgt spid="76818"/>
                                        </p:tgtEl>
                                      </p:cBhvr>
                                    </p:animEffect>
                                  </p:childTnLst>
                                </p:cTn>
                              </p:par>
                              <p:par>
                                <p:cTn id="16" presetID="3" presetClass="entr" presetSubtype="10" fill="hold" nodeType="withEffect">
                                  <p:stCondLst>
                                    <p:cond delay="0"/>
                                  </p:stCondLst>
                                  <p:childTnLst>
                                    <p:set>
                                      <p:cBhvr>
                                        <p:cTn id="17" dur="1" fill="hold">
                                          <p:stCondLst>
                                            <p:cond delay="0"/>
                                          </p:stCondLst>
                                        </p:cTn>
                                        <p:tgtEl>
                                          <p:spTgt spid="76824"/>
                                        </p:tgtEl>
                                        <p:attrNameLst>
                                          <p:attrName>style.visibility</p:attrName>
                                        </p:attrNameLst>
                                      </p:cBhvr>
                                      <p:to>
                                        <p:strVal val="visible"/>
                                      </p:to>
                                    </p:set>
                                    <p:animEffect transition="in" filter="blinds(horizontal)">
                                      <p:cBhvr>
                                        <p:cTn id="18" dur="500"/>
                                        <p:tgtEl>
                                          <p:spTgt spid="7682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76825"/>
                                        </p:tgtEl>
                                        <p:attrNameLst>
                                          <p:attrName>style.visibility</p:attrName>
                                        </p:attrNameLst>
                                      </p:cBhvr>
                                      <p:to>
                                        <p:strVal val="visible"/>
                                      </p:to>
                                    </p:set>
                                    <p:animEffect transition="in" filter="blinds(horizontal)">
                                      <p:cBhvr>
                                        <p:cTn id="23" dur="500"/>
                                        <p:tgtEl>
                                          <p:spTgt spid="76825"/>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76803"/>
                                        </p:tgtEl>
                                        <p:attrNameLst>
                                          <p:attrName>style.visibility</p:attrName>
                                        </p:attrNameLst>
                                      </p:cBhvr>
                                      <p:to>
                                        <p:strVal val="visible"/>
                                      </p:to>
                                    </p:set>
                                    <p:animEffect transition="in" filter="blinds(horizontal)">
                                      <p:cBhvr>
                                        <p:cTn id="26" dur="500"/>
                                        <p:tgtEl>
                                          <p:spTgt spid="7680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76804"/>
                                        </p:tgtEl>
                                        <p:attrNameLst>
                                          <p:attrName>style.visibility</p:attrName>
                                        </p:attrNameLst>
                                      </p:cBhvr>
                                      <p:to>
                                        <p:strVal val="visible"/>
                                      </p:to>
                                    </p:set>
                                    <p:animEffect transition="in" filter="blinds(horizontal)">
                                      <p:cBhvr>
                                        <p:cTn id="31" dur="500"/>
                                        <p:tgtEl>
                                          <p:spTgt spid="76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p:bldP spid="76817" grpId="0"/>
      <p:bldP spid="7681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81" name="Rectangle 5"/>
          <p:cNvSpPr>
            <a:spLocks noChangeArrowheads="1"/>
          </p:cNvSpPr>
          <p:nvPr/>
        </p:nvSpPr>
        <p:spPr bwMode="auto">
          <a:xfrm>
            <a:off x="395288" y="842963"/>
            <a:ext cx="2146300" cy="369887"/>
          </a:xfrm>
          <a:prstGeom prst="rect">
            <a:avLst/>
          </a:prstGeom>
          <a:noFill/>
          <a:ln w="9525">
            <a:noFill/>
            <a:miter lim="800000"/>
            <a:headEnd/>
            <a:tailEnd/>
          </a:ln>
        </p:spPr>
        <p:txBody>
          <a:bodyPr wrap="none">
            <a:spAutoFit/>
          </a:bodyPr>
          <a:lstStyle/>
          <a:p>
            <a:r>
              <a:rPr lang="zh-CN" altLang="en-US" sz="1800" b="1">
                <a:ea typeface="华文中宋"/>
                <a:cs typeface="华文中宋"/>
              </a:rPr>
              <a:t>（</a:t>
            </a:r>
            <a:r>
              <a:rPr lang="en-US" altLang="zh-CN" sz="1800" b="1">
                <a:ea typeface="华文中宋"/>
                <a:cs typeface="华文中宋"/>
              </a:rPr>
              <a:t>3</a:t>
            </a:r>
            <a:r>
              <a:rPr lang="zh-CN" altLang="en-US" sz="1800" b="1">
                <a:ea typeface="华文中宋"/>
                <a:cs typeface="华文中宋"/>
              </a:rPr>
              <a:t>）波腹的坐标：</a:t>
            </a:r>
          </a:p>
        </p:txBody>
      </p:sp>
      <p:grpSp>
        <p:nvGrpSpPr>
          <p:cNvPr id="2" name="Group 36"/>
          <p:cNvGrpSpPr>
            <a:grpSpLocks/>
          </p:cNvGrpSpPr>
          <p:nvPr/>
        </p:nvGrpSpPr>
        <p:grpSpPr bwMode="auto">
          <a:xfrm>
            <a:off x="3132138" y="842963"/>
            <a:ext cx="3384550" cy="471487"/>
            <a:chOff x="930" y="527"/>
            <a:chExt cx="2132" cy="395"/>
          </a:xfrm>
        </p:grpSpPr>
        <p:sp>
          <p:nvSpPr>
            <p:cNvPr id="64590" name="Text Box 8"/>
            <p:cNvSpPr txBox="1">
              <a:spLocks noChangeArrowheads="1"/>
            </p:cNvSpPr>
            <p:nvPr/>
          </p:nvSpPr>
          <p:spPr bwMode="auto">
            <a:xfrm>
              <a:off x="930" y="575"/>
              <a:ext cx="989" cy="310"/>
            </a:xfrm>
            <a:prstGeom prst="rect">
              <a:avLst/>
            </a:prstGeom>
            <a:noFill/>
            <a:ln w="9525">
              <a:noFill/>
              <a:miter lim="800000"/>
              <a:headEnd/>
              <a:tailEnd/>
            </a:ln>
          </p:spPr>
          <p:txBody>
            <a:bodyPr wrap="none">
              <a:spAutoFit/>
            </a:bodyPr>
            <a:lstStyle/>
            <a:p>
              <a:r>
                <a:rPr lang="zh-CN" altLang="en-US" sz="1800" b="1">
                  <a:ea typeface="华文中宋"/>
                  <a:cs typeface="华文中宋"/>
                </a:rPr>
                <a:t>在波腹处应有</a:t>
              </a:r>
            </a:p>
          </p:txBody>
        </p:sp>
        <p:graphicFrame>
          <p:nvGraphicFramePr>
            <p:cNvPr id="64566" name="Object 54"/>
            <p:cNvGraphicFramePr>
              <a:graphicFrameLocks noChangeAspect="1"/>
            </p:cNvGraphicFramePr>
            <p:nvPr/>
          </p:nvGraphicFramePr>
          <p:xfrm>
            <a:off x="1965" y="527"/>
            <a:ext cx="1097" cy="395"/>
          </p:xfrm>
          <a:graphic>
            <a:graphicData uri="http://schemas.openxmlformats.org/presentationml/2006/ole">
              <p:oleObj spid="_x0000_s64566" name="Equation" r:id="rId3" imgW="875920" imgH="393529" progId="Equation.DSMT4">
                <p:embed/>
              </p:oleObj>
            </a:graphicData>
          </a:graphic>
        </p:graphicFrame>
      </p:grpSp>
      <p:grpSp>
        <p:nvGrpSpPr>
          <p:cNvPr id="3" name="Group 37"/>
          <p:cNvGrpSpPr>
            <a:grpSpLocks/>
          </p:cNvGrpSpPr>
          <p:nvPr/>
        </p:nvGrpSpPr>
        <p:grpSpPr bwMode="auto">
          <a:xfrm>
            <a:off x="3203575" y="1398588"/>
            <a:ext cx="2120900" cy="452437"/>
            <a:chOff x="1565" y="631"/>
            <a:chExt cx="1336" cy="380"/>
          </a:xfrm>
        </p:grpSpPr>
        <p:graphicFrame>
          <p:nvGraphicFramePr>
            <p:cNvPr id="64567" name="Object 55"/>
            <p:cNvGraphicFramePr>
              <a:graphicFrameLocks noChangeAspect="1"/>
            </p:cNvGraphicFramePr>
            <p:nvPr/>
          </p:nvGraphicFramePr>
          <p:xfrm>
            <a:off x="2064" y="631"/>
            <a:ext cx="837" cy="380"/>
          </p:xfrm>
          <a:graphic>
            <a:graphicData uri="http://schemas.openxmlformats.org/presentationml/2006/ole">
              <p:oleObj spid="_x0000_s64567" name="公式" r:id="rId4" imgW="634725" imgH="291973" progId="Equation.3">
                <p:embed/>
              </p:oleObj>
            </a:graphicData>
          </a:graphic>
        </p:graphicFrame>
        <p:sp>
          <p:nvSpPr>
            <p:cNvPr id="64589" name="Text Box 10"/>
            <p:cNvSpPr txBox="1">
              <a:spLocks noChangeArrowheads="1"/>
            </p:cNvSpPr>
            <p:nvPr/>
          </p:nvSpPr>
          <p:spPr bwMode="auto">
            <a:xfrm>
              <a:off x="1565" y="631"/>
              <a:ext cx="553" cy="310"/>
            </a:xfrm>
            <a:prstGeom prst="rect">
              <a:avLst/>
            </a:prstGeom>
            <a:noFill/>
            <a:ln w="9525">
              <a:noFill/>
              <a:miter lim="800000"/>
              <a:headEnd/>
              <a:tailEnd/>
            </a:ln>
          </p:spPr>
          <p:txBody>
            <a:bodyPr wrap="none">
              <a:spAutoFit/>
            </a:bodyPr>
            <a:lstStyle/>
            <a:p>
              <a:r>
                <a:rPr lang="zh-CN" altLang="en-US" sz="1800" b="1">
                  <a:ea typeface="华文中宋"/>
                  <a:cs typeface="华文中宋"/>
                </a:rPr>
                <a:t>所以：</a:t>
              </a:r>
            </a:p>
          </p:txBody>
        </p:sp>
      </p:grpSp>
      <p:sp>
        <p:nvSpPr>
          <p:cNvPr id="178187" name="Text Box 11"/>
          <p:cNvSpPr txBox="1">
            <a:spLocks noChangeArrowheads="1"/>
          </p:cNvSpPr>
          <p:nvPr/>
        </p:nvSpPr>
        <p:spPr bwMode="auto">
          <a:xfrm>
            <a:off x="290513" y="1990725"/>
            <a:ext cx="8624887" cy="369888"/>
          </a:xfrm>
          <a:prstGeom prst="rect">
            <a:avLst/>
          </a:prstGeom>
          <a:noFill/>
          <a:ln w="9525">
            <a:noFill/>
            <a:miter lim="800000"/>
            <a:headEnd/>
            <a:tailEnd/>
          </a:ln>
        </p:spPr>
        <p:txBody>
          <a:bodyPr>
            <a:spAutoFit/>
          </a:bodyPr>
          <a:lstStyle/>
          <a:p>
            <a:r>
              <a:rPr lang="zh-CN" altLang="en-US" sz="1800" b="1">
                <a:solidFill>
                  <a:srgbClr val="0000FF"/>
                </a:solidFill>
                <a:ea typeface="华文中宋"/>
                <a:cs typeface="华文中宋"/>
              </a:rPr>
              <a:t>例  某时刻驻波波形图曲线如图所示，则</a:t>
            </a:r>
            <a:r>
              <a:rPr lang="en-US" altLang="zh-CN" sz="1800" b="1" i="1">
                <a:solidFill>
                  <a:srgbClr val="0000FF"/>
                </a:solidFill>
                <a:ea typeface="华文中宋"/>
                <a:cs typeface="华文中宋"/>
              </a:rPr>
              <a:t>a</a:t>
            </a:r>
            <a:r>
              <a:rPr lang="en-US" altLang="zh-CN" sz="1800" b="1">
                <a:solidFill>
                  <a:srgbClr val="0000FF"/>
                </a:solidFill>
                <a:ea typeface="华文中宋"/>
                <a:cs typeface="华文中宋"/>
              </a:rPr>
              <a:t>,</a:t>
            </a:r>
            <a:r>
              <a:rPr lang="en-US" altLang="zh-CN" sz="1800" b="1" i="1">
                <a:solidFill>
                  <a:srgbClr val="0000FF"/>
                </a:solidFill>
                <a:ea typeface="华文中宋"/>
                <a:cs typeface="华文中宋"/>
              </a:rPr>
              <a:t>b</a:t>
            </a:r>
            <a:r>
              <a:rPr lang="zh-CN" altLang="en-US" sz="1800" b="1">
                <a:solidFill>
                  <a:srgbClr val="0000FF"/>
                </a:solidFill>
                <a:ea typeface="华文中宋"/>
                <a:cs typeface="华文中宋"/>
              </a:rPr>
              <a:t>两点位相差是</a:t>
            </a:r>
          </a:p>
        </p:txBody>
      </p:sp>
      <p:sp>
        <p:nvSpPr>
          <p:cNvPr id="64579" name="Text Box 32"/>
          <p:cNvSpPr txBox="1">
            <a:spLocks noChangeArrowheads="1"/>
          </p:cNvSpPr>
          <p:nvPr/>
        </p:nvSpPr>
        <p:spPr bwMode="auto">
          <a:xfrm>
            <a:off x="611188" y="2581275"/>
            <a:ext cx="2632075" cy="942975"/>
          </a:xfrm>
          <a:prstGeom prst="rect">
            <a:avLst/>
          </a:prstGeom>
          <a:noFill/>
          <a:ln w="9525">
            <a:noFill/>
            <a:miter lim="800000"/>
            <a:headEnd/>
            <a:tailEnd/>
          </a:ln>
        </p:spPr>
        <p:txBody>
          <a:bodyPr wrap="none">
            <a:spAutoFit/>
          </a:bodyPr>
          <a:lstStyle/>
          <a:p>
            <a:pPr>
              <a:lnSpc>
                <a:spcPct val="120000"/>
              </a:lnSpc>
            </a:pPr>
            <a:r>
              <a:rPr lang="zh-CN" altLang="en-US" sz="1800" b="1">
                <a:latin typeface="楷体_GB2312"/>
                <a:ea typeface="楷体_GB2312"/>
                <a:cs typeface="楷体_GB2312"/>
              </a:rPr>
              <a:t>（</a:t>
            </a:r>
            <a:r>
              <a:rPr lang="en-US" altLang="zh-CN" sz="1800" b="1">
                <a:latin typeface="楷体_GB2312"/>
                <a:ea typeface="楷体_GB2312"/>
                <a:cs typeface="楷体_GB2312"/>
              </a:rPr>
              <a:t>A</a:t>
            </a:r>
            <a:r>
              <a:rPr lang="zh-CN" altLang="en-US" sz="1800" b="1">
                <a:latin typeface="楷体_GB2312"/>
                <a:ea typeface="楷体_GB2312"/>
                <a:cs typeface="楷体_GB2312"/>
              </a:rPr>
              <a:t>）</a:t>
            </a:r>
            <a:r>
              <a:rPr lang="en-US" altLang="zh-CN" sz="1800" b="1">
                <a:latin typeface="楷体_GB2312"/>
                <a:ea typeface="楷体_GB2312"/>
                <a:cs typeface="楷体_GB2312"/>
                <a:sym typeface="Symbol" pitchFamily="18" charset="2"/>
              </a:rPr>
              <a:t>     </a:t>
            </a:r>
            <a:r>
              <a:rPr lang="zh-CN" altLang="en-US" sz="1800" b="1">
                <a:latin typeface="楷体_GB2312"/>
                <a:ea typeface="楷体_GB2312"/>
                <a:cs typeface="楷体_GB2312"/>
              </a:rPr>
              <a:t>（</a:t>
            </a:r>
            <a:r>
              <a:rPr lang="en-US" altLang="zh-CN" sz="1800" b="1">
                <a:latin typeface="楷体_GB2312"/>
                <a:ea typeface="楷体_GB2312"/>
                <a:cs typeface="楷体_GB2312"/>
              </a:rPr>
              <a:t>B</a:t>
            </a:r>
            <a:r>
              <a:rPr lang="zh-CN" altLang="en-US" sz="1800" b="1">
                <a:latin typeface="楷体_GB2312"/>
                <a:ea typeface="楷体_GB2312"/>
                <a:cs typeface="楷体_GB2312"/>
              </a:rPr>
              <a:t>）</a:t>
            </a:r>
            <a:r>
              <a:rPr lang="en-US" altLang="zh-CN" sz="1800" b="1">
                <a:latin typeface="楷体_GB2312"/>
                <a:ea typeface="楷体_GB2312"/>
                <a:cs typeface="楷体_GB2312"/>
                <a:sym typeface="Symbol" pitchFamily="18" charset="2"/>
              </a:rPr>
              <a:t> </a:t>
            </a:r>
            <a:r>
              <a:rPr lang="en-US" altLang="zh-CN" sz="1800" b="1">
                <a:ea typeface="楷体_GB2312"/>
                <a:cs typeface="Times New Roman" pitchFamily="18" charset="0"/>
                <a:sym typeface="Symbol" pitchFamily="18" charset="2"/>
              </a:rPr>
              <a:t>∕ 2</a:t>
            </a:r>
            <a:r>
              <a:rPr lang="zh-CN" altLang="en-US" sz="1800" b="1">
                <a:latin typeface="楷体_GB2312"/>
                <a:ea typeface="楷体_GB2312"/>
                <a:cs typeface="楷体_GB2312"/>
              </a:rPr>
              <a:t> </a:t>
            </a:r>
          </a:p>
          <a:p>
            <a:pPr>
              <a:lnSpc>
                <a:spcPct val="120000"/>
              </a:lnSpc>
            </a:pPr>
            <a:r>
              <a:rPr lang="zh-CN" altLang="en-US" sz="1800" b="1">
                <a:latin typeface="楷体_GB2312"/>
                <a:ea typeface="楷体_GB2312"/>
                <a:cs typeface="楷体_GB2312"/>
              </a:rPr>
              <a:t>（</a:t>
            </a:r>
            <a:r>
              <a:rPr lang="en-US" altLang="zh-CN" sz="1800" b="1">
                <a:latin typeface="楷体_GB2312"/>
                <a:ea typeface="楷体_GB2312"/>
                <a:cs typeface="楷体_GB2312"/>
              </a:rPr>
              <a:t>C</a:t>
            </a:r>
            <a:r>
              <a:rPr lang="zh-CN" altLang="en-US" sz="1800" b="1">
                <a:latin typeface="楷体_GB2312"/>
                <a:ea typeface="楷体_GB2312"/>
                <a:cs typeface="楷体_GB2312"/>
              </a:rPr>
              <a:t>）</a:t>
            </a:r>
            <a:r>
              <a:rPr lang="en-US" altLang="zh-CN" sz="1800" b="1">
                <a:latin typeface="楷体_GB2312"/>
                <a:ea typeface="楷体_GB2312"/>
                <a:cs typeface="楷体_GB2312"/>
              </a:rPr>
              <a:t>5</a:t>
            </a:r>
            <a:r>
              <a:rPr lang="en-US" altLang="zh-CN" sz="1800" b="1">
                <a:latin typeface="楷体_GB2312"/>
                <a:ea typeface="楷体_GB2312"/>
                <a:cs typeface="楷体_GB2312"/>
                <a:sym typeface="Symbol" pitchFamily="18" charset="2"/>
              </a:rPr>
              <a:t></a:t>
            </a:r>
            <a:r>
              <a:rPr lang="en-US" altLang="zh-CN" sz="1800" b="1">
                <a:ea typeface="楷体_GB2312"/>
                <a:cs typeface="楷体_GB2312"/>
                <a:sym typeface="Symbol" pitchFamily="18" charset="2"/>
              </a:rPr>
              <a:t>∕ 4    </a:t>
            </a:r>
            <a:r>
              <a:rPr lang="zh-CN" altLang="en-US" sz="1800" b="1">
                <a:latin typeface="楷体_GB2312"/>
                <a:ea typeface="楷体_GB2312"/>
                <a:cs typeface="楷体_GB2312"/>
              </a:rPr>
              <a:t>（</a:t>
            </a:r>
            <a:r>
              <a:rPr lang="en-US" altLang="zh-CN" sz="1800" b="1">
                <a:latin typeface="楷体_GB2312"/>
                <a:ea typeface="楷体_GB2312"/>
                <a:cs typeface="楷体_GB2312"/>
              </a:rPr>
              <a:t>D</a:t>
            </a:r>
            <a:r>
              <a:rPr lang="zh-CN" altLang="en-US" sz="1800" b="1">
                <a:latin typeface="楷体_GB2312"/>
                <a:ea typeface="楷体_GB2312"/>
                <a:cs typeface="楷体_GB2312"/>
              </a:rPr>
              <a:t>） </a:t>
            </a:r>
            <a:r>
              <a:rPr lang="en-US" altLang="zh-CN" sz="1800" b="1">
                <a:latin typeface="楷体_GB2312"/>
                <a:ea typeface="楷体_GB2312"/>
                <a:cs typeface="楷体_GB2312"/>
              </a:rPr>
              <a:t>0</a:t>
            </a:r>
            <a:r>
              <a:rPr lang="zh-CN" altLang="en-US" b="1">
                <a:latin typeface="楷体_GB2312"/>
                <a:ea typeface="楷体_GB2312"/>
                <a:cs typeface="楷体_GB2312"/>
              </a:rPr>
              <a:t> </a:t>
            </a:r>
          </a:p>
        </p:txBody>
      </p:sp>
      <p:sp>
        <p:nvSpPr>
          <p:cNvPr id="178211" name="Text Box 35"/>
          <p:cNvSpPr txBox="1">
            <a:spLocks noChangeArrowheads="1"/>
          </p:cNvSpPr>
          <p:nvPr/>
        </p:nvSpPr>
        <p:spPr bwMode="auto">
          <a:xfrm>
            <a:off x="3125788" y="4260850"/>
            <a:ext cx="1570037" cy="369888"/>
          </a:xfrm>
          <a:prstGeom prst="rect">
            <a:avLst/>
          </a:prstGeom>
          <a:noFill/>
          <a:ln w="9525">
            <a:noFill/>
            <a:miter lim="800000"/>
            <a:headEnd/>
            <a:tailEnd/>
          </a:ln>
        </p:spPr>
        <p:txBody>
          <a:bodyPr wrap="none">
            <a:spAutoFit/>
          </a:bodyPr>
          <a:lstStyle/>
          <a:p>
            <a:r>
              <a:rPr lang="zh-CN" altLang="en-US" sz="1800" b="1">
                <a:latin typeface="华文中宋"/>
                <a:ea typeface="华文中宋"/>
                <a:cs typeface="华文中宋"/>
              </a:rPr>
              <a:t>所以选（Ａ）</a:t>
            </a:r>
          </a:p>
        </p:txBody>
      </p:sp>
      <p:grpSp>
        <p:nvGrpSpPr>
          <p:cNvPr id="5" name="Group 46"/>
          <p:cNvGrpSpPr>
            <a:grpSpLocks/>
          </p:cNvGrpSpPr>
          <p:nvPr/>
        </p:nvGrpSpPr>
        <p:grpSpPr bwMode="auto">
          <a:xfrm>
            <a:off x="3276600" y="2505075"/>
            <a:ext cx="5051425" cy="1362075"/>
            <a:chOff x="2064" y="1480"/>
            <a:chExt cx="3182" cy="1144"/>
          </a:xfrm>
        </p:grpSpPr>
        <p:sp>
          <p:nvSpPr>
            <p:cNvPr id="64583" name="Line 20"/>
            <p:cNvSpPr>
              <a:spLocks noChangeShapeType="1"/>
            </p:cNvSpPr>
            <p:nvPr/>
          </p:nvSpPr>
          <p:spPr bwMode="auto">
            <a:xfrm>
              <a:off x="4537" y="2093"/>
              <a:ext cx="0" cy="307"/>
            </a:xfrm>
            <a:prstGeom prst="line">
              <a:avLst/>
            </a:prstGeom>
            <a:noFill/>
            <a:ln w="25400">
              <a:solidFill>
                <a:schemeClr val="tx1"/>
              </a:solidFill>
              <a:prstDash val="dash"/>
              <a:round/>
              <a:headEnd/>
              <a:tailEnd/>
            </a:ln>
          </p:spPr>
          <p:txBody>
            <a:bodyPr wrap="none">
              <a:spAutoFit/>
            </a:bodyPr>
            <a:lstStyle/>
            <a:p>
              <a:endParaRPr lang="zh-CN" altLang="en-US"/>
            </a:p>
          </p:txBody>
        </p:sp>
        <p:sp>
          <p:nvSpPr>
            <p:cNvPr id="64584" name="Line 25"/>
            <p:cNvSpPr>
              <a:spLocks noChangeShapeType="1"/>
            </p:cNvSpPr>
            <p:nvPr/>
          </p:nvSpPr>
          <p:spPr bwMode="auto">
            <a:xfrm>
              <a:off x="2468" y="2115"/>
              <a:ext cx="2778" cy="0"/>
            </a:xfrm>
            <a:prstGeom prst="line">
              <a:avLst/>
            </a:prstGeom>
            <a:noFill/>
            <a:ln w="28575">
              <a:solidFill>
                <a:srgbClr val="000000"/>
              </a:solidFill>
              <a:round/>
              <a:headEnd/>
              <a:tailEnd type="stealth" w="lg" len="lg"/>
            </a:ln>
          </p:spPr>
          <p:txBody>
            <a:bodyPr/>
            <a:lstStyle/>
            <a:p>
              <a:endParaRPr lang="zh-CN" altLang="en-US"/>
            </a:p>
          </p:txBody>
        </p:sp>
        <p:sp>
          <p:nvSpPr>
            <p:cNvPr id="64585" name="Line 26"/>
            <p:cNvSpPr>
              <a:spLocks noChangeShapeType="1"/>
            </p:cNvSpPr>
            <p:nvPr/>
          </p:nvSpPr>
          <p:spPr bwMode="auto">
            <a:xfrm flipV="1">
              <a:off x="2468" y="1544"/>
              <a:ext cx="0" cy="1028"/>
            </a:xfrm>
            <a:prstGeom prst="line">
              <a:avLst/>
            </a:prstGeom>
            <a:noFill/>
            <a:ln w="25400">
              <a:solidFill>
                <a:srgbClr val="000000"/>
              </a:solidFill>
              <a:round/>
              <a:headEnd/>
              <a:tailEnd type="stealth" w="lg" len="lg"/>
            </a:ln>
          </p:spPr>
          <p:txBody>
            <a:bodyPr/>
            <a:lstStyle/>
            <a:p>
              <a:endParaRPr lang="zh-CN" altLang="en-US"/>
            </a:p>
          </p:txBody>
        </p:sp>
        <p:sp>
          <p:nvSpPr>
            <p:cNvPr id="64586" name="Freeform 27"/>
            <p:cNvSpPr>
              <a:spLocks/>
            </p:cNvSpPr>
            <p:nvPr/>
          </p:nvSpPr>
          <p:spPr bwMode="auto">
            <a:xfrm>
              <a:off x="2468" y="1772"/>
              <a:ext cx="2315" cy="695"/>
            </a:xfrm>
            <a:custGeom>
              <a:avLst/>
              <a:gdLst>
                <a:gd name="T0" fmla="*/ 0 w 2100"/>
                <a:gd name="T1" fmla="*/ 12 h 948"/>
                <a:gd name="T2" fmla="*/ 597 w 2100"/>
                <a:gd name="T3" fmla="*/ 11 h 948"/>
                <a:gd name="T4" fmla="*/ 1643 w 2100"/>
                <a:gd name="T5" fmla="*/ 6 h 948"/>
                <a:gd name="T6" fmla="*/ 3278 w 2100"/>
                <a:gd name="T7" fmla="*/ 0 h 948"/>
                <a:gd name="T8" fmla="*/ 4933 w 2100"/>
                <a:gd name="T9" fmla="*/ 6 h 948"/>
                <a:gd name="T10" fmla="*/ 6611 w 2100"/>
                <a:gd name="T11" fmla="*/ 12 h 948"/>
                <a:gd name="T12" fmla="*/ 8218 w 2100"/>
                <a:gd name="T13" fmla="*/ 6 h 948"/>
                <a:gd name="T14" fmla="*/ 0 60000 65536"/>
                <a:gd name="T15" fmla="*/ 0 60000 65536"/>
                <a:gd name="T16" fmla="*/ 0 60000 65536"/>
                <a:gd name="T17" fmla="*/ 0 60000 65536"/>
                <a:gd name="T18" fmla="*/ 0 60000 65536"/>
                <a:gd name="T19" fmla="*/ 0 60000 65536"/>
                <a:gd name="T20" fmla="*/ 0 60000 65536"/>
                <a:gd name="T21" fmla="*/ 0 w 2100"/>
                <a:gd name="T22" fmla="*/ 0 h 948"/>
                <a:gd name="T23" fmla="*/ 2100 w 2100"/>
                <a:gd name="T24" fmla="*/ 948 h 9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00" h="948">
                  <a:moveTo>
                    <a:pt x="0" y="936"/>
                  </a:moveTo>
                  <a:cubicBezTo>
                    <a:pt x="25" y="922"/>
                    <a:pt x="83" y="930"/>
                    <a:pt x="153" y="852"/>
                  </a:cubicBezTo>
                  <a:cubicBezTo>
                    <a:pt x="223" y="774"/>
                    <a:pt x="306" y="610"/>
                    <a:pt x="420" y="468"/>
                  </a:cubicBezTo>
                  <a:cubicBezTo>
                    <a:pt x="534" y="326"/>
                    <a:pt x="697" y="0"/>
                    <a:pt x="837" y="0"/>
                  </a:cubicBezTo>
                  <a:cubicBezTo>
                    <a:pt x="977" y="0"/>
                    <a:pt x="1118" y="310"/>
                    <a:pt x="1260" y="468"/>
                  </a:cubicBezTo>
                  <a:cubicBezTo>
                    <a:pt x="1402" y="626"/>
                    <a:pt x="1549" y="948"/>
                    <a:pt x="1689" y="948"/>
                  </a:cubicBezTo>
                  <a:cubicBezTo>
                    <a:pt x="1829" y="948"/>
                    <a:pt x="2015" y="568"/>
                    <a:pt x="2100" y="468"/>
                  </a:cubicBezTo>
                </a:path>
              </a:pathLst>
            </a:custGeom>
            <a:noFill/>
            <a:ln w="28575" cmpd="sng">
              <a:solidFill>
                <a:srgbClr val="009900"/>
              </a:solidFill>
              <a:round/>
              <a:headEnd/>
              <a:tailEnd/>
            </a:ln>
          </p:spPr>
          <p:txBody>
            <a:bodyPr/>
            <a:lstStyle/>
            <a:p>
              <a:endParaRPr lang="zh-CN" altLang="en-US"/>
            </a:p>
          </p:txBody>
        </p:sp>
        <p:sp>
          <p:nvSpPr>
            <p:cNvPr id="64587" name="Line 28"/>
            <p:cNvSpPr>
              <a:spLocks noChangeShapeType="1"/>
            </p:cNvSpPr>
            <p:nvPr/>
          </p:nvSpPr>
          <p:spPr bwMode="auto">
            <a:xfrm flipH="1">
              <a:off x="2468" y="1772"/>
              <a:ext cx="926" cy="0"/>
            </a:xfrm>
            <a:prstGeom prst="line">
              <a:avLst/>
            </a:prstGeom>
            <a:noFill/>
            <a:ln w="25400">
              <a:solidFill>
                <a:srgbClr val="000000"/>
              </a:solidFill>
              <a:prstDash val="lgDash"/>
              <a:round/>
              <a:headEnd/>
              <a:tailEnd/>
            </a:ln>
          </p:spPr>
          <p:txBody>
            <a:bodyPr/>
            <a:lstStyle/>
            <a:p>
              <a:endParaRPr lang="zh-CN" altLang="en-US"/>
            </a:p>
          </p:txBody>
        </p:sp>
        <p:sp>
          <p:nvSpPr>
            <p:cNvPr id="64588" name="Line 29"/>
            <p:cNvSpPr>
              <a:spLocks noChangeShapeType="1"/>
            </p:cNvSpPr>
            <p:nvPr/>
          </p:nvSpPr>
          <p:spPr bwMode="auto">
            <a:xfrm flipH="1">
              <a:off x="3379" y="1688"/>
              <a:ext cx="15" cy="427"/>
            </a:xfrm>
            <a:prstGeom prst="line">
              <a:avLst/>
            </a:prstGeom>
            <a:noFill/>
            <a:ln w="25400">
              <a:solidFill>
                <a:srgbClr val="000000"/>
              </a:solidFill>
              <a:prstDash val="lgDash"/>
              <a:round/>
              <a:headEnd/>
              <a:tailEnd/>
            </a:ln>
          </p:spPr>
          <p:txBody>
            <a:bodyPr/>
            <a:lstStyle/>
            <a:p>
              <a:endParaRPr lang="zh-CN" altLang="en-US"/>
            </a:p>
          </p:txBody>
        </p:sp>
        <p:graphicFrame>
          <p:nvGraphicFramePr>
            <p:cNvPr id="64568" name="Object 56"/>
            <p:cNvGraphicFramePr>
              <a:graphicFrameLocks noChangeAspect="1"/>
            </p:cNvGraphicFramePr>
            <p:nvPr/>
          </p:nvGraphicFramePr>
          <p:xfrm>
            <a:off x="2064" y="2296"/>
            <a:ext cx="352" cy="229"/>
          </p:xfrm>
          <a:graphic>
            <a:graphicData uri="http://schemas.openxmlformats.org/presentationml/2006/ole">
              <p:oleObj spid="_x0000_s64568" name="Equation" r:id="rId5" imgW="253780" imgH="164957" progId="Equation.DSMT4">
                <p:embed/>
              </p:oleObj>
            </a:graphicData>
          </a:graphic>
        </p:graphicFrame>
        <p:graphicFrame>
          <p:nvGraphicFramePr>
            <p:cNvPr id="64569" name="Object 57"/>
            <p:cNvGraphicFramePr>
              <a:graphicFrameLocks noChangeAspect="1"/>
            </p:cNvGraphicFramePr>
            <p:nvPr/>
          </p:nvGraphicFramePr>
          <p:xfrm>
            <a:off x="2200" y="1661"/>
            <a:ext cx="233" cy="233"/>
          </p:xfrm>
          <a:graphic>
            <a:graphicData uri="http://schemas.openxmlformats.org/presentationml/2006/ole">
              <p:oleObj spid="_x0000_s64569" name="Equation" r:id="rId6" imgW="164885" imgH="164885" progId="Equation.DSMT4">
                <p:embed/>
              </p:oleObj>
            </a:graphicData>
          </a:graphic>
        </p:graphicFrame>
        <p:graphicFrame>
          <p:nvGraphicFramePr>
            <p:cNvPr id="64570" name="Object 58"/>
            <p:cNvGraphicFramePr>
              <a:graphicFrameLocks noChangeAspect="1"/>
            </p:cNvGraphicFramePr>
            <p:nvPr/>
          </p:nvGraphicFramePr>
          <p:xfrm>
            <a:off x="2245" y="1979"/>
            <a:ext cx="220" cy="237"/>
          </p:xfrm>
          <a:graphic>
            <a:graphicData uri="http://schemas.openxmlformats.org/presentationml/2006/ole">
              <p:oleObj spid="_x0000_s64570" name="Equation" r:id="rId7" imgW="164814" imgH="177492" progId="Equation.DSMT4">
                <p:embed/>
              </p:oleObj>
            </a:graphicData>
          </a:graphic>
        </p:graphicFrame>
        <p:graphicFrame>
          <p:nvGraphicFramePr>
            <p:cNvPr id="64571" name="Object 59"/>
            <p:cNvGraphicFramePr>
              <a:graphicFrameLocks noChangeAspect="1"/>
            </p:cNvGraphicFramePr>
            <p:nvPr/>
          </p:nvGraphicFramePr>
          <p:xfrm>
            <a:off x="3288" y="2115"/>
            <a:ext cx="181" cy="446"/>
          </p:xfrm>
          <a:graphic>
            <a:graphicData uri="http://schemas.openxmlformats.org/presentationml/2006/ole">
              <p:oleObj spid="_x0000_s64571" name="Equation" r:id="rId8" imgW="164957" imgH="406048" progId="Equation.DSMT4">
                <p:embed/>
              </p:oleObj>
            </a:graphicData>
          </a:graphic>
        </p:graphicFrame>
        <p:graphicFrame>
          <p:nvGraphicFramePr>
            <p:cNvPr id="64572" name="Object 60"/>
            <p:cNvGraphicFramePr>
              <a:graphicFrameLocks noChangeAspect="1"/>
            </p:cNvGraphicFramePr>
            <p:nvPr/>
          </p:nvGraphicFramePr>
          <p:xfrm>
            <a:off x="4424" y="1616"/>
            <a:ext cx="270" cy="454"/>
          </p:xfrm>
          <a:graphic>
            <a:graphicData uri="http://schemas.openxmlformats.org/presentationml/2006/ole">
              <p:oleObj spid="_x0000_s64572" name="Equation" r:id="rId9" imgW="241195" imgH="406224" progId="Equation.DSMT4">
                <p:embed/>
              </p:oleObj>
            </a:graphicData>
          </a:graphic>
        </p:graphicFrame>
        <p:graphicFrame>
          <p:nvGraphicFramePr>
            <p:cNvPr id="64573" name="Object 61"/>
            <p:cNvGraphicFramePr>
              <a:graphicFrameLocks noChangeAspect="1"/>
            </p:cNvGraphicFramePr>
            <p:nvPr/>
          </p:nvGraphicFramePr>
          <p:xfrm>
            <a:off x="4468" y="2387"/>
            <a:ext cx="169" cy="237"/>
          </p:xfrm>
          <a:graphic>
            <a:graphicData uri="http://schemas.openxmlformats.org/presentationml/2006/ole">
              <p:oleObj spid="_x0000_s64573" name="Equation" r:id="rId10" imgW="126725" imgH="177415" progId="Equation.DSMT4">
                <p:embed/>
              </p:oleObj>
            </a:graphicData>
          </a:graphic>
        </p:graphicFrame>
        <p:graphicFrame>
          <p:nvGraphicFramePr>
            <p:cNvPr id="64574" name="Object 62"/>
            <p:cNvGraphicFramePr>
              <a:graphicFrameLocks noChangeAspect="1"/>
            </p:cNvGraphicFramePr>
            <p:nvPr/>
          </p:nvGraphicFramePr>
          <p:xfrm>
            <a:off x="3288" y="1480"/>
            <a:ext cx="164" cy="180"/>
          </p:xfrm>
          <a:graphic>
            <a:graphicData uri="http://schemas.openxmlformats.org/presentationml/2006/ole">
              <p:oleObj spid="_x0000_s64574" name="Equation" r:id="rId11" imgW="126835" imgH="139518" progId="Equation.DSMT4">
                <p:embed/>
              </p:oleObj>
            </a:graphicData>
          </a:graphic>
        </p:graphicFrame>
      </p:grpSp>
      <p:sp>
        <p:nvSpPr>
          <p:cNvPr id="64582" name="Text Box 34"/>
          <p:cNvSpPr txBox="1">
            <a:spLocks noChangeArrowheads="1"/>
          </p:cNvSpPr>
          <p:nvPr/>
        </p:nvSpPr>
        <p:spPr bwMode="auto">
          <a:xfrm>
            <a:off x="1042988" y="3867150"/>
            <a:ext cx="6913562" cy="369888"/>
          </a:xfrm>
          <a:prstGeom prst="rect">
            <a:avLst/>
          </a:prstGeom>
          <a:noFill/>
          <a:ln w="9525">
            <a:noFill/>
            <a:miter lim="800000"/>
            <a:headEnd/>
            <a:tailEnd/>
          </a:ln>
        </p:spPr>
        <p:txBody>
          <a:bodyPr>
            <a:spAutoFit/>
          </a:bodyPr>
          <a:lstStyle/>
          <a:p>
            <a:r>
              <a:rPr lang="en-US" altLang="zh-CN" sz="1800" b="1">
                <a:ea typeface="华文中宋"/>
                <a:cs typeface="华文中宋"/>
              </a:rPr>
              <a:t> </a:t>
            </a:r>
            <a:r>
              <a:rPr lang="zh-CN" altLang="en-US" sz="1800" b="1">
                <a:ea typeface="华文中宋"/>
                <a:cs typeface="华文中宋"/>
              </a:rPr>
              <a:t>解：由驻波位相分布特点知，同一波节两侧各点的位相差为</a:t>
            </a:r>
            <a:r>
              <a:rPr lang="en-US" altLang="zh-CN" sz="1800" b="1">
                <a:latin typeface="楷体_GB2312"/>
                <a:ea typeface="楷体_GB2312"/>
                <a:cs typeface="楷体_GB2312"/>
                <a:sym typeface="Symbol" pitchFamily="18" charset="2"/>
              </a:rPr>
              <a:t></a:t>
            </a:r>
            <a:r>
              <a:rPr lang="zh-CN" altLang="en-US" sz="1800" b="1">
                <a:latin typeface="楷体_GB2312"/>
                <a:ea typeface="楷体_GB2312"/>
                <a:cs typeface="楷体_GB2312"/>
                <a:sym typeface="Symbol" pitchFamily="18" charset="2"/>
              </a:rPr>
              <a:t>。</a:t>
            </a:r>
            <a:endParaRPr lang="zh-CN" altLang="en-US" sz="1800" b="1">
              <a:ea typeface="华文中宋"/>
              <a:cs typeface="华文中宋"/>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8181"/>
                                        </p:tgtEl>
                                        <p:attrNameLst>
                                          <p:attrName>style.visibility</p:attrName>
                                        </p:attrNameLst>
                                      </p:cBhvr>
                                      <p:to>
                                        <p:strVal val="visible"/>
                                      </p:to>
                                    </p:set>
                                    <p:animEffect transition="in" filter="blinds(horizontal)">
                                      <p:cBhvr>
                                        <p:cTn id="7" dur="500"/>
                                        <p:tgtEl>
                                          <p:spTgt spid="178181"/>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linds(horizontal)">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3" presetClass="entr" presetSubtype="16" fill="hold" grpId="0" nodeType="clickEffect">
                                  <p:stCondLst>
                                    <p:cond delay="0"/>
                                  </p:stCondLst>
                                  <p:childTnLst>
                                    <p:set>
                                      <p:cBhvr>
                                        <p:cTn id="19" dur="1" fill="hold">
                                          <p:stCondLst>
                                            <p:cond delay="0"/>
                                          </p:stCondLst>
                                        </p:cTn>
                                        <p:tgtEl>
                                          <p:spTgt spid="178187"/>
                                        </p:tgtEl>
                                        <p:attrNameLst>
                                          <p:attrName>style.visibility</p:attrName>
                                        </p:attrNameLst>
                                      </p:cBhvr>
                                      <p:to>
                                        <p:strVal val="visible"/>
                                      </p:to>
                                    </p:set>
                                    <p:anim calcmode="lin" valueType="num">
                                      <p:cBhvr>
                                        <p:cTn id="20" dur="500" fill="hold"/>
                                        <p:tgtEl>
                                          <p:spTgt spid="178187"/>
                                        </p:tgtEl>
                                        <p:attrNameLst>
                                          <p:attrName>ppt_w</p:attrName>
                                        </p:attrNameLst>
                                      </p:cBhvr>
                                      <p:tavLst>
                                        <p:tav tm="0">
                                          <p:val>
                                            <p:fltVal val="0"/>
                                          </p:val>
                                        </p:tav>
                                        <p:tav tm="100000">
                                          <p:val>
                                            <p:strVal val="#ppt_w"/>
                                          </p:val>
                                        </p:tav>
                                      </p:tavLst>
                                    </p:anim>
                                    <p:anim calcmode="lin" valueType="num">
                                      <p:cBhvr>
                                        <p:cTn id="21" dur="500" fill="hold"/>
                                        <p:tgtEl>
                                          <p:spTgt spid="178187"/>
                                        </p:tgtEl>
                                        <p:attrNameLst>
                                          <p:attrName>ppt_h</p:attrName>
                                        </p:attrNameLst>
                                      </p:cBhvr>
                                      <p:tavLst>
                                        <p:tav tm="0">
                                          <p:val>
                                            <p:fltVal val="0"/>
                                          </p:val>
                                        </p:tav>
                                        <p:tav tm="100000">
                                          <p:val>
                                            <p:strVal val="#ppt_h"/>
                                          </p:val>
                                        </p:tav>
                                      </p:tavLst>
                                    </p:anim>
                                  </p:childTnLst>
                                </p:cTn>
                              </p:par>
                              <p:par>
                                <p:cTn id="22" presetID="3" presetClass="entr" presetSubtype="1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linds(horizontal)">
                                      <p:cBhvr>
                                        <p:cTn id="24" dur="500"/>
                                        <p:tgtEl>
                                          <p:spTgt spid="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3" presetClass="entr" presetSubtype="16" fill="hold" grpId="0" nodeType="clickEffect">
                                  <p:stCondLst>
                                    <p:cond delay="0"/>
                                  </p:stCondLst>
                                  <p:childTnLst>
                                    <p:set>
                                      <p:cBhvr>
                                        <p:cTn id="28" dur="1" fill="hold">
                                          <p:stCondLst>
                                            <p:cond delay="0"/>
                                          </p:stCondLst>
                                        </p:cTn>
                                        <p:tgtEl>
                                          <p:spTgt spid="178211"/>
                                        </p:tgtEl>
                                        <p:attrNameLst>
                                          <p:attrName>style.visibility</p:attrName>
                                        </p:attrNameLst>
                                      </p:cBhvr>
                                      <p:to>
                                        <p:strVal val="visible"/>
                                      </p:to>
                                    </p:set>
                                    <p:anim calcmode="lin" valueType="num">
                                      <p:cBhvr>
                                        <p:cTn id="29" dur="500" fill="hold"/>
                                        <p:tgtEl>
                                          <p:spTgt spid="178211"/>
                                        </p:tgtEl>
                                        <p:attrNameLst>
                                          <p:attrName>ppt_w</p:attrName>
                                        </p:attrNameLst>
                                      </p:cBhvr>
                                      <p:tavLst>
                                        <p:tav tm="0">
                                          <p:val>
                                            <p:fltVal val="0"/>
                                          </p:val>
                                        </p:tav>
                                        <p:tav tm="100000">
                                          <p:val>
                                            <p:strVal val="#ppt_w"/>
                                          </p:val>
                                        </p:tav>
                                      </p:tavLst>
                                    </p:anim>
                                    <p:anim calcmode="lin" valueType="num">
                                      <p:cBhvr>
                                        <p:cTn id="30" dur="500" fill="hold"/>
                                        <p:tgtEl>
                                          <p:spTgt spid="1782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1" grpId="0"/>
      <p:bldP spid="178187" grpId="0" autoUpdateAnimBg="0"/>
      <p:bldP spid="178211"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Text Box 4"/>
          <p:cNvSpPr txBox="1">
            <a:spLocks noChangeArrowheads="1"/>
          </p:cNvSpPr>
          <p:nvPr/>
        </p:nvSpPr>
        <p:spPr bwMode="auto">
          <a:xfrm>
            <a:off x="4786313" y="1492250"/>
            <a:ext cx="3452812" cy="369888"/>
          </a:xfrm>
          <a:prstGeom prst="rect">
            <a:avLst/>
          </a:prstGeom>
          <a:noFill/>
          <a:ln w="9525" algn="ctr">
            <a:noFill/>
            <a:miter lim="800000"/>
            <a:headEnd/>
            <a:tailEnd/>
          </a:ln>
          <a:effectLst/>
        </p:spPr>
        <p:txBody>
          <a:bodyPr>
            <a:spAutoFit/>
          </a:bodyPr>
          <a:lstStyle/>
          <a:p>
            <a:pPr>
              <a:spcBef>
                <a:spcPct val="50000"/>
              </a:spcBef>
              <a:defRPr/>
            </a:pPr>
            <a:r>
              <a:rPr kumimoji="0" lang="zh-CN" altLang="en-US" sz="1800" b="1" dirty="0">
                <a:effectLst>
                  <a:outerShdw blurRad="38100" dist="38100" dir="2700000" algn="tl">
                    <a:srgbClr val="C0C0C0"/>
                  </a:outerShdw>
                </a:effectLst>
                <a:latin typeface="华文中宋" pitchFamily="2" charset="-122"/>
                <a:ea typeface="华文中宋" pitchFamily="2" charset="-122"/>
              </a:rPr>
              <a:t>现象特点：</a:t>
            </a:r>
          </a:p>
        </p:txBody>
      </p:sp>
      <p:sp>
        <p:nvSpPr>
          <p:cNvPr id="115717" name="Text Box 5"/>
          <p:cNvSpPr txBox="1">
            <a:spLocks noChangeArrowheads="1"/>
          </p:cNvSpPr>
          <p:nvPr/>
        </p:nvSpPr>
        <p:spPr bwMode="auto">
          <a:xfrm>
            <a:off x="4329113" y="2120900"/>
            <a:ext cx="4205287" cy="369888"/>
          </a:xfrm>
          <a:prstGeom prst="rect">
            <a:avLst/>
          </a:prstGeom>
          <a:noFill/>
          <a:ln w="9525" algn="ctr">
            <a:noFill/>
            <a:miter lim="800000"/>
            <a:headEnd/>
            <a:tailEnd/>
          </a:ln>
          <a:effectLst/>
        </p:spPr>
        <p:txBody>
          <a:bodyPr>
            <a:spAutoFit/>
          </a:bodyPr>
          <a:lstStyle/>
          <a:p>
            <a:pPr>
              <a:spcBef>
                <a:spcPct val="50000"/>
              </a:spcBef>
              <a:defRPr/>
            </a:pPr>
            <a:r>
              <a:rPr kumimoji="0" lang="zh-CN" altLang="en-US" sz="1800" b="1" dirty="0">
                <a:effectLst>
                  <a:outerShdw blurRad="38100" dist="38100" dir="2700000" algn="tl">
                    <a:srgbClr val="C0C0C0"/>
                  </a:outerShdw>
                </a:effectLst>
                <a:latin typeface="华文中宋" pitchFamily="2" charset="-122"/>
                <a:ea typeface="华文中宋" pitchFamily="2" charset="-122"/>
              </a:rPr>
              <a:t>飞机或汽车靠近时，音调变</a:t>
            </a:r>
            <a:r>
              <a:rPr kumimoji="0" lang="zh-CN" altLang="en-US" sz="1800" b="1" dirty="0">
                <a:solidFill>
                  <a:srgbClr val="FF0000"/>
                </a:solidFill>
                <a:effectLst>
                  <a:outerShdw blurRad="38100" dist="38100" dir="2700000" algn="tl">
                    <a:srgbClr val="C0C0C0"/>
                  </a:outerShdw>
                </a:effectLst>
                <a:latin typeface="华文中宋" pitchFamily="2" charset="-122"/>
                <a:ea typeface="华文中宋" pitchFamily="2" charset="-122"/>
              </a:rPr>
              <a:t>高</a:t>
            </a:r>
          </a:p>
        </p:txBody>
      </p:sp>
      <p:sp>
        <p:nvSpPr>
          <p:cNvPr id="115718" name="Text Box 6"/>
          <p:cNvSpPr txBox="1">
            <a:spLocks noChangeArrowheads="1"/>
          </p:cNvSpPr>
          <p:nvPr/>
        </p:nvSpPr>
        <p:spPr bwMode="auto">
          <a:xfrm>
            <a:off x="4329113" y="2692400"/>
            <a:ext cx="4419600" cy="369888"/>
          </a:xfrm>
          <a:prstGeom prst="rect">
            <a:avLst/>
          </a:prstGeom>
          <a:noFill/>
          <a:ln w="9525" algn="ctr">
            <a:noFill/>
            <a:miter lim="800000"/>
            <a:headEnd/>
            <a:tailEnd/>
          </a:ln>
          <a:effectLst/>
        </p:spPr>
        <p:txBody>
          <a:bodyPr>
            <a:spAutoFit/>
          </a:bodyPr>
          <a:lstStyle/>
          <a:p>
            <a:pPr>
              <a:spcBef>
                <a:spcPct val="50000"/>
              </a:spcBef>
              <a:defRPr/>
            </a:pPr>
            <a:r>
              <a:rPr kumimoji="0" lang="zh-CN" altLang="en-US" sz="1800" b="1" dirty="0">
                <a:effectLst>
                  <a:outerShdw blurRad="38100" dist="38100" dir="2700000" algn="tl">
                    <a:srgbClr val="C0C0C0"/>
                  </a:outerShdw>
                </a:effectLst>
                <a:latin typeface="华文中宋" pitchFamily="2" charset="-122"/>
                <a:ea typeface="华文中宋" pitchFamily="2" charset="-122"/>
              </a:rPr>
              <a:t>飞机或汽车远离时，音调变</a:t>
            </a:r>
            <a:r>
              <a:rPr kumimoji="0" lang="zh-CN" altLang="en-US" sz="1800" b="1" dirty="0">
                <a:solidFill>
                  <a:srgbClr val="FF0000"/>
                </a:solidFill>
                <a:effectLst>
                  <a:outerShdw blurRad="38100" dist="38100" dir="2700000" algn="tl">
                    <a:srgbClr val="C0C0C0"/>
                  </a:outerShdw>
                </a:effectLst>
                <a:latin typeface="华文中宋" pitchFamily="2" charset="-122"/>
                <a:ea typeface="华文中宋" pitchFamily="2" charset="-122"/>
              </a:rPr>
              <a:t>低</a:t>
            </a:r>
          </a:p>
        </p:txBody>
      </p:sp>
      <p:sp>
        <p:nvSpPr>
          <p:cNvPr id="115719" name="Text Box 7"/>
          <p:cNvSpPr txBox="1">
            <a:spLocks noChangeArrowheads="1"/>
          </p:cNvSpPr>
          <p:nvPr/>
        </p:nvSpPr>
        <p:spPr bwMode="auto">
          <a:xfrm>
            <a:off x="4786313" y="3321050"/>
            <a:ext cx="1143000" cy="369888"/>
          </a:xfrm>
          <a:prstGeom prst="rect">
            <a:avLst/>
          </a:prstGeom>
          <a:noFill/>
          <a:ln w="9525" algn="ctr">
            <a:noFill/>
            <a:miter lim="800000"/>
            <a:headEnd/>
            <a:tailEnd/>
          </a:ln>
          <a:effectLst/>
        </p:spPr>
        <p:txBody>
          <a:bodyPr>
            <a:spAutoFit/>
          </a:bodyPr>
          <a:lstStyle/>
          <a:p>
            <a:pPr>
              <a:spcBef>
                <a:spcPct val="50000"/>
              </a:spcBef>
              <a:defRPr/>
            </a:pPr>
            <a:r>
              <a:rPr kumimoji="0" lang="zh-CN" altLang="en-US" sz="1800" b="1" dirty="0">
                <a:effectLst>
                  <a:outerShdw blurRad="38100" dist="38100" dir="2700000" algn="tl">
                    <a:srgbClr val="C0C0C0"/>
                  </a:outerShdw>
                </a:effectLst>
                <a:latin typeface="华文中宋" pitchFamily="2" charset="-122"/>
                <a:ea typeface="华文中宋" pitchFamily="2" charset="-122"/>
              </a:rPr>
              <a:t>音调</a:t>
            </a:r>
            <a:r>
              <a:rPr kumimoji="0" lang="zh-CN" altLang="en-US" sz="1800" b="1" dirty="0">
                <a:solidFill>
                  <a:srgbClr val="FF0000"/>
                </a:solidFill>
                <a:effectLst>
                  <a:outerShdw blurRad="38100" dist="38100" dir="2700000" algn="tl">
                    <a:srgbClr val="C0C0C0"/>
                  </a:outerShdw>
                </a:effectLst>
                <a:latin typeface="华文中宋" pitchFamily="2" charset="-122"/>
                <a:ea typeface="华文中宋" pitchFamily="2" charset="-122"/>
              </a:rPr>
              <a:t>高</a:t>
            </a:r>
          </a:p>
        </p:txBody>
      </p:sp>
      <p:sp>
        <p:nvSpPr>
          <p:cNvPr id="115720" name="Text Box 8"/>
          <p:cNvSpPr txBox="1">
            <a:spLocks noChangeArrowheads="1"/>
          </p:cNvSpPr>
          <p:nvPr/>
        </p:nvSpPr>
        <p:spPr bwMode="auto">
          <a:xfrm>
            <a:off x="4786313" y="3892550"/>
            <a:ext cx="1143000" cy="369888"/>
          </a:xfrm>
          <a:prstGeom prst="rect">
            <a:avLst/>
          </a:prstGeom>
          <a:noFill/>
          <a:ln w="9525" algn="ctr">
            <a:noFill/>
            <a:miter lim="800000"/>
            <a:headEnd/>
            <a:tailEnd/>
          </a:ln>
          <a:effectLst/>
        </p:spPr>
        <p:txBody>
          <a:bodyPr>
            <a:spAutoFit/>
          </a:bodyPr>
          <a:lstStyle/>
          <a:p>
            <a:pPr>
              <a:spcBef>
                <a:spcPct val="50000"/>
              </a:spcBef>
              <a:defRPr/>
            </a:pPr>
            <a:r>
              <a:rPr kumimoji="0" lang="zh-CN" altLang="en-US" sz="1800" b="1" dirty="0">
                <a:effectLst>
                  <a:outerShdw blurRad="38100" dist="38100" dir="2700000" algn="tl">
                    <a:srgbClr val="C0C0C0"/>
                  </a:outerShdw>
                </a:effectLst>
                <a:latin typeface="华文中宋" pitchFamily="2" charset="-122"/>
                <a:ea typeface="华文中宋" pitchFamily="2" charset="-122"/>
              </a:rPr>
              <a:t>音调</a:t>
            </a:r>
            <a:r>
              <a:rPr kumimoji="0" lang="zh-CN" altLang="en-US" sz="1800" b="1" dirty="0">
                <a:solidFill>
                  <a:srgbClr val="FF0000"/>
                </a:solidFill>
                <a:effectLst>
                  <a:outerShdw blurRad="38100" dist="38100" dir="2700000" algn="tl">
                    <a:srgbClr val="C0C0C0"/>
                  </a:outerShdw>
                </a:effectLst>
                <a:latin typeface="华文中宋" pitchFamily="2" charset="-122"/>
                <a:ea typeface="华文中宋" pitchFamily="2" charset="-122"/>
              </a:rPr>
              <a:t>低</a:t>
            </a:r>
          </a:p>
        </p:txBody>
      </p:sp>
      <p:sp>
        <p:nvSpPr>
          <p:cNvPr id="115721" name="Text Box 9"/>
          <p:cNvSpPr txBox="1">
            <a:spLocks noChangeArrowheads="1"/>
          </p:cNvSpPr>
          <p:nvPr/>
        </p:nvSpPr>
        <p:spPr bwMode="auto">
          <a:xfrm>
            <a:off x="6919913" y="3892550"/>
            <a:ext cx="1219200" cy="369888"/>
          </a:xfrm>
          <a:prstGeom prst="rect">
            <a:avLst/>
          </a:prstGeom>
          <a:noFill/>
          <a:ln w="9525" algn="ctr">
            <a:noFill/>
            <a:miter lim="800000"/>
            <a:headEnd/>
            <a:tailEnd/>
          </a:ln>
          <a:effectLst/>
        </p:spPr>
        <p:txBody>
          <a:bodyPr>
            <a:spAutoFit/>
          </a:bodyPr>
          <a:lstStyle/>
          <a:p>
            <a:pPr>
              <a:spcBef>
                <a:spcPct val="50000"/>
              </a:spcBef>
              <a:defRPr/>
            </a:pPr>
            <a:r>
              <a:rPr kumimoji="0" lang="zh-CN" altLang="en-US" sz="1800" b="1" dirty="0">
                <a:effectLst>
                  <a:outerShdw blurRad="38100" dist="38100" dir="2700000" algn="tl">
                    <a:srgbClr val="C0C0C0"/>
                  </a:outerShdw>
                </a:effectLst>
                <a:latin typeface="华文中宋" pitchFamily="2" charset="-122"/>
                <a:ea typeface="华文中宋" pitchFamily="2" charset="-122"/>
              </a:rPr>
              <a:t>频率</a:t>
            </a:r>
            <a:r>
              <a:rPr kumimoji="0" lang="zh-CN" altLang="en-US" sz="1800" b="1" dirty="0">
                <a:solidFill>
                  <a:srgbClr val="FF0000"/>
                </a:solidFill>
                <a:effectLst>
                  <a:outerShdw blurRad="38100" dist="38100" dir="2700000" algn="tl">
                    <a:srgbClr val="C0C0C0"/>
                  </a:outerShdw>
                </a:effectLst>
                <a:latin typeface="华文中宋" pitchFamily="2" charset="-122"/>
                <a:ea typeface="华文中宋" pitchFamily="2" charset="-122"/>
              </a:rPr>
              <a:t>低</a:t>
            </a:r>
          </a:p>
        </p:txBody>
      </p:sp>
      <p:sp>
        <p:nvSpPr>
          <p:cNvPr id="115722" name="Text Box 10"/>
          <p:cNvSpPr txBox="1">
            <a:spLocks noChangeArrowheads="1"/>
          </p:cNvSpPr>
          <p:nvPr/>
        </p:nvSpPr>
        <p:spPr bwMode="auto">
          <a:xfrm>
            <a:off x="6919913" y="3321050"/>
            <a:ext cx="1219200" cy="369888"/>
          </a:xfrm>
          <a:prstGeom prst="rect">
            <a:avLst/>
          </a:prstGeom>
          <a:noFill/>
          <a:ln w="9525" algn="ctr">
            <a:noFill/>
            <a:miter lim="800000"/>
            <a:headEnd/>
            <a:tailEnd/>
          </a:ln>
          <a:effectLst/>
        </p:spPr>
        <p:txBody>
          <a:bodyPr>
            <a:spAutoFit/>
          </a:bodyPr>
          <a:lstStyle/>
          <a:p>
            <a:pPr>
              <a:spcBef>
                <a:spcPct val="50000"/>
              </a:spcBef>
              <a:defRPr/>
            </a:pPr>
            <a:r>
              <a:rPr kumimoji="0" lang="zh-CN" altLang="en-US" sz="1800" b="1" dirty="0">
                <a:effectLst>
                  <a:outerShdw blurRad="38100" dist="38100" dir="2700000" algn="tl">
                    <a:srgbClr val="C0C0C0"/>
                  </a:outerShdw>
                </a:effectLst>
                <a:latin typeface="华文中宋" pitchFamily="2" charset="-122"/>
                <a:ea typeface="华文中宋" pitchFamily="2" charset="-122"/>
              </a:rPr>
              <a:t>频率</a:t>
            </a:r>
            <a:r>
              <a:rPr kumimoji="0" lang="zh-CN" altLang="en-US" sz="1800" b="1" dirty="0">
                <a:solidFill>
                  <a:srgbClr val="FF0000"/>
                </a:solidFill>
                <a:effectLst>
                  <a:outerShdw blurRad="38100" dist="38100" dir="2700000" algn="tl">
                    <a:srgbClr val="C0C0C0"/>
                  </a:outerShdw>
                </a:effectLst>
                <a:latin typeface="华文中宋" pitchFamily="2" charset="-122"/>
                <a:ea typeface="华文中宋" pitchFamily="2" charset="-122"/>
              </a:rPr>
              <a:t>高</a:t>
            </a:r>
          </a:p>
        </p:txBody>
      </p:sp>
      <p:sp>
        <p:nvSpPr>
          <p:cNvPr id="115723" name="AutoShape 11"/>
          <p:cNvSpPr>
            <a:spLocks noChangeArrowheads="1"/>
          </p:cNvSpPr>
          <p:nvPr/>
        </p:nvSpPr>
        <p:spPr bwMode="auto">
          <a:xfrm>
            <a:off x="6081713" y="3435350"/>
            <a:ext cx="762000" cy="171450"/>
          </a:xfrm>
          <a:prstGeom prst="rightArrow">
            <a:avLst>
              <a:gd name="adj1" fmla="val 50000"/>
              <a:gd name="adj2" fmla="val 83333"/>
            </a:avLst>
          </a:prstGeom>
          <a:solidFill>
            <a:srgbClr val="FFFF00">
              <a:alpha val="85881"/>
            </a:srgbClr>
          </a:solidFill>
          <a:ln w="9525" algn="ctr">
            <a:solidFill>
              <a:schemeClr val="tx1"/>
            </a:solidFill>
            <a:miter lim="800000"/>
            <a:headEnd/>
            <a:tailEnd/>
          </a:ln>
        </p:spPr>
        <p:txBody>
          <a:bodyPr wrap="none" anchor="ctr"/>
          <a:lstStyle/>
          <a:p>
            <a:endParaRPr lang="zh-CN" altLang="en-US" sz="1800"/>
          </a:p>
        </p:txBody>
      </p:sp>
      <p:sp>
        <p:nvSpPr>
          <p:cNvPr id="115724" name="AutoShape 12"/>
          <p:cNvSpPr>
            <a:spLocks noChangeArrowheads="1"/>
          </p:cNvSpPr>
          <p:nvPr/>
        </p:nvSpPr>
        <p:spPr bwMode="auto">
          <a:xfrm>
            <a:off x="6081713" y="4006850"/>
            <a:ext cx="762000" cy="171450"/>
          </a:xfrm>
          <a:prstGeom prst="rightArrow">
            <a:avLst>
              <a:gd name="adj1" fmla="val 50000"/>
              <a:gd name="adj2" fmla="val 83333"/>
            </a:avLst>
          </a:prstGeom>
          <a:solidFill>
            <a:srgbClr val="FFFF00">
              <a:alpha val="85881"/>
            </a:srgbClr>
          </a:solidFill>
          <a:ln w="9525" algn="ctr">
            <a:solidFill>
              <a:schemeClr val="tx1"/>
            </a:solidFill>
            <a:miter lim="800000"/>
            <a:headEnd/>
            <a:tailEnd/>
          </a:ln>
        </p:spPr>
        <p:txBody>
          <a:bodyPr wrap="none" anchor="ctr"/>
          <a:lstStyle/>
          <a:p>
            <a:endParaRPr lang="zh-CN" altLang="en-US"/>
          </a:p>
        </p:txBody>
      </p:sp>
      <p:sp>
        <p:nvSpPr>
          <p:cNvPr id="91146" name="Rectangle 13"/>
          <p:cNvSpPr>
            <a:spLocks noChangeArrowheads="1"/>
          </p:cNvSpPr>
          <p:nvPr/>
        </p:nvSpPr>
        <p:spPr bwMode="auto">
          <a:xfrm>
            <a:off x="250825" y="896938"/>
            <a:ext cx="4572000" cy="400050"/>
          </a:xfrm>
          <a:prstGeom prst="rect">
            <a:avLst/>
          </a:prstGeom>
          <a:noFill/>
          <a:ln w="9525">
            <a:noFill/>
            <a:miter lim="800000"/>
            <a:headEnd/>
            <a:tailEnd/>
          </a:ln>
        </p:spPr>
        <p:txBody>
          <a:bodyPr/>
          <a:lstStyle/>
          <a:p>
            <a:endParaRPr lang="zh-CN" altLang="en-US" b="1">
              <a:solidFill>
                <a:srgbClr val="0000FF"/>
              </a:solidFill>
              <a:latin typeface="华文中宋"/>
              <a:ea typeface="华文中宋"/>
              <a:cs typeface="华文中宋"/>
            </a:endParaRPr>
          </a:p>
        </p:txBody>
      </p:sp>
      <p:pic>
        <p:nvPicPr>
          <p:cNvPr id="115726" name="电影.wmv">
            <a:hlinkClick r:id="" action="ppaction://media"/>
          </p:cNvPr>
          <p:cNvPicPr>
            <a:picLocks noRot="1" noChangeAspect="1" noChangeArrowheads="1"/>
          </p:cNvPicPr>
          <p:nvPr>
            <a:videoFile r:link="rId1"/>
          </p:nvPr>
        </p:nvPicPr>
        <p:blipFill>
          <a:blip r:embed="rId3"/>
          <a:srcRect/>
          <a:stretch>
            <a:fillRect/>
          </a:stretch>
        </p:blipFill>
        <p:spPr bwMode="auto">
          <a:xfrm>
            <a:off x="2195513" y="1490663"/>
            <a:ext cx="4406900" cy="2478087"/>
          </a:xfrm>
          <a:prstGeom prst="rect">
            <a:avLst/>
          </a:prstGeom>
          <a:noFill/>
          <a:ln w="9525">
            <a:noFill/>
            <a:miter lim="800000"/>
            <a:headEnd/>
            <a:tailEnd/>
          </a:ln>
        </p:spPr>
      </p:pic>
      <p:sp>
        <p:nvSpPr>
          <p:cNvPr id="13" name="Text Box 2"/>
          <p:cNvSpPr>
            <a:spLocks noChangeArrowheads="1"/>
          </p:cNvSpPr>
          <p:nvPr/>
        </p:nvSpPr>
        <p:spPr bwMode="auto">
          <a:xfrm>
            <a:off x="828675" y="874713"/>
            <a:ext cx="2303463" cy="400050"/>
          </a:xfrm>
          <a:prstGeom prst="homePlate">
            <a:avLst>
              <a:gd name="adj" fmla="val 49636"/>
            </a:avLst>
          </a:prstGeom>
          <a:solidFill>
            <a:srgbClr val="539A84"/>
          </a:solidFill>
          <a:ln w="9525">
            <a:noFill/>
            <a:miter lim="800000"/>
            <a:headEnd/>
            <a:tailEnd/>
          </a:ln>
        </p:spPr>
        <p:txBody>
          <a:bodyPr>
            <a:spAutoFit/>
          </a:bodyPr>
          <a:lstStyle/>
          <a:p>
            <a:r>
              <a:rPr lang="zh-CN" altLang="en-US" sz="2000" b="1">
                <a:solidFill>
                  <a:srgbClr val="0000FF"/>
                </a:solidFill>
                <a:latin typeface="华文中宋"/>
                <a:ea typeface="华文中宋"/>
                <a:cs typeface="华文中宋"/>
              </a:rPr>
              <a:t>一、多普勒现象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15726"/>
                                        </p:tgtEl>
                                        <p:attrNameLst>
                                          <p:attrName>style.visibility</p:attrName>
                                        </p:attrNameLst>
                                      </p:cBhvr>
                                      <p:to>
                                        <p:strVal val="visible"/>
                                      </p:to>
                                    </p:set>
                                    <p:animEffect transition="in" filter="dissolve">
                                      <p:cBhvr>
                                        <p:cTn id="12" dur="500"/>
                                        <p:tgtEl>
                                          <p:spTgt spid="115726"/>
                                        </p:tgtEl>
                                      </p:cBhvr>
                                    </p:animEffect>
                                  </p:childTnLst>
                                </p:cTn>
                              </p:par>
                            </p:childTnLst>
                          </p:cTn>
                        </p:par>
                        <p:par>
                          <p:cTn id="13" fill="hold" nodeType="afterGroup">
                            <p:stCondLst>
                              <p:cond delay="500"/>
                            </p:stCondLst>
                            <p:childTnLst>
                              <p:par>
                                <p:cTn id="14" presetID="6" presetClass="emph" presetSubtype="0" fill="hold" nodeType="afterEffect">
                                  <p:stCondLst>
                                    <p:cond delay="0"/>
                                  </p:stCondLst>
                                  <p:childTnLst>
                                    <p:animScale>
                                      <p:cBhvr>
                                        <p:cTn id="15" dur="500" fill="hold"/>
                                        <p:tgtEl>
                                          <p:spTgt spid="115726"/>
                                        </p:tgtEl>
                                      </p:cBhvr>
                                      <p:by x="150000" y="150000"/>
                                    </p:animScale>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mediacall" presetSubtype="0" fill="hold" nodeType="clickEffect">
                                  <p:stCondLst>
                                    <p:cond delay="0"/>
                                  </p:stCondLst>
                                  <p:childTnLst>
                                    <p:cmd type="call" cmd="togglePause">
                                      <p:cBhvr>
                                        <p:cTn id="19" dur="1" fill="hold"/>
                                        <p:tgtEl>
                                          <p:spTgt spid="115726"/>
                                        </p:tgtEl>
                                      </p:cBhvr>
                                    </p:cmd>
                                  </p:childTnLst>
                                </p:cTn>
                              </p:par>
                            </p:childTnLst>
                          </p:cTn>
                        </p:par>
                      </p:childTnLst>
                    </p:cTn>
                  </p:par>
                  <p:par>
                    <p:cTn id="20" fill="hold" nodeType="clickPar">
                      <p:stCondLst>
                        <p:cond delay="indefinite"/>
                      </p:stCondLst>
                      <p:childTnLst>
                        <p:par>
                          <p:cTn id="21" fill="hold" nodeType="withGroup">
                            <p:stCondLst>
                              <p:cond delay="0"/>
                            </p:stCondLst>
                            <p:childTnLst>
                              <p:par>
                                <p:cTn id="22" presetID="6" presetClass="emph" presetSubtype="0" fill="hold" nodeType="clickEffect">
                                  <p:stCondLst>
                                    <p:cond delay="0"/>
                                  </p:stCondLst>
                                  <p:childTnLst>
                                    <p:animScale>
                                      <p:cBhvr>
                                        <p:cTn id="23" dur="500" fill="hold"/>
                                        <p:tgtEl>
                                          <p:spTgt spid="115726"/>
                                        </p:tgtEl>
                                      </p:cBhvr>
                                      <p:by x="50000" y="50000"/>
                                    </p:animScale>
                                  </p:childTnLst>
                                </p:cTn>
                              </p:par>
                              <p:par>
                                <p:cTn id="24" presetID="0" presetClass="path" presetSubtype="0" accel="50000" decel="50000" fill="hold" nodeType="withEffect">
                                  <p:stCondLst>
                                    <p:cond delay="0"/>
                                  </p:stCondLst>
                                  <p:childTnLst>
                                    <p:animMotion origin="layout" path="M -3.33333E-6 -3.50601E-6 L -0.24166 -0.04718 " pathEditMode="relative" rAng="0" ptsTypes="AA">
                                      <p:cBhvr>
                                        <p:cTn id="25" dur="500" fill="hold"/>
                                        <p:tgtEl>
                                          <p:spTgt spid="115726"/>
                                        </p:tgtEl>
                                        <p:attrNameLst>
                                          <p:attrName>ppt_x</p:attrName>
                                          <p:attrName>ppt_y</p:attrName>
                                        </p:attrNameLst>
                                      </p:cBhvr>
                                      <p:rCtr x="-12083" y="-2359"/>
                                    </p:animMotion>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5716"/>
                                        </p:tgtEl>
                                        <p:attrNameLst>
                                          <p:attrName>style.visibility</p:attrName>
                                        </p:attrNameLst>
                                      </p:cBhvr>
                                      <p:to>
                                        <p:strVal val="visible"/>
                                      </p:to>
                                    </p:set>
                                    <p:animEffect transition="in" filter="wipe(left)">
                                      <p:cBhvr>
                                        <p:cTn id="30" dur="500"/>
                                        <p:tgtEl>
                                          <p:spTgt spid="11571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15717"/>
                                        </p:tgtEl>
                                        <p:attrNameLst>
                                          <p:attrName>style.visibility</p:attrName>
                                        </p:attrNameLst>
                                      </p:cBhvr>
                                      <p:to>
                                        <p:strVal val="visible"/>
                                      </p:to>
                                    </p:set>
                                    <p:animEffect transition="in" filter="wipe(left)">
                                      <p:cBhvr>
                                        <p:cTn id="35" dur="500"/>
                                        <p:tgtEl>
                                          <p:spTgt spid="115717"/>
                                        </p:tgtEl>
                                      </p:cBhvr>
                                    </p:animEffect>
                                  </p:childTnLst>
                                </p:cTn>
                              </p:par>
                            </p:childTnLst>
                          </p:cTn>
                        </p:par>
                        <p:par>
                          <p:cTn id="36" fill="hold" nodeType="afterGroup">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15718"/>
                                        </p:tgtEl>
                                        <p:attrNameLst>
                                          <p:attrName>style.visibility</p:attrName>
                                        </p:attrNameLst>
                                      </p:cBhvr>
                                      <p:to>
                                        <p:strVal val="visible"/>
                                      </p:to>
                                    </p:set>
                                    <p:animEffect transition="in" filter="wipe(left)">
                                      <p:cBhvr>
                                        <p:cTn id="39" dur="500"/>
                                        <p:tgtEl>
                                          <p:spTgt spid="11571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15719"/>
                                        </p:tgtEl>
                                        <p:attrNameLst>
                                          <p:attrName>style.visibility</p:attrName>
                                        </p:attrNameLst>
                                      </p:cBhvr>
                                      <p:to>
                                        <p:strVal val="visible"/>
                                      </p:to>
                                    </p:set>
                                    <p:animEffect transition="in" filter="wipe(left)">
                                      <p:cBhvr>
                                        <p:cTn id="44" dur="500"/>
                                        <p:tgtEl>
                                          <p:spTgt spid="115719"/>
                                        </p:tgtEl>
                                      </p:cBhvr>
                                    </p:animEffect>
                                  </p:childTnLst>
                                </p:cTn>
                              </p:par>
                            </p:childTnLst>
                          </p:cTn>
                        </p:par>
                        <p:par>
                          <p:cTn id="45" fill="hold" nodeType="afterGroup">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115723"/>
                                        </p:tgtEl>
                                        <p:attrNameLst>
                                          <p:attrName>style.visibility</p:attrName>
                                        </p:attrNameLst>
                                      </p:cBhvr>
                                      <p:to>
                                        <p:strVal val="visible"/>
                                      </p:to>
                                    </p:set>
                                    <p:animEffect transition="in" filter="wipe(left)">
                                      <p:cBhvr>
                                        <p:cTn id="48" dur="500"/>
                                        <p:tgtEl>
                                          <p:spTgt spid="115723"/>
                                        </p:tgtEl>
                                      </p:cBhvr>
                                    </p:animEffect>
                                  </p:childTnLst>
                                </p:cTn>
                              </p:par>
                            </p:childTnLst>
                          </p:cTn>
                        </p:par>
                        <p:par>
                          <p:cTn id="49" fill="hold" nodeType="afterGroup">
                            <p:stCondLst>
                              <p:cond delay="1000"/>
                            </p:stCondLst>
                            <p:childTnLst>
                              <p:par>
                                <p:cTn id="50" presetID="22" presetClass="entr" presetSubtype="8" fill="hold" grpId="0" nodeType="afterEffect">
                                  <p:stCondLst>
                                    <p:cond delay="0"/>
                                  </p:stCondLst>
                                  <p:childTnLst>
                                    <p:set>
                                      <p:cBhvr>
                                        <p:cTn id="51" dur="1" fill="hold">
                                          <p:stCondLst>
                                            <p:cond delay="0"/>
                                          </p:stCondLst>
                                        </p:cTn>
                                        <p:tgtEl>
                                          <p:spTgt spid="115722"/>
                                        </p:tgtEl>
                                        <p:attrNameLst>
                                          <p:attrName>style.visibility</p:attrName>
                                        </p:attrNameLst>
                                      </p:cBhvr>
                                      <p:to>
                                        <p:strVal val="visible"/>
                                      </p:to>
                                    </p:set>
                                    <p:animEffect transition="in" filter="wipe(left)">
                                      <p:cBhvr>
                                        <p:cTn id="52" dur="500"/>
                                        <p:tgtEl>
                                          <p:spTgt spid="11572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15720"/>
                                        </p:tgtEl>
                                        <p:attrNameLst>
                                          <p:attrName>style.visibility</p:attrName>
                                        </p:attrNameLst>
                                      </p:cBhvr>
                                      <p:to>
                                        <p:strVal val="visible"/>
                                      </p:to>
                                    </p:set>
                                    <p:animEffect transition="in" filter="wipe(left)">
                                      <p:cBhvr>
                                        <p:cTn id="57" dur="500"/>
                                        <p:tgtEl>
                                          <p:spTgt spid="115720"/>
                                        </p:tgtEl>
                                      </p:cBhvr>
                                    </p:animEffect>
                                  </p:childTnLst>
                                </p:cTn>
                              </p:par>
                            </p:childTnLst>
                          </p:cTn>
                        </p:par>
                        <p:par>
                          <p:cTn id="58" fill="hold" nodeType="afterGroup">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115724"/>
                                        </p:tgtEl>
                                        <p:attrNameLst>
                                          <p:attrName>style.visibility</p:attrName>
                                        </p:attrNameLst>
                                      </p:cBhvr>
                                      <p:to>
                                        <p:strVal val="visible"/>
                                      </p:to>
                                    </p:set>
                                    <p:animEffect transition="in" filter="wipe(left)">
                                      <p:cBhvr>
                                        <p:cTn id="61" dur="500"/>
                                        <p:tgtEl>
                                          <p:spTgt spid="115724"/>
                                        </p:tgtEl>
                                      </p:cBhvr>
                                    </p:animEffect>
                                  </p:childTnLst>
                                </p:cTn>
                              </p:par>
                            </p:childTnLst>
                          </p:cTn>
                        </p:par>
                        <p:par>
                          <p:cTn id="62" fill="hold" nodeType="afterGroup">
                            <p:stCondLst>
                              <p:cond delay="1000"/>
                            </p:stCondLst>
                            <p:childTnLst>
                              <p:par>
                                <p:cTn id="63" presetID="22" presetClass="entr" presetSubtype="8" fill="hold" grpId="0" nodeType="afterEffect">
                                  <p:stCondLst>
                                    <p:cond delay="0"/>
                                  </p:stCondLst>
                                  <p:childTnLst>
                                    <p:set>
                                      <p:cBhvr>
                                        <p:cTn id="64" dur="1" fill="hold">
                                          <p:stCondLst>
                                            <p:cond delay="0"/>
                                          </p:stCondLst>
                                        </p:cTn>
                                        <p:tgtEl>
                                          <p:spTgt spid="115721"/>
                                        </p:tgtEl>
                                        <p:attrNameLst>
                                          <p:attrName>style.visibility</p:attrName>
                                        </p:attrNameLst>
                                      </p:cBhvr>
                                      <p:to>
                                        <p:strVal val="visible"/>
                                      </p:to>
                                    </p:set>
                                    <p:animEffect transition="in" filter="wipe(left)">
                                      <p:cBhvr>
                                        <p:cTn id="65" dur="500"/>
                                        <p:tgtEl>
                                          <p:spTgt spid="115721"/>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p:cTn id="66" fill="hold" display="0">
                  <p:stCondLst>
                    <p:cond delay="indefinite"/>
                  </p:stCondLst>
                  <p:endCondLst>
                    <p:cond evt="onNext" delay="0">
                      <p:tgtEl>
                        <p:sldTgt/>
                      </p:tgtEl>
                    </p:cond>
                    <p:cond evt="onPrev" delay="0">
                      <p:tgtEl>
                        <p:sldTgt/>
                      </p:tgtEl>
                    </p:cond>
                  </p:endCondLst>
                </p:cTn>
                <p:tgtEl>
                  <p:spTgt spid="115726"/>
                </p:tgtEl>
              </p:cMediaNode>
            </p:video>
          </p:childTnLst>
        </p:cTn>
      </p:par>
    </p:tnLst>
    <p:bldLst>
      <p:bldP spid="115716" grpId="0"/>
      <p:bldP spid="115717" grpId="0"/>
      <p:bldP spid="115718" grpId="0"/>
      <p:bldP spid="115719" grpId="0"/>
      <p:bldP spid="115720" grpId="0"/>
      <p:bldP spid="115721" grpId="0"/>
      <p:bldP spid="115722" grpId="0"/>
      <p:bldP spid="115723" grpId="0" animBg="1"/>
      <p:bldP spid="115724" grpId="0" animBg="1"/>
      <p:bldP spid="1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1" name="Rectangle 3"/>
          <p:cNvSpPr>
            <a:spLocks noChangeArrowheads="1"/>
          </p:cNvSpPr>
          <p:nvPr/>
        </p:nvSpPr>
        <p:spPr bwMode="auto">
          <a:xfrm>
            <a:off x="342900" y="1349375"/>
            <a:ext cx="8343900" cy="646113"/>
          </a:xfrm>
          <a:prstGeom prst="rect">
            <a:avLst/>
          </a:prstGeom>
          <a:solidFill>
            <a:srgbClr val="FFFF00">
              <a:alpha val="75999"/>
            </a:srgbClr>
          </a:solidFill>
          <a:ln w="38100">
            <a:solidFill>
              <a:srgbClr val="FF0000"/>
            </a:solidFill>
            <a:miter lim="800000"/>
            <a:headEnd/>
            <a:tailEnd/>
          </a:ln>
          <a:effectLst/>
        </p:spPr>
        <p:txBody>
          <a:bodyPr anchor="ctr">
            <a:spAutoFit/>
          </a:bodyPr>
          <a:lstStyle/>
          <a:p>
            <a:pPr>
              <a:defRPr/>
            </a:pPr>
            <a:r>
              <a:rPr kumimoji="0" lang="zh-CN" altLang="en-US" sz="1800" b="1" dirty="0">
                <a:solidFill>
                  <a:srgbClr val="FF0000"/>
                </a:solidFill>
                <a:effectLst>
                  <a:outerShdw blurRad="38100" dist="38100" dir="2700000" algn="tl">
                    <a:srgbClr val="000000"/>
                  </a:outerShdw>
                </a:effectLst>
                <a:latin typeface="华文中宋" pitchFamily="2" charset="-122"/>
                <a:ea typeface="华文中宋" pitchFamily="2" charset="-122"/>
              </a:rPr>
              <a:t>多普勒效应：</a:t>
            </a:r>
            <a:r>
              <a:rPr kumimoji="0" lang="zh-CN" altLang="en-US" sz="1800" b="1" dirty="0">
                <a:effectLst>
                  <a:outerShdw blurRad="38100" dist="38100" dir="2700000" algn="tl">
                    <a:srgbClr val="FFFFFF"/>
                  </a:outerShdw>
                </a:effectLst>
                <a:latin typeface="华文中宋" pitchFamily="2" charset="-122"/>
                <a:ea typeface="华文中宋" pitchFamily="2" charset="-122"/>
              </a:rPr>
              <a:t>波源与观察者之间的相对运动，造成观察者接收到的频率与波源的       频率不同的现象。</a:t>
            </a:r>
          </a:p>
        </p:txBody>
      </p:sp>
      <p:grpSp>
        <p:nvGrpSpPr>
          <p:cNvPr id="2" name="Group 4"/>
          <p:cNvGrpSpPr>
            <a:grpSpLocks/>
          </p:cNvGrpSpPr>
          <p:nvPr/>
        </p:nvGrpSpPr>
        <p:grpSpPr bwMode="auto">
          <a:xfrm>
            <a:off x="1187450" y="2066925"/>
            <a:ext cx="6840538" cy="2449513"/>
            <a:chOff x="328" y="0"/>
            <a:chExt cx="4760" cy="2481"/>
          </a:xfrm>
        </p:grpSpPr>
        <p:pic>
          <p:nvPicPr>
            <p:cNvPr id="92164" name="Picture 5" descr="111"/>
            <p:cNvPicPr>
              <a:picLocks noChangeAspect="1" noChangeArrowheads="1"/>
            </p:cNvPicPr>
            <p:nvPr/>
          </p:nvPicPr>
          <p:blipFill>
            <a:blip r:embed="rId3"/>
            <a:srcRect/>
            <a:stretch>
              <a:fillRect/>
            </a:stretch>
          </p:blipFill>
          <p:spPr bwMode="auto">
            <a:xfrm>
              <a:off x="384" y="0"/>
              <a:ext cx="1635" cy="2112"/>
            </a:xfrm>
            <a:prstGeom prst="rect">
              <a:avLst/>
            </a:prstGeom>
            <a:noFill/>
            <a:ln w="9525">
              <a:noFill/>
              <a:miter lim="800000"/>
              <a:headEnd/>
              <a:tailEnd/>
            </a:ln>
          </p:spPr>
        </p:pic>
        <p:sp>
          <p:nvSpPr>
            <p:cNvPr id="92165" name="Text Box 6"/>
            <p:cNvSpPr txBox="1">
              <a:spLocks noChangeArrowheads="1"/>
            </p:cNvSpPr>
            <p:nvPr/>
          </p:nvSpPr>
          <p:spPr bwMode="auto">
            <a:xfrm>
              <a:off x="2448" y="589"/>
              <a:ext cx="2640" cy="1591"/>
            </a:xfrm>
            <a:prstGeom prst="rect">
              <a:avLst/>
            </a:prstGeom>
            <a:noFill/>
            <a:ln w="9525">
              <a:noFill/>
              <a:miter lim="800000"/>
              <a:headEnd/>
              <a:tailEnd/>
            </a:ln>
          </p:spPr>
          <p:txBody>
            <a:bodyPr>
              <a:spAutoFit/>
            </a:bodyPr>
            <a:lstStyle/>
            <a:p>
              <a:pPr>
                <a:spcBef>
                  <a:spcPct val="50000"/>
                </a:spcBef>
              </a:pPr>
              <a:r>
                <a:rPr kumimoji="0" lang="en-US" altLang="zh-CN" sz="1600" b="1">
                  <a:latin typeface="华文中宋"/>
                  <a:ea typeface="华文中宋"/>
                  <a:cs typeface="华文中宋"/>
                </a:rPr>
                <a:t>      </a:t>
              </a:r>
              <a:r>
                <a:rPr kumimoji="0" lang="zh-CN" altLang="en-US" sz="1600" b="1">
                  <a:latin typeface="华文中宋"/>
                  <a:ea typeface="华文中宋"/>
                  <a:cs typeface="华文中宋"/>
                </a:rPr>
                <a:t>奥地利物理学家多普勒生于</a:t>
              </a:r>
              <a:r>
                <a:rPr kumimoji="0" lang="en-US" altLang="zh-CN" sz="1600" b="1">
                  <a:latin typeface="华文中宋"/>
                  <a:ea typeface="华文中宋"/>
                  <a:cs typeface="华文中宋"/>
                </a:rPr>
                <a:t>1803</a:t>
              </a:r>
              <a:r>
                <a:rPr kumimoji="0" lang="zh-CN" altLang="en-US" sz="1600" b="1">
                  <a:latin typeface="华文中宋"/>
                  <a:ea typeface="华文中宋"/>
                  <a:cs typeface="华文中宋"/>
                </a:rPr>
                <a:t>年，是萨尔茨堡一名石匠儿子。</a:t>
              </a:r>
              <a:r>
                <a:rPr kumimoji="0" lang="en-US" altLang="zh-CN" sz="1600" b="1">
                  <a:latin typeface="华文中宋"/>
                  <a:ea typeface="华文中宋"/>
                  <a:cs typeface="华文中宋"/>
                </a:rPr>
                <a:t>1850</a:t>
              </a:r>
              <a:r>
                <a:rPr kumimoji="0" lang="zh-CN" altLang="en-US" sz="1600" b="1">
                  <a:latin typeface="华文中宋"/>
                  <a:ea typeface="华文中宋"/>
                  <a:cs typeface="华文中宋"/>
                </a:rPr>
                <a:t>年，他获委任为维也纳大学物理学院的第一任院长，可是他在三年后便辞世，年仅四十九岁。著名的多普勒效应首次出现在</a:t>
              </a:r>
              <a:r>
                <a:rPr kumimoji="0" lang="en-US" altLang="zh-CN" sz="1600" b="1">
                  <a:latin typeface="华文中宋"/>
                  <a:ea typeface="华文中宋"/>
                  <a:cs typeface="华文中宋"/>
                </a:rPr>
                <a:t>1842</a:t>
              </a:r>
              <a:r>
                <a:rPr kumimoji="0" lang="zh-CN" altLang="en-US" sz="1600" b="1">
                  <a:latin typeface="华文中宋"/>
                  <a:ea typeface="华文中宋"/>
                  <a:cs typeface="华文中宋"/>
                </a:rPr>
                <a:t>年发表的一篇论文上。</a:t>
              </a:r>
            </a:p>
          </p:txBody>
        </p:sp>
        <p:sp>
          <p:nvSpPr>
            <p:cNvPr id="155655" name="Text Box 7"/>
            <p:cNvSpPr txBox="1">
              <a:spLocks noChangeArrowheads="1"/>
            </p:cNvSpPr>
            <p:nvPr/>
          </p:nvSpPr>
          <p:spPr bwMode="auto">
            <a:xfrm>
              <a:off x="328" y="2209"/>
              <a:ext cx="1489" cy="272"/>
            </a:xfrm>
            <a:prstGeom prst="rect">
              <a:avLst/>
            </a:prstGeom>
            <a:noFill/>
            <a:ln w="9525">
              <a:noFill/>
              <a:miter lim="800000"/>
              <a:headEnd/>
              <a:tailEnd/>
            </a:ln>
            <a:effectLst/>
          </p:spPr>
          <p:txBody>
            <a:bodyPr wrap="none">
              <a:spAutoFit/>
            </a:bodyPr>
            <a:lstStyle/>
            <a:p>
              <a:pPr algn="ctr">
                <a:defRPr/>
              </a:pPr>
              <a:r>
                <a:rPr kumimoji="0" lang="zh-CN" altLang="en-US" sz="1500" b="1" dirty="0">
                  <a:effectLst>
                    <a:outerShdw blurRad="38100" dist="38100" dir="2700000" algn="tl">
                      <a:srgbClr val="C0C0C0"/>
                    </a:outerShdw>
                  </a:effectLst>
                  <a:latin typeface="华文中宋" pitchFamily="2" charset="-122"/>
                  <a:ea typeface="华文中宋" pitchFamily="2" charset="-122"/>
                </a:rPr>
                <a:t>（多普勒 </a:t>
              </a:r>
              <a:r>
                <a:rPr kumimoji="0" lang="en-US" altLang="zh-CN" sz="1500" b="1" dirty="0">
                  <a:effectLst>
                    <a:outerShdw blurRad="38100" dist="38100" dir="2700000" algn="tl">
                      <a:srgbClr val="C0C0C0"/>
                    </a:outerShdw>
                  </a:effectLst>
                  <a:latin typeface="华文中宋" pitchFamily="2" charset="-122"/>
                  <a:ea typeface="华文中宋" pitchFamily="2" charset="-122"/>
                </a:rPr>
                <a:t>1803—1853</a:t>
              </a:r>
              <a:r>
                <a:rPr kumimoji="0" lang="zh-CN" altLang="en-US" sz="1500" b="1" dirty="0">
                  <a:effectLst>
                    <a:outerShdw blurRad="38100" dist="38100" dir="2700000" algn="tl">
                      <a:srgbClr val="C0C0C0"/>
                    </a:outerShdw>
                  </a:effectLst>
                  <a:latin typeface="华文中宋" pitchFamily="2" charset="-122"/>
                  <a:ea typeface="华文中宋" pitchFamily="2" charset="-122"/>
                </a:rPr>
                <a:t>）</a:t>
              </a:r>
            </a:p>
          </p:txBody>
        </p:sp>
      </p:grpSp>
      <p:sp>
        <p:nvSpPr>
          <p:cNvPr id="8" name="Text Box 2"/>
          <p:cNvSpPr>
            <a:spLocks noChangeArrowheads="1"/>
          </p:cNvSpPr>
          <p:nvPr/>
        </p:nvSpPr>
        <p:spPr bwMode="auto">
          <a:xfrm>
            <a:off x="828675" y="874713"/>
            <a:ext cx="2303463" cy="400050"/>
          </a:xfrm>
          <a:prstGeom prst="homePlate">
            <a:avLst>
              <a:gd name="adj" fmla="val 49636"/>
            </a:avLst>
          </a:prstGeom>
          <a:solidFill>
            <a:srgbClr val="539A84"/>
          </a:solidFill>
          <a:ln w="9525">
            <a:noFill/>
            <a:miter lim="800000"/>
            <a:headEnd/>
            <a:tailEnd/>
          </a:ln>
        </p:spPr>
        <p:txBody>
          <a:bodyPr>
            <a:spAutoFit/>
          </a:bodyPr>
          <a:lstStyle/>
          <a:p>
            <a:r>
              <a:rPr lang="zh-CN" altLang="en-US" sz="2000" b="1">
                <a:solidFill>
                  <a:srgbClr val="0000FF"/>
                </a:solidFill>
                <a:latin typeface="华文中宋"/>
                <a:ea typeface="华文中宋"/>
                <a:cs typeface="华文中宋"/>
              </a:rPr>
              <a:t>二、多普勒效应</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55651"/>
                                        </p:tgtEl>
                                        <p:attrNameLst>
                                          <p:attrName>style.visibility</p:attrName>
                                        </p:attrNameLst>
                                      </p:cBhvr>
                                      <p:to>
                                        <p:strVal val="visible"/>
                                      </p:to>
                                    </p:set>
                                    <p:animEffect transition="in" filter="slide(fromBottom)">
                                      <p:cBhvr>
                                        <p:cTn id="12" dur="500"/>
                                        <p:tgtEl>
                                          <p:spTgt spid="1556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1000" fill="hold"/>
                                        <p:tgtEl>
                                          <p:spTgt spid="2"/>
                                        </p:tgtEl>
                                        <p:attrNameLst>
                                          <p:attrName>ppt_x</p:attrName>
                                        </p:attrNameLst>
                                      </p:cBhvr>
                                      <p:tavLst>
                                        <p:tav tm="0">
                                          <p:val>
                                            <p:strVal val="#ppt_x"/>
                                          </p:val>
                                        </p:tav>
                                        <p:tav tm="100000">
                                          <p:val>
                                            <p:strVal val="#ppt_x"/>
                                          </p:val>
                                        </p:tav>
                                      </p:tavLst>
                                    </p:anim>
                                    <p:anim calcmode="lin" valueType="num">
                                      <p:cBhvr additive="base">
                                        <p:cTn id="1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animBg="1" autoUpdateAnimBg="0"/>
      <p:bldP spid="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6674" name="Object 45"/>
          <p:cNvGraphicFramePr>
            <a:graphicFrameLocks noChangeAspect="1"/>
          </p:cNvGraphicFramePr>
          <p:nvPr/>
        </p:nvGraphicFramePr>
        <p:xfrm>
          <a:off x="2024063" y="1668463"/>
          <a:ext cx="414337" cy="341312"/>
        </p:xfrm>
        <a:graphic>
          <a:graphicData uri="http://schemas.openxmlformats.org/presentationml/2006/ole">
            <p:oleObj spid="_x0000_s4141" r:id="rId4" imgW="126835" imgH="139518" progId="Equation.DSMT4">
              <p:embed/>
            </p:oleObj>
          </a:graphicData>
        </a:graphic>
      </p:graphicFrame>
      <p:sp>
        <p:nvSpPr>
          <p:cNvPr id="156675" name="Text Box 3"/>
          <p:cNvSpPr txBox="1">
            <a:spLocks noChangeArrowheads="1"/>
          </p:cNvSpPr>
          <p:nvPr/>
        </p:nvSpPr>
        <p:spPr bwMode="auto">
          <a:xfrm>
            <a:off x="938213" y="3122613"/>
            <a:ext cx="2743200" cy="669925"/>
          </a:xfrm>
          <a:prstGeom prst="rect">
            <a:avLst/>
          </a:prstGeom>
          <a:noFill/>
          <a:ln w="9525">
            <a:noFill/>
            <a:miter lim="800000"/>
            <a:headEnd/>
            <a:tailEnd/>
          </a:ln>
          <a:effectLst/>
        </p:spPr>
        <p:txBody>
          <a:bodyPr>
            <a:spAutoFit/>
          </a:bodyPr>
          <a:lstStyle/>
          <a:p>
            <a:pPr algn="ctr">
              <a:spcBef>
                <a:spcPct val="50000"/>
              </a:spcBef>
              <a:defRPr/>
            </a:pPr>
            <a:r>
              <a:rPr kumimoji="0" lang="zh-CN" altLang="en-US" sz="1500" b="1" dirty="0">
                <a:effectLst>
                  <a:outerShdw blurRad="38100" dist="38100" dir="2700000" algn="tl">
                    <a:srgbClr val="C0C0C0"/>
                  </a:outerShdw>
                </a:effectLst>
                <a:latin typeface="楷体_GB2312" pitchFamily="49" charset="-122"/>
                <a:ea typeface="华文中宋" pitchFamily="2" charset="-122"/>
              </a:rPr>
              <a:t>波源、观察者</a:t>
            </a:r>
          </a:p>
          <a:p>
            <a:pPr algn="ctr">
              <a:spcBef>
                <a:spcPct val="50000"/>
              </a:spcBef>
              <a:defRPr/>
            </a:pPr>
            <a:r>
              <a:rPr kumimoji="0" lang="zh-CN" altLang="en-US" sz="1500" b="1" dirty="0">
                <a:effectLst>
                  <a:outerShdw blurRad="38100" dist="38100" dir="2700000" algn="tl">
                    <a:srgbClr val="C0C0C0"/>
                  </a:outerShdw>
                </a:effectLst>
                <a:latin typeface="楷体_GB2312" pitchFamily="49" charset="-122"/>
                <a:ea typeface="华文中宋" pitchFamily="2" charset="-122"/>
              </a:rPr>
              <a:t>相对介质都</a:t>
            </a:r>
            <a:r>
              <a:rPr kumimoji="0" lang="zh-CN" altLang="en-US" sz="1500" b="1" dirty="0">
                <a:solidFill>
                  <a:srgbClr val="FF0000"/>
                </a:solidFill>
                <a:effectLst>
                  <a:outerShdw blurRad="38100" dist="38100" dir="2700000" algn="tl">
                    <a:srgbClr val="C0C0C0"/>
                  </a:outerShdw>
                </a:effectLst>
                <a:latin typeface="楷体_GB2312" pitchFamily="49" charset="-122"/>
                <a:ea typeface="华文中宋" pitchFamily="2" charset="-122"/>
              </a:rPr>
              <a:t>静止</a:t>
            </a:r>
          </a:p>
        </p:txBody>
      </p:sp>
      <p:graphicFrame>
        <p:nvGraphicFramePr>
          <p:cNvPr id="156676" name="Object 46"/>
          <p:cNvGraphicFramePr>
            <a:graphicFrameLocks noChangeAspect="1"/>
          </p:cNvGraphicFramePr>
          <p:nvPr/>
        </p:nvGraphicFramePr>
        <p:xfrm>
          <a:off x="1471613" y="4011613"/>
          <a:ext cx="1704975" cy="481012"/>
        </p:xfrm>
        <a:graphic>
          <a:graphicData uri="http://schemas.openxmlformats.org/presentationml/2006/ole">
            <p:oleObj spid="_x0000_s4142" r:id="rId5" imgW="393359" imgH="177646" progId="Equation.DSMT4">
              <p:embed/>
            </p:oleObj>
          </a:graphicData>
        </a:graphic>
      </p:graphicFrame>
      <p:sp>
        <p:nvSpPr>
          <p:cNvPr id="4150" name="Rectangle 5"/>
          <p:cNvSpPr>
            <a:spLocks noChangeArrowheads="1"/>
          </p:cNvSpPr>
          <p:nvPr/>
        </p:nvSpPr>
        <p:spPr bwMode="auto">
          <a:xfrm>
            <a:off x="1676400" y="2135188"/>
            <a:ext cx="381000" cy="400050"/>
          </a:xfrm>
          <a:prstGeom prst="rect">
            <a:avLst/>
          </a:prstGeom>
          <a:solidFill>
            <a:schemeClr val="bg1">
              <a:alpha val="85881"/>
            </a:schemeClr>
          </a:solidFill>
          <a:ln w="38100">
            <a:solidFill>
              <a:schemeClr val="tx1"/>
            </a:solidFill>
            <a:miter lim="800000"/>
            <a:headEnd/>
            <a:tailEnd/>
          </a:ln>
        </p:spPr>
        <p:txBody>
          <a:bodyPr wrap="none" anchor="ctr"/>
          <a:lstStyle/>
          <a:p>
            <a:endParaRPr lang="zh-CN" altLang="en-US"/>
          </a:p>
        </p:txBody>
      </p:sp>
      <p:sp>
        <p:nvSpPr>
          <p:cNvPr id="156678" name="AutoShape 6"/>
          <p:cNvSpPr>
            <a:spLocks noChangeArrowheads="1"/>
          </p:cNvSpPr>
          <p:nvPr/>
        </p:nvSpPr>
        <p:spPr bwMode="auto">
          <a:xfrm rot="5400000">
            <a:off x="1887537" y="2146301"/>
            <a:ext cx="733425" cy="3683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1">
            <a:gsLst>
              <a:gs pos="0">
                <a:schemeClr val="tx1">
                  <a:alpha val="85999"/>
                </a:schemeClr>
              </a:gs>
              <a:gs pos="50000">
                <a:schemeClr val="tx1">
                  <a:gamma/>
                  <a:tint val="0"/>
                  <a:invGamma/>
                </a:schemeClr>
              </a:gs>
              <a:gs pos="100000">
                <a:schemeClr val="tx1">
                  <a:alpha val="85999"/>
                </a:schemeClr>
              </a:gs>
            </a:gsLst>
            <a:lin ang="5400000" scaled="1"/>
          </a:gradFill>
          <a:ln w="9525">
            <a:solidFill>
              <a:schemeClr val="tx1"/>
            </a:solidFill>
            <a:miter lim="800000"/>
            <a:headEnd/>
            <a:tailEnd/>
          </a:ln>
          <a:effectLst/>
        </p:spPr>
        <p:txBody>
          <a:bodyPr wrap="none" anchor="ctr"/>
          <a:lstStyle/>
          <a:p>
            <a:pPr>
              <a:defRPr/>
            </a:pPr>
            <a:endParaRPr lang="zh-CN" altLang="en-US">
              <a:ea typeface="宋体" pitchFamily="2" charset="-122"/>
            </a:endParaRPr>
          </a:p>
        </p:txBody>
      </p:sp>
      <p:pic>
        <p:nvPicPr>
          <p:cNvPr id="4152" name="Picture 8" descr="111"/>
          <p:cNvPicPr>
            <a:picLocks noChangeAspect="1" noChangeArrowheads="1"/>
          </p:cNvPicPr>
          <p:nvPr/>
        </p:nvPicPr>
        <p:blipFill>
          <a:blip r:embed="rId6"/>
          <a:srcRect/>
          <a:stretch>
            <a:fillRect/>
          </a:stretch>
        </p:blipFill>
        <p:spPr bwMode="auto">
          <a:xfrm>
            <a:off x="6248400" y="1885950"/>
            <a:ext cx="838200" cy="982663"/>
          </a:xfrm>
          <a:prstGeom prst="rect">
            <a:avLst/>
          </a:prstGeom>
          <a:noFill/>
          <a:ln w="9525">
            <a:noFill/>
            <a:miter lim="800000"/>
            <a:headEnd/>
            <a:tailEnd/>
          </a:ln>
        </p:spPr>
      </p:pic>
      <p:graphicFrame>
        <p:nvGraphicFramePr>
          <p:cNvPr id="156681" name="Object 47"/>
          <p:cNvGraphicFramePr>
            <a:graphicFrameLocks noGrp="1" noChangeAspect="1"/>
          </p:cNvGraphicFramePr>
          <p:nvPr>
            <p:ph sz="half" idx="4294967295"/>
          </p:nvPr>
        </p:nvGraphicFramePr>
        <p:xfrm>
          <a:off x="7451725" y="1654175"/>
          <a:ext cx="342900" cy="377825"/>
        </p:xfrm>
        <a:graphic>
          <a:graphicData uri="http://schemas.openxmlformats.org/presentationml/2006/ole">
            <p:oleObj spid="_x0000_s4143" name="公式" r:id="rId7" imgW="126835" imgH="139518" progId="Equation.3">
              <p:embed/>
            </p:oleObj>
          </a:graphicData>
        </a:graphic>
      </p:graphicFrame>
      <p:graphicFrame>
        <p:nvGraphicFramePr>
          <p:cNvPr id="156695" name="Object 48"/>
          <p:cNvGraphicFramePr>
            <a:graphicFrameLocks noGrp="1" noChangeAspect="1"/>
          </p:cNvGraphicFramePr>
          <p:nvPr>
            <p:ph sz="quarter" idx="4294967295"/>
          </p:nvPr>
        </p:nvGraphicFramePr>
        <p:xfrm>
          <a:off x="1878013" y="2733675"/>
          <a:ext cx="246062" cy="269875"/>
        </p:xfrm>
        <a:graphic>
          <a:graphicData uri="http://schemas.openxmlformats.org/presentationml/2006/ole">
            <p:oleObj spid="_x0000_s4144" name="Equation" r:id="rId8" imgW="126835" imgH="139518" progId="Equation.DSMT4">
              <p:embed/>
            </p:oleObj>
          </a:graphicData>
        </a:graphic>
      </p:graphicFrame>
      <p:graphicFrame>
        <p:nvGraphicFramePr>
          <p:cNvPr id="4145" name="Object 49"/>
          <p:cNvGraphicFramePr>
            <a:graphicFrameLocks noChangeAspect="1"/>
          </p:cNvGraphicFramePr>
          <p:nvPr/>
        </p:nvGraphicFramePr>
        <p:xfrm>
          <a:off x="1924050" y="2913063"/>
          <a:ext cx="114300" cy="161925"/>
        </p:xfrm>
        <a:graphic>
          <a:graphicData uri="http://schemas.openxmlformats.org/presentationml/2006/ole">
            <p:oleObj spid="_x0000_s4145" r:id="rId9" imgW="114151" imgH="215619" progId="Equation.3">
              <p:embed/>
            </p:oleObj>
          </a:graphicData>
        </a:graphic>
      </p:graphicFrame>
      <p:graphicFrame>
        <p:nvGraphicFramePr>
          <p:cNvPr id="156684" name="Object 50"/>
          <p:cNvGraphicFramePr>
            <a:graphicFrameLocks noChangeAspect="1"/>
          </p:cNvGraphicFramePr>
          <p:nvPr/>
        </p:nvGraphicFramePr>
        <p:xfrm>
          <a:off x="4586288" y="2625725"/>
          <a:ext cx="490537" cy="430213"/>
        </p:xfrm>
        <a:graphic>
          <a:graphicData uri="http://schemas.openxmlformats.org/presentationml/2006/ole">
            <p:oleObj spid="_x0000_s4146" name="公式" r:id="rId10" imgW="152202" imgH="177569" progId="Equation.3">
              <p:embed/>
            </p:oleObj>
          </a:graphicData>
        </a:graphic>
      </p:graphicFrame>
      <p:graphicFrame>
        <p:nvGraphicFramePr>
          <p:cNvPr id="156685" name="Object 51"/>
          <p:cNvGraphicFramePr>
            <a:graphicFrameLocks noChangeAspect="1"/>
          </p:cNvGraphicFramePr>
          <p:nvPr/>
        </p:nvGraphicFramePr>
        <p:xfrm>
          <a:off x="4140200" y="1546225"/>
          <a:ext cx="469900" cy="487363"/>
        </p:xfrm>
        <a:graphic>
          <a:graphicData uri="http://schemas.openxmlformats.org/presentationml/2006/ole">
            <p:oleObj spid="_x0000_s4147" r:id="rId11" imgW="165028" imgH="228501" progId="Equation.3">
              <p:embed/>
            </p:oleObj>
          </a:graphicData>
        </a:graphic>
      </p:graphicFrame>
      <p:sp>
        <p:nvSpPr>
          <p:cNvPr id="156687" name="Text Box 15"/>
          <p:cNvSpPr txBox="1">
            <a:spLocks noChangeArrowheads="1"/>
          </p:cNvSpPr>
          <p:nvPr/>
        </p:nvSpPr>
        <p:spPr bwMode="auto">
          <a:xfrm>
            <a:off x="5205413" y="3113088"/>
            <a:ext cx="2895600" cy="669925"/>
          </a:xfrm>
          <a:prstGeom prst="rect">
            <a:avLst/>
          </a:prstGeom>
          <a:noFill/>
          <a:ln w="9525">
            <a:noFill/>
            <a:miter lim="800000"/>
            <a:headEnd/>
            <a:tailEnd/>
          </a:ln>
          <a:effectLst/>
        </p:spPr>
        <p:txBody>
          <a:bodyPr>
            <a:spAutoFit/>
          </a:bodyPr>
          <a:lstStyle/>
          <a:p>
            <a:pPr algn="ctr">
              <a:spcBef>
                <a:spcPct val="50000"/>
              </a:spcBef>
              <a:defRPr/>
            </a:pPr>
            <a:r>
              <a:rPr kumimoji="0" lang="zh-CN" altLang="en-US" sz="1500" b="1" dirty="0">
                <a:effectLst>
                  <a:outerShdw blurRad="38100" dist="38100" dir="2700000" algn="tl">
                    <a:srgbClr val="C0C0C0"/>
                  </a:outerShdw>
                </a:effectLst>
                <a:latin typeface="楷体_GB2312" pitchFamily="49" charset="-122"/>
                <a:ea typeface="华文中宋" pitchFamily="2" charset="-122"/>
              </a:rPr>
              <a:t>波源、观察者</a:t>
            </a:r>
          </a:p>
          <a:p>
            <a:pPr algn="ctr">
              <a:spcBef>
                <a:spcPct val="50000"/>
              </a:spcBef>
              <a:defRPr/>
            </a:pPr>
            <a:r>
              <a:rPr kumimoji="0" lang="zh-CN" altLang="en-US" sz="1500" b="1" dirty="0">
                <a:effectLst>
                  <a:outerShdw blurRad="38100" dist="38100" dir="2700000" algn="tl">
                    <a:srgbClr val="C0C0C0"/>
                  </a:outerShdw>
                </a:effectLst>
                <a:latin typeface="楷体_GB2312" pitchFamily="49" charset="-122"/>
                <a:ea typeface="华文中宋" pitchFamily="2" charset="-122"/>
              </a:rPr>
              <a:t>之间有</a:t>
            </a:r>
            <a:r>
              <a:rPr kumimoji="0" lang="zh-CN" altLang="en-US" sz="1500" b="1" dirty="0">
                <a:solidFill>
                  <a:srgbClr val="FF0000"/>
                </a:solidFill>
                <a:effectLst>
                  <a:outerShdw blurRad="38100" dist="38100" dir="2700000" algn="tl">
                    <a:srgbClr val="C0C0C0"/>
                  </a:outerShdw>
                </a:effectLst>
                <a:latin typeface="楷体_GB2312" pitchFamily="49" charset="-122"/>
                <a:ea typeface="华文中宋" pitchFamily="2" charset="-122"/>
              </a:rPr>
              <a:t>相对运动</a:t>
            </a:r>
          </a:p>
        </p:txBody>
      </p:sp>
      <p:grpSp>
        <p:nvGrpSpPr>
          <p:cNvPr id="2" name="Group 17"/>
          <p:cNvGrpSpPr>
            <a:grpSpLocks/>
          </p:cNvGrpSpPr>
          <p:nvPr/>
        </p:nvGrpSpPr>
        <p:grpSpPr bwMode="auto">
          <a:xfrm>
            <a:off x="5859463" y="3940175"/>
            <a:ext cx="1704975" cy="584200"/>
            <a:chOff x="0" y="0"/>
            <a:chExt cx="1074" cy="491"/>
          </a:xfrm>
        </p:grpSpPr>
        <p:graphicFrame>
          <p:nvGraphicFramePr>
            <p:cNvPr id="4148" name="Object 52"/>
            <p:cNvGraphicFramePr>
              <a:graphicFrameLocks noChangeAspect="1"/>
            </p:cNvGraphicFramePr>
            <p:nvPr/>
          </p:nvGraphicFramePr>
          <p:xfrm>
            <a:off x="0" y="64"/>
            <a:ext cx="1074" cy="404"/>
          </p:xfrm>
          <a:graphic>
            <a:graphicData uri="http://schemas.openxmlformats.org/presentationml/2006/ole">
              <p:oleObj spid="_x0000_s4148" r:id="rId12" imgW="393359" imgH="177646" progId="Equation.DSMT4">
                <p:embed/>
              </p:oleObj>
            </a:graphicData>
          </a:graphic>
        </p:graphicFrame>
        <p:sp>
          <p:nvSpPr>
            <p:cNvPr id="4156" name="Text Box 19"/>
            <p:cNvSpPr txBox="1">
              <a:spLocks noChangeArrowheads="1"/>
            </p:cNvSpPr>
            <p:nvPr/>
          </p:nvSpPr>
          <p:spPr bwMode="auto">
            <a:xfrm>
              <a:off x="279" y="0"/>
              <a:ext cx="442" cy="491"/>
            </a:xfrm>
            <a:prstGeom prst="rect">
              <a:avLst/>
            </a:prstGeom>
            <a:noFill/>
            <a:ln w="9525">
              <a:noFill/>
              <a:miter lim="800000"/>
              <a:headEnd/>
              <a:tailEnd/>
            </a:ln>
          </p:spPr>
          <p:txBody>
            <a:bodyPr>
              <a:spAutoFit/>
            </a:bodyPr>
            <a:lstStyle/>
            <a:p>
              <a:pPr algn="ctr"/>
              <a:r>
                <a:rPr kumimoji="0" lang="zh-CN" altLang="en-US" sz="3200">
                  <a:solidFill>
                    <a:srgbClr val="FF0000"/>
                  </a:solidFill>
                  <a:latin typeface="Arial" charset="0"/>
                  <a:ea typeface="华文中宋"/>
                  <a:cs typeface="华文中宋"/>
                </a:rPr>
                <a:t>？</a:t>
              </a:r>
            </a:p>
          </p:txBody>
        </p:sp>
      </p:grpSp>
      <p:sp>
        <p:nvSpPr>
          <p:cNvPr id="156693" name="Rectangle 21"/>
          <p:cNvSpPr>
            <a:spLocks noChangeArrowheads="1"/>
          </p:cNvSpPr>
          <p:nvPr/>
        </p:nvSpPr>
        <p:spPr bwMode="auto">
          <a:xfrm>
            <a:off x="342900" y="896938"/>
            <a:ext cx="8343900" cy="646112"/>
          </a:xfrm>
          <a:prstGeom prst="rect">
            <a:avLst/>
          </a:prstGeom>
          <a:solidFill>
            <a:srgbClr val="FFFF00">
              <a:alpha val="75999"/>
            </a:srgbClr>
          </a:solidFill>
          <a:ln w="38100">
            <a:solidFill>
              <a:srgbClr val="FF0000"/>
            </a:solidFill>
            <a:miter lim="800000"/>
            <a:headEnd/>
            <a:tailEnd/>
          </a:ln>
          <a:effectLst/>
        </p:spPr>
        <p:txBody>
          <a:bodyPr anchor="ctr">
            <a:spAutoFit/>
          </a:bodyPr>
          <a:lstStyle/>
          <a:p>
            <a:pPr>
              <a:defRPr/>
            </a:pPr>
            <a:r>
              <a:rPr kumimoji="0" lang="zh-CN" altLang="en-US" sz="1800" b="1" dirty="0">
                <a:solidFill>
                  <a:srgbClr val="FF0000"/>
                </a:solidFill>
                <a:effectLst>
                  <a:outerShdw blurRad="38100" dist="38100" dir="2700000" algn="tl">
                    <a:srgbClr val="000000"/>
                  </a:outerShdw>
                </a:effectLst>
                <a:latin typeface="楷体_GB2312" pitchFamily="49" charset="-122"/>
                <a:ea typeface="华文中宋" pitchFamily="2" charset="-122"/>
              </a:rPr>
              <a:t>多普勒效应：</a:t>
            </a:r>
            <a:r>
              <a:rPr kumimoji="0" lang="zh-CN" altLang="en-US" sz="1800" b="1" dirty="0">
                <a:effectLst>
                  <a:outerShdw blurRad="38100" dist="38100" dir="2700000" algn="tl">
                    <a:srgbClr val="FFFFFF"/>
                  </a:outerShdw>
                </a:effectLst>
                <a:latin typeface="楷体_GB2312" pitchFamily="49" charset="-122"/>
                <a:ea typeface="华文中宋" pitchFamily="2" charset="-122"/>
              </a:rPr>
              <a:t>波源与观察者之间的相对运动，造成观察者接收到的频率与波源的频率不同的现象。</a:t>
            </a:r>
          </a:p>
        </p:txBody>
      </p:sp>
    </p:spTree>
    <p:custDataLst>
      <p:tags r:id="rId2"/>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56674"/>
                                        </p:tgtEl>
                                        <p:attrNameLst>
                                          <p:attrName>style.visibility</p:attrName>
                                        </p:attrNameLst>
                                      </p:cBhvr>
                                      <p:to>
                                        <p:strVal val="visible"/>
                                      </p:to>
                                    </p:set>
                                    <p:animEffect transition="in" filter="wipe(left)">
                                      <p:cBhvr>
                                        <p:cTn id="7" dur="500"/>
                                        <p:tgtEl>
                                          <p:spTgt spid="1566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56681"/>
                                        </p:tgtEl>
                                        <p:attrNameLst>
                                          <p:attrName>style.visibility</p:attrName>
                                        </p:attrNameLst>
                                      </p:cBhvr>
                                      <p:to>
                                        <p:strVal val="visible"/>
                                      </p:to>
                                    </p:set>
                                    <p:animEffect transition="in" filter="wipe(left)">
                                      <p:cBhvr>
                                        <p:cTn id="12" dur="500"/>
                                        <p:tgtEl>
                                          <p:spTgt spid="1566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56684"/>
                                        </p:tgtEl>
                                        <p:attrNameLst>
                                          <p:attrName>style.visibility</p:attrName>
                                        </p:attrNameLst>
                                      </p:cBhvr>
                                      <p:to>
                                        <p:strVal val="visible"/>
                                      </p:to>
                                    </p:set>
                                    <p:animEffect transition="in" filter="blinds(horizontal)">
                                      <p:cBhvr>
                                        <p:cTn id="17" dur="500"/>
                                        <p:tgtEl>
                                          <p:spTgt spid="156684"/>
                                        </p:tgtEl>
                                      </p:cBhvr>
                                    </p:animEffect>
                                  </p:childTnLst>
                                </p:cTn>
                              </p:par>
                              <p:par>
                                <p:cTn id="18" presetID="3" presetClass="entr" presetSubtype="10" fill="hold" nodeType="withEffect">
                                  <p:stCondLst>
                                    <p:cond delay="0"/>
                                  </p:stCondLst>
                                  <p:childTnLst>
                                    <p:set>
                                      <p:cBhvr>
                                        <p:cTn id="19" dur="1" fill="hold">
                                          <p:stCondLst>
                                            <p:cond delay="0"/>
                                          </p:stCondLst>
                                        </p:cTn>
                                        <p:tgtEl>
                                          <p:spTgt spid="156695"/>
                                        </p:tgtEl>
                                        <p:attrNameLst>
                                          <p:attrName>style.visibility</p:attrName>
                                        </p:attrNameLst>
                                      </p:cBhvr>
                                      <p:to>
                                        <p:strVal val="visible"/>
                                      </p:to>
                                    </p:set>
                                    <p:animEffect transition="in" filter="blinds(horizontal)">
                                      <p:cBhvr>
                                        <p:cTn id="20" dur="500"/>
                                        <p:tgtEl>
                                          <p:spTgt spid="156695"/>
                                        </p:tgtEl>
                                      </p:cBhvr>
                                    </p:animEffect>
                                  </p:childTnLst>
                                </p:cTn>
                              </p:par>
                              <p:par>
                                <p:cTn id="21" presetID="3" presetClass="entr" presetSubtype="10" fill="hold" nodeType="withEffect">
                                  <p:stCondLst>
                                    <p:cond delay="0"/>
                                  </p:stCondLst>
                                  <p:childTnLst>
                                    <p:set>
                                      <p:cBhvr>
                                        <p:cTn id="22" dur="1" fill="hold">
                                          <p:stCondLst>
                                            <p:cond delay="0"/>
                                          </p:stCondLst>
                                        </p:cTn>
                                        <p:tgtEl>
                                          <p:spTgt spid="156685"/>
                                        </p:tgtEl>
                                        <p:attrNameLst>
                                          <p:attrName>style.visibility</p:attrName>
                                        </p:attrNameLst>
                                      </p:cBhvr>
                                      <p:to>
                                        <p:strVal val="visible"/>
                                      </p:to>
                                    </p:set>
                                    <p:animEffect transition="in" filter="blinds(horizontal)">
                                      <p:cBhvr>
                                        <p:cTn id="23" dur="500"/>
                                        <p:tgtEl>
                                          <p:spTgt spid="15668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9" presetClass="entr" presetSubtype="0" decel="100000" fill="hold" grpId="0" nodeType="clickEffect">
                                  <p:stCondLst>
                                    <p:cond delay="0"/>
                                  </p:stCondLst>
                                  <p:childTnLst>
                                    <p:set>
                                      <p:cBhvr>
                                        <p:cTn id="27" dur="1" fill="hold">
                                          <p:stCondLst>
                                            <p:cond delay="0"/>
                                          </p:stCondLst>
                                        </p:cTn>
                                        <p:tgtEl>
                                          <p:spTgt spid="156675"/>
                                        </p:tgtEl>
                                        <p:attrNameLst>
                                          <p:attrName>style.visibility</p:attrName>
                                        </p:attrNameLst>
                                      </p:cBhvr>
                                      <p:to>
                                        <p:strVal val="visible"/>
                                      </p:to>
                                    </p:set>
                                    <p:anim calcmode="lin" valueType="num">
                                      <p:cBhvr>
                                        <p:cTn id="28" dur="500" fill="hold"/>
                                        <p:tgtEl>
                                          <p:spTgt spid="156675"/>
                                        </p:tgtEl>
                                        <p:attrNameLst>
                                          <p:attrName>ppt_w</p:attrName>
                                        </p:attrNameLst>
                                      </p:cBhvr>
                                      <p:tavLst>
                                        <p:tav tm="0">
                                          <p:val>
                                            <p:fltVal val="0"/>
                                          </p:val>
                                        </p:tav>
                                        <p:tav tm="100000">
                                          <p:val>
                                            <p:strVal val="#ppt_w"/>
                                          </p:val>
                                        </p:tav>
                                      </p:tavLst>
                                    </p:anim>
                                    <p:anim calcmode="lin" valueType="num">
                                      <p:cBhvr>
                                        <p:cTn id="29" dur="500" fill="hold"/>
                                        <p:tgtEl>
                                          <p:spTgt spid="156675"/>
                                        </p:tgtEl>
                                        <p:attrNameLst>
                                          <p:attrName>ppt_h</p:attrName>
                                        </p:attrNameLst>
                                      </p:cBhvr>
                                      <p:tavLst>
                                        <p:tav tm="0">
                                          <p:val>
                                            <p:fltVal val="0"/>
                                          </p:val>
                                        </p:tav>
                                        <p:tav tm="100000">
                                          <p:val>
                                            <p:strVal val="#ppt_h"/>
                                          </p:val>
                                        </p:tav>
                                      </p:tavLst>
                                    </p:anim>
                                    <p:anim calcmode="lin" valueType="num">
                                      <p:cBhvr>
                                        <p:cTn id="30" dur="500" fill="hold"/>
                                        <p:tgtEl>
                                          <p:spTgt spid="156675"/>
                                        </p:tgtEl>
                                        <p:attrNameLst>
                                          <p:attrName>style.rotation</p:attrName>
                                        </p:attrNameLst>
                                      </p:cBhvr>
                                      <p:tavLst>
                                        <p:tav tm="0">
                                          <p:val>
                                            <p:fltVal val="360"/>
                                          </p:val>
                                        </p:tav>
                                        <p:tav tm="100000">
                                          <p:val>
                                            <p:fltVal val="0"/>
                                          </p:val>
                                        </p:tav>
                                      </p:tavLst>
                                    </p:anim>
                                    <p:animEffect transition="in" filter="fade">
                                      <p:cBhvr>
                                        <p:cTn id="31" dur="500"/>
                                        <p:tgtEl>
                                          <p:spTgt spid="15667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5" presetClass="entr" presetSubtype="0" fill="hold" nodeType="clickEffect">
                                  <p:stCondLst>
                                    <p:cond delay="0"/>
                                  </p:stCondLst>
                                  <p:childTnLst>
                                    <p:set>
                                      <p:cBhvr>
                                        <p:cTn id="35" dur="1" fill="hold">
                                          <p:stCondLst>
                                            <p:cond delay="0"/>
                                          </p:stCondLst>
                                        </p:cTn>
                                        <p:tgtEl>
                                          <p:spTgt spid="156676"/>
                                        </p:tgtEl>
                                        <p:attrNameLst>
                                          <p:attrName>style.visibility</p:attrName>
                                        </p:attrNameLst>
                                      </p:cBhvr>
                                      <p:to>
                                        <p:strVal val="visible"/>
                                      </p:to>
                                    </p:set>
                                    <p:anim calcmode="lin" valueType="num">
                                      <p:cBhvr>
                                        <p:cTn id="36" dur="1000" fill="hold"/>
                                        <p:tgtEl>
                                          <p:spTgt spid="156676"/>
                                        </p:tgtEl>
                                        <p:attrNameLst>
                                          <p:attrName>ppt_w</p:attrName>
                                        </p:attrNameLst>
                                      </p:cBhvr>
                                      <p:tavLst>
                                        <p:tav tm="0">
                                          <p:val>
                                            <p:fltVal val="0"/>
                                          </p:val>
                                        </p:tav>
                                        <p:tav tm="100000">
                                          <p:val>
                                            <p:strVal val="#ppt_w"/>
                                          </p:val>
                                        </p:tav>
                                      </p:tavLst>
                                    </p:anim>
                                    <p:anim calcmode="lin" valueType="num">
                                      <p:cBhvr>
                                        <p:cTn id="37" dur="1000" fill="hold"/>
                                        <p:tgtEl>
                                          <p:spTgt spid="156676"/>
                                        </p:tgtEl>
                                        <p:attrNameLst>
                                          <p:attrName>ppt_h</p:attrName>
                                        </p:attrNameLst>
                                      </p:cBhvr>
                                      <p:tavLst>
                                        <p:tav tm="0">
                                          <p:val>
                                            <p:fltVal val="0"/>
                                          </p:val>
                                        </p:tav>
                                        <p:tav tm="100000">
                                          <p:val>
                                            <p:strVal val="#ppt_h"/>
                                          </p:val>
                                        </p:tav>
                                      </p:tavLst>
                                    </p:anim>
                                    <p:anim calcmode="lin" valueType="num">
                                      <p:cBhvr>
                                        <p:cTn id="38" dur="1000" fill="hold"/>
                                        <p:tgtEl>
                                          <p:spTgt spid="156676"/>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15667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49" presetClass="entr" presetSubtype="0" decel="100000" fill="hold" grpId="0" nodeType="clickEffect">
                                  <p:stCondLst>
                                    <p:cond delay="0"/>
                                  </p:stCondLst>
                                  <p:childTnLst>
                                    <p:set>
                                      <p:cBhvr>
                                        <p:cTn id="43" dur="1" fill="hold">
                                          <p:stCondLst>
                                            <p:cond delay="0"/>
                                          </p:stCondLst>
                                        </p:cTn>
                                        <p:tgtEl>
                                          <p:spTgt spid="156687"/>
                                        </p:tgtEl>
                                        <p:attrNameLst>
                                          <p:attrName>style.visibility</p:attrName>
                                        </p:attrNameLst>
                                      </p:cBhvr>
                                      <p:to>
                                        <p:strVal val="visible"/>
                                      </p:to>
                                    </p:set>
                                    <p:anim calcmode="lin" valueType="num">
                                      <p:cBhvr>
                                        <p:cTn id="44" dur="500" fill="hold"/>
                                        <p:tgtEl>
                                          <p:spTgt spid="156687"/>
                                        </p:tgtEl>
                                        <p:attrNameLst>
                                          <p:attrName>ppt_w</p:attrName>
                                        </p:attrNameLst>
                                      </p:cBhvr>
                                      <p:tavLst>
                                        <p:tav tm="0">
                                          <p:val>
                                            <p:fltVal val="0"/>
                                          </p:val>
                                        </p:tav>
                                        <p:tav tm="100000">
                                          <p:val>
                                            <p:strVal val="#ppt_w"/>
                                          </p:val>
                                        </p:tav>
                                      </p:tavLst>
                                    </p:anim>
                                    <p:anim calcmode="lin" valueType="num">
                                      <p:cBhvr>
                                        <p:cTn id="45" dur="500" fill="hold"/>
                                        <p:tgtEl>
                                          <p:spTgt spid="156687"/>
                                        </p:tgtEl>
                                        <p:attrNameLst>
                                          <p:attrName>ppt_h</p:attrName>
                                        </p:attrNameLst>
                                      </p:cBhvr>
                                      <p:tavLst>
                                        <p:tav tm="0">
                                          <p:val>
                                            <p:fltVal val="0"/>
                                          </p:val>
                                        </p:tav>
                                        <p:tav tm="100000">
                                          <p:val>
                                            <p:strVal val="#ppt_h"/>
                                          </p:val>
                                        </p:tav>
                                      </p:tavLst>
                                    </p:anim>
                                    <p:anim calcmode="lin" valueType="num">
                                      <p:cBhvr>
                                        <p:cTn id="46" dur="500" fill="hold"/>
                                        <p:tgtEl>
                                          <p:spTgt spid="156687"/>
                                        </p:tgtEl>
                                        <p:attrNameLst>
                                          <p:attrName>style.rotation</p:attrName>
                                        </p:attrNameLst>
                                      </p:cBhvr>
                                      <p:tavLst>
                                        <p:tav tm="0">
                                          <p:val>
                                            <p:fltVal val="360"/>
                                          </p:val>
                                        </p:tav>
                                        <p:tav tm="100000">
                                          <p:val>
                                            <p:fltVal val="0"/>
                                          </p:val>
                                        </p:tav>
                                      </p:tavLst>
                                    </p:anim>
                                    <p:animEffect transition="in" filter="fade">
                                      <p:cBhvr>
                                        <p:cTn id="47" dur="500"/>
                                        <p:tgtEl>
                                          <p:spTgt spid="15668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9" presetClass="entr" presetSubtype="0" decel="100000"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 calcmode="lin" valueType="num">
                                      <p:cBhvr>
                                        <p:cTn id="52" dur="500" fill="hold"/>
                                        <p:tgtEl>
                                          <p:spTgt spid="2"/>
                                        </p:tgtEl>
                                        <p:attrNameLst>
                                          <p:attrName>ppt_w</p:attrName>
                                        </p:attrNameLst>
                                      </p:cBhvr>
                                      <p:tavLst>
                                        <p:tav tm="0">
                                          <p:val>
                                            <p:fltVal val="0"/>
                                          </p:val>
                                        </p:tav>
                                        <p:tav tm="100000">
                                          <p:val>
                                            <p:strVal val="#ppt_w"/>
                                          </p:val>
                                        </p:tav>
                                      </p:tavLst>
                                    </p:anim>
                                    <p:anim calcmode="lin" valueType="num">
                                      <p:cBhvr>
                                        <p:cTn id="53" dur="500" fill="hold"/>
                                        <p:tgtEl>
                                          <p:spTgt spid="2"/>
                                        </p:tgtEl>
                                        <p:attrNameLst>
                                          <p:attrName>ppt_h</p:attrName>
                                        </p:attrNameLst>
                                      </p:cBhvr>
                                      <p:tavLst>
                                        <p:tav tm="0">
                                          <p:val>
                                            <p:fltVal val="0"/>
                                          </p:val>
                                        </p:tav>
                                        <p:tav tm="100000">
                                          <p:val>
                                            <p:strVal val="#ppt_h"/>
                                          </p:val>
                                        </p:tav>
                                      </p:tavLst>
                                    </p:anim>
                                    <p:anim calcmode="lin" valueType="num">
                                      <p:cBhvr>
                                        <p:cTn id="54" dur="500" fill="hold"/>
                                        <p:tgtEl>
                                          <p:spTgt spid="2"/>
                                        </p:tgtEl>
                                        <p:attrNameLst>
                                          <p:attrName>style.rotation</p:attrName>
                                        </p:attrNameLst>
                                      </p:cBhvr>
                                      <p:tavLst>
                                        <p:tav tm="0">
                                          <p:val>
                                            <p:fltVal val="360"/>
                                          </p:val>
                                        </p:tav>
                                        <p:tav tm="100000">
                                          <p:val>
                                            <p:fltVal val="0"/>
                                          </p:val>
                                        </p:tav>
                                      </p:tavLst>
                                    </p:anim>
                                    <p:animEffect transition="in" filter="fade">
                                      <p:cBhvr>
                                        <p:cTn id="5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autoUpdateAnimBg="0"/>
      <p:bldP spid="156687"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ext Box 2"/>
          <p:cNvSpPr txBox="1">
            <a:spLocks noChangeArrowheads="1"/>
          </p:cNvSpPr>
          <p:nvPr/>
        </p:nvSpPr>
        <p:spPr bwMode="auto">
          <a:xfrm>
            <a:off x="1916113" y="3343275"/>
            <a:ext cx="1143000" cy="369888"/>
          </a:xfrm>
          <a:prstGeom prst="rect">
            <a:avLst/>
          </a:prstGeom>
          <a:noFill/>
          <a:ln w="9525">
            <a:noFill/>
            <a:miter lim="800000"/>
            <a:headEnd/>
            <a:tailEnd/>
          </a:ln>
          <a:effectLst/>
        </p:spPr>
        <p:txBody>
          <a:bodyPr>
            <a:spAutoFit/>
          </a:bodyPr>
          <a:lstStyle/>
          <a:p>
            <a:pPr algn="ctr">
              <a:spcBef>
                <a:spcPct val="50000"/>
              </a:spcBef>
              <a:defRPr/>
            </a:pPr>
            <a:r>
              <a:rPr kumimoji="0" lang="zh-CN" altLang="en-US" sz="1800" b="1" dirty="0">
                <a:effectLst>
                  <a:outerShdw blurRad="38100" dist="38100" dir="2700000" algn="tl">
                    <a:srgbClr val="C0C0C0"/>
                  </a:outerShdw>
                </a:effectLst>
                <a:latin typeface="华文中宋" pitchFamily="2" charset="-122"/>
                <a:ea typeface="华文中宋" pitchFamily="2" charset="-122"/>
              </a:rPr>
              <a:t>靠近</a:t>
            </a:r>
            <a:r>
              <a:rPr kumimoji="0" lang="en-US" altLang="zh-CN" sz="1800" b="1" dirty="0">
                <a:effectLst>
                  <a:outerShdw blurRad="38100" dist="38100" dir="2700000" algn="tl">
                    <a:srgbClr val="C0C0C0"/>
                  </a:outerShdw>
                </a:effectLst>
                <a:latin typeface="华文中宋" pitchFamily="2" charset="-122"/>
                <a:ea typeface="华文中宋" pitchFamily="2" charset="-122"/>
              </a:rPr>
              <a:t>:</a:t>
            </a:r>
          </a:p>
        </p:txBody>
      </p:sp>
      <p:sp>
        <p:nvSpPr>
          <p:cNvPr id="157699" name="Text Box 3"/>
          <p:cNvSpPr txBox="1">
            <a:spLocks noChangeArrowheads="1"/>
          </p:cNvSpPr>
          <p:nvPr/>
        </p:nvSpPr>
        <p:spPr bwMode="auto">
          <a:xfrm>
            <a:off x="1908175" y="4106863"/>
            <a:ext cx="1143000" cy="369887"/>
          </a:xfrm>
          <a:prstGeom prst="rect">
            <a:avLst/>
          </a:prstGeom>
          <a:noFill/>
          <a:ln w="9525">
            <a:noFill/>
            <a:miter lim="800000"/>
            <a:headEnd/>
            <a:tailEnd/>
          </a:ln>
          <a:effectLst/>
        </p:spPr>
        <p:txBody>
          <a:bodyPr>
            <a:spAutoFit/>
          </a:bodyPr>
          <a:lstStyle/>
          <a:p>
            <a:pPr algn="ctr">
              <a:spcBef>
                <a:spcPct val="50000"/>
              </a:spcBef>
              <a:defRPr/>
            </a:pPr>
            <a:r>
              <a:rPr kumimoji="0" lang="zh-CN" altLang="en-US" sz="1800" b="1" dirty="0">
                <a:effectLst>
                  <a:outerShdw blurRad="38100" dist="38100" dir="2700000" algn="tl">
                    <a:srgbClr val="C0C0C0"/>
                  </a:outerShdw>
                </a:effectLst>
                <a:latin typeface="华文中宋" pitchFamily="2" charset="-122"/>
                <a:ea typeface="华文中宋" pitchFamily="2" charset="-122"/>
              </a:rPr>
              <a:t>远离</a:t>
            </a:r>
            <a:r>
              <a:rPr kumimoji="0" lang="en-US" altLang="zh-CN" sz="1800" b="1" dirty="0">
                <a:effectLst>
                  <a:outerShdw blurRad="38100" dist="38100" dir="2700000" algn="tl">
                    <a:srgbClr val="C0C0C0"/>
                  </a:outerShdw>
                </a:effectLst>
                <a:latin typeface="华文中宋" pitchFamily="2" charset="-122"/>
                <a:ea typeface="华文中宋" pitchFamily="2" charset="-122"/>
              </a:rPr>
              <a:t>:</a:t>
            </a:r>
          </a:p>
        </p:txBody>
      </p:sp>
      <p:grpSp>
        <p:nvGrpSpPr>
          <p:cNvPr id="5172" name="Group 17"/>
          <p:cNvGrpSpPr>
            <a:grpSpLocks/>
          </p:cNvGrpSpPr>
          <p:nvPr/>
        </p:nvGrpSpPr>
        <p:grpSpPr bwMode="auto">
          <a:xfrm>
            <a:off x="2289175" y="876300"/>
            <a:ext cx="5522913" cy="400050"/>
            <a:chOff x="218" y="624"/>
            <a:chExt cx="5157" cy="336"/>
          </a:xfrm>
        </p:grpSpPr>
        <p:sp>
          <p:nvSpPr>
            <p:cNvPr id="157702" name="Rectangle 6"/>
            <p:cNvSpPr>
              <a:spLocks noChangeArrowheads="1"/>
            </p:cNvSpPr>
            <p:nvPr/>
          </p:nvSpPr>
          <p:spPr bwMode="auto">
            <a:xfrm>
              <a:off x="218" y="624"/>
              <a:ext cx="5157" cy="311"/>
            </a:xfrm>
            <a:prstGeom prst="rect">
              <a:avLst/>
            </a:prstGeom>
            <a:noFill/>
            <a:ln w="9525">
              <a:noFill/>
              <a:miter lim="800000"/>
              <a:headEnd/>
              <a:tailEnd/>
            </a:ln>
            <a:effectLst/>
          </p:spPr>
          <p:txBody>
            <a:bodyPr>
              <a:spAutoFit/>
            </a:bodyPr>
            <a:lstStyle/>
            <a:p>
              <a:pPr>
                <a:defRPr/>
              </a:pPr>
              <a:r>
                <a:rPr kumimoji="0" lang="en-US" altLang="zh-CN" sz="1800" b="1" dirty="0">
                  <a:effectLst>
                    <a:outerShdw blurRad="38100" dist="38100" dir="2700000" algn="tl">
                      <a:srgbClr val="C0C0C0"/>
                    </a:outerShdw>
                  </a:effectLst>
                  <a:latin typeface="华文中宋" pitchFamily="2" charset="-122"/>
                  <a:ea typeface="华文中宋" pitchFamily="2" charset="-122"/>
                </a:rPr>
                <a:t>3-</a:t>
              </a:r>
              <a:r>
                <a:rPr kumimoji="0" lang="zh-CN" altLang="en-US" sz="1800" b="1" dirty="0">
                  <a:effectLst>
                    <a:outerShdw blurRad="38100" dist="38100" dir="2700000" algn="tl">
                      <a:srgbClr val="C0C0C0"/>
                    </a:outerShdw>
                  </a:effectLst>
                  <a:latin typeface="华文中宋" pitchFamily="2" charset="-122"/>
                  <a:ea typeface="华文中宋" pitchFamily="2" charset="-122"/>
                </a:rPr>
                <a:t>1</a:t>
              </a:r>
              <a:r>
                <a:rPr kumimoji="0" lang="en-US" altLang="zh-CN" sz="1800" b="1" dirty="0">
                  <a:effectLst>
                    <a:outerShdw blurRad="38100" dist="38100" dir="2700000" algn="tl">
                      <a:srgbClr val="C0C0C0"/>
                    </a:outerShdw>
                  </a:effectLst>
                  <a:latin typeface="华文中宋" pitchFamily="2" charset="-122"/>
                  <a:ea typeface="华文中宋" pitchFamily="2" charset="-122"/>
                </a:rPr>
                <a:t>. </a:t>
              </a:r>
              <a:r>
                <a:rPr kumimoji="0" lang="en-US" sz="1800" b="1" dirty="0" err="1">
                  <a:effectLst>
                    <a:outerShdw blurRad="38100" dist="38100" dir="2700000" algn="tl">
                      <a:srgbClr val="C0C0C0"/>
                    </a:outerShdw>
                  </a:effectLst>
                  <a:latin typeface="华文中宋" pitchFamily="2" charset="-122"/>
                  <a:ea typeface="华文中宋" pitchFamily="2" charset="-122"/>
                </a:rPr>
                <a:t>波源静止，观察者相对介质以</a:t>
              </a:r>
              <a:r>
                <a:rPr kumimoji="0" lang="en-US" sz="1800" b="1" dirty="0">
                  <a:effectLst>
                    <a:outerShdw blurRad="38100" dist="38100" dir="2700000" algn="tl">
                      <a:srgbClr val="C0C0C0"/>
                    </a:outerShdw>
                  </a:effectLst>
                  <a:latin typeface="华文中宋" pitchFamily="2" charset="-122"/>
                  <a:ea typeface="华文中宋" pitchFamily="2" charset="-122"/>
                </a:rPr>
                <a:t>      </a:t>
              </a:r>
              <a:r>
                <a:rPr kumimoji="0" lang="en-US" sz="1800" b="1" dirty="0" err="1">
                  <a:effectLst>
                    <a:outerShdw blurRad="38100" dist="38100" dir="2700000" algn="tl">
                      <a:srgbClr val="C0C0C0"/>
                    </a:outerShdw>
                  </a:effectLst>
                  <a:latin typeface="华文中宋" pitchFamily="2" charset="-122"/>
                  <a:ea typeface="华文中宋" pitchFamily="2" charset="-122"/>
                </a:rPr>
                <a:t>的速率运动</a:t>
              </a:r>
              <a:endParaRPr kumimoji="0" lang="en-US" sz="1800" b="1" dirty="0">
                <a:effectLst>
                  <a:outerShdw blurRad="38100" dist="38100" dir="2700000" algn="tl">
                    <a:srgbClr val="C0C0C0"/>
                  </a:outerShdw>
                </a:effectLst>
                <a:latin typeface="华文中宋" pitchFamily="2" charset="-122"/>
                <a:ea typeface="华文中宋" pitchFamily="2" charset="-122"/>
              </a:endParaRPr>
            </a:p>
          </p:txBody>
        </p:sp>
        <p:graphicFrame>
          <p:nvGraphicFramePr>
            <p:cNvPr id="5162" name="Object 42"/>
            <p:cNvGraphicFramePr>
              <a:graphicFrameLocks noChangeAspect="1"/>
            </p:cNvGraphicFramePr>
            <p:nvPr/>
          </p:nvGraphicFramePr>
          <p:xfrm>
            <a:off x="3627" y="624"/>
            <a:ext cx="338" cy="336"/>
          </p:xfrm>
          <a:graphic>
            <a:graphicData uri="http://schemas.openxmlformats.org/presentationml/2006/ole">
              <p:oleObj spid="_x0000_s5162" name="Equation" r:id="rId4" imgW="177646" imgH="228402" progId="Equation.DSMT4">
                <p:embed/>
              </p:oleObj>
            </a:graphicData>
          </a:graphic>
        </p:graphicFrame>
      </p:grpSp>
      <p:graphicFrame>
        <p:nvGraphicFramePr>
          <p:cNvPr id="157704" name="Object 43"/>
          <p:cNvGraphicFramePr>
            <a:graphicFrameLocks noChangeAspect="1"/>
          </p:cNvGraphicFramePr>
          <p:nvPr/>
        </p:nvGraphicFramePr>
        <p:xfrm>
          <a:off x="3025775" y="3200400"/>
          <a:ext cx="1474788" cy="666750"/>
        </p:xfrm>
        <a:graphic>
          <a:graphicData uri="http://schemas.openxmlformats.org/presentationml/2006/ole">
            <p:oleObj spid="_x0000_s5163" name="公式" r:id="rId5" imgW="520474" imgH="317362" progId="Equation.3">
              <p:embed/>
            </p:oleObj>
          </a:graphicData>
        </a:graphic>
      </p:graphicFrame>
      <p:graphicFrame>
        <p:nvGraphicFramePr>
          <p:cNvPr id="157705" name="Object 44"/>
          <p:cNvGraphicFramePr>
            <a:graphicFrameLocks noChangeAspect="1"/>
          </p:cNvGraphicFramePr>
          <p:nvPr/>
        </p:nvGraphicFramePr>
        <p:xfrm>
          <a:off x="4427538" y="3228975"/>
          <a:ext cx="1101725" cy="627063"/>
        </p:xfrm>
        <a:graphic>
          <a:graphicData uri="http://schemas.openxmlformats.org/presentationml/2006/ole">
            <p:oleObj spid="_x0000_s5164" name="公式" r:id="rId6" imgW="418918" imgH="317362" progId="Equation.3">
              <p:embed/>
            </p:oleObj>
          </a:graphicData>
        </a:graphic>
      </p:graphicFrame>
      <p:graphicFrame>
        <p:nvGraphicFramePr>
          <p:cNvPr id="157706" name="Object 45"/>
          <p:cNvGraphicFramePr>
            <a:graphicFrameLocks noChangeAspect="1"/>
          </p:cNvGraphicFramePr>
          <p:nvPr/>
        </p:nvGraphicFramePr>
        <p:xfrm>
          <a:off x="5435600" y="3200400"/>
          <a:ext cx="1435100" cy="633413"/>
        </p:xfrm>
        <a:graphic>
          <a:graphicData uri="http://schemas.openxmlformats.org/presentationml/2006/ole">
            <p:oleObj spid="_x0000_s5165" name="公式" r:id="rId7" imgW="495085" imgH="291973" progId="Equation.3">
              <p:embed/>
            </p:oleObj>
          </a:graphicData>
        </a:graphic>
      </p:graphicFrame>
      <p:graphicFrame>
        <p:nvGraphicFramePr>
          <p:cNvPr id="157707" name="Object 46"/>
          <p:cNvGraphicFramePr>
            <a:graphicFrameLocks noChangeAspect="1"/>
          </p:cNvGraphicFramePr>
          <p:nvPr/>
        </p:nvGraphicFramePr>
        <p:xfrm>
          <a:off x="3059113" y="4010025"/>
          <a:ext cx="1439862" cy="649288"/>
        </p:xfrm>
        <a:graphic>
          <a:graphicData uri="http://schemas.openxmlformats.org/presentationml/2006/ole">
            <p:oleObj spid="_x0000_s5166" name="公式" r:id="rId8" imgW="520474" imgH="317362" progId="Equation.3">
              <p:embed/>
            </p:oleObj>
          </a:graphicData>
        </a:graphic>
      </p:graphicFrame>
      <p:graphicFrame>
        <p:nvGraphicFramePr>
          <p:cNvPr id="157708" name="Object 47"/>
          <p:cNvGraphicFramePr>
            <a:graphicFrameLocks noChangeAspect="1"/>
          </p:cNvGraphicFramePr>
          <p:nvPr/>
        </p:nvGraphicFramePr>
        <p:xfrm>
          <a:off x="4422775" y="3998913"/>
          <a:ext cx="1157288" cy="655637"/>
        </p:xfrm>
        <a:graphic>
          <a:graphicData uri="http://schemas.openxmlformats.org/presentationml/2006/ole">
            <p:oleObj spid="_x0000_s5167" name="公式" r:id="rId9" imgW="418918" imgH="317362" progId="Equation.3">
              <p:embed/>
            </p:oleObj>
          </a:graphicData>
        </a:graphic>
      </p:graphicFrame>
      <p:graphicFrame>
        <p:nvGraphicFramePr>
          <p:cNvPr id="157709" name="Object 48"/>
          <p:cNvGraphicFramePr>
            <a:graphicFrameLocks noChangeAspect="1"/>
          </p:cNvGraphicFramePr>
          <p:nvPr/>
        </p:nvGraphicFramePr>
        <p:xfrm>
          <a:off x="5527675" y="3983038"/>
          <a:ext cx="1420813" cy="627062"/>
        </p:xfrm>
        <a:graphic>
          <a:graphicData uri="http://schemas.openxmlformats.org/presentationml/2006/ole">
            <p:oleObj spid="_x0000_s5168" name="公式" r:id="rId10" imgW="495085" imgH="291973" progId="Equation.3">
              <p:embed/>
            </p:oleObj>
          </a:graphicData>
        </a:graphic>
      </p:graphicFrame>
      <p:graphicFrame>
        <p:nvGraphicFramePr>
          <p:cNvPr id="157712" name="Object 49"/>
          <p:cNvGraphicFramePr>
            <a:graphicFrameLocks noChangeAspect="1"/>
          </p:cNvGraphicFramePr>
          <p:nvPr/>
        </p:nvGraphicFramePr>
        <p:xfrm>
          <a:off x="4211638" y="2730500"/>
          <a:ext cx="889000" cy="561975"/>
        </p:xfrm>
        <a:graphic>
          <a:graphicData uri="http://schemas.openxmlformats.org/presentationml/2006/ole">
            <p:oleObj spid="_x0000_s5169" name="Equation" r:id="rId11" imgW="482391" imgH="406224" progId="Equation.DSMT4">
              <p:embed/>
            </p:oleObj>
          </a:graphicData>
        </a:graphic>
      </p:graphicFrame>
      <p:sp>
        <p:nvSpPr>
          <p:cNvPr id="15" name="Text Box 2"/>
          <p:cNvSpPr>
            <a:spLocks noChangeArrowheads="1"/>
          </p:cNvSpPr>
          <p:nvPr/>
        </p:nvSpPr>
        <p:spPr bwMode="auto">
          <a:xfrm>
            <a:off x="828675" y="874713"/>
            <a:ext cx="1439863" cy="400050"/>
          </a:xfrm>
          <a:prstGeom prst="homePlate">
            <a:avLst>
              <a:gd name="adj" fmla="val 49672"/>
            </a:avLst>
          </a:prstGeom>
          <a:solidFill>
            <a:srgbClr val="539A84"/>
          </a:solidFill>
          <a:ln w="9525">
            <a:noFill/>
            <a:miter lim="800000"/>
            <a:headEnd/>
            <a:tailEnd/>
          </a:ln>
        </p:spPr>
        <p:txBody>
          <a:bodyPr>
            <a:spAutoFit/>
          </a:bodyPr>
          <a:lstStyle/>
          <a:p>
            <a:r>
              <a:rPr lang="zh-CN" altLang="en-US" sz="2000" b="1">
                <a:solidFill>
                  <a:srgbClr val="0000FF"/>
                </a:solidFill>
                <a:latin typeface="华文中宋"/>
                <a:ea typeface="华文中宋"/>
                <a:cs typeface="华文中宋"/>
              </a:rPr>
              <a:t>三、分析</a:t>
            </a:r>
          </a:p>
        </p:txBody>
      </p:sp>
    </p:spTree>
    <p:custDataLst>
      <p:tags r:id="rId2"/>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57712"/>
                                        </p:tgtEl>
                                        <p:attrNameLst>
                                          <p:attrName>style.visibility</p:attrName>
                                        </p:attrNameLst>
                                      </p:cBhvr>
                                      <p:to>
                                        <p:strVal val="visible"/>
                                      </p:to>
                                    </p:set>
                                    <p:animEffect transition="in" filter="blinds(horizontal)">
                                      <p:cBhvr>
                                        <p:cTn id="12" dur="500"/>
                                        <p:tgtEl>
                                          <p:spTgt spid="1577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7698"/>
                                        </p:tgtEl>
                                        <p:attrNameLst>
                                          <p:attrName>style.visibility</p:attrName>
                                        </p:attrNameLst>
                                      </p:cBhvr>
                                      <p:to>
                                        <p:strVal val="visible"/>
                                      </p:to>
                                    </p:set>
                                    <p:animEffect transition="in" filter="wipe(left)">
                                      <p:cBhvr>
                                        <p:cTn id="17" dur="500"/>
                                        <p:tgtEl>
                                          <p:spTgt spid="1576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57704"/>
                                        </p:tgtEl>
                                        <p:attrNameLst>
                                          <p:attrName>style.visibility</p:attrName>
                                        </p:attrNameLst>
                                      </p:cBhvr>
                                      <p:to>
                                        <p:strVal val="visible"/>
                                      </p:to>
                                    </p:set>
                                    <p:animEffect transition="in" filter="wipe(left)">
                                      <p:cBhvr>
                                        <p:cTn id="22" dur="500"/>
                                        <p:tgtEl>
                                          <p:spTgt spid="15770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157705"/>
                                        </p:tgtEl>
                                        <p:attrNameLst>
                                          <p:attrName>style.visibility</p:attrName>
                                        </p:attrNameLst>
                                      </p:cBhvr>
                                      <p:to>
                                        <p:strVal val="visible"/>
                                      </p:to>
                                    </p:set>
                                    <p:animEffect transition="in" filter="slide(fromBottom)">
                                      <p:cBhvr>
                                        <p:cTn id="27" dur="500"/>
                                        <p:tgtEl>
                                          <p:spTgt spid="15770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9" presetClass="entr" presetSubtype="0" decel="100000" fill="hold" nodeType="clickEffect">
                                  <p:stCondLst>
                                    <p:cond delay="0"/>
                                  </p:stCondLst>
                                  <p:childTnLst>
                                    <p:set>
                                      <p:cBhvr>
                                        <p:cTn id="31" dur="1" fill="hold">
                                          <p:stCondLst>
                                            <p:cond delay="0"/>
                                          </p:stCondLst>
                                        </p:cTn>
                                        <p:tgtEl>
                                          <p:spTgt spid="157706"/>
                                        </p:tgtEl>
                                        <p:attrNameLst>
                                          <p:attrName>style.visibility</p:attrName>
                                        </p:attrNameLst>
                                      </p:cBhvr>
                                      <p:to>
                                        <p:strVal val="visible"/>
                                      </p:to>
                                    </p:set>
                                    <p:anim calcmode="lin" valueType="num">
                                      <p:cBhvr>
                                        <p:cTn id="32" dur="500" fill="hold"/>
                                        <p:tgtEl>
                                          <p:spTgt spid="157706"/>
                                        </p:tgtEl>
                                        <p:attrNameLst>
                                          <p:attrName>ppt_w</p:attrName>
                                        </p:attrNameLst>
                                      </p:cBhvr>
                                      <p:tavLst>
                                        <p:tav tm="0">
                                          <p:val>
                                            <p:fltVal val="0"/>
                                          </p:val>
                                        </p:tav>
                                        <p:tav tm="100000">
                                          <p:val>
                                            <p:strVal val="#ppt_w"/>
                                          </p:val>
                                        </p:tav>
                                      </p:tavLst>
                                    </p:anim>
                                    <p:anim calcmode="lin" valueType="num">
                                      <p:cBhvr>
                                        <p:cTn id="33" dur="500" fill="hold"/>
                                        <p:tgtEl>
                                          <p:spTgt spid="157706"/>
                                        </p:tgtEl>
                                        <p:attrNameLst>
                                          <p:attrName>ppt_h</p:attrName>
                                        </p:attrNameLst>
                                      </p:cBhvr>
                                      <p:tavLst>
                                        <p:tav tm="0">
                                          <p:val>
                                            <p:fltVal val="0"/>
                                          </p:val>
                                        </p:tav>
                                        <p:tav tm="100000">
                                          <p:val>
                                            <p:strVal val="#ppt_h"/>
                                          </p:val>
                                        </p:tav>
                                      </p:tavLst>
                                    </p:anim>
                                    <p:anim calcmode="lin" valueType="num">
                                      <p:cBhvr>
                                        <p:cTn id="34" dur="500" fill="hold"/>
                                        <p:tgtEl>
                                          <p:spTgt spid="157706"/>
                                        </p:tgtEl>
                                        <p:attrNameLst>
                                          <p:attrName>style.rotation</p:attrName>
                                        </p:attrNameLst>
                                      </p:cBhvr>
                                      <p:tavLst>
                                        <p:tav tm="0">
                                          <p:val>
                                            <p:fltVal val="360"/>
                                          </p:val>
                                        </p:tav>
                                        <p:tav tm="100000">
                                          <p:val>
                                            <p:fltVal val="0"/>
                                          </p:val>
                                        </p:tav>
                                      </p:tavLst>
                                    </p:anim>
                                    <p:animEffect transition="in" filter="fade">
                                      <p:cBhvr>
                                        <p:cTn id="35" dur="500"/>
                                        <p:tgtEl>
                                          <p:spTgt spid="15770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57699"/>
                                        </p:tgtEl>
                                        <p:attrNameLst>
                                          <p:attrName>style.visibility</p:attrName>
                                        </p:attrNameLst>
                                      </p:cBhvr>
                                      <p:to>
                                        <p:strVal val="visible"/>
                                      </p:to>
                                    </p:set>
                                    <p:animEffect transition="in" filter="wipe(left)">
                                      <p:cBhvr>
                                        <p:cTn id="40" dur="500"/>
                                        <p:tgtEl>
                                          <p:spTgt spid="15769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157707"/>
                                        </p:tgtEl>
                                        <p:attrNameLst>
                                          <p:attrName>style.visibility</p:attrName>
                                        </p:attrNameLst>
                                      </p:cBhvr>
                                      <p:to>
                                        <p:strVal val="visible"/>
                                      </p:to>
                                    </p:set>
                                    <p:anim calcmode="lin" valueType="num">
                                      <p:cBhvr additive="base">
                                        <p:cTn id="45" dur="500" fill="hold"/>
                                        <p:tgtEl>
                                          <p:spTgt spid="157707"/>
                                        </p:tgtEl>
                                        <p:attrNameLst>
                                          <p:attrName>ppt_x</p:attrName>
                                        </p:attrNameLst>
                                      </p:cBhvr>
                                      <p:tavLst>
                                        <p:tav tm="0">
                                          <p:val>
                                            <p:strVal val="#ppt_x"/>
                                          </p:val>
                                        </p:tav>
                                        <p:tav tm="100000">
                                          <p:val>
                                            <p:strVal val="#ppt_x"/>
                                          </p:val>
                                        </p:tav>
                                      </p:tavLst>
                                    </p:anim>
                                    <p:anim calcmode="lin" valueType="num">
                                      <p:cBhvr additive="base">
                                        <p:cTn id="46" dur="500" fill="hold"/>
                                        <p:tgtEl>
                                          <p:spTgt spid="157707"/>
                                        </p:tgtEl>
                                        <p:attrNameLst>
                                          <p:attrName>ppt_y</p:attrName>
                                        </p:attrNameLst>
                                      </p:cBhvr>
                                      <p:tavLst>
                                        <p:tav tm="0">
                                          <p:val>
                                            <p:strVal val="1+#ppt_h/2"/>
                                          </p:val>
                                        </p:tav>
                                        <p:tav tm="100000">
                                          <p:val>
                                            <p:strVal val="#ppt_y"/>
                                          </p:val>
                                        </p:tav>
                                      </p:tavLst>
                                    </p:anim>
                                  </p:childTnLst>
                                </p:cTn>
                              </p:par>
                            </p:childTnLst>
                          </p:cTn>
                        </p:par>
                        <p:par>
                          <p:cTn id="47" fill="hold" nodeType="afterGroup">
                            <p:stCondLst>
                              <p:cond delay="500"/>
                            </p:stCondLst>
                            <p:childTnLst>
                              <p:par>
                                <p:cTn id="48" presetID="2" presetClass="entr" presetSubtype="4" fill="hold" nodeType="afterEffect">
                                  <p:stCondLst>
                                    <p:cond delay="0"/>
                                  </p:stCondLst>
                                  <p:childTnLst>
                                    <p:set>
                                      <p:cBhvr>
                                        <p:cTn id="49" dur="1" fill="hold">
                                          <p:stCondLst>
                                            <p:cond delay="0"/>
                                          </p:stCondLst>
                                        </p:cTn>
                                        <p:tgtEl>
                                          <p:spTgt spid="157708"/>
                                        </p:tgtEl>
                                        <p:attrNameLst>
                                          <p:attrName>style.visibility</p:attrName>
                                        </p:attrNameLst>
                                      </p:cBhvr>
                                      <p:to>
                                        <p:strVal val="visible"/>
                                      </p:to>
                                    </p:set>
                                    <p:anim calcmode="lin" valueType="num">
                                      <p:cBhvr additive="base">
                                        <p:cTn id="50" dur="500" fill="hold"/>
                                        <p:tgtEl>
                                          <p:spTgt spid="157708"/>
                                        </p:tgtEl>
                                        <p:attrNameLst>
                                          <p:attrName>ppt_x</p:attrName>
                                        </p:attrNameLst>
                                      </p:cBhvr>
                                      <p:tavLst>
                                        <p:tav tm="0">
                                          <p:val>
                                            <p:strVal val="#ppt_x"/>
                                          </p:val>
                                        </p:tav>
                                        <p:tav tm="100000">
                                          <p:val>
                                            <p:strVal val="#ppt_x"/>
                                          </p:val>
                                        </p:tav>
                                      </p:tavLst>
                                    </p:anim>
                                    <p:anim calcmode="lin" valueType="num">
                                      <p:cBhvr additive="base">
                                        <p:cTn id="51" dur="500" fill="hold"/>
                                        <p:tgtEl>
                                          <p:spTgt spid="157708"/>
                                        </p:tgtEl>
                                        <p:attrNameLst>
                                          <p:attrName>ppt_y</p:attrName>
                                        </p:attrNameLst>
                                      </p:cBhvr>
                                      <p:tavLst>
                                        <p:tav tm="0">
                                          <p:val>
                                            <p:strVal val="1+#ppt_h/2"/>
                                          </p:val>
                                        </p:tav>
                                        <p:tav tm="100000">
                                          <p:val>
                                            <p:strVal val="#ppt_y"/>
                                          </p:val>
                                        </p:tav>
                                      </p:tavLst>
                                    </p:anim>
                                  </p:childTnLst>
                                </p:cTn>
                              </p:par>
                            </p:childTnLst>
                          </p:cTn>
                        </p:par>
                        <p:par>
                          <p:cTn id="52" fill="hold" nodeType="afterGroup">
                            <p:stCondLst>
                              <p:cond delay="1000"/>
                            </p:stCondLst>
                            <p:childTnLst>
                              <p:par>
                                <p:cTn id="53" presetID="2" presetClass="entr" presetSubtype="4" fill="hold" nodeType="afterEffect">
                                  <p:stCondLst>
                                    <p:cond delay="0"/>
                                  </p:stCondLst>
                                  <p:childTnLst>
                                    <p:set>
                                      <p:cBhvr>
                                        <p:cTn id="54" dur="1" fill="hold">
                                          <p:stCondLst>
                                            <p:cond delay="0"/>
                                          </p:stCondLst>
                                        </p:cTn>
                                        <p:tgtEl>
                                          <p:spTgt spid="157709"/>
                                        </p:tgtEl>
                                        <p:attrNameLst>
                                          <p:attrName>style.visibility</p:attrName>
                                        </p:attrNameLst>
                                      </p:cBhvr>
                                      <p:to>
                                        <p:strVal val="visible"/>
                                      </p:to>
                                    </p:set>
                                    <p:anim calcmode="lin" valueType="num">
                                      <p:cBhvr additive="base">
                                        <p:cTn id="55" dur="500" fill="hold"/>
                                        <p:tgtEl>
                                          <p:spTgt spid="157709"/>
                                        </p:tgtEl>
                                        <p:attrNameLst>
                                          <p:attrName>ppt_x</p:attrName>
                                        </p:attrNameLst>
                                      </p:cBhvr>
                                      <p:tavLst>
                                        <p:tav tm="0">
                                          <p:val>
                                            <p:strVal val="#ppt_x"/>
                                          </p:val>
                                        </p:tav>
                                        <p:tav tm="100000">
                                          <p:val>
                                            <p:strVal val="#ppt_x"/>
                                          </p:val>
                                        </p:tav>
                                      </p:tavLst>
                                    </p:anim>
                                    <p:anim calcmode="lin" valueType="num">
                                      <p:cBhvr additive="base">
                                        <p:cTn id="56" dur="500" fill="hold"/>
                                        <p:tgtEl>
                                          <p:spTgt spid="1577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8" grpId="0" autoUpdateAnimBg="0"/>
      <p:bldP spid="157699" grpId="0" autoUpdateAnimBg="0"/>
      <p:bldP spid="1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56" name="Group 3"/>
          <p:cNvGrpSpPr>
            <a:grpSpLocks/>
          </p:cNvGrpSpPr>
          <p:nvPr/>
        </p:nvGrpSpPr>
        <p:grpSpPr bwMode="auto">
          <a:xfrm>
            <a:off x="449263" y="804863"/>
            <a:ext cx="6283325" cy="398462"/>
            <a:chOff x="0" y="149"/>
            <a:chExt cx="14400" cy="900"/>
          </a:xfrm>
        </p:grpSpPr>
        <p:sp>
          <p:nvSpPr>
            <p:cNvPr id="158724" name="Text Box 4"/>
            <p:cNvSpPr txBox="1">
              <a:spLocks noChangeArrowheads="1"/>
            </p:cNvSpPr>
            <p:nvPr/>
          </p:nvSpPr>
          <p:spPr bwMode="auto">
            <a:xfrm>
              <a:off x="0" y="214"/>
              <a:ext cx="14400" cy="775"/>
            </a:xfrm>
            <a:prstGeom prst="rect">
              <a:avLst/>
            </a:prstGeom>
            <a:noFill/>
            <a:ln w="9525">
              <a:noFill/>
              <a:miter lim="800000"/>
              <a:headEnd/>
              <a:tailEnd/>
            </a:ln>
            <a:effectLst/>
          </p:spPr>
          <p:txBody>
            <a:bodyPr>
              <a:spAutoFit/>
            </a:bodyPr>
            <a:lstStyle/>
            <a:p>
              <a:pPr>
                <a:defRPr/>
              </a:pPr>
              <a:r>
                <a:rPr kumimoji="0" lang="en-US" altLang="zh-CN" sz="1800" b="1" dirty="0">
                  <a:effectLst>
                    <a:outerShdw blurRad="38100" dist="38100" dir="2700000" algn="tl">
                      <a:srgbClr val="C0C0C0"/>
                    </a:outerShdw>
                  </a:effectLst>
                  <a:latin typeface="华文中宋" pitchFamily="2" charset="-122"/>
                  <a:ea typeface="华文中宋" pitchFamily="2" charset="-122"/>
                </a:rPr>
                <a:t>3-</a:t>
              </a:r>
              <a:r>
                <a:rPr kumimoji="0" lang="zh-CN" altLang="en-US" sz="1800" b="1" dirty="0">
                  <a:effectLst>
                    <a:outerShdw blurRad="38100" dist="38100" dir="2700000" algn="tl">
                      <a:srgbClr val="C0C0C0"/>
                    </a:outerShdw>
                  </a:effectLst>
                  <a:latin typeface="华文中宋" pitchFamily="2" charset="-122"/>
                  <a:ea typeface="华文中宋" pitchFamily="2" charset="-122"/>
                </a:rPr>
                <a:t>2. 观察者静止，波源相对介质以      的速率运动</a:t>
              </a:r>
            </a:p>
          </p:txBody>
        </p:sp>
        <p:graphicFrame>
          <p:nvGraphicFramePr>
            <p:cNvPr id="6155" name="Object 11"/>
            <p:cNvGraphicFramePr>
              <a:graphicFrameLocks noChangeAspect="1"/>
            </p:cNvGraphicFramePr>
            <p:nvPr/>
          </p:nvGraphicFramePr>
          <p:xfrm>
            <a:off x="8459" y="149"/>
            <a:ext cx="585" cy="900"/>
          </p:xfrm>
          <a:graphic>
            <a:graphicData uri="http://schemas.openxmlformats.org/presentationml/2006/ole">
              <p:oleObj spid="_x0000_s6155" r:id="rId3" imgW="165028" imgH="228501" progId="Equation.DSMT4">
                <p:embed/>
              </p:oleObj>
            </a:graphicData>
          </a:graphic>
        </p:graphicFrame>
      </p:gr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6" name="Picture 2" descr="未命名"/>
          <p:cNvPicPr>
            <a:picLocks noChangeAspect="1" noChangeArrowheads="1"/>
          </p:cNvPicPr>
          <p:nvPr/>
        </p:nvPicPr>
        <p:blipFill>
          <a:blip r:embed="rId4"/>
          <a:srcRect/>
          <a:stretch>
            <a:fillRect/>
          </a:stretch>
        </p:blipFill>
        <p:spPr bwMode="auto">
          <a:xfrm>
            <a:off x="1219200" y="1200150"/>
            <a:ext cx="6705600" cy="3429000"/>
          </a:xfrm>
          <a:prstGeom prst="rect">
            <a:avLst/>
          </a:prstGeom>
          <a:noFill/>
          <a:ln w="9525">
            <a:noFill/>
            <a:miter lim="800000"/>
            <a:headEnd/>
            <a:tailEnd/>
          </a:ln>
        </p:spPr>
      </p:pic>
      <p:sp>
        <p:nvSpPr>
          <p:cNvPr id="159747" name="Rectangle 3"/>
          <p:cNvSpPr>
            <a:spLocks noChangeArrowheads="1"/>
          </p:cNvSpPr>
          <p:nvPr/>
        </p:nvSpPr>
        <p:spPr bwMode="auto">
          <a:xfrm>
            <a:off x="611560" y="3867894"/>
            <a:ext cx="3808040" cy="818406"/>
          </a:xfrm>
          <a:prstGeom prst="rect">
            <a:avLst/>
          </a:prstGeom>
          <a:gradFill rotWithShape="1">
            <a:gsLst>
              <a:gs pos="0">
                <a:srgbClr val="FFFF99">
                  <a:alpha val="85999"/>
                </a:srgbClr>
              </a:gs>
              <a:gs pos="50000">
                <a:srgbClr val="FFFF99">
                  <a:gamma/>
                  <a:tint val="63529"/>
                  <a:invGamma/>
                </a:srgbClr>
              </a:gs>
              <a:gs pos="100000">
                <a:srgbClr val="FFFF99">
                  <a:alpha val="85999"/>
                </a:srgbClr>
              </a:gs>
            </a:gsLst>
            <a:lin ang="5400000" scaled="1"/>
          </a:gradFill>
          <a:ln w="38100" cmpd="dbl">
            <a:solidFill>
              <a:srgbClr val="00FFFF"/>
            </a:solidFill>
            <a:miter lim="800000"/>
            <a:headEnd/>
            <a:tailEnd/>
          </a:ln>
          <a:effectLst/>
        </p:spPr>
        <p:txBody>
          <a:bodyPr wrap="none" anchor="ctr"/>
          <a:lstStyle/>
          <a:p>
            <a:pPr>
              <a:defRPr/>
            </a:pPr>
            <a:endParaRPr lang="zh-CN" altLang="en-US">
              <a:ea typeface="宋体" pitchFamily="2" charset="-122"/>
            </a:endParaRPr>
          </a:p>
        </p:txBody>
      </p:sp>
      <p:graphicFrame>
        <p:nvGraphicFramePr>
          <p:cNvPr id="159748" name="Object 83"/>
          <p:cNvGraphicFramePr>
            <a:graphicFrameLocks noChangeAspect="1"/>
          </p:cNvGraphicFramePr>
          <p:nvPr/>
        </p:nvGraphicFramePr>
        <p:xfrm>
          <a:off x="2209800" y="3143250"/>
          <a:ext cx="2590800" cy="514350"/>
        </p:xfrm>
        <a:graphic>
          <a:graphicData uri="http://schemas.openxmlformats.org/presentationml/2006/ole">
            <p:oleObj spid="_x0000_s67667" r:id="rId5" imgW="787400" imgH="228600" progId="Equation.3">
              <p:embed/>
            </p:oleObj>
          </a:graphicData>
        </a:graphic>
      </p:graphicFrame>
      <p:graphicFrame>
        <p:nvGraphicFramePr>
          <p:cNvPr id="159749" name="Object 84"/>
          <p:cNvGraphicFramePr>
            <a:graphicFrameLocks noChangeAspect="1"/>
          </p:cNvGraphicFramePr>
          <p:nvPr/>
        </p:nvGraphicFramePr>
        <p:xfrm>
          <a:off x="1731963" y="3771900"/>
          <a:ext cx="935037" cy="917575"/>
        </p:xfrm>
        <a:graphic>
          <a:graphicData uri="http://schemas.openxmlformats.org/presentationml/2006/ole">
            <p:oleObj spid="_x0000_s67668" r:id="rId6" imgW="331784" imgH="433871" progId="Equation.DSMT4">
              <p:embed/>
            </p:oleObj>
          </a:graphicData>
        </a:graphic>
      </p:graphicFrame>
      <p:graphicFrame>
        <p:nvGraphicFramePr>
          <p:cNvPr id="159750" name="Object 85"/>
          <p:cNvGraphicFramePr>
            <a:graphicFrameLocks noChangeAspect="1"/>
          </p:cNvGraphicFramePr>
          <p:nvPr/>
        </p:nvGraphicFramePr>
        <p:xfrm>
          <a:off x="4708525" y="3028950"/>
          <a:ext cx="3521075" cy="757238"/>
        </p:xfrm>
        <a:graphic>
          <a:graphicData uri="http://schemas.openxmlformats.org/presentationml/2006/ole">
            <p:oleObj spid="_x0000_s67669" r:id="rId7" imgW="1231366" imgH="393529" progId="Equation.3">
              <p:embed/>
            </p:oleObj>
          </a:graphicData>
        </a:graphic>
      </p:graphicFrame>
      <p:grpSp>
        <p:nvGrpSpPr>
          <p:cNvPr id="67685" name="Group 7"/>
          <p:cNvGrpSpPr>
            <a:grpSpLocks/>
          </p:cNvGrpSpPr>
          <p:nvPr/>
        </p:nvGrpSpPr>
        <p:grpSpPr bwMode="auto">
          <a:xfrm>
            <a:off x="228600" y="703263"/>
            <a:ext cx="9144000" cy="573087"/>
            <a:chOff x="0" y="0"/>
            <a:chExt cx="14398" cy="1200"/>
          </a:xfrm>
        </p:grpSpPr>
        <p:sp>
          <p:nvSpPr>
            <p:cNvPr id="159752" name="Text Box 8"/>
            <p:cNvSpPr txBox="1">
              <a:spLocks noChangeArrowheads="1"/>
            </p:cNvSpPr>
            <p:nvPr/>
          </p:nvSpPr>
          <p:spPr bwMode="auto">
            <a:xfrm>
              <a:off x="0" y="213"/>
              <a:ext cx="14398" cy="775"/>
            </a:xfrm>
            <a:prstGeom prst="rect">
              <a:avLst/>
            </a:prstGeom>
            <a:noFill/>
            <a:ln w="9525">
              <a:noFill/>
              <a:miter lim="800000"/>
              <a:headEnd/>
              <a:tailEnd/>
            </a:ln>
            <a:effectLst/>
          </p:spPr>
          <p:txBody>
            <a:bodyPr>
              <a:spAutoFit/>
            </a:bodyPr>
            <a:lstStyle/>
            <a:p>
              <a:pPr>
                <a:defRPr/>
              </a:pPr>
              <a:r>
                <a:rPr kumimoji="0" lang="en-US" altLang="zh-CN" sz="1800" b="1" dirty="0">
                  <a:effectLst>
                    <a:outerShdw blurRad="38100" dist="38100" dir="2700000" algn="tl">
                      <a:srgbClr val="C0C0C0"/>
                    </a:outerShdw>
                  </a:effectLst>
                  <a:latin typeface="华文中宋" pitchFamily="2" charset="-122"/>
                  <a:ea typeface="华文中宋" pitchFamily="2" charset="-122"/>
                </a:rPr>
                <a:t>3-</a:t>
              </a:r>
              <a:r>
                <a:rPr kumimoji="0" lang="zh-CN" altLang="en-US" sz="1800" b="1" dirty="0">
                  <a:effectLst>
                    <a:outerShdw blurRad="38100" dist="38100" dir="2700000" algn="tl">
                      <a:srgbClr val="C0C0C0"/>
                    </a:outerShdw>
                  </a:effectLst>
                  <a:latin typeface="华文中宋" pitchFamily="2" charset="-122"/>
                  <a:ea typeface="华文中宋" pitchFamily="2" charset="-122"/>
                </a:rPr>
                <a:t>2. 观察者静止，波源相对介质以      的速率运动</a:t>
              </a:r>
            </a:p>
          </p:txBody>
        </p:sp>
        <p:graphicFrame>
          <p:nvGraphicFramePr>
            <p:cNvPr id="67670" name="Object 86"/>
            <p:cNvGraphicFramePr>
              <a:graphicFrameLocks noChangeAspect="1"/>
            </p:cNvGraphicFramePr>
            <p:nvPr/>
          </p:nvGraphicFramePr>
          <p:xfrm>
            <a:off x="5719" y="0"/>
            <a:ext cx="780" cy="1200"/>
          </p:xfrm>
          <a:graphic>
            <a:graphicData uri="http://schemas.openxmlformats.org/presentationml/2006/ole">
              <p:oleObj spid="_x0000_s67670" r:id="rId8" imgW="165028" imgH="228501" progId="Equation.DSMT4">
                <p:embed/>
              </p:oleObj>
            </a:graphicData>
          </a:graphic>
        </p:graphicFrame>
      </p:grpSp>
      <p:graphicFrame>
        <p:nvGraphicFramePr>
          <p:cNvPr id="159754" name="Object 87"/>
          <p:cNvGraphicFramePr>
            <a:graphicFrameLocks noChangeAspect="1"/>
          </p:cNvGraphicFramePr>
          <p:nvPr/>
        </p:nvGraphicFramePr>
        <p:xfrm>
          <a:off x="2635250" y="3829050"/>
          <a:ext cx="1631950" cy="817563"/>
        </p:xfrm>
        <a:graphic>
          <a:graphicData uri="http://schemas.openxmlformats.org/presentationml/2006/ole">
            <p:oleObj spid="_x0000_s67671" r:id="rId9" imgW="647700" imgH="431800" progId="Equation.3">
              <p:embed/>
            </p:oleObj>
          </a:graphicData>
        </a:graphic>
      </p:graphicFrame>
      <p:sp>
        <p:nvSpPr>
          <p:cNvPr id="159755" name="未知"/>
          <p:cNvSpPr>
            <a:spLocks/>
          </p:cNvSpPr>
          <p:nvPr/>
        </p:nvSpPr>
        <p:spPr bwMode="auto">
          <a:xfrm>
            <a:off x="5257800" y="1771650"/>
            <a:ext cx="3443288" cy="931863"/>
          </a:xfrm>
          <a:custGeom>
            <a:avLst/>
            <a:gdLst>
              <a:gd name="T0" fmla="*/ 0 w 1152"/>
              <a:gd name="T1" fmla="*/ 2147483647 h 864"/>
              <a:gd name="T2" fmla="*/ 2147483647 w 1152"/>
              <a:gd name="T3" fmla="*/ 0 h 864"/>
              <a:gd name="T4" fmla="*/ 2147483647 w 1152"/>
              <a:gd name="T5" fmla="*/ 2147483647 h 864"/>
              <a:gd name="T6" fmla="*/ 2147483647 w 1152"/>
              <a:gd name="T7" fmla="*/ 2147483647 h 864"/>
              <a:gd name="T8" fmla="*/ 2147483647 w 1152"/>
              <a:gd name="T9" fmla="*/ 2147483647 h 864"/>
              <a:gd name="T10" fmla="*/ 0 60000 65536"/>
              <a:gd name="T11" fmla="*/ 0 60000 65536"/>
              <a:gd name="T12" fmla="*/ 0 60000 65536"/>
              <a:gd name="T13" fmla="*/ 0 60000 65536"/>
              <a:gd name="T14" fmla="*/ 0 60000 65536"/>
              <a:gd name="T15" fmla="*/ 0 w 1152"/>
              <a:gd name="T16" fmla="*/ 0 h 864"/>
              <a:gd name="T17" fmla="*/ 1152 w 1152"/>
              <a:gd name="T18" fmla="*/ 864 h 864"/>
            </a:gdLst>
            <a:ahLst/>
            <a:cxnLst>
              <a:cxn ang="T10">
                <a:pos x="T0" y="T1"/>
              </a:cxn>
              <a:cxn ang="T11">
                <a:pos x="T2" y="T3"/>
              </a:cxn>
              <a:cxn ang="T12">
                <a:pos x="T4" y="T5"/>
              </a:cxn>
              <a:cxn ang="T13">
                <a:pos x="T6" y="T7"/>
              </a:cxn>
              <a:cxn ang="T14">
                <a:pos x="T8" y="T9"/>
              </a:cxn>
            </a:cxnLst>
            <a:rect l="T15" t="T16" r="T17" b="T18"/>
            <a:pathLst>
              <a:path w="1152" h="864">
                <a:moveTo>
                  <a:pt x="0" y="432"/>
                </a:moveTo>
                <a:cubicBezTo>
                  <a:pt x="96" y="216"/>
                  <a:pt x="192" y="0"/>
                  <a:pt x="288" y="0"/>
                </a:cubicBezTo>
                <a:cubicBezTo>
                  <a:pt x="384" y="0"/>
                  <a:pt x="480" y="288"/>
                  <a:pt x="576" y="432"/>
                </a:cubicBezTo>
                <a:cubicBezTo>
                  <a:pt x="672" y="576"/>
                  <a:pt x="768" y="864"/>
                  <a:pt x="864" y="864"/>
                </a:cubicBezTo>
                <a:cubicBezTo>
                  <a:pt x="960" y="864"/>
                  <a:pt x="1104" y="504"/>
                  <a:pt x="1152" y="432"/>
                </a:cubicBezTo>
              </a:path>
            </a:pathLst>
          </a:custGeom>
          <a:noFill/>
          <a:ln w="28575" cap="flat" cmpd="sng">
            <a:solidFill>
              <a:srgbClr val="0000FF"/>
            </a:solidFill>
            <a:prstDash val="dash"/>
            <a:round/>
            <a:headEnd/>
            <a:tailEnd/>
          </a:ln>
        </p:spPr>
        <p:txBody>
          <a:bodyPr wrap="none" anchor="ctr"/>
          <a:lstStyle/>
          <a:p>
            <a:endParaRPr lang="zh-CN" altLang="en-US"/>
          </a:p>
        </p:txBody>
      </p:sp>
      <p:sp>
        <p:nvSpPr>
          <p:cNvPr id="159756" name="未知"/>
          <p:cNvSpPr>
            <a:spLocks/>
          </p:cNvSpPr>
          <p:nvPr/>
        </p:nvSpPr>
        <p:spPr bwMode="auto">
          <a:xfrm>
            <a:off x="5257800" y="2228850"/>
            <a:ext cx="3530600" cy="4763"/>
          </a:xfrm>
          <a:custGeom>
            <a:avLst/>
            <a:gdLst>
              <a:gd name="T0" fmla="*/ 0 w 2224"/>
              <a:gd name="T1" fmla="*/ 2147483647 h 4"/>
              <a:gd name="T2" fmla="*/ 2147483647 w 2224"/>
              <a:gd name="T3" fmla="*/ 0 h 4"/>
              <a:gd name="T4" fmla="*/ 0 60000 65536"/>
              <a:gd name="T5" fmla="*/ 0 60000 65536"/>
              <a:gd name="T6" fmla="*/ 0 w 2224"/>
              <a:gd name="T7" fmla="*/ 0 h 4"/>
              <a:gd name="T8" fmla="*/ 2224 w 2224"/>
              <a:gd name="T9" fmla="*/ 4 h 4"/>
            </a:gdLst>
            <a:ahLst/>
            <a:cxnLst>
              <a:cxn ang="T4">
                <a:pos x="T0" y="T1"/>
              </a:cxn>
              <a:cxn ang="T5">
                <a:pos x="T2" y="T3"/>
              </a:cxn>
            </a:cxnLst>
            <a:rect l="T6" t="T7" r="T8" b="T9"/>
            <a:pathLst>
              <a:path w="2224" h="4">
                <a:moveTo>
                  <a:pt x="0" y="4"/>
                </a:moveTo>
                <a:lnTo>
                  <a:pt x="2224" y="0"/>
                </a:lnTo>
              </a:path>
            </a:pathLst>
          </a:custGeom>
          <a:noFill/>
          <a:ln w="28575" cmpd="sng">
            <a:solidFill>
              <a:schemeClr val="tx1"/>
            </a:solidFill>
            <a:round/>
            <a:headEnd/>
            <a:tailEnd/>
          </a:ln>
        </p:spPr>
        <p:txBody>
          <a:bodyPr wrap="none" anchor="ctr"/>
          <a:lstStyle/>
          <a:p>
            <a:endParaRPr lang="zh-CN" altLang="en-US"/>
          </a:p>
        </p:txBody>
      </p:sp>
      <p:sp>
        <p:nvSpPr>
          <p:cNvPr id="159757" name="未知"/>
          <p:cNvSpPr>
            <a:spLocks/>
          </p:cNvSpPr>
          <p:nvPr/>
        </p:nvSpPr>
        <p:spPr bwMode="auto">
          <a:xfrm>
            <a:off x="6172200" y="1771650"/>
            <a:ext cx="2579688" cy="931863"/>
          </a:xfrm>
          <a:custGeom>
            <a:avLst/>
            <a:gdLst>
              <a:gd name="T0" fmla="*/ 0 w 1152"/>
              <a:gd name="T1" fmla="*/ 2147483647 h 864"/>
              <a:gd name="T2" fmla="*/ 2147483647 w 1152"/>
              <a:gd name="T3" fmla="*/ 0 h 864"/>
              <a:gd name="T4" fmla="*/ 2147483647 w 1152"/>
              <a:gd name="T5" fmla="*/ 2147483647 h 864"/>
              <a:gd name="T6" fmla="*/ 2147483647 w 1152"/>
              <a:gd name="T7" fmla="*/ 2147483647 h 864"/>
              <a:gd name="T8" fmla="*/ 2147483647 w 1152"/>
              <a:gd name="T9" fmla="*/ 2147483647 h 864"/>
              <a:gd name="T10" fmla="*/ 0 60000 65536"/>
              <a:gd name="T11" fmla="*/ 0 60000 65536"/>
              <a:gd name="T12" fmla="*/ 0 60000 65536"/>
              <a:gd name="T13" fmla="*/ 0 60000 65536"/>
              <a:gd name="T14" fmla="*/ 0 60000 65536"/>
              <a:gd name="T15" fmla="*/ 0 w 1152"/>
              <a:gd name="T16" fmla="*/ 0 h 864"/>
              <a:gd name="T17" fmla="*/ 1152 w 1152"/>
              <a:gd name="T18" fmla="*/ 864 h 864"/>
            </a:gdLst>
            <a:ahLst/>
            <a:cxnLst>
              <a:cxn ang="T10">
                <a:pos x="T0" y="T1"/>
              </a:cxn>
              <a:cxn ang="T11">
                <a:pos x="T2" y="T3"/>
              </a:cxn>
              <a:cxn ang="T12">
                <a:pos x="T4" y="T5"/>
              </a:cxn>
              <a:cxn ang="T13">
                <a:pos x="T6" y="T7"/>
              </a:cxn>
              <a:cxn ang="T14">
                <a:pos x="T8" y="T9"/>
              </a:cxn>
            </a:cxnLst>
            <a:rect l="T15" t="T16" r="T17" b="T18"/>
            <a:pathLst>
              <a:path w="1152" h="864">
                <a:moveTo>
                  <a:pt x="0" y="432"/>
                </a:moveTo>
                <a:cubicBezTo>
                  <a:pt x="96" y="216"/>
                  <a:pt x="192" y="0"/>
                  <a:pt x="288" y="0"/>
                </a:cubicBezTo>
                <a:cubicBezTo>
                  <a:pt x="384" y="0"/>
                  <a:pt x="480" y="288"/>
                  <a:pt x="576" y="432"/>
                </a:cubicBezTo>
                <a:cubicBezTo>
                  <a:pt x="672" y="576"/>
                  <a:pt x="768" y="864"/>
                  <a:pt x="864" y="864"/>
                </a:cubicBezTo>
                <a:cubicBezTo>
                  <a:pt x="960" y="864"/>
                  <a:pt x="1104" y="504"/>
                  <a:pt x="1152" y="432"/>
                </a:cubicBezTo>
              </a:path>
            </a:pathLst>
          </a:custGeom>
          <a:noFill/>
          <a:ln w="28575" cmpd="sng">
            <a:solidFill>
              <a:srgbClr val="FF0000"/>
            </a:solidFill>
            <a:round/>
            <a:headEnd/>
            <a:tailEnd/>
          </a:ln>
        </p:spPr>
        <p:txBody>
          <a:bodyPr wrap="none" anchor="ctr"/>
          <a:lstStyle/>
          <a:p>
            <a:endParaRPr lang="zh-CN" altLang="en-US"/>
          </a:p>
        </p:txBody>
      </p:sp>
      <p:sp>
        <p:nvSpPr>
          <p:cNvPr id="159758" name="Line 14"/>
          <p:cNvSpPr>
            <a:spLocks noChangeShapeType="1"/>
          </p:cNvSpPr>
          <p:nvPr/>
        </p:nvSpPr>
        <p:spPr bwMode="auto">
          <a:xfrm>
            <a:off x="8753475" y="1282700"/>
            <a:ext cx="0" cy="1803400"/>
          </a:xfrm>
          <a:prstGeom prst="line">
            <a:avLst/>
          </a:prstGeom>
          <a:noFill/>
          <a:ln w="12700">
            <a:solidFill>
              <a:schemeClr val="tx1"/>
            </a:solidFill>
            <a:round/>
            <a:headEnd/>
            <a:tailEnd/>
          </a:ln>
        </p:spPr>
        <p:txBody>
          <a:bodyPr wrap="none" anchor="ctr"/>
          <a:lstStyle/>
          <a:p>
            <a:endParaRPr lang="zh-CN" altLang="en-US"/>
          </a:p>
        </p:txBody>
      </p:sp>
      <p:sp>
        <p:nvSpPr>
          <p:cNvPr id="159759" name="Line 15"/>
          <p:cNvSpPr>
            <a:spLocks noChangeShapeType="1"/>
          </p:cNvSpPr>
          <p:nvPr/>
        </p:nvSpPr>
        <p:spPr bwMode="auto">
          <a:xfrm>
            <a:off x="5257800" y="1257300"/>
            <a:ext cx="0" cy="1803400"/>
          </a:xfrm>
          <a:prstGeom prst="line">
            <a:avLst/>
          </a:prstGeom>
          <a:noFill/>
          <a:ln w="12700">
            <a:solidFill>
              <a:schemeClr val="tx1"/>
            </a:solidFill>
            <a:round/>
            <a:headEnd/>
            <a:tailEnd/>
          </a:ln>
        </p:spPr>
        <p:txBody>
          <a:bodyPr wrap="none" anchor="ctr"/>
          <a:lstStyle/>
          <a:p>
            <a:endParaRPr lang="zh-CN" altLang="en-US"/>
          </a:p>
        </p:txBody>
      </p:sp>
      <p:sp>
        <p:nvSpPr>
          <p:cNvPr id="159760" name="Line 16"/>
          <p:cNvSpPr>
            <a:spLocks noChangeShapeType="1"/>
          </p:cNvSpPr>
          <p:nvPr/>
        </p:nvSpPr>
        <p:spPr bwMode="auto">
          <a:xfrm>
            <a:off x="5257800" y="1371600"/>
            <a:ext cx="3482975" cy="0"/>
          </a:xfrm>
          <a:prstGeom prst="line">
            <a:avLst/>
          </a:prstGeom>
          <a:noFill/>
          <a:ln w="22225">
            <a:solidFill>
              <a:srgbClr val="0000FF"/>
            </a:solidFill>
            <a:prstDash val="dash"/>
            <a:round/>
            <a:headEnd type="triangle" w="sm" len="lg"/>
            <a:tailEnd type="triangle" w="sm" len="lg"/>
          </a:ln>
        </p:spPr>
        <p:txBody>
          <a:bodyPr wrap="none" anchor="ctr"/>
          <a:lstStyle/>
          <a:p>
            <a:endParaRPr lang="zh-CN" altLang="en-US"/>
          </a:p>
        </p:txBody>
      </p:sp>
      <p:sp>
        <p:nvSpPr>
          <p:cNvPr id="159761" name="Line 17"/>
          <p:cNvSpPr>
            <a:spLocks noChangeShapeType="1"/>
          </p:cNvSpPr>
          <p:nvPr/>
        </p:nvSpPr>
        <p:spPr bwMode="auto">
          <a:xfrm>
            <a:off x="6172200" y="2228850"/>
            <a:ext cx="0" cy="814388"/>
          </a:xfrm>
          <a:prstGeom prst="line">
            <a:avLst/>
          </a:prstGeom>
          <a:noFill/>
          <a:ln w="9525">
            <a:solidFill>
              <a:schemeClr val="tx1"/>
            </a:solidFill>
            <a:round/>
            <a:headEnd/>
            <a:tailEnd/>
          </a:ln>
        </p:spPr>
        <p:txBody>
          <a:bodyPr wrap="none" anchor="ctr"/>
          <a:lstStyle/>
          <a:p>
            <a:endParaRPr lang="zh-CN" altLang="en-US"/>
          </a:p>
        </p:txBody>
      </p:sp>
      <p:sp>
        <p:nvSpPr>
          <p:cNvPr id="159762" name="Line 18"/>
          <p:cNvSpPr>
            <a:spLocks noChangeShapeType="1"/>
          </p:cNvSpPr>
          <p:nvPr/>
        </p:nvSpPr>
        <p:spPr bwMode="auto">
          <a:xfrm>
            <a:off x="5245100" y="2971800"/>
            <a:ext cx="935038" cy="0"/>
          </a:xfrm>
          <a:prstGeom prst="line">
            <a:avLst/>
          </a:prstGeom>
          <a:noFill/>
          <a:ln w="25400">
            <a:solidFill>
              <a:schemeClr val="tx1"/>
            </a:solidFill>
            <a:round/>
            <a:headEnd type="triangle" w="sm" len="lg"/>
            <a:tailEnd type="triangle" w="sm" len="lg"/>
          </a:ln>
        </p:spPr>
        <p:txBody>
          <a:bodyPr wrap="none" anchor="ctr"/>
          <a:lstStyle/>
          <a:p>
            <a:endParaRPr lang="zh-CN" altLang="en-US"/>
          </a:p>
        </p:txBody>
      </p:sp>
      <p:sp>
        <p:nvSpPr>
          <p:cNvPr id="159763" name="Line 19"/>
          <p:cNvSpPr>
            <a:spLocks noChangeShapeType="1"/>
          </p:cNvSpPr>
          <p:nvPr/>
        </p:nvSpPr>
        <p:spPr bwMode="auto">
          <a:xfrm>
            <a:off x="6172200" y="2857500"/>
            <a:ext cx="2579688" cy="0"/>
          </a:xfrm>
          <a:prstGeom prst="line">
            <a:avLst/>
          </a:prstGeom>
          <a:noFill/>
          <a:ln w="22225">
            <a:solidFill>
              <a:srgbClr val="FF0000"/>
            </a:solidFill>
            <a:prstDash val="dash"/>
            <a:round/>
            <a:headEnd type="triangle" w="sm" len="lg"/>
            <a:tailEnd type="triangle" w="sm" len="lg"/>
          </a:ln>
        </p:spPr>
        <p:txBody>
          <a:bodyPr wrap="none" anchor="ctr"/>
          <a:lstStyle/>
          <a:p>
            <a:endParaRPr lang="zh-CN" altLang="en-US"/>
          </a:p>
        </p:txBody>
      </p:sp>
      <p:graphicFrame>
        <p:nvGraphicFramePr>
          <p:cNvPr id="159764" name="Object 88"/>
          <p:cNvGraphicFramePr>
            <a:graphicFrameLocks noChangeAspect="1"/>
          </p:cNvGraphicFramePr>
          <p:nvPr/>
        </p:nvGraphicFramePr>
        <p:xfrm>
          <a:off x="7086600" y="2628900"/>
          <a:ext cx="649288" cy="479425"/>
        </p:xfrm>
        <a:graphic>
          <a:graphicData uri="http://schemas.openxmlformats.org/presentationml/2006/ole">
            <p:oleObj spid="_x0000_s67672" r:id="rId10" imgW="177646" imgH="228402" progId="Equation.3">
              <p:embed/>
            </p:oleObj>
          </a:graphicData>
        </a:graphic>
      </p:graphicFrame>
      <p:graphicFrame>
        <p:nvGraphicFramePr>
          <p:cNvPr id="159765" name="Object 89"/>
          <p:cNvGraphicFramePr>
            <a:graphicFrameLocks noChangeAspect="1"/>
          </p:cNvGraphicFramePr>
          <p:nvPr/>
        </p:nvGraphicFramePr>
        <p:xfrm>
          <a:off x="6705600" y="1257300"/>
          <a:ext cx="468313" cy="339725"/>
        </p:xfrm>
        <a:graphic>
          <a:graphicData uri="http://schemas.openxmlformats.org/presentationml/2006/ole">
            <p:oleObj spid="_x0000_s67673" r:id="rId11" imgW="190417" imgH="241195" progId="Equation.DSMT4">
              <p:embed/>
            </p:oleObj>
          </a:graphicData>
        </a:graphic>
      </p:graphicFrame>
      <p:graphicFrame>
        <p:nvGraphicFramePr>
          <p:cNvPr id="159766" name="Object 90"/>
          <p:cNvGraphicFramePr>
            <a:graphicFrameLocks noChangeAspect="1"/>
          </p:cNvGraphicFramePr>
          <p:nvPr/>
        </p:nvGraphicFramePr>
        <p:xfrm>
          <a:off x="5445125" y="2613025"/>
          <a:ext cx="520700" cy="400050"/>
        </p:xfrm>
        <a:graphic>
          <a:graphicData uri="http://schemas.openxmlformats.org/presentationml/2006/ole">
            <p:oleObj spid="_x0000_s67674" r:id="rId12" imgW="266584" imgH="228501" progId="Equation.3">
              <p:embed/>
            </p:oleObj>
          </a:graphicData>
        </a:graphic>
      </p:graphicFrame>
      <p:grpSp>
        <p:nvGrpSpPr>
          <p:cNvPr id="3" name="Group 23"/>
          <p:cNvGrpSpPr>
            <a:grpSpLocks/>
          </p:cNvGrpSpPr>
          <p:nvPr/>
        </p:nvGrpSpPr>
        <p:grpSpPr bwMode="auto">
          <a:xfrm>
            <a:off x="8712200" y="1866900"/>
            <a:ext cx="433388" cy="461963"/>
            <a:chOff x="0" y="0"/>
            <a:chExt cx="273" cy="388"/>
          </a:xfrm>
        </p:grpSpPr>
        <p:sp>
          <p:nvSpPr>
            <p:cNvPr id="67703" name="Text Box 24"/>
            <p:cNvSpPr txBox="1">
              <a:spLocks noChangeArrowheads="1"/>
            </p:cNvSpPr>
            <p:nvPr/>
          </p:nvSpPr>
          <p:spPr bwMode="auto">
            <a:xfrm>
              <a:off x="27" y="0"/>
              <a:ext cx="246" cy="388"/>
            </a:xfrm>
            <a:prstGeom prst="rect">
              <a:avLst/>
            </a:prstGeom>
            <a:noFill/>
            <a:ln w="9525">
              <a:noFill/>
              <a:miter lim="800000"/>
              <a:headEnd/>
              <a:tailEnd/>
            </a:ln>
          </p:spPr>
          <p:txBody>
            <a:bodyPr wrap="none">
              <a:spAutoFit/>
            </a:bodyPr>
            <a:lstStyle/>
            <a:p>
              <a:r>
                <a:rPr kumimoji="0" lang="en-US" altLang="zh-CN" sz="2400" b="1" i="1">
                  <a:solidFill>
                    <a:srgbClr val="CC0000"/>
                  </a:solidFill>
                </a:rPr>
                <a:t>A</a:t>
              </a:r>
            </a:p>
          </p:txBody>
        </p:sp>
        <p:sp>
          <p:nvSpPr>
            <p:cNvPr id="67704" name="Oval 25"/>
            <p:cNvSpPr>
              <a:spLocks noChangeArrowheads="1"/>
            </p:cNvSpPr>
            <p:nvPr/>
          </p:nvSpPr>
          <p:spPr bwMode="auto">
            <a:xfrm>
              <a:off x="0" y="273"/>
              <a:ext cx="48" cy="48"/>
            </a:xfrm>
            <a:prstGeom prst="ellipse">
              <a:avLst/>
            </a:prstGeom>
            <a:solidFill>
              <a:srgbClr val="FF0000"/>
            </a:solidFill>
            <a:ln w="9525">
              <a:solidFill>
                <a:srgbClr val="FF0000"/>
              </a:solidFill>
              <a:round/>
              <a:headEnd/>
              <a:tailEnd/>
            </a:ln>
          </p:spPr>
          <p:txBody>
            <a:bodyPr wrap="none" anchor="ctr"/>
            <a:lstStyle/>
            <a:p>
              <a:endParaRPr lang="zh-CN" altLang="en-US"/>
            </a:p>
          </p:txBody>
        </p:sp>
      </p:grpSp>
      <p:grpSp>
        <p:nvGrpSpPr>
          <p:cNvPr id="4" name="Group 26"/>
          <p:cNvGrpSpPr>
            <a:grpSpLocks/>
          </p:cNvGrpSpPr>
          <p:nvPr/>
        </p:nvGrpSpPr>
        <p:grpSpPr bwMode="auto">
          <a:xfrm>
            <a:off x="4921250" y="2033588"/>
            <a:ext cx="381000" cy="342900"/>
            <a:chOff x="0" y="0"/>
            <a:chExt cx="216" cy="256"/>
          </a:xfrm>
        </p:grpSpPr>
        <p:graphicFrame>
          <p:nvGraphicFramePr>
            <p:cNvPr id="67675" name="Object 91"/>
            <p:cNvGraphicFramePr>
              <a:graphicFrameLocks noChangeAspect="1"/>
            </p:cNvGraphicFramePr>
            <p:nvPr/>
          </p:nvGraphicFramePr>
          <p:xfrm>
            <a:off x="0" y="0"/>
            <a:ext cx="212" cy="256"/>
          </p:xfrm>
          <a:graphic>
            <a:graphicData uri="http://schemas.openxmlformats.org/presentationml/2006/ole">
              <p:oleObj spid="_x0000_s67675" r:id="rId13" imgW="152334" imgH="190417" progId="Equation.3">
                <p:embed/>
              </p:oleObj>
            </a:graphicData>
          </a:graphic>
        </p:graphicFrame>
        <p:sp>
          <p:nvSpPr>
            <p:cNvPr id="67702" name="Oval 28"/>
            <p:cNvSpPr>
              <a:spLocks noChangeArrowheads="1"/>
            </p:cNvSpPr>
            <p:nvPr/>
          </p:nvSpPr>
          <p:spPr bwMode="auto">
            <a:xfrm>
              <a:off x="168" y="124"/>
              <a:ext cx="48" cy="48"/>
            </a:xfrm>
            <a:prstGeom prst="ellipse">
              <a:avLst/>
            </a:prstGeom>
            <a:solidFill>
              <a:srgbClr val="FF0000"/>
            </a:solidFill>
            <a:ln w="9525">
              <a:solidFill>
                <a:srgbClr val="FF0000"/>
              </a:solidFill>
              <a:round/>
              <a:headEnd/>
              <a:tailEnd/>
            </a:ln>
          </p:spPr>
          <p:txBody>
            <a:bodyPr wrap="none" anchor="ctr"/>
            <a:lstStyle/>
            <a:p>
              <a:endParaRPr lang="zh-CN" altLang="en-US"/>
            </a:p>
          </p:txBody>
        </p:sp>
      </p:grpSp>
      <p:grpSp>
        <p:nvGrpSpPr>
          <p:cNvPr id="5" name="Group 29"/>
          <p:cNvGrpSpPr>
            <a:grpSpLocks/>
          </p:cNvGrpSpPr>
          <p:nvPr/>
        </p:nvGrpSpPr>
        <p:grpSpPr bwMode="auto">
          <a:xfrm>
            <a:off x="5819775" y="1828800"/>
            <a:ext cx="428625" cy="428625"/>
            <a:chOff x="0" y="0"/>
            <a:chExt cx="270" cy="360"/>
          </a:xfrm>
        </p:grpSpPr>
        <p:graphicFrame>
          <p:nvGraphicFramePr>
            <p:cNvPr id="67676" name="Object 92"/>
            <p:cNvGraphicFramePr>
              <a:graphicFrameLocks noChangeAspect="1"/>
            </p:cNvGraphicFramePr>
            <p:nvPr/>
          </p:nvGraphicFramePr>
          <p:xfrm>
            <a:off x="0" y="0"/>
            <a:ext cx="270" cy="338"/>
          </p:xfrm>
          <a:graphic>
            <a:graphicData uri="http://schemas.openxmlformats.org/presentationml/2006/ole">
              <p:oleObj spid="_x0000_s67676" r:id="rId14" imgW="215806" imgH="279279" progId="Equation.3">
                <p:embed/>
              </p:oleObj>
            </a:graphicData>
          </a:graphic>
        </p:graphicFrame>
        <p:sp>
          <p:nvSpPr>
            <p:cNvPr id="67701" name="Oval 31"/>
            <p:cNvSpPr>
              <a:spLocks noChangeArrowheads="1"/>
            </p:cNvSpPr>
            <p:nvPr/>
          </p:nvSpPr>
          <p:spPr bwMode="auto">
            <a:xfrm>
              <a:off x="202" y="312"/>
              <a:ext cx="48" cy="48"/>
            </a:xfrm>
            <a:prstGeom prst="ellipse">
              <a:avLst/>
            </a:prstGeom>
            <a:solidFill>
              <a:srgbClr val="FF0000"/>
            </a:solidFill>
            <a:ln w="9525">
              <a:solidFill>
                <a:srgbClr val="FF0000"/>
              </a:solidFill>
              <a:round/>
              <a:headEnd/>
              <a:tailEnd/>
            </a:ln>
          </p:spPr>
          <p:txBody>
            <a:bodyPr wrap="none" anchor="ctr"/>
            <a:lstStyle/>
            <a:p>
              <a:endParaRPr lang="zh-CN" altLang="en-US"/>
            </a:p>
          </p:txBody>
        </p:sp>
      </p:grpSp>
      <p:graphicFrame>
        <p:nvGraphicFramePr>
          <p:cNvPr id="159777" name="Object 93"/>
          <p:cNvGraphicFramePr>
            <a:graphicFrameLocks noChangeAspect="1"/>
          </p:cNvGraphicFramePr>
          <p:nvPr/>
        </p:nvGraphicFramePr>
        <p:xfrm>
          <a:off x="638175" y="3943350"/>
          <a:ext cx="1190625" cy="498475"/>
        </p:xfrm>
        <a:graphic>
          <a:graphicData uri="http://schemas.openxmlformats.org/presentationml/2006/ole">
            <p:oleObj spid="_x0000_s67677" r:id="rId15" imgW="433871" imgH="242458" progId="Equation.DSMT4">
              <p:embed/>
            </p:oleObj>
          </a:graphicData>
        </a:graphic>
      </p:graphicFrame>
      <p:grpSp>
        <p:nvGrpSpPr>
          <p:cNvPr id="6" name="Group 34"/>
          <p:cNvGrpSpPr>
            <a:grpSpLocks/>
          </p:cNvGrpSpPr>
          <p:nvPr/>
        </p:nvGrpSpPr>
        <p:grpSpPr bwMode="auto">
          <a:xfrm>
            <a:off x="4800600" y="3867150"/>
            <a:ext cx="3803650" cy="750888"/>
            <a:chOff x="0" y="0"/>
            <a:chExt cx="2496" cy="770"/>
          </a:xfrm>
        </p:grpSpPr>
        <p:sp>
          <p:nvSpPr>
            <p:cNvPr id="67699" name="Rectangle 35"/>
            <p:cNvSpPr>
              <a:spLocks noChangeArrowheads="1"/>
            </p:cNvSpPr>
            <p:nvPr/>
          </p:nvSpPr>
          <p:spPr bwMode="auto">
            <a:xfrm>
              <a:off x="0" y="0"/>
              <a:ext cx="2496" cy="768"/>
            </a:xfrm>
            <a:prstGeom prst="rect">
              <a:avLst/>
            </a:prstGeom>
            <a:solidFill>
              <a:srgbClr val="FFFF99">
                <a:alpha val="85881"/>
              </a:srgbClr>
            </a:solidFill>
            <a:ln w="38100" cmpd="dbl">
              <a:solidFill>
                <a:srgbClr val="00FFFF"/>
              </a:solidFill>
              <a:miter lim="800000"/>
              <a:headEnd/>
              <a:tailEnd/>
            </a:ln>
          </p:spPr>
          <p:txBody>
            <a:bodyPr wrap="none" anchor="ctr"/>
            <a:lstStyle/>
            <a:p>
              <a:endParaRPr lang="zh-CN" altLang="en-US"/>
            </a:p>
          </p:txBody>
        </p:sp>
        <p:grpSp>
          <p:nvGrpSpPr>
            <p:cNvPr id="67700" name="Group 36"/>
            <p:cNvGrpSpPr>
              <a:grpSpLocks noChangeAspect="1"/>
            </p:cNvGrpSpPr>
            <p:nvPr/>
          </p:nvGrpSpPr>
          <p:grpSpPr bwMode="auto">
            <a:xfrm>
              <a:off x="48" y="0"/>
              <a:ext cx="2372" cy="770"/>
              <a:chOff x="0" y="0"/>
              <a:chExt cx="2372" cy="770"/>
            </a:xfrm>
          </p:grpSpPr>
          <p:graphicFrame>
            <p:nvGraphicFramePr>
              <p:cNvPr id="67678" name="Object 94"/>
              <p:cNvGraphicFramePr>
                <a:graphicFrameLocks noChangeAspect="1"/>
              </p:cNvGraphicFramePr>
              <p:nvPr/>
            </p:nvGraphicFramePr>
            <p:xfrm>
              <a:off x="734" y="0"/>
              <a:ext cx="589" cy="770"/>
            </p:xfrm>
            <a:graphic>
              <a:graphicData uri="http://schemas.openxmlformats.org/presentationml/2006/ole">
                <p:oleObj spid="_x0000_s67678" r:id="rId16" imgW="331784" imgH="433871" progId="Equation.DSMT4">
                  <p:embed/>
                </p:oleObj>
              </a:graphicData>
            </a:graphic>
          </p:graphicFrame>
          <p:graphicFrame>
            <p:nvGraphicFramePr>
              <p:cNvPr id="67679" name="Object 95"/>
              <p:cNvGraphicFramePr>
                <a:graphicFrameLocks noChangeAspect="1"/>
              </p:cNvGraphicFramePr>
              <p:nvPr/>
            </p:nvGraphicFramePr>
            <p:xfrm>
              <a:off x="1344" y="48"/>
              <a:ext cx="1028" cy="686"/>
            </p:xfrm>
            <a:graphic>
              <a:graphicData uri="http://schemas.openxmlformats.org/presentationml/2006/ole">
                <p:oleObj spid="_x0000_s67679" r:id="rId17" imgW="647700" imgH="431800" progId="Equation.3">
                  <p:embed/>
                </p:oleObj>
              </a:graphicData>
            </a:graphic>
          </p:graphicFrame>
          <p:graphicFrame>
            <p:nvGraphicFramePr>
              <p:cNvPr id="67680" name="Object 96"/>
              <p:cNvGraphicFramePr>
                <a:graphicFrameLocks noChangeAspect="1"/>
              </p:cNvGraphicFramePr>
              <p:nvPr/>
            </p:nvGraphicFramePr>
            <p:xfrm>
              <a:off x="0" y="144"/>
              <a:ext cx="750" cy="419"/>
            </p:xfrm>
            <a:graphic>
              <a:graphicData uri="http://schemas.openxmlformats.org/presentationml/2006/ole">
                <p:oleObj spid="_x0000_s67680" r:id="rId18" imgW="433871" imgH="242458" progId="Equation.DSMT4">
                  <p:embed/>
                </p:oleObj>
              </a:graphicData>
            </a:graphic>
          </p:graphicFrame>
        </p:grpSp>
      </p:grpSp>
    </p:spTree>
    <p:custDataLst>
      <p:tags r:id="rId2"/>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0 -3.2948E-6 L -0.225 -0.16647 " pathEditMode="relative" rAng="0" ptsTypes="AA">
                                      <p:cBhvr>
                                        <p:cTn id="6" dur="2000" fill="hold"/>
                                        <p:tgtEl>
                                          <p:spTgt spid="159746"/>
                                        </p:tgtEl>
                                        <p:attrNameLst>
                                          <p:attrName>ppt_x,ppt_y</p:attrName>
                                        </p:attrNameLst>
                                      </p:cBhvr>
                                      <p:rCtr x="-10600" y="-7700"/>
                                    </p:animMotion>
                                  </p:childTnLst>
                                </p:cTn>
                              </p:par>
                              <p:par>
                                <p:cTn id="7" presetID="6" presetClass="emph" presetSubtype="0" fill="hold" nodeType="withEffect">
                                  <p:stCondLst>
                                    <p:cond delay="0"/>
                                  </p:stCondLst>
                                  <p:childTnLst>
                                    <p:animScale>
                                      <p:cBhvr>
                                        <p:cTn id="8" dur="2000" fill="hold"/>
                                        <p:tgtEl>
                                          <p:spTgt spid="159746"/>
                                        </p:tgtEl>
                                      </p:cBhvr>
                                      <p:by x="50000" y="50000"/>
                                    </p:animScale>
                                  </p:childTnLst>
                                </p:cTn>
                              </p:par>
                            </p:childTnLst>
                          </p:cTn>
                        </p:par>
                      </p:childTnLst>
                    </p:cTn>
                  </p:par>
                  <p:par>
                    <p:cTn id="9" fill="hold" nodeType="clickPar">
                      <p:stCondLst>
                        <p:cond delay="indefinite"/>
                      </p:stCondLst>
                      <p:childTnLst>
                        <p:par>
                          <p:cTn id="10" fill="hold" nodeType="withGroup">
                            <p:stCondLst>
                              <p:cond delay="0"/>
                            </p:stCondLst>
                            <p:childTnLst>
                              <p:par>
                                <p:cTn id="11" presetID="15"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59756"/>
                                        </p:tgtEl>
                                        <p:attrNameLst>
                                          <p:attrName>style.visibility</p:attrName>
                                        </p:attrNameLst>
                                      </p:cBhvr>
                                      <p:to>
                                        <p:strVal val="visible"/>
                                      </p:to>
                                    </p:set>
                                    <p:animEffect transition="in" filter="wipe(left)">
                                      <p:cBhvr>
                                        <p:cTn id="21" dur="500"/>
                                        <p:tgtEl>
                                          <p:spTgt spid="159756"/>
                                        </p:tgtEl>
                                      </p:cBhvr>
                                    </p:animEffect>
                                  </p:childTnLst>
                                </p:cTn>
                              </p:par>
                            </p:childTnLst>
                          </p:cTn>
                        </p:par>
                        <p:par>
                          <p:cTn id="22" fill="hold" nodeType="afterGroup">
                            <p:stCondLst>
                              <p:cond delay="500"/>
                            </p:stCondLst>
                            <p:childTnLst>
                              <p:par>
                                <p:cTn id="23" presetID="1" presetClass="entr" presetSubtype="0"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59755"/>
                                        </p:tgtEl>
                                        <p:attrNameLst>
                                          <p:attrName>style.visibility</p:attrName>
                                        </p:attrNameLst>
                                      </p:cBhvr>
                                      <p:to>
                                        <p:strVal val="visible"/>
                                      </p:to>
                                    </p:set>
                                    <p:animEffect transition="in" filter="wipe(left)">
                                      <p:cBhvr>
                                        <p:cTn id="29" dur="1000"/>
                                        <p:tgtEl>
                                          <p:spTgt spid="159755"/>
                                        </p:tgtEl>
                                      </p:cBhvr>
                                    </p:animEffect>
                                  </p:childTnLst>
                                </p:cTn>
                              </p:par>
                            </p:childTnLst>
                          </p:cTn>
                        </p:par>
                        <p:par>
                          <p:cTn id="30" fill="hold" nodeType="afterGroup">
                            <p:stCondLst>
                              <p:cond delay="1000"/>
                            </p:stCondLst>
                            <p:childTnLst>
                              <p:par>
                                <p:cTn id="31" presetID="22" presetClass="entr" presetSubtype="4" fill="hold" grpId="0" nodeType="afterEffect">
                                  <p:stCondLst>
                                    <p:cond delay="0"/>
                                  </p:stCondLst>
                                  <p:childTnLst>
                                    <p:set>
                                      <p:cBhvr>
                                        <p:cTn id="32" dur="1" fill="hold">
                                          <p:stCondLst>
                                            <p:cond delay="0"/>
                                          </p:stCondLst>
                                        </p:cTn>
                                        <p:tgtEl>
                                          <p:spTgt spid="159759"/>
                                        </p:tgtEl>
                                        <p:attrNameLst>
                                          <p:attrName>style.visibility</p:attrName>
                                        </p:attrNameLst>
                                      </p:cBhvr>
                                      <p:to>
                                        <p:strVal val="visible"/>
                                      </p:to>
                                    </p:set>
                                    <p:animEffect transition="in" filter="wipe(down)">
                                      <p:cBhvr>
                                        <p:cTn id="33" dur="500"/>
                                        <p:tgtEl>
                                          <p:spTgt spid="159759"/>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59758"/>
                                        </p:tgtEl>
                                        <p:attrNameLst>
                                          <p:attrName>style.visibility</p:attrName>
                                        </p:attrNameLst>
                                      </p:cBhvr>
                                      <p:to>
                                        <p:strVal val="visible"/>
                                      </p:to>
                                    </p:set>
                                    <p:animEffect transition="in" filter="wipe(down)">
                                      <p:cBhvr>
                                        <p:cTn id="36" dur="500"/>
                                        <p:tgtEl>
                                          <p:spTgt spid="159758"/>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59760"/>
                                        </p:tgtEl>
                                        <p:attrNameLst>
                                          <p:attrName>style.visibility</p:attrName>
                                        </p:attrNameLst>
                                      </p:cBhvr>
                                      <p:to>
                                        <p:strVal val="visible"/>
                                      </p:to>
                                    </p:set>
                                    <p:animEffect transition="in" filter="wipe(down)">
                                      <p:cBhvr>
                                        <p:cTn id="39" dur="500"/>
                                        <p:tgtEl>
                                          <p:spTgt spid="159760"/>
                                        </p:tgtEl>
                                      </p:cBhvr>
                                    </p:animEffect>
                                  </p:childTnLst>
                                </p:cTn>
                              </p:par>
                              <p:par>
                                <p:cTn id="40" presetID="22" presetClass="entr" presetSubtype="4" fill="hold" nodeType="withEffect">
                                  <p:stCondLst>
                                    <p:cond delay="0"/>
                                  </p:stCondLst>
                                  <p:childTnLst>
                                    <p:set>
                                      <p:cBhvr>
                                        <p:cTn id="41" dur="1" fill="hold">
                                          <p:stCondLst>
                                            <p:cond delay="0"/>
                                          </p:stCondLst>
                                        </p:cTn>
                                        <p:tgtEl>
                                          <p:spTgt spid="159765"/>
                                        </p:tgtEl>
                                        <p:attrNameLst>
                                          <p:attrName>style.visibility</p:attrName>
                                        </p:attrNameLst>
                                      </p:cBhvr>
                                      <p:to>
                                        <p:strVal val="visible"/>
                                      </p:to>
                                    </p:set>
                                    <p:animEffect transition="in" filter="wipe(down)">
                                      <p:cBhvr>
                                        <p:cTn id="42" dur="500"/>
                                        <p:tgtEl>
                                          <p:spTgt spid="15976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2" presetClass="entr" presetSubtype="4" fill="hold" grpId="0" nodeType="clickEffect">
                                  <p:stCondLst>
                                    <p:cond delay="0"/>
                                  </p:stCondLst>
                                  <p:childTnLst>
                                    <p:set>
                                      <p:cBhvr>
                                        <p:cTn id="50" dur="1" fill="hold">
                                          <p:stCondLst>
                                            <p:cond delay="0"/>
                                          </p:stCondLst>
                                        </p:cTn>
                                        <p:tgtEl>
                                          <p:spTgt spid="159761"/>
                                        </p:tgtEl>
                                        <p:attrNameLst>
                                          <p:attrName>style.visibility</p:attrName>
                                        </p:attrNameLst>
                                      </p:cBhvr>
                                      <p:to>
                                        <p:strVal val="visible"/>
                                      </p:to>
                                    </p:set>
                                    <p:animEffect transition="in" filter="slide(fromBottom)">
                                      <p:cBhvr>
                                        <p:cTn id="51" dur="500"/>
                                        <p:tgtEl>
                                          <p:spTgt spid="159761"/>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159757"/>
                                        </p:tgtEl>
                                        <p:attrNameLst>
                                          <p:attrName>style.visibility</p:attrName>
                                        </p:attrNameLst>
                                      </p:cBhvr>
                                      <p:to>
                                        <p:strVal val="visible"/>
                                      </p:to>
                                    </p:set>
                                    <p:animEffect transition="in" filter="wipe(left)">
                                      <p:cBhvr>
                                        <p:cTn id="54" dur="1000"/>
                                        <p:tgtEl>
                                          <p:spTgt spid="159757"/>
                                        </p:tgtEl>
                                      </p:cBhvr>
                                    </p:animEffect>
                                  </p:childTnLst>
                                </p:cTn>
                              </p:par>
                            </p:childTnLst>
                          </p:cTn>
                        </p:par>
                        <p:par>
                          <p:cTn id="55" fill="hold" nodeType="afterGroup">
                            <p:stCondLst>
                              <p:cond delay="1000"/>
                            </p:stCondLst>
                            <p:childTnLst>
                              <p:par>
                                <p:cTn id="56" presetID="8" presetClass="entr" presetSubtype="16" fill="hold" nodeType="afterEffect">
                                  <p:stCondLst>
                                    <p:cond delay="0"/>
                                  </p:stCondLst>
                                  <p:childTnLst>
                                    <p:set>
                                      <p:cBhvr>
                                        <p:cTn id="57" dur="1" fill="hold">
                                          <p:stCondLst>
                                            <p:cond delay="0"/>
                                          </p:stCondLst>
                                        </p:cTn>
                                        <p:tgtEl>
                                          <p:spTgt spid="159764"/>
                                        </p:tgtEl>
                                        <p:attrNameLst>
                                          <p:attrName>style.visibility</p:attrName>
                                        </p:attrNameLst>
                                      </p:cBhvr>
                                      <p:to>
                                        <p:strVal val="visible"/>
                                      </p:to>
                                    </p:set>
                                    <p:animEffect transition="in" filter="diamond(in)">
                                      <p:cBhvr>
                                        <p:cTn id="58" dur="500"/>
                                        <p:tgtEl>
                                          <p:spTgt spid="159764"/>
                                        </p:tgtEl>
                                      </p:cBhvr>
                                    </p:animEffect>
                                  </p:childTnLst>
                                </p:cTn>
                              </p:par>
                              <p:par>
                                <p:cTn id="59" presetID="8" presetClass="entr" presetSubtype="16" fill="hold" grpId="0" nodeType="withEffect">
                                  <p:stCondLst>
                                    <p:cond delay="0"/>
                                  </p:stCondLst>
                                  <p:childTnLst>
                                    <p:set>
                                      <p:cBhvr>
                                        <p:cTn id="60" dur="1" fill="hold">
                                          <p:stCondLst>
                                            <p:cond delay="0"/>
                                          </p:stCondLst>
                                        </p:cTn>
                                        <p:tgtEl>
                                          <p:spTgt spid="159763"/>
                                        </p:tgtEl>
                                        <p:attrNameLst>
                                          <p:attrName>style.visibility</p:attrName>
                                        </p:attrNameLst>
                                      </p:cBhvr>
                                      <p:to>
                                        <p:strVal val="visible"/>
                                      </p:to>
                                    </p:set>
                                    <p:animEffect transition="in" filter="diamond(in)">
                                      <p:cBhvr>
                                        <p:cTn id="61" dur="500"/>
                                        <p:tgtEl>
                                          <p:spTgt spid="15976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8" presetClass="entr" presetSubtype="16" fill="hold" grpId="0" nodeType="clickEffect">
                                  <p:stCondLst>
                                    <p:cond delay="0"/>
                                  </p:stCondLst>
                                  <p:childTnLst>
                                    <p:set>
                                      <p:cBhvr>
                                        <p:cTn id="65" dur="1" fill="hold">
                                          <p:stCondLst>
                                            <p:cond delay="0"/>
                                          </p:stCondLst>
                                        </p:cTn>
                                        <p:tgtEl>
                                          <p:spTgt spid="159762"/>
                                        </p:tgtEl>
                                        <p:attrNameLst>
                                          <p:attrName>style.visibility</p:attrName>
                                        </p:attrNameLst>
                                      </p:cBhvr>
                                      <p:to>
                                        <p:strVal val="visible"/>
                                      </p:to>
                                    </p:set>
                                    <p:animEffect transition="in" filter="diamond(in)">
                                      <p:cBhvr>
                                        <p:cTn id="66" dur="1000"/>
                                        <p:tgtEl>
                                          <p:spTgt spid="159762"/>
                                        </p:tgtEl>
                                      </p:cBhvr>
                                    </p:animEffect>
                                  </p:childTnLst>
                                </p:cTn>
                              </p:par>
                              <p:par>
                                <p:cTn id="67" presetID="8" presetClass="entr" presetSubtype="16" fill="hold" nodeType="withEffect">
                                  <p:stCondLst>
                                    <p:cond delay="0"/>
                                  </p:stCondLst>
                                  <p:childTnLst>
                                    <p:set>
                                      <p:cBhvr>
                                        <p:cTn id="68" dur="1" fill="hold">
                                          <p:stCondLst>
                                            <p:cond delay="0"/>
                                          </p:stCondLst>
                                        </p:cTn>
                                        <p:tgtEl>
                                          <p:spTgt spid="159766"/>
                                        </p:tgtEl>
                                        <p:attrNameLst>
                                          <p:attrName>style.visibility</p:attrName>
                                        </p:attrNameLst>
                                      </p:cBhvr>
                                      <p:to>
                                        <p:strVal val="visible"/>
                                      </p:to>
                                    </p:set>
                                    <p:animEffect transition="in" filter="diamond(in)">
                                      <p:cBhvr>
                                        <p:cTn id="69" dur="1000"/>
                                        <p:tgtEl>
                                          <p:spTgt spid="159766"/>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159748"/>
                                        </p:tgtEl>
                                        <p:attrNameLst>
                                          <p:attrName>style.visibility</p:attrName>
                                        </p:attrNameLst>
                                      </p:cBhvr>
                                      <p:to>
                                        <p:strVal val="visible"/>
                                      </p:to>
                                    </p:set>
                                    <p:animEffect transition="in" filter="wipe(left)">
                                      <p:cBhvr>
                                        <p:cTn id="74" dur="500"/>
                                        <p:tgtEl>
                                          <p:spTgt spid="159748"/>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159750"/>
                                        </p:tgtEl>
                                        <p:attrNameLst>
                                          <p:attrName>style.visibility</p:attrName>
                                        </p:attrNameLst>
                                      </p:cBhvr>
                                      <p:to>
                                        <p:strVal val="visible"/>
                                      </p:to>
                                    </p:set>
                                    <p:animEffect transition="in" filter="wipe(left)">
                                      <p:cBhvr>
                                        <p:cTn id="79" dur="500"/>
                                        <p:tgtEl>
                                          <p:spTgt spid="159750"/>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49" presetClass="entr" presetSubtype="0" decel="100000" fill="hold" nodeType="clickEffect">
                                  <p:stCondLst>
                                    <p:cond delay="0"/>
                                  </p:stCondLst>
                                  <p:childTnLst>
                                    <p:set>
                                      <p:cBhvr>
                                        <p:cTn id="83" dur="1" fill="hold">
                                          <p:stCondLst>
                                            <p:cond delay="0"/>
                                          </p:stCondLst>
                                        </p:cTn>
                                        <p:tgtEl>
                                          <p:spTgt spid="159777"/>
                                        </p:tgtEl>
                                        <p:attrNameLst>
                                          <p:attrName>style.visibility</p:attrName>
                                        </p:attrNameLst>
                                      </p:cBhvr>
                                      <p:to>
                                        <p:strVal val="visible"/>
                                      </p:to>
                                    </p:set>
                                    <p:anim calcmode="lin" valueType="num">
                                      <p:cBhvr>
                                        <p:cTn id="84" dur="500" fill="hold"/>
                                        <p:tgtEl>
                                          <p:spTgt spid="159777"/>
                                        </p:tgtEl>
                                        <p:attrNameLst>
                                          <p:attrName>ppt_w</p:attrName>
                                        </p:attrNameLst>
                                      </p:cBhvr>
                                      <p:tavLst>
                                        <p:tav tm="0">
                                          <p:val>
                                            <p:fltVal val="0"/>
                                          </p:val>
                                        </p:tav>
                                        <p:tav tm="100000">
                                          <p:val>
                                            <p:strVal val="#ppt_w"/>
                                          </p:val>
                                        </p:tav>
                                      </p:tavLst>
                                    </p:anim>
                                    <p:anim calcmode="lin" valueType="num">
                                      <p:cBhvr>
                                        <p:cTn id="85" dur="500" fill="hold"/>
                                        <p:tgtEl>
                                          <p:spTgt spid="159777"/>
                                        </p:tgtEl>
                                        <p:attrNameLst>
                                          <p:attrName>ppt_h</p:attrName>
                                        </p:attrNameLst>
                                      </p:cBhvr>
                                      <p:tavLst>
                                        <p:tav tm="0">
                                          <p:val>
                                            <p:fltVal val="0"/>
                                          </p:val>
                                        </p:tav>
                                        <p:tav tm="100000">
                                          <p:val>
                                            <p:strVal val="#ppt_h"/>
                                          </p:val>
                                        </p:tav>
                                      </p:tavLst>
                                    </p:anim>
                                    <p:anim calcmode="lin" valueType="num">
                                      <p:cBhvr>
                                        <p:cTn id="86" dur="500" fill="hold"/>
                                        <p:tgtEl>
                                          <p:spTgt spid="159777"/>
                                        </p:tgtEl>
                                        <p:attrNameLst>
                                          <p:attrName>style.rotation</p:attrName>
                                        </p:attrNameLst>
                                      </p:cBhvr>
                                      <p:tavLst>
                                        <p:tav tm="0">
                                          <p:val>
                                            <p:fltVal val="360"/>
                                          </p:val>
                                        </p:tav>
                                        <p:tav tm="100000">
                                          <p:val>
                                            <p:fltVal val="0"/>
                                          </p:val>
                                        </p:tav>
                                      </p:tavLst>
                                    </p:anim>
                                    <p:animEffect transition="in" filter="fade">
                                      <p:cBhvr>
                                        <p:cTn id="87" dur="500"/>
                                        <p:tgtEl>
                                          <p:spTgt spid="159777"/>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4" presetClass="entr" presetSubtype="16" fill="hold" nodeType="clickEffect">
                                  <p:stCondLst>
                                    <p:cond delay="0"/>
                                  </p:stCondLst>
                                  <p:childTnLst>
                                    <p:set>
                                      <p:cBhvr>
                                        <p:cTn id="91" dur="1" fill="hold">
                                          <p:stCondLst>
                                            <p:cond delay="0"/>
                                          </p:stCondLst>
                                        </p:cTn>
                                        <p:tgtEl>
                                          <p:spTgt spid="159749"/>
                                        </p:tgtEl>
                                        <p:attrNameLst>
                                          <p:attrName>style.visibility</p:attrName>
                                        </p:attrNameLst>
                                      </p:cBhvr>
                                      <p:to>
                                        <p:strVal val="visible"/>
                                      </p:to>
                                    </p:set>
                                    <p:animEffect transition="in" filter="box(in)">
                                      <p:cBhvr>
                                        <p:cTn id="92" dur="500"/>
                                        <p:tgtEl>
                                          <p:spTgt spid="15974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49" presetClass="entr" presetSubtype="0" decel="100000" fill="hold" nodeType="clickEffect">
                                  <p:stCondLst>
                                    <p:cond delay="0"/>
                                  </p:stCondLst>
                                  <p:childTnLst>
                                    <p:set>
                                      <p:cBhvr>
                                        <p:cTn id="96" dur="1" fill="hold">
                                          <p:stCondLst>
                                            <p:cond delay="0"/>
                                          </p:stCondLst>
                                        </p:cTn>
                                        <p:tgtEl>
                                          <p:spTgt spid="159754"/>
                                        </p:tgtEl>
                                        <p:attrNameLst>
                                          <p:attrName>style.visibility</p:attrName>
                                        </p:attrNameLst>
                                      </p:cBhvr>
                                      <p:to>
                                        <p:strVal val="visible"/>
                                      </p:to>
                                    </p:set>
                                    <p:anim calcmode="lin" valueType="num">
                                      <p:cBhvr>
                                        <p:cTn id="97" dur="500" fill="hold"/>
                                        <p:tgtEl>
                                          <p:spTgt spid="159754"/>
                                        </p:tgtEl>
                                        <p:attrNameLst>
                                          <p:attrName>ppt_w</p:attrName>
                                        </p:attrNameLst>
                                      </p:cBhvr>
                                      <p:tavLst>
                                        <p:tav tm="0">
                                          <p:val>
                                            <p:fltVal val="0"/>
                                          </p:val>
                                        </p:tav>
                                        <p:tav tm="100000">
                                          <p:val>
                                            <p:strVal val="#ppt_w"/>
                                          </p:val>
                                        </p:tav>
                                      </p:tavLst>
                                    </p:anim>
                                    <p:anim calcmode="lin" valueType="num">
                                      <p:cBhvr>
                                        <p:cTn id="98" dur="500" fill="hold"/>
                                        <p:tgtEl>
                                          <p:spTgt spid="159754"/>
                                        </p:tgtEl>
                                        <p:attrNameLst>
                                          <p:attrName>ppt_h</p:attrName>
                                        </p:attrNameLst>
                                      </p:cBhvr>
                                      <p:tavLst>
                                        <p:tav tm="0">
                                          <p:val>
                                            <p:fltVal val="0"/>
                                          </p:val>
                                        </p:tav>
                                        <p:tav tm="100000">
                                          <p:val>
                                            <p:strVal val="#ppt_h"/>
                                          </p:val>
                                        </p:tav>
                                      </p:tavLst>
                                    </p:anim>
                                    <p:anim calcmode="lin" valueType="num">
                                      <p:cBhvr>
                                        <p:cTn id="99" dur="500" fill="hold"/>
                                        <p:tgtEl>
                                          <p:spTgt spid="159754"/>
                                        </p:tgtEl>
                                        <p:attrNameLst>
                                          <p:attrName>style.rotation</p:attrName>
                                        </p:attrNameLst>
                                      </p:cBhvr>
                                      <p:tavLst>
                                        <p:tav tm="0">
                                          <p:val>
                                            <p:fltVal val="360"/>
                                          </p:val>
                                        </p:tav>
                                        <p:tav tm="100000">
                                          <p:val>
                                            <p:fltVal val="0"/>
                                          </p:val>
                                        </p:tav>
                                      </p:tavLst>
                                    </p:anim>
                                    <p:animEffect transition="in" filter="fade">
                                      <p:cBhvr>
                                        <p:cTn id="100" dur="500"/>
                                        <p:tgtEl>
                                          <p:spTgt spid="159754"/>
                                        </p:tgtEl>
                                      </p:cBhvr>
                                    </p:animEffect>
                                  </p:childTnLst>
                                </p:cTn>
                              </p:par>
                            </p:childTnLst>
                          </p:cTn>
                        </p:par>
                        <p:par>
                          <p:cTn id="101" fill="hold" nodeType="afterGroup">
                            <p:stCondLst>
                              <p:cond delay="500"/>
                            </p:stCondLst>
                            <p:childTnLst>
                              <p:par>
                                <p:cTn id="102" presetID="8" presetClass="entr" presetSubtype="16" fill="hold" nodeType="afterEffect">
                                  <p:stCondLst>
                                    <p:cond delay="0"/>
                                  </p:stCondLst>
                                  <p:childTnLst>
                                    <p:set>
                                      <p:cBhvr>
                                        <p:cTn id="103" dur="1" fill="hold">
                                          <p:stCondLst>
                                            <p:cond delay="0"/>
                                          </p:stCondLst>
                                        </p:cTn>
                                        <p:tgtEl>
                                          <p:spTgt spid="159747"/>
                                        </p:tgtEl>
                                        <p:attrNameLst>
                                          <p:attrName>style.visibility</p:attrName>
                                        </p:attrNameLst>
                                      </p:cBhvr>
                                      <p:to>
                                        <p:strVal val="visible"/>
                                      </p:to>
                                    </p:set>
                                    <p:animEffect transition="in" filter="diamond(in)">
                                      <p:cBhvr>
                                        <p:cTn id="104" dur="500"/>
                                        <p:tgtEl>
                                          <p:spTgt spid="159747"/>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 presetClass="entr" presetSubtype="4" fill="hold" nodeType="clickEffect">
                                  <p:stCondLst>
                                    <p:cond delay="0"/>
                                  </p:stCondLst>
                                  <p:childTnLst>
                                    <p:set>
                                      <p:cBhvr>
                                        <p:cTn id="108" dur="1" fill="hold">
                                          <p:stCondLst>
                                            <p:cond delay="0"/>
                                          </p:stCondLst>
                                        </p:cTn>
                                        <p:tgtEl>
                                          <p:spTgt spid="6"/>
                                        </p:tgtEl>
                                        <p:attrNameLst>
                                          <p:attrName>style.visibility</p:attrName>
                                        </p:attrNameLst>
                                      </p:cBhvr>
                                      <p:to>
                                        <p:strVal val="visible"/>
                                      </p:to>
                                    </p:set>
                                    <p:anim calcmode="lin" valueType="num">
                                      <p:cBhvr additive="base">
                                        <p:cTn id="109" dur="500" fill="hold"/>
                                        <p:tgtEl>
                                          <p:spTgt spid="6"/>
                                        </p:tgtEl>
                                        <p:attrNameLst>
                                          <p:attrName>ppt_x</p:attrName>
                                        </p:attrNameLst>
                                      </p:cBhvr>
                                      <p:tavLst>
                                        <p:tav tm="0">
                                          <p:val>
                                            <p:strVal val="#ppt_x"/>
                                          </p:val>
                                        </p:tav>
                                        <p:tav tm="100000">
                                          <p:val>
                                            <p:strVal val="#ppt_x"/>
                                          </p:val>
                                        </p:tav>
                                      </p:tavLst>
                                    </p:anim>
                                    <p:anim calcmode="lin" valueType="num">
                                      <p:cBhvr additive="base">
                                        <p:cTn id="11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55" grpId="0" animBg="1"/>
      <p:bldP spid="159756" grpId="0" animBg="1"/>
      <p:bldP spid="159757" grpId="0" animBg="1"/>
      <p:bldP spid="159758" grpId="0" animBg="1"/>
      <p:bldP spid="159759" grpId="0" animBg="1"/>
      <p:bldP spid="159760" grpId="0" animBg="1"/>
      <p:bldP spid="159761" grpId="0" animBg="1"/>
      <p:bldP spid="159762" grpId="0" animBg="1"/>
      <p:bldP spid="15976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0770" name="Object 21"/>
          <p:cNvGraphicFramePr>
            <a:graphicFrameLocks noChangeAspect="1"/>
          </p:cNvGraphicFramePr>
          <p:nvPr/>
        </p:nvGraphicFramePr>
        <p:xfrm>
          <a:off x="685800" y="1719263"/>
          <a:ext cx="1846263" cy="746125"/>
        </p:xfrm>
        <a:graphic>
          <a:graphicData uri="http://schemas.openxmlformats.org/presentationml/2006/ole">
            <p:oleObj spid="_x0000_s68629" r:id="rId3" imgW="800550" imgH="431980" progId="Equation.DSMT4">
              <p:embed/>
            </p:oleObj>
          </a:graphicData>
        </a:graphic>
      </p:graphicFrame>
      <p:sp>
        <p:nvSpPr>
          <p:cNvPr id="160771" name="Rectangle 3"/>
          <p:cNvSpPr>
            <a:spLocks noChangeArrowheads="1"/>
          </p:cNvSpPr>
          <p:nvPr/>
        </p:nvSpPr>
        <p:spPr bwMode="auto">
          <a:xfrm>
            <a:off x="3733800" y="1719263"/>
            <a:ext cx="5105400" cy="368300"/>
          </a:xfrm>
          <a:prstGeom prst="rect">
            <a:avLst/>
          </a:prstGeom>
          <a:noFill/>
          <a:ln w="9525">
            <a:noFill/>
            <a:miter lim="800000"/>
            <a:headEnd/>
            <a:tailEnd/>
          </a:ln>
          <a:effectLst/>
        </p:spPr>
        <p:txBody>
          <a:bodyPr>
            <a:spAutoFit/>
          </a:bodyPr>
          <a:lstStyle/>
          <a:p>
            <a:pPr>
              <a:spcBef>
                <a:spcPct val="50000"/>
              </a:spcBef>
              <a:defRPr/>
            </a:pPr>
            <a:r>
              <a:rPr kumimoji="0" lang="zh-CN" altLang="en-US" sz="1800" b="1" dirty="0">
                <a:effectLst>
                  <a:outerShdw blurRad="38100" dist="38100" dir="2700000" algn="tl">
                    <a:srgbClr val="C0C0C0"/>
                  </a:outerShdw>
                </a:effectLst>
                <a:latin typeface="华文中宋" pitchFamily="2" charset="-122"/>
                <a:ea typeface="华文中宋" pitchFamily="2" charset="-122"/>
              </a:rPr>
              <a:t>观察者</a:t>
            </a:r>
            <a:r>
              <a:rPr kumimoji="0" lang="zh-CN" altLang="en-US" sz="1800" b="1" dirty="0">
                <a:solidFill>
                  <a:srgbClr val="CC0000"/>
                </a:solidFill>
                <a:effectLst>
                  <a:outerShdw blurRad="38100" dist="38100" dir="2700000" algn="tl">
                    <a:srgbClr val="C0C0C0"/>
                  </a:outerShdw>
                </a:effectLst>
                <a:latin typeface="华文中宋" pitchFamily="2" charset="-122"/>
                <a:ea typeface="华文中宋" pitchFamily="2" charset="-122"/>
              </a:rPr>
              <a:t>向</a:t>
            </a:r>
            <a:r>
              <a:rPr kumimoji="0" lang="zh-CN" altLang="en-US" sz="1800" b="1" dirty="0">
                <a:effectLst>
                  <a:outerShdw blurRad="38100" dist="38100" dir="2700000" algn="tl">
                    <a:srgbClr val="C0C0C0"/>
                  </a:outerShdw>
                </a:effectLst>
                <a:latin typeface="华文中宋" pitchFamily="2" charset="-122"/>
                <a:ea typeface="华文中宋" pitchFamily="2" charset="-122"/>
              </a:rPr>
              <a:t>波源运动 </a:t>
            </a:r>
            <a:r>
              <a:rPr kumimoji="0" lang="en-US" altLang="zh-CN" sz="1800" b="1" dirty="0">
                <a:solidFill>
                  <a:srgbClr val="CC0000"/>
                </a:solidFill>
                <a:effectLst>
                  <a:outerShdw blurRad="38100" dist="38100" dir="2700000" algn="tl">
                    <a:srgbClr val="C0C0C0"/>
                  </a:outerShdw>
                </a:effectLst>
                <a:latin typeface="华文中宋" pitchFamily="2" charset="-122"/>
                <a:ea typeface="华文中宋" pitchFamily="2" charset="-122"/>
              </a:rPr>
              <a:t>+</a:t>
            </a:r>
            <a:r>
              <a:rPr kumimoji="0" lang="zh-CN" altLang="en-US" sz="1800" b="1" dirty="0">
                <a:effectLst>
                  <a:outerShdw blurRad="38100" dist="38100" dir="2700000" algn="tl">
                    <a:srgbClr val="C0C0C0"/>
                  </a:outerShdw>
                </a:effectLst>
                <a:latin typeface="华文中宋" pitchFamily="2" charset="-122"/>
                <a:ea typeface="华文中宋" pitchFamily="2" charset="-122"/>
              </a:rPr>
              <a:t>，</a:t>
            </a:r>
            <a:r>
              <a:rPr kumimoji="0"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远离     </a:t>
            </a:r>
            <a:r>
              <a:rPr kumimoji="0" lang="zh-CN" altLang="en-US" sz="1800" b="1" dirty="0">
                <a:effectLst>
                  <a:outerShdw blurRad="38100" dist="38100" dir="2700000" algn="tl">
                    <a:srgbClr val="C0C0C0"/>
                  </a:outerShdw>
                </a:effectLst>
                <a:latin typeface="华文中宋" pitchFamily="2" charset="-122"/>
                <a:ea typeface="华文中宋" pitchFamily="2" charset="-122"/>
              </a:rPr>
              <a:t>。</a:t>
            </a:r>
          </a:p>
        </p:txBody>
      </p:sp>
      <p:sp>
        <p:nvSpPr>
          <p:cNvPr id="160772" name="Line 4"/>
          <p:cNvSpPr>
            <a:spLocks noChangeShapeType="1"/>
          </p:cNvSpPr>
          <p:nvPr/>
        </p:nvSpPr>
        <p:spPr bwMode="auto">
          <a:xfrm>
            <a:off x="6646863" y="1906588"/>
            <a:ext cx="228600" cy="0"/>
          </a:xfrm>
          <a:prstGeom prst="line">
            <a:avLst/>
          </a:prstGeom>
          <a:noFill/>
          <a:ln w="28575">
            <a:solidFill>
              <a:srgbClr val="0000FF"/>
            </a:solidFill>
            <a:round/>
            <a:headEnd/>
            <a:tailEnd/>
          </a:ln>
        </p:spPr>
        <p:txBody>
          <a:bodyPr wrap="none" anchor="ctr"/>
          <a:lstStyle/>
          <a:p>
            <a:endParaRPr lang="zh-CN" altLang="en-US"/>
          </a:p>
        </p:txBody>
      </p:sp>
      <p:sp>
        <p:nvSpPr>
          <p:cNvPr id="160773" name="Rectangle 5"/>
          <p:cNvSpPr>
            <a:spLocks noChangeArrowheads="1"/>
          </p:cNvSpPr>
          <p:nvPr/>
        </p:nvSpPr>
        <p:spPr bwMode="auto">
          <a:xfrm>
            <a:off x="3733800" y="2289175"/>
            <a:ext cx="5029200" cy="368300"/>
          </a:xfrm>
          <a:prstGeom prst="rect">
            <a:avLst/>
          </a:prstGeom>
          <a:noFill/>
          <a:ln w="9525">
            <a:noFill/>
            <a:miter lim="800000"/>
            <a:headEnd/>
            <a:tailEnd/>
          </a:ln>
          <a:effectLst/>
        </p:spPr>
        <p:txBody>
          <a:bodyPr>
            <a:spAutoFit/>
          </a:bodyPr>
          <a:lstStyle/>
          <a:p>
            <a:pPr>
              <a:spcBef>
                <a:spcPct val="50000"/>
              </a:spcBef>
              <a:defRPr/>
            </a:pPr>
            <a:r>
              <a:rPr kumimoji="0" lang="zh-CN" altLang="en-US" sz="1800" b="1" dirty="0">
                <a:effectLst>
                  <a:outerShdw blurRad="38100" dist="38100" dir="2700000" algn="tl">
                    <a:srgbClr val="C0C0C0"/>
                  </a:outerShdw>
                </a:effectLst>
                <a:latin typeface="华文中宋" pitchFamily="2" charset="-122"/>
                <a:ea typeface="华文中宋" pitchFamily="2" charset="-122"/>
              </a:rPr>
              <a:t>波源</a:t>
            </a:r>
            <a:r>
              <a:rPr kumimoji="0"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向</a:t>
            </a:r>
            <a:r>
              <a:rPr kumimoji="0" lang="zh-CN" altLang="en-US" sz="1800" b="1" dirty="0">
                <a:effectLst>
                  <a:outerShdw blurRad="38100" dist="38100" dir="2700000" algn="tl">
                    <a:srgbClr val="C0C0C0"/>
                  </a:outerShdw>
                </a:effectLst>
                <a:latin typeface="华文中宋" pitchFamily="2" charset="-122"/>
                <a:ea typeface="华文中宋" pitchFamily="2" charset="-122"/>
              </a:rPr>
              <a:t>观察者运动  </a:t>
            </a:r>
            <a:r>
              <a:rPr kumimoji="0" lang="zh-CN" altLang="en-US" sz="1800" b="1" dirty="0">
                <a:solidFill>
                  <a:srgbClr val="FF0000"/>
                </a:solidFill>
                <a:effectLst>
                  <a:outerShdw blurRad="38100" dist="38100" dir="2700000" algn="tl">
                    <a:srgbClr val="C0C0C0"/>
                  </a:outerShdw>
                </a:effectLst>
                <a:latin typeface="华文中宋" pitchFamily="2" charset="-122"/>
                <a:ea typeface="华文中宋" pitchFamily="2" charset="-122"/>
              </a:rPr>
              <a:t>  </a:t>
            </a:r>
            <a:r>
              <a:rPr kumimoji="0" lang="zh-CN" altLang="en-US" sz="1800" b="1" dirty="0">
                <a:effectLst>
                  <a:outerShdw blurRad="38100" dist="38100" dir="2700000" algn="tl">
                    <a:srgbClr val="C0C0C0"/>
                  </a:outerShdw>
                </a:effectLst>
                <a:latin typeface="华文中宋" pitchFamily="2" charset="-122"/>
                <a:ea typeface="华文中宋" pitchFamily="2" charset="-122"/>
              </a:rPr>
              <a:t>，</a:t>
            </a:r>
            <a:r>
              <a:rPr kumimoji="0"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远离</a:t>
            </a:r>
            <a:r>
              <a:rPr kumimoji="0" lang="zh-CN" altLang="en-US" sz="1800" b="1" dirty="0">
                <a:solidFill>
                  <a:srgbClr val="CC0000"/>
                </a:solidFill>
                <a:effectLst>
                  <a:outerShdw blurRad="38100" dist="38100" dir="2700000" algn="tl">
                    <a:srgbClr val="C0C0C0"/>
                  </a:outerShdw>
                </a:effectLst>
                <a:latin typeface="华文中宋" pitchFamily="2" charset="-122"/>
                <a:ea typeface="华文中宋" pitchFamily="2" charset="-122"/>
              </a:rPr>
              <a:t> </a:t>
            </a:r>
            <a:r>
              <a:rPr kumimoji="0" lang="en-US" altLang="zh-CN" sz="1800" b="1" dirty="0">
                <a:solidFill>
                  <a:srgbClr val="CC0000"/>
                </a:solidFill>
                <a:effectLst>
                  <a:outerShdw blurRad="38100" dist="38100" dir="2700000" algn="tl">
                    <a:srgbClr val="C0C0C0"/>
                  </a:outerShdw>
                </a:effectLst>
                <a:latin typeface="华文中宋" pitchFamily="2" charset="-122"/>
                <a:ea typeface="华文中宋" pitchFamily="2" charset="-122"/>
              </a:rPr>
              <a:t>+</a:t>
            </a:r>
            <a:r>
              <a:rPr kumimoji="0" lang="en-US" altLang="zh-CN" sz="1800" b="1" dirty="0">
                <a:solidFill>
                  <a:srgbClr val="FF0000"/>
                </a:solidFill>
                <a:effectLst>
                  <a:outerShdw blurRad="38100" dist="38100" dir="2700000" algn="tl">
                    <a:srgbClr val="C0C0C0"/>
                  </a:outerShdw>
                </a:effectLst>
                <a:latin typeface="华文中宋" pitchFamily="2" charset="-122"/>
                <a:ea typeface="华文中宋" pitchFamily="2" charset="-122"/>
              </a:rPr>
              <a:t> </a:t>
            </a:r>
            <a:r>
              <a:rPr kumimoji="0" lang="zh-CN" altLang="en-US" sz="1800" b="1" dirty="0">
                <a:effectLst>
                  <a:outerShdw blurRad="38100" dist="38100" dir="2700000" algn="tl">
                    <a:srgbClr val="C0C0C0"/>
                  </a:outerShdw>
                </a:effectLst>
                <a:latin typeface="华文中宋" pitchFamily="2" charset="-122"/>
                <a:ea typeface="华文中宋" pitchFamily="2" charset="-122"/>
              </a:rPr>
              <a:t>。</a:t>
            </a:r>
          </a:p>
        </p:txBody>
      </p:sp>
      <p:sp>
        <p:nvSpPr>
          <p:cNvPr id="160774" name="Line 6"/>
          <p:cNvSpPr>
            <a:spLocks noChangeShapeType="1"/>
          </p:cNvSpPr>
          <p:nvPr/>
        </p:nvSpPr>
        <p:spPr bwMode="auto">
          <a:xfrm>
            <a:off x="5711825" y="2462213"/>
            <a:ext cx="228600" cy="0"/>
          </a:xfrm>
          <a:prstGeom prst="line">
            <a:avLst/>
          </a:prstGeom>
          <a:noFill/>
          <a:ln w="28575">
            <a:solidFill>
              <a:srgbClr val="0000FF"/>
            </a:solidFill>
            <a:round/>
            <a:headEnd/>
            <a:tailEnd/>
          </a:ln>
        </p:spPr>
        <p:txBody>
          <a:bodyPr wrap="none" anchor="ctr"/>
          <a:lstStyle/>
          <a:p>
            <a:endParaRPr lang="zh-CN" altLang="en-US"/>
          </a:p>
        </p:txBody>
      </p:sp>
      <p:sp>
        <p:nvSpPr>
          <p:cNvPr id="160775" name="Text Box 7"/>
          <p:cNvSpPr txBox="1">
            <a:spLocks noChangeArrowheads="1"/>
          </p:cNvSpPr>
          <p:nvPr/>
        </p:nvSpPr>
        <p:spPr bwMode="auto">
          <a:xfrm>
            <a:off x="1619250" y="3292475"/>
            <a:ext cx="5983288" cy="646113"/>
          </a:xfrm>
          <a:prstGeom prst="rect">
            <a:avLst/>
          </a:prstGeom>
          <a:noFill/>
          <a:ln w="38100">
            <a:solidFill>
              <a:srgbClr val="FF0000"/>
            </a:solidFill>
            <a:miter lim="800000"/>
            <a:headEnd/>
            <a:tailEnd/>
          </a:ln>
          <a:effectLst/>
        </p:spPr>
        <p:txBody>
          <a:bodyPr>
            <a:spAutoFit/>
          </a:bodyPr>
          <a:lstStyle/>
          <a:p>
            <a:pPr algn="ctr">
              <a:defRPr/>
            </a:pPr>
            <a:r>
              <a:rPr kumimoji="0" lang="zh-CN" altLang="en-US" sz="1800" b="1" dirty="0">
                <a:solidFill>
                  <a:srgbClr val="FF3300"/>
                </a:solidFill>
                <a:effectLst>
                  <a:outerShdw blurRad="38100" dist="38100" dir="2700000" algn="tl">
                    <a:srgbClr val="C0C0C0"/>
                  </a:outerShdw>
                </a:effectLst>
                <a:latin typeface="华文中宋" pitchFamily="2" charset="-122"/>
                <a:ea typeface="华文中宋" pitchFamily="2" charset="-122"/>
              </a:rPr>
              <a:t>结论：</a:t>
            </a:r>
            <a:r>
              <a:rPr kumimoji="0" lang="zh-CN" altLang="en-US" sz="1800" b="1" dirty="0">
                <a:effectLst>
                  <a:outerShdw blurRad="38100" dist="38100" dir="2700000" algn="tl">
                    <a:srgbClr val="C0C0C0"/>
                  </a:outerShdw>
                </a:effectLst>
                <a:latin typeface="华文中宋" pitchFamily="2" charset="-122"/>
                <a:ea typeface="华文中宋" pitchFamily="2" charset="-122"/>
              </a:rPr>
              <a:t>当波源与观察者之间相互靠近时，接收频率变大，反之接收频率变小。</a:t>
            </a:r>
          </a:p>
        </p:txBody>
      </p:sp>
      <p:grpSp>
        <p:nvGrpSpPr>
          <p:cNvPr id="68637" name="Group 8"/>
          <p:cNvGrpSpPr>
            <a:grpSpLocks/>
          </p:cNvGrpSpPr>
          <p:nvPr/>
        </p:nvGrpSpPr>
        <p:grpSpPr bwMode="auto">
          <a:xfrm>
            <a:off x="457200" y="995363"/>
            <a:ext cx="4881563" cy="476250"/>
            <a:chOff x="0" y="0"/>
            <a:chExt cx="7688" cy="1000"/>
          </a:xfrm>
        </p:grpSpPr>
        <p:sp>
          <p:nvSpPr>
            <p:cNvPr id="160777" name="Text Box 9"/>
            <p:cNvSpPr txBox="1">
              <a:spLocks noChangeArrowheads="1"/>
            </p:cNvSpPr>
            <p:nvPr/>
          </p:nvSpPr>
          <p:spPr bwMode="auto">
            <a:xfrm>
              <a:off x="0" y="103"/>
              <a:ext cx="7688" cy="773"/>
            </a:xfrm>
            <a:prstGeom prst="rect">
              <a:avLst/>
            </a:prstGeom>
            <a:solidFill>
              <a:schemeClr val="bg1"/>
            </a:solidFill>
            <a:ln w="9525">
              <a:noFill/>
              <a:miter lim="800000"/>
              <a:headEnd/>
              <a:tailEnd/>
            </a:ln>
            <a:effectLst/>
          </p:spPr>
          <p:txBody>
            <a:bodyPr wrap="none">
              <a:spAutoFit/>
            </a:bodyPr>
            <a:lstStyle/>
            <a:p>
              <a:pPr>
                <a:defRPr/>
              </a:pPr>
              <a:r>
                <a:rPr kumimoji="0" lang="en-US" altLang="zh-CN" sz="1800" b="1" dirty="0">
                  <a:effectLst>
                    <a:outerShdw blurRad="38100" dist="38100" dir="2700000" algn="tl">
                      <a:srgbClr val="C0C0C0"/>
                    </a:outerShdw>
                  </a:effectLst>
                  <a:latin typeface="华文中宋" pitchFamily="2" charset="-122"/>
                  <a:ea typeface="华文中宋" pitchFamily="2" charset="-122"/>
                </a:rPr>
                <a:t>3-</a:t>
              </a:r>
              <a:r>
                <a:rPr kumimoji="0" lang="zh-CN" altLang="en-US" sz="1800" b="1" dirty="0">
                  <a:effectLst>
                    <a:outerShdw blurRad="38100" dist="38100" dir="2700000" algn="tl">
                      <a:srgbClr val="C0C0C0"/>
                    </a:outerShdw>
                  </a:effectLst>
                  <a:latin typeface="华文中宋" pitchFamily="2" charset="-122"/>
                  <a:ea typeface="华文中宋" pitchFamily="2" charset="-122"/>
                </a:rPr>
                <a:t>3.  波源(    )与观察者(    )同时相对介质运动</a:t>
              </a:r>
            </a:p>
          </p:txBody>
        </p:sp>
        <p:graphicFrame>
          <p:nvGraphicFramePr>
            <p:cNvPr id="68630" name="Object 22"/>
            <p:cNvGraphicFramePr>
              <a:graphicFrameLocks noChangeAspect="1"/>
            </p:cNvGraphicFramePr>
            <p:nvPr/>
          </p:nvGraphicFramePr>
          <p:xfrm>
            <a:off x="1831" y="40"/>
            <a:ext cx="693" cy="960"/>
          </p:xfrm>
          <a:graphic>
            <a:graphicData uri="http://schemas.openxmlformats.org/presentationml/2006/ole">
              <p:oleObj spid="_x0000_s68630" r:id="rId4" imgW="165028" imgH="228501" progId="Equation.DSMT4">
                <p:embed/>
              </p:oleObj>
            </a:graphicData>
          </a:graphic>
        </p:graphicFrame>
        <p:graphicFrame>
          <p:nvGraphicFramePr>
            <p:cNvPr id="68631" name="Object 23"/>
            <p:cNvGraphicFramePr>
              <a:graphicFrameLocks noChangeAspect="1"/>
            </p:cNvGraphicFramePr>
            <p:nvPr/>
          </p:nvGraphicFramePr>
          <p:xfrm>
            <a:off x="3919" y="0"/>
            <a:ext cx="747" cy="960"/>
          </p:xfrm>
          <a:graphic>
            <a:graphicData uri="http://schemas.openxmlformats.org/presentationml/2006/ole">
              <p:oleObj spid="_x0000_s68631" r:id="rId5" imgW="177646" imgH="228402" progId="Equation.DSMT4">
                <p:embed/>
              </p:oleObj>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60770"/>
                                        </p:tgtEl>
                                        <p:attrNameLst>
                                          <p:attrName>style.visibility</p:attrName>
                                        </p:attrNameLst>
                                      </p:cBhvr>
                                      <p:to>
                                        <p:strVal val="visible"/>
                                      </p:to>
                                    </p:set>
                                    <p:anim calcmode="lin" valueType="num">
                                      <p:cBhvr additive="base">
                                        <p:cTn id="7" dur="500" fill="hold"/>
                                        <p:tgtEl>
                                          <p:spTgt spid="160770"/>
                                        </p:tgtEl>
                                        <p:attrNameLst>
                                          <p:attrName>ppt_x</p:attrName>
                                        </p:attrNameLst>
                                      </p:cBhvr>
                                      <p:tavLst>
                                        <p:tav tm="0">
                                          <p:val>
                                            <p:strVal val="#ppt_x"/>
                                          </p:val>
                                        </p:tav>
                                        <p:tav tm="100000">
                                          <p:val>
                                            <p:strVal val="#ppt_x"/>
                                          </p:val>
                                        </p:tav>
                                      </p:tavLst>
                                    </p:anim>
                                    <p:anim calcmode="lin" valueType="num">
                                      <p:cBhvr additive="base">
                                        <p:cTn id="8" dur="500" fill="hold"/>
                                        <p:tgtEl>
                                          <p:spTgt spid="16077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0771"/>
                                        </p:tgtEl>
                                        <p:attrNameLst>
                                          <p:attrName>style.visibility</p:attrName>
                                        </p:attrNameLst>
                                      </p:cBhvr>
                                      <p:to>
                                        <p:strVal val="visible"/>
                                      </p:to>
                                    </p:set>
                                    <p:anim calcmode="lin" valueType="num">
                                      <p:cBhvr additive="base">
                                        <p:cTn id="13" dur="500" fill="hold"/>
                                        <p:tgtEl>
                                          <p:spTgt spid="160771"/>
                                        </p:tgtEl>
                                        <p:attrNameLst>
                                          <p:attrName>ppt_x</p:attrName>
                                        </p:attrNameLst>
                                      </p:cBhvr>
                                      <p:tavLst>
                                        <p:tav tm="0">
                                          <p:val>
                                            <p:strVal val="#ppt_x"/>
                                          </p:val>
                                        </p:tav>
                                        <p:tav tm="100000">
                                          <p:val>
                                            <p:strVal val="#ppt_x"/>
                                          </p:val>
                                        </p:tav>
                                      </p:tavLst>
                                    </p:anim>
                                    <p:anim calcmode="lin" valueType="num">
                                      <p:cBhvr additive="base">
                                        <p:cTn id="14" dur="500" fill="hold"/>
                                        <p:tgtEl>
                                          <p:spTgt spid="160771"/>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60772"/>
                                        </p:tgtEl>
                                        <p:attrNameLst>
                                          <p:attrName>style.visibility</p:attrName>
                                        </p:attrNameLst>
                                      </p:cBhvr>
                                      <p:to>
                                        <p:strVal val="visible"/>
                                      </p:to>
                                    </p:set>
                                    <p:anim calcmode="lin" valueType="num">
                                      <p:cBhvr additive="base">
                                        <p:cTn id="17" dur="500" fill="hold"/>
                                        <p:tgtEl>
                                          <p:spTgt spid="160772"/>
                                        </p:tgtEl>
                                        <p:attrNameLst>
                                          <p:attrName>ppt_x</p:attrName>
                                        </p:attrNameLst>
                                      </p:cBhvr>
                                      <p:tavLst>
                                        <p:tav tm="0">
                                          <p:val>
                                            <p:strVal val="#ppt_x"/>
                                          </p:val>
                                        </p:tav>
                                        <p:tav tm="100000">
                                          <p:val>
                                            <p:strVal val="#ppt_x"/>
                                          </p:val>
                                        </p:tav>
                                      </p:tavLst>
                                    </p:anim>
                                    <p:anim calcmode="lin" valueType="num">
                                      <p:cBhvr additive="base">
                                        <p:cTn id="18" dur="500" fill="hold"/>
                                        <p:tgtEl>
                                          <p:spTgt spid="16077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60773"/>
                                        </p:tgtEl>
                                        <p:attrNameLst>
                                          <p:attrName>style.visibility</p:attrName>
                                        </p:attrNameLst>
                                      </p:cBhvr>
                                      <p:to>
                                        <p:strVal val="visible"/>
                                      </p:to>
                                    </p:set>
                                    <p:anim calcmode="lin" valueType="num">
                                      <p:cBhvr additive="base">
                                        <p:cTn id="21" dur="500" fill="hold"/>
                                        <p:tgtEl>
                                          <p:spTgt spid="160773"/>
                                        </p:tgtEl>
                                        <p:attrNameLst>
                                          <p:attrName>ppt_x</p:attrName>
                                        </p:attrNameLst>
                                      </p:cBhvr>
                                      <p:tavLst>
                                        <p:tav tm="0">
                                          <p:val>
                                            <p:strVal val="#ppt_x"/>
                                          </p:val>
                                        </p:tav>
                                        <p:tav tm="100000">
                                          <p:val>
                                            <p:strVal val="#ppt_x"/>
                                          </p:val>
                                        </p:tav>
                                      </p:tavLst>
                                    </p:anim>
                                    <p:anim calcmode="lin" valueType="num">
                                      <p:cBhvr additive="base">
                                        <p:cTn id="22" dur="500" fill="hold"/>
                                        <p:tgtEl>
                                          <p:spTgt spid="16077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60774"/>
                                        </p:tgtEl>
                                        <p:attrNameLst>
                                          <p:attrName>style.visibility</p:attrName>
                                        </p:attrNameLst>
                                      </p:cBhvr>
                                      <p:to>
                                        <p:strVal val="visible"/>
                                      </p:to>
                                    </p:set>
                                    <p:anim calcmode="lin" valueType="num">
                                      <p:cBhvr additive="base">
                                        <p:cTn id="25" dur="500" fill="hold"/>
                                        <p:tgtEl>
                                          <p:spTgt spid="160774"/>
                                        </p:tgtEl>
                                        <p:attrNameLst>
                                          <p:attrName>ppt_x</p:attrName>
                                        </p:attrNameLst>
                                      </p:cBhvr>
                                      <p:tavLst>
                                        <p:tav tm="0">
                                          <p:val>
                                            <p:strVal val="#ppt_x"/>
                                          </p:val>
                                        </p:tav>
                                        <p:tav tm="100000">
                                          <p:val>
                                            <p:strVal val="#ppt_x"/>
                                          </p:val>
                                        </p:tav>
                                      </p:tavLst>
                                    </p:anim>
                                    <p:anim calcmode="lin" valueType="num">
                                      <p:cBhvr additive="base">
                                        <p:cTn id="26" dur="500" fill="hold"/>
                                        <p:tgtEl>
                                          <p:spTgt spid="160774"/>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8" presetClass="entr" presetSubtype="16" fill="hold" grpId="0" nodeType="clickEffect">
                                  <p:stCondLst>
                                    <p:cond delay="0"/>
                                  </p:stCondLst>
                                  <p:childTnLst>
                                    <p:set>
                                      <p:cBhvr>
                                        <p:cTn id="30" dur="1" fill="hold">
                                          <p:stCondLst>
                                            <p:cond delay="0"/>
                                          </p:stCondLst>
                                        </p:cTn>
                                        <p:tgtEl>
                                          <p:spTgt spid="160775"/>
                                        </p:tgtEl>
                                        <p:attrNameLst>
                                          <p:attrName>style.visibility</p:attrName>
                                        </p:attrNameLst>
                                      </p:cBhvr>
                                      <p:to>
                                        <p:strVal val="visible"/>
                                      </p:to>
                                    </p:set>
                                    <p:animEffect transition="in" filter="diamond(in)">
                                      <p:cBhvr>
                                        <p:cTn id="31" dur="2000"/>
                                        <p:tgtEl>
                                          <p:spTgt spid="160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autoUpdateAnimBg="0"/>
      <p:bldP spid="160772" grpId="0" animBg="1"/>
      <p:bldP spid="160773" grpId="0" autoUpdateAnimBg="0"/>
      <p:bldP spid="160774" grpId="0" animBg="1"/>
      <p:bldP spid="160775"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2"/>
          <p:cNvSpPr txBox="1">
            <a:spLocks noChangeArrowheads="1"/>
          </p:cNvSpPr>
          <p:nvPr/>
        </p:nvSpPr>
        <p:spPr bwMode="auto">
          <a:xfrm>
            <a:off x="755650" y="1419225"/>
            <a:ext cx="5256213" cy="369888"/>
          </a:xfrm>
          <a:prstGeom prst="rect">
            <a:avLst/>
          </a:prstGeom>
          <a:solidFill>
            <a:schemeClr val="bg1"/>
          </a:solidFill>
          <a:ln w="9525">
            <a:noFill/>
            <a:miter lim="800000"/>
            <a:headEnd/>
            <a:tailEnd/>
          </a:ln>
          <a:effectLst/>
        </p:spPr>
        <p:txBody>
          <a:bodyPr>
            <a:spAutoFit/>
          </a:bodyPr>
          <a:lstStyle/>
          <a:p>
            <a:pPr>
              <a:defRPr/>
            </a:pPr>
            <a:r>
              <a:rPr kumimoji="0" lang="en-US" altLang="zh-CN" sz="1800" b="1" dirty="0">
                <a:effectLst>
                  <a:outerShdw blurRad="38100" dist="38100" dir="2700000" algn="tl">
                    <a:srgbClr val="C0C0C0"/>
                  </a:outerShdw>
                </a:effectLst>
                <a:latin typeface="华文中宋" pitchFamily="2" charset="-122"/>
                <a:ea typeface="华文中宋" pitchFamily="2" charset="-122"/>
              </a:rPr>
              <a:t> 1. </a:t>
            </a:r>
            <a:r>
              <a:rPr kumimoji="0" lang="zh-CN" altLang="en-US" sz="1800" b="1" dirty="0">
                <a:effectLst>
                  <a:outerShdw blurRad="38100" dist="38100" dir="2700000" algn="tl">
                    <a:srgbClr val="C0C0C0"/>
                  </a:outerShdw>
                </a:effectLst>
                <a:latin typeface="华文中宋" pitchFamily="2" charset="-122"/>
                <a:ea typeface="华文中宋" pitchFamily="2" charset="-122"/>
              </a:rPr>
              <a:t>波源与观察者之间的运动不在两者的连线上</a:t>
            </a:r>
          </a:p>
        </p:txBody>
      </p:sp>
      <p:graphicFrame>
        <p:nvGraphicFramePr>
          <p:cNvPr id="69724" name="Object 92"/>
          <p:cNvGraphicFramePr>
            <a:graphicFrameLocks noGrp="1" noChangeAspect="1"/>
          </p:cNvGraphicFramePr>
          <p:nvPr>
            <p:ph sz="quarter" idx="4294967295"/>
          </p:nvPr>
        </p:nvGraphicFramePr>
        <p:xfrm>
          <a:off x="0" y="3221038"/>
          <a:ext cx="123825" cy="171450"/>
        </p:xfrm>
        <a:graphic>
          <a:graphicData uri="http://schemas.openxmlformats.org/presentationml/2006/ole">
            <p:oleObj spid="_x0000_s69724" r:id="rId4" imgW="165028" imgH="228501" progId="Equation.3">
              <p:embed/>
            </p:oleObj>
          </a:graphicData>
        </a:graphic>
      </p:graphicFrame>
      <p:graphicFrame>
        <p:nvGraphicFramePr>
          <p:cNvPr id="161805" name="Object 93"/>
          <p:cNvGraphicFramePr>
            <a:graphicFrameLocks noGrp="1" noChangeAspect="1"/>
          </p:cNvGraphicFramePr>
          <p:nvPr>
            <p:ph sz="quarter" idx="4294967295"/>
          </p:nvPr>
        </p:nvGraphicFramePr>
        <p:xfrm>
          <a:off x="6553200" y="2157413"/>
          <a:ext cx="2482850" cy="919162"/>
        </p:xfrm>
        <a:graphic>
          <a:graphicData uri="http://schemas.openxmlformats.org/presentationml/2006/ole">
            <p:oleObj spid="_x0000_s69725" r:id="rId5" imgW="1167893" imgH="431613" progId="Equation.3">
              <p:embed/>
            </p:oleObj>
          </a:graphicData>
        </a:graphic>
      </p:graphicFrame>
      <p:pic>
        <p:nvPicPr>
          <p:cNvPr id="69731" name="Picture 4" descr="111"/>
          <p:cNvPicPr>
            <a:picLocks noChangeAspect="1" noChangeArrowheads="1"/>
          </p:cNvPicPr>
          <p:nvPr/>
        </p:nvPicPr>
        <p:blipFill>
          <a:blip r:embed="rId6"/>
          <a:srcRect/>
          <a:stretch>
            <a:fillRect/>
          </a:stretch>
        </p:blipFill>
        <p:spPr bwMode="auto">
          <a:xfrm>
            <a:off x="5410200" y="1893888"/>
            <a:ext cx="1077913" cy="1143000"/>
          </a:xfrm>
          <a:prstGeom prst="rect">
            <a:avLst/>
          </a:prstGeom>
          <a:noFill/>
          <a:ln w="9525">
            <a:noFill/>
            <a:miter lim="800000"/>
            <a:headEnd/>
            <a:tailEnd/>
          </a:ln>
        </p:spPr>
      </p:pic>
      <p:sp>
        <p:nvSpPr>
          <p:cNvPr id="69732" name="Line 5"/>
          <p:cNvSpPr>
            <a:spLocks noChangeShapeType="1"/>
          </p:cNvSpPr>
          <p:nvPr/>
        </p:nvSpPr>
        <p:spPr bwMode="auto">
          <a:xfrm flipV="1">
            <a:off x="2895600" y="2587625"/>
            <a:ext cx="2971800" cy="685800"/>
          </a:xfrm>
          <a:prstGeom prst="line">
            <a:avLst/>
          </a:prstGeom>
          <a:noFill/>
          <a:ln w="38100">
            <a:solidFill>
              <a:schemeClr val="tx1"/>
            </a:solidFill>
            <a:round/>
            <a:headEnd/>
            <a:tailEnd/>
          </a:ln>
        </p:spPr>
        <p:txBody>
          <a:bodyPr wrap="none" anchor="ctr"/>
          <a:lstStyle/>
          <a:p>
            <a:endParaRPr lang="zh-CN" altLang="en-US"/>
          </a:p>
        </p:txBody>
      </p:sp>
      <p:sp>
        <p:nvSpPr>
          <p:cNvPr id="69733" name="未知"/>
          <p:cNvSpPr>
            <a:spLocks/>
          </p:cNvSpPr>
          <p:nvPr/>
        </p:nvSpPr>
        <p:spPr bwMode="auto">
          <a:xfrm>
            <a:off x="4419600" y="2589213"/>
            <a:ext cx="1422400" cy="1587"/>
          </a:xfrm>
          <a:custGeom>
            <a:avLst/>
            <a:gdLst>
              <a:gd name="T0" fmla="*/ 2147483647 w 896"/>
              <a:gd name="T1" fmla="*/ 0 h 1"/>
              <a:gd name="T2" fmla="*/ 0 w 896"/>
              <a:gd name="T3" fmla="*/ 0 h 1"/>
              <a:gd name="T4" fmla="*/ 0 60000 65536"/>
              <a:gd name="T5" fmla="*/ 0 60000 65536"/>
              <a:gd name="T6" fmla="*/ 0 w 896"/>
              <a:gd name="T7" fmla="*/ 0 h 1"/>
              <a:gd name="T8" fmla="*/ 896 w 896"/>
              <a:gd name="T9" fmla="*/ 1 h 1"/>
            </a:gdLst>
            <a:ahLst/>
            <a:cxnLst>
              <a:cxn ang="T4">
                <a:pos x="T0" y="T1"/>
              </a:cxn>
              <a:cxn ang="T5">
                <a:pos x="T2" y="T3"/>
              </a:cxn>
            </a:cxnLst>
            <a:rect l="T6" t="T7" r="T8" b="T9"/>
            <a:pathLst>
              <a:path w="896" h="1">
                <a:moveTo>
                  <a:pt x="896" y="0"/>
                </a:moveTo>
                <a:lnTo>
                  <a:pt x="0" y="0"/>
                </a:lnTo>
              </a:path>
            </a:pathLst>
          </a:custGeom>
          <a:noFill/>
          <a:ln w="38100" cmpd="sng">
            <a:solidFill>
              <a:schemeClr val="tx1"/>
            </a:solidFill>
            <a:round/>
            <a:headEnd/>
            <a:tailEnd type="stealth" w="med" len="lg"/>
          </a:ln>
        </p:spPr>
        <p:txBody>
          <a:bodyPr wrap="none" anchor="ctr"/>
          <a:lstStyle/>
          <a:p>
            <a:endParaRPr lang="zh-CN" altLang="en-US"/>
          </a:p>
        </p:txBody>
      </p:sp>
      <p:sp>
        <p:nvSpPr>
          <p:cNvPr id="69734" name="未知"/>
          <p:cNvSpPr>
            <a:spLocks/>
          </p:cNvSpPr>
          <p:nvPr/>
        </p:nvSpPr>
        <p:spPr bwMode="auto">
          <a:xfrm>
            <a:off x="2914650" y="3275013"/>
            <a:ext cx="1504950" cy="1587"/>
          </a:xfrm>
          <a:custGeom>
            <a:avLst/>
            <a:gdLst>
              <a:gd name="T0" fmla="*/ 0 w 948"/>
              <a:gd name="T1" fmla="*/ 0 h 1"/>
              <a:gd name="T2" fmla="*/ 2147483647 w 948"/>
              <a:gd name="T3" fmla="*/ 0 h 1"/>
              <a:gd name="T4" fmla="*/ 0 60000 65536"/>
              <a:gd name="T5" fmla="*/ 0 60000 65536"/>
              <a:gd name="T6" fmla="*/ 0 w 948"/>
              <a:gd name="T7" fmla="*/ 0 h 1"/>
              <a:gd name="T8" fmla="*/ 948 w 948"/>
              <a:gd name="T9" fmla="*/ 1 h 1"/>
            </a:gdLst>
            <a:ahLst/>
            <a:cxnLst>
              <a:cxn ang="T4">
                <a:pos x="T0" y="T1"/>
              </a:cxn>
              <a:cxn ang="T5">
                <a:pos x="T2" y="T3"/>
              </a:cxn>
            </a:cxnLst>
            <a:rect l="T6" t="T7" r="T8" b="T9"/>
            <a:pathLst>
              <a:path w="948" h="1">
                <a:moveTo>
                  <a:pt x="0" y="0"/>
                </a:moveTo>
                <a:lnTo>
                  <a:pt x="948" y="0"/>
                </a:lnTo>
              </a:path>
            </a:pathLst>
          </a:custGeom>
          <a:noFill/>
          <a:ln w="38100" cmpd="sng">
            <a:solidFill>
              <a:schemeClr val="tx1"/>
            </a:solidFill>
            <a:round/>
            <a:headEnd/>
            <a:tailEnd type="stealth" w="med" len="lg"/>
          </a:ln>
        </p:spPr>
        <p:txBody>
          <a:bodyPr wrap="none" anchor="ctr"/>
          <a:lstStyle/>
          <a:p>
            <a:endParaRPr lang="zh-CN" altLang="en-US"/>
          </a:p>
        </p:txBody>
      </p:sp>
      <p:graphicFrame>
        <p:nvGraphicFramePr>
          <p:cNvPr id="69726" name="Object 94"/>
          <p:cNvGraphicFramePr>
            <a:graphicFrameLocks noChangeAspect="1"/>
          </p:cNvGraphicFramePr>
          <p:nvPr/>
        </p:nvGraphicFramePr>
        <p:xfrm>
          <a:off x="4206875" y="2946400"/>
          <a:ext cx="304800" cy="342900"/>
        </p:xfrm>
        <a:graphic>
          <a:graphicData uri="http://schemas.openxmlformats.org/presentationml/2006/ole">
            <p:oleObj spid="_x0000_s69726" r:id="rId7" imgW="152334" imgH="228501" progId="Equation.DSMT4">
              <p:embed/>
            </p:oleObj>
          </a:graphicData>
        </a:graphic>
      </p:graphicFrame>
      <p:graphicFrame>
        <p:nvGraphicFramePr>
          <p:cNvPr id="69727" name="Object 95"/>
          <p:cNvGraphicFramePr>
            <a:graphicFrameLocks noChangeAspect="1"/>
          </p:cNvGraphicFramePr>
          <p:nvPr/>
        </p:nvGraphicFramePr>
        <p:xfrm>
          <a:off x="4495800" y="2552700"/>
          <a:ext cx="303213" cy="314325"/>
        </p:xfrm>
        <a:graphic>
          <a:graphicData uri="http://schemas.openxmlformats.org/presentationml/2006/ole">
            <p:oleObj spid="_x0000_s69727" r:id="rId8" imgW="165028" imgH="228501" progId="Equation.DSMT4">
              <p:embed/>
            </p:oleObj>
          </a:graphicData>
        </a:graphic>
      </p:graphicFrame>
      <p:sp>
        <p:nvSpPr>
          <p:cNvPr id="69735" name="未知"/>
          <p:cNvSpPr>
            <a:spLocks/>
          </p:cNvSpPr>
          <p:nvPr/>
        </p:nvSpPr>
        <p:spPr bwMode="auto">
          <a:xfrm>
            <a:off x="3597275" y="3108325"/>
            <a:ext cx="90488" cy="157163"/>
          </a:xfrm>
          <a:custGeom>
            <a:avLst/>
            <a:gdLst>
              <a:gd name="T0" fmla="*/ 0 w 57"/>
              <a:gd name="T1" fmla="*/ 0 h 132"/>
              <a:gd name="T2" fmla="*/ 2147483647 w 57"/>
              <a:gd name="T3" fmla="*/ 2147483647 h 132"/>
              <a:gd name="T4" fmla="*/ 2147483647 w 57"/>
              <a:gd name="T5" fmla="*/ 2147483647 h 132"/>
              <a:gd name="T6" fmla="*/ 2147483647 w 57"/>
              <a:gd name="T7" fmla="*/ 2147483647 h 132"/>
              <a:gd name="T8" fmla="*/ 0 60000 65536"/>
              <a:gd name="T9" fmla="*/ 0 60000 65536"/>
              <a:gd name="T10" fmla="*/ 0 60000 65536"/>
              <a:gd name="T11" fmla="*/ 0 60000 65536"/>
              <a:gd name="T12" fmla="*/ 0 w 57"/>
              <a:gd name="T13" fmla="*/ 0 h 132"/>
              <a:gd name="T14" fmla="*/ 57 w 57"/>
              <a:gd name="T15" fmla="*/ 132 h 132"/>
            </a:gdLst>
            <a:ahLst/>
            <a:cxnLst>
              <a:cxn ang="T8">
                <a:pos x="T0" y="T1"/>
              </a:cxn>
              <a:cxn ang="T9">
                <a:pos x="T2" y="T3"/>
              </a:cxn>
              <a:cxn ang="T10">
                <a:pos x="T4" y="T5"/>
              </a:cxn>
              <a:cxn ang="T11">
                <a:pos x="T6" y="T7"/>
              </a:cxn>
            </a:cxnLst>
            <a:rect l="T12" t="T13" r="T14" b="T15"/>
            <a:pathLst>
              <a:path w="57" h="132">
                <a:moveTo>
                  <a:pt x="0" y="0"/>
                </a:moveTo>
                <a:cubicBezTo>
                  <a:pt x="7" y="6"/>
                  <a:pt x="35" y="22"/>
                  <a:pt x="45" y="36"/>
                </a:cubicBezTo>
                <a:cubicBezTo>
                  <a:pt x="55" y="50"/>
                  <a:pt x="57" y="68"/>
                  <a:pt x="57" y="84"/>
                </a:cubicBezTo>
                <a:cubicBezTo>
                  <a:pt x="57" y="100"/>
                  <a:pt x="48" y="122"/>
                  <a:pt x="45" y="132"/>
                </a:cubicBezTo>
              </a:path>
            </a:pathLst>
          </a:custGeom>
          <a:noFill/>
          <a:ln w="28575" cap="flat" cmpd="sng">
            <a:solidFill>
              <a:schemeClr val="tx1"/>
            </a:solidFill>
            <a:round/>
            <a:headEnd/>
            <a:tailEnd/>
          </a:ln>
        </p:spPr>
        <p:txBody>
          <a:bodyPr wrap="none" anchor="ctr"/>
          <a:lstStyle/>
          <a:p>
            <a:endParaRPr lang="zh-CN" altLang="en-US"/>
          </a:p>
        </p:txBody>
      </p:sp>
      <p:sp>
        <p:nvSpPr>
          <p:cNvPr id="69736" name="未知"/>
          <p:cNvSpPr>
            <a:spLocks/>
          </p:cNvSpPr>
          <p:nvPr/>
        </p:nvSpPr>
        <p:spPr bwMode="auto">
          <a:xfrm>
            <a:off x="5110163" y="2579688"/>
            <a:ext cx="63500" cy="157162"/>
          </a:xfrm>
          <a:custGeom>
            <a:avLst/>
            <a:gdLst>
              <a:gd name="T0" fmla="*/ 2147483647 w 40"/>
              <a:gd name="T1" fmla="*/ 0 h 132"/>
              <a:gd name="T2" fmla="*/ 2147483647 w 40"/>
              <a:gd name="T3" fmla="*/ 2147483647 h 132"/>
              <a:gd name="T4" fmla="*/ 2147483647 w 40"/>
              <a:gd name="T5" fmla="*/ 2147483647 h 132"/>
              <a:gd name="T6" fmla="*/ 2147483647 w 40"/>
              <a:gd name="T7" fmla="*/ 2147483647 h 132"/>
              <a:gd name="T8" fmla="*/ 0 60000 65536"/>
              <a:gd name="T9" fmla="*/ 0 60000 65536"/>
              <a:gd name="T10" fmla="*/ 0 60000 65536"/>
              <a:gd name="T11" fmla="*/ 0 60000 65536"/>
              <a:gd name="T12" fmla="*/ 0 w 40"/>
              <a:gd name="T13" fmla="*/ 0 h 132"/>
              <a:gd name="T14" fmla="*/ 40 w 40"/>
              <a:gd name="T15" fmla="*/ 132 h 132"/>
            </a:gdLst>
            <a:ahLst/>
            <a:cxnLst>
              <a:cxn ang="T8">
                <a:pos x="T0" y="T1"/>
              </a:cxn>
              <a:cxn ang="T9">
                <a:pos x="T2" y="T3"/>
              </a:cxn>
              <a:cxn ang="T10">
                <a:pos x="T4" y="T5"/>
              </a:cxn>
              <a:cxn ang="T11">
                <a:pos x="T6" y="T7"/>
              </a:cxn>
            </a:cxnLst>
            <a:rect l="T12" t="T13" r="T14" b="T15"/>
            <a:pathLst>
              <a:path w="40" h="132">
                <a:moveTo>
                  <a:pt x="4" y="0"/>
                </a:moveTo>
                <a:cubicBezTo>
                  <a:pt x="0" y="16"/>
                  <a:pt x="2" y="32"/>
                  <a:pt x="4" y="48"/>
                </a:cubicBezTo>
                <a:cubicBezTo>
                  <a:pt x="6" y="64"/>
                  <a:pt x="7" y="82"/>
                  <a:pt x="13" y="96"/>
                </a:cubicBezTo>
                <a:cubicBezTo>
                  <a:pt x="19" y="110"/>
                  <a:pt x="35" y="125"/>
                  <a:pt x="40" y="132"/>
                </a:cubicBezTo>
              </a:path>
            </a:pathLst>
          </a:custGeom>
          <a:noFill/>
          <a:ln w="22225" cap="flat" cmpd="sng">
            <a:solidFill>
              <a:schemeClr val="tx1"/>
            </a:solidFill>
            <a:round/>
            <a:headEnd/>
            <a:tailEnd/>
          </a:ln>
        </p:spPr>
        <p:txBody>
          <a:bodyPr wrap="none" anchor="ctr"/>
          <a:lstStyle/>
          <a:p>
            <a:endParaRPr lang="zh-CN" altLang="en-US"/>
          </a:p>
        </p:txBody>
      </p:sp>
      <p:grpSp>
        <p:nvGrpSpPr>
          <p:cNvPr id="69737" name="Group 14"/>
          <p:cNvGrpSpPr>
            <a:grpSpLocks/>
          </p:cNvGrpSpPr>
          <p:nvPr/>
        </p:nvGrpSpPr>
        <p:grpSpPr bwMode="auto">
          <a:xfrm>
            <a:off x="990600" y="3216275"/>
            <a:ext cx="2963863" cy="579438"/>
            <a:chOff x="0" y="0"/>
            <a:chExt cx="1867" cy="487"/>
          </a:xfrm>
        </p:grpSpPr>
        <p:sp>
          <p:nvSpPr>
            <p:cNvPr id="69739" name="AutoShape 15"/>
            <p:cNvSpPr>
              <a:spLocks noChangeAspect="1" noChangeArrowheads="1" noTextEdit="1"/>
            </p:cNvSpPr>
            <p:nvPr/>
          </p:nvSpPr>
          <p:spPr bwMode="auto">
            <a:xfrm>
              <a:off x="0" y="0"/>
              <a:ext cx="1867" cy="487"/>
            </a:xfrm>
            <a:prstGeom prst="rect">
              <a:avLst/>
            </a:prstGeom>
            <a:noFill/>
            <a:ln w="9525">
              <a:noFill/>
              <a:miter lim="800000"/>
              <a:headEnd/>
              <a:tailEnd/>
            </a:ln>
          </p:spPr>
          <p:txBody>
            <a:bodyPr/>
            <a:lstStyle/>
            <a:p>
              <a:endParaRPr lang="zh-CN" altLang="en-US"/>
            </a:p>
          </p:txBody>
        </p:sp>
        <p:grpSp>
          <p:nvGrpSpPr>
            <p:cNvPr id="69740" name="Group 16"/>
            <p:cNvGrpSpPr>
              <a:grpSpLocks/>
            </p:cNvGrpSpPr>
            <p:nvPr/>
          </p:nvGrpSpPr>
          <p:grpSpPr bwMode="auto">
            <a:xfrm>
              <a:off x="2" y="4"/>
              <a:ext cx="1857" cy="432"/>
              <a:chOff x="0" y="0"/>
              <a:chExt cx="1857" cy="432"/>
            </a:xfrm>
          </p:grpSpPr>
          <p:grpSp>
            <p:nvGrpSpPr>
              <p:cNvPr id="69762" name="Group 17"/>
              <p:cNvGrpSpPr>
                <a:grpSpLocks/>
              </p:cNvGrpSpPr>
              <p:nvPr/>
            </p:nvGrpSpPr>
            <p:grpSpPr bwMode="auto">
              <a:xfrm>
                <a:off x="98" y="0"/>
                <a:ext cx="1273" cy="169"/>
                <a:chOff x="0" y="0"/>
                <a:chExt cx="1273" cy="169"/>
              </a:xfrm>
            </p:grpSpPr>
            <p:grpSp>
              <p:nvGrpSpPr>
                <p:cNvPr id="69790" name="Group 18"/>
                <p:cNvGrpSpPr>
                  <a:grpSpLocks/>
                </p:cNvGrpSpPr>
                <p:nvPr/>
              </p:nvGrpSpPr>
              <p:grpSpPr bwMode="auto">
                <a:xfrm>
                  <a:off x="447" y="18"/>
                  <a:ext cx="680" cy="149"/>
                  <a:chOff x="0" y="0"/>
                  <a:chExt cx="680" cy="149"/>
                </a:xfrm>
              </p:grpSpPr>
              <p:grpSp>
                <p:nvGrpSpPr>
                  <p:cNvPr id="69792" name="Group 19"/>
                  <p:cNvGrpSpPr>
                    <a:grpSpLocks/>
                  </p:cNvGrpSpPr>
                  <p:nvPr/>
                </p:nvGrpSpPr>
                <p:grpSpPr bwMode="auto">
                  <a:xfrm>
                    <a:off x="150" y="5"/>
                    <a:ext cx="434" cy="129"/>
                    <a:chOff x="0" y="0"/>
                    <a:chExt cx="434" cy="129"/>
                  </a:xfrm>
                </p:grpSpPr>
                <p:sp>
                  <p:nvSpPr>
                    <p:cNvPr id="69794" name="未知"/>
                    <p:cNvSpPr>
                      <a:spLocks/>
                    </p:cNvSpPr>
                    <p:nvPr/>
                  </p:nvSpPr>
                  <p:spPr bwMode="auto">
                    <a:xfrm>
                      <a:off x="0" y="0"/>
                      <a:ext cx="75" cy="105"/>
                    </a:xfrm>
                    <a:custGeom>
                      <a:avLst/>
                      <a:gdLst>
                        <a:gd name="T0" fmla="*/ 0 w 223"/>
                        <a:gd name="T1" fmla="*/ 0 h 315"/>
                        <a:gd name="T2" fmla="*/ 0 w 223"/>
                        <a:gd name="T3" fmla="*/ 0 h 315"/>
                        <a:gd name="T4" fmla="*/ 0 w 223"/>
                        <a:gd name="T5" fmla="*/ 0 h 315"/>
                        <a:gd name="T6" fmla="*/ 0 w 223"/>
                        <a:gd name="T7" fmla="*/ 0 h 315"/>
                        <a:gd name="T8" fmla="*/ 0 w 223"/>
                        <a:gd name="T9" fmla="*/ 0 h 315"/>
                        <a:gd name="T10" fmla="*/ 0 w 223"/>
                        <a:gd name="T11" fmla="*/ 0 h 315"/>
                        <a:gd name="T12" fmla="*/ 0 60000 65536"/>
                        <a:gd name="T13" fmla="*/ 0 60000 65536"/>
                        <a:gd name="T14" fmla="*/ 0 60000 65536"/>
                        <a:gd name="T15" fmla="*/ 0 60000 65536"/>
                        <a:gd name="T16" fmla="*/ 0 60000 65536"/>
                        <a:gd name="T17" fmla="*/ 0 60000 65536"/>
                        <a:gd name="T18" fmla="*/ 0 w 223"/>
                        <a:gd name="T19" fmla="*/ 0 h 315"/>
                        <a:gd name="T20" fmla="*/ 223 w 223"/>
                        <a:gd name="T21" fmla="*/ 315 h 315"/>
                      </a:gdLst>
                      <a:ahLst/>
                      <a:cxnLst>
                        <a:cxn ang="T12">
                          <a:pos x="T0" y="T1"/>
                        </a:cxn>
                        <a:cxn ang="T13">
                          <a:pos x="T2" y="T3"/>
                        </a:cxn>
                        <a:cxn ang="T14">
                          <a:pos x="T4" y="T5"/>
                        </a:cxn>
                        <a:cxn ang="T15">
                          <a:pos x="T6" y="T7"/>
                        </a:cxn>
                        <a:cxn ang="T16">
                          <a:pos x="T8" y="T9"/>
                        </a:cxn>
                        <a:cxn ang="T17">
                          <a:pos x="T10" y="T11"/>
                        </a:cxn>
                      </a:cxnLst>
                      <a:rect l="T18" t="T19" r="T20" b="T21"/>
                      <a:pathLst>
                        <a:path w="223" h="315">
                          <a:moveTo>
                            <a:pt x="5" y="4"/>
                          </a:moveTo>
                          <a:lnTo>
                            <a:pt x="0" y="0"/>
                          </a:lnTo>
                          <a:lnTo>
                            <a:pt x="147" y="315"/>
                          </a:lnTo>
                          <a:lnTo>
                            <a:pt x="223" y="315"/>
                          </a:lnTo>
                          <a:lnTo>
                            <a:pt x="61" y="0"/>
                          </a:lnTo>
                          <a:lnTo>
                            <a:pt x="5" y="4"/>
                          </a:lnTo>
                          <a:close/>
                        </a:path>
                      </a:pathLst>
                    </a:custGeom>
                    <a:solidFill>
                      <a:srgbClr val="800000"/>
                    </a:solidFill>
                    <a:ln w="6350" cmpd="sng">
                      <a:solidFill>
                        <a:srgbClr val="000000"/>
                      </a:solidFill>
                      <a:round/>
                      <a:headEnd/>
                      <a:tailEnd/>
                    </a:ln>
                  </p:spPr>
                  <p:txBody>
                    <a:bodyPr/>
                    <a:lstStyle/>
                    <a:p>
                      <a:endParaRPr lang="zh-CN" altLang="en-US"/>
                    </a:p>
                  </p:txBody>
                </p:sp>
                <p:sp>
                  <p:nvSpPr>
                    <p:cNvPr id="69795" name="未知"/>
                    <p:cNvSpPr>
                      <a:spLocks/>
                    </p:cNvSpPr>
                    <p:nvPr/>
                  </p:nvSpPr>
                  <p:spPr bwMode="auto">
                    <a:xfrm>
                      <a:off x="365" y="59"/>
                      <a:ext cx="69" cy="70"/>
                    </a:xfrm>
                    <a:custGeom>
                      <a:avLst/>
                      <a:gdLst>
                        <a:gd name="T0" fmla="*/ 0 w 205"/>
                        <a:gd name="T1" fmla="*/ 0 h 211"/>
                        <a:gd name="T2" fmla="*/ 0 w 205"/>
                        <a:gd name="T3" fmla="*/ 0 h 211"/>
                        <a:gd name="T4" fmla="*/ 0 w 205"/>
                        <a:gd name="T5" fmla="*/ 0 h 211"/>
                        <a:gd name="T6" fmla="*/ 0 w 205"/>
                        <a:gd name="T7" fmla="*/ 0 h 211"/>
                        <a:gd name="T8" fmla="*/ 0 w 205"/>
                        <a:gd name="T9" fmla="*/ 0 h 211"/>
                        <a:gd name="T10" fmla="*/ 0 w 205"/>
                        <a:gd name="T11" fmla="*/ 0 h 211"/>
                        <a:gd name="T12" fmla="*/ 0 60000 65536"/>
                        <a:gd name="T13" fmla="*/ 0 60000 65536"/>
                        <a:gd name="T14" fmla="*/ 0 60000 65536"/>
                        <a:gd name="T15" fmla="*/ 0 60000 65536"/>
                        <a:gd name="T16" fmla="*/ 0 60000 65536"/>
                        <a:gd name="T17" fmla="*/ 0 60000 65536"/>
                        <a:gd name="T18" fmla="*/ 0 w 205"/>
                        <a:gd name="T19" fmla="*/ 0 h 211"/>
                        <a:gd name="T20" fmla="*/ 205 w 205"/>
                        <a:gd name="T21" fmla="*/ 211 h 211"/>
                      </a:gdLst>
                      <a:ahLst/>
                      <a:cxnLst>
                        <a:cxn ang="T12">
                          <a:pos x="T0" y="T1"/>
                        </a:cxn>
                        <a:cxn ang="T13">
                          <a:pos x="T2" y="T3"/>
                        </a:cxn>
                        <a:cxn ang="T14">
                          <a:pos x="T4" y="T5"/>
                        </a:cxn>
                        <a:cxn ang="T15">
                          <a:pos x="T6" y="T7"/>
                        </a:cxn>
                        <a:cxn ang="T16">
                          <a:pos x="T8" y="T9"/>
                        </a:cxn>
                        <a:cxn ang="T17">
                          <a:pos x="T10" y="T11"/>
                        </a:cxn>
                      </a:cxnLst>
                      <a:rect l="T18" t="T19" r="T20" b="T21"/>
                      <a:pathLst>
                        <a:path w="205" h="211">
                          <a:moveTo>
                            <a:pt x="54" y="24"/>
                          </a:moveTo>
                          <a:lnTo>
                            <a:pt x="60" y="20"/>
                          </a:lnTo>
                          <a:lnTo>
                            <a:pt x="205" y="211"/>
                          </a:lnTo>
                          <a:lnTo>
                            <a:pt x="134" y="200"/>
                          </a:lnTo>
                          <a:lnTo>
                            <a:pt x="0" y="0"/>
                          </a:lnTo>
                          <a:lnTo>
                            <a:pt x="54" y="24"/>
                          </a:lnTo>
                          <a:close/>
                        </a:path>
                      </a:pathLst>
                    </a:custGeom>
                    <a:solidFill>
                      <a:srgbClr val="800000"/>
                    </a:solidFill>
                    <a:ln w="6350" cmpd="sng">
                      <a:solidFill>
                        <a:srgbClr val="000000"/>
                      </a:solidFill>
                      <a:round/>
                      <a:headEnd/>
                      <a:tailEnd/>
                    </a:ln>
                  </p:spPr>
                  <p:txBody>
                    <a:bodyPr/>
                    <a:lstStyle/>
                    <a:p>
                      <a:endParaRPr lang="zh-CN" altLang="en-US"/>
                    </a:p>
                  </p:txBody>
                </p:sp>
              </p:grpSp>
              <p:sp>
                <p:nvSpPr>
                  <p:cNvPr id="69793" name="未知"/>
                  <p:cNvSpPr>
                    <a:spLocks/>
                  </p:cNvSpPr>
                  <p:nvPr/>
                </p:nvSpPr>
                <p:spPr bwMode="auto">
                  <a:xfrm>
                    <a:off x="0" y="0"/>
                    <a:ext cx="680" cy="149"/>
                  </a:xfrm>
                  <a:custGeom>
                    <a:avLst/>
                    <a:gdLst>
                      <a:gd name="T0" fmla="*/ 0 w 2040"/>
                      <a:gd name="T1" fmla="*/ 0 h 447"/>
                      <a:gd name="T2" fmla="*/ 0 w 2040"/>
                      <a:gd name="T3" fmla="*/ 0 h 447"/>
                      <a:gd name="T4" fmla="*/ 0 w 2040"/>
                      <a:gd name="T5" fmla="*/ 0 h 447"/>
                      <a:gd name="T6" fmla="*/ 0 w 2040"/>
                      <a:gd name="T7" fmla="*/ 0 h 447"/>
                      <a:gd name="T8" fmla="*/ 0 w 2040"/>
                      <a:gd name="T9" fmla="*/ 0 h 447"/>
                      <a:gd name="T10" fmla="*/ 0 w 2040"/>
                      <a:gd name="T11" fmla="*/ 0 h 447"/>
                      <a:gd name="T12" fmla="*/ 0 w 2040"/>
                      <a:gd name="T13" fmla="*/ 0 h 447"/>
                      <a:gd name="T14" fmla="*/ 0 w 2040"/>
                      <a:gd name="T15" fmla="*/ 0 h 447"/>
                      <a:gd name="T16" fmla="*/ 0 w 2040"/>
                      <a:gd name="T17" fmla="*/ 0 h 447"/>
                      <a:gd name="T18" fmla="*/ 0 w 2040"/>
                      <a:gd name="T19" fmla="*/ 0 h 447"/>
                      <a:gd name="T20" fmla="*/ 0 w 2040"/>
                      <a:gd name="T21" fmla="*/ 0 h 447"/>
                      <a:gd name="T22" fmla="*/ 0 w 2040"/>
                      <a:gd name="T23" fmla="*/ 0 h 447"/>
                      <a:gd name="T24" fmla="*/ 0 w 2040"/>
                      <a:gd name="T25" fmla="*/ 0 h 447"/>
                      <a:gd name="T26" fmla="*/ 0 w 2040"/>
                      <a:gd name="T27" fmla="*/ 0 h 447"/>
                      <a:gd name="T28" fmla="*/ 0 w 2040"/>
                      <a:gd name="T29" fmla="*/ 0 h 447"/>
                      <a:gd name="T30" fmla="*/ 0 w 2040"/>
                      <a:gd name="T31" fmla="*/ 0 h 447"/>
                      <a:gd name="T32" fmla="*/ 0 w 2040"/>
                      <a:gd name="T33" fmla="*/ 0 h 447"/>
                      <a:gd name="T34" fmla="*/ 0 w 2040"/>
                      <a:gd name="T35" fmla="*/ 0 h 447"/>
                      <a:gd name="T36" fmla="*/ 0 w 2040"/>
                      <a:gd name="T37" fmla="*/ 0 h 447"/>
                      <a:gd name="T38" fmla="*/ 0 w 2040"/>
                      <a:gd name="T39" fmla="*/ 0 h 447"/>
                      <a:gd name="T40" fmla="*/ 0 w 2040"/>
                      <a:gd name="T41" fmla="*/ 0 h 447"/>
                      <a:gd name="T42" fmla="*/ 0 w 2040"/>
                      <a:gd name="T43" fmla="*/ 0 h 447"/>
                      <a:gd name="T44" fmla="*/ 0 w 2040"/>
                      <a:gd name="T45" fmla="*/ 0 h 447"/>
                      <a:gd name="T46" fmla="*/ 0 w 2040"/>
                      <a:gd name="T47" fmla="*/ 0 h 447"/>
                      <a:gd name="T48" fmla="*/ 0 w 2040"/>
                      <a:gd name="T49" fmla="*/ 0 h 447"/>
                      <a:gd name="T50" fmla="*/ 0 w 2040"/>
                      <a:gd name="T51" fmla="*/ 0 h 447"/>
                      <a:gd name="T52" fmla="*/ 0 w 2040"/>
                      <a:gd name="T53" fmla="*/ 0 h 447"/>
                      <a:gd name="T54" fmla="*/ 0 w 2040"/>
                      <a:gd name="T55" fmla="*/ 0 h 447"/>
                      <a:gd name="T56" fmla="*/ 0 w 2040"/>
                      <a:gd name="T57" fmla="*/ 0 h 447"/>
                      <a:gd name="T58" fmla="*/ 0 w 2040"/>
                      <a:gd name="T59" fmla="*/ 0 h 4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040"/>
                      <a:gd name="T91" fmla="*/ 0 h 447"/>
                      <a:gd name="T92" fmla="*/ 2040 w 2040"/>
                      <a:gd name="T93" fmla="*/ 447 h 4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040" h="447">
                        <a:moveTo>
                          <a:pt x="15" y="60"/>
                        </a:moveTo>
                        <a:lnTo>
                          <a:pt x="206" y="52"/>
                        </a:lnTo>
                        <a:lnTo>
                          <a:pt x="353" y="52"/>
                        </a:lnTo>
                        <a:lnTo>
                          <a:pt x="550" y="41"/>
                        </a:lnTo>
                        <a:lnTo>
                          <a:pt x="732" y="41"/>
                        </a:lnTo>
                        <a:lnTo>
                          <a:pt x="937" y="41"/>
                        </a:lnTo>
                        <a:lnTo>
                          <a:pt x="1120" y="46"/>
                        </a:lnTo>
                        <a:lnTo>
                          <a:pt x="1207" y="59"/>
                        </a:lnTo>
                        <a:lnTo>
                          <a:pt x="1282" y="75"/>
                        </a:lnTo>
                        <a:lnTo>
                          <a:pt x="1365" y="105"/>
                        </a:lnTo>
                        <a:lnTo>
                          <a:pt x="1444" y="138"/>
                        </a:lnTo>
                        <a:lnTo>
                          <a:pt x="1732" y="287"/>
                        </a:lnTo>
                        <a:lnTo>
                          <a:pt x="1885" y="356"/>
                        </a:lnTo>
                        <a:lnTo>
                          <a:pt x="1974" y="413"/>
                        </a:lnTo>
                        <a:lnTo>
                          <a:pt x="1893" y="412"/>
                        </a:lnTo>
                        <a:lnTo>
                          <a:pt x="0" y="267"/>
                        </a:lnTo>
                        <a:lnTo>
                          <a:pt x="2" y="311"/>
                        </a:lnTo>
                        <a:lnTo>
                          <a:pt x="1979" y="447"/>
                        </a:lnTo>
                        <a:lnTo>
                          <a:pt x="2040" y="436"/>
                        </a:lnTo>
                        <a:lnTo>
                          <a:pt x="2009" y="397"/>
                        </a:lnTo>
                        <a:lnTo>
                          <a:pt x="1955" y="356"/>
                        </a:lnTo>
                        <a:lnTo>
                          <a:pt x="1821" y="287"/>
                        </a:lnTo>
                        <a:lnTo>
                          <a:pt x="1718" y="231"/>
                        </a:lnTo>
                        <a:lnTo>
                          <a:pt x="1456" y="102"/>
                        </a:lnTo>
                        <a:lnTo>
                          <a:pt x="1338" y="56"/>
                        </a:lnTo>
                        <a:lnTo>
                          <a:pt x="1221" y="26"/>
                        </a:lnTo>
                        <a:lnTo>
                          <a:pt x="959" y="0"/>
                        </a:lnTo>
                        <a:lnTo>
                          <a:pt x="600" y="0"/>
                        </a:lnTo>
                        <a:lnTo>
                          <a:pt x="15" y="31"/>
                        </a:lnTo>
                        <a:lnTo>
                          <a:pt x="15" y="60"/>
                        </a:lnTo>
                        <a:close/>
                      </a:path>
                    </a:pathLst>
                  </a:custGeom>
                  <a:solidFill>
                    <a:srgbClr val="800000"/>
                  </a:solidFill>
                  <a:ln w="6350" cmpd="sng">
                    <a:solidFill>
                      <a:srgbClr val="000000"/>
                    </a:solidFill>
                    <a:round/>
                    <a:headEnd/>
                    <a:tailEnd/>
                  </a:ln>
                </p:spPr>
                <p:txBody>
                  <a:bodyPr/>
                  <a:lstStyle/>
                  <a:p>
                    <a:endParaRPr lang="zh-CN" altLang="en-US"/>
                  </a:p>
                </p:txBody>
              </p:sp>
            </p:grpSp>
            <p:sp>
              <p:nvSpPr>
                <p:cNvPr id="69791" name="未知"/>
                <p:cNvSpPr>
                  <a:spLocks/>
                </p:cNvSpPr>
                <p:nvPr/>
              </p:nvSpPr>
              <p:spPr bwMode="auto">
                <a:xfrm>
                  <a:off x="0" y="0"/>
                  <a:ext cx="1273" cy="169"/>
                </a:xfrm>
                <a:custGeom>
                  <a:avLst/>
                  <a:gdLst>
                    <a:gd name="T0" fmla="*/ 0 w 3820"/>
                    <a:gd name="T1" fmla="*/ 0 h 507"/>
                    <a:gd name="T2" fmla="*/ 0 w 3820"/>
                    <a:gd name="T3" fmla="*/ 0 h 507"/>
                    <a:gd name="T4" fmla="*/ 0 w 3820"/>
                    <a:gd name="T5" fmla="*/ 0 h 507"/>
                    <a:gd name="T6" fmla="*/ 0 w 3820"/>
                    <a:gd name="T7" fmla="*/ 0 h 507"/>
                    <a:gd name="T8" fmla="*/ 0 w 3820"/>
                    <a:gd name="T9" fmla="*/ 0 h 507"/>
                    <a:gd name="T10" fmla="*/ 0 w 3820"/>
                    <a:gd name="T11" fmla="*/ 0 h 507"/>
                    <a:gd name="T12" fmla="*/ 0 w 3820"/>
                    <a:gd name="T13" fmla="*/ 0 h 507"/>
                    <a:gd name="T14" fmla="*/ 0 w 3820"/>
                    <a:gd name="T15" fmla="*/ 0 h 507"/>
                    <a:gd name="T16" fmla="*/ 0 w 3820"/>
                    <a:gd name="T17" fmla="*/ 0 h 507"/>
                    <a:gd name="T18" fmla="*/ 0 w 3820"/>
                    <a:gd name="T19" fmla="*/ 0 h 507"/>
                    <a:gd name="T20" fmla="*/ 0 w 3820"/>
                    <a:gd name="T21" fmla="*/ 0 h 507"/>
                    <a:gd name="T22" fmla="*/ 0 w 3820"/>
                    <a:gd name="T23" fmla="*/ 0 h 507"/>
                    <a:gd name="T24" fmla="*/ 0 w 3820"/>
                    <a:gd name="T25" fmla="*/ 0 h 507"/>
                    <a:gd name="T26" fmla="*/ 0 w 3820"/>
                    <a:gd name="T27" fmla="*/ 0 h 507"/>
                    <a:gd name="T28" fmla="*/ 0 w 3820"/>
                    <a:gd name="T29" fmla="*/ 0 h 507"/>
                    <a:gd name="T30" fmla="*/ 0 w 3820"/>
                    <a:gd name="T31" fmla="*/ 0 h 507"/>
                    <a:gd name="T32" fmla="*/ 0 w 3820"/>
                    <a:gd name="T33" fmla="*/ 0 h 507"/>
                    <a:gd name="T34" fmla="*/ 0 w 3820"/>
                    <a:gd name="T35" fmla="*/ 0 h 507"/>
                    <a:gd name="T36" fmla="*/ 0 w 3820"/>
                    <a:gd name="T37" fmla="*/ 0 h 507"/>
                    <a:gd name="T38" fmla="*/ 0 w 3820"/>
                    <a:gd name="T39" fmla="*/ 0 h 507"/>
                    <a:gd name="T40" fmla="*/ 0 w 3820"/>
                    <a:gd name="T41" fmla="*/ 0 h 507"/>
                    <a:gd name="T42" fmla="*/ 0 w 3820"/>
                    <a:gd name="T43" fmla="*/ 0 h 507"/>
                    <a:gd name="T44" fmla="*/ 0 w 3820"/>
                    <a:gd name="T45" fmla="*/ 0 h 507"/>
                    <a:gd name="T46" fmla="*/ 0 w 3820"/>
                    <a:gd name="T47" fmla="*/ 0 h 507"/>
                    <a:gd name="T48" fmla="*/ 0 w 3820"/>
                    <a:gd name="T49" fmla="*/ 0 h 507"/>
                    <a:gd name="T50" fmla="*/ 0 w 3820"/>
                    <a:gd name="T51" fmla="*/ 0 h 507"/>
                    <a:gd name="T52" fmla="*/ 0 w 3820"/>
                    <a:gd name="T53" fmla="*/ 0 h 507"/>
                    <a:gd name="T54" fmla="*/ 0 w 3820"/>
                    <a:gd name="T55" fmla="*/ 0 h 507"/>
                    <a:gd name="T56" fmla="*/ 0 w 3820"/>
                    <a:gd name="T57" fmla="*/ 0 h 507"/>
                    <a:gd name="T58" fmla="*/ 0 w 3820"/>
                    <a:gd name="T59" fmla="*/ 0 h 507"/>
                    <a:gd name="T60" fmla="*/ 0 w 3820"/>
                    <a:gd name="T61" fmla="*/ 0 h 507"/>
                    <a:gd name="T62" fmla="*/ 0 w 3820"/>
                    <a:gd name="T63" fmla="*/ 0 h 50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820"/>
                    <a:gd name="T97" fmla="*/ 0 h 507"/>
                    <a:gd name="T98" fmla="*/ 3820 w 3820"/>
                    <a:gd name="T99" fmla="*/ 507 h 50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820" h="507">
                      <a:moveTo>
                        <a:pt x="0" y="338"/>
                      </a:moveTo>
                      <a:lnTo>
                        <a:pt x="147" y="318"/>
                      </a:lnTo>
                      <a:lnTo>
                        <a:pt x="259" y="292"/>
                      </a:lnTo>
                      <a:lnTo>
                        <a:pt x="335" y="270"/>
                      </a:lnTo>
                      <a:lnTo>
                        <a:pt x="398" y="253"/>
                      </a:lnTo>
                      <a:lnTo>
                        <a:pt x="479" y="232"/>
                      </a:lnTo>
                      <a:lnTo>
                        <a:pt x="549" y="212"/>
                      </a:lnTo>
                      <a:lnTo>
                        <a:pt x="627" y="192"/>
                      </a:lnTo>
                      <a:lnTo>
                        <a:pt x="698" y="177"/>
                      </a:lnTo>
                      <a:lnTo>
                        <a:pt x="778" y="164"/>
                      </a:lnTo>
                      <a:lnTo>
                        <a:pt x="843" y="153"/>
                      </a:lnTo>
                      <a:lnTo>
                        <a:pt x="899" y="144"/>
                      </a:lnTo>
                      <a:lnTo>
                        <a:pt x="982" y="130"/>
                      </a:lnTo>
                      <a:lnTo>
                        <a:pt x="1053" y="119"/>
                      </a:lnTo>
                      <a:lnTo>
                        <a:pt x="1119" y="109"/>
                      </a:lnTo>
                      <a:lnTo>
                        <a:pt x="1189" y="90"/>
                      </a:lnTo>
                      <a:lnTo>
                        <a:pt x="1246" y="61"/>
                      </a:lnTo>
                      <a:lnTo>
                        <a:pt x="1286" y="28"/>
                      </a:lnTo>
                      <a:lnTo>
                        <a:pt x="1369" y="24"/>
                      </a:lnTo>
                      <a:lnTo>
                        <a:pt x="1489" y="22"/>
                      </a:lnTo>
                      <a:lnTo>
                        <a:pt x="1625" y="11"/>
                      </a:lnTo>
                      <a:lnTo>
                        <a:pt x="1731" y="5"/>
                      </a:lnTo>
                      <a:lnTo>
                        <a:pt x="1887" y="3"/>
                      </a:lnTo>
                      <a:lnTo>
                        <a:pt x="2038" y="1"/>
                      </a:lnTo>
                      <a:lnTo>
                        <a:pt x="2182" y="0"/>
                      </a:lnTo>
                      <a:lnTo>
                        <a:pt x="2292" y="0"/>
                      </a:lnTo>
                      <a:lnTo>
                        <a:pt x="2411" y="9"/>
                      </a:lnTo>
                      <a:lnTo>
                        <a:pt x="2533" y="28"/>
                      </a:lnTo>
                      <a:lnTo>
                        <a:pt x="2624" y="52"/>
                      </a:lnTo>
                      <a:lnTo>
                        <a:pt x="2706" y="73"/>
                      </a:lnTo>
                      <a:lnTo>
                        <a:pt x="2794" y="100"/>
                      </a:lnTo>
                      <a:lnTo>
                        <a:pt x="2891" y="130"/>
                      </a:lnTo>
                      <a:lnTo>
                        <a:pt x="2989" y="164"/>
                      </a:lnTo>
                      <a:lnTo>
                        <a:pt x="3093" y="200"/>
                      </a:lnTo>
                      <a:lnTo>
                        <a:pt x="3195" y="235"/>
                      </a:lnTo>
                      <a:lnTo>
                        <a:pt x="3302" y="269"/>
                      </a:lnTo>
                      <a:lnTo>
                        <a:pt x="3382" y="296"/>
                      </a:lnTo>
                      <a:lnTo>
                        <a:pt x="3457" y="317"/>
                      </a:lnTo>
                      <a:lnTo>
                        <a:pt x="3539" y="346"/>
                      </a:lnTo>
                      <a:lnTo>
                        <a:pt x="3623" y="372"/>
                      </a:lnTo>
                      <a:lnTo>
                        <a:pt x="3726" y="406"/>
                      </a:lnTo>
                      <a:lnTo>
                        <a:pt x="3820" y="442"/>
                      </a:lnTo>
                      <a:lnTo>
                        <a:pt x="3782" y="466"/>
                      </a:lnTo>
                      <a:lnTo>
                        <a:pt x="3726" y="481"/>
                      </a:lnTo>
                      <a:lnTo>
                        <a:pt x="3665" y="497"/>
                      </a:lnTo>
                      <a:lnTo>
                        <a:pt x="3589" y="505"/>
                      </a:lnTo>
                      <a:lnTo>
                        <a:pt x="3488" y="507"/>
                      </a:lnTo>
                      <a:lnTo>
                        <a:pt x="3388" y="504"/>
                      </a:lnTo>
                      <a:lnTo>
                        <a:pt x="3362" y="466"/>
                      </a:lnTo>
                      <a:lnTo>
                        <a:pt x="3338" y="442"/>
                      </a:lnTo>
                      <a:lnTo>
                        <a:pt x="3290" y="408"/>
                      </a:lnTo>
                      <a:lnTo>
                        <a:pt x="3187" y="352"/>
                      </a:lnTo>
                      <a:lnTo>
                        <a:pt x="3059" y="285"/>
                      </a:lnTo>
                      <a:lnTo>
                        <a:pt x="2945" y="228"/>
                      </a:lnTo>
                      <a:lnTo>
                        <a:pt x="2806" y="159"/>
                      </a:lnTo>
                      <a:lnTo>
                        <a:pt x="2691" y="114"/>
                      </a:lnTo>
                      <a:lnTo>
                        <a:pt x="2581" y="83"/>
                      </a:lnTo>
                      <a:lnTo>
                        <a:pt x="2491" y="71"/>
                      </a:lnTo>
                      <a:lnTo>
                        <a:pt x="2326" y="54"/>
                      </a:lnTo>
                      <a:lnTo>
                        <a:pt x="2110" y="53"/>
                      </a:lnTo>
                      <a:lnTo>
                        <a:pt x="1857" y="60"/>
                      </a:lnTo>
                      <a:lnTo>
                        <a:pt x="1664" y="66"/>
                      </a:lnTo>
                      <a:lnTo>
                        <a:pt x="1356" y="83"/>
                      </a:lnTo>
                      <a:lnTo>
                        <a:pt x="1338" y="384"/>
                      </a:lnTo>
                      <a:lnTo>
                        <a:pt x="0" y="338"/>
                      </a:lnTo>
                      <a:close/>
                    </a:path>
                  </a:pathLst>
                </a:custGeom>
                <a:solidFill>
                  <a:srgbClr val="FF0000"/>
                </a:solidFill>
                <a:ln w="6350" cmpd="sng">
                  <a:solidFill>
                    <a:srgbClr val="000000"/>
                  </a:solidFill>
                  <a:round/>
                  <a:headEnd/>
                  <a:tailEnd/>
                </a:ln>
              </p:spPr>
              <p:txBody>
                <a:bodyPr/>
                <a:lstStyle/>
                <a:p>
                  <a:endParaRPr lang="zh-CN" altLang="en-US"/>
                </a:p>
              </p:txBody>
            </p:sp>
          </p:grpSp>
          <p:sp>
            <p:nvSpPr>
              <p:cNvPr id="69763" name="未知"/>
              <p:cNvSpPr>
                <a:spLocks/>
              </p:cNvSpPr>
              <p:nvPr/>
            </p:nvSpPr>
            <p:spPr bwMode="auto">
              <a:xfrm>
                <a:off x="133" y="165"/>
                <a:ext cx="1722" cy="267"/>
              </a:xfrm>
              <a:custGeom>
                <a:avLst/>
                <a:gdLst>
                  <a:gd name="T0" fmla="*/ 0 w 5166"/>
                  <a:gd name="T1" fmla="*/ 0 h 801"/>
                  <a:gd name="T2" fmla="*/ 0 w 5166"/>
                  <a:gd name="T3" fmla="*/ 0 h 801"/>
                  <a:gd name="T4" fmla="*/ 0 w 5166"/>
                  <a:gd name="T5" fmla="*/ 0 h 801"/>
                  <a:gd name="T6" fmla="*/ 0 w 5166"/>
                  <a:gd name="T7" fmla="*/ 0 h 801"/>
                  <a:gd name="T8" fmla="*/ 0 w 5166"/>
                  <a:gd name="T9" fmla="*/ 0 h 801"/>
                  <a:gd name="T10" fmla="*/ 0 w 5166"/>
                  <a:gd name="T11" fmla="*/ 0 h 801"/>
                  <a:gd name="T12" fmla="*/ 0 w 5166"/>
                  <a:gd name="T13" fmla="*/ 0 h 801"/>
                  <a:gd name="T14" fmla="*/ 0 w 5166"/>
                  <a:gd name="T15" fmla="*/ 0 h 801"/>
                  <a:gd name="T16" fmla="*/ 0 w 5166"/>
                  <a:gd name="T17" fmla="*/ 0 h 801"/>
                  <a:gd name="T18" fmla="*/ 0 w 5166"/>
                  <a:gd name="T19" fmla="*/ 0 h 801"/>
                  <a:gd name="T20" fmla="*/ 0 w 5166"/>
                  <a:gd name="T21" fmla="*/ 0 h 801"/>
                  <a:gd name="T22" fmla="*/ 0 w 5166"/>
                  <a:gd name="T23" fmla="*/ 0 h 801"/>
                  <a:gd name="T24" fmla="*/ 0 w 5166"/>
                  <a:gd name="T25" fmla="*/ 0 h 801"/>
                  <a:gd name="T26" fmla="*/ 0 w 5166"/>
                  <a:gd name="T27" fmla="*/ 0 h 801"/>
                  <a:gd name="T28" fmla="*/ 0 w 5166"/>
                  <a:gd name="T29" fmla="*/ 0 h 801"/>
                  <a:gd name="T30" fmla="*/ 0 w 5166"/>
                  <a:gd name="T31" fmla="*/ 0 h 801"/>
                  <a:gd name="T32" fmla="*/ 0 w 5166"/>
                  <a:gd name="T33" fmla="*/ 0 h 801"/>
                  <a:gd name="T34" fmla="*/ 0 w 5166"/>
                  <a:gd name="T35" fmla="*/ 0 h 801"/>
                  <a:gd name="T36" fmla="*/ 0 w 5166"/>
                  <a:gd name="T37" fmla="*/ 0 h 801"/>
                  <a:gd name="T38" fmla="*/ 0 w 5166"/>
                  <a:gd name="T39" fmla="*/ 0 h 801"/>
                  <a:gd name="T40" fmla="*/ 0 w 5166"/>
                  <a:gd name="T41" fmla="*/ 0 h 801"/>
                  <a:gd name="T42" fmla="*/ 0 w 5166"/>
                  <a:gd name="T43" fmla="*/ 0 h 801"/>
                  <a:gd name="T44" fmla="*/ 0 w 5166"/>
                  <a:gd name="T45" fmla="*/ 0 h 801"/>
                  <a:gd name="T46" fmla="*/ 0 w 5166"/>
                  <a:gd name="T47" fmla="*/ 0 h 801"/>
                  <a:gd name="T48" fmla="*/ 0 w 5166"/>
                  <a:gd name="T49" fmla="*/ 0 h 801"/>
                  <a:gd name="T50" fmla="*/ 0 w 5166"/>
                  <a:gd name="T51" fmla="*/ 0 h 80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166"/>
                  <a:gd name="T79" fmla="*/ 0 h 801"/>
                  <a:gd name="T80" fmla="*/ 5166 w 5166"/>
                  <a:gd name="T81" fmla="*/ 801 h 80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166" h="801">
                    <a:moveTo>
                      <a:pt x="4360" y="379"/>
                    </a:moveTo>
                    <a:lnTo>
                      <a:pt x="4399" y="500"/>
                    </a:lnTo>
                    <a:lnTo>
                      <a:pt x="4399" y="593"/>
                    </a:lnTo>
                    <a:lnTo>
                      <a:pt x="5166" y="593"/>
                    </a:lnTo>
                    <a:lnTo>
                      <a:pt x="5113" y="655"/>
                    </a:lnTo>
                    <a:lnTo>
                      <a:pt x="5149" y="726"/>
                    </a:lnTo>
                    <a:lnTo>
                      <a:pt x="5149" y="759"/>
                    </a:lnTo>
                    <a:lnTo>
                      <a:pt x="5126" y="782"/>
                    </a:lnTo>
                    <a:lnTo>
                      <a:pt x="4684" y="782"/>
                    </a:lnTo>
                    <a:lnTo>
                      <a:pt x="4649" y="801"/>
                    </a:lnTo>
                    <a:lnTo>
                      <a:pt x="4423" y="801"/>
                    </a:lnTo>
                    <a:lnTo>
                      <a:pt x="4393" y="779"/>
                    </a:lnTo>
                    <a:lnTo>
                      <a:pt x="306" y="779"/>
                    </a:lnTo>
                    <a:lnTo>
                      <a:pt x="144" y="632"/>
                    </a:lnTo>
                    <a:lnTo>
                      <a:pt x="16" y="681"/>
                    </a:lnTo>
                    <a:lnTo>
                      <a:pt x="0" y="292"/>
                    </a:lnTo>
                    <a:lnTo>
                      <a:pt x="311" y="0"/>
                    </a:lnTo>
                    <a:lnTo>
                      <a:pt x="798" y="11"/>
                    </a:lnTo>
                    <a:lnTo>
                      <a:pt x="3331" y="655"/>
                    </a:lnTo>
                    <a:lnTo>
                      <a:pt x="3403" y="578"/>
                    </a:lnTo>
                    <a:lnTo>
                      <a:pt x="3466" y="378"/>
                    </a:lnTo>
                    <a:lnTo>
                      <a:pt x="3555" y="214"/>
                    </a:lnTo>
                    <a:lnTo>
                      <a:pt x="3822" y="82"/>
                    </a:lnTo>
                    <a:lnTo>
                      <a:pt x="4069" y="89"/>
                    </a:lnTo>
                    <a:lnTo>
                      <a:pt x="4254" y="185"/>
                    </a:lnTo>
                    <a:lnTo>
                      <a:pt x="4360" y="379"/>
                    </a:lnTo>
                    <a:close/>
                  </a:path>
                </a:pathLst>
              </a:custGeom>
              <a:solidFill>
                <a:srgbClr val="000000"/>
              </a:solidFill>
              <a:ln w="6350" cmpd="sng">
                <a:solidFill>
                  <a:srgbClr val="000000"/>
                </a:solidFill>
                <a:round/>
                <a:headEnd/>
                <a:tailEnd/>
              </a:ln>
            </p:spPr>
            <p:txBody>
              <a:bodyPr/>
              <a:lstStyle/>
              <a:p>
                <a:endParaRPr lang="zh-CN" altLang="en-US"/>
              </a:p>
            </p:txBody>
          </p:sp>
          <p:grpSp>
            <p:nvGrpSpPr>
              <p:cNvPr id="69764" name="Group 25"/>
              <p:cNvGrpSpPr>
                <a:grpSpLocks/>
              </p:cNvGrpSpPr>
              <p:nvPr/>
            </p:nvGrpSpPr>
            <p:grpSpPr bwMode="auto">
              <a:xfrm>
                <a:off x="0" y="55"/>
                <a:ext cx="1857" cy="338"/>
                <a:chOff x="0" y="0"/>
                <a:chExt cx="1857" cy="338"/>
              </a:xfrm>
            </p:grpSpPr>
            <p:grpSp>
              <p:nvGrpSpPr>
                <p:cNvPr id="69765" name="Group 26"/>
                <p:cNvGrpSpPr>
                  <a:grpSpLocks/>
                </p:cNvGrpSpPr>
                <p:nvPr/>
              </p:nvGrpSpPr>
              <p:grpSpPr bwMode="auto">
                <a:xfrm>
                  <a:off x="0" y="109"/>
                  <a:ext cx="112" cy="195"/>
                  <a:chOff x="0" y="0"/>
                  <a:chExt cx="112" cy="195"/>
                </a:xfrm>
              </p:grpSpPr>
              <p:sp>
                <p:nvSpPr>
                  <p:cNvPr id="69777" name="Rectangle 27"/>
                  <p:cNvSpPr>
                    <a:spLocks noChangeArrowheads="1"/>
                  </p:cNvSpPr>
                  <p:nvPr/>
                </p:nvSpPr>
                <p:spPr bwMode="auto">
                  <a:xfrm>
                    <a:off x="10" y="41"/>
                    <a:ext cx="43" cy="7"/>
                  </a:xfrm>
                  <a:prstGeom prst="rect">
                    <a:avLst/>
                  </a:prstGeom>
                  <a:solidFill>
                    <a:srgbClr val="808080"/>
                  </a:solidFill>
                  <a:ln w="6350">
                    <a:solidFill>
                      <a:srgbClr val="C0C0C0"/>
                    </a:solidFill>
                    <a:miter lim="800000"/>
                    <a:headEnd/>
                    <a:tailEnd/>
                  </a:ln>
                </p:spPr>
                <p:txBody>
                  <a:bodyPr/>
                  <a:lstStyle/>
                  <a:p>
                    <a:endParaRPr lang="zh-CN" altLang="en-US"/>
                  </a:p>
                </p:txBody>
              </p:sp>
              <p:sp>
                <p:nvSpPr>
                  <p:cNvPr id="69778" name="Rectangle 28"/>
                  <p:cNvSpPr>
                    <a:spLocks noChangeArrowheads="1"/>
                  </p:cNvSpPr>
                  <p:nvPr/>
                </p:nvSpPr>
                <p:spPr bwMode="auto">
                  <a:xfrm>
                    <a:off x="10" y="0"/>
                    <a:ext cx="43" cy="17"/>
                  </a:xfrm>
                  <a:prstGeom prst="rect">
                    <a:avLst/>
                  </a:prstGeom>
                  <a:solidFill>
                    <a:srgbClr val="808080"/>
                  </a:solidFill>
                  <a:ln w="6350">
                    <a:solidFill>
                      <a:srgbClr val="C0C0C0"/>
                    </a:solidFill>
                    <a:miter lim="800000"/>
                    <a:headEnd/>
                    <a:tailEnd/>
                  </a:ln>
                </p:spPr>
                <p:txBody>
                  <a:bodyPr/>
                  <a:lstStyle/>
                  <a:p>
                    <a:endParaRPr lang="zh-CN" altLang="en-US"/>
                  </a:p>
                </p:txBody>
              </p:sp>
              <p:sp>
                <p:nvSpPr>
                  <p:cNvPr id="69779" name="Rectangle 29"/>
                  <p:cNvSpPr>
                    <a:spLocks noChangeArrowheads="1"/>
                  </p:cNvSpPr>
                  <p:nvPr/>
                </p:nvSpPr>
                <p:spPr bwMode="auto">
                  <a:xfrm>
                    <a:off x="10" y="26"/>
                    <a:ext cx="43" cy="7"/>
                  </a:xfrm>
                  <a:prstGeom prst="rect">
                    <a:avLst/>
                  </a:prstGeom>
                  <a:solidFill>
                    <a:srgbClr val="808080"/>
                  </a:solidFill>
                  <a:ln w="6350">
                    <a:solidFill>
                      <a:srgbClr val="C0C0C0"/>
                    </a:solidFill>
                    <a:miter lim="800000"/>
                    <a:headEnd/>
                    <a:tailEnd/>
                  </a:ln>
                </p:spPr>
                <p:txBody>
                  <a:bodyPr/>
                  <a:lstStyle/>
                  <a:p>
                    <a:endParaRPr lang="zh-CN" altLang="en-US"/>
                  </a:p>
                </p:txBody>
              </p:sp>
              <p:sp>
                <p:nvSpPr>
                  <p:cNvPr id="69780" name="未知"/>
                  <p:cNvSpPr>
                    <a:spLocks/>
                  </p:cNvSpPr>
                  <p:nvPr/>
                </p:nvSpPr>
                <p:spPr bwMode="auto">
                  <a:xfrm>
                    <a:off x="8" y="58"/>
                    <a:ext cx="43" cy="45"/>
                  </a:xfrm>
                  <a:custGeom>
                    <a:avLst/>
                    <a:gdLst>
                      <a:gd name="T0" fmla="*/ 0 w 97"/>
                      <a:gd name="T1" fmla="*/ 0 h 100"/>
                      <a:gd name="T2" fmla="*/ 0 w 97"/>
                      <a:gd name="T3" fmla="*/ 0 h 100"/>
                      <a:gd name="T4" fmla="*/ 0 w 97"/>
                      <a:gd name="T5" fmla="*/ 0 h 100"/>
                      <a:gd name="T6" fmla="*/ 0 w 97"/>
                      <a:gd name="T7" fmla="*/ 0 h 100"/>
                      <a:gd name="T8" fmla="*/ 0 w 97"/>
                      <a:gd name="T9" fmla="*/ 0 h 100"/>
                      <a:gd name="T10" fmla="*/ 0 60000 65536"/>
                      <a:gd name="T11" fmla="*/ 0 60000 65536"/>
                      <a:gd name="T12" fmla="*/ 0 60000 65536"/>
                      <a:gd name="T13" fmla="*/ 0 60000 65536"/>
                      <a:gd name="T14" fmla="*/ 0 60000 65536"/>
                      <a:gd name="T15" fmla="*/ 0 w 97"/>
                      <a:gd name="T16" fmla="*/ 0 h 100"/>
                      <a:gd name="T17" fmla="*/ 97 w 97"/>
                      <a:gd name="T18" fmla="*/ 100 h 100"/>
                    </a:gdLst>
                    <a:ahLst/>
                    <a:cxnLst>
                      <a:cxn ang="T10">
                        <a:pos x="T0" y="T1"/>
                      </a:cxn>
                      <a:cxn ang="T11">
                        <a:pos x="T2" y="T3"/>
                      </a:cxn>
                      <a:cxn ang="T12">
                        <a:pos x="T4" y="T5"/>
                      </a:cxn>
                      <a:cxn ang="T13">
                        <a:pos x="T6" y="T7"/>
                      </a:cxn>
                      <a:cxn ang="T14">
                        <a:pos x="T8" y="T9"/>
                      </a:cxn>
                    </a:cxnLst>
                    <a:rect l="T15" t="T16" r="T17" b="T18"/>
                    <a:pathLst>
                      <a:path w="97" h="100">
                        <a:moveTo>
                          <a:pt x="1" y="0"/>
                        </a:moveTo>
                        <a:cubicBezTo>
                          <a:pt x="1" y="0"/>
                          <a:pt x="1" y="0"/>
                          <a:pt x="1" y="0"/>
                        </a:cubicBezTo>
                        <a:cubicBezTo>
                          <a:pt x="0" y="55"/>
                          <a:pt x="42" y="100"/>
                          <a:pt x="94" y="100"/>
                        </a:cubicBezTo>
                        <a:lnTo>
                          <a:pt x="97" y="0"/>
                        </a:lnTo>
                        <a:lnTo>
                          <a:pt x="1" y="0"/>
                        </a:lnTo>
                        <a:close/>
                      </a:path>
                    </a:pathLst>
                  </a:custGeom>
                  <a:noFill/>
                  <a:ln w="6350" cmpd="sng">
                    <a:solidFill>
                      <a:srgbClr val="C0C0C0"/>
                    </a:solidFill>
                    <a:round/>
                    <a:headEnd/>
                    <a:tailEnd/>
                  </a:ln>
                </p:spPr>
                <p:txBody>
                  <a:bodyPr/>
                  <a:lstStyle/>
                  <a:p>
                    <a:endParaRPr lang="zh-CN" altLang="en-US"/>
                  </a:p>
                </p:txBody>
              </p:sp>
              <p:grpSp>
                <p:nvGrpSpPr>
                  <p:cNvPr id="69781" name="Group 31"/>
                  <p:cNvGrpSpPr>
                    <a:grpSpLocks/>
                  </p:cNvGrpSpPr>
                  <p:nvPr/>
                </p:nvGrpSpPr>
                <p:grpSpPr bwMode="auto">
                  <a:xfrm>
                    <a:off x="0" y="173"/>
                    <a:ext cx="112" cy="6"/>
                    <a:chOff x="0" y="0"/>
                    <a:chExt cx="112" cy="6"/>
                  </a:xfrm>
                </p:grpSpPr>
                <p:sp>
                  <p:nvSpPr>
                    <p:cNvPr id="69788" name="Rectangle 32"/>
                    <p:cNvSpPr>
                      <a:spLocks noChangeArrowheads="1"/>
                    </p:cNvSpPr>
                    <p:nvPr/>
                  </p:nvSpPr>
                  <p:spPr bwMode="auto">
                    <a:xfrm>
                      <a:off x="5" y="0"/>
                      <a:ext cx="107" cy="6"/>
                    </a:xfrm>
                    <a:prstGeom prst="rect">
                      <a:avLst/>
                    </a:prstGeom>
                    <a:solidFill>
                      <a:srgbClr val="808080"/>
                    </a:solidFill>
                    <a:ln w="6350">
                      <a:solidFill>
                        <a:srgbClr val="C0C0C0"/>
                      </a:solidFill>
                      <a:miter lim="800000"/>
                      <a:headEnd/>
                      <a:tailEnd/>
                    </a:ln>
                  </p:spPr>
                  <p:txBody>
                    <a:bodyPr/>
                    <a:lstStyle/>
                    <a:p>
                      <a:endParaRPr lang="zh-CN" altLang="en-US"/>
                    </a:p>
                  </p:txBody>
                </p:sp>
                <p:sp>
                  <p:nvSpPr>
                    <p:cNvPr id="69789" name="Oval 33"/>
                    <p:cNvSpPr>
                      <a:spLocks noChangeArrowheads="1"/>
                    </p:cNvSpPr>
                    <p:nvPr/>
                  </p:nvSpPr>
                  <p:spPr bwMode="auto">
                    <a:xfrm>
                      <a:off x="0" y="0"/>
                      <a:ext cx="13" cy="6"/>
                    </a:xfrm>
                    <a:prstGeom prst="ellipse">
                      <a:avLst/>
                    </a:prstGeom>
                    <a:solidFill>
                      <a:srgbClr val="808080"/>
                    </a:solidFill>
                    <a:ln w="6350">
                      <a:solidFill>
                        <a:srgbClr val="C0C0C0"/>
                      </a:solidFill>
                      <a:round/>
                      <a:headEnd/>
                      <a:tailEnd/>
                    </a:ln>
                  </p:spPr>
                  <p:txBody>
                    <a:bodyPr/>
                    <a:lstStyle/>
                    <a:p>
                      <a:endParaRPr lang="zh-CN" altLang="en-US"/>
                    </a:p>
                  </p:txBody>
                </p:sp>
              </p:grpSp>
              <p:grpSp>
                <p:nvGrpSpPr>
                  <p:cNvPr id="69782" name="Group 34"/>
                  <p:cNvGrpSpPr>
                    <a:grpSpLocks/>
                  </p:cNvGrpSpPr>
                  <p:nvPr/>
                </p:nvGrpSpPr>
                <p:grpSpPr bwMode="auto">
                  <a:xfrm>
                    <a:off x="0" y="188"/>
                    <a:ext cx="112" cy="7"/>
                    <a:chOff x="0" y="0"/>
                    <a:chExt cx="112" cy="7"/>
                  </a:xfrm>
                </p:grpSpPr>
                <p:sp>
                  <p:nvSpPr>
                    <p:cNvPr id="69786" name="Rectangle 35"/>
                    <p:cNvSpPr>
                      <a:spLocks noChangeArrowheads="1"/>
                    </p:cNvSpPr>
                    <p:nvPr/>
                  </p:nvSpPr>
                  <p:spPr bwMode="auto">
                    <a:xfrm>
                      <a:off x="5" y="0"/>
                      <a:ext cx="107" cy="7"/>
                    </a:xfrm>
                    <a:prstGeom prst="rect">
                      <a:avLst/>
                    </a:prstGeom>
                    <a:solidFill>
                      <a:srgbClr val="808080"/>
                    </a:solidFill>
                    <a:ln w="6350">
                      <a:solidFill>
                        <a:srgbClr val="C0C0C0"/>
                      </a:solidFill>
                      <a:miter lim="800000"/>
                      <a:headEnd/>
                      <a:tailEnd/>
                    </a:ln>
                  </p:spPr>
                  <p:txBody>
                    <a:bodyPr/>
                    <a:lstStyle/>
                    <a:p>
                      <a:endParaRPr lang="zh-CN" altLang="en-US"/>
                    </a:p>
                  </p:txBody>
                </p:sp>
                <p:sp>
                  <p:nvSpPr>
                    <p:cNvPr id="69787" name="Oval 36"/>
                    <p:cNvSpPr>
                      <a:spLocks noChangeArrowheads="1"/>
                    </p:cNvSpPr>
                    <p:nvPr/>
                  </p:nvSpPr>
                  <p:spPr bwMode="auto">
                    <a:xfrm>
                      <a:off x="0" y="0"/>
                      <a:ext cx="13" cy="7"/>
                    </a:xfrm>
                    <a:prstGeom prst="ellipse">
                      <a:avLst/>
                    </a:prstGeom>
                    <a:solidFill>
                      <a:srgbClr val="808080"/>
                    </a:solidFill>
                    <a:ln w="6350">
                      <a:solidFill>
                        <a:srgbClr val="C0C0C0"/>
                      </a:solidFill>
                      <a:round/>
                      <a:headEnd/>
                      <a:tailEnd/>
                    </a:ln>
                  </p:spPr>
                  <p:txBody>
                    <a:bodyPr/>
                    <a:lstStyle/>
                    <a:p>
                      <a:endParaRPr lang="zh-CN" altLang="en-US"/>
                    </a:p>
                  </p:txBody>
                </p:sp>
              </p:grpSp>
              <p:grpSp>
                <p:nvGrpSpPr>
                  <p:cNvPr id="69783" name="Group 37"/>
                  <p:cNvGrpSpPr>
                    <a:grpSpLocks/>
                  </p:cNvGrpSpPr>
                  <p:nvPr/>
                </p:nvGrpSpPr>
                <p:grpSpPr bwMode="auto">
                  <a:xfrm>
                    <a:off x="0" y="157"/>
                    <a:ext cx="112" cy="7"/>
                    <a:chOff x="0" y="0"/>
                    <a:chExt cx="112" cy="7"/>
                  </a:xfrm>
                </p:grpSpPr>
                <p:sp>
                  <p:nvSpPr>
                    <p:cNvPr id="69784" name="Rectangle 38"/>
                    <p:cNvSpPr>
                      <a:spLocks noChangeArrowheads="1"/>
                    </p:cNvSpPr>
                    <p:nvPr/>
                  </p:nvSpPr>
                  <p:spPr bwMode="auto">
                    <a:xfrm>
                      <a:off x="5" y="0"/>
                      <a:ext cx="107" cy="7"/>
                    </a:xfrm>
                    <a:prstGeom prst="rect">
                      <a:avLst/>
                    </a:prstGeom>
                    <a:solidFill>
                      <a:srgbClr val="808080"/>
                    </a:solidFill>
                    <a:ln w="6350">
                      <a:solidFill>
                        <a:srgbClr val="C0C0C0"/>
                      </a:solidFill>
                      <a:miter lim="800000"/>
                      <a:headEnd/>
                      <a:tailEnd/>
                    </a:ln>
                  </p:spPr>
                  <p:txBody>
                    <a:bodyPr/>
                    <a:lstStyle/>
                    <a:p>
                      <a:endParaRPr lang="zh-CN" altLang="en-US"/>
                    </a:p>
                  </p:txBody>
                </p:sp>
                <p:sp>
                  <p:nvSpPr>
                    <p:cNvPr id="69785" name="Oval 39"/>
                    <p:cNvSpPr>
                      <a:spLocks noChangeArrowheads="1"/>
                    </p:cNvSpPr>
                    <p:nvPr/>
                  </p:nvSpPr>
                  <p:spPr bwMode="auto">
                    <a:xfrm>
                      <a:off x="0" y="0"/>
                      <a:ext cx="13" cy="7"/>
                    </a:xfrm>
                    <a:prstGeom prst="ellipse">
                      <a:avLst/>
                    </a:prstGeom>
                    <a:solidFill>
                      <a:srgbClr val="808080"/>
                    </a:solidFill>
                    <a:ln w="6350">
                      <a:solidFill>
                        <a:srgbClr val="C0C0C0"/>
                      </a:solidFill>
                      <a:round/>
                      <a:headEnd/>
                      <a:tailEnd/>
                    </a:ln>
                  </p:spPr>
                  <p:txBody>
                    <a:bodyPr/>
                    <a:lstStyle/>
                    <a:p>
                      <a:endParaRPr lang="zh-CN" altLang="en-US"/>
                    </a:p>
                  </p:txBody>
                </p:sp>
              </p:grpSp>
            </p:grpSp>
            <p:sp>
              <p:nvSpPr>
                <p:cNvPr id="69766" name="未知"/>
                <p:cNvSpPr>
                  <a:spLocks/>
                </p:cNvSpPr>
                <p:nvPr/>
              </p:nvSpPr>
              <p:spPr bwMode="auto">
                <a:xfrm>
                  <a:off x="10" y="57"/>
                  <a:ext cx="1847" cy="281"/>
                </a:xfrm>
                <a:custGeom>
                  <a:avLst/>
                  <a:gdLst>
                    <a:gd name="T0" fmla="*/ 0 w 5542"/>
                    <a:gd name="T1" fmla="*/ 0 h 844"/>
                    <a:gd name="T2" fmla="*/ 0 w 5542"/>
                    <a:gd name="T3" fmla="*/ 0 h 844"/>
                    <a:gd name="T4" fmla="*/ 0 w 5542"/>
                    <a:gd name="T5" fmla="*/ 0 h 844"/>
                    <a:gd name="T6" fmla="*/ 0 w 5542"/>
                    <a:gd name="T7" fmla="*/ 0 h 844"/>
                    <a:gd name="T8" fmla="*/ 0 w 5542"/>
                    <a:gd name="T9" fmla="*/ 0 h 844"/>
                    <a:gd name="T10" fmla="*/ 0 w 5542"/>
                    <a:gd name="T11" fmla="*/ 0 h 844"/>
                    <a:gd name="T12" fmla="*/ 0 w 5542"/>
                    <a:gd name="T13" fmla="*/ 0 h 844"/>
                    <a:gd name="T14" fmla="*/ 0 w 5542"/>
                    <a:gd name="T15" fmla="*/ 0 h 844"/>
                    <a:gd name="T16" fmla="*/ 0 w 5542"/>
                    <a:gd name="T17" fmla="*/ 0 h 844"/>
                    <a:gd name="T18" fmla="*/ 0 w 5542"/>
                    <a:gd name="T19" fmla="*/ 0 h 844"/>
                    <a:gd name="T20" fmla="*/ 0 w 5542"/>
                    <a:gd name="T21" fmla="*/ 0 h 844"/>
                    <a:gd name="T22" fmla="*/ 0 w 5542"/>
                    <a:gd name="T23" fmla="*/ 0 h 844"/>
                    <a:gd name="T24" fmla="*/ 0 w 5542"/>
                    <a:gd name="T25" fmla="*/ 0 h 844"/>
                    <a:gd name="T26" fmla="*/ 0 w 5542"/>
                    <a:gd name="T27" fmla="*/ 0 h 844"/>
                    <a:gd name="T28" fmla="*/ 0 w 5542"/>
                    <a:gd name="T29" fmla="*/ 0 h 844"/>
                    <a:gd name="T30" fmla="*/ 0 w 5542"/>
                    <a:gd name="T31" fmla="*/ 0 h 844"/>
                    <a:gd name="T32" fmla="*/ 0 w 5542"/>
                    <a:gd name="T33" fmla="*/ 0 h 844"/>
                    <a:gd name="T34" fmla="*/ 0 w 5542"/>
                    <a:gd name="T35" fmla="*/ 0 h 844"/>
                    <a:gd name="T36" fmla="*/ 0 w 5542"/>
                    <a:gd name="T37" fmla="*/ 0 h 844"/>
                    <a:gd name="T38" fmla="*/ 0 w 5542"/>
                    <a:gd name="T39" fmla="*/ 0 h 844"/>
                    <a:gd name="T40" fmla="*/ 0 w 5542"/>
                    <a:gd name="T41" fmla="*/ 0 h 844"/>
                    <a:gd name="T42" fmla="*/ 0 w 5542"/>
                    <a:gd name="T43" fmla="*/ 0 h 844"/>
                    <a:gd name="T44" fmla="*/ 0 w 5542"/>
                    <a:gd name="T45" fmla="*/ 0 h 844"/>
                    <a:gd name="T46" fmla="*/ 0 w 5542"/>
                    <a:gd name="T47" fmla="*/ 0 h 844"/>
                    <a:gd name="T48" fmla="*/ 0 w 5542"/>
                    <a:gd name="T49" fmla="*/ 0 h 844"/>
                    <a:gd name="T50" fmla="*/ 0 w 5542"/>
                    <a:gd name="T51" fmla="*/ 0 h 844"/>
                    <a:gd name="T52" fmla="*/ 0 w 5542"/>
                    <a:gd name="T53" fmla="*/ 0 h 844"/>
                    <a:gd name="T54" fmla="*/ 0 w 5542"/>
                    <a:gd name="T55" fmla="*/ 0 h 844"/>
                    <a:gd name="T56" fmla="*/ 0 w 5542"/>
                    <a:gd name="T57" fmla="*/ 0 h 844"/>
                    <a:gd name="T58" fmla="*/ 0 w 5542"/>
                    <a:gd name="T59" fmla="*/ 0 h 844"/>
                    <a:gd name="T60" fmla="*/ 0 w 5542"/>
                    <a:gd name="T61" fmla="*/ 0 h 844"/>
                    <a:gd name="T62" fmla="*/ 0 w 5542"/>
                    <a:gd name="T63" fmla="*/ 0 h 844"/>
                    <a:gd name="T64" fmla="*/ 0 w 5542"/>
                    <a:gd name="T65" fmla="*/ 0 h 844"/>
                    <a:gd name="T66" fmla="*/ 0 w 5542"/>
                    <a:gd name="T67" fmla="*/ 0 h 844"/>
                    <a:gd name="T68" fmla="*/ 0 w 5542"/>
                    <a:gd name="T69" fmla="*/ 0 h 844"/>
                    <a:gd name="T70" fmla="*/ 0 w 5542"/>
                    <a:gd name="T71" fmla="*/ 0 h 844"/>
                    <a:gd name="T72" fmla="*/ 0 w 5542"/>
                    <a:gd name="T73" fmla="*/ 0 h 844"/>
                    <a:gd name="T74" fmla="*/ 0 w 5542"/>
                    <a:gd name="T75" fmla="*/ 0 h 844"/>
                    <a:gd name="T76" fmla="*/ 0 w 5542"/>
                    <a:gd name="T77" fmla="*/ 0 h 844"/>
                    <a:gd name="T78" fmla="*/ 0 w 5542"/>
                    <a:gd name="T79" fmla="*/ 0 h 844"/>
                    <a:gd name="T80" fmla="*/ 0 w 5542"/>
                    <a:gd name="T81" fmla="*/ 0 h 844"/>
                    <a:gd name="T82" fmla="*/ 0 w 5542"/>
                    <a:gd name="T83" fmla="*/ 0 h 844"/>
                    <a:gd name="T84" fmla="*/ 0 w 5542"/>
                    <a:gd name="T85" fmla="*/ 0 h 844"/>
                    <a:gd name="T86" fmla="*/ 0 w 5542"/>
                    <a:gd name="T87" fmla="*/ 0 h 844"/>
                    <a:gd name="T88" fmla="*/ 0 w 5542"/>
                    <a:gd name="T89" fmla="*/ 0 h 844"/>
                    <a:gd name="T90" fmla="*/ 0 w 5542"/>
                    <a:gd name="T91" fmla="*/ 0 h 844"/>
                    <a:gd name="T92" fmla="*/ 0 w 5542"/>
                    <a:gd name="T93" fmla="*/ 0 h 844"/>
                    <a:gd name="T94" fmla="*/ 0 w 5542"/>
                    <a:gd name="T95" fmla="*/ 0 h 844"/>
                    <a:gd name="T96" fmla="*/ 0 w 5542"/>
                    <a:gd name="T97" fmla="*/ 0 h 844"/>
                    <a:gd name="T98" fmla="*/ 0 w 5542"/>
                    <a:gd name="T99" fmla="*/ 0 h 844"/>
                    <a:gd name="T100" fmla="*/ 0 w 5542"/>
                    <a:gd name="T101" fmla="*/ 0 h 844"/>
                    <a:gd name="T102" fmla="*/ 0 w 5542"/>
                    <a:gd name="T103" fmla="*/ 0 h 844"/>
                    <a:gd name="T104" fmla="*/ 0 w 5542"/>
                    <a:gd name="T105" fmla="*/ 0 h 844"/>
                    <a:gd name="T106" fmla="*/ 0 w 5542"/>
                    <a:gd name="T107" fmla="*/ 0 h 844"/>
                    <a:gd name="T108" fmla="*/ 0 w 5542"/>
                    <a:gd name="T109" fmla="*/ 0 h 844"/>
                    <a:gd name="T110" fmla="*/ 0 w 5542"/>
                    <a:gd name="T111" fmla="*/ 0 h 844"/>
                    <a:gd name="T112" fmla="*/ 0 w 5542"/>
                    <a:gd name="T113" fmla="*/ 0 h 844"/>
                    <a:gd name="T114" fmla="*/ 0 w 5542"/>
                    <a:gd name="T115" fmla="*/ 0 h 844"/>
                    <a:gd name="T116" fmla="*/ 0 w 5542"/>
                    <a:gd name="T117" fmla="*/ 0 h 844"/>
                    <a:gd name="T118" fmla="*/ 0 w 5542"/>
                    <a:gd name="T119" fmla="*/ 0 h 844"/>
                    <a:gd name="T120" fmla="*/ 0 w 5542"/>
                    <a:gd name="T121" fmla="*/ 0 h 844"/>
                    <a:gd name="T122" fmla="*/ 0 w 5542"/>
                    <a:gd name="T123" fmla="*/ 0 h 844"/>
                    <a:gd name="T124" fmla="*/ 0 w 5542"/>
                    <a:gd name="T125" fmla="*/ 0 h 84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542"/>
                    <a:gd name="T190" fmla="*/ 0 h 844"/>
                    <a:gd name="T191" fmla="*/ 5542 w 5542"/>
                    <a:gd name="T192" fmla="*/ 844 h 84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542" h="844">
                      <a:moveTo>
                        <a:pt x="277" y="0"/>
                      </a:moveTo>
                      <a:lnTo>
                        <a:pt x="33" y="0"/>
                      </a:lnTo>
                      <a:lnTo>
                        <a:pt x="0" y="130"/>
                      </a:lnTo>
                      <a:lnTo>
                        <a:pt x="109" y="130"/>
                      </a:lnTo>
                      <a:lnTo>
                        <a:pt x="109" y="602"/>
                      </a:lnTo>
                      <a:lnTo>
                        <a:pt x="322" y="815"/>
                      </a:lnTo>
                      <a:lnTo>
                        <a:pt x="370" y="837"/>
                      </a:lnTo>
                      <a:lnTo>
                        <a:pt x="411" y="844"/>
                      </a:lnTo>
                      <a:lnTo>
                        <a:pt x="404" y="737"/>
                      </a:lnTo>
                      <a:lnTo>
                        <a:pt x="398" y="609"/>
                      </a:lnTo>
                      <a:lnTo>
                        <a:pt x="427" y="500"/>
                      </a:lnTo>
                      <a:lnTo>
                        <a:pt x="466" y="420"/>
                      </a:lnTo>
                      <a:lnTo>
                        <a:pt x="518" y="349"/>
                      </a:lnTo>
                      <a:lnTo>
                        <a:pt x="593" y="280"/>
                      </a:lnTo>
                      <a:lnTo>
                        <a:pt x="680" y="228"/>
                      </a:lnTo>
                      <a:lnTo>
                        <a:pt x="802" y="196"/>
                      </a:lnTo>
                      <a:lnTo>
                        <a:pt x="962" y="183"/>
                      </a:lnTo>
                      <a:lnTo>
                        <a:pt x="1074" y="212"/>
                      </a:lnTo>
                      <a:lnTo>
                        <a:pt x="1155" y="257"/>
                      </a:lnTo>
                      <a:lnTo>
                        <a:pt x="1223" y="308"/>
                      </a:lnTo>
                      <a:lnTo>
                        <a:pt x="1304" y="389"/>
                      </a:lnTo>
                      <a:lnTo>
                        <a:pt x="1356" y="477"/>
                      </a:lnTo>
                      <a:lnTo>
                        <a:pt x="1390" y="556"/>
                      </a:lnTo>
                      <a:lnTo>
                        <a:pt x="1401" y="632"/>
                      </a:lnTo>
                      <a:lnTo>
                        <a:pt x="1401" y="798"/>
                      </a:lnTo>
                      <a:lnTo>
                        <a:pt x="3822" y="844"/>
                      </a:lnTo>
                      <a:lnTo>
                        <a:pt x="3822" y="684"/>
                      </a:lnTo>
                      <a:lnTo>
                        <a:pt x="3856" y="573"/>
                      </a:lnTo>
                      <a:lnTo>
                        <a:pt x="3895" y="488"/>
                      </a:lnTo>
                      <a:lnTo>
                        <a:pt x="3955" y="408"/>
                      </a:lnTo>
                      <a:lnTo>
                        <a:pt x="4040" y="337"/>
                      </a:lnTo>
                      <a:lnTo>
                        <a:pt x="4127" y="291"/>
                      </a:lnTo>
                      <a:lnTo>
                        <a:pt x="4213" y="264"/>
                      </a:lnTo>
                      <a:lnTo>
                        <a:pt x="4364" y="264"/>
                      </a:lnTo>
                      <a:lnTo>
                        <a:pt x="4444" y="280"/>
                      </a:lnTo>
                      <a:lnTo>
                        <a:pt x="4525" y="315"/>
                      </a:lnTo>
                      <a:lnTo>
                        <a:pt x="4599" y="378"/>
                      </a:lnTo>
                      <a:lnTo>
                        <a:pt x="4669" y="459"/>
                      </a:lnTo>
                      <a:lnTo>
                        <a:pt x="4716" y="556"/>
                      </a:lnTo>
                      <a:lnTo>
                        <a:pt x="4744" y="660"/>
                      </a:lnTo>
                      <a:lnTo>
                        <a:pt x="4744" y="769"/>
                      </a:lnTo>
                      <a:lnTo>
                        <a:pt x="5542" y="766"/>
                      </a:lnTo>
                      <a:lnTo>
                        <a:pt x="5542" y="731"/>
                      </a:lnTo>
                      <a:lnTo>
                        <a:pt x="5516" y="731"/>
                      </a:lnTo>
                      <a:lnTo>
                        <a:pt x="5516" y="679"/>
                      </a:lnTo>
                      <a:lnTo>
                        <a:pt x="5540" y="677"/>
                      </a:lnTo>
                      <a:lnTo>
                        <a:pt x="5540" y="520"/>
                      </a:lnTo>
                      <a:lnTo>
                        <a:pt x="5518" y="488"/>
                      </a:lnTo>
                      <a:lnTo>
                        <a:pt x="5334" y="395"/>
                      </a:lnTo>
                      <a:lnTo>
                        <a:pt x="5130" y="315"/>
                      </a:lnTo>
                      <a:lnTo>
                        <a:pt x="4884" y="240"/>
                      </a:lnTo>
                      <a:lnTo>
                        <a:pt x="4618" y="177"/>
                      </a:lnTo>
                      <a:lnTo>
                        <a:pt x="4373" y="125"/>
                      </a:lnTo>
                      <a:lnTo>
                        <a:pt x="4140" y="84"/>
                      </a:lnTo>
                      <a:lnTo>
                        <a:pt x="4059" y="84"/>
                      </a:lnTo>
                      <a:lnTo>
                        <a:pt x="4006" y="107"/>
                      </a:lnTo>
                      <a:lnTo>
                        <a:pt x="3758" y="143"/>
                      </a:lnTo>
                      <a:lnTo>
                        <a:pt x="3561" y="160"/>
                      </a:lnTo>
                      <a:lnTo>
                        <a:pt x="2527" y="95"/>
                      </a:lnTo>
                      <a:lnTo>
                        <a:pt x="2031" y="56"/>
                      </a:lnTo>
                      <a:lnTo>
                        <a:pt x="1564" y="20"/>
                      </a:lnTo>
                      <a:lnTo>
                        <a:pt x="1328" y="4"/>
                      </a:lnTo>
                      <a:lnTo>
                        <a:pt x="277" y="0"/>
                      </a:lnTo>
                      <a:close/>
                    </a:path>
                  </a:pathLst>
                </a:custGeom>
                <a:solidFill>
                  <a:srgbClr val="FF0000"/>
                </a:solidFill>
                <a:ln w="6350" cmpd="sng">
                  <a:solidFill>
                    <a:srgbClr val="000000"/>
                  </a:solidFill>
                  <a:round/>
                  <a:headEnd/>
                  <a:tailEnd/>
                </a:ln>
              </p:spPr>
              <p:txBody>
                <a:bodyPr/>
                <a:lstStyle/>
                <a:p>
                  <a:endParaRPr lang="zh-CN" altLang="en-US"/>
                </a:p>
              </p:txBody>
            </p:sp>
            <p:sp>
              <p:nvSpPr>
                <p:cNvPr id="69767" name="未知"/>
                <p:cNvSpPr>
                  <a:spLocks/>
                </p:cNvSpPr>
                <p:nvPr/>
              </p:nvSpPr>
              <p:spPr bwMode="auto">
                <a:xfrm>
                  <a:off x="752" y="80"/>
                  <a:ext cx="373" cy="253"/>
                </a:xfrm>
                <a:custGeom>
                  <a:avLst/>
                  <a:gdLst>
                    <a:gd name="T0" fmla="*/ 0 w 1118"/>
                    <a:gd name="T1" fmla="*/ 0 h 760"/>
                    <a:gd name="T2" fmla="*/ 0 w 1118"/>
                    <a:gd name="T3" fmla="*/ 0 h 760"/>
                    <a:gd name="T4" fmla="*/ 0 w 1118"/>
                    <a:gd name="T5" fmla="*/ 0 h 760"/>
                    <a:gd name="T6" fmla="*/ 0 w 1118"/>
                    <a:gd name="T7" fmla="*/ 0 h 760"/>
                    <a:gd name="T8" fmla="*/ 0 w 1118"/>
                    <a:gd name="T9" fmla="*/ 0 h 760"/>
                    <a:gd name="T10" fmla="*/ 0 w 1118"/>
                    <a:gd name="T11" fmla="*/ 0 h 760"/>
                    <a:gd name="T12" fmla="*/ 0 w 1118"/>
                    <a:gd name="T13" fmla="*/ 0 h 760"/>
                    <a:gd name="T14" fmla="*/ 0 w 1118"/>
                    <a:gd name="T15" fmla="*/ 0 h 760"/>
                    <a:gd name="T16" fmla="*/ 0 w 1118"/>
                    <a:gd name="T17" fmla="*/ 0 h 760"/>
                    <a:gd name="T18" fmla="*/ 0 w 1118"/>
                    <a:gd name="T19" fmla="*/ 0 h 760"/>
                    <a:gd name="T20" fmla="*/ 0 w 1118"/>
                    <a:gd name="T21" fmla="*/ 0 h 7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18"/>
                    <a:gd name="T34" fmla="*/ 0 h 760"/>
                    <a:gd name="T35" fmla="*/ 1118 w 1118"/>
                    <a:gd name="T36" fmla="*/ 760 h 76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18" h="760">
                      <a:moveTo>
                        <a:pt x="0" y="0"/>
                      </a:moveTo>
                      <a:lnTo>
                        <a:pt x="0" y="742"/>
                      </a:lnTo>
                      <a:lnTo>
                        <a:pt x="1118" y="760"/>
                      </a:lnTo>
                      <a:lnTo>
                        <a:pt x="1118" y="80"/>
                      </a:lnTo>
                      <a:lnTo>
                        <a:pt x="970" y="65"/>
                      </a:lnTo>
                      <a:lnTo>
                        <a:pt x="766" y="52"/>
                      </a:lnTo>
                      <a:lnTo>
                        <a:pt x="561" y="42"/>
                      </a:lnTo>
                      <a:lnTo>
                        <a:pt x="428" y="30"/>
                      </a:lnTo>
                      <a:lnTo>
                        <a:pt x="298" y="22"/>
                      </a:lnTo>
                      <a:lnTo>
                        <a:pt x="121" y="7"/>
                      </a:lnTo>
                      <a:lnTo>
                        <a:pt x="0" y="0"/>
                      </a:lnTo>
                      <a:close/>
                    </a:path>
                  </a:pathLst>
                </a:custGeom>
                <a:solidFill>
                  <a:srgbClr val="FF0000"/>
                </a:solidFill>
                <a:ln w="6350" cmpd="sng">
                  <a:solidFill>
                    <a:srgbClr val="000000"/>
                  </a:solidFill>
                  <a:round/>
                  <a:headEnd/>
                  <a:tailEnd/>
                </a:ln>
              </p:spPr>
              <p:txBody>
                <a:bodyPr/>
                <a:lstStyle/>
                <a:p>
                  <a:endParaRPr lang="zh-CN" altLang="en-US"/>
                </a:p>
              </p:txBody>
            </p:sp>
            <p:grpSp>
              <p:nvGrpSpPr>
                <p:cNvPr id="69768" name="Group 42"/>
                <p:cNvGrpSpPr>
                  <a:grpSpLocks/>
                </p:cNvGrpSpPr>
                <p:nvPr/>
              </p:nvGrpSpPr>
              <p:grpSpPr bwMode="auto">
                <a:xfrm>
                  <a:off x="452" y="0"/>
                  <a:ext cx="626" cy="287"/>
                  <a:chOff x="0" y="0"/>
                  <a:chExt cx="626" cy="287"/>
                </a:xfrm>
              </p:grpSpPr>
              <p:sp>
                <p:nvSpPr>
                  <p:cNvPr id="69769" name="Oval 43"/>
                  <p:cNvSpPr>
                    <a:spLocks noChangeArrowheads="1"/>
                  </p:cNvSpPr>
                  <p:nvPr/>
                </p:nvSpPr>
                <p:spPr bwMode="auto">
                  <a:xfrm>
                    <a:off x="0" y="0"/>
                    <a:ext cx="71" cy="39"/>
                  </a:xfrm>
                  <a:prstGeom prst="ellipse">
                    <a:avLst/>
                  </a:prstGeom>
                  <a:solidFill>
                    <a:srgbClr val="800000"/>
                  </a:solidFill>
                  <a:ln w="6350">
                    <a:solidFill>
                      <a:srgbClr val="800000"/>
                    </a:solidFill>
                    <a:round/>
                    <a:headEnd/>
                    <a:tailEnd/>
                  </a:ln>
                </p:spPr>
                <p:txBody>
                  <a:bodyPr/>
                  <a:lstStyle/>
                  <a:p>
                    <a:endParaRPr lang="zh-CN" altLang="en-US"/>
                  </a:p>
                </p:txBody>
              </p:sp>
              <p:sp>
                <p:nvSpPr>
                  <p:cNvPr id="69770" name="Oval 44"/>
                  <p:cNvSpPr>
                    <a:spLocks noChangeArrowheads="1"/>
                  </p:cNvSpPr>
                  <p:nvPr/>
                </p:nvSpPr>
                <p:spPr bwMode="auto">
                  <a:xfrm>
                    <a:off x="13" y="13"/>
                    <a:ext cx="10" cy="10"/>
                  </a:xfrm>
                  <a:prstGeom prst="ellipse">
                    <a:avLst/>
                  </a:prstGeom>
                  <a:solidFill>
                    <a:srgbClr val="000000"/>
                  </a:solidFill>
                  <a:ln w="6350">
                    <a:solidFill>
                      <a:srgbClr val="000000"/>
                    </a:solidFill>
                    <a:round/>
                    <a:headEnd/>
                    <a:tailEnd/>
                  </a:ln>
                </p:spPr>
                <p:txBody>
                  <a:bodyPr/>
                  <a:lstStyle/>
                  <a:p>
                    <a:endParaRPr lang="zh-CN" altLang="en-US"/>
                  </a:p>
                </p:txBody>
              </p:sp>
              <p:grpSp>
                <p:nvGrpSpPr>
                  <p:cNvPr id="69771" name="Group 45"/>
                  <p:cNvGrpSpPr>
                    <a:grpSpLocks/>
                  </p:cNvGrpSpPr>
                  <p:nvPr/>
                </p:nvGrpSpPr>
                <p:grpSpPr bwMode="auto">
                  <a:xfrm>
                    <a:off x="231" y="115"/>
                    <a:ext cx="395" cy="172"/>
                    <a:chOff x="0" y="0"/>
                    <a:chExt cx="395" cy="172"/>
                  </a:xfrm>
                </p:grpSpPr>
                <p:sp>
                  <p:nvSpPr>
                    <p:cNvPr id="69772" name="未知"/>
                    <p:cNvSpPr>
                      <a:spLocks/>
                    </p:cNvSpPr>
                    <p:nvPr/>
                  </p:nvSpPr>
                  <p:spPr bwMode="auto">
                    <a:xfrm>
                      <a:off x="0" y="117"/>
                      <a:ext cx="395" cy="55"/>
                    </a:xfrm>
                    <a:custGeom>
                      <a:avLst/>
                      <a:gdLst>
                        <a:gd name="T0" fmla="*/ 0 w 1184"/>
                        <a:gd name="T1" fmla="*/ 0 h 165"/>
                        <a:gd name="T2" fmla="*/ 0 w 1184"/>
                        <a:gd name="T3" fmla="*/ 0 h 165"/>
                        <a:gd name="T4" fmla="*/ 0 w 1184"/>
                        <a:gd name="T5" fmla="*/ 0 h 165"/>
                        <a:gd name="T6" fmla="*/ 0 w 1184"/>
                        <a:gd name="T7" fmla="*/ 0 h 165"/>
                        <a:gd name="T8" fmla="*/ 0 60000 65536"/>
                        <a:gd name="T9" fmla="*/ 0 60000 65536"/>
                        <a:gd name="T10" fmla="*/ 0 60000 65536"/>
                        <a:gd name="T11" fmla="*/ 0 60000 65536"/>
                        <a:gd name="T12" fmla="*/ 0 w 1184"/>
                        <a:gd name="T13" fmla="*/ 0 h 165"/>
                        <a:gd name="T14" fmla="*/ 1184 w 1184"/>
                        <a:gd name="T15" fmla="*/ 165 h 165"/>
                      </a:gdLst>
                      <a:ahLst/>
                      <a:cxnLst>
                        <a:cxn ang="T8">
                          <a:pos x="T0" y="T1"/>
                        </a:cxn>
                        <a:cxn ang="T9">
                          <a:pos x="T2" y="T3"/>
                        </a:cxn>
                        <a:cxn ang="T10">
                          <a:pos x="T4" y="T5"/>
                        </a:cxn>
                        <a:cxn ang="T11">
                          <a:pos x="T6" y="T7"/>
                        </a:cxn>
                      </a:cxnLst>
                      <a:rect l="T12" t="T13" r="T14" b="T15"/>
                      <a:pathLst>
                        <a:path w="1184" h="165">
                          <a:moveTo>
                            <a:pt x="0" y="92"/>
                          </a:moveTo>
                          <a:lnTo>
                            <a:pt x="0" y="165"/>
                          </a:lnTo>
                          <a:lnTo>
                            <a:pt x="1184" y="0"/>
                          </a:lnTo>
                          <a:lnTo>
                            <a:pt x="0" y="92"/>
                          </a:lnTo>
                          <a:close/>
                        </a:path>
                      </a:pathLst>
                    </a:custGeom>
                    <a:solidFill>
                      <a:srgbClr val="800000"/>
                    </a:solidFill>
                    <a:ln w="6350" cmpd="sng">
                      <a:solidFill>
                        <a:srgbClr val="800000"/>
                      </a:solidFill>
                      <a:round/>
                      <a:headEnd/>
                      <a:tailEnd/>
                    </a:ln>
                  </p:spPr>
                  <p:txBody>
                    <a:bodyPr/>
                    <a:lstStyle/>
                    <a:p>
                      <a:endParaRPr lang="zh-CN" altLang="en-US"/>
                    </a:p>
                  </p:txBody>
                </p:sp>
                <p:sp>
                  <p:nvSpPr>
                    <p:cNvPr id="69773" name="未知"/>
                    <p:cNvSpPr>
                      <a:spLocks/>
                    </p:cNvSpPr>
                    <p:nvPr/>
                  </p:nvSpPr>
                  <p:spPr bwMode="auto">
                    <a:xfrm>
                      <a:off x="0" y="0"/>
                      <a:ext cx="390" cy="65"/>
                    </a:xfrm>
                    <a:custGeom>
                      <a:avLst/>
                      <a:gdLst>
                        <a:gd name="T0" fmla="*/ 0 w 1171"/>
                        <a:gd name="T1" fmla="*/ 0 h 195"/>
                        <a:gd name="T2" fmla="*/ 0 w 1171"/>
                        <a:gd name="T3" fmla="*/ 0 h 195"/>
                        <a:gd name="T4" fmla="*/ 0 w 1171"/>
                        <a:gd name="T5" fmla="*/ 0 h 195"/>
                        <a:gd name="T6" fmla="*/ 0 w 1171"/>
                        <a:gd name="T7" fmla="*/ 0 h 195"/>
                        <a:gd name="T8" fmla="*/ 0 60000 65536"/>
                        <a:gd name="T9" fmla="*/ 0 60000 65536"/>
                        <a:gd name="T10" fmla="*/ 0 60000 65536"/>
                        <a:gd name="T11" fmla="*/ 0 60000 65536"/>
                        <a:gd name="T12" fmla="*/ 0 w 1171"/>
                        <a:gd name="T13" fmla="*/ 0 h 195"/>
                        <a:gd name="T14" fmla="*/ 1171 w 1171"/>
                        <a:gd name="T15" fmla="*/ 195 h 195"/>
                      </a:gdLst>
                      <a:ahLst/>
                      <a:cxnLst>
                        <a:cxn ang="T8">
                          <a:pos x="T0" y="T1"/>
                        </a:cxn>
                        <a:cxn ang="T9">
                          <a:pos x="T2" y="T3"/>
                        </a:cxn>
                        <a:cxn ang="T10">
                          <a:pos x="T4" y="T5"/>
                        </a:cxn>
                        <a:cxn ang="T11">
                          <a:pos x="T6" y="T7"/>
                        </a:cxn>
                      </a:cxnLst>
                      <a:rect l="T12" t="T13" r="T14" b="T15"/>
                      <a:pathLst>
                        <a:path w="1171" h="195">
                          <a:moveTo>
                            <a:pt x="0" y="0"/>
                          </a:moveTo>
                          <a:lnTo>
                            <a:pt x="0" y="76"/>
                          </a:lnTo>
                          <a:lnTo>
                            <a:pt x="1171" y="195"/>
                          </a:lnTo>
                          <a:lnTo>
                            <a:pt x="0" y="0"/>
                          </a:lnTo>
                          <a:close/>
                        </a:path>
                      </a:pathLst>
                    </a:custGeom>
                    <a:solidFill>
                      <a:srgbClr val="800000"/>
                    </a:solidFill>
                    <a:ln w="6350" cmpd="sng">
                      <a:solidFill>
                        <a:srgbClr val="800000"/>
                      </a:solidFill>
                      <a:round/>
                      <a:headEnd/>
                      <a:tailEnd/>
                    </a:ln>
                  </p:spPr>
                  <p:txBody>
                    <a:bodyPr/>
                    <a:lstStyle/>
                    <a:p>
                      <a:endParaRPr lang="zh-CN" altLang="en-US"/>
                    </a:p>
                  </p:txBody>
                </p:sp>
                <p:sp>
                  <p:nvSpPr>
                    <p:cNvPr id="69774" name="未知"/>
                    <p:cNvSpPr>
                      <a:spLocks/>
                    </p:cNvSpPr>
                    <p:nvPr/>
                  </p:nvSpPr>
                  <p:spPr bwMode="auto">
                    <a:xfrm>
                      <a:off x="0" y="38"/>
                      <a:ext cx="390" cy="40"/>
                    </a:xfrm>
                    <a:custGeom>
                      <a:avLst/>
                      <a:gdLst>
                        <a:gd name="T0" fmla="*/ 0 w 1171"/>
                        <a:gd name="T1" fmla="*/ 0 h 121"/>
                        <a:gd name="T2" fmla="*/ 0 w 1171"/>
                        <a:gd name="T3" fmla="*/ 0 h 121"/>
                        <a:gd name="T4" fmla="*/ 0 w 1171"/>
                        <a:gd name="T5" fmla="*/ 0 h 121"/>
                        <a:gd name="T6" fmla="*/ 0 w 1171"/>
                        <a:gd name="T7" fmla="*/ 0 h 121"/>
                        <a:gd name="T8" fmla="*/ 0 60000 65536"/>
                        <a:gd name="T9" fmla="*/ 0 60000 65536"/>
                        <a:gd name="T10" fmla="*/ 0 60000 65536"/>
                        <a:gd name="T11" fmla="*/ 0 60000 65536"/>
                        <a:gd name="T12" fmla="*/ 0 w 1171"/>
                        <a:gd name="T13" fmla="*/ 0 h 121"/>
                        <a:gd name="T14" fmla="*/ 1171 w 1171"/>
                        <a:gd name="T15" fmla="*/ 121 h 121"/>
                      </a:gdLst>
                      <a:ahLst/>
                      <a:cxnLst>
                        <a:cxn ang="T8">
                          <a:pos x="T0" y="T1"/>
                        </a:cxn>
                        <a:cxn ang="T9">
                          <a:pos x="T2" y="T3"/>
                        </a:cxn>
                        <a:cxn ang="T10">
                          <a:pos x="T4" y="T5"/>
                        </a:cxn>
                        <a:cxn ang="T11">
                          <a:pos x="T6" y="T7"/>
                        </a:cxn>
                      </a:cxnLst>
                      <a:rect l="T12" t="T13" r="T14" b="T15"/>
                      <a:pathLst>
                        <a:path w="1171" h="121">
                          <a:moveTo>
                            <a:pt x="0" y="0"/>
                          </a:moveTo>
                          <a:lnTo>
                            <a:pt x="0" y="75"/>
                          </a:lnTo>
                          <a:lnTo>
                            <a:pt x="1171" y="121"/>
                          </a:lnTo>
                          <a:lnTo>
                            <a:pt x="0" y="0"/>
                          </a:lnTo>
                          <a:close/>
                        </a:path>
                      </a:pathLst>
                    </a:custGeom>
                    <a:solidFill>
                      <a:srgbClr val="800000"/>
                    </a:solidFill>
                    <a:ln w="6350" cmpd="sng">
                      <a:solidFill>
                        <a:srgbClr val="800000"/>
                      </a:solidFill>
                      <a:round/>
                      <a:headEnd/>
                      <a:tailEnd/>
                    </a:ln>
                  </p:spPr>
                  <p:txBody>
                    <a:bodyPr/>
                    <a:lstStyle/>
                    <a:p>
                      <a:endParaRPr lang="zh-CN" altLang="en-US"/>
                    </a:p>
                  </p:txBody>
                </p:sp>
                <p:sp>
                  <p:nvSpPr>
                    <p:cNvPr id="69775" name="未知"/>
                    <p:cNvSpPr>
                      <a:spLocks/>
                    </p:cNvSpPr>
                    <p:nvPr/>
                  </p:nvSpPr>
                  <p:spPr bwMode="auto">
                    <a:xfrm>
                      <a:off x="0" y="75"/>
                      <a:ext cx="395" cy="25"/>
                    </a:xfrm>
                    <a:custGeom>
                      <a:avLst/>
                      <a:gdLst>
                        <a:gd name="T0" fmla="*/ 0 w 1184"/>
                        <a:gd name="T1" fmla="*/ 0 h 75"/>
                        <a:gd name="T2" fmla="*/ 0 w 1184"/>
                        <a:gd name="T3" fmla="*/ 0 h 75"/>
                        <a:gd name="T4" fmla="*/ 0 w 1184"/>
                        <a:gd name="T5" fmla="*/ 0 h 75"/>
                        <a:gd name="T6" fmla="*/ 0 w 1184"/>
                        <a:gd name="T7" fmla="*/ 0 h 75"/>
                        <a:gd name="T8" fmla="*/ 0 60000 65536"/>
                        <a:gd name="T9" fmla="*/ 0 60000 65536"/>
                        <a:gd name="T10" fmla="*/ 0 60000 65536"/>
                        <a:gd name="T11" fmla="*/ 0 60000 65536"/>
                        <a:gd name="T12" fmla="*/ 0 w 1184"/>
                        <a:gd name="T13" fmla="*/ 0 h 75"/>
                        <a:gd name="T14" fmla="*/ 1184 w 1184"/>
                        <a:gd name="T15" fmla="*/ 75 h 75"/>
                      </a:gdLst>
                      <a:ahLst/>
                      <a:cxnLst>
                        <a:cxn ang="T8">
                          <a:pos x="T0" y="T1"/>
                        </a:cxn>
                        <a:cxn ang="T9">
                          <a:pos x="T2" y="T3"/>
                        </a:cxn>
                        <a:cxn ang="T10">
                          <a:pos x="T4" y="T5"/>
                        </a:cxn>
                        <a:cxn ang="T11">
                          <a:pos x="T6" y="T7"/>
                        </a:cxn>
                      </a:cxnLst>
                      <a:rect l="T12" t="T13" r="T14" b="T15"/>
                      <a:pathLst>
                        <a:path w="1184" h="75">
                          <a:moveTo>
                            <a:pt x="0" y="0"/>
                          </a:moveTo>
                          <a:lnTo>
                            <a:pt x="0" y="75"/>
                          </a:lnTo>
                          <a:lnTo>
                            <a:pt x="1184" y="45"/>
                          </a:lnTo>
                          <a:lnTo>
                            <a:pt x="0" y="0"/>
                          </a:lnTo>
                          <a:close/>
                        </a:path>
                      </a:pathLst>
                    </a:custGeom>
                    <a:solidFill>
                      <a:srgbClr val="800000"/>
                    </a:solidFill>
                    <a:ln w="6350" cmpd="sng">
                      <a:solidFill>
                        <a:srgbClr val="800000"/>
                      </a:solidFill>
                      <a:round/>
                      <a:headEnd/>
                      <a:tailEnd/>
                    </a:ln>
                  </p:spPr>
                  <p:txBody>
                    <a:bodyPr/>
                    <a:lstStyle/>
                    <a:p>
                      <a:endParaRPr lang="zh-CN" altLang="en-US"/>
                    </a:p>
                  </p:txBody>
                </p:sp>
                <p:sp>
                  <p:nvSpPr>
                    <p:cNvPr id="69776" name="未知"/>
                    <p:cNvSpPr>
                      <a:spLocks/>
                    </p:cNvSpPr>
                    <p:nvPr/>
                  </p:nvSpPr>
                  <p:spPr bwMode="auto">
                    <a:xfrm>
                      <a:off x="0" y="103"/>
                      <a:ext cx="395" cy="33"/>
                    </a:xfrm>
                    <a:custGeom>
                      <a:avLst/>
                      <a:gdLst>
                        <a:gd name="T0" fmla="*/ 0 w 1184"/>
                        <a:gd name="T1" fmla="*/ 0 h 98"/>
                        <a:gd name="T2" fmla="*/ 0 w 1184"/>
                        <a:gd name="T3" fmla="*/ 0 h 98"/>
                        <a:gd name="T4" fmla="*/ 0 w 1184"/>
                        <a:gd name="T5" fmla="*/ 0 h 98"/>
                        <a:gd name="T6" fmla="*/ 0 w 1184"/>
                        <a:gd name="T7" fmla="*/ 0 h 98"/>
                        <a:gd name="T8" fmla="*/ 0 60000 65536"/>
                        <a:gd name="T9" fmla="*/ 0 60000 65536"/>
                        <a:gd name="T10" fmla="*/ 0 60000 65536"/>
                        <a:gd name="T11" fmla="*/ 0 60000 65536"/>
                        <a:gd name="T12" fmla="*/ 0 w 1184"/>
                        <a:gd name="T13" fmla="*/ 0 h 98"/>
                        <a:gd name="T14" fmla="*/ 1184 w 1184"/>
                        <a:gd name="T15" fmla="*/ 98 h 98"/>
                      </a:gdLst>
                      <a:ahLst/>
                      <a:cxnLst>
                        <a:cxn ang="T8">
                          <a:pos x="T0" y="T1"/>
                        </a:cxn>
                        <a:cxn ang="T9">
                          <a:pos x="T2" y="T3"/>
                        </a:cxn>
                        <a:cxn ang="T10">
                          <a:pos x="T4" y="T5"/>
                        </a:cxn>
                        <a:cxn ang="T11">
                          <a:pos x="T6" y="T7"/>
                        </a:cxn>
                      </a:cxnLst>
                      <a:rect l="T12" t="T13" r="T14" b="T15"/>
                      <a:pathLst>
                        <a:path w="1184" h="98">
                          <a:moveTo>
                            <a:pt x="0" y="23"/>
                          </a:moveTo>
                          <a:lnTo>
                            <a:pt x="0" y="98"/>
                          </a:lnTo>
                          <a:lnTo>
                            <a:pt x="1184" y="0"/>
                          </a:lnTo>
                          <a:lnTo>
                            <a:pt x="0" y="23"/>
                          </a:lnTo>
                          <a:close/>
                        </a:path>
                      </a:pathLst>
                    </a:custGeom>
                    <a:solidFill>
                      <a:srgbClr val="800000"/>
                    </a:solidFill>
                    <a:ln w="6350" cmpd="sng">
                      <a:solidFill>
                        <a:srgbClr val="800000"/>
                      </a:solidFill>
                      <a:round/>
                      <a:headEnd/>
                      <a:tailEnd/>
                    </a:ln>
                  </p:spPr>
                  <p:txBody>
                    <a:bodyPr/>
                    <a:lstStyle/>
                    <a:p>
                      <a:endParaRPr lang="zh-CN" altLang="en-US"/>
                    </a:p>
                  </p:txBody>
                </p:sp>
              </p:grpSp>
            </p:grpSp>
          </p:grpSp>
        </p:grpSp>
        <p:grpSp>
          <p:nvGrpSpPr>
            <p:cNvPr id="69741" name="Group 51"/>
            <p:cNvGrpSpPr>
              <a:grpSpLocks/>
            </p:cNvGrpSpPr>
            <p:nvPr/>
          </p:nvGrpSpPr>
          <p:grpSpPr bwMode="auto">
            <a:xfrm>
              <a:off x="163" y="189"/>
              <a:ext cx="1424" cy="294"/>
              <a:chOff x="0" y="0"/>
              <a:chExt cx="1424" cy="294"/>
            </a:xfrm>
          </p:grpSpPr>
          <p:grpSp>
            <p:nvGrpSpPr>
              <p:cNvPr id="69742" name="Group 52"/>
              <p:cNvGrpSpPr>
                <a:grpSpLocks/>
              </p:cNvGrpSpPr>
              <p:nvPr/>
            </p:nvGrpSpPr>
            <p:grpSpPr bwMode="auto">
              <a:xfrm>
                <a:off x="1132" y="0"/>
                <a:ext cx="292" cy="294"/>
                <a:chOff x="0" y="0"/>
                <a:chExt cx="292" cy="294"/>
              </a:xfrm>
            </p:grpSpPr>
            <p:sp>
              <p:nvSpPr>
                <p:cNvPr id="69753" name="Oval 53"/>
                <p:cNvSpPr>
                  <a:spLocks noChangeArrowheads="1"/>
                </p:cNvSpPr>
                <p:nvPr/>
              </p:nvSpPr>
              <p:spPr bwMode="auto">
                <a:xfrm>
                  <a:off x="0" y="0"/>
                  <a:ext cx="292" cy="294"/>
                </a:xfrm>
                <a:prstGeom prst="ellipse">
                  <a:avLst/>
                </a:prstGeom>
                <a:solidFill>
                  <a:srgbClr val="000000"/>
                </a:solidFill>
                <a:ln w="6350">
                  <a:solidFill>
                    <a:srgbClr val="000000"/>
                  </a:solidFill>
                  <a:round/>
                  <a:headEnd/>
                  <a:tailEnd/>
                </a:ln>
              </p:spPr>
              <p:txBody>
                <a:bodyPr/>
                <a:lstStyle/>
                <a:p>
                  <a:endParaRPr lang="zh-CN" altLang="en-US"/>
                </a:p>
              </p:txBody>
            </p:sp>
            <p:sp>
              <p:nvSpPr>
                <p:cNvPr id="69754" name="未知"/>
                <p:cNvSpPr>
                  <a:spLocks/>
                </p:cNvSpPr>
                <p:nvPr/>
              </p:nvSpPr>
              <p:spPr bwMode="auto">
                <a:xfrm>
                  <a:off x="122" y="191"/>
                  <a:ext cx="52" cy="63"/>
                </a:xfrm>
                <a:custGeom>
                  <a:avLst/>
                  <a:gdLst>
                    <a:gd name="T0" fmla="*/ 0 w 154"/>
                    <a:gd name="T1" fmla="*/ 0 h 189"/>
                    <a:gd name="T2" fmla="*/ 0 w 154"/>
                    <a:gd name="T3" fmla="*/ 0 h 189"/>
                    <a:gd name="T4" fmla="*/ 0 w 154"/>
                    <a:gd name="T5" fmla="*/ 0 h 189"/>
                    <a:gd name="T6" fmla="*/ 0 w 154"/>
                    <a:gd name="T7" fmla="*/ 0 h 189"/>
                    <a:gd name="T8" fmla="*/ 0 w 154"/>
                    <a:gd name="T9" fmla="*/ 0 h 189"/>
                    <a:gd name="T10" fmla="*/ 0 w 154"/>
                    <a:gd name="T11" fmla="*/ 0 h 189"/>
                    <a:gd name="T12" fmla="*/ 0 60000 65536"/>
                    <a:gd name="T13" fmla="*/ 0 60000 65536"/>
                    <a:gd name="T14" fmla="*/ 0 60000 65536"/>
                    <a:gd name="T15" fmla="*/ 0 60000 65536"/>
                    <a:gd name="T16" fmla="*/ 0 60000 65536"/>
                    <a:gd name="T17" fmla="*/ 0 60000 65536"/>
                    <a:gd name="T18" fmla="*/ 0 w 154"/>
                    <a:gd name="T19" fmla="*/ 0 h 189"/>
                    <a:gd name="T20" fmla="*/ 154 w 154"/>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154" h="189">
                      <a:moveTo>
                        <a:pt x="0" y="176"/>
                      </a:moveTo>
                      <a:lnTo>
                        <a:pt x="60" y="0"/>
                      </a:lnTo>
                      <a:lnTo>
                        <a:pt x="96" y="0"/>
                      </a:lnTo>
                      <a:lnTo>
                        <a:pt x="154" y="182"/>
                      </a:lnTo>
                      <a:lnTo>
                        <a:pt x="79" y="189"/>
                      </a:lnTo>
                      <a:lnTo>
                        <a:pt x="0" y="176"/>
                      </a:lnTo>
                      <a:close/>
                    </a:path>
                  </a:pathLst>
                </a:custGeom>
                <a:solidFill>
                  <a:srgbClr val="FF0000"/>
                </a:solidFill>
                <a:ln w="6350" cmpd="sng">
                  <a:solidFill>
                    <a:srgbClr val="000000"/>
                  </a:solidFill>
                  <a:round/>
                  <a:headEnd/>
                  <a:tailEnd/>
                </a:ln>
              </p:spPr>
              <p:txBody>
                <a:bodyPr/>
                <a:lstStyle/>
                <a:p>
                  <a:endParaRPr lang="zh-CN" altLang="en-US"/>
                </a:p>
              </p:txBody>
            </p:sp>
            <p:sp>
              <p:nvSpPr>
                <p:cNvPr id="69755" name="未知"/>
                <p:cNvSpPr>
                  <a:spLocks/>
                </p:cNvSpPr>
                <p:nvPr/>
              </p:nvSpPr>
              <p:spPr bwMode="auto">
                <a:xfrm>
                  <a:off x="120" y="39"/>
                  <a:ext cx="52" cy="63"/>
                </a:xfrm>
                <a:custGeom>
                  <a:avLst/>
                  <a:gdLst>
                    <a:gd name="T0" fmla="*/ 0 w 156"/>
                    <a:gd name="T1" fmla="*/ 0 h 189"/>
                    <a:gd name="T2" fmla="*/ 0 w 156"/>
                    <a:gd name="T3" fmla="*/ 0 h 189"/>
                    <a:gd name="T4" fmla="*/ 0 w 156"/>
                    <a:gd name="T5" fmla="*/ 0 h 189"/>
                    <a:gd name="T6" fmla="*/ 0 w 156"/>
                    <a:gd name="T7" fmla="*/ 0 h 189"/>
                    <a:gd name="T8" fmla="*/ 0 w 156"/>
                    <a:gd name="T9" fmla="*/ 0 h 189"/>
                    <a:gd name="T10" fmla="*/ 0 w 156"/>
                    <a:gd name="T11" fmla="*/ 0 h 189"/>
                    <a:gd name="T12" fmla="*/ 0 60000 65536"/>
                    <a:gd name="T13" fmla="*/ 0 60000 65536"/>
                    <a:gd name="T14" fmla="*/ 0 60000 65536"/>
                    <a:gd name="T15" fmla="*/ 0 60000 65536"/>
                    <a:gd name="T16" fmla="*/ 0 60000 65536"/>
                    <a:gd name="T17" fmla="*/ 0 60000 65536"/>
                    <a:gd name="T18" fmla="*/ 0 w 156"/>
                    <a:gd name="T19" fmla="*/ 0 h 189"/>
                    <a:gd name="T20" fmla="*/ 156 w 156"/>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156" h="189">
                      <a:moveTo>
                        <a:pt x="0" y="13"/>
                      </a:moveTo>
                      <a:lnTo>
                        <a:pt x="62" y="189"/>
                      </a:lnTo>
                      <a:lnTo>
                        <a:pt x="98" y="189"/>
                      </a:lnTo>
                      <a:lnTo>
                        <a:pt x="156" y="8"/>
                      </a:lnTo>
                      <a:lnTo>
                        <a:pt x="80" y="0"/>
                      </a:lnTo>
                      <a:lnTo>
                        <a:pt x="0" y="13"/>
                      </a:lnTo>
                      <a:close/>
                    </a:path>
                  </a:pathLst>
                </a:custGeom>
                <a:solidFill>
                  <a:srgbClr val="FF0000"/>
                </a:solidFill>
                <a:ln w="6350" cmpd="sng">
                  <a:solidFill>
                    <a:srgbClr val="000000"/>
                  </a:solidFill>
                  <a:round/>
                  <a:headEnd/>
                  <a:tailEnd/>
                </a:ln>
              </p:spPr>
              <p:txBody>
                <a:bodyPr/>
                <a:lstStyle/>
                <a:p>
                  <a:endParaRPr lang="zh-CN" altLang="en-US"/>
                </a:p>
              </p:txBody>
            </p:sp>
            <p:sp>
              <p:nvSpPr>
                <p:cNvPr id="69756" name="未知"/>
                <p:cNvSpPr>
                  <a:spLocks/>
                </p:cNvSpPr>
                <p:nvPr/>
              </p:nvSpPr>
              <p:spPr bwMode="auto">
                <a:xfrm>
                  <a:off x="189" y="120"/>
                  <a:ext cx="63" cy="51"/>
                </a:xfrm>
                <a:custGeom>
                  <a:avLst/>
                  <a:gdLst>
                    <a:gd name="T0" fmla="*/ 0 w 188"/>
                    <a:gd name="T1" fmla="*/ 0 h 153"/>
                    <a:gd name="T2" fmla="*/ 0 w 188"/>
                    <a:gd name="T3" fmla="*/ 0 h 153"/>
                    <a:gd name="T4" fmla="*/ 0 w 188"/>
                    <a:gd name="T5" fmla="*/ 0 h 153"/>
                    <a:gd name="T6" fmla="*/ 0 w 188"/>
                    <a:gd name="T7" fmla="*/ 0 h 153"/>
                    <a:gd name="T8" fmla="*/ 0 w 188"/>
                    <a:gd name="T9" fmla="*/ 0 h 153"/>
                    <a:gd name="T10" fmla="*/ 0 w 188"/>
                    <a:gd name="T11" fmla="*/ 0 h 153"/>
                    <a:gd name="T12" fmla="*/ 0 60000 65536"/>
                    <a:gd name="T13" fmla="*/ 0 60000 65536"/>
                    <a:gd name="T14" fmla="*/ 0 60000 65536"/>
                    <a:gd name="T15" fmla="*/ 0 60000 65536"/>
                    <a:gd name="T16" fmla="*/ 0 60000 65536"/>
                    <a:gd name="T17" fmla="*/ 0 60000 65536"/>
                    <a:gd name="T18" fmla="*/ 0 w 188"/>
                    <a:gd name="T19" fmla="*/ 0 h 153"/>
                    <a:gd name="T20" fmla="*/ 188 w 188"/>
                    <a:gd name="T21" fmla="*/ 153 h 153"/>
                  </a:gdLst>
                  <a:ahLst/>
                  <a:cxnLst>
                    <a:cxn ang="T12">
                      <a:pos x="T0" y="T1"/>
                    </a:cxn>
                    <a:cxn ang="T13">
                      <a:pos x="T2" y="T3"/>
                    </a:cxn>
                    <a:cxn ang="T14">
                      <a:pos x="T4" y="T5"/>
                    </a:cxn>
                    <a:cxn ang="T15">
                      <a:pos x="T6" y="T7"/>
                    </a:cxn>
                    <a:cxn ang="T16">
                      <a:pos x="T8" y="T9"/>
                    </a:cxn>
                    <a:cxn ang="T17">
                      <a:pos x="T10" y="T11"/>
                    </a:cxn>
                  </a:cxnLst>
                  <a:rect l="T18" t="T19" r="T20" b="T21"/>
                  <a:pathLst>
                    <a:path w="188" h="153">
                      <a:moveTo>
                        <a:pt x="174" y="0"/>
                      </a:moveTo>
                      <a:lnTo>
                        <a:pt x="0" y="61"/>
                      </a:lnTo>
                      <a:lnTo>
                        <a:pt x="0" y="97"/>
                      </a:lnTo>
                      <a:lnTo>
                        <a:pt x="179" y="153"/>
                      </a:lnTo>
                      <a:lnTo>
                        <a:pt x="188" y="80"/>
                      </a:lnTo>
                      <a:lnTo>
                        <a:pt x="174" y="0"/>
                      </a:lnTo>
                      <a:close/>
                    </a:path>
                  </a:pathLst>
                </a:custGeom>
                <a:solidFill>
                  <a:srgbClr val="FF0000"/>
                </a:solidFill>
                <a:ln w="6350" cmpd="sng">
                  <a:solidFill>
                    <a:srgbClr val="000000"/>
                  </a:solidFill>
                  <a:round/>
                  <a:headEnd/>
                  <a:tailEnd/>
                </a:ln>
              </p:spPr>
              <p:txBody>
                <a:bodyPr/>
                <a:lstStyle/>
                <a:p>
                  <a:endParaRPr lang="zh-CN" altLang="en-US"/>
                </a:p>
              </p:txBody>
            </p:sp>
            <p:sp>
              <p:nvSpPr>
                <p:cNvPr id="69757" name="未知"/>
                <p:cNvSpPr>
                  <a:spLocks/>
                </p:cNvSpPr>
                <p:nvPr/>
              </p:nvSpPr>
              <p:spPr bwMode="auto">
                <a:xfrm>
                  <a:off x="40" y="120"/>
                  <a:ext cx="62" cy="51"/>
                </a:xfrm>
                <a:custGeom>
                  <a:avLst/>
                  <a:gdLst>
                    <a:gd name="T0" fmla="*/ 0 w 187"/>
                    <a:gd name="T1" fmla="*/ 0 h 153"/>
                    <a:gd name="T2" fmla="*/ 0 w 187"/>
                    <a:gd name="T3" fmla="*/ 0 h 153"/>
                    <a:gd name="T4" fmla="*/ 0 w 187"/>
                    <a:gd name="T5" fmla="*/ 0 h 153"/>
                    <a:gd name="T6" fmla="*/ 0 w 187"/>
                    <a:gd name="T7" fmla="*/ 0 h 153"/>
                    <a:gd name="T8" fmla="*/ 0 w 187"/>
                    <a:gd name="T9" fmla="*/ 0 h 153"/>
                    <a:gd name="T10" fmla="*/ 0 w 187"/>
                    <a:gd name="T11" fmla="*/ 0 h 153"/>
                    <a:gd name="T12" fmla="*/ 0 60000 65536"/>
                    <a:gd name="T13" fmla="*/ 0 60000 65536"/>
                    <a:gd name="T14" fmla="*/ 0 60000 65536"/>
                    <a:gd name="T15" fmla="*/ 0 60000 65536"/>
                    <a:gd name="T16" fmla="*/ 0 60000 65536"/>
                    <a:gd name="T17" fmla="*/ 0 60000 65536"/>
                    <a:gd name="T18" fmla="*/ 0 w 187"/>
                    <a:gd name="T19" fmla="*/ 0 h 153"/>
                    <a:gd name="T20" fmla="*/ 187 w 187"/>
                    <a:gd name="T21" fmla="*/ 153 h 153"/>
                  </a:gdLst>
                  <a:ahLst/>
                  <a:cxnLst>
                    <a:cxn ang="T12">
                      <a:pos x="T0" y="T1"/>
                    </a:cxn>
                    <a:cxn ang="T13">
                      <a:pos x="T2" y="T3"/>
                    </a:cxn>
                    <a:cxn ang="T14">
                      <a:pos x="T4" y="T5"/>
                    </a:cxn>
                    <a:cxn ang="T15">
                      <a:pos x="T6" y="T7"/>
                    </a:cxn>
                    <a:cxn ang="T16">
                      <a:pos x="T8" y="T9"/>
                    </a:cxn>
                    <a:cxn ang="T17">
                      <a:pos x="T10" y="T11"/>
                    </a:cxn>
                  </a:cxnLst>
                  <a:rect l="T18" t="T19" r="T20" b="T21"/>
                  <a:pathLst>
                    <a:path w="187" h="153">
                      <a:moveTo>
                        <a:pt x="13" y="0"/>
                      </a:moveTo>
                      <a:lnTo>
                        <a:pt x="187" y="61"/>
                      </a:lnTo>
                      <a:lnTo>
                        <a:pt x="187" y="97"/>
                      </a:lnTo>
                      <a:lnTo>
                        <a:pt x="7" y="153"/>
                      </a:lnTo>
                      <a:lnTo>
                        <a:pt x="0" y="80"/>
                      </a:lnTo>
                      <a:lnTo>
                        <a:pt x="13" y="0"/>
                      </a:lnTo>
                      <a:close/>
                    </a:path>
                  </a:pathLst>
                </a:custGeom>
                <a:solidFill>
                  <a:srgbClr val="FF0000"/>
                </a:solidFill>
                <a:ln w="6350" cmpd="sng">
                  <a:solidFill>
                    <a:srgbClr val="000000"/>
                  </a:solidFill>
                  <a:round/>
                  <a:headEnd/>
                  <a:tailEnd/>
                </a:ln>
              </p:spPr>
              <p:txBody>
                <a:bodyPr/>
                <a:lstStyle/>
                <a:p>
                  <a:endParaRPr lang="zh-CN" altLang="en-US"/>
                </a:p>
              </p:txBody>
            </p:sp>
            <p:sp>
              <p:nvSpPr>
                <p:cNvPr id="69758" name="Oval 58"/>
                <p:cNvSpPr>
                  <a:spLocks noChangeArrowheads="1"/>
                </p:cNvSpPr>
                <p:nvPr/>
              </p:nvSpPr>
              <p:spPr bwMode="auto">
                <a:xfrm>
                  <a:off x="39" y="37"/>
                  <a:ext cx="212" cy="215"/>
                </a:xfrm>
                <a:prstGeom prst="ellipse">
                  <a:avLst/>
                </a:prstGeom>
                <a:noFill/>
                <a:ln w="11113">
                  <a:solidFill>
                    <a:srgbClr val="FFFFFF"/>
                  </a:solidFill>
                  <a:round/>
                  <a:headEnd/>
                  <a:tailEnd/>
                </a:ln>
              </p:spPr>
              <p:txBody>
                <a:bodyPr/>
                <a:lstStyle/>
                <a:p>
                  <a:endParaRPr lang="zh-CN" altLang="en-US"/>
                </a:p>
              </p:txBody>
            </p:sp>
            <p:grpSp>
              <p:nvGrpSpPr>
                <p:cNvPr id="69759" name="Group 59"/>
                <p:cNvGrpSpPr>
                  <a:grpSpLocks/>
                </p:cNvGrpSpPr>
                <p:nvPr/>
              </p:nvGrpSpPr>
              <p:grpSpPr bwMode="auto">
                <a:xfrm>
                  <a:off x="105" y="103"/>
                  <a:ext cx="80" cy="83"/>
                  <a:chOff x="0" y="0"/>
                  <a:chExt cx="80" cy="83"/>
                </a:xfrm>
              </p:grpSpPr>
              <p:sp>
                <p:nvSpPr>
                  <p:cNvPr id="69760" name="Oval 60"/>
                  <p:cNvSpPr>
                    <a:spLocks noChangeArrowheads="1"/>
                  </p:cNvSpPr>
                  <p:nvPr/>
                </p:nvSpPr>
                <p:spPr bwMode="auto">
                  <a:xfrm>
                    <a:off x="0" y="0"/>
                    <a:ext cx="80" cy="83"/>
                  </a:xfrm>
                  <a:prstGeom prst="ellipse">
                    <a:avLst/>
                  </a:prstGeom>
                  <a:solidFill>
                    <a:srgbClr val="000000"/>
                  </a:solidFill>
                  <a:ln w="11113">
                    <a:solidFill>
                      <a:srgbClr val="FFFFFF"/>
                    </a:solidFill>
                    <a:round/>
                    <a:headEnd/>
                    <a:tailEnd/>
                  </a:ln>
                </p:spPr>
                <p:txBody>
                  <a:bodyPr/>
                  <a:lstStyle/>
                  <a:p>
                    <a:endParaRPr lang="zh-CN" altLang="en-US"/>
                  </a:p>
                </p:txBody>
              </p:sp>
              <p:sp>
                <p:nvSpPr>
                  <p:cNvPr id="69761" name="Oval 61"/>
                  <p:cNvSpPr>
                    <a:spLocks noChangeArrowheads="1"/>
                  </p:cNvSpPr>
                  <p:nvPr/>
                </p:nvSpPr>
                <p:spPr bwMode="auto">
                  <a:xfrm>
                    <a:off x="16" y="18"/>
                    <a:ext cx="47" cy="49"/>
                  </a:xfrm>
                  <a:prstGeom prst="ellipse">
                    <a:avLst/>
                  </a:prstGeom>
                  <a:solidFill>
                    <a:srgbClr val="000000"/>
                  </a:solidFill>
                  <a:ln w="11113">
                    <a:solidFill>
                      <a:srgbClr val="FFFFFF"/>
                    </a:solidFill>
                    <a:round/>
                    <a:headEnd/>
                    <a:tailEnd/>
                  </a:ln>
                </p:spPr>
                <p:txBody>
                  <a:bodyPr/>
                  <a:lstStyle/>
                  <a:p>
                    <a:endParaRPr lang="zh-CN" altLang="en-US"/>
                  </a:p>
                </p:txBody>
              </p:sp>
            </p:grpSp>
          </p:grpSp>
          <p:grpSp>
            <p:nvGrpSpPr>
              <p:cNvPr id="69743" name="Group 62"/>
              <p:cNvGrpSpPr>
                <a:grpSpLocks/>
              </p:cNvGrpSpPr>
              <p:nvPr/>
            </p:nvGrpSpPr>
            <p:grpSpPr bwMode="auto">
              <a:xfrm>
                <a:off x="0" y="0"/>
                <a:ext cx="292" cy="294"/>
                <a:chOff x="0" y="0"/>
                <a:chExt cx="292" cy="294"/>
              </a:xfrm>
            </p:grpSpPr>
            <p:sp>
              <p:nvSpPr>
                <p:cNvPr id="69744" name="Oval 63"/>
                <p:cNvSpPr>
                  <a:spLocks noChangeArrowheads="1"/>
                </p:cNvSpPr>
                <p:nvPr/>
              </p:nvSpPr>
              <p:spPr bwMode="auto">
                <a:xfrm>
                  <a:off x="0" y="0"/>
                  <a:ext cx="292" cy="294"/>
                </a:xfrm>
                <a:prstGeom prst="ellipse">
                  <a:avLst/>
                </a:prstGeom>
                <a:solidFill>
                  <a:srgbClr val="000000"/>
                </a:solidFill>
                <a:ln w="6350">
                  <a:solidFill>
                    <a:srgbClr val="000000"/>
                  </a:solidFill>
                  <a:round/>
                  <a:headEnd/>
                  <a:tailEnd/>
                </a:ln>
              </p:spPr>
              <p:txBody>
                <a:bodyPr/>
                <a:lstStyle/>
                <a:p>
                  <a:endParaRPr lang="zh-CN" altLang="en-US"/>
                </a:p>
              </p:txBody>
            </p:sp>
            <p:sp>
              <p:nvSpPr>
                <p:cNvPr id="69745" name="未知"/>
                <p:cNvSpPr>
                  <a:spLocks/>
                </p:cNvSpPr>
                <p:nvPr/>
              </p:nvSpPr>
              <p:spPr bwMode="auto">
                <a:xfrm>
                  <a:off x="123" y="191"/>
                  <a:ext cx="51" cy="63"/>
                </a:xfrm>
                <a:custGeom>
                  <a:avLst/>
                  <a:gdLst>
                    <a:gd name="T0" fmla="*/ 0 w 152"/>
                    <a:gd name="T1" fmla="*/ 0 h 189"/>
                    <a:gd name="T2" fmla="*/ 0 w 152"/>
                    <a:gd name="T3" fmla="*/ 0 h 189"/>
                    <a:gd name="T4" fmla="*/ 0 w 152"/>
                    <a:gd name="T5" fmla="*/ 0 h 189"/>
                    <a:gd name="T6" fmla="*/ 0 w 152"/>
                    <a:gd name="T7" fmla="*/ 0 h 189"/>
                    <a:gd name="T8" fmla="*/ 0 w 152"/>
                    <a:gd name="T9" fmla="*/ 0 h 189"/>
                    <a:gd name="T10" fmla="*/ 0 w 152"/>
                    <a:gd name="T11" fmla="*/ 0 h 189"/>
                    <a:gd name="T12" fmla="*/ 0 60000 65536"/>
                    <a:gd name="T13" fmla="*/ 0 60000 65536"/>
                    <a:gd name="T14" fmla="*/ 0 60000 65536"/>
                    <a:gd name="T15" fmla="*/ 0 60000 65536"/>
                    <a:gd name="T16" fmla="*/ 0 60000 65536"/>
                    <a:gd name="T17" fmla="*/ 0 60000 65536"/>
                    <a:gd name="T18" fmla="*/ 0 w 152"/>
                    <a:gd name="T19" fmla="*/ 0 h 189"/>
                    <a:gd name="T20" fmla="*/ 152 w 152"/>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152" h="189">
                      <a:moveTo>
                        <a:pt x="0" y="176"/>
                      </a:moveTo>
                      <a:lnTo>
                        <a:pt x="58" y="0"/>
                      </a:lnTo>
                      <a:lnTo>
                        <a:pt x="95" y="0"/>
                      </a:lnTo>
                      <a:lnTo>
                        <a:pt x="152" y="182"/>
                      </a:lnTo>
                      <a:lnTo>
                        <a:pt x="78" y="189"/>
                      </a:lnTo>
                      <a:lnTo>
                        <a:pt x="0" y="176"/>
                      </a:lnTo>
                      <a:close/>
                    </a:path>
                  </a:pathLst>
                </a:custGeom>
                <a:solidFill>
                  <a:srgbClr val="FF0000"/>
                </a:solidFill>
                <a:ln w="6350" cmpd="sng">
                  <a:solidFill>
                    <a:srgbClr val="000000"/>
                  </a:solidFill>
                  <a:round/>
                  <a:headEnd/>
                  <a:tailEnd/>
                </a:ln>
              </p:spPr>
              <p:txBody>
                <a:bodyPr/>
                <a:lstStyle/>
                <a:p>
                  <a:endParaRPr lang="zh-CN" altLang="en-US"/>
                </a:p>
              </p:txBody>
            </p:sp>
            <p:sp>
              <p:nvSpPr>
                <p:cNvPr id="69746" name="未知"/>
                <p:cNvSpPr>
                  <a:spLocks/>
                </p:cNvSpPr>
                <p:nvPr/>
              </p:nvSpPr>
              <p:spPr bwMode="auto">
                <a:xfrm>
                  <a:off x="120" y="39"/>
                  <a:ext cx="53" cy="63"/>
                </a:xfrm>
                <a:custGeom>
                  <a:avLst/>
                  <a:gdLst>
                    <a:gd name="T0" fmla="*/ 0 w 158"/>
                    <a:gd name="T1" fmla="*/ 0 h 189"/>
                    <a:gd name="T2" fmla="*/ 0 w 158"/>
                    <a:gd name="T3" fmla="*/ 0 h 189"/>
                    <a:gd name="T4" fmla="*/ 0 w 158"/>
                    <a:gd name="T5" fmla="*/ 0 h 189"/>
                    <a:gd name="T6" fmla="*/ 0 w 158"/>
                    <a:gd name="T7" fmla="*/ 0 h 189"/>
                    <a:gd name="T8" fmla="*/ 0 w 158"/>
                    <a:gd name="T9" fmla="*/ 0 h 189"/>
                    <a:gd name="T10" fmla="*/ 0 w 158"/>
                    <a:gd name="T11" fmla="*/ 0 h 189"/>
                    <a:gd name="T12" fmla="*/ 0 60000 65536"/>
                    <a:gd name="T13" fmla="*/ 0 60000 65536"/>
                    <a:gd name="T14" fmla="*/ 0 60000 65536"/>
                    <a:gd name="T15" fmla="*/ 0 60000 65536"/>
                    <a:gd name="T16" fmla="*/ 0 60000 65536"/>
                    <a:gd name="T17" fmla="*/ 0 60000 65536"/>
                    <a:gd name="T18" fmla="*/ 0 w 158"/>
                    <a:gd name="T19" fmla="*/ 0 h 189"/>
                    <a:gd name="T20" fmla="*/ 158 w 158"/>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158" h="189">
                      <a:moveTo>
                        <a:pt x="0" y="13"/>
                      </a:moveTo>
                      <a:lnTo>
                        <a:pt x="63" y="189"/>
                      </a:lnTo>
                      <a:lnTo>
                        <a:pt x="101" y="189"/>
                      </a:lnTo>
                      <a:lnTo>
                        <a:pt x="158" y="8"/>
                      </a:lnTo>
                      <a:lnTo>
                        <a:pt x="82" y="0"/>
                      </a:lnTo>
                      <a:lnTo>
                        <a:pt x="0" y="13"/>
                      </a:lnTo>
                      <a:close/>
                    </a:path>
                  </a:pathLst>
                </a:custGeom>
                <a:solidFill>
                  <a:srgbClr val="FF0000"/>
                </a:solidFill>
                <a:ln w="6350" cmpd="sng">
                  <a:solidFill>
                    <a:srgbClr val="000000"/>
                  </a:solidFill>
                  <a:round/>
                  <a:headEnd/>
                  <a:tailEnd/>
                </a:ln>
              </p:spPr>
              <p:txBody>
                <a:bodyPr/>
                <a:lstStyle/>
                <a:p>
                  <a:endParaRPr lang="zh-CN" altLang="en-US"/>
                </a:p>
              </p:txBody>
            </p:sp>
            <p:sp>
              <p:nvSpPr>
                <p:cNvPr id="69747" name="未知"/>
                <p:cNvSpPr>
                  <a:spLocks/>
                </p:cNvSpPr>
                <p:nvPr/>
              </p:nvSpPr>
              <p:spPr bwMode="auto">
                <a:xfrm>
                  <a:off x="190" y="120"/>
                  <a:ext cx="63" cy="51"/>
                </a:xfrm>
                <a:custGeom>
                  <a:avLst/>
                  <a:gdLst>
                    <a:gd name="T0" fmla="*/ 0 w 189"/>
                    <a:gd name="T1" fmla="*/ 0 h 153"/>
                    <a:gd name="T2" fmla="*/ 0 w 189"/>
                    <a:gd name="T3" fmla="*/ 0 h 153"/>
                    <a:gd name="T4" fmla="*/ 0 w 189"/>
                    <a:gd name="T5" fmla="*/ 0 h 153"/>
                    <a:gd name="T6" fmla="*/ 0 w 189"/>
                    <a:gd name="T7" fmla="*/ 0 h 153"/>
                    <a:gd name="T8" fmla="*/ 0 w 189"/>
                    <a:gd name="T9" fmla="*/ 0 h 153"/>
                    <a:gd name="T10" fmla="*/ 0 w 189"/>
                    <a:gd name="T11" fmla="*/ 0 h 153"/>
                    <a:gd name="T12" fmla="*/ 0 60000 65536"/>
                    <a:gd name="T13" fmla="*/ 0 60000 65536"/>
                    <a:gd name="T14" fmla="*/ 0 60000 65536"/>
                    <a:gd name="T15" fmla="*/ 0 60000 65536"/>
                    <a:gd name="T16" fmla="*/ 0 60000 65536"/>
                    <a:gd name="T17" fmla="*/ 0 60000 65536"/>
                    <a:gd name="T18" fmla="*/ 0 w 189"/>
                    <a:gd name="T19" fmla="*/ 0 h 153"/>
                    <a:gd name="T20" fmla="*/ 189 w 189"/>
                    <a:gd name="T21" fmla="*/ 153 h 153"/>
                  </a:gdLst>
                  <a:ahLst/>
                  <a:cxnLst>
                    <a:cxn ang="T12">
                      <a:pos x="T0" y="T1"/>
                    </a:cxn>
                    <a:cxn ang="T13">
                      <a:pos x="T2" y="T3"/>
                    </a:cxn>
                    <a:cxn ang="T14">
                      <a:pos x="T4" y="T5"/>
                    </a:cxn>
                    <a:cxn ang="T15">
                      <a:pos x="T6" y="T7"/>
                    </a:cxn>
                    <a:cxn ang="T16">
                      <a:pos x="T8" y="T9"/>
                    </a:cxn>
                    <a:cxn ang="T17">
                      <a:pos x="T10" y="T11"/>
                    </a:cxn>
                  </a:cxnLst>
                  <a:rect l="T18" t="T19" r="T20" b="T21"/>
                  <a:pathLst>
                    <a:path w="189" h="153">
                      <a:moveTo>
                        <a:pt x="175" y="0"/>
                      </a:moveTo>
                      <a:lnTo>
                        <a:pt x="0" y="61"/>
                      </a:lnTo>
                      <a:lnTo>
                        <a:pt x="0" y="97"/>
                      </a:lnTo>
                      <a:lnTo>
                        <a:pt x="181" y="153"/>
                      </a:lnTo>
                      <a:lnTo>
                        <a:pt x="189" y="80"/>
                      </a:lnTo>
                      <a:lnTo>
                        <a:pt x="175" y="0"/>
                      </a:lnTo>
                      <a:close/>
                    </a:path>
                  </a:pathLst>
                </a:custGeom>
                <a:solidFill>
                  <a:srgbClr val="FF0000"/>
                </a:solidFill>
                <a:ln w="6350" cmpd="sng">
                  <a:solidFill>
                    <a:srgbClr val="000000"/>
                  </a:solidFill>
                  <a:round/>
                  <a:headEnd/>
                  <a:tailEnd/>
                </a:ln>
              </p:spPr>
              <p:txBody>
                <a:bodyPr/>
                <a:lstStyle/>
                <a:p>
                  <a:endParaRPr lang="zh-CN" altLang="en-US"/>
                </a:p>
              </p:txBody>
            </p:sp>
            <p:sp>
              <p:nvSpPr>
                <p:cNvPr id="69748" name="未知"/>
                <p:cNvSpPr>
                  <a:spLocks/>
                </p:cNvSpPr>
                <p:nvPr/>
              </p:nvSpPr>
              <p:spPr bwMode="auto">
                <a:xfrm>
                  <a:off x="40" y="120"/>
                  <a:ext cx="63" cy="51"/>
                </a:xfrm>
                <a:custGeom>
                  <a:avLst/>
                  <a:gdLst>
                    <a:gd name="T0" fmla="*/ 0 w 188"/>
                    <a:gd name="T1" fmla="*/ 0 h 153"/>
                    <a:gd name="T2" fmla="*/ 0 w 188"/>
                    <a:gd name="T3" fmla="*/ 0 h 153"/>
                    <a:gd name="T4" fmla="*/ 0 w 188"/>
                    <a:gd name="T5" fmla="*/ 0 h 153"/>
                    <a:gd name="T6" fmla="*/ 0 w 188"/>
                    <a:gd name="T7" fmla="*/ 0 h 153"/>
                    <a:gd name="T8" fmla="*/ 0 w 188"/>
                    <a:gd name="T9" fmla="*/ 0 h 153"/>
                    <a:gd name="T10" fmla="*/ 0 w 188"/>
                    <a:gd name="T11" fmla="*/ 0 h 153"/>
                    <a:gd name="T12" fmla="*/ 0 60000 65536"/>
                    <a:gd name="T13" fmla="*/ 0 60000 65536"/>
                    <a:gd name="T14" fmla="*/ 0 60000 65536"/>
                    <a:gd name="T15" fmla="*/ 0 60000 65536"/>
                    <a:gd name="T16" fmla="*/ 0 60000 65536"/>
                    <a:gd name="T17" fmla="*/ 0 60000 65536"/>
                    <a:gd name="T18" fmla="*/ 0 w 188"/>
                    <a:gd name="T19" fmla="*/ 0 h 153"/>
                    <a:gd name="T20" fmla="*/ 188 w 188"/>
                    <a:gd name="T21" fmla="*/ 153 h 153"/>
                  </a:gdLst>
                  <a:ahLst/>
                  <a:cxnLst>
                    <a:cxn ang="T12">
                      <a:pos x="T0" y="T1"/>
                    </a:cxn>
                    <a:cxn ang="T13">
                      <a:pos x="T2" y="T3"/>
                    </a:cxn>
                    <a:cxn ang="T14">
                      <a:pos x="T4" y="T5"/>
                    </a:cxn>
                    <a:cxn ang="T15">
                      <a:pos x="T6" y="T7"/>
                    </a:cxn>
                    <a:cxn ang="T16">
                      <a:pos x="T8" y="T9"/>
                    </a:cxn>
                    <a:cxn ang="T17">
                      <a:pos x="T10" y="T11"/>
                    </a:cxn>
                  </a:cxnLst>
                  <a:rect l="T18" t="T19" r="T20" b="T21"/>
                  <a:pathLst>
                    <a:path w="188" h="153">
                      <a:moveTo>
                        <a:pt x="13" y="0"/>
                      </a:moveTo>
                      <a:lnTo>
                        <a:pt x="188" y="61"/>
                      </a:lnTo>
                      <a:lnTo>
                        <a:pt x="188" y="97"/>
                      </a:lnTo>
                      <a:lnTo>
                        <a:pt x="8" y="153"/>
                      </a:lnTo>
                      <a:lnTo>
                        <a:pt x="0" y="80"/>
                      </a:lnTo>
                      <a:lnTo>
                        <a:pt x="13" y="0"/>
                      </a:lnTo>
                      <a:close/>
                    </a:path>
                  </a:pathLst>
                </a:custGeom>
                <a:solidFill>
                  <a:srgbClr val="FF0000"/>
                </a:solidFill>
                <a:ln w="6350" cmpd="sng">
                  <a:solidFill>
                    <a:srgbClr val="000000"/>
                  </a:solidFill>
                  <a:round/>
                  <a:headEnd/>
                  <a:tailEnd/>
                </a:ln>
              </p:spPr>
              <p:txBody>
                <a:bodyPr/>
                <a:lstStyle/>
                <a:p>
                  <a:endParaRPr lang="zh-CN" altLang="en-US"/>
                </a:p>
              </p:txBody>
            </p:sp>
            <p:sp>
              <p:nvSpPr>
                <p:cNvPr id="69749" name="Oval 68"/>
                <p:cNvSpPr>
                  <a:spLocks noChangeArrowheads="1"/>
                </p:cNvSpPr>
                <p:nvPr/>
              </p:nvSpPr>
              <p:spPr bwMode="auto">
                <a:xfrm>
                  <a:off x="39" y="37"/>
                  <a:ext cx="212" cy="215"/>
                </a:xfrm>
                <a:prstGeom prst="ellipse">
                  <a:avLst/>
                </a:prstGeom>
                <a:noFill/>
                <a:ln w="11113">
                  <a:solidFill>
                    <a:srgbClr val="FFFFFF"/>
                  </a:solidFill>
                  <a:round/>
                  <a:headEnd/>
                  <a:tailEnd/>
                </a:ln>
              </p:spPr>
              <p:txBody>
                <a:bodyPr/>
                <a:lstStyle/>
                <a:p>
                  <a:endParaRPr lang="zh-CN" altLang="en-US"/>
                </a:p>
              </p:txBody>
            </p:sp>
            <p:grpSp>
              <p:nvGrpSpPr>
                <p:cNvPr id="69750" name="Group 69"/>
                <p:cNvGrpSpPr>
                  <a:grpSpLocks/>
                </p:cNvGrpSpPr>
                <p:nvPr/>
              </p:nvGrpSpPr>
              <p:grpSpPr bwMode="auto">
                <a:xfrm>
                  <a:off x="105" y="103"/>
                  <a:ext cx="81" cy="83"/>
                  <a:chOff x="0" y="0"/>
                  <a:chExt cx="81" cy="83"/>
                </a:xfrm>
              </p:grpSpPr>
              <p:sp>
                <p:nvSpPr>
                  <p:cNvPr id="69751" name="Oval 70"/>
                  <p:cNvSpPr>
                    <a:spLocks noChangeArrowheads="1"/>
                  </p:cNvSpPr>
                  <p:nvPr/>
                </p:nvSpPr>
                <p:spPr bwMode="auto">
                  <a:xfrm>
                    <a:off x="0" y="0"/>
                    <a:ext cx="81" cy="83"/>
                  </a:xfrm>
                  <a:prstGeom prst="ellipse">
                    <a:avLst/>
                  </a:prstGeom>
                  <a:solidFill>
                    <a:srgbClr val="000000"/>
                  </a:solidFill>
                  <a:ln w="11113">
                    <a:solidFill>
                      <a:srgbClr val="FFFFFF"/>
                    </a:solidFill>
                    <a:round/>
                    <a:headEnd/>
                    <a:tailEnd/>
                  </a:ln>
                </p:spPr>
                <p:txBody>
                  <a:bodyPr/>
                  <a:lstStyle/>
                  <a:p>
                    <a:endParaRPr lang="zh-CN" altLang="en-US"/>
                  </a:p>
                </p:txBody>
              </p:sp>
              <p:sp>
                <p:nvSpPr>
                  <p:cNvPr id="69752" name="Oval 71"/>
                  <p:cNvSpPr>
                    <a:spLocks noChangeArrowheads="1"/>
                  </p:cNvSpPr>
                  <p:nvPr/>
                </p:nvSpPr>
                <p:spPr bwMode="auto">
                  <a:xfrm>
                    <a:off x="17" y="18"/>
                    <a:ext cx="46" cy="49"/>
                  </a:xfrm>
                  <a:prstGeom prst="ellipse">
                    <a:avLst/>
                  </a:prstGeom>
                  <a:solidFill>
                    <a:srgbClr val="000000"/>
                  </a:solidFill>
                  <a:ln w="11113">
                    <a:solidFill>
                      <a:srgbClr val="FFFFFF"/>
                    </a:solidFill>
                    <a:round/>
                    <a:headEnd/>
                    <a:tailEnd/>
                  </a:ln>
                </p:spPr>
                <p:txBody>
                  <a:bodyPr/>
                  <a:lstStyle/>
                  <a:p>
                    <a:endParaRPr lang="zh-CN" altLang="en-US"/>
                  </a:p>
                </p:txBody>
              </p:sp>
            </p:grpSp>
          </p:grpSp>
        </p:grpSp>
      </p:grpSp>
      <p:graphicFrame>
        <p:nvGraphicFramePr>
          <p:cNvPr id="69728" name="Object 96"/>
          <p:cNvGraphicFramePr>
            <a:graphicFrameLocks noChangeAspect="1"/>
          </p:cNvGraphicFramePr>
          <p:nvPr/>
        </p:nvGraphicFramePr>
        <p:xfrm>
          <a:off x="4343400" y="2112963"/>
          <a:ext cx="474663" cy="457200"/>
        </p:xfrm>
        <a:graphic>
          <a:graphicData uri="http://schemas.openxmlformats.org/presentationml/2006/ole">
            <p:oleObj spid="_x0000_s69728" r:id="rId9" imgW="177646" imgH="228402" progId="Equation.3">
              <p:embed/>
            </p:oleObj>
          </a:graphicData>
        </a:graphic>
      </p:graphicFrame>
      <p:graphicFrame>
        <p:nvGraphicFramePr>
          <p:cNvPr id="69729" name="Object 97"/>
          <p:cNvGraphicFramePr>
            <a:graphicFrameLocks noChangeAspect="1"/>
          </p:cNvGraphicFramePr>
          <p:nvPr/>
        </p:nvGraphicFramePr>
        <p:xfrm>
          <a:off x="4191000" y="3284538"/>
          <a:ext cx="439738" cy="457200"/>
        </p:xfrm>
        <a:graphic>
          <a:graphicData uri="http://schemas.openxmlformats.org/presentationml/2006/ole">
            <p:oleObj spid="_x0000_s69729" r:id="rId10" imgW="165028" imgH="228501" progId="Equation.3">
              <p:embed/>
            </p:oleObj>
          </a:graphicData>
        </a:graphic>
      </p:graphicFrame>
      <p:sp>
        <p:nvSpPr>
          <p:cNvPr id="74" name="Text Box 2"/>
          <p:cNvSpPr>
            <a:spLocks noChangeArrowheads="1"/>
          </p:cNvSpPr>
          <p:nvPr/>
        </p:nvSpPr>
        <p:spPr bwMode="auto">
          <a:xfrm>
            <a:off x="828675" y="874713"/>
            <a:ext cx="1439863" cy="400050"/>
          </a:xfrm>
          <a:prstGeom prst="homePlate">
            <a:avLst>
              <a:gd name="adj" fmla="val 49672"/>
            </a:avLst>
          </a:prstGeom>
          <a:solidFill>
            <a:srgbClr val="539A84"/>
          </a:solidFill>
          <a:ln w="9525">
            <a:noFill/>
            <a:miter lim="800000"/>
            <a:headEnd/>
            <a:tailEnd/>
          </a:ln>
        </p:spPr>
        <p:txBody>
          <a:bodyPr>
            <a:spAutoFit/>
          </a:bodyPr>
          <a:lstStyle/>
          <a:p>
            <a:r>
              <a:rPr lang="zh-CN" altLang="en-US" sz="2000" b="1">
                <a:solidFill>
                  <a:srgbClr val="0000FF"/>
                </a:solidFill>
                <a:latin typeface="华文中宋"/>
                <a:ea typeface="华文中宋"/>
                <a:cs typeface="华文中宋"/>
              </a:rPr>
              <a:t>四、讨论</a:t>
            </a:r>
          </a:p>
        </p:txBody>
      </p:sp>
    </p:spTree>
    <p:custDataLst>
      <p:tags r:id="rId2"/>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left)">
                                      <p:cBhvr>
                                        <p:cTn id="7" dur="500"/>
                                        <p:tgtEl>
                                          <p:spTgt spid="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61805"/>
                                        </p:tgtEl>
                                        <p:attrNameLst>
                                          <p:attrName>style.visibility</p:attrName>
                                        </p:attrNameLst>
                                      </p:cBhvr>
                                      <p:to>
                                        <p:strVal val="visible"/>
                                      </p:to>
                                    </p:set>
                                    <p:animEffect transition="in" filter="wipe(left)">
                                      <p:cBhvr>
                                        <p:cTn id="12" dur="500"/>
                                        <p:tgtEl>
                                          <p:spTgt spid="1618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688" name="Group 2"/>
          <p:cNvGrpSpPr>
            <a:grpSpLocks/>
          </p:cNvGrpSpPr>
          <p:nvPr/>
        </p:nvGrpSpPr>
        <p:grpSpPr bwMode="auto">
          <a:xfrm>
            <a:off x="2506663" y="1095375"/>
            <a:ext cx="2209800" cy="971550"/>
            <a:chOff x="0" y="0"/>
            <a:chExt cx="1392" cy="816"/>
          </a:xfrm>
        </p:grpSpPr>
        <p:sp>
          <p:nvSpPr>
            <p:cNvPr id="162819" name="Rectangle 3"/>
            <p:cNvSpPr>
              <a:spLocks noChangeArrowheads="1"/>
            </p:cNvSpPr>
            <p:nvPr/>
          </p:nvSpPr>
          <p:spPr bwMode="auto">
            <a:xfrm>
              <a:off x="0" y="0"/>
              <a:ext cx="1392" cy="816"/>
            </a:xfrm>
            <a:prstGeom prst="rect">
              <a:avLst/>
            </a:prstGeom>
            <a:gradFill rotWithShape="1">
              <a:gsLst>
                <a:gs pos="0">
                  <a:srgbClr val="FFFF99">
                    <a:alpha val="85999"/>
                  </a:srgbClr>
                </a:gs>
                <a:gs pos="50000">
                  <a:srgbClr val="FFFF99">
                    <a:gamma/>
                    <a:tint val="63529"/>
                    <a:invGamma/>
                  </a:srgbClr>
                </a:gs>
                <a:gs pos="100000">
                  <a:srgbClr val="FFFF99">
                    <a:alpha val="85999"/>
                  </a:srgbClr>
                </a:gs>
              </a:gsLst>
              <a:lin ang="5400000" scaled="1"/>
            </a:gradFill>
            <a:ln w="38100" cmpd="dbl">
              <a:solidFill>
                <a:srgbClr val="00FFFF"/>
              </a:solidFill>
              <a:miter lim="800000"/>
              <a:headEnd/>
              <a:tailEnd/>
            </a:ln>
            <a:effectLst/>
          </p:spPr>
          <p:txBody>
            <a:bodyPr wrap="none" anchor="ctr"/>
            <a:lstStyle/>
            <a:p>
              <a:pPr>
                <a:defRPr/>
              </a:pPr>
              <a:endParaRPr lang="zh-CN" altLang="en-US">
                <a:ea typeface="宋体" pitchFamily="2" charset="-122"/>
              </a:endParaRPr>
            </a:p>
          </p:txBody>
        </p:sp>
        <p:graphicFrame>
          <p:nvGraphicFramePr>
            <p:cNvPr id="70684" name="Object 28"/>
            <p:cNvGraphicFramePr>
              <a:graphicFrameLocks noChangeAspect="1"/>
            </p:cNvGraphicFramePr>
            <p:nvPr/>
          </p:nvGraphicFramePr>
          <p:xfrm>
            <a:off x="64" y="16"/>
            <a:ext cx="1248" cy="740"/>
          </p:xfrm>
          <a:graphic>
            <a:graphicData uri="http://schemas.openxmlformats.org/presentationml/2006/ole">
              <p:oleObj spid="_x0000_s70684" r:id="rId4" imgW="787400" imgH="431800" progId="Equation.3">
                <p:embed/>
              </p:oleObj>
            </a:graphicData>
          </a:graphic>
        </p:graphicFrame>
      </p:grpSp>
      <p:grpSp>
        <p:nvGrpSpPr>
          <p:cNvPr id="3" name="Group 5"/>
          <p:cNvGrpSpPr>
            <a:grpSpLocks/>
          </p:cNvGrpSpPr>
          <p:nvPr/>
        </p:nvGrpSpPr>
        <p:grpSpPr bwMode="auto">
          <a:xfrm>
            <a:off x="1066800" y="2465388"/>
            <a:ext cx="5181600" cy="611187"/>
            <a:chOff x="0" y="-182"/>
            <a:chExt cx="3264" cy="513"/>
          </a:xfrm>
        </p:grpSpPr>
        <p:graphicFrame>
          <p:nvGraphicFramePr>
            <p:cNvPr id="70685" name="Object 29"/>
            <p:cNvGraphicFramePr>
              <a:graphicFrameLocks noChangeAspect="1"/>
            </p:cNvGraphicFramePr>
            <p:nvPr/>
          </p:nvGraphicFramePr>
          <p:xfrm>
            <a:off x="860" y="-182"/>
            <a:ext cx="940" cy="513"/>
          </p:xfrm>
          <a:graphic>
            <a:graphicData uri="http://schemas.openxmlformats.org/presentationml/2006/ole">
              <p:oleObj spid="_x0000_s70685" r:id="rId5" imgW="419100" imgH="228600" progId="Equation.3">
                <p:embed/>
              </p:oleObj>
            </a:graphicData>
          </a:graphic>
        </p:graphicFrame>
        <p:sp>
          <p:nvSpPr>
            <p:cNvPr id="70694" name="Text Box 7"/>
            <p:cNvSpPr txBox="1">
              <a:spLocks noChangeArrowheads="1"/>
            </p:cNvSpPr>
            <p:nvPr/>
          </p:nvSpPr>
          <p:spPr bwMode="auto">
            <a:xfrm>
              <a:off x="0" y="-92"/>
              <a:ext cx="3264" cy="310"/>
            </a:xfrm>
            <a:prstGeom prst="rect">
              <a:avLst/>
            </a:prstGeom>
            <a:noFill/>
            <a:ln w="9525">
              <a:noFill/>
              <a:miter lim="800000"/>
              <a:headEnd/>
              <a:tailEnd/>
            </a:ln>
          </p:spPr>
          <p:txBody>
            <a:bodyPr>
              <a:spAutoFit/>
            </a:bodyPr>
            <a:lstStyle/>
            <a:p>
              <a:r>
                <a:rPr kumimoji="0" lang="zh-CN" altLang="en-US" sz="1800" b="1">
                  <a:solidFill>
                    <a:srgbClr val="FF3300"/>
                  </a:solidFill>
                  <a:latin typeface="黑体" pitchFamily="49" charset="-122"/>
                  <a:ea typeface="黑体" pitchFamily="49" charset="-122"/>
                </a:rPr>
                <a:t>问题</a:t>
              </a:r>
              <a:r>
                <a:rPr kumimoji="0" lang="en-US" altLang="zh-CN" sz="1800" b="1">
                  <a:solidFill>
                    <a:srgbClr val="FF3300"/>
                  </a:solidFill>
                  <a:latin typeface="黑体" pitchFamily="49" charset="-122"/>
                  <a:ea typeface="黑体" pitchFamily="49" charset="-122"/>
                </a:rPr>
                <a:t>1</a:t>
              </a:r>
              <a:r>
                <a:rPr kumimoji="0" lang="zh-CN" altLang="en-US" sz="1800" b="1">
                  <a:latin typeface="黑体" pitchFamily="49" charset="-122"/>
                  <a:ea typeface="黑体" pitchFamily="49" charset="-122"/>
                </a:rPr>
                <a:t>：如果            时，</a:t>
              </a:r>
            </a:p>
          </p:txBody>
        </p:sp>
      </p:grpSp>
      <p:grpSp>
        <p:nvGrpSpPr>
          <p:cNvPr id="4" name="Group 8"/>
          <p:cNvGrpSpPr>
            <a:grpSpLocks/>
          </p:cNvGrpSpPr>
          <p:nvPr/>
        </p:nvGrpSpPr>
        <p:grpSpPr bwMode="auto">
          <a:xfrm>
            <a:off x="1066800" y="3111500"/>
            <a:ext cx="5181600" cy="612775"/>
            <a:chOff x="0" y="-181"/>
            <a:chExt cx="3264" cy="513"/>
          </a:xfrm>
        </p:grpSpPr>
        <p:graphicFrame>
          <p:nvGraphicFramePr>
            <p:cNvPr id="70686" name="Object 30"/>
            <p:cNvGraphicFramePr>
              <a:graphicFrameLocks noChangeAspect="1"/>
            </p:cNvGraphicFramePr>
            <p:nvPr/>
          </p:nvGraphicFramePr>
          <p:xfrm>
            <a:off x="847" y="-181"/>
            <a:ext cx="940" cy="513"/>
          </p:xfrm>
          <a:graphic>
            <a:graphicData uri="http://schemas.openxmlformats.org/presentationml/2006/ole">
              <p:oleObj spid="_x0000_s70686" r:id="rId6" imgW="419100" imgH="228600" progId="Equation.3">
                <p:embed/>
              </p:oleObj>
            </a:graphicData>
          </a:graphic>
        </p:graphicFrame>
        <p:sp>
          <p:nvSpPr>
            <p:cNvPr id="70693" name="Text Box 10"/>
            <p:cNvSpPr txBox="1">
              <a:spLocks noChangeArrowheads="1"/>
            </p:cNvSpPr>
            <p:nvPr/>
          </p:nvSpPr>
          <p:spPr bwMode="auto">
            <a:xfrm>
              <a:off x="0" y="-91"/>
              <a:ext cx="3264" cy="310"/>
            </a:xfrm>
            <a:prstGeom prst="rect">
              <a:avLst/>
            </a:prstGeom>
            <a:noFill/>
            <a:ln w="9525">
              <a:noFill/>
              <a:miter lim="800000"/>
              <a:headEnd/>
              <a:tailEnd/>
            </a:ln>
          </p:spPr>
          <p:txBody>
            <a:bodyPr>
              <a:spAutoFit/>
            </a:bodyPr>
            <a:lstStyle/>
            <a:p>
              <a:r>
                <a:rPr kumimoji="0" lang="zh-CN" altLang="en-US" sz="1800" b="1">
                  <a:solidFill>
                    <a:srgbClr val="FF3300"/>
                  </a:solidFill>
                  <a:latin typeface="黑体" pitchFamily="49" charset="-122"/>
                  <a:ea typeface="黑体" pitchFamily="49" charset="-122"/>
                </a:rPr>
                <a:t>问题</a:t>
              </a:r>
              <a:r>
                <a:rPr kumimoji="0" lang="en-US" altLang="zh-CN" sz="1800" b="1">
                  <a:solidFill>
                    <a:srgbClr val="FF3300"/>
                  </a:solidFill>
                  <a:latin typeface="黑体" pitchFamily="49" charset="-122"/>
                  <a:ea typeface="黑体" pitchFamily="49" charset="-122"/>
                </a:rPr>
                <a:t>2</a:t>
              </a:r>
              <a:r>
                <a:rPr kumimoji="0" lang="zh-CN" altLang="en-US" sz="1800" b="1">
                  <a:latin typeface="黑体" pitchFamily="49" charset="-122"/>
                  <a:ea typeface="黑体" pitchFamily="49" charset="-122"/>
                </a:rPr>
                <a:t>：如果            时，</a:t>
              </a:r>
            </a:p>
          </p:txBody>
        </p:sp>
      </p:grpSp>
      <p:graphicFrame>
        <p:nvGraphicFramePr>
          <p:cNvPr id="162827" name="Object 31"/>
          <p:cNvGraphicFramePr>
            <a:graphicFrameLocks noGrp="1" noChangeAspect="1"/>
          </p:cNvGraphicFramePr>
          <p:nvPr>
            <p:ph sz="half" idx="4294967295"/>
          </p:nvPr>
        </p:nvGraphicFramePr>
        <p:xfrm>
          <a:off x="4284663" y="3148013"/>
          <a:ext cx="949325" cy="442912"/>
        </p:xfrm>
        <a:graphic>
          <a:graphicData uri="http://schemas.openxmlformats.org/presentationml/2006/ole">
            <p:oleObj spid="_x0000_s70687" r:id="rId7" imgW="380670" imgH="177646" progId="Equation.3">
              <p:embed/>
            </p:oleObj>
          </a:graphicData>
        </a:graphic>
      </p:graphicFrame>
      <p:sp>
        <p:nvSpPr>
          <p:cNvPr id="162828" name="Text Box 12"/>
          <p:cNvSpPr txBox="1">
            <a:spLocks noChangeArrowheads="1"/>
          </p:cNvSpPr>
          <p:nvPr/>
        </p:nvSpPr>
        <p:spPr bwMode="auto">
          <a:xfrm>
            <a:off x="712788" y="1039813"/>
            <a:ext cx="1009650" cy="369887"/>
          </a:xfrm>
          <a:prstGeom prst="rect">
            <a:avLst/>
          </a:prstGeom>
          <a:noFill/>
          <a:ln w="9525">
            <a:noFill/>
            <a:miter lim="800000"/>
            <a:headEnd/>
            <a:tailEnd/>
          </a:ln>
          <a:effectLst/>
        </p:spPr>
        <p:txBody>
          <a:bodyPr wrap="none">
            <a:spAutoFit/>
          </a:bodyPr>
          <a:lstStyle/>
          <a:p>
            <a:pPr>
              <a:defRPr/>
            </a:pPr>
            <a:r>
              <a:rPr kumimoji="0" lang="en-US" altLang="zh-CN" sz="1800" b="1" dirty="0">
                <a:effectLst>
                  <a:outerShdw blurRad="38100" dist="38100" dir="2700000" algn="tl">
                    <a:srgbClr val="C0C0C0"/>
                  </a:outerShdw>
                </a:effectLst>
                <a:latin typeface="华文中宋" pitchFamily="2" charset="-122"/>
                <a:ea typeface="华文中宋" pitchFamily="2" charset="-122"/>
              </a:rPr>
              <a:t> 2. </a:t>
            </a:r>
            <a:r>
              <a:rPr kumimoji="0" lang="zh-CN" altLang="en-US" sz="1800" b="1" dirty="0">
                <a:effectLst>
                  <a:outerShdw blurRad="38100" dist="38100" dir="2700000" algn="tl">
                    <a:srgbClr val="C0C0C0"/>
                  </a:outerShdw>
                </a:effectLst>
                <a:latin typeface="华文中宋" pitchFamily="2" charset="-122"/>
                <a:ea typeface="华文中宋" pitchFamily="2" charset="-122"/>
              </a:rPr>
              <a:t>思考</a:t>
            </a:r>
          </a:p>
        </p:txBody>
      </p:sp>
      <p:sp>
        <p:nvSpPr>
          <p:cNvPr id="162829" name="Text Box 13"/>
          <p:cNvSpPr txBox="1">
            <a:spLocks noChangeArrowheads="1"/>
          </p:cNvSpPr>
          <p:nvPr/>
        </p:nvSpPr>
        <p:spPr bwMode="auto">
          <a:xfrm>
            <a:off x="4211638" y="2571750"/>
            <a:ext cx="1108075" cy="369888"/>
          </a:xfrm>
          <a:prstGeom prst="rect">
            <a:avLst/>
          </a:prstGeom>
          <a:noFill/>
          <a:ln w="9525">
            <a:noFill/>
            <a:miter lim="800000"/>
            <a:headEnd/>
            <a:tailEnd/>
          </a:ln>
        </p:spPr>
        <p:txBody>
          <a:bodyPr wrap="none">
            <a:spAutoFit/>
          </a:bodyPr>
          <a:lstStyle/>
          <a:p>
            <a:pPr algn="ctr"/>
            <a:r>
              <a:rPr kumimoji="0" lang="zh-CN" altLang="en-US" sz="1800" b="1">
                <a:latin typeface="Arial" charset="0"/>
                <a:ea typeface="华文中宋"/>
                <a:cs typeface="华文中宋"/>
              </a:rPr>
              <a:t>分母为零</a:t>
            </a:r>
          </a:p>
        </p:txBody>
      </p:sp>
    </p:spTree>
    <p:custDataLst>
      <p:tags r:id="rId2"/>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62829"/>
                                        </p:tgtEl>
                                        <p:attrNameLst>
                                          <p:attrName>style.visibility</p:attrName>
                                        </p:attrNameLst>
                                      </p:cBhvr>
                                      <p:to>
                                        <p:strVal val="visible"/>
                                      </p:to>
                                    </p:set>
                                    <p:animEffect transition="in" filter="box(in)">
                                      <p:cBhvr>
                                        <p:cTn id="12" dur="500"/>
                                        <p:tgtEl>
                                          <p:spTgt spid="1628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62827"/>
                                        </p:tgtEl>
                                        <p:attrNameLst>
                                          <p:attrName>style.visibility</p:attrName>
                                        </p:attrNameLst>
                                      </p:cBhvr>
                                      <p:to>
                                        <p:strVal val="visible"/>
                                      </p:to>
                                    </p:set>
                                    <p:animEffect transition="in" filter="wipe(left)">
                                      <p:cBhvr>
                                        <p:cTn id="22" dur="500"/>
                                        <p:tgtEl>
                                          <p:spTgt spid="162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9"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Text Box 3"/>
          <p:cNvSpPr txBox="1">
            <a:spLocks noChangeArrowheads="1"/>
          </p:cNvSpPr>
          <p:nvPr/>
        </p:nvSpPr>
        <p:spPr bwMode="auto">
          <a:xfrm>
            <a:off x="3125788" y="814388"/>
            <a:ext cx="2665412" cy="461962"/>
          </a:xfrm>
          <a:prstGeom prst="rect">
            <a:avLst/>
          </a:prstGeom>
          <a:noFill/>
          <a:ln w="9525">
            <a:noFill/>
            <a:miter lim="800000"/>
            <a:headEnd/>
            <a:tailEnd/>
          </a:ln>
          <a:effectLst/>
        </p:spPr>
        <p:txBody>
          <a:bodyPr>
            <a:spAutoFit/>
          </a:bodyPr>
          <a:lstStyle/>
          <a:p>
            <a:pPr algn="ctr">
              <a:defRPr/>
            </a:pPr>
            <a:r>
              <a:rPr kumimoji="0" lang="zh-CN" altLang="en-US" sz="2400" b="1" dirty="0">
                <a:solidFill>
                  <a:srgbClr val="000099"/>
                </a:solidFill>
                <a:effectLst>
                  <a:outerShdw blurRad="38100" dist="38100" dir="2700000" algn="tl">
                    <a:srgbClr val="C0C0C0"/>
                  </a:outerShdw>
                </a:effectLst>
                <a:latin typeface="Arial" charset="0"/>
                <a:ea typeface="华文中宋" pitchFamily="2" charset="-122"/>
              </a:rPr>
              <a:t>音障与激波</a:t>
            </a: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2"/>
          <p:cNvSpPr txBox="1">
            <a:spLocks noChangeArrowheads="1"/>
          </p:cNvSpPr>
          <p:nvPr/>
        </p:nvSpPr>
        <p:spPr bwMode="auto">
          <a:xfrm>
            <a:off x="3125788" y="814388"/>
            <a:ext cx="2665412" cy="368300"/>
          </a:xfrm>
          <a:prstGeom prst="rect">
            <a:avLst/>
          </a:prstGeom>
          <a:noFill/>
          <a:ln w="9525">
            <a:noFill/>
            <a:miter lim="800000"/>
            <a:headEnd/>
            <a:tailEnd/>
          </a:ln>
          <a:effectLst/>
        </p:spPr>
        <p:txBody>
          <a:bodyPr>
            <a:spAutoFit/>
          </a:bodyPr>
          <a:lstStyle/>
          <a:p>
            <a:pPr algn="ctr">
              <a:defRPr/>
            </a:pPr>
            <a:r>
              <a:rPr kumimoji="0" lang="zh-CN" altLang="en-US" sz="1800" b="1" dirty="0">
                <a:solidFill>
                  <a:srgbClr val="000099"/>
                </a:solidFill>
                <a:effectLst>
                  <a:outerShdw blurRad="38100" dist="38100" dir="2700000" algn="tl">
                    <a:srgbClr val="C0C0C0"/>
                  </a:outerShdw>
                </a:effectLst>
                <a:latin typeface="Arial" charset="0"/>
                <a:ea typeface="华文中宋" pitchFamily="2" charset="-122"/>
              </a:rPr>
              <a:t>音障与激波</a:t>
            </a:r>
          </a:p>
        </p:txBody>
      </p:sp>
      <p:pic>
        <p:nvPicPr>
          <p:cNvPr id="164868" name="冲击波.wmv">
            <a:hlinkClick r:id="" action="ppaction://media"/>
          </p:cNvPr>
          <p:cNvPicPr>
            <a:picLocks noRot="1" noChangeAspect="1" noChangeArrowheads="1"/>
          </p:cNvPicPr>
          <p:nvPr>
            <a:videoFile r:link="rId1"/>
          </p:nvPr>
        </p:nvPicPr>
        <p:blipFill>
          <a:blip r:embed="rId4"/>
          <a:srcRect/>
          <a:stretch>
            <a:fillRect/>
          </a:stretch>
        </p:blipFill>
        <p:spPr bwMode="auto">
          <a:xfrm>
            <a:off x="1503363" y="1331913"/>
            <a:ext cx="6164262" cy="31115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64868"/>
                                        </p:tgtEl>
                                        <p:attrNameLst>
                                          <p:attrName>style.visibility</p:attrName>
                                        </p:attrNameLst>
                                      </p:cBhvr>
                                      <p:to>
                                        <p:strVal val="visible"/>
                                      </p:to>
                                    </p:set>
                                    <p:animEffect transition="in" filter="checkerboard(across)">
                                      <p:cBhvr>
                                        <p:cTn id="7" dur="500"/>
                                        <p:tgtEl>
                                          <p:spTgt spid="164868"/>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8" restart="whenNotActive" fill="hold" evtFilter="cancelBubble" nodeType="interactiveSeq">
                <p:stCondLst>
                  <p:cond evt="onClick" delay="0">
                    <p:tgtEl>
                      <p:spTgt spid="164868"/>
                    </p:tgtEl>
                  </p:cond>
                </p:stCondLst>
                <p:endSync evt="end" delay="0">
                  <p:rtn val="all"/>
                </p:endSync>
                <p:childTnLst>
                  <p:par>
                    <p:cTn id="9" fill="hold" nodeType="clickPar">
                      <p:stCondLst>
                        <p:cond delay="0"/>
                        <p:cond evt="onBegin" delay="0">
                          <p:tn val="8"/>
                        </p:cond>
                      </p:stCondLst>
                      <p:childTnLst>
                        <p:par>
                          <p:cTn id="10" fill="hold" nodeType="withGroup">
                            <p:stCondLst>
                              <p:cond delay="0"/>
                            </p:stCondLst>
                            <p:childTnLst>
                              <p:par>
                                <p:cTn id="11" presetID="2" presetClass="mediacall" presetSubtype="0" fill="hold" nodeType="afterEffect">
                                  <p:stCondLst>
                                    <p:cond delay="0"/>
                                  </p:stCondLst>
                                  <p:childTnLst>
                                    <p:cmd type="call" cmd="togglePause">
                                      <p:cBhvr>
                                        <p:cTn id="12" dur="1" fill="hold"/>
                                        <p:tgtEl>
                                          <p:spTgt spid="164868"/>
                                        </p:tgtEl>
                                      </p:cBhvr>
                                    </p:cmd>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xit" presetSubtype="4" fill="hold" nodeType="clickEffect">
                                  <p:stCondLst>
                                    <p:cond delay="0"/>
                                  </p:stCondLst>
                                  <p:childTnLst>
                                    <p:anim calcmode="lin" valueType="num">
                                      <p:cBhvr additive="base">
                                        <p:cTn id="16" dur="500"/>
                                        <p:tgtEl>
                                          <p:spTgt spid="164868"/>
                                        </p:tgtEl>
                                        <p:attrNameLst>
                                          <p:attrName>ppt_x</p:attrName>
                                        </p:attrNameLst>
                                      </p:cBhvr>
                                      <p:tavLst>
                                        <p:tav tm="0">
                                          <p:val>
                                            <p:strVal val="ppt_x"/>
                                          </p:val>
                                        </p:tav>
                                        <p:tav tm="100000">
                                          <p:val>
                                            <p:strVal val="ppt_x"/>
                                          </p:val>
                                        </p:tav>
                                      </p:tavLst>
                                    </p:anim>
                                    <p:anim calcmode="lin" valueType="num">
                                      <p:cBhvr additive="base">
                                        <p:cTn id="17" dur="500"/>
                                        <p:tgtEl>
                                          <p:spTgt spid="164868"/>
                                        </p:tgtEl>
                                        <p:attrNameLst>
                                          <p:attrName>ppt_y</p:attrName>
                                        </p:attrNameLst>
                                      </p:cBhvr>
                                      <p:tavLst>
                                        <p:tav tm="0">
                                          <p:val>
                                            <p:strVal val="ppt_y"/>
                                          </p:val>
                                        </p:tav>
                                        <p:tav tm="100000">
                                          <p:val>
                                            <p:strVal val="1+ppt_h/2"/>
                                          </p:val>
                                        </p:tav>
                                      </p:tavLst>
                                    </p:anim>
                                    <p:set>
                                      <p:cBhvr>
                                        <p:cTn id="18" dur="1" fill="hold">
                                          <p:stCondLst>
                                            <p:cond delay="499"/>
                                          </p:stCondLst>
                                        </p:cTn>
                                        <p:tgtEl>
                                          <p:spTgt spid="164868"/>
                                        </p:tgtEl>
                                        <p:attrNameLst>
                                          <p:attrName>style.visibility</p:attrName>
                                        </p:attrNameLst>
                                      </p:cBhvr>
                                      <p:to>
                                        <p:strVal val="hidden"/>
                                      </p:to>
                                    </p:set>
                                    <p:cmd type="call" cmd="stop">
                                      <p:cBhvr>
                                        <p:cTn id="19" dur="1">
                                          <p:stCondLst>
                                            <p:cond delay="499"/>
                                          </p:stCondLst>
                                        </p:cTn>
                                        <p:tgtEl>
                                          <p:spTgt spid="164868"/>
                                        </p:tgtEl>
                                      </p:cBhvr>
                                    </p:cmd>
                                  </p:childTnLst>
                                </p:cTn>
                              </p:par>
                            </p:childTnLst>
                          </p:cTn>
                        </p:par>
                      </p:childTnLst>
                    </p:cTn>
                  </p:par>
                </p:childTnLst>
              </p:cTn>
              <p:nextCondLst>
                <p:cond evt="onClick" delay="0">
                  <p:tgtEl>
                    <p:spTgt spid="164868"/>
                  </p:tgtEl>
                </p:cond>
              </p:nextCondLst>
            </p:seq>
            <p:video>
              <p:cMediaNode>
                <p:cTn id="20" fill="hold" display="0" nodeType="clickEffect">
                  <p:stCondLst>
                    <p:cond delay="indefinite"/>
                  </p:stCondLst>
                  <p:endCondLst>
                    <p:cond evt="onNext" delay="0">
                      <p:tgtEl>
                        <p:sldTgt/>
                      </p:tgtEl>
                    </p:cond>
                    <p:cond evt="onPrev" delay="0">
                      <p:tgtEl>
                        <p:sldTgt/>
                      </p:tgtEl>
                    </p:cond>
                  </p:endCondLst>
                </p:cTn>
                <p:tgtEl>
                  <p:spTgt spid="164868"/>
                </p:tgtEl>
              </p:cMediaNode>
            </p:video>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ext Box 2"/>
          <p:cNvSpPr txBox="1">
            <a:spLocks noChangeArrowheads="1"/>
          </p:cNvSpPr>
          <p:nvPr/>
        </p:nvSpPr>
        <p:spPr bwMode="auto">
          <a:xfrm>
            <a:off x="762000" y="857250"/>
            <a:ext cx="2478088" cy="369888"/>
          </a:xfrm>
          <a:prstGeom prst="rect">
            <a:avLst/>
          </a:prstGeom>
          <a:noFill/>
          <a:ln w="9525">
            <a:noFill/>
            <a:miter lim="800000"/>
            <a:headEnd/>
            <a:tailEnd/>
          </a:ln>
          <a:effectLst/>
        </p:spPr>
        <p:txBody>
          <a:bodyPr wrap="none">
            <a:spAutoFit/>
          </a:bodyPr>
          <a:lstStyle/>
          <a:p>
            <a:pPr>
              <a:defRPr/>
            </a:pPr>
            <a:r>
              <a:rPr kumimoji="0" lang="en-US" altLang="zh-CN" sz="1800" b="1" dirty="0">
                <a:effectLst>
                  <a:outerShdw blurRad="38100" dist="38100" dir="2700000" algn="tl">
                    <a:srgbClr val="C0C0C0"/>
                  </a:outerShdw>
                </a:effectLst>
                <a:latin typeface="华文中宋" pitchFamily="2" charset="-122"/>
                <a:ea typeface="华文中宋" pitchFamily="2" charset="-122"/>
              </a:rPr>
              <a:t>3.</a:t>
            </a:r>
            <a:r>
              <a:rPr kumimoji="0" lang="zh-CN" altLang="en-US" sz="1800" b="1" dirty="0">
                <a:effectLst>
                  <a:outerShdw blurRad="38100" dist="38100" dir="2700000" algn="tl">
                    <a:srgbClr val="C0C0C0"/>
                  </a:outerShdw>
                </a:effectLst>
                <a:latin typeface="华文中宋" pitchFamily="2" charset="-122"/>
                <a:ea typeface="华文中宋" pitchFamily="2" charset="-122"/>
              </a:rPr>
              <a:t>电磁波的多普勒效应</a:t>
            </a:r>
          </a:p>
        </p:txBody>
      </p:sp>
      <p:sp>
        <p:nvSpPr>
          <p:cNvPr id="166915" name="Text Box 3"/>
          <p:cNvSpPr txBox="1">
            <a:spLocks noChangeArrowheads="1"/>
          </p:cNvSpPr>
          <p:nvPr/>
        </p:nvSpPr>
        <p:spPr bwMode="auto">
          <a:xfrm>
            <a:off x="685800" y="1314450"/>
            <a:ext cx="8153400" cy="369888"/>
          </a:xfrm>
          <a:prstGeom prst="rect">
            <a:avLst/>
          </a:prstGeom>
          <a:solidFill>
            <a:schemeClr val="bg1"/>
          </a:solidFill>
          <a:ln w="9525">
            <a:noFill/>
            <a:miter lim="800000"/>
            <a:headEnd/>
            <a:tailEnd/>
          </a:ln>
          <a:effectLst/>
        </p:spPr>
        <p:txBody>
          <a:bodyPr>
            <a:spAutoFit/>
          </a:bodyPr>
          <a:lstStyle/>
          <a:p>
            <a:pPr>
              <a:defRPr/>
            </a:pPr>
            <a:r>
              <a:rPr kumimoji="0" lang="en-US" altLang="zh-CN" sz="1800" b="1" dirty="0">
                <a:effectLst>
                  <a:outerShdw blurRad="38100" dist="38100" dir="2700000" algn="tl">
                    <a:srgbClr val="C0C0C0"/>
                  </a:outerShdw>
                </a:effectLst>
                <a:latin typeface="华文中宋" pitchFamily="2" charset="-122"/>
                <a:ea typeface="华文中宋" pitchFamily="2" charset="-122"/>
              </a:rPr>
              <a:t>      </a:t>
            </a:r>
            <a:r>
              <a:rPr kumimoji="0" lang="zh-CN" altLang="en-US" sz="1800" b="1" dirty="0">
                <a:effectLst>
                  <a:outerShdw blurRad="38100" dist="38100" dir="2700000" algn="tl">
                    <a:srgbClr val="C0C0C0"/>
                  </a:outerShdw>
                </a:effectLst>
                <a:latin typeface="华文中宋" pitchFamily="2" charset="-122"/>
                <a:ea typeface="华文中宋" pitchFamily="2" charset="-122"/>
              </a:rPr>
              <a:t>分析电磁波多普勒效应要利用相对论的知识，其计算结果为：</a:t>
            </a:r>
          </a:p>
        </p:txBody>
      </p:sp>
      <p:grpSp>
        <p:nvGrpSpPr>
          <p:cNvPr id="2" name="Group 5"/>
          <p:cNvGrpSpPr>
            <a:grpSpLocks/>
          </p:cNvGrpSpPr>
          <p:nvPr/>
        </p:nvGrpSpPr>
        <p:grpSpPr bwMode="auto">
          <a:xfrm>
            <a:off x="1236663" y="1949450"/>
            <a:ext cx="4975225" cy="908050"/>
            <a:chOff x="370" y="0"/>
            <a:chExt cx="2620" cy="763"/>
          </a:xfrm>
        </p:grpSpPr>
        <p:sp>
          <p:nvSpPr>
            <p:cNvPr id="72734" name="Text Box 6"/>
            <p:cNvSpPr txBox="1">
              <a:spLocks noChangeArrowheads="1"/>
            </p:cNvSpPr>
            <p:nvPr/>
          </p:nvSpPr>
          <p:spPr bwMode="auto">
            <a:xfrm>
              <a:off x="370" y="246"/>
              <a:ext cx="1150" cy="310"/>
            </a:xfrm>
            <a:prstGeom prst="rect">
              <a:avLst/>
            </a:prstGeom>
            <a:noFill/>
            <a:ln w="9525">
              <a:noFill/>
              <a:miter lim="800000"/>
              <a:headEnd/>
              <a:tailEnd/>
            </a:ln>
          </p:spPr>
          <p:txBody>
            <a:bodyPr wrap="none">
              <a:spAutoFit/>
            </a:bodyPr>
            <a:lstStyle/>
            <a:p>
              <a:pPr>
                <a:buFontTx/>
                <a:buBlip>
                  <a:blip r:embed="rId3"/>
                </a:buBlip>
              </a:pPr>
              <a:r>
                <a:rPr kumimoji="0" lang="en-US" altLang="zh-CN" sz="1800" b="1">
                  <a:latin typeface="华文中宋"/>
                  <a:ea typeface="华文中宋"/>
                  <a:cs typeface="华文中宋"/>
                </a:rPr>
                <a:t>  </a:t>
              </a:r>
              <a:r>
                <a:rPr kumimoji="0" lang="zh-CN" altLang="en-US" sz="1800" b="1">
                  <a:latin typeface="华文中宋"/>
                  <a:ea typeface="华文中宋"/>
                  <a:cs typeface="华文中宋"/>
                </a:rPr>
                <a:t>纵向多普勒效应 </a:t>
              </a:r>
            </a:p>
          </p:txBody>
        </p:sp>
        <p:graphicFrame>
          <p:nvGraphicFramePr>
            <p:cNvPr id="72725" name="Object 21"/>
            <p:cNvGraphicFramePr>
              <a:graphicFrameLocks noChangeAspect="1"/>
            </p:cNvGraphicFramePr>
            <p:nvPr/>
          </p:nvGraphicFramePr>
          <p:xfrm>
            <a:off x="1694" y="0"/>
            <a:ext cx="1296" cy="763"/>
          </p:xfrm>
          <a:graphic>
            <a:graphicData uri="http://schemas.openxmlformats.org/presentationml/2006/ole">
              <p:oleObj spid="_x0000_s72725" r:id="rId4" imgW="1054100" imgH="622300" progId="Equation.3">
                <p:embed/>
              </p:oleObj>
            </a:graphicData>
          </a:graphic>
        </p:graphicFrame>
      </p:grpSp>
      <p:grpSp>
        <p:nvGrpSpPr>
          <p:cNvPr id="3" name="Group 8"/>
          <p:cNvGrpSpPr>
            <a:grpSpLocks/>
          </p:cNvGrpSpPr>
          <p:nvPr/>
        </p:nvGrpSpPr>
        <p:grpSpPr bwMode="auto">
          <a:xfrm>
            <a:off x="1220788" y="2851150"/>
            <a:ext cx="5372100" cy="668338"/>
            <a:chOff x="323" y="0"/>
            <a:chExt cx="2679" cy="561"/>
          </a:xfrm>
        </p:grpSpPr>
        <p:sp>
          <p:nvSpPr>
            <p:cNvPr id="72733" name="Text Box 9"/>
            <p:cNvSpPr txBox="1">
              <a:spLocks noChangeArrowheads="1"/>
            </p:cNvSpPr>
            <p:nvPr/>
          </p:nvSpPr>
          <p:spPr bwMode="auto">
            <a:xfrm>
              <a:off x="323" y="135"/>
              <a:ext cx="1240" cy="310"/>
            </a:xfrm>
            <a:prstGeom prst="rect">
              <a:avLst/>
            </a:prstGeom>
            <a:noFill/>
            <a:ln w="9525">
              <a:noFill/>
              <a:miter lim="800000"/>
              <a:headEnd/>
              <a:tailEnd/>
            </a:ln>
          </p:spPr>
          <p:txBody>
            <a:bodyPr>
              <a:spAutoFit/>
            </a:bodyPr>
            <a:lstStyle/>
            <a:p>
              <a:pPr>
                <a:buFontTx/>
                <a:buBlip>
                  <a:blip r:embed="rId3"/>
                </a:buBlip>
              </a:pPr>
              <a:r>
                <a:rPr kumimoji="0" lang="en-US" altLang="zh-CN" sz="1800" b="1">
                  <a:latin typeface="华文中宋"/>
                  <a:ea typeface="华文中宋"/>
                  <a:cs typeface="华文中宋"/>
                </a:rPr>
                <a:t>  </a:t>
              </a:r>
              <a:r>
                <a:rPr kumimoji="0" lang="zh-CN" altLang="en-US" sz="1800" b="1">
                  <a:latin typeface="华文中宋"/>
                  <a:ea typeface="华文中宋"/>
                  <a:cs typeface="华文中宋"/>
                </a:rPr>
                <a:t>横向多普勒效应 </a:t>
              </a:r>
            </a:p>
          </p:txBody>
        </p:sp>
        <p:graphicFrame>
          <p:nvGraphicFramePr>
            <p:cNvPr id="72726" name="Object 22"/>
            <p:cNvGraphicFramePr>
              <a:graphicFrameLocks noChangeAspect="1"/>
            </p:cNvGraphicFramePr>
            <p:nvPr/>
          </p:nvGraphicFramePr>
          <p:xfrm>
            <a:off x="1586" y="0"/>
            <a:ext cx="1416" cy="561"/>
          </p:xfrm>
          <a:graphic>
            <a:graphicData uri="http://schemas.openxmlformats.org/presentationml/2006/ole">
              <p:oleObj spid="_x0000_s72726" r:id="rId5" imgW="1117115" imgH="444307" progId="Equation.3">
                <p:embed/>
              </p:oleObj>
            </a:graphicData>
          </a:graphic>
        </p:graphicFrame>
      </p:grpSp>
      <p:graphicFrame>
        <p:nvGraphicFramePr>
          <p:cNvPr id="166923" name="Object 23"/>
          <p:cNvGraphicFramePr>
            <a:graphicFrameLocks noChangeAspect="1"/>
          </p:cNvGraphicFramePr>
          <p:nvPr/>
        </p:nvGraphicFramePr>
        <p:xfrm>
          <a:off x="768350" y="3651250"/>
          <a:ext cx="7404100" cy="381000"/>
        </p:xfrm>
        <a:graphic>
          <a:graphicData uri="http://schemas.openxmlformats.org/presentationml/2006/ole">
            <p:oleObj spid="_x0000_s72727" name="Document" r:id="rId6" imgW="4543425" imgH="266700" progId="Word.Document.8">
              <p:embed/>
            </p:oleObj>
          </a:graphicData>
        </a:graphic>
      </p:graphicFrame>
      <p:sp>
        <p:nvSpPr>
          <p:cNvPr id="166924" name="Rectangle 12"/>
          <p:cNvSpPr>
            <a:spLocks noChangeArrowheads="1"/>
          </p:cNvSpPr>
          <p:nvPr/>
        </p:nvSpPr>
        <p:spPr bwMode="auto">
          <a:xfrm>
            <a:off x="228600" y="4114800"/>
            <a:ext cx="8610600" cy="369888"/>
          </a:xfrm>
          <a:prstGeom prst="rect">
            <a:avLst/>
          </a:prstGeom>
          <a:noFill/>
          <a:ln w="9525">
            <a:noFill/>
            <a:miter lim="800000"/>
            <a:headEnd/>
            <a:tailEnd/>
          </a:ln>
        </p:spPr>
        <p:txBody>
          <a:bodyPr>
            <a:spAutoFit/>
          </a:bodyPr>
          <a:lstStyle/>
          <a:p>
            <a:pPr algn="ctr"/>
            <a:r>
              <a:rPr kumimoji="0" lang="zh-CN" altLang="en-US" sz="1800" b="1">
                <a:latin typeface="华文中宋"/>
                <a:ea typeface="华文中宋"/>
                <a:cs typeface="华文中宋"/>
              </a:rPr>
              <a:t>由上式可知：</a:t>
            </a:r>
            <a:r>
              <a:rPr kumimoji="0" lang="zh-CN" altLang="en-US" sz="1800" b="1">
                <a:solidFill>
                  <a:srgbClr val="FF0000"/>
                </a:solidFill>
                <a:latin typeface="华文中宋"/>
                <a:ea typeface="华文中宋"/>
                <a:cs typeface="华文中宋"/>
              </a:rPr>
              <a:t>其定性结论与机械波的定性结论一样</a:t>
            </a:r>
            <a:r>
              <a:rPr kumimoji="0" lang="zh-CN" altLang="en-US" sz="1800" b="1">
                <a:latin typeface="华文中宋"/>
                <a:ea typeface="华文中宋"/>
                <a:cs typeface="华文中宋"/>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6914"/>
                                        </p:tgtEl>
                                        <p:attrNameLst>
                                          <p:attrName>style.visibility</p:attrName>
                                        </p:attrNameLst>
                                      </p:cBhvr>
                                      <p:to>
                                        <p:strVal val="visible"/>
                                      </p:to>
                                    </p:set>
                                    <p:animEffect transition="in" filter="blinds(horizontal)">
                                      <p:cBhvr>
                                        <p:cTn id="7" dur="500"/>
                                        <p:tgtEl>
                                          <p:spTgt spid="1669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6915"/>
                                        </p:tgtEl>
                                        <p:attrNameLst>
                                          <p:attrName>style.visibility</p:attrName>
                                        </p:attrNameLst>
                                      </p:cBhvr>
                                      <p:to>
                                        <p:strVal val="visible"/>
                                      </p:to>
                                    </p:set>
                                    <p:animEffect transition="in" filter="blinds(horizontal)">
                                      <p:cBhvr>
                                        <p:cTn id="12" dur="500"/>
                                        <p:tgtEl>
                                          <p:spTgt spid="1669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par>
                          <p:cTn id="18" fill="hold" nodeType="afterGroup">
                            <p:stCondLst>
                              <p:cond delay="500"/>
                            </p:stCondLst>
                            <p:childTnLst>
                              <p:par>
                                <p:cTn id="19" presetID="5" presetClass="entr" presetSubtype="10"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checkerboard(across)">
                                      <p:cBhvr>
                                        <p:cTn id="21" dur="500"/>
                                        <p:tgtEl>
                                          <p:spTgt spid="3"/>
                                        </p:tgtEl>
                                      </p:cBhvr>
                                    </p:animEffect>
                                  </p:childTnLst>
                                </p:cTn>
                              </p:par>
                            </p:childTnLst>
                          </p:cTn>
                        </p:par>
                        <p:par>
                          <p:cTn id="22" fill="hold" nodeType="afterGroup">
                            <p:stCondLst>
                              <p:cond delay="1000"/>
                            </p:stCondLst>
                            <p:childTnLst>
                              <p:par>
                                <p:cTn id="23" presetID="5" presetClass="entr" presetSubtype="10" fill="hold" nodeType="afterEffect">
                                  <p:stCondLst>
                                    <p:cond delay="0"/>
                                  </p:stCondLst>
                                  <p:childTnLst>
                                    <p:set>
                                      <p:cBhvr>
                                        <p:cTn id="24" dur="1" fill="hold">
                                          <p:stCondLst>
                                            <p:cond delay="0"/>
                                          </p:stCondLst>
                                        </p:cTn>
                                        <p:tgtEl>
                                          <p:spTgt spid="166923"/>
                                        </p:tgtEl>
                                        <p:attrNameLst>
                                          <p:attrName>style.visibility</p:attrName>
                                        </p:attrNameLst>
                                      </p:cBhvr>
                                      <p:to>
                                        <p:strVal val="visible"/>
                                      </p:to>
                                    </p:set>
                                    <p:animEffect transition="in" filter="checkerboard(across)">
                                      <p:cBhvr>
                                        <p:cTn id="25" dur="500"/>
                                        <p:tgtEl>
                                          <p:spTgt spid="16692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66924"/>
                                        </p:tgtEl>
                                        <p:attrNameLst>
                                          <p:attrName>style.visibility</p:attrName>
                                        </p:attrNameLst>
                                      </p:cBhvr>
                                      <p:to>
                                        <p:strVal val="visible"/>
                                      </p:to>
                                    </p:set>
                                    <p:anim calcmode="lin" valueType="num">
                                      <p:cBhvr additive="base">
                                        <p:cTn id="30" dur="500" fill="hold"/>
                                        <p:tgtEl>
                                          <p:spTgt spid="166924"/>
                                        </p:tgtEl>
                                        <p:attrNameLst>
                                          <p:attrName>ppt_x</p:attrName>
                                        </p:attrNameLst>
                                      </p:cBhvr>
                                      <p:tavLst>
                                        <p:tav tm="0">
                                          <p:val>
                                            <p:strVal val="#ppt_x"/>
                                          </p:val>
                                        </p:tav>
                                        <p:tav tm="100000">
                                          <p:val>
                                            <p:strVal val="#ppt_x"/>
                                          </p:val>
                                        </p:tav>
                                      </p:tavLst>
                                    </p:anim>
                                    <p:anim calcmode="lin" valueType="num">
                                      <p:cBhvr additive="base">
                                        <p:cTn id="31" dur="500" fill="hold"/>
                                        <p:tgtEl>
                                          <p:spTgt spid="1669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autoUpdateAnimBg="0"/>
      <p:bldP spid="166915" grpId="0" bldLvl="0" animBg="1" autoUpdateAnimBg="0"/>
      <p:bldP spid="166924"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343400" y="3200400"/>
            <a:ext cx="3168650" cy="1457325"/>
            <a:chOff x="0" y="0"/>
            <a:chExt cx="2289" cy="1541"/>
          </a:xfrm>
        </p:grpSpPr>
        <p:pic>
          <p:nvPicPr>
            <p:cNvPr id="73775" name="Picture 3" descr="宇宙大爆炸">
              <a:hlinkClick r:id="rId3" action="ppaction://hlinksldjump"/>
            </p:cNvPr>
            <p:cNvPicPr>
              <a:picLocks noChangeAspect="1" noChangeArrowheads="1"/>
            </p:cNvPicPr>
            <p:nvPr/>
          </p:nvPicPr>
          <p:blipFill>
            <a:blip r:embed="rId4"/>
            <a:srcRect/>
            <a:stretch>
              <a:fillRect/>
            </a:stretch>
          </p:blipFill>
          <p:spPr bwMode="auto">
            <a:xfrm>
              <a:off x="0" y="0"/>
              <a:ext cx="2256" cy="1450"/>
            </a:xfrm>
            <a:prstGeom prst="rect">
              <a:avLst/>
            </a:prstGeom>
            <a:noFill/>
            <a:ln w="63500">
              <a:solidFill>
                <a:srgbClr val="FF0000"/>
              </a:solidFill>
              <a:miter lim="800000"/>
              <a:headEnd/>
              <a:tailEnd/>
            </a:ln>
            <a:effectLst>
              <a:outerShdw dist="107763" dir="2700000" algn="ctr" rotWithShape="0">
                <a:srgbClr val="808080">
                  <a:alpha val="50000"/>
                </a:srgbClr>
              </a:outerShdw>
            </a:effectLst>
            <a:extLst>
              <a:ext uri="{909E8E84-426E-40DD-AFC4-6F175D3DCCD1}"/>
            </a:extLst>
          </p:spPr>
        </p:pic>
        <p:sp>
          <p:nvSpPr>
            <p:cNvPr id="73776" name="Text Box 4"/>
            <p:cNvSpPr txBox="1">
              <a:spLocks noChangeArrowheads="1"/>
            </p:cNvSpPr>
            <p:nvPr/>
          </p:nvSpPr>
          <p:spPr bwMode="auto">
            <a:xfrm>
              <a:off x="1229" y="1118"/>
              <a:ext cx="1060" cy="423"/>
            </a:xfrm>
            <a:prstGeom prst="rect">
              <a:avLst/>
            </a:prstGeom>
            <a:noFill/>
            <a:ln>
              <a:noFill/>
            </a:ln>
            <a:effectLst>
              <a:outerShdw dist="28398" dir="3806097" algn="ctr" rotWithShape="0">
                <a:srgbClr val="CC3300">
                  <a:alpha val="50000"/>
                </a:srgbClr>
              </a:outerShdw>
            </a:effectLst>
            <a:extLst>
              <a:ext uri="{909E8E84-426E-40DD-AFC4-6F175D3DCCD1}"/>
              <a:ext uri="{91240B29-F687-4F45-9708-019B960494DF}"/>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9pPr>
            </a:lstStyle>
            <a:p>
              <a:pPr algn="ctr" eaLnBrk="1" hangingPunct="1">
                <a:defRPr/>
              </a:pPr>
              <a:r>
                <a:rPr kumimoji="0" lang="zh-CN" altLang="en-US" sz="2000" b="1">
                  <a:solidFill>
                    <a:schemeClr val="bg1"/>
                  </a:solidFill>
                  <a:latin typeface="华文中宋" pitchFamily="2" charset="-122"/>
                  <a:ea typeface="华文中宋" pitchFamily="2" charset="-122"/>
                </a:rPr>
                <a:t>宇宙大爆炸</a:t>
              </a:r>
            </a:p>
          </p:txBody>
        </p:sp>
      </p:grpSp>
      <p:grpSp>
        <p:nvGrpSpPr>
          <p:cNvPr id="3" name="Group 6"/>
          <p:cNvGrpSpPr>
            <a:grpSpLocks/>
          </p:cNvGrpSpPr>
          <p:nvPr/>
        </p:nvGrpSpPr>
        <p:grpSpPr bwMode="auto">
          <a:xfrm>
            <a:off x="3048000" y="1714500"/>
            <a:ext cx="3094038" cy="1668463"/>
            <a:chOff x="0" y="0"/>
            <a:chExt cx="2242" cy="1661"/>
          </a:xfrm>
        </p:grpSpPr>
        <p:pic>
          <p:nvPicPr>
            <p:cNvPr id="73773" name="Picture 7" descr="多普勒雷达">
              <a:hlinkClick r:id="rId5" action="ppaction://hlinksldjump"/>
            </p:cNvPr>
            <p:cNvPicPr>
              <a:picLocks noChangeAspect="1" noChangeArrowheads="1"/>
            </p:cNvPicPr>
            <p:nvPr/>
          </p:nvPicPr>
          <p:blipFill>
            <a:blip r:embed="rId6"/>
            <a:srcRect/>
            <a:stretch>
              <a:fillRect/>
            </a:stretch>
          </p:blipFill>
          <p:spPr bwMode="auto">
            <a:xfrm>
              <a:off x="0" y="0"/>
              <a:ext cx="2207" cy="1536"/>
            </a:xfrm>
            <a:prstGeom prst="rect">
              <a:avLst/>
            </a:prstGeom>
            <a:noFill/>
            <a:ln w="76200">
              <a:solidFill>
                <a:srgbClr val="FF0000"/>
              </a:solidFill>
              <a:miter lim="800000"/>
              <a:headEnd/>
              <a:tailEnd/>
            </a:ln>
            <a:effectLst>
              <a:outerShdw dist="35921" dir="2700000" algn="ctr" rotWithShape="0">
                <a:srgbClr val="808080">
                  <a:alpha val="50000"/>
                </a:srgbClr>
              </a:outerShdw>
            </a:effectLst>
            <a:extLst>
              <a:ext uri="{909E8E84-426E-40DD-AFC4-6F175D3DCCD1}"/>
            </a:extLst>
          </p:spPr>
        </p:pic>
        <p:sp>
          <p:nvSpPr>
            <p:cNvPr id="73774" name="Text Box 8"/>
            <p:cNvSpPr txBox="1">
              <a:spLocks noChangeArrowheads="1"/>
            </p:cNvSpPr>
            <p:nvPr/>
          </p:nvSpPr>
          <p:spPr bwMode="auto">
            <a:xfrm>
              <a:off x="1179" y="1263"/>
              <a:ext cx="1063" cy="398"/>
            </a:xfrm>
            <a:prstGeom prst="rect">
              <a:avLst/>
            </a:prstGeom>
            <a:noFill/>
            <a:ln>
              <a:noFill/>
            </a:ln>
            <a:effectLst>
              <a:outerShdw dist="28398" dir="3806097" algn="ctr" rotWithShape="0">
                <a:srgbClr val="CC3300">
                  <a:alpha val="50000"/>
                </a:srgbClr>
              </a:outerShdw>
            </a:effectLst>
            <a:extLst>
              <a:ext uri="{909E8E84-426E-40DD-AFC4-6F175D3DCCD1}"/>
              <a:ext uri="{91240B29-F687-4F45-9708-019B960494DF}"/>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9pPr>
            </a:lstStyle>
            <a:p>
              <a:pPr algn="ctr" eaLnBrk="1" hangingPunct="1">
                <a:defRPr/>
              </a:pPr>
              <a:r>
                <a:rPr kumimoji="0" lang="zh-CN" altLang="en-US" sz="2000" b="1">
                  <a:solidFill>
                    <a:schemeClr val="bg1"/>
                  </a:solidFill>
                  <a:latin typeface="华文中宋" pitchFamily="2" charset="-122"/>
                  <a:ea typeface="华文中宋" pitchFamily="2" charset="-122"/>
                </a:rPr>
                <a:t>多普勒雷达</a:t>
              </a:r>
            </a:p>
          </p:txBody>
        </p:sp>
      </p:grpSp>
      <p:grpSp>
        <p:nvGrpSpPr>
          <p:cNvPr id="4" name="Group 9"/>
          <p:cNvGrpSpPr>
            <a:grpSpLocks/>
          </p:cNvGrpSpPr>
          <p:nvPr/>
        </p:nvGrpSpPr>
        <p:grpSpPr bwMode="auto">
          <a:xfrm>
            <a:off x="457200" y="685800"/>
            <a:ext cx="2819400" cy="1528763"/>
            <a:chOff x="0" y="0"/>
            <a:chExt cx="2160" cy="1580"/>
          </a:xfrm>
        </p:grpSpPr>
        <p:pic>
          <p:nvPicPr>
            <p:cNvPr id="73771" name="Picture 10" descr="雷达测速仪">
              <a:hlinkClick r:id="rId7" action="ppaction://hlinksldjump"/>
            </p:cNvPr>
            <p:cNvPicPr>
              <a:picLocks noChangeAspect="1" noChangeArrowheads="1"/>
            </p:cNvPicPr>
            <p:nvPr/>
          </p:nvPicPr>
          <p:blipFill>
            <a:blip r:embed="rId8"/>
            <a:srcRect/>
            <a:stretch>
              <a:fillRect/>
            </a:stretch>
          </p:blipFill>
          <p:spPr bwMode="auto">
            <a:xfrm>
              <a:off x="0" y="0"/>
              <a:ext cx="2160" cy="1536"/>
            </a:xfrm>
            <a:prstGeom prst="rect">
              <a:avLst/>
            </a:prstGeom>
            <a:noFill/>
            <a:ln w="63500">
              <a:solidFill>
                <a:srgbClr val="FF0000"/>
              </a:solidFill>
              <a:miter lim="800000"/>
              <a:headEnd/>
              <a:tailEnd/>
            </a:ln>
            <a:effectLst>
              <a:outerShdw dist="107763" dir="2700000" algn="ctr" rotWithShape="0">
                <a:srgbClr val="808080">
                  <a:alpha val="50000"/>
                </a:srgbClr>
              </a:outerShdw>
            </a:effectLst>
            <a:extLst>
              <a:ext uri="{909E8E84-426E-40DD-AFC4-6F175D3DCCD1}"/>
            </a:extLst>
          </p:spPr>
        </p:pic>
        <p:sp>
          <p:nvSpPr>
            <p:cNvPr id="73849" name="Text Box 11"/>
            <p:cNvSpPr txBox="1">
              <a:spLocks noChangeArrowheads="1"/>
            </p:cNvSpPr>
            <p:nvPr/>
          </p:nvSpPr>
          <p:spPr bwMode="auto">
            <a:xfrm>
              <a:off x="1103" y="1166"/>
              <a:ext cx="731" cy="414"/>
            </a:xfrm>
            <a:prstGeom prst="rect">
              <a:avLst/>
            </a:prstGeom>
            <a:noFill/>
            <a:ln w="9525">
              <a:noFill/>
              <a:miter lim="800000"/>
              <a:headEnd/>
              <a:tailEnd/>
            </a:ln>
          </p:spPr>
          <p:txBody>
            <a:bodyPr wrap="none">
              <a:spAutoFit/>
            </a:bodyPr>
            <a:lstStyle/>
            <a:p>
              <a:pPr algn="ctr"/>
              <a:r>
                <a:rPr kumimoji="0" lang="zh-CN" altLang="en-US" sz="2000" b="1">
                  <a:latin typeface="华文中宋"/>
                  <a:ea typeface="华文中宋"/>
                  <a:cs typeface="华文中宋"/>
                </a:rPr>
                <a:t>测速仪</a:t>
              </a:r>
            </a:p>
          </p:txBody>
        </p:sp>
      </p:grpSp>
      <p:grpSp>
        <p:nvGrpSpPr>
          <p:cNvPr id="5" name="Group 12"/>
          <p:cNvGrpSpPr>
            <a:grpSpLocks/>
          </p:cNvGrpSpPr>
          <p:nvPr/>
        </p:nvGrpSpPr>
        <p:grpSpPr bwMode="auto">
          <a:xfrm>
            <a:off x="134938" y="1423988"/>
            <a:ext cx="2133600" cy="571500"/>
            <a:chOff x="0" y="0"/>
            <a:chExt cx="1344" cy="480"/>
          </a:xfrm>
        </p:grpSpPr>
        <p:sp>
          <p:nvSpPr>
            <p:cNvPr id="73846" name="Oval 13"/>
            <p:cNvSpPr>
              <a:spLocks noChangeArrowheads="1"/>
            </p:cNvSpPr>
            <p:nvPr/>
          </p:nvSpPr>
          <p:spPr bwMode="auto">
            <a:xfrm>
              <a:off x="0" y="0"/>
              <a:ext cx="1344" cy="480"/>
            </a:xfrm>
            <a:prstGeom prst="ellipse">
              <a:avLst/>
            </a:prstGeom>
            <a:solidFill>
              <a:schemeClr val="bg1">
                <a:alpha val="85881"/>
              </a:schemeClr>
            </a:solidFill>
            <a:ln w="38100">
              <a:solidFill>
                <a:srgbClr val="FF0000"/>
              </a:solidFill>
              <a:round/>
              <a:headEnd/>
              <a:tailEnd/>
            </a:ln>
          </p:spPr>
          <p:txBody>
            <a:bodyPr wrap="none" anchor="ctr"/>
            <a:lstStyle/>
            <a:p>
              <a:endParaRPr lang="zh-CN" altLang="en-US"/>
            </a:p>
          </p:txBody>
        </p:sp>
        <p:sp>
          <p:nvSpPr>
            <p:cNvPr id="73847" name="Text Box 14"/>
            <p:cNvSpPr txBox="1">
              <a:spLocks noChangeArrowheads="1"/>
            </p:cNvSpPr>
            <p:nvPr/>
          </p:nvSpPr>
          <p:spPr bwMode="auto">
            <a:xfrm>
              <a:off x="96" y="88"/>
              <a:ext cx="1200" cy="304"/>
            </a:xfrm>
            <a:prstGeom prst="rect">
              <a:avLst/>
            </a:prstGeom>
            <a:noFill/>
            <a:ln w="9525">
              <a:noFill/>
              <a:miter lim="800000"/>
              <a:headEnd/>
              <a:tailEnd/>
            </a:ln>
          </p:spPr>
          <p:txBody>
            <a:bodyPr>
              <a:spAutoFit/>
            </a:bodyPr>
            <a:lstStyle/>
            <a:p>
              <a:pPr algn="ctr">
                <a:lnSpc>
                  <a:spcPct val="120000"/>
                </a:lnSpc>
                <a:spcBef>
                  <a:spcPct val="50000"/>
                </a:spcBef>
              </a:pPr>
              <a:r>
                <a:rPr kumimoji="0" lang="zh-CN" altLang="en-US" sz="1600" b="1">
                  <a:latin typeface="华文中宋"/>
                  <a:ea typeface="华文中宋"/>
                  <a:cs typeface="华文中宋"/>
                </a:rPr>
                <a:t>测速原理</a:t>
              </a:r>
            </a:p>
          </p:txBody>
        </p:sp>
      </p:grpSp>
      <p:graphicFrame>
        <p:nvGraphicFramePr>
          <p:cNvPr id="167951" name="Object 79"/>
          <p:cNvGraphicFramePr>
            <a:graphicFrameLocks noChangeAspect="1"/>
          </p:cNvGraphicFramePr>
          <p:nvPr/>
        </p:nvGraphicFramePr>
        <p:xfrm>
          <a:off x="5715000" y="2160588"/>
          <a:ext cx="1995488" cy="354012"/>
        </p:xfrm>
        <a:graphic>
          <a:graphicData uri="http://schemas.openxmlformats.org/presentationml/2006/ole">
            <p:oleObj spid="_x0000_s73807" r:id="rId9" imgW="748975" imgH="177723" progId="Equation.3">
              <p:embed/>
            </p:oleObj>
          </a:graphicData>
        </a:graphic>
      </p:graphicFrame>
      <p:graphicFrame>
        <p:nvGraphicFramePr>
          <p:cNvPr id="167952" name="Object 80"/>
          <p:cNvGraphicFramePr>
            <a:graphicFrameLocks noChangeAspect="1"/>
          </p:cNvGraphicFramePr>
          <p:nvPr/>
        </p:nvGraphicFramePr>
        <p:xfrm>
          <a:off x="5726113" y="3389313"/>
          <a:ext cx="2046287" cy="325437"/>
        </p:xfrm>
        <a:graphic>
          <a:graphicData uri="http://schemas.openxmlformats.org/presentationml/2006/ole">
            <p:oleObj spid="_x0000_s73808" r:id="rId10" imgW="787058" imgH="177723" progId="Equation.3">
              <p:embed/>
            </p:oleObj>
          </a:graphicData>
        </a:graphic>
      </p:graphicFrame>
      <p:graphicFrame>
        <p:nvGraphicFramePr>
          <p:cNvPr id="167953" name="Object 81"/>
          <p:cNvGraphicFramePr>
            <a:graphicFrameLocks noChangeAspect="1"/>
          </p:cNvGraphicFramePr>
          <p:nvPr/>
        </p:nvGraphicFramePr>
        <p:xfrm>
          <a:off x="2784475" y="2155825"/>
          <a:ext cx="2263775" cy="358775"/>
        </p:xfrm>
        <a:graphic>
          <a:graphicData uri="http://schemas.openxmlformats.org/presentationml/2006/ole">
            <p:oleObj spid="_x0000_s73809" r:id="rId11" imgW="787058" imgH="177723" progId="Equation.3">
              <p:embed/>
            </p:oleObj>
          </a:graphicData>
        </a:graphic>
      </p:graphicFrame>
      <p:graphicFrame>
        <p:nvGraphicFramePr>
          <p:cNvPr id="167954" name="Object 82"/>
          <p:cNvGraphicFramePr>
            <a:graphicFrameLocks noChangeAspect="1"/>
          </p:cNvGraphicFramePr>
          <p:nvPr/>
        </p:nvGraphicFramePr>
        <p:xfrm>
          <a:off x="1219200" y="2686050"/>
          <a:ext cx="1828800" cy="342900"/>
        </p:xfrm>
        <a:graphic>
          <a:graphicData uri="http://schemas.openxmlformats.org/presentationml/2006/ole">
            <p:oleObj spid="_x0000_s73810" r:id="rId12" imgW="6545263" imgH="1706563" progId="">
              <p:embed/>
            </p:oleObj>
          </a:graphicData>
        </a:graphic>
      </p:graphicFrame>
      <p:grpSp>
        <p:nvGrpSpPr>
          <p:cNvPr id="6" name="Group 19"/>
          <p:cNvGrpSpPr>
            <a:grpSpLocks/>
          </p:cNvGrpSpPr>
          <p:nvPr/>
        </p:nvGrpSpPr>
        <p:grpSpPr bwMode="auto">
          <a:xfrm>
            <a:off x="1362075" y="2058988"/>
            <a:ext cx="649288" cy="514350"/>
            <a:chOff x="0" y="0"/>
            <a:chExt cx="409" cy="432"/>
          </a:xfrm>
        </p:grpSpPr>
        <p:sp>
          <p:nvSpPr>
            <p:cNvPr id="73845" name="Line 20"/>
            <p:cNvSpPr>
              <a:spLocks noChangeShapeType="1"/>
            </p:cNvSpPr>
            <p:nvPr/>
          </p:nvSpPr>
          <p:spPr bwMode="auto">
            <a:xfrm>
              <a:off x="48" y="432"/>
              <a:ext cx="361" cy="0"/>
            </a:xfrm>
            <a:prstGeom prst="line">
              <a:avLst/>
            </a:prstGeom>
            <a:noFill/>
            <a:ln w="38100">
              <a:solidFill>
                <a:srgbClr val="CC0000"/>
              </a:solidFill>
              <a:round/>
              <a:headEnd/>
              <a:tailEnd type="triangle" w="sm" len="lg"/>
            </a:ln>
          </p:spPr>
          <p:txBody>
            <a:bodyPr wrap="none" anchor="ctr"/>
            <a:lstStyle/>
            <a:p>
              <a:endParaRPr lang="zh-CN" altLang="en-US"/>
            </a:p>
          </p:txBody>
        </p:sp>
        <p:graphicFrame>
          <p:nvGraphicFramePr>
            <p:cNvPr id="73811" name="Object 83"/>
            <p:cNvGraphicFramePr>
              <a:graphicFrameLocks noChangeAspect="1"/>
            </p:cNvGraphicFramePr>
            <p:nvPr/>
          </p:nvGraphicFramePr>
          <p:xfrm>
            <a:off x="0" y="0"/>
            <a:ext cx="378" cy="383"/>
          </p:xfrm>
          <a:graphic>
            <a:graphicData uri="http://schemas.openxmlformats.org/presentationml/2006/ole">
              <p:oleObj spid="_x0000_s73811" r:id="rId13" imgW="177646" imgH="228402" progId="Equation.3">
                <p:embed/>
              </p:oleObj>
            </a:graphicData>
          </a:graphic>
        </p:graphicFrame>
      </p:grpSp>
      <p:grpSp>
        <p:nvGrpSpPr>
          <p:cNvPr id="7" name="Group 22"/>
          <p:cNvGrpSpPr>
            <a:grpSpLocks/>
          </p:cNvGrpSpPr>
          <p:nvPr/>
        </p:nvGrpSpPr>
        <p:grpSpPr bwMode="auto">
          <a:xfrm>
            <a:off x="3206750" y="2573338"/>
            <a:ext cx="4479925" cy="339725"/>
            <a:chOff x="0" y="0"/>
            <a:chExt cx="2822" cy="285"/>
          </a:xfrm>
        </p:grpSpPr>
        <p:grpSp>
          <p:nvGrpSpPr>
            <p:cNvPr id="73840" name="Group 23"/>
            <p:cNvGrpSpPr>
              <a:grpSpLocks/>
            </p:cNvGrpSpPr>
            <p:nvPr/>
          </p:nvGrpSpPr>
          <p:grpSpPr bwMode="auto">
            <a:xfrm rot="10800000">
              <a:off x="1062" y="0"/>
              <a:ext cx="1760" cy="285"/>
              <a:chOff x="0" y="0"/>
              <a:chExt cx="2170" cy="462"/>
            </a:xfrm>
          </p:grpSpPr>
          <p:sp>
            <p:nvSpPr>
              <p:cNvPr id="73843" name="未知"/>
              <p:cNvSpPr>
                <a:spLocks/>
              </p:cNvSpPr>
              <p:nvPr/>
            </p:nvSpPr>
            <p:spPr bwMode="auto">
              <a:xfrm>
                <a:off x="0" y="0"/>
                <a:ext cx="1089" cy="454"/>
              </a:xfrm>
              <a:custGeom>
                <a:avLst/>
                <a:gdLst>
                  <a:gd name="T0" fmla="*/ 0 w 3290"/>
                  <a:gd name="T1" fmla="*/ 0 h 1326"/>
                  <a:gd name="T2" fmla="*/ 0 w 3290"/>
                  <a:gd name="T3" fmla="*/ 0 h 1326"/>
                  <a:gd name="T4" fmla="*/ 0 w 3290"/>
                  <a:gd name="T5" fmla="*/ 0 h 1326"/>
                  <a:gd name="T6" fmla="*/ 0 w 3290"/>
                  <a:gd name="T7" fmla="*/ 0 h 1326"/>
                  <a:gd name="T8" fmla="*/ 0 w 3290"/>
                  <a:gd name="T9" fmla="*/ 0 h 1326"/>
                  <a:gd name="T10" fmla="*/ 0 w 3290"/>
                  <a:gd name="T11" fmla="*/ 0 h 1326"/>
                  <a:gd name="T12" fmla="*/ 0 w 3290"/>
                  <a:gd name="T13" fmla="*/ 0 h 1326"/>
                  <a:gd name="T14" fmla="*/ 0 w 3290"/>
                  <a:gd name="T15" fmla="*/ 0 h 1326"/>
                  <a:gd name="T16" fmla="*/ 0 w 3290"/>
                  <a:gd name="T17" fmla="*/ 0 h 1326"/>
                  <a:gd name="T18" fmla="*/ 0 w 3290"/>
                  <a:gd name="T19" fmla="*/ 0 h 1326"/>
                  <a:gd name="T20" fmla="*/ 0 w 3290"/>
                  <a:gd name="T21" fmla="*/ 0 h 1326"/>
                  <a:gd name="T22" fmla="*/ 0 w 3290"/>
                  <a:gd name="T23" fmla="*/ 0 h 1326"/>
                  <a:gd name="T24" fmla="*/ 0 w 3290"/>
                  <a:gd name="T25" fmla="*/ 0 h 1326"/>
                  <a:gd name="T26" fmla="*/ 0 w 3290"/>
                  <a:gd name="T27" fmla="*/ 0 h 1326"/>
                  <a:gd name="T28" fmla="*/ 0 w 3290"/>
                  <a:gd name="T29" fmla="*/ 0 h 1326"/>
                  <a:gd name="T30" fmla="*/ 0 w 3290"/>
                  <a:gd name="T31" fmla="*/ 0 h 1326"/>
                  <a:gd name="T32" fmla="*/ 0 w 3290"/>
                  <a:gd name="T33" fmla="*/ 0 h 1326"/>
                  <a:gd name="T34" fmla="*/ 0 w 3290"/>
                  <a:gd name="T35" fmla="*/ 0 h 1326"/>
                  <a:gd name="T36" fmla="*/ 0 w 3290"/>
                  <a:gd name="T37" fmla="*/ 0 h 1326"/>
                  <a:gd name="T38" fmla="*/ 0 w 3290"/>
                  <a:gd name="T39" fmla="*/ 0 h 1326"/>
                  <a:gd name="T40" fmla="*/ 0 w 3290"/>
                  <a:gd name="T41" fmla="*/ 0 h 1326"/>
                  <a:gd name="T42" fmla="*/ 0 w 3290"/>
                  <a:gd name="T43" fmla="*/ 0 h 1326"/>
                  <a:gd name="T44" fmla="*/ 0 w 3290"/>
                  <a:gd name="T45" fmla="*/ 0 h 1326"/>
                  <a:gd name="T46" fmla="*/ 0 w 3290"/>
                  <a:gd name="T47" fmla="*/ 0 h 1326"/>
                  <a:gd name="T48" fmla="*/ 0 w 3290"/>
                  <a:gd name="T49" fmla="*/ 0 h 1326"/>
                  <a:gd name="T50" fmla="*/ 0 w 3290"/>
                  <a:gd name="T51" fmla="*/ 0 h 1326"/>
                  <a:gd name="T52" fmla="*/ 0 w 3290"/>
                  <a:gd name="T53" fmla="*/ 0 h 1326"/>
                  <a:gd name="T54" fmla="*/ 0 w 3290"/>
                  <a:gd name="T55" fmla="*/ 0 h 1326"/>
                  <a:gd name="T56" fmla="*/ 0 w 3290"/>
                  <a:gd name="T57" fmla="*/ 0 h 1326"/>
                  <a:gd name="T58" fmla="*/ 0 w 3290"/>
                  <a:gd name="T59" fmla="*/ 0 h 1326"/>
                  <a:gd name="T60" fmla="*/ 0 w 3290"/>
                  <a:gd name="T61" fmla="*/ 0 h 1326"/>
                  <a:gd name="T62" fmla="*/ 0 w 3290"/>
                  <a:gd name="T63" fmla="*/ 0 h 1326"/>
                  <a:gd name="T64" fmla="*/ 0 w 3290"/>
                  <a:gd name="T65" fmla="*/ 0 h 1326"/>
                  <a:gd name="T66" fmla="*/ 0 w 3290"/>
                  <a:gd name="T67" fmla="*/ 0 h 1326"/>
                  <a:gd name="T68" fmla="*/ 0 w 3290"/>
                  <a:gd name="T69" fmla="*/ 0 h 1326"/>
                  <a:gd name="T70" fmla="*/ 0 w 3290"/>
                  <a:gd name="T71" fmla="*/ 0 h 1326"/>
                  <a:gd name="T72" fmla="*/ 0 w 3290"/>
                  <a:gd name="T73" fmla="*/ 0 h 1326"/>
                  <a:gd name="T74" fmla="*/ 0 w 3290"/>
                  <a:gd name="T75" fmla="*/ 0 h 1326"/>
                  <a:gd name="T76" fmla="*/ 0 w 3290"/>
                  <a:gd name="T77" fmla="*/ 0 h 1326"/>
                  <a:gd name="T78" fmla="*/ 0 w 3290"/>
                  <a:gd name="T79" fmla="*/ 0 h 1326"/>
                  <a:gd name="T80" fmla="*/ 0 w 3290"/>
                  <a:gd name="T81" fmla="*/ 0 h 1326"/>
                  <a:gd name="T82" fmla="*/ 0 w 3290"/>
                  <a:gd name="T83" fmla="*/ 0 h 1326"/>
                  <a:gd name="T84" fmla="*/ 0 w 3290"/>
                  <a:gd name="T85" fmla="*/ 0 h 1326"/>
                  <a:gd name="T86" fmla="*/ 0 w 3290"/>
                  <a:gd name="T87" fmla="*/ 0 h 1326"/>
                  <a:gd name="T88" fmla="*/ 0 w 3290"/>
                  <a:gd name="T89" fmla="*/ 0 h 1326"/>
                  <a:gd name="T90" fmla="*/ 0 w 3290"/>
                  <a:gd name="T91" fmla="*/ 0 h 1326"/>
                  <a:gd name="T92" fmla="*/ 0 w 3290"/>
                  <a:gd name="T93" fmla="*/ 0 h 1326"/>
                  <a:gd name="T94" fmla="*/ 0 w 3290"/>
                  <a:gd name="T95" fmla="*/ 0 h 1326"/>
                  <a:gd name="T96" fmla="*/ 0 w 3290"/>
                  <a:gd name="T97" fmla="*/ 0 h 1326"/>
                  <a:gd name="T98" fmla="*/ 0 w 3290"/>
                  <a:gd name="T99" fmla="*/ 0 h 13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290"/>
                  <a:gd name="T151" fmla="*/ 0 h 1326"/>
                  <a:gd name="T152" fmla="*/ 3290 w 3290"/>
                  <a:gd name="T153" fmla="*/ 1326 h 13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290" h="1326">
                    <a:moveTo>
                      <a:pt x="0" y="664"/>
                    </a:moveTo>
                    <a:lnTo>
                      <a:pt x="34" y="538"/>
                    </a:lnTo>
                    <a:lnTo>
                      <a:pt x="66" y="416"/>
                    </a:lnTo>
                    <a:lnTo>
                      <a:pt x="100" y="304"/>
                    </a:lnTo>
                    <a:lnTo>
                      <a:pt x="133" y="204"/>
                    </a:lnTo>
                    <a:lnTo>
                      <a:pt x="166" y="122"/>
                    </a:lnTo>
                    <a:lnTo>
                      <a:pt x="199" y="59"/>
                    </a:lnTo>
                    <a:lnTo>
                      <a:pt x="232" y="19"/>
                    </a:lnTo>
                    <a:lnTo>
                      <a:pt x="265" y="0"/>
                    </a:lnTo>
                    <a:lnTo>
                      <a:pt x="299" y="8"/>
                    </a:lnTo>
                    <a:lnTo>
                      <a:pt x="332" y="37"/>
                    </a:lnTo>
                    <a:lnTo>
                      <a:pt x="365" y="91"/>
                    </a:lnTo>
                    <a:lnTo>
                      <a:pt x="399" y="165"/>
                    </a:lnTo>
                    <a:lnTo>
                      <a:pt x="431" y="257"/>
                    </a:lnTo>
                    <a:lnTo>
                      <a:pt x="465" y="364"/>
                    </a:lnTo>
                    <a:lnTo>
                      <a:pt x="499" y="481"/>
                    </a:lnTo>
                    <a:lnTo>
                      <a:pt x="531" y="605"/>
                    </a:lnTo>
                    <a:lnTo>
                      <a:pt x="565" y="733"/>
                    </a:lnTo>
                    <a:lnTo>
                      <a:pt x="597" y="857"/>
                    </a:lnTo>
                    <a:lnTo>
                      <a:pt x="631" y="974"/>
                    </a:lnTo>
                    <a:lnTo>
                      <a:pt x="665" y="1078"/>
                    </a:lnTo>
                    <a:lnTo>
                      <a:pt x="697" y="1169"/>
                    </a:lnTo>
                    <a:lnTo>
                      <a:pt x="731" y="1243"/>
                    </a:lnTo>
                    <a:lnTo>
                      <a:pt x="765" y="1293"/>
                    </a:lnTo>
                    <a:lnTo>
                      <a:pt x="797" y="1321"/>
                    </a:lnTo>
                    <a:lnTo>
                      <a:pt x="831" y="1326"/>
                    </a:lnTo>
                    <a:lnTo>
                      <a:pt x="865" y="1306"/>
                    </a:lnTo>
                    <a:lnTo>
                      <a:pt x="897" y="1263"/>
                    </a:lnTo>
                    <a:lnTo>
                      <a:pt x="931" y="1198"/>
                    </a:lnTo>
                    <a:lnTo>
                      <a:pt x="963" y="1114"/>
                    </a:lnTo>
                    <a:lnTo>
                      <a:pt x="997" y="1014"/>
                    </a:lnTo>
                    <a:lnTo>
                      <a:pt x="1030" y="900"/>
                    </a:lnTo>
                    <a:lnTo>
                      <a:pt x="1063" y="779"/>
                    </a:lnTo>
                    <a:lnTo>
                      <a:pt x="1096" y="653"/>
                    </a:lnTo>
                    <a:lnTo>
                      <a:pt x="1130" y="527"/>
                    </a:lnTo>
                    <a:lnTo>
                      <a:pt x="1163" y="406"/>
                    </a:lnTo>
                    <a:lnTo>
                      <a:pt x="1196" y="295"/>
                    </a:lnTo>
                    <a:lnTo>
                      <a:pt x="1230" y="197"/>
                    </a:lnTo>
                    <a:lnTo>
                      <a:pt x="1262" y="115"/>
                    </a:lnTo>
                    <a:lnTo>
                      <a:pt x="1296" y="55"/>
                    </a:lnTo>
                    <a:lnTo>
                      <a:pt x="1328" y="16"/>
                    </a:lnTo>
                    <a:lnTo>
                      <a:pt x="1362" y="0"/>
                    </a:lnTo>
                    <a:lnTo>
                      <a:pt x="1396" y="9"/>
                    </a:lnTo>
                    <a:lnTo>
                      <a:pt x="1428" y="42"/>
                    </a:lnTo>
                    <a:lnTo>
                      <a:pt x="1462" y="97"/>
                    </a:lnTo>
                    <a:lnTo>
                      <a:pt x="1496" y="172"/>
                    </a:lnTo>
                    <a:lnTo>
                      <a:pt x="1528" y="266"/>
                    </a:lnTo>
                    <a:lnTo>
                      <a:pt x="1562" y="373"/>
                    </a:lnTo>
                    <a:lnTo>
                      <a:pt x="1596" y="492"/>
                    </a:lnTo>
                    <a:lnTo>
                      <a:pt x="1628" y="618"/>
                    </a:lnTo>
                    <a:lnTo>
                      <a:pt x="1662" y="744"/>
                    </a:lnTo>
                    <a:lnTo>
                      <a:pt x="1694" y="866"/>
                    </a:lnTo>
                    <a:lnTo>
                      <a:pt x="1728" y="983"/>
                    </a:lnTo>
                    <a:lnTo>
                      <a:pt x="1762" y="1088"/>
                    </a:lnTo>
                    <a:lnTo>
                      <a:pt x="1794" y="1177"/>
                    </a:lnTo>
                    <a:lnTo>
                      <a:pt x="1828" y="1247"/>
                    </a:lnTo>
                    <a:lnTo>
                      <a:pt x="1861" y="1296"/>
                    </a:lnTo>
                    <a:lnTo>
                      <a:pt x="1894" y="1323"/>
                    </a:lnTo>
                    <a:lnTo>
                      <a:pt x="1927" y="1326"/>
                    </a:lnTo>
                    <a:lnTo>
                      <a:pt x="1961" y="1304"/>
                    </a:lnTo>
                    <a:lnTo>
                      <a:pt x="1993" y="1258"/>
                    </a:lnTo>
                    <a:lnTo>
                      <a:pt x="2027" y="1192"/>
                    </a:lnTo>
                    <a:lnTo>
                      <a:pt x="2060" y="1106"/>
                    </a:lnTo>
                    <a:lnTo>
                      <a:pt x="2093" y="1005"/>
                    </a:lnTo>
                    <a:lnTo>
                      <a:pt x="2127" y="889"/>
                    </a:lnTo>
                    <a:lnTo>
                      <a:pt x="2159" y="768"/>
                    </a:lnTo>
                    <a:lnTo>
                      <a:pt x="2193" y="641"/>
                    </a:lnTo>
                    <a:lnTo>
                      <a:pt x="2227" y="516"/>
                    </a:lnTo>
                    <a:lnTo>
                      <a:pt x="2259" y="396"/>
                    </a:lnTo>
                    <a:lnTo>
                      <a:pt x="2293" y="286"/>
                    </a:lnTo>
                    <a:lnTo>
                      <a:pt x="2327" y="189"/>
                    </a:lnTo>
                    <a:lnTo>
                      <a:pt x="2359" y="109"/>
                    </a:lnTo>
                    <a:lnTo>
                      <a:pt x="2393" y="51"/>
                    </a:lnTo>
                    <a:lnTo>
                      <a:pt x="2425" y="14"/>
                    </a:lnTo>
                    <a:lnTo>
                      <a:pt x="2459" y="0"/>
                    </a:lnTo>
                    <a:lnTo>
                      <a:pt x="2493" y="11"/>
                    </a:lnTo>
                    <a:lnTo>
                      <a:pt x="2525" y="46"/>
                    </a:lnTo>
                    <a:lnTo>
                      <a:pt x="2559" y="103"/>
                    </a:lnTo>
                    <a:lnTo>
                      <a:pt x="2593" y="180"/>
                    </a:lnTo>
                    <a:lnTo>
                      <a:pt x="2625" y="275"/>
                    </a:lnTo>
                    <a:lnTo>
                      <a:pt x="2659" y="384"/>
                    </a:lnTo>
                    <a:lnTo>
                      <a:pt x="2692" y="502"/>
                    </a:lnTo>
                    <a:lnTo>
                      <a:pt x="2725" y="628"/>
                    </a:lnTo>
                    <a:lnTo>
                      <a:pt x="2758" y="754"/>
                    </a:lnTo>
                    <a:lnTo>
                      <a:pt x="2791" y="877"/>
                    </a:lnTo>
                    <a:lnTo>
                      <a:pt x="2824" y="992"/>
                    </a:lnTo>
                    <a:lnTo>
                      <a:pt x="2858" y="1097"/>
                    </a:lnTo>
                    <a:lnTo>
                      <a:pt x="2890" y="1184"/>
                    </a:lnTo>
                    <a:lnTo>
                      <a:pt x="2924" y="1252"/>
                    </a:lnTo>
                    <a:lnTo>
                      <a:pt x="2958" y="1299"/>
                    </a:lnTo>
                    <a:lnTo>
                      <a:pt x="2990" y="1324"/>
                    </a:lnTo>
                    <a:lnTo>
                      <a:pt x="3024" y="1324"/>
                    </a:lnTo>
                    <a:lnTo>
                      <a:pt x="3058" y="1301"/>
                    </a:lnTo>
                    <a:lnTo>
                      <a:pt x="3090" y="1253"/>
                    </a:lnTo>
                    <a:lnTo>
                      <a:pt x="3124" y="1184"/>
                    </a:lnTo>
                    <a:lnTo>
                      <a:pt x="3156" y="1098"/>
                    </a:lnTo>
                    <a:lnTo>
                      <a:pt x="3190" y="995"/>
                    </a:lnTo>
                    <a:lnTo>
                      <a:pt x="3224" y="880"/>
                    </a:lnTo>
                    <a:lnTo>
                      <a:pt x="3256" y="756"/>
                    </a:lnTo>
                    <a:lnTo>
                      <a:pt x="3290" y="630"/>
                    </a:lnTo>
                  </a:path>
                </a:pathLst>
              </a:custGeom>
              <a:noFill/>
              <a:ln w="28575" cmpd="sng">
                <a:solidFill>
                  <a:srgbClr val="0000FF"/>
                </a:solidFill>
                <a:round/>
                <a:headEnd/>
                <a:tailEnd/>
              </a:ln>
            </p:spPr>
            <p:txBody>
              <a:bodyPr/>
              <a:lstStyle/>
              <a:p>
                <a:endParaRPr lang="zh-CN" altLang="en-US"/>
              </a:p>
            </p:txBody>
          </p:sp>
          <p:sp>
            <p:nvSpPr>
              <p:cNvPr id="73844" name="未知"/>
              <p:cNvSpPr>
                <a:spLocks/>
              </p:cNvSpPr>
              <p:nvPr/>
            </p:nvSpPr>
            <p:spPr bwMode="auto">
              <a:xfrm>
                <a:off x="1081" y="8"/>
                <a:ext cx="1089" cy="454"/>
              </a:xfrm>
              <a:custGeom>
                <a:avLst/>
                <a:gdLst>
                  <a:gd name="T0" fmla="*/ 0 w 3290"/>
                  <a:gd name="T1" fmla="*/ 0 h 1326"/>
                  <a:gd name="T2" fmla="*/ 0 w 3290"/>
                  <a:gd name="T3" fmla="*/ 0 h 1326"/>
                  <a:gd name="T4" fmla="*/ 0 w 3290"/>
                  <a:gd name="T5" fmla="*/ 0 h 1326"/>
                  <a:gd name="T6" fmla="*/ 0 w 3290"/>
                  <a:gd name="T7" fmla="*/ 0 h 1326"/>
                  <a:gd name="T8" fmla="*/ 0 w 3290"/>
                  <a:gd name="T9" fmla="*/ 0 h 1326"/>
                  <a:gd name="T10" fmla="*/ 0 w 3290"/>
                  <a:gd name="T11" fmla="*/ 0 h 1326"/>
                  <a:gd name="T12" fmla="*/ 0 w 3290"/>
                  <a:gd name="T13" fmla="*/ 0 h 1326"/>
                  <a:gd name="T14" fmla="*/ 0 w 3290"/>
                  <a:gd name="T15" fmla="*/ 0 h 1326"/>
                  <a:gd name="T16" fmla="*/ 0 w 3290"/>
                  <a:gd name="T17" fmla="*/ 0 h 1326"/>
                  <a:gd name="T18" fmla="*/ 0 w 3290"/>
                  <a:gd name="T19" fmla="*/ 0 h 1326"/>
                  <a:gd name="T20" fmla="*/ 0 w 3290"/>
                  <a:gd name="T21" fmla="*/ 0 h 1326"/>
                  <a:gd name="T22" fmla="*/ 0 w 3290"/>
                  <a:gd name="T23" fmla="*/ 0 h 1326"/>
                  <a:gd name="T24" fmla="*/ 0 w 3290"/>
                  <a:gd name="T25" fmla="*/ 0 h 1326"/>
                  <a:gd name="T26" fmla="*/ 0 w 3290"/>
                  <a:gd name="T27" fmla="*/ 0 h 1326"/>
                  <a:gd name="T28" fmla="*/ 0 w 3290"/>
                  <a:gd name="T29" fmla="*/ 0 h 1326"/>
                  <a:gd name="T30" fmla="*/ 0 w 3290"/>
                  <a:gd name="T31" fmla="*/ 0 h 1326"/>
                  <a:gd name="T32" fmla="*/ 0 w 3290"/>
                  <a:gd name="T33" fmla="*/ 0 h 1326"/>
                  <a:gd name="T34" fmla="*/ 0 w 3290"/>
                  <a:gd name="T35" fmla="*/ 0 h 1326"/>
                  <a:gd name="T36" fmla="*/ 0 w 3290"/>
                  <a:gd name="T37" fmla="*/ 0 h 1326"/>
                  <a:gd name="T38" fmla="*/ 0 w 3290"/>
                  <a:gd name="T39" fmla="*/ 0 h 1326"/>
                  <a:gd name="T40" fmla="*/ 0 w 3290"/>
                  <a:gd name="T41" fmla="*/ 0 h 1326"/>
                  <a:gd name="T42" fmla="*/ 0 w 3290"/>
                  <a:gd name="T43" fmla="*/ 0 h 1326"/>
                  <a:gd name="T44" fmla="*/ 0 w 3290"/>
                  <a:gd name="T45" fmla="*/ 0 h 1326"/>
                  <a:gd name="T46" fmla="*/ 0 w 3290"/>
                  <a:gd name="T47" fmla="*/ 0 h 1326"/>
                  <a:gd name="T48" fmla="*/ 0 w 3290"/>
                  <a:gd name="T49" fmla="*/ 0 h 1326"/>
                  <a:gd name="T50" fmla="*/ 0 w 3290"/>
                  <a:gd name="T51" fmla="*/ 0 h 1326"/>
                  <a:gd name="T52" fmla="*/ 0 w 3290"/>
                  <a:gd name="T53" fmla="*/ 0 h 1326"/>
                  <a:gd name="T54" fmla="*/ 0 w 3290"/>
                  <a:gd name="T55" fmla="*/ 0 h 1326"/>
                  <a:gd name="T56" fmla="*/ 0 w 3290"/>
                  <a:gd name="T57" fmla="*/ 0 h 1326"/>
                  <a:gd name="T58" fmla="*/ 0 w 3290"/>
                  <a:gd name="T59" fmla="*/ 0 h 1326"/>
                  <a:gd name="T60" fmla="*/ 0 w 3290"/>
                  <a:gd name="T61" fmla="*/ 0 h 1326"/>
                  <a:gd name="T62" fmla="*/ 0 w 3290"/>
                  <a:gd name="T63" fmla="*/ 0 h 1326"/>
                  <a:gd name="T64" fmla="*/ 0 w 3290"/>
                  <a:gd name="T65" fmla="*/ 0 h 1326"/>
                  <a:gd name="T66" fmla="*/ 0 w 3290"/>
                  <a:gd name="T67" fmla="*/ 0 h 1326"/>
                  <a:gd name="T68" fmla="*/ 0 w 3290"/>
                  <a:gd name="T69" fmla="*/ 0 h 1326"/>
                  <a:gd name="T70" fmla="*/ 0 w 3290"/>
                  <a:gd name="T71" fmla="*/ 0 h 1326"/>
                  <a:gd name="T72" fmla="*/ 0 w 3290"/>
                  <a:gd name="T73" fmla="*/ 0 h 1326"/>
                  <a:gd name="T74" fmla="*/ 0 w 3290"/>
                  <a:gd name="T75" fmla="*/ 0 h 1326"/>
                  <a:gd name="T76" fmla="*/ 0 w 3290"/>
                  <a:gd name="T77" fmla="*/ 0 h 1326"/>
                  <a:gd name="T78" fmla="*/ 0 w 3290"/>
                  <a:gd name="T79" fmla="*/ 0 h 1326"/>
                  <a:gd name="T80" fmla="*/ 0 w 3290"/>
                  <a:gd name="T81" fmla="*/ 0 h 1326"/>
                  <a:gd name="T82" fmla="*/ 0 w 3290"/>
                  <a:gd name="T83" fmla="*/ 0 h 1326"/>
                  <a:gd name="T84" fmla="*/ 0 w 3290"/>
                  <a:gd name="T85" fmla="*/ 0 h 1326"/>
                  <a:gd name="T86" fmla="*/ 0 w 3290"/>
                  <a:gd name="T87" fmla="*/ 0 h 1326"/>
                  <a:gd name="T88" fmla="*/ 0 w 3290"/>
                  <a:gd name="T89" fmla="*/ 0 h 1326"/>
                  <a:gd name="T90" fmla="*/ 0 w 3290"/>
                  <a:gd name="T91" fmla="*/ 0 h 1326"/>
                  <a:gd name="T92" fmla="*/ 0 w 3290"/>
                  <a:gd name="T93" fmla="*/ 0 h 1326"/>
                  <a:gd name="T94" fmla="*/ 0 w 3290"/>
                  <a:gd name="T95" fmla="*/ 0 h 1326"/>
                  <a:gd name="T96" fmla="*/ 0 w 3290"/>
                  <a:gd name="T97" fmla="*/ 0 h 1326"/>
                  <a:gd name="T98" fmla="*/ 0 w 3290"/>
                  <a:gd name="T99" fmla="*/ 0 h 13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290"/>
                  <a:gd name="T151" fmla="*/ 0 h 1326"/>
                  <a:gd name="T152" fmla="*/ 3290 w 3290"/>
                  <a:gd name="T153" fmla="*/ 1326 h 13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290" h="1326">
                    <a:moveTo>
                      <a:pt x="0" y="664"/>
                    </a:moveTo>
                    <a:lnTo>
                      <a:pt x="34" y="538"/>
                    </a:lnTo>
                    <a:lnTo>
                      <a:pt x="66" y="416"/>
                    </a:lnTo>
                    <a:lnTo>
                      <a:pt x="100" y="304"/>
                    </a:lnTo>
                    <a:lnTo>
                      <a:pt x="133" y="204"/>
                    </a:lnTo>
                    <a:lnTo>
                      <a:pt x="166" y="122"/>
                    </a:lnTo>
                    <a:lnTo>
                      <a:pt x="199" y="59"/>
                    </a:lnTo>
                    <a:lnTo>
                      <a:pt x="232" y="19"/>
                    </a:lnTo>
                    <a:lnTo>
                      <a:pt x="265" y="0"/>
                    </a:lnTo>
                    <a:lnTo>
                      <a:pt x="299" y="8"/>
                    </a:lnTo>
                    <a:lnTo>
                      <a:pt x="332" y="37"/>
                    </a:lnTo>
                    <a:lnTo>
                      <a:pt x="365" y="91"/>
                    </a:lnTo>
                    <a:lnTo>
                      <a:pt x="399" y="165"/>
                    </a:lnTo>
                    <a:lnTo>
                      <a:pt x="431" y="257"/>
                    </a:lnTo>
                    <a:lnTo>
                      <a:pt x="465" y="364"/>
                    </a:lnTo>
                    <a:lnTo>
                      <a:pt x="499" y="481"/>
                    </a:lnTo>
                    <a:lnTo>
                      <a:pt x="531" y="605"/>
                    </a:lnTo>
                    <a:lnTo>
                      <a:pt x="565" y="733"/>
                    </a:lnTo>
                    <a:lnTo>
                      <a:pt x="597" y="857"/>
                    </a:lnTo>
                    <a:lnTo>
                      <a:pt x="631" y="974"/>
                    </a:lnTo>
                    <a:lnTo>
                      <a:pt x="665" y="1078"/>
                    </a:lnTo>
                    <a:lnTo>
                      <a:pt x="697" y="1169"/>
                    </a:lnTo>
                    <a:lnTo>
                      <a:pt x="731" y="1243"/>
                    </a:lnTo>
                    <a:lnTo>
                      <a:pt x="765" y="1293"/>
                    </a:lnTo>
                    <a:lnTo>
                      <a:pt x="797" y="1321"/>
                    </a:lnTo>
                    <a:lnTo>
                      <a:pt x="831" y="1326"/>
                    </a:lnTo>
                    <a:lnTo>
                      <a:pt x="865" y="1306"/>
                    </a:lnTo>
                    <a:lnTo>
                      <a:pt x="897" y="1263"/>
                    </a:lnTo>
                    <a:lnTo>
                      <a:pt x="931" y="1198"/>
                    </a:lnTo>
                    <a:lnTo>
                      <a:pt x="963" y="1114"/>
                    </a:lnTo>
                    <a:lnTo>
                      <a:pt x="997" y="1014"/>
                    </a:lnTo>
                    <a:lnTo>
                      <a:pt x="1030" y="900"/>
                    </a:lnTo>
                    <a:lnTo>
                      <a:pt x="1063" y="779"/>
                    </a:lnTo>
                    <a:lnTo>
                      <a:pt x="1096" y="653"/>
                    </a:lnTo>
                    <a:lnTo>
                      <a:pt x="1130" y="527"/>
                    </a:lnTo>
                    <a:lnTo>
                      <a:pt x="1163" y="406"/>
                    </a:lnTo>
                    <a:lnTo>
                      <a:pt x="1196" y="295"/>
                    </a:lnTo>
                    <a:lnTo>
                      <a:pt x="1230" y="197"/>
                    </a:lnTo>
                    <a:lnTo>
                      <a:pt x="1262" y="115"/>
                    </a:lnTo>
                    <a:lnTo>
                      <a:pt x="1296" y="55"/>
                    </a:lnTo>
                    <a:lnTo>
                      <a:pt x="1328" y="16"/>
                    </a:lnTo>
                    <a:lnTo>
                      <a:pt x="1362" y="0"/>
                    </a:lnTo>
                    <a:lnTo>
                      <a:pt x="1396" y="9"/>
                    </a:lnTo>
                    <a:lnTo>
                      <a:pt x="1428" y="42"/>
                    </a:lnTo>
                    <a:lnTo>
                      <a:pt x="1462" y="97"/>
                    </a:lnTo>
                    <a:lnTo>
                      <a:pt x="1496" y="172"/>
                    </a:lnTo>
                    <a:lnTo>
                      <a:pt x="1528" y="266"/>
                    </a:lnTo>
                    <a:lnTo>
                      <a:pt x="1562" y="373"/>
                    </a:lnTo>
                    <a:lnTo>
                      <a:pt x="1596" y="492"/>
                    </a:lnTo>
                    <a:lnTo>
                      <a:pt x="1628" y="618"/>
                    </a:lnTo>
                    <a:lnTo>
                      <a:pt x="1662" y="744"/>
                    </a:lnTo>
                    <a:lnTo>
                      <a:pt x="1694" y="866"/>
                    </a:lnTo>
                    <a:lnTo>
                      <a:pt x="1728" y="983"/>
                    </a:lnTo>
                    <a:lnTo>
                      <a:pt x="1762" y="1088"/>
                    </a:lnTo>
                    <a:lnTo>
                      <a:pt x="1794" y="1177"/>
                    </a:lnTo>
                    <a:lnTo>
                      <a:pt x="1828" y="1247"/>
                    </a:lnTo>
                    <a:lnTo>
                      <a:pt x="1861" y="1296"/>
                    </a:lnTo>
                    <a:lnTo>
                      <a:pt x="1894" y="1323"/>
                    </a:lnTo>
                    <a:lnTo>
                      <a:pt x="1927" y="1326"/>
                    </a:lnTo>
                    <a:lnTo>
                      <a:pt x="1961" y="1304"/>
                    </a:lnTo>
                    <a:lnTo>
                      <a:pt x="1993" y="1258"/>
                    </a:lnTo>
                    <a:lnTo>
                      <a:pt x="2027" y="1192"/>
                    </a:lnTo>
                    <a:lnTo>
                      <a:pt x="2060" y="1106"/>
                    </a:lnTo>
                    <a:lnTo>
                      <a:pt x="2093" y="1005"/>
                    </a:lnTo>
                    <a:lnTo>
                      <a:pt x="2127" y="889"/>
                    </a:lnTo>
                    <a:lnTo>
                      <a:pt x="2159" y="768"/>
                    </a:lnTo>
                    <a:lnTo>
                      <a:pt x="2193" y="641"/>
                    </a:lnTo>
                    <a:lnTo>
                      <a:pt x="2227" y="516"/>
                    </a:lnTo>
                    <a:lnTo>
                      <a:pt x="2259" y="396"/>
                    </a:lnTo>
                    <a:lnTo>
                      <a:pt x="2293" y="286"/>
                    </a:lnTo>
                    <a:lnTo>
                      <a:pt x="2327" y="189"/>
                    </a:lnTo>
                    <a:lnTo>
                      <a:pt x="2359" y="109"/>
                    </a:lnTo>
                    <a:lnTo>
                      <a:pt x="2393" y="51"/>
                    </a:lnTo>
                    <a:lnTo>
                      <a:pt x="2425" y="14"/>
                    </a:lnTo>
                    <a:lnTo>
                      <a:pt x="2459" y="0"/>
                    </a:lnTo>
                    <a:lnTo>
                      <a:pt x="2493" y="11"/>
                    </a:lnTo>
                    <a:lnTo>
                      <a:pt x="2525" y="46"/>
                    </a:lnTo>
                    <a:lnTo>
                      <a:pt x="2559" y="103"/>
                    </a:lnTo>
                    <a:lnTo>
                      <a:pt x="2593" y="180"/>
                    </a:lnTo>
                    <a:lnTo>
                      <a:pt x="2625" y="275"/>
                    </a:lnTo>
                    <a:lnTo>
                      <a:pt x="2659" y="384"/>
                    </a:lnTo>
                    <a:lnTo>
                      <a:pt x="2692" y="502"/>
                    </a:lnTo>
                    <a:lnTo>
                      <a:pt x="2725" y="628"/>
                    </a:lnTo>
                    <a:lnTo>
                      <a:pt x="2758" y="754"/>
                    </a:lnTo>
                    <a:lnTo>
                      <a:pt x="2791" y="877"/>
                    </a:lnTo>
                    <a:lnTo>
                      <a:pt x="2824" y="992"/>
                    </a:lnTo>
                    <a:lnTo>
                      <a:pt x="2858" y="1097"/>
                    </a:lnTo>
                    <a:lnTo>
                      <a:pt x="2890" y="1184"/>
                    </a:lnTo>
                    <a:lnTo>
                      <a:pt x="2924" y="1252"/>
                    </a:lnTo>
                    <a:lnTo>
                      <a:pt x="2958" y="1299"/>
                    </a:lnTo>
                    <a:lnTo>
                      <a:pt x="2990" y="1324"/>
                    </a:lnTo>
                    <a:lnTo>
                      <a:pt x="3024" y="1324"/>
                    </a:lnTo>
                    <a:lnTo>
                      <a:pt x="3058" y="1301"/>
                    </a:lnTo>
                    <a:lnTo>
                      <a:pt x="3090" y="1253"/>
                    </a:lnTo>
                    <a:lnTo>
                      <a:pt x="3124" y="1184"/>
                    </a:lnTo>
                    <a:lnTo>
                      <a:pt x="3156" y="1098"/>
                    </a:lnTo>
                    <a:lnTo>
                      <a:pt x="3190" y="995"/>
                    </a:lnTo>
                    <a:lnTo>
                      <a:pt x="3224" y="880"/>
                    </a:lnTo>
                    <a:lnTo>
                      <a:pt x="3256" y="756"/>
                    </a:lnTo>
                    <a:lnTo>
                      <a:pt x="3290" y="630"/>
                    </a:lnTo>
                  </a:path>
                </a:pathLst>
              </a:custGeom>
              <a:noFill/>
              <a:ln w="28575" cmpd="sng">
                <a:solidFill>
                  <a:srgbClr val="0000FF"/>
                </a:solidFill>
                <a:round/>
                <a:headEnd/>
                <a:tailEnd/>
              </a:ln>
            </p:spPr>
            <p:txBody>
              <a:bodyPr/>
              <a:lstStyle/>
              <a:p>
                <a:endParaRPr lang="zh-CN" altLang="en-US"/>
              </a:p>
            </p:txBody>
          </p:sp>
        </p:grpSp>
        <p:sp>
          <p:nvSpPr>
            <p:cNvPr id="73841" name="未知"/>
            <p:cNvSpPr>
              <a:spLocks/>
            </p:cNvSpPr>
            <p:nvPr/>
          </p:nvSpPr>
          <p:spPr bwMode="auto">
            <a:xfrm rot="10800000">
              <a:off x="186" y="0"/>
              <a:ext cx="883" cy="280"/>
            </a:xfrm>
            <a:custGeom>
              <a:avLst/>
              <a:gdLst>
                <a:gd name="T0" fmla="*/ 0 w 3290"/>
                <a:gd name="T1" fmla="*/ 0 h 1326"/>
                <a:gd name="T2" fmla="*/ 0 w 3290"/>
                <a:gd name="T3" fmla="*/ 0 h 1326"/>
                <a:gd name="T4" fmla="*/ 0 w 3290"/>
                <a:gd name="T5" fmla="*/ 0 h 1326"/>
                <a:gd name="T6" fmla="*/ 0 w 3290"/>
                <a:gd name="T7" fmla="*/ 0 h 1326"/>
                <a:gd name="T8" fmla="*/ 0 w 3290"/>
                <a:gd name="T9" fmla="*/ 0 h 1326"/>
                <a:gd name="T10" fmla="*/ 0 w 3290"/>
                <a:gd name="T11" fmla="*/ 0 h 1326"/>
                <a:gd name="T12" fmla="*/ 0 w 3290"/>
                <a:gd name="T13" fmla="*/ 0 h 1326"/>
                <a:gd name="T14" fmla="*/ 0 w 3290"/>
                <a:gd name="T15" fmla="*/ 0 h 1326"/>
                <a:gd name="T16" fmla="*/ 0 w 3290"/>
                <a:gd name="T17" fmla="*/ 0 h 1326"/>
                <a:gd name="T18" fmla="*/ 0 w 3290"/>
                <a:gd name="T19" fmla="*/ 0 h 1326"/>
                <a:gd name="T20" fmla="*/ 0 w 3290"/>
                <a:gd name="T21" fmla="*/ 0 h 1326"/>
                <a:gd name="T22" fmla="*/ 0 w 3290"/>
                <a:gd name="T23" fmla="*/ 0 h 1326"/>
                <a:gd name="T24" fmla="*/ 0 w 3290"/>
                <a:gd name="T25" fmla="*/ 0 h 1326"/>
                <a:gd name="T26" fmla="*/ 0 w 3290"/>
                <a:gd name="T27" fmla="*/ 0 h 1326"/>
                <a:gd name="T28" fmla="*/ 0 w 3290"/>
                <a:gd name="T29" fmla="*/ 0 h 1326"/>
                <a:gd name="T30" fmla="*/ 0 w 3290"/>
                <a:gd name="T31" fmla="*/ 0 h 1326"/>
                <a:gd name="T32" fmla="*/ 0 w 3290"/>
                <a:gd name="T33" fmla="*/ 0 h 1326"/>
                <a:gd name="T34" fmla="*/ 0 w 3290"/>
                <a:gd name="T35" fmla="*/ 0 h 1326"/>
                <a:gd name="T36" fmla="*/ 0 w 3290"/>
                <a:gd name="T37" fmla="*/ 0 h 1326"/>
                <a:gd name="T38" fmla="*/ 0 w 3290"/>
                <a:gd name="T39" fmla="*/ 0 h 1326"/>
                <a:gd name="T40" fmla="*/ 0 w 3290"/>
                <a:gd name="T41" fmla="*/ 0 h 1326"/>
                <a:gd name="T42" fmla="*/ 0 w 3290"/>
                <a:gd name="T43" fmla="*/ 0 h 1326"/>
                <a:gd name="T44" fmla="*/ 0 w 3290"/>
                <a:gd name="T45" fmla="*/ 0 h 1326"/>
                <a:gd name="T46" fmla="*/ 0 w 3290"/>
                <a:gd name="T47" fmla="*/ 0 h 1326"/>
                <a:gd name="T48" fmla="*/ 0 w 3290"/>
                <a:gd name="T49" fmla="*/ 0 h 1326"/>
                <a:gd name="T50" fmla="*/ 0 w 3290"/>
                <a:gd name="T51" fmla="*/ 0 h 1326"/>
                <a:gd name="T52" fmla="*/ 0 w 3290"/>
                <a:gd name="T53" fmla="*/ 0 h 1326"/>
                <a:gd name="T54" fmla="*/ 0 w 3290"/>
                <a:gd name="T55" fmla="*/ 0 h 1326"/>
                <a:gd name="T56" fmla="*/ 0 w 3290"/>
                <a:gd name="T57" fmla="*/ 0 h 1326"/>
                <a:gd name="T58" fmla="*/ 0 w 3290"/>
                <a:gd name="T59" fmla="*/ 0 h 1326"/>
                <a:gd name="T60" fmla="*/ 0 w 3290"/>
                <a:gd name="T61" fmla="*/ 0 h 1326"/>
                <a:gd name="T62" fmla="*/ 0 w 3290"/>
                <a:gd name="T63" fmla="*/ 0 h 1326"/>
                <a:gd name="T64" fmla="*/ 0 w 3290"/>
                <a:gd name="T65" fmla="*/ 0 h 1326"/>
                <a:gd name="T66" fmla="*/ 0 w 3290"/>
                <a:gd name="T67" fmla="*/ 0 h 1326"/>
                <a:gd name="T68" fmla="*/ 0 w 3290"/>
                <a:gd name="T69" fmla="*/ 0 h 1326"/>
                <a:gd name="T70" fmla="*/ 0 w 3290"/>
                <a:gd name="T71" fmla="*/ 0 h 1326"/>
                <a:gd name="T72" fmla="*/ 0 w 3290"/>
                <a:gd name="T73" fmla="*/ 0 h 1326"/>
                <a:gd name="T74" fmla="*/ 0 w 3290"/>
                <a:gd name="T75" fmla="*/ 0 h 1326"/>
                <a:gd name="T76" fmla="*/ 0 w 3290"/>
                <a:gd name="T77" fmla="*/ 0 h 1326"/>
                <a:gd name="T78" fmla="*/ 0 w 3290"/>
                <a:gd name="T79" fmla="*/ 0 h 1326"/>
                <a:gd name="T80" fmla="*/ 0 w 3290"/>
                <a:gd name="T81" fmla="*/ 0 h 1326"/>
                <a:gd name="T82" fmla="*/ 0 w 3290"/>
                <a:gd name="T83" fmla="*/ 0 h 1326"/>
                <a:gd name="T84" fmla="*/ 0 w 3290"/>
                <a:gd name="T85" fmla="*/ 0 h 1326"/>
                <a:gd name="T86" fmla="*/ 0 w 3290"/>
                <a:gd name="T87" fmla="*/ 0 h 1326"/>
                <a:gd name="T88" fmla="*/ 0 w 3290"/>
                <a:gd name="T89" fmla="*/ 0 h 1326"/>
                <a:gd name="T90" fmla="*/ 0 w 3290"/>
                <a:gd name="T91" fmla="*/ 0 h 1326"/>
                <a:gd name="T92" fmla="*/ 0 w 3290"/>
                <a:gd name="T93" fmla="*/ 0 h 1326"/>
                <a:gd name="T94" fmla="*/ 0 w 3290"/>
                <a:gd name="T95" fmla="*/ 0 h 1326"/>
                <a:gd name="T96" fmla="*/ 0 w 3290"/>
                <a:gd name="T97" fmla="*/ 0 h 1326"/>
                <a:gd name="T98" fmla="*/ 0 w 3290"/>
                <a:gd name="T99" fmla="*/ 0 h 13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290"/>
                <a:gd name="T151" fmla="*/ 0 h 1326"/>
                <a:gd name="T152" fmla="*/ 3290 w 3290"/>
                <a:gd name="T153" fmla="*/ 1326 h 13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290" h="1326">
                  <a:moveTo>
                    <a:pt x="0" y="664"/>
                  </a:moveTo>
                  <a:lnTo>
                    <a:pt x="34" y="538"/>
                  </a:lnTo>
                  <a:lnTo>
                    <a:pt x="66" y="416"/>
                  </a:lnTo>
                  <a:lnTo>
                    <a:pt x="100" y="304"/>
                  </a:lnTo>
                  <a:lnTo>
                    <a:pt x="133" y="204"/>
                  </a:lnTo>
                  <a:lnTo>
                    <a:pt x="166" y="122"/>
                  </a:lnTo>
                  <a:lnTo>
                    <a:pt x="199" y="59"/>
                  </a:lnTo>
                  <a:lnTo>
                    <a:pt x="232" y="19"/>
                  </a:lnTo>
                  <a:lnTo>
                    <a:pt x="265" y="0"/>
                  </a:lnTo>
                  <a:lnTo>
                    <a:pt x="299" y="8"/>
                  </a:lnTo>
                  <a:lnTo>
                    <a:pt x="332" y="37"/>
                  </a:lnTo>
                  <a:lnTo>
                    <a:pt x="365" y="91"/>
                  </a:lnTo>
                  <a:lnTo>
                    <a:pt x="399" y="165"/>
                  </a:lnTo>
                  <a:lnTo>
                    <a:pt x="431" y="257"/>
                  </a:lnTo>
                  <a:lnTo>
                    <a:pt x="465" y="364"/>
                  </a:lnTo>
                  <a:lnTo>
                    <a:pt x="499" y="481"/>
                  </a:lnTo>
                  <a:lnTo>
                    <a:pt x="531" y="605"/>
                  </a:lnTo>
                  <a:lnTo>
                    <a:pt x="565" y="733"/>
                  </a:lnTo>
                  <a:lnTo>
                    <a:pt x="597" y="857"/>
                  </a:lnTo>
                  <a:lnTo>
                    <a:pt x="631" y="974"/>
                  </a:lnTo>
                  <a:lnTo>
                    <a:pt x="665" y="1078"/>
                  </a:lnTo>
                  <a:lnTo>
                    <a:pt x="697" y="1169"/>
                  </a:lnTo>
                  <a:lnTo>
                    <a:pt x="731" y="1243"/>
                  </a:lnTo>
                  <a:lnTo>
                    <a:pt x="765" y="1293"/>
                  </a:lnTo>
                  <a:lnTo>
                    <a:pt x="797" y="1321"/>
                  </a:lnTo>
                  <a:lnTo>
                    <a:pt x="831" y="1326"/>
                  </a:lnTo>
                  <a:lnTo>
                    <a:pt x="865" y="1306"/>
                  </a:lnTo>
                  <a:lnTo>
                    <a:pt x="897" y="1263"/>
                  </a:lnTo>
                  <a:lnTo>
                    <a:pt x="931" y="1198"/>
                  </a:lnTo>
                  <a:lnTo>
                    <a:pt x="963" y="1114"/>
                  </a:lnTo>
                  <a:lnTo>
                    <a:pt x="997" y="1014"/>
                  </a:lnTo>
                  <a:lnTo>
                    <a:pt x="1030" y="900"/>
                  </a:lnTo>
                  <a:lnTo>
                    <a:pt x="1063" y="779"/>
                  </a:lnTo>
                  <a:lnTo>
                    <a:pt x="1096" y="653"/>
                  </a:lnTo>
                  <a:lnTo>
                    <a:pt x="1130" y="527"/>
                  </a:lnTo>
                  <a:lnTo>
                    <a:pt x="1163" y="406"/>
                  </a:lnTo>
                  <a:lnTo>
                    <a:pt x="1196" y="295"/>
                  </a:lnTo>
                  <a:lnTo>
                    <a:pt x="1230" y="197"/>
                  </a:lnTo>
                  <a:lnTo>
                    <a:pt x="1262" y="115"/>
                  </a:lnTo>
                  <a:lnTo>
                    <a:pt x="1296" y="55"/>
                  </a:lnTo>
                  <a:lnTo>
                    <a:pt x="1328" y="16"/>
                  </a:lnTo>
                  <a:lnTo>
                    <a:pt x="1362" y="0"/>
                  </a:lnTo>
                  <a:lnTo>
                    <a:pt x="1396" y="9"/>
                  </a:lnTo>
                  <a:lnTo>
                    <a:pt x="1428" y="42"/>
                  </a:lnTo>
                  <a:lnTo>
                    <a:pt x="1462" y="97"/>
                  </a:lnTo>
                  <a:lnTo>
                    <a:pt x="1496" y="172"/>
                  </a:lnTo>
                  <a:lnTo>
                    <a:pt x="1528" y="266"/>
                  </a:lnTo>
                  <a:lnTo>
                    <a:pt x="1562" y="373"/>
                  </a:lnTo>
                  <a:lnTo>
                    <a:pt x="1596" y="492"/>
                  </a:lnTo>
                  <a:lnTo>
                    <a:pt x="1628" y="618"/>
                  </a:lnTo>
                  <a:lnTo>
                    <a:pt x="1662" y="744"/>
                  </a:lnTo>
                  <a:lnTo>
                    <a:pt x="1694" y="866"/>
                  </a:lnTo>
                  <a:lnTo>
                    <a:pt x="1728" y="983"/>
                  </a:lnTo>
                  <a:lnTo>
                    <a:pt x="1762" y="1088"/>
                  </a:lnTo>
                  <a:lnTo>
                    <a:pt x="1794" y="1177"/>
                  </a:lnTo>
                  <a:lnTo>
                    <a:pt x="1828" y="1247"/>
                  </a:lnTo>
                  <a:lnTo>
                    <a:pt x="1861" y="1296"/>
                  </a:lnTo>
                  <a:lnTo>
                    <a:pt x="1894" y="1323"/>
                  </a:lnTo>
                  <a:lnTo>
                    <a:pt x="1927" y="1326"/>
                  </a:lnTo>
                  <a:lnTo>
                    <a:pt x="1961" y="1304"/>
                  </a:lnTo>
                  <a:lnTo>
                    <a:pt x="1993" y="1258"/>
                  </a:lnTo>
                  <a:lnTo>
                    <a:pt x="2027" y="1192"/>
                  </a:lnTo>
                  <a:lnTo>
                    <a:pt x="2060" y="1106"/>
                  </a:lnTo>
                  <a:lnTo>
                    <a:pt x="2093" y="1005"/>
                  </a:lnTo>
                  <a:lnTo>
                    <a:pt x="2127" y="889"/>
                  </a:lnTo>
                  <a:lnTo>
                    <a:pt x="2159" y="768"/>
                  </a:lnTo>
                  <a:lnTo>
                    <a:pt x="2193" y="641"/>
                  </a:lnTo>
                  <a:lnTo>
                    <a:pt x="2227" y="516"/>
                  </a:lnTo>
                  <a:lnTo>
                    <a:pt x="2259" y="396"/>
                  </a:lnTo>
                  <a:lnTo>
                    <a:pt x="2293" y="286"/>
                  </a:lnTo>
                  <a:lnTo>
                    <a:pt x="2327" y="189"/>
                  </a:lnTo>
                  <a:lnTo>
                    <a:pt x="2359" y="109"/>
                  </a:lnTo>
                  <a:lnTo>
                    <a:pt x="2393" y="51"/>
                  </a:lnTo>
                  <a:lnTo>
                    <a:pt x="2425" y="14"/>
                  </a:lnTo>
                  <a:lnTo>
                    <a:pt x="2459" y="0"/>
                  </a:lnTo>
                  <a:lnTo>
                    <a:pt x="2493" y="11"/>
                  </a:lnTo>
                  <a:lnTo>
                    <a:pt x="2525" y="46"/>
                  </a:lnTo>
                  <a:lnTo>
                    <a:pt x="2559" y="103"/>
                  </a:lnTo>
                  <a:lnTo>
                    <a:pt x="2593" y="180"/>
                  </a:lnTo>
                  <a:lnTo>
                    <a:pt x="2625" y="275"/>
                  </a:lnTo>
                  <a:lnTo>
                    <a:pt x="2659" y="384"/>
                  </a:lnTo>
                  <a:lnTo>
                    <a:pt x="2692" y="502"/>
                  </a:lnTo>
                  <a:lnTo>
                    <a:pt x="2725" y="628"/>
                  </a:lnTo>
                  <a:lnTo>
                    <a:pt x="2758" y="754"/>
                  </a:lnTo>
                  <a:lnTo>
                    <a:pt x="2791" y="877"/>
                  </a:lnTo>
                  <a:lnTo>
                    <a:pt x="2824" y="992"/>
                  </a:lnTo>
                  <a:lnTo>
                    <a:pt x="2858" y="1097"/>
                  </a:lnTo>
                  <a:lnTo>
                    <a:pt x="2890" y="1184"/>
                  </a:lnTo>
                  <a:lnTo>
                    <a:pt x="2924" y="1252"/>
                  </a:lnTo>
                  <a:lnTo>
                    <a:pt x="2958" y="1299"/>
                  </a:lnTo>
                  <a:lnTo>
                    <a:pt x="2990" y="1324"/>
                  </a:lnTo>
                  <a:lnTo>
                    <a:pt x="3024" y="1324"/>
                  </a:lnTo>
                  <a:lnTo>
                    <a:pt x="3058" y="1301"/>
                  </a:lnTo>
                  <a:lnTo>
                    <a:pt x="3090" y="1253"/>
                  </a:lnTo>
                  <a:lnTo>
                    <a:pt x="3124" y="1184"/>
                  </a:lnTo>
                  <a:lnTo>
                    <a:pt x="3156" y="1098"/>
                  </a:lnTo>
                  <a:lnTo>
                    <a:pt x="3190" y="995"/>
                  </a:lnTo>
                  <a:lnTo>
                    <a:pt x="3224" y="880"/>
                  </a:lnTo>
                  <a:lnTo>
                    <a:pt x="3256" y="756"/>
                  </a:lnTo>
                  <a:lnTo>
                    <a:pt x="3290" y="630"/>
                  </a:lnTo>
                </a:path>
              </a:pathLst>
            </a:custGeom>
            <a:noFill/>
            <a:ln w="28575" cmpd="sng">
              <a:solidFill>
                <a:srgbClr val="0000FF"/>
              </a:solidFill>
              <a:round/>
              <a:headEnd/>
              <a:tailEnd/>
            </a:ln>
          </p:spPr>
          <p:txBody>
            <a:bodyPr/>
            <a:lstStyle/>
            <a:p>
              <a:endParaRPr lang="zh-CN" altLang="en-US"/>
            </a:p>
          </p:txBody>
        </p:sp>
        <p:sp>
          <p:nvSpPr>
            <p:cNvPr id="73842" name="Line 27"/>
            <p:cNvSpPr>
              <a:spLocks noChangeShapeType="1"/>
            </p:cNvSpPr>
            <p:nvPr/>
          </p:nvSpPr>
          <p:spPr bwMode="auto">
            <a:xfrm flipH="1">
              <a:off x="0" y="144"/>
              <a:ext cx="192" cy="0"/>
            </a:xfrm>
            <a:prstGeom prst="line">
              <a:avLst/>
            </a:prstGeom>
            <a:noFill/>
            <a:ln w="38100">
              <a:solidFill>
                <a:srgbClr val="0033CC"/>
              </a:solidFill>
              <a:round/>
              <a:headEnd/>
              <a:tailEnd type="triangle" w="med" len="med"/>
            </a:ln>
          </p:spPr>
          <p:txBody>
            <a:bodyPr wrap="none" anchor="ctr"/>
            <a:lstStyle/>
            <a:p>
              <a:endParaRPr lang="zh-CN" altLang="en-US"/>
            </a:p>
          </p:txBody>
        </p:sp>
      </p:grpSp>
      <p:grpSp>
        <p:nvGrpSpPr>
          <p:cNvPr id="9" name="Group 28"/>
          <p:cNvGrpSpPr>
            <a:grpSpLocks/>
          </p:cNvGrpSpPr>
          <p:nvPr/>
        </p:nvGrpSpPr>
        <p:grpSpPr bwMode="auto">
          <a:xfrm>
            <a:off x="3419475" y="2973388"/>
            <a:ext cx="4267200" cy="339725"/>
            <a:chOff x="0" y="0"/>
            <a:chExt cx="2421" cy="285"/>
          </a:xfrm>
        </p:grpSpPr>
        <p:sp>
          <p:nvSpPr>
            <p:cNvPr id="73833" name="Line 29"/>
            <p:cNvSpPr>
              <a:spLocks noChangeShapeType="1"/>
            </p:cNvSpPr>
            <p:nvPr/>
          </p:nvSpPr>
          <p:spPr bwMode="auto">
            <a:xfrm rot="10800000" flipH="1">
              <a:off x="2256" y="144"/>
              <a:ext cx="165" cy="0"/>
            </a:xfrm>
            <a:prstGeom prst="line">
              <a:avLst/>
            </a:prstGeom>
            <a:noFill/>
            <a:ln w="38100">
              <a:solidFill>
                <a:srgbClr val="FF0000"/>
              </a:solidFill>
              <a:round/>
              <a:headEnd/>
              <a:tailEnd type="triangle" w="sm" len="lg"/>
            </a:ln>
          </p:spPr>
          <p:txBody>
            <a:bodyPr wrap="none" anchor="ctr"/>
            <a:lstStyle/>
            <a:p>
              <a:endParaRPr lang="zh-CN" altLang="en-US"/>
            </a:p>
          </p:txBody>
        </p:sp>
        <p:grpSp>
          <p:nvGrpSpPr>
            <p:cNvPr id="73834" name="Group 30"/>
            <p:cNvGrpSpPr>
              <a:grpSpLocks/>
            </p:cNvGrpSpPr>
            <p:nvPr/>
          </p:nvGrpSpPr>
          <p:grpSpPr bwMode="auto">
            <a:xfrm>
              <a:off x="0" y="0"/>
              <a:ext cx="1129" cy="285"/>
              <a:chOff x="0" y="0"/>
              <a:chExt cx="2170" cy="462"/>
            </a:xfrm>
          </p:grpSpPr>
          <p:sp>
            <p:nvSpPr>
              <p:cNvPr id="73838" name="未知"/>
              <p:cNvSpPr>
                <a:spLocks/>
              </p:cNvSpPr>
              <p:nvPr/>
            </p:nvSpPr>
            <p:spPr bwMode="auto">
              <a:xfrm>
                <a:off x="0" y="0"/>
                <a:ext cx="1089" cy="454"/>
              </a:xfrm>
              <a:custGeom>
                <a:avLst/>
                <a:gdLst>
                  <a:gd name="T0" fmla="*/ 0 w 3290"/>
                  <a:gd name="T1" fmla="*/ 0 h 1326"/>
                  <a:gd name="T2" fmla="*/ 0 w 3290"/>
                  <a:gd name="T3" fmla="*/ 0 h 1326"/>
                  <a:gd name="T4" fmla="*/ 0 w 3290"/>
                  <a:gd name="T5" fmla="*/ 0 h 1326"/>
                  <a:gd name="T6" fmla="*/ 0 w 3290"/>
                  <a:gd name="T7" fmla="*/ 0 h 1326"/>
                  <a:gd name="T8" fmla="*/ 0 w 3290"/>
                  <a:gd name="T9" fmla="*/ 0 h 1326"/>
                  <a:gd name="T10" fmla="*/ 0 w 3290"/>
                  <a:gd name="T11" fmla="*/ 0 h 1326"/>
                  <a:gd name="T12" fmla="*/ 0 w 3290"/>
                  <a:gd name="T13" fmla="*/ 0 h 1326"/>
                  <a:gd name="T14" fmla="*/ 0 w 3290"/>
                  <a:gd name="T15" fmla="*/ 0 h 1326"/>
                  <a:gd name="T16" fmla="*/ 0 w 3290"/>
                  <a:gd name="T17" fmla="*/ 0 h 1326"/>
                  <a:gd name="T18" fmla="*/ 0 w 3290"/>
                  <a:gd name="T19" fmla="*/ 0 h 1326"/>
                  <a:gd name="T20" fmla="*/ 0 w 3290"/>
                  <a:gd name="T21" fmla="*/ 0 h 1326"/>
                  <a:gd name="T22" fmla="*/ 0 w 3290"/>
                  <a:gd name="T23" fmla="*/ 0 h 1326"/>
                  <a:gd name="T24" fmla="*/ 0 w 3290"/>
                  <a:gd name="T25" fmla="*/ 0 h 1326"/>
                  <a:gd name="T26" fmla="*/ 0 w 3290"/>
                  <a:gd name="T27" fmla="*/ 0 h 1326"/>
                  <a:gd name="T28" fmla="*/ 0 w 3290"/>
                  <a:gd name="T29" fmla="*/ 0 h 1326"/>
                  <a:gd name="T30" fmla="*/ 0 w 3290"/>
                  <a:gd name="T31" fmla="*/ 0 h 1326"/>
                  <a:gd name="T32" fmla="*/ 0 w 3290"/>
                  <a:gd name="T33" fmla="*/ 0 h 1326"/>
                  <a:gd name="T34" fmla="*/ 0 w 3290"/>
                  <a:gd name="T35" fmla="*/ 0 h 1326"/>
                  <a:gd name="T36" fmla="*/ 0 w 3290"/>
                  <a:gd name="T37" fmla="*/ 0 h 1326"/>
                  <a:gd name="T38" fmla="*/ 0 w 3290"/>
                  <a:gd name="T39" fmla="*/ 0 h 1326"/>
                  <a:gd name="T40" fmla="*/ 0 w 3290"/>
                  <a:gd name="T41" fmla="*/ 0 h 1326"/>
                  <a:gd name="T42" fmla="*/ 0 w 3290"/>
                  <a:gd name="T43" fmla="*/ 0 h 1326"/>
                  <a:gd name="T44" fmla="*/ 0 w 3290"/>
                  <a:gd name="T45" fmla="*/ 0 h 1326"/>
                  <a:gd name="T46" fmla="*/ 0 w 3290"/>
                  <a:gd name="T47" fmla="*/ 0 h 1326"/>
                  <a:gd name="T48" fmla="*/ 0 w 3290"/>
                  <a:gd name="T49" fmla="*/ 0 h 1326"/>
                  <a:gd name="T50" fmla="*/ 0 w 3290"/>
                  <a:gd name="T51" fmla="*/ 0 h 1326"/>
                  <a:gd name="T52" fmla="*/ 0 w 3290"/>
                  <a:gd name="T53" fmla="*/ 0 h 1326"/>
                  <a:gd name="T54" fmla="*/ 0 w 3290"/>
                  <a:gd name="T55" fmla="*/ 0 h 1326"/>
                  <a:gd name="T56" fmla="*/ 0 w 3290"/>
                  <a:gd name="T57" fmla="*/ 0 h 1326"/>
                  <a:gd name="T58" fmla="*/ 0 w 3290"/>
                  <a:gd name="T59" fmla="*/ 0 h 1326"/>
                  <a:gd name="T60" fmla="*/ 0 w 3290"/>
                  <a:gd name="T61" fmla="*/ 0 h 1326"/>
                  <a:gd name="T62" fmla="*/ 0 w 3290"/>
                  <a:gd name="T63" fmla="*/ 0 h 1326"/>
                  <a:gd name="T64" fmla="*/ 0 w 3290"/>
                  <a:gd name="T65" fmla="*/ 0 h 1326"/>
                  <a:gd name="T66" fmla="*/ 0 w 3290"/>
                  <a:gd name="T67" fmla="*/ 0 h 1326"/>
                  <a:gd name="T68" fmla="*/ 0 w 3290"/>
                  <a:gd name="T69" fmla="*/ 0 h 1326"/>
                  <a:gd name="T70" fmla="*/ 0 w 3290"/>
                  <a:gd name="T71" fmla="*/ 0 h 1326"/>
                  <a:gd name="T72" fmla="*/ 0 w 3290"/>
                  <a:gd name="T73" fmla="*/ 0 h 1326"/>
                  <a:gd name="T74" fmla="*/ 0 w 3290"/>
                  <a:gd name="T75" fmla="*/ 0 h 1326"/>
                  <a:gd name="T76" fmla="*/ 0 w 3290"/>
                  <a:gd name="T77" fmla="*/ 0 h 1326"/>
                  <a:gd name="T78" fmla="*/ 0 w 3290"/>
                  <a:gd name="T79" fmla="*/ 0 h 1326"/>
                  <a:gd name="T80" fmla="*/ 0 w 3290"/>
                  <a:gd name="T81" fmla="*/ 0 h 1326"/>
                  <a:gd name="T82" fmla="*/ 0 w 3290"/>
                  <a:gd name="T83" fmla="*/ 0 h 1326"/>
                  <a:gd name="T84" fmla="*/ 0 w 3290"/>
                  <a:gd name="T85" fmla="*/ 0 h 1326"/>
                  <a:gd name="T86" fmla="*/ 0 w 3290"/>
                  <a:gd name="T87" fmla="*/ 0 h 1326"/>
                  <a:gd name="T88" fmla="*/ 0 w 3290"/>
                  <a:gd name="T89" fmla="*/ 0 h 1326"/>
                  <a:gd name="T90" fmla="*/ 0 w 3290"/>
                  <a:gd name="T91" fmla="*/ 0 h 1326"/>
                  <a:gd name="T92" fmla="*/ 0 w 3290"/>
                  <a:gd name="T93" fmla="*/ 0 h 1326"/>
                  <a:gd name="T94" fmla="*/ 0 w 3290"/>
                  <a:gd name="T95" fmla="*/ 0 h 1326"/>
                  <a:gd name="T96" fmla="*/ 0 w 3290"/>
                  <a:gd name="T97" fmla="*/ 0 h 1326"/>
                  <a:gd name="T98" fmla="*/ 0 w 3290"/>
                  <a:gd name="T99" fmla="*/ 0 h 13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290"/>
                  <a:gd name="T151" fmla="*/ 0 h 1326"/>
                  <a:gd name="T152" fmla="*/ 3290 w 3290"/>
                  <a:gd name="T153" fmla="*/ 1326 h 13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290" h="1326">
                    <a:moveTo>
                      <a:pt x="0" y="664"/>
                    </a:moveTo>
                    <a:lnTo>
                      <a:pt x="34" y="538"/>
                    </a:lnTo>
                    <a:lnTo>
                      <a:pt x="66" y="416"/>
                    </a:lnTo>
                    <a:lnTo>
                      <a:pt x="100" y="304"/>
                    </a:lnTo>
                    <a:lnTo>
                      <a:pt x="133" y="204"/>
                    </a:lnTo>
                    <a:lnTo>
                      <a:pt x="166" y="122"/>
                    </a:lnTo>
                    <a:lnTo>
                      <a:pt x="199" y="59"/>
                    </a:lnTo>
                    <a:lnTo>
                      <a:pt x="232" y="19"/>
                    </a:lnTo>
                    <a:lnTo>
                      <a:pt x="265" y="0"/>
                    </a:lnTo>
                    <a:lnTo>
                      <a:pt x="299" y="8"/>
                    </a:lnTo>
                    <a:lnTo>
                      <a:pt x="332" y="37"/>
                    </a:lnTo>
                    <a:lnTo>
                      <a:pt x="365" y="91"/>
                    </a:lnTo>
                    <a:lnTo>
                      <a:pt x="399" y="165"/>
                    </a:lnTo>
                    <a:lnTo>
                      <a:pt x="431" y="257"/>
                    </a:lnTo>
                    <a:lnTo>
                      <a:pt x="465" y="364"/>
                    </a:lnTo>
                    <a:lnTo>
                      <a:pt x="499" y="481"/>
                    </a:lnTo>
                    <a:lnTo>
                      <a:pt x="531" y="605"/>
                    </a:lnTo>
                    <a:lnTo>
                      <a:pt x="565" y="733"/>
                    </a:lnTo>
                    <a:lnTo>
                      <a:pt x="597" y="857"/>
                    </a:lnTo>
                    <a:lnTo>
                      <a:pt x="631" y="974"/>
                    </a:lnTo>
                    <a:lnTo>
                      <a:pt x="665" y="1078"/>
                    </a:lnTo>
                    <a:lnTo>
                      <a:pt x="697" y="1169"/>
                    </a:lnTo>
                    <a:lnTo>
                      <a:pt x="731" y="1243"/>
                    </a:lnTo>
                    <a:lnTo>
                      <a:pt x="765" y="1293"/>
                    </a:lnTo>
                    <a:lnTo>
                      <a:pt x="797" y="1321"/>
                    </a:lnTo>
                    <a:lnTo>
                      <a:pt x="831" y="1326"/>
                    </a:lnTo>
                    <a:lnTo>
                      <a:pt x="865" y="1306"/>
                    </a:lnTo>
                    <a:lnTo>
                      <a:pt x="897" y="1263"/>
                    </a:lnTo>
                    <a:lnTo>
                      <a:pt x="931" y="1198"/>
                    </a:lnTo>
                    <a:lnTo>
                      <a:pt x="963" y="1114"/>
                    </a:lnTo>
                    <a:lnTo>
                      <a:pt x="997" y="1014"/>
                    </a:lnTo>
                    <a:lnTo>
                      <a:pt x="1030" y="900"/>
                    </a:lnTo>
                    <a:lnTo>
                      <a:pt x="1063" y="779"/>
                    </a:lnTo>
                    <a:lnTo>
                      <a:pt x="1096" y="653"/>
                    </a:lnTo>
                    <a:lnTo>
                      <a:pt x="1130" y="527"/>
                    </a:lnTo>
                    <a:lnTo>
                      <a:pt x="1163" y="406"/>
                    </a:lnTo>
                    <a:lnTo>
                      <a:pt x="1196" y="295"/>
                    </a:lnTo>
                    <a:lnTo>
                      <a:pt x="1230" y="197"/>
                    </a:lnTo>
                    <a:lnTo>
                      <a:pt x="1262" y="115"/>
                    </a:lnTo>
                    <a:lnTo>
                      <a:pt x="1296" y="55"/>
                    </a:lnTo>
                    <a:lnTo>
                      <a:pt x="1328" y="16"/>
                    </a:lnTo>
                    <a:lnTo>
                      <a:pt x="1362" y="0"/>
                    </a:lnTo>
                    <a:lnTo>
                      <a:pt x="1396" y="9"/>
                    </a:lnTo>
                    <a:lnTo>
                      <a:pt x="1428" y="42"/>
                    </a:lnTo>
                    <a:lnTo>
                      <a:pt x="1462" y="97"/>
                    </a:lnTo>
                    <a:lnTo>
                      <a:pt x="1496" y="172"/>
                    </a:lnTo>
                    <a:lnTo>
                      <a:pt x="1528" y="266"/>
                    </a:lnTo>
                    <a:lnTo>
                      <a:pt x="1562" y="373"/>
                    </a:lnTo>
                    <a:lnTo>
                      <a:pt x="1596" y="492"/>
                    </a:lnTo>
                    <a:lnTo>
                      <a:pt x="1628" y="618"/>
                    </a:lnTo>
                    <a:lnTo>
                      <a:pt x="1662" y="744"/>
                    </a:lnTo>
                    <a:lnTo>
                      <a:pt x="1694" y="866"/>
                    </a:lnTo>
                    <a:lnTo>
                      <a:pt x="1728" y="983"/>
                    </a:lnTo>
                    <a:lnTo>
                      <a:pt x="1762" y="1088"/>
                    </a:lnTo>
                    <a:lnTo>
                      <a:pt x="1794" y="1177"/>
                    </a:lnTo>
                    <a:lnTo>
                      <a:pt x="1828" y="1247"/>
                    </a:lnTo>
                    <a:lnTo>
                      <a:pt x="1861" y="1296"/>
                    </a:lnTo>
                    <a:lnTo>
                      <a:pt x="1894" y="1323"/>
                    </a:lnTo>
                    <a:lnTo>
                      <a:pt x="1927" y="1326"/>
                    </a:lnTo>
                    <a:lnTo>
                      <a:pt x="1961" y="1304"/>
                    </a:lnTo>
                    <a:lnTo>
                      <a:pt x="1993" y="1258"/>
                    </a:lnTo>
                    <a:lnTo>
                      <a:pt x="2027" y="1192"/>
                    </a:lnTo>
                    <a:lnTo>
                      <a:pt x="2060" y="1106"/>
                    </a:lnTo>
                    <a:lnTo>
                      <a:pt x="2093" y="1005"/>
                    </a:lnTo>
                    <a:lnTo>
                      <a:pt x="2127" y="889"/>
                    </a:lnTo>
                    <a:lnTo>
                      <a:pt x="2159" y="768"/>
                    </a:lnTo>
                    <a:lnTo>
                      <a:pt x="2193" y="641"/>
                    </a:lnTo>
                    <a:lnTo>
                      <a:pt x="2227" y="516"/>
                    </a:lnTo>
                    <a:lnTo>
                      <a:pt x="2259" y="396"/>
                    </a:lnTo>
                    <a:lnTo>
                      <a:pt x="2293" y="286"/>
                    </a:lnTo>
                    <a:lnTo>
                      <a:pt x="2327" y="189"/>
                    </a:lnTo>
                    <a:lnTo>
                      <a:pt x="2359" y="109"/>
                    </a:lnTo>
                    <a:lnTo>
                      <a:pt x="2393" y="51"/>
                    </a:lnTo>
                    <a:lnTo>
                      <a:pt x="2425" y="14"/>
                    </a:lnTo>
                    <a:lnTo>
                      <a:pt x="2459" y="0"/>
                    </a:lnTo>
                    <a:lnTo>
                      <a:pt x="2493" y="11"/>
                    </a:lnTo>
                    <a:lnTo>
                      <a:pt x="2525" y="46"/>
                    </a:lnTo>
                    <a:lnTo>
                      <a:pt x="2559" y="103"/>
                    </a:lnTo>
                    <a:lnTo>
                      <a:pt x="2593" y="180"/>
                    </a:lnTo>
                    <a:lnTo>
                      <a:pt x="2625" y="275"/>
                    </a:lnTo>
                    <a:lnTo>
                      <a:pt x="2659" y="384"/>
                    </a:lnTo>
                    <a:lnTo>
                      <a:pt x="2692" y="502"/>
                    </a:lnTo>
                    <a:lnTo>
                      <a:pt x="2725" y="628"/>
                    </a:lnTo>
                    <a:lnTo>
                      <a:pt x="2758" y="754"/>
                    </a:lnTo>
                    <a:lnTo>
                      <a:pt x="2791" y="877"/>
                    </a:lnTo>
                    <a:lnTo>
                      <a:pt x="2824" y="992"/>
                    </a:lnTo>
                    <a:lnTo>
                      <a:pt x="2858" y="1097"/>
                    </a:lnTo>
                    <a:lnTo>
                      <a:pt x="2890" y="1184"/>
                    </a:lnTo>
                    <a:lnTo>
                      <a:pt x="2924" y="1252"/>
                    </a:lnTo>
                    <a:lnTo>
                      <a:pt x="2958" y="1299"/>
                    </a:lnTo>
                    <a:lnTo>
                      <a:pt x="2990" y="1324"/>
                    </a:lnTo>
                    <a:lnTo>
                      <a:pt x="3024" y="1324"/>
                    </a:lnTo>
                    <a:lnTo>
                      <a:pt x="3058" y="1301"/>
                    </a:lnTo>
                    <a:lnTo>
                      <a:pt x="3090" y="1253"/>
                    </a:lnTo>
                    <a:lnTo>
                      <a:pt x="3124" y="1184"/>
                    </a:lnTo>
                    <a:lnTo>
                      <a:pt x="3156" y="1098"/>
                    </a:lnTo>
                    <a:lnTo>
                      <a:pt x="3190" y="995"/>
                    </a:lnTo>
                    <a:lnTo>
                      <a:pt x="3224" y="880"/>
                    </a:lnTo>
                    <a:lnTo>
                      <a:pt x="3256" y="756"/>
                    </a:lnTo>
                    <a:lnTo>
                      <a:pt x="3290" y="630"/>
                    </a:lnTo>
                  </a:path>
                </a:pathLst>
              </a:custGeom>
              <a:noFill/>
              <a:ln w="38100" cmpd="sng">
                <a:solidFill>
                  <a:srgbClr val="FF0000"/>
                </a:solidFill>
                <a:round/>
                <a:headEnd/>
                <a:tailEnd/>
              </a:ln>
            </p:spPr>
            <p:txBody>
              <a:bodyPr/>
              <a:lstStyle/>
              <a:p>
                <a:endParaRPr lang="zh-CN" altLang="en-US"/>
              </a:p>
            </p:txBody>
          </p:sp>
          <p:sp>
            <p:nvSpPr>
              <p:cNvPr id="73839" name="未知"/>
              <p:cNvSpPr>
                <a:spLocks/>
              </p:cNvSpPr>
              <p:nvPr/>
            </p:nvSpPr>
            <p:spPr bwMode="auto">
              <a:xfrm>
                <a:off x="1081" y="8"/>
                <a:ext cx="1089" cy="454"/>
              </a:xfrm>
              <a:custGeom>
                <a:avLst/>
                <a:gdLst>
                  <a:gd name="T0" fmla="*/ 0 w 3290"/>
                  <a:gd name="T1" fmla="*/ 0 h 1326"/>
                  <a:gd name="T2" fmla="*/ 0 w 3290"/>
                  <a:gd name="T3" fmla="*/ 0 h 1326"/>
                  <a:gd name="T4" fmla="*/ 0 w 3290"/>
                  <a:gd name="T5" fmla="*/ 0 h 1326"/>
                  <a:gd name="T6" fmla="*/ 0 w 3290"/>
                  <a:gd name="T7" fmla="*/ 0 h 1326"/>
                  <a:gd name="T8" fmla="*/ 0 w 3290"/>
                  <a:gd name="T9" fmla="*/ 0 h 1326"/>
                  <a:gd name="T10" fmla="*/ 0 w 3290"/>
                  <a:gd name="T11" fmla="*/ 0 h 1326"/>
                  <a:gd name="T12" fmla="*/ 0 w 3290"/>
                  <a:gd name="T13" fmla="*/ 0 h 1326"/>
                  <a:gd name="T14" fmla="*/ 0 w 3290"/>
                  <a:gd name="T15" fmla="*/ 0 h 1326"/>
                  <a:gd name="T16" fmla="*/ 0 w 3290"/>
                  <a:gd name="T17" fmla="*/ 0 h 1326"/>
                  <a:gd name="T18" fmla="*/ 0 w 3290"/>
                  <a:gd name="T19" fmla="*/ 0 h 1326"/>
                  <a:gd name="T20" fmla="*/ 0 w 3290"/>
                  <a:gd name="T21" fmla="*/ 0 h 1326"/>
                  <a:gd name="T22" fmla="*/ 0 w 3290"/>
                  <a:gd name="T23" fmla="*/ 0 h 1326"/>
                  <a:gd name="T24" fmla="*/ 0 w 3290"/>
                  <a:gd name="T25" fmla="*/ 0 h 1326"/>
                  <a:gd name="T26" fmla="*/ 0 w 3290"/>
                  <a:gd name="T27" fmla="*/ 0 h 1326"/>
                  <a:gd name="T28" fmla="*/ 0 w 3290"/>
                  <a:gd name="T29" fmla="*/ 0 h 1326"/>
                  <a:gd name="T30" fmla="*/ 0 w 3290"/>
                  <a:gd name="T31" fmla="*/ 0 h 1326"/>
                  <a:gd name="T32" fmla="*/ 0 w 3290"/>
                  <a:gd name="T33" fmla="*/ 0 h 1326"/>
                  <a:gd name="T34" fmla="*/ 0 w 3290"/>
                  <a:gd name="T35" fmla="*/ 0 h 1326"/>
                  <a:gd name="T36" fmla="*/ 0 w 3290"/>
                  <a:gd name="T37" fmla="*/ 0 h 1326"/>
                  <a:gd name="T38" fmla="*/ 0 w 3290"/>
                  <a:gd name="T39" fmla="*/ 0 h 1326"/>
                  <a:gd name="T40" fmla="*/ 0 w 3290"/>
                  <a:gd name="T41" fmla="*/ 0 h 1326"/>
                  <a:gd name="T42" fmla="*/ 0 w 3290"/>
                  <a:gd name="T43" fmla="*/ 0 h 1326"/>
                  <a:gd name="T44" fmla="*/ 0 w 3290"/>
                  <a:gd name="T45" fmla="*/ 0 h 1326"/>
                  <a:gd name="T46" fmla="*/ 0 w 3290"/>
                  <a:gd name="T47" fmla="*/ 0 h 1326"/>
                  <a:gd name="T48" fmla="*/ 0 w 3290"/>
                  <a:gd name="T49" fmla="*/ 0 h 1326"/>
                  <a:gd name="T50" fmla="*/ 0 w 3290"/>
                  <a:gd name="T51" fmla="*/ 0 h 1326"/>
                  <a:gd name="T52" fmla="*/ 0 w 3290"/>
                  <a:gd name="T53" fmla="*/ 0 h 1326"/>
                  <a:gd name="T54" fmla="*/ 0 w 3290"/>
                  <a:gd name="T55" fmla="*/ 0 h 1326"/>
                  <a:gd name="T56" fmla="*/ 0 w 3290"/>
                  <a:gd name="T57" fmla="*/ 0 h 1326"/>
                  <a:gd name="T58" fmla="*/ 0 w 3290"/>
                  <a:gd name="T59" fmla="*/ 0 h 1326"/>
                  <a:gd name="T60" fmla="*/ 0 w 3290"/>
                  <a:gd name="T61" fmla="*/ 0 h 1326"/>
                  <a:gd name="T62" fmla="*/ 0 w 3290"/>
                  <a:gd name="T63" fmla="*/ 0 h 1326"/>
                  <a:gd name="T64" fmla="*/ 0 w 3290"/>
                  <a:gd name="T65" fmla="*/ 0 h 1326"/>
                  <a:gd name="T66" fmla="*/ 0 w 3290"/>
                  <a:gd name="T67" fmla="*/ 0 h 1326"/>
                  <a:gd name="T68" fmla="*/ 0 w 3290"/>
                  <a:gd name="T69" fmla="*/ 0 h 1326"/>
                  <a:gd name="T70" fmla="*/ 0 w 3290"/>
                  <a:gd name="T71" fmla="*/ 0 h 1326"/>
                  <a:gd name="T72" fmla="*/ 0 w 3290"/>
                  <a:gd name="T73" fmla="*/ 0 h 1326"/>
                  <a:gd name="T74" fmla="*/ 0 w 3290"/>
                  <a:gd name="T75" fmla="*/ 0 h 1326"/>
                  <a:gd name="T76" fmla="*/ 0 w 3290"/>
                  <a:gd name="T77" fmla="*/ 0 h 1326"/>
                  <a:gd name="T78" fmla="*/ 0 w 3290"/>
                  <a:gd name="T79" fmla="*/ 0 h 1326"/>
                  <a:gd name="T80" fmla="*/ 0 w 3290"/>
                  <a:gd name="T81" fmla="*/ 0 h 1326"/>
                  <a:gd name="T82" fmla="*/ 0 w 3290"/>
                  <a:gd name="T83" fmla="*/ 0 h 1326"/>
                  <a:gd name="T84" fmla="*/ 0 w 3290"/>
                  <a:gd name="T85" fmla="*/ 0 h 1326"/>
                  <a:gd name="T86" fmla="*/ 0 w 3290"/>
                  <a:gd name="T87" fmla="*/ 0 h 1326"/>
                  <a:gd name="T88" fmla="*/ 0 w 3290"/>
                  <a:gd name="T89" fmla="*/ 0 h 1326"/>
                  <a:gd name="T90" fmla="*/ 0 w 3290"/>
                  <a:gd name="T91" fmla="*/ 0 h 1326"/>
                  <a:gd name="T92" fmla="*/ 0 w 3290"/>
                  <a:gd name="T93" fmla="*/ 0 h 1326"/>
                  <a:gd name="T94" fmla="*/ 0 w 3290"/>
                  <a:gd name="T95" fmla="*/ 0 h 1326"/>
                  <a:gd name="T96" fmla="*/ 0 w 3290"/>
                  <a:gd name="T97" fmla="*/ 0 h 1326"/>
                  <a:gd name="T98" fmla="*/ 0 w 3290"/>
                  <a:gd name="T99" fmla="*/ 0 h 13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290"/>
                  <a:gd name="T151" fmla="*/ 0 h 1326"/>
                  <a:gd name="T152" fmla="*/ 3290 w 3290"/>
                  <a:gd name="T153" fmla="*/ 1326 h 13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290" h="1326">
                    <a:moveTo>
                      <a:pt x="0" y="664"/>
                    </a:moveTo>
                    <a:lnTo>
                      <a:pt x="34" y="538"/>
                    </a:lnTo>
                    <a:lnTo>
                      <a:pt x="66" y="416"/>
                    </a:lnTo>
                    <a:lnTo>
                      <a:pt x="100" y="304"/>
                    </a:lnTo>
                    <a:lnTo>
                      <a:pt x="133" y="204"/>
                    </a:lnTo>
                    <a:lnTo>
                      <a:pt x="166" y="122"/>
                    </a:lnTo>
                    <a:lnTo>
                      <a:pt x="199" y="59"/>
                    </a:lnTo>
                    <a:lnTo>
                      <a:pt x="232" y="19"/>
                    </a:lnTo>
                    <a:lnTo>
                      <a:pt x="265" y="0"/>
                    </a:lnTo>
                    <a:lnTo>
                      <a:pt x="299" y="8"/>
                    </a:lnTo>
                    <a:lnTo>
                      <a:pt x="332" y="37"/>
                    </a:lnTo>
                    <a:lnTo>
                      <a:pt x="365" y="91"/>
                    </a:lnTo>
                    <a:lnTo>
                      <a:pt x="399" y="165"/>
                    </a:lnTo>
                    <a:lnTo>
                      <a:pt x="431" y="257"/>
                    </a:lnTo>
                    <a:lnTo>
                      <a:pt x="465" y="364"/>
                    </a:lnTo>
                    <a:lnTo>
                      <a:pt x="499" y="481"/>
                    </a:lnTo>
                    <a:lnTo>
                      <a:pt x="531" y="605"/>
                    </a:lnTo>
                    <a:lnTo>
                      <a:pt x="565" y="733"/>
                    </a:lnTo>
                    <a:lnTo>
                      <a:pt x="597" y="857"/>
                    </a:lnTo>
                    <a:lnTo>
                      <a:pt x="631" y="974"/>
                    </a:lnTo>
                    <a:lnTo>
                      <a:pt x="665" y="1078"/>
                    </a:lnTo>
                    <a:lnTo>
                      <a:pt x="697" y="1169"/>
                    </a:lnTo>
                    <a:lnTo>
                      <a:pt x="731" y="1243"/>
                    </a:lnTo>
                    <a:lnTo>
                      <a:pt x="765" y="1293"/>
                    </a:lnTo>
                    <a:lnTo>
                      <a:pt x="797" y="1321"/>
                    </a:lnTo>
                    <a:lnTo>
                      <a:pt x="831" y="1326"/>
                    </a:lnTo>
                    <a:lnTo>
                      <a:pt x="865" y="1306"/>
                    </a:lnTo>
                    <a:lnTo>
                      <a:pt x="897" y="1263"/>
                    </a:lnTo>
                    <a:lnTo>
                      <a:pt x="931" y="1198"/>
                    </a:lnTo>
                    <a:lnTo>
                      <a:pt x="963" y="1114"/>
                    </a:lnTo>
                    <a:lnTo>
                      <a:pt x="997" y="1014"/>
                    </a:lnTo>
                    <a:lnTo>
                      <a:pt x="1030" y="900"/>
                    </a:lnTo>
                    <a:lnTo>
                      <a:pt x="1063" y="779"/>
                    </a:lnTo>
                    <a:lnTo>
                      <a:pt x="1096" y="653"/>
                    </a:lnTo>
                    <a:lnTo>
                      <a:pt x="1130" y="527"/>
                    </a:lnTo>
                    <a:lnTo>
                      <a:pt x="1163" y="406"/>
                    </a:lnTo>
                    <a:lnTo>
                      <a:pt x="1196" y="295"/>
                    </a:lnTo>
                    <a:lnTo>
                      <a:pt x="1230" y="197"/>
                    </a:lnTo>
                    <a:lnTo>
                      <a:pt x="1262" y="115"/>
                    </a:lnTo>
                    <a:lnTo>
                      <a:pt x="1296" y="55"/>
                    </a:lnTo>
                    <a:lnTo>
                      <a:pt x="1328" y="16"/>
                    </a:lnTo>
                    <a:lnTo>
                      <a:pt x="1362" y="0"/>
                    </a:lnTo>
                    <a:lnTo>
                      <a:pt x="1396" y="9"/>
                    </a:lnTo>
                    <a:lnTo>
                      <a:pt x="1428" y="42"/>
                    </a:lnTo>
                    <a:lnTo>
                      <a:pt x="1462" y="97"/>
                    </a:lnTo>
                    <a:lnTo>
                      <a:pt x="1496" y="172"/>
                    </a:lnTo>
                    <a:lnTo>
                      <a:pt x="1528" y="266"/>
                    </a:lnTo>
                    <a:lnTo>
                      <a:pt x="1562" y="373"/>
                    </a:lnTo>
                    <a:lnTo>
                      <a:pt x="1596" y="492"/>
                    </a:lnTo>
                    <a:lnTo>
                      <a:pt x="1628" y="618"/>
                    </a:lnTo>
                    <a:lnTo>
                      <a:pt x="1662" y="744"/>
                    </a:lnTo>
                    <a:lnTo>
                      <a:pt x="1694" y="866"/>
                    </a:lnTo>
                    <a:lnTo>
                      <a:pt x="1728" y="983"/>
                    </a:lnTo>
                    <a:lnTo>
                      <a:pt x="1762" y="1088"/>
                    </a:lnTo>
                    <a:lnTo>
                      <a:pt x="1794" y="1177"/>
                    </a:lnTo>
                    <a:lnTo>
                      <a:pt x="1828" y="1247"/>
                    </a:lnTo>
                    <a:lnTo>
                      <a:pt x="1861" y="1296"/>
                    </a:lnTo>
                    <a:lnTo>
                      <a:pt x="1894" y="1323"/>
                    </a:lnTo>
                    <a:lnTo>
                      <a:pt x="1927" y="1326"/>
                    </a:lnTo>
                    <a:lnTo>
                      <a:pt x="1961" y="1304"/>
                    </a:lnTo>
                    <a:lnTo>
                      <a:pt x="1993" y="1258"/>
                    </a:lnTo>
                    <a:lnTo>
                      <a:pt x="2027" y="1192"/>
                    </a:lnTo>
                    <a:lnTo>
                      <a:pt x="2060" y="1106"/>
                    </a:lnTo>
                    <a:lnTo>
                      <a:pt x="2093" y="1005"/>
                    </a:lnTo>
                    <a:lnTo>
                      <a:pt x="2127" y="889"/>
                    </a:lnTo>
                    <a:lnTo>
                      <a:pt x="2159" y="768"/>
                    </a:lnTo>
                    <a:lnTo>
                      <a:pt x="2193" y="641"/>
                    </a:lnTo>
                    <a:lnTo>
                      <a:pt x="2227" y="516"/>
                    </a:lnTo>
                    <a:lnTo>
                      <a:pt x="2259" y="396"/>
                    </a:lnTo>
                    <a:lnTo>
                      <a:pt x="2293" y="286"/>
                    </a:lnTo>
                    <a:lnTo>
                      <a:pt x="2327" y="189"/>
                    </a:lnTo>
                    <a:lnTo>
                      <a:pt x="2359" y="109"/>
                    </a:lnTo>
                    <a:lnTo>
                      <a:pt x="2393" y="51"/>
                    </a:lnTo>
                    <a:lnTo>
                      <a:pt x="2425" y="14"/>
                    </a:lnTo>
                    <a:lnTo>
                      <a:pt x="2459" y="0"/>
                    </a:lnTo>
                    <a:lnTo>
                      <a:pt x="2493" y="11"/>
                    </a:lnTo>
                    <a:lnTo>
                      <a:pt x="2525" y="46"/>
                    </a:lnTo>
                    <a:lnTo>
                      <a:pt x="2559" y="103"/>
                    </a:lnTo>
                    <a:lnTo>
                      <a:pt x="2593" y="180"/>
                    </a:lnTo>
                    <a:lnTo>
                      <a:pt x="2625" y="275"/>
                    </a:lnTo>
                    <a:lnTo>
                      <a:pt x="2659" y="384"/>
                    </a:lnTo>
                    <a:lnTo>
                      <a:pt x="2692" y="502"/>
                    </a:lnTo>
                    <a:lnTo>
                      <a:pt x="2725" y="628"/>
                    </a:lnTo>
                    <a:lnTo>
                      <a:pt x="2758" y="754"/>
                    </a:lnTo>
                    <a:lnTo>
                      <a:pt x="2791" y="877"/>
                    </a:lnTo>
                    <a:lnTo>
                      <a:pt x="2824" y="992"/>
                    </a:lnTo>
                    <a:lnTo>
                      <a:pt x="2858" y="1097"/>
                    </a:lnTo>
                    <a:lnTo>
                      <a:pt x="2890" y="1184"/>
                    </a:lnTo>
                    <a:lnTo>
                      <a:pt x="2924" y="1252"/>
                    </a:lnTo>
                    <a:lnTo>
                      <a:pt x="2958" y="1299"/>
                    </a:lnTo>
                    <a:lnTo>
                      <a:pt x="2990" y="1324"/>
                    </a:lnTo>
                    <a:lnTo>
                      <a:pt x="3024" y="1324"/>
                    </a:lnTo>
                    <a:lnTo>
                      <a:pt x="3058" y="1301"/>
                    </a:lnTo>
                    <a:lnTo>
                      <a:pt x="3090" y="1253"/>
                    </a:lnTo>
                    <a:lnTo>
                      <a:pt x="3124" y="1184"/>
                    </a:lnTo>
                    <a:lnTo>
                      <a:pt x="3156" y="1098"/>
                    </a:lnTo>
                    <a:lnTo>
                      <a:pt x="3190" y="995"/>
                    </a:lnTo>
                    <a:lnTo>
                      <a:pt x="3224" y="880"/>
                    </a:lnTo>
                    <a:lnTo>
                      <a:pt x="3256" y="756"/>
                    </a:lnTo>
                    <a:lnTo>
                      <a:pt x="3290" y="630"/>
                    </a:lnTo>
                  </a:path>
                </a:pathLst>
              </a:custGeom>
              <a:noFill/>
              <a:ln w="38100" cmpd="sng">
                <a:solidFill>
                  <a:srgbClr val="FF0000"/>
                </a:solidFill>
                <a:round/>
                <a:headEnd/>
                <a:tailEnd/>
              </a:ln>
            </p:spPr>
            <p:txBody>
              <a:bodyPr/>
              <a:lstStyle/>
              <a:p>
                <a:endParaRPr lang="zh-CN" altLang="en-US"/>
              </a:p>
            </p:txBody>
          </p:sp>
        </p:grpSp>
        <p:grpSp>
          <p:nvGrpSpPr>
            <p:cNvPr id="73835" name="Group 33"/>
            <p:cNvGrpSpPr>
              <a:grpSpLocks/>
            </p:cNvGrpSpPr>
            <p:nvPr/>
          </p:nvGrpSpPr>
          <p:grpSpPr bwMode="auto">
            <a:xfrm>
              <a:off x="1127" y="0"/>
              <a:ext cx="1129" cy="285"/>
              <a:chOff x="0" y="0"/>
              <a:chExt cx="2170" cy="462"/>
            </a:xfrm>
          </p:grpSpPr>
          <p:sp>
            <p:nvSpPr>
              <p:cNvPr id="73836" name="未知"/>
              <p:cNvSpPr>
                <a:spLocks/>
              </p:cNvSpPr>
              <p:nvPr/>
            </p:nvSpPr>
            <p:spPr bwMode="auto">
              <a:xfrm>
                <a:off x="0" y="0"/>
                <a:ext cx="1089" cy="454"/>
              </a:xfrm>
              <a:custGeom>
                <a:avLst/>
                <a:gdLst>
                  <a:gd name="T0" fmla="*/ 0 w 3290"/>
                  <a:gd name="T1" fmla="*/ 0 h 1326"/>
                  <a:gd name="T2" fmla="*/ 0 w 3290"/>
                  <a:gd name="T3" fmla="*/ 0 h 1326"/>
                  <a:gd name="T4" fmla="*/ 0 w 3290"/>
                  <a:gd name="T5" fmla="*/ 0 h 1326"/>
                  <a:gd name="T6" fmla="*/ 0 w 3290"/>
                  <a:gd name="T7" fmla="*/ 0 h 1326"/>
                  <a:gd name="T8" fmla="*/ 0 w 3290"/>
                  <a:gd name="T9" fmla="*/ 0 h 1326"/>
                  <a:gd name="T10" fmla="*/ 0 w 3290"/>
                  <a:gd name="T11" fmla="*/ 0 h 1326"/>
                  <a:gd name="T12" fmla="*/ 0 w 3290"/>
                  <a:gd name="T13" fmla="*/ 0 h 1326"/>
                  <a:gd name="T14" fmla="*/ 0 w 3290"/>
                  <a:gd name="T15" fmla="*/ 0 h 1326"/>
                  <a:gd name="T16" fmla="*/ 0 w 3290"/>
                  <a:gd name="T17" fmla="*/ 0 h 1326"/>
                  <a:gd name="T18" fmla="*/ 0 w 3290"/>
                  <a:gd name="T19" fmla="*/ 0 h 1326"/>
                  <a:gd name="T20" fmla="*/ 0 w 3290"/>
                  <a:gd name="T21" fmla="*/ 0 h 1326"/>
                  <a:gd name="T22" fmla="*/ 0 w 3290"/>
                  <a:gd name="T23" fmla="*/ 0 h 1326"/>
                  <a:gd name="T24" fmla="*/ 0 w 3290"/>
                  <a:gd name="T25" fmla="*/ 0 h 1326"/>
                  <a:gd name="T26" fmla="*/ 0 w 3290"/>
                  <a:gd name="T27" fmla="*/ 0 h 1326"/>
                  <a:gd name="T28" fmla="*/ 0 w 3290"/>
                  <a:gd name="T29" fmla="*/ 0 h 1326"/>
                  <a:gd name="T30" fmla="*/ 0 w 3290"/>
                  <a:gd name="T31" fmla="*/ 0 h 1326"/>
                  <a:gd name="T32" fmla="*/ 0 w 3290"/>
                  <a:gd name="T33" fmla="*/ 0 h 1326"/>
                  <a:gd name="T34" fmla="*/ 0 w 3290"/>
                  <a:gd name="T35" fmla="*/ 0 h 1326"/>
                  <a:gd name="T36" fmla="*/ 0 w 3290"/>
                  <a:gd name="T37" fmla="*/ 0 h 1326"/>
                  <a:gd name="T38" fmla="*/ 0 w 3290"/>
                  <a:gd name="T39" fmla="*/ 0 h 1326"/>
                  <a:gd name="T40" fmla="*/ 0 w 3290"/>
                  <a:gd name="T41" fmla="*/ 0 h 1326"/>
                  <a:gd name="T42" fmla="*/ 0 w 3290"/>
                  <a:gd name="T43" fmla="*/ 0 h 1326"/>
                  <a:gd name="T44" fmla="*/ 0 w 3290"/>
                  <a:gd name="T45" fmla="*/ 0 h 1326"/>
                  <a:gd name="T46" fmla="*/ 0 w 3290"/>
                  <a:gd name="T47" fmla="*/ 0 h 1326"/>
                  <a:gd name="T48" fmla="*/ 0 w 3290"/>
                  <a:gd name="T49" fmla="*/ 0 h 1326"/>
                  <a:gd name="T50" fmla="*/ 0 w 3290"/>
                  <a:gd name="T51" fmla="*/ 0 h 1326"/>
                  <a:gd name="T52" fmla="*/ 0 w 3290"/>
                  <a:gd name="T53" fmla="*/ 0 h 1326"/>
                  <a:gd name="T54" fmla="*/ 0 w 3290"/>
                  <a:gd name="T55" fmla="*/ 0 h 1326"/>
                  <a:gd name="T56" fmla="*/ 0 w 3290"/>
                  <a:gd name="T57" fmla="*/ 0 h 1326"/>
                  <a:gd name="T58" fmla="*/ 0 w 3290"/>
                  <a:gd name="T59" fmla="*/ 0 h 1326"/>
                  <a:gd name="T60" fmla="*/ 0 w 3290"/>
                  <a:gd name="T61" fmla="*/ 0 h 1326"/>
                  <a:gd name="T62" fmla="*/ 0 w 3290"/>
                  <a:gd name="T63" fmla="*/ 0 h 1326"/>
                  <a:gd name="T64" fmla="*/ 0 w 3290"/>
                  <a:gd name="T65" fmla="*/ 0 h 1326"/>
                  <a:gd name="T66" fmla="*/ 0 w 3290"/>
                  <a:gd name="T67" fmla="*/ 0 h 1326"/>
                  <a:gd name="T68" fmla="*/ 0 w 3290"/>
                  <a:gd name="T69" fmla="*/ 0 h 1326"/>
                  <a:gd name="T70" fmla="*/ 0 w 3290"/>
                  <a:gd name="T71" fmla="*/ 0 h 1326"/>
                  <a:gd name="T72" fmla="*/ 0 w 3290"/>
                  <a:gd name="T73" fmla="*/ 0 h 1326"/>
                  <a:gd name="T74" fmla="*/ 0 w 3290"/>
                  <a:gd name="T75" fmla="*/ 0 h 1326"/>
                  <a:gd name="T76" fmla="*/ 0 w 3290"/>
                  <a:gd name="T77" fmla="*/ 0 h 1326"/>
                  <a:gd name="T78" fmla="*/ 0 w 3290"/>
                  <a:gd name="T79" fmla="*/ 0 h 1326"/>
                  <a:gd name="T80" fmla="*/ 0 w 3290"/>
                  <a:gd name="T81" fmla="*/ 0 h 1326"/>
                  <a:gd name="T82" fmla="*/ 0 w 3290"/>
                  <a:gd name="T83" fmla="*/ 0 h 1326"/>
                  <a:gd name="T84" fmla="*/ 0 w 3290"/>
                  <a:gd name="T85" fmla="*/ 0 h 1326"/>
                  <a:gd name="T86" fmla="*/ 0 w 3290"/>
                  <a:gd name="T87" fmla="*/ 0 h 1326"/>
                  <a:gd name="T88" fmla="*/ 0 w 3290"/>
                  <a:gd name="T89" fmla="*/ 0 h 1326"/>
                  <a:gd name="T90" fmla="*/ 0 w 3290"/>
                  <a:gd name="T91" fmla="*/ 0 h 1326"/>
                  <a:gd name="T92" fmla="*/ 0 w 3290"/>
                  <a:gd name="T93" fmla="*/ 0 h 1326"/>
                  <a:gd name="T94" fmla="*/ 0 w 3290"/>
                  <a:gd name="T95" fmla="*/ 0 h 1326"/>
                  <a:gd name="T96" fmla="*/ 0 w 3290"/>
                  <a:gd name="T97" fmla="*/ 0 h 1326"/>
                  <a:gd name="T98" fmla="*/ 0 w 3290"/>
                  <a:gd name="T99" fmla="*/ 0 h 13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290"/>
                  <a:gd name="T151" fmla="*/ 0 h 1326"/>
                  <a:gd name="T152" fmla="*/ 3290 w 3290"/>
                  <a:gd name="T153" fmla="*/ 1326 h 13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290" h="1326">
                    <a:moveTo>
                      <a:pt x="0" y="664"/>
                    </a:moveTo>
                    <a:lnTo>
                      <a:pt x="34" y="538"/>
                    </a:lnTo>
                    <a:lnTo>
                      <a:pt x="66" y="416"/>
                    </a:lnTo>
                    <a:lnTo>
                      <a:pt x="100" y="304"/>
                    </a:lnTo>
                    <a:lnTo>
                      <a:pt x="133" y="204"/>
                    </a:lnTo>
                    <a:lnTo>
                      <a:pt x="166" y="122"/>
                    </a:lnTo>
                    <a:lnTo>
                      <a:pt x="199" y="59"/>
                    </a:lnTo>
                    <a:lnTo>
                      <a:pt x="232" y="19"/>
                    </a:lnTo>
                    <a:lnTo>
                      <a:pt x="265" y="0"/>
                    </a:lnTo>
                    <a:lnTo>
                      <a:pt x="299" y="8"/>
                    </a:lnTo>
                    <a:lnTo>
                      <a:pt x="332" y="37"/>
                    </a:lnTo>
                    <a:lnTo>
                      <a:pt x="365" y="91"/>
                    </a:lnTo>
                    <a:lnTo>
                      <a:pt x="399" y="165"/>
                    </a:lnTo>
                    <a:lnTo>
                      <a:pt x="431" y="257"/>
                    </a:lnTo>
                    <a:lnTo>
                      <a:pt x="465" y="364"/>
                    </a:lnTo>
                    <a:lnTo>
                      <a:pt x="499" y="481"/>
                    </a:lnTo>
                    <a:lnTo>
                      <a:pt x="531" y="605"/>
                    </a:lnTo>
                    <a:lnTo>
                      <a:pt x="565" y="733"/>
                    </a:lnTo>
                    <a:lnTo>
                      <a:pt x="597" y="857"/>
                    </a:lnTo>
                    <a:lnTo>
                      <a:pt x="631" y="974"/>
                    </a:lnTo>
                    <a:lnTo>
                      <a:pt x="665" y="1078"/>
                    </a:lnTo>
                    <a:lnTo>
                      <a:pt x="697" y="1169"/>
                    </a:lnTo>
                    <a:lnTo>
                      <a:pt x="731" y="1243"/>
                    </a:lnTo>
                    <a:lnTo>
                      <a:pt x="765" y="1293"/>
                    </a:lnTo>
                    <a:lnTo>
                      <a:pt x="797" y="1321"/>
                    </a:lnTo>
                    <a:lnTo>
                      <a:pt x="831" y="1326"/>
                    </a:lnTo>
                    <a:lnTo>
                      <a:pt x="865" y="1306"/>
                    </a:lnTo>
                    <a:lnTo>
                      <a:pt x="897" y="1263"/>
                    </a:lnTo>
                    <a:lnTo>
                      <a:pt x="931" y="1198"/>
                    </a:lnTo>
                    <a:lnTo>
                      <a:pt x="963" y="1114"/>
                    </a:lnTo>
                    <a:lnTo>
                      <a:pt x="997" y="1014"/>
                    </a:lnTo>
                    <a:lnTo>
                      <a:pt x="1030" y="900"/>
                    </a:lnTo>
                    <a:lnTo>
                      <a:pt x="1063" y="779"/>
                    </a:lnTo>
                    <a:lnTo>
                      <a:pt x="1096" y="653"/>
                    </a:lnTo>
                    <a:lnTo>
                      <a:pt x="1130" y="527"/>
                    </a:lnTo>
                    <a:lnTo>
                      <a:pt x="1163" y="406"/>
                    </a:lnTo>
                    <a:lnTo>
                      <a:pt x="1196" y="295"/>
                    </a:lnTo>
                    <a:lnTo>
                      <a:pt x="1230" y="197"/>
                    </a:lnTo>
                    <a:lnTo>
                      <a:pt x="1262" y="115"/>
                    </a:lnTo>
                    <a:lnTo>
                      <a:pt x="1296" y="55"/>
                    </a:lnTo>
                    <a:lnTo>
                      <a:pt x="1328" y="16"/>
                    </a:lnTo>
                    <a:lnTo>
                      <a:pt x="1362" y="0"/>
                    </a:lnTo>
                    <a:lnTo>
                      <a:pt x="1396" y="9"/>
                    </a:lnTo>
                    <a:lnTo>
                      <a:pt x="1428" y="42"/>
                    </a:lnTo>
                    <a:lnTo>
                      <a:pt x="1462" y="97"/>
                    </a:lnTo>
                    <a:lnTo>
                      <a:pt x="1496" y="172"/>
                    </a:lnTo>
                    <a:lnTo>
                      <a:pt x="1528" y="266"/>
                    </a:lnTo>
                    <a:lnTo>
                      <a:pt x="1562" y="373"/>
                    </a:lnTo>
                    <a:lnTo>
                      <a:pt x="1596" y="492"/>
                    </a:lnTo>
                    <a:lnTo>
                      <a:pt x="1628" y="618"/>
                    </a:lnTo>
                    <a:lnTo>
                      <a:pt x="1662" y="744"/>
                    </a:lnTo>
                    <a:lnTo>
                      <a:pt x="1694" y="866"/>
                    </a:lnTo>
                    <a:lnTo>
                      <a:pt x="1728" y="983"/>
                    </a:lnTo>
                    <a:lnTo>
                      <a:pt x="1762" y="1088"/>
                    </a:lnTo>
                    <a:lnTo>
                      <a:pt x="1794" y="1177"/>
                    </a:lnTo>
                    <a:lnTo>
                      <a:pt x="1828" y="1247"/>
                    </a:lnTo>
                    <a:lnTo>
                      <a:pt x="1861" y="1296"/>
                    </a:lnTo>
                    <a:lnTo>
                      <a:pt x="1894" y="1323"/>
                    </a:lnTo>
                    <a:lnTo>
                      <a:pt x="1927" y="1326"/>
                    </a:lnTo>
                    <a:lnTo>
                      <a:pt x="1961" y="1304"/>
                    </a:lnTo>
                    <a:lnTo>
                      <a:pt x="1993" y="1258"/>
                    </a:lnTo>
                    <a:lnTo>
                      <a:pt x="2027" y="1192"/>
                    </a:lnTo>
                    <a:lnTo>
                      <a:pt x="2060" y="1106"/>
                    </a:lnTo>
                    <a:lnTo>
                      <a:pt x="2093" y="1005"/>
                    </a:lnTo>
                    <a:lnTo>
                      <a:pt x="2127" y="889"/>
                    </a:lnTo>
                    <a:lnTo>
                      <a:pt x="2159" y="768"/>
                    </a:lnTo>
                    <a:lnTo>
                      <a:pt x="2193" y="641"/>
                    </a:lnTo>
                    <a:lnTo>
                      <a:pt x="2227" y="516"/>
                    </a:lnTo>
                    <a:lnTo>
                      <a:pt x="2259" y="396"/>
                    </a:lnTo>
                    <a:lnTo>
                      <a:pt x="2293" y="286"/>
                    </a:lnTo>
                    <a:lnTo>
                      <a:pt x="2327" y="189"/>
                    </a:lnTo>
                    <a:lnTo>
                      <a:pt x="2359" y="109"/>
                    </a:lnTo>
                    <a:lnTo>
                      <a:pt x="2393" y="51"/>
                    </a:lnTo>
                    <a:lnTo>
                      <a:pt x="2425" y="14"/>
                    </a:lnTo>
                    <a:lnTo>
                      <a:pt x="2459" y="0"/>
                    </a:lnTo>
                    <a:lnTo>
                      <a:pt x="2493" y="11"/>
                    </a:lnTo>
                    <a:lnTo>
                      <a:pt x="2525" y="46"/>
                    </a:lnTo>
                    <a:lnTo>
                      <a:pt x="2559" y="103"/>
                    </a:lnTo>
                    <a:lnTo>
                      <a:pt x="2593" y="180"/>
                    </a:lnTo>
                    <a:lnTo>
                      <a:pt x="2625" y="275"/>
                    </a:lnTo>
                    <a:lnTo>
                      <a:pt x="2659" y="384"/>
                    </a:lnTo>
                    <a:lnTo>
                      <a:pt x="2692" y="502"/>
                    </a:lnTo>
                    <a:lnTo>
                      <a:pt x="2725" y="628"/>
                    </a:lnTo>
                    <a:lnTo>
                      <a:pt x="2758" y="754"/>
                    </a:lnTo>
                    <a:lnTo>
                      <a:pt x="2791" y="877"/>
                    </a:lnTo>
                    <a:lnTo>
                      <a:pt x="2824" y="992"/>
                    </a:lnTo>
                    <a:lnTo>
                      <a:pt x="2858" y="1097"/>
                    </a:lnTo>
                    <a:lnTo>
                      <a:pt x="2890" y="1184"/>
                    </a:lnTo>
                    <a:lnTo>
                      <a:pt x="2924" y="1252"/>
                    </a:lnTo>
                    <a:lnTo>
                      <a:pt x="2958" y="1299"/>
                    </a:lnTo>
                    <a:lnTo>
                      <a:pt x="2990" y="1324"/>
                    </a:lnTo>
                    <a:lnTo>
                      <a:pt x="3024" y="1324"/>
                    </a:lnTo>
                    <a:lnTo>
                      <a:pt x="3058" y="1301"/>
                    </a:lnTo>
                    <a:lnTo>
                      <a:pt x="3090" y="1253"/>
                    </a:lnTo>
                    <a:lnTo>
                      <a:pt x="3124" y="1184"/>
                    </a:lnTo>
                    <a:lnTo>
                      <a:pt x="3156" y="1098"/>
                    </a:lnTo>
                    <a:lnTo>
                      <a:pt x="3190" y="995"/>
                    </a:lnTo>
                    <a:lnTo>
                      <a:pt x="3224" y="880"/>
                    </a:lnTo>
                    <a:lnTo>
                      <a:pt x="3256" y="756"/>
                    </a:lnTo>
                    <a:lnTo>
                      <a:pt x="3290" y="630"/>
                    </a:lnTo>
                  </a:path>
                </a:pathLst>
              </a:custGeom>
              <a:noFill/>
              <a:ln w="38100" cmpd="sng">
                <a:solidFill>
                  <a:srgbClr val="FF0000"/>
                </a:solidFill>
                <a:round/>
                <a:headEnd/>
                <a:tailEnd/>
              </a:ln>
            </p:spPr>
            <p:txBody>
              <a:bodyPr/>
              <a:lstStyle/>
              <a:p>
                <a:endParaRPr lang="zh-CN" altLang="en-US"/>
              </a:p>
            </p:txBody>
          </p:sp>
          <p:sp>
            <p:nvSpPr>
              <p:cNvPr id="73837" name="未知"/>
              <p:cNvSpPr>
                <a:spLocks/>
              </p:cNvSpPr>
              <p:nvPr/>
            </p:nvSpPr>
            <p:spPr bwMode="auto">
              <a:xfrm>
                <a:off x="1081" y="8"/>
                <a:ext cx="1089" cy="454"/>
              </a:xfrm>
              <a:custGeom>
                <a:avLst/>
                <a:gdLst>
                  <a:gd name="T0" fmla="*/ 0 w 3290"/>
                  <a:gd name="T1" fmla="*/ 0 h 1326"/>
                  <a:gd name="T2" fmla="*/ 0 w 3290"/>
                  <a:gd name="T3" fmla="*/ 0 h 1326"/>
                  <a:gd name="T4" fmla="*/ 0 w 3290"/>
                  <a:gd name="T5" fmla="*/ 0 h 1326"/>
                  <a:gd name="T6" fmla="*/ 0 w 3290"/>
                  <a:gd name="T7" fmla="*/ 0 h 1326"/>
                  <a:gd name="T8" fmla="*/ 0 w 3290"/>
                  <a:gd name="T9" fmla="*/ 0 h 1326"/>
                  <a:gd name="T10" fmla="*/ 0 w 3290"/>
                  <a:gd name="T11" fmla="*/ 0 h 1326"/>
                  <a:gd name="T12" fmla="*/ 0 w 3290"/>
                  <a:gd name="T13" fmla="*/ 0 h 1326"/>
                  <a:gd name="T14" fmla="*/ 0 w 3290"/>
                  <a:gd name="T15" fmla="*/ 0 h 1326"/>
                  <a:gd name="T16" fmla="*/ 0 w 3290"/>
                  <a:gd name="T17" fmla="*/ 0 h 1326"/>
                  <a:gd name="T18" fmla="*/ 0 w 3290"/>
                  <a:gd name="T19" fmla="*/ 0 h 1326"/>
                  <a:gd name="T20" fmla="*/ 0 w 3290"/>
                  <a:gd name="T21" fmla="*/ 0 h 1326"/>
                  <a:gd name="T22" fmla="*/ 0 w 3290"/>
                  <a:gd name="T23" fmla="*/ 0 h 1326"/>
                  <a:gd name="T24" fmla="*/ 0 w 3290"/>
                  <a:gd name="T25" fmla="*/ 0 h 1326"/>
                  <a:gd name="T26" fmla="*/ 0 w 3290"/>
                  <a:gd name="T27" fmla="*/ 0 h 1326"/>
                  <a:gd name="T28" fmla="*/ 0 w 3290"/>
                  <a:gd name="T29" fmla="*/ 0 h 1326"/>
                  <a:gd name="T30" fmla="*/ 0 w 3290"/>
                  <a:gd name="T31" fmla="*/ 0 h 1326"/>
                  <a:gd name="T32" fmla="*/ 0 w 3290"/>
                  <a:gd name="T33" fmla="*/ 0 h 1326"/>
                  <a:gd name="T34" fmla="*/ 0 w 3290"/>
                  <a:gd name="T35" fmla="*/ 0 h 1326"/>
                  <a:gd name="T36" fmla="*/ 0 w 3290"/>
                  <a:gd name="T37" fmla="*/ 0 h 1326"/>
                  <a:gd name="T38" fmla="*/ 0 w 3290"/>
                  <a:gd name="T39" fmla="*/ 0 h 1326"/>
                  <a:gd name="T40" fmla="*/ 0 w 3290"/>
                  <a:gd name="T41" fmla="*/ 0 h 1326"/>
                  <a:gd name="T42" fmla="*/ 0 w 3290"/>
                  <a:gd name="T43" fmla="*/ 0 h 1326"/>
                  <a:gd name="T44" fmla="*/ 0 w 3290"/>
                  <a:gd name="T45" fmla="*/ 0 h 1326"/>
                  <a:gd name="T46" fmla="*/ 0 w 3290"/>
                  <a:gd name="T47" fmla="*/ 0 h 1326"/>
                  <a:gd name="T48" fmla="*/ 0 w 3290"/>
                  <a:gd name="T49" fmla="*/ 0 h 1326"/>
                  <a:gd name="T50" fmla="*/ 0 w 3290"/>
                  <a:gd name="T51" fmla="*/ 0 h 1326"/>
                  <a:gd name="T52" fmla="*/ 0 w 3290"/>
                  <a:gd name="T53" fmla="*/ 0 h 1326"/>
                  <a:gd name="T54" fmla="*/ 0 w 3290"/>
                  <a:gd name="T55" fmla="*/ 0 h 1326"/>
                  <a:gd name="T56" fmla="*/ 0 w 3290"/>
                  <a:gd name="T57" fmla="*/ 0 h 1326"/>
                  <a:gd name="T58" fmla="*/ 0 w 3290"/>
                  <a:gd name="T59" fmla="*/ 0 h 1326"/>
                  <a:gd name="T60" fmla="*/ 0 w 3290"/>
                  <a:gd name="T61" fmla="*/ 0 h 1326"/>
                  <a:gd name="T62" fmla="*/ 0 w 3290"/>
                  <a:gd name="T63" fmla="*/ 0 h 1326"/>
                  <a:gd name="T64" fmla="*/ 0 w 3290"/>
                  <a:gd name="T65" fmla="*/ 0 h 1326"/>
                  <a:gd name="T66" fmla="*/ 0 w 3290"/>
                  <a:gd name="T67" fmla="*/ 0 h 1326"/>
                  <a:gd name="T68" fmla="*/ 0 w 3290"/>
                  <a:gd name="T69" fmla="*/ 0 h 1326"/>
                  <a:gd name="T70" fmla="*/ 0 w 3290"/>
                  <a:gd name="T71" fmla="*/ 0 h 1326"/>
                  <a:gd name="T72" fmla="*/ 0 w 3290"/>
                  <a:gd name="T73" fmla="*/ 0 h 1326"/>
                  <a:gd name="T74" fmla="*/ 0 w 3290"/>
                  <a:gd name="T75" fmla="*/ 0 h 1326"/>
                  <a:gd name="T76" fmla="*/ 0 w 3290"/>
                  <a:gd name="T77" fmla="*/ 0 h 1326"/>
                  <a:gd name="T78" fmla="*/ 0 w 3290"/>
                  <a:gd name="T79" fmla="*/ 0 h 1326"/>
                  <a:gd name="T80" fmla="*/ 0 w 3290"/>
                  <a:gd name="T81" fmla="*/ 0 h 1326"/>
                  <a:gd name="T82" fmla="*/ 0 w 3290"/>
                  <a:gd name="T83" fmla="*/ 0 h 1326"/>
                  <a:gd name="T84" fmla="*/ 0 w 3290"/>
                  <a:gd name="T85" fmla="*/ 0 h 1326"/>
                  <a:gd name="T86" fmla="*/ 0 w 3290"/>
                  <a:gd name="T87" fmla="*/ 0 h 1326"/>
                  <a:gd name="T88" fmla="*/ 0 w 3290"/>
                  <a:gd name="T89" fmla="*/ 0 h 1326"/>
                  <a:gd name="T90" fmla="*/ 0 w 3290"/>
                  <a:gd name="T91" fmla="*/ 0 h 1326"/>
                  <a:gd name="T92" fmla="*/ 0 w 3290"/>
                  <a:gd name="T93" fmla="*/ 0 h 1326"/>
                  <a:gd name="T94" fmla="*/ 0 w 3290"/>
                  <a:gd name="T95" fmla="*/ 0 h 1326"/>
                  <a:gd name="T96" fmla="*/ 0 w 3290"/>
                  <a:gd name="T97" fmla="*/ 0 h 1326"/>
                  <a:gd name="T98" fmla="*/ 0 w 3290"/>
                  <a:gd name="T99" fmla="*/ 0 h 13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290"/>
                  <a:gd name="T151" fmla="*/ 0 h 1326"/>
                  <a:gd name="T152" fmla="*/ 3290 w 3290"/>
                  <a:gd name="T153" fmla="*/ 1326 h 13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290" h="1326">
                    <a:moveTo>
                      <a:pt x="0" y="664"/>
                    </a:moveTo>
                    <a:lnTo>
                      <a:pt x="34" y="538"/>
                    </a:lnTo>
                    <a:lnTo>
                      <a:pt x="66" y="416"/>
                    </a:lnTo>
                    <a:lnTo>
                      <a:pt x="100" y="304"/>
                    </a:lnTo>
                    <a:lnTo>
                      <a:pt x="133" y="204"/>
                    </a:lnTo>
                    <a:lnTo>
                      <a:pt x="166" y="122"/>
                    </a:lnTo>
                    <a:lnTo>
                      <a:pt x="199" y="59"/>
                    </a:lnTo>
                    <a:lnTo>
                      <a:pt x="232" y="19"/>
                    </a:lnTo>
                    <a:lnTo>
                      <a:pt x="265" y="0"/>
                    </a:lnTo>
                    <a:lnTo>
                      <a:pt x="299" y="8"/>
                    </a:lnTo>
                    <a:lnTo>
                      <a:pt x="332" y="37"/>
                    </a:lnTo>
                    <a:lnTo>
                      <a:pt x="365" y="91"/>
                    </a:lnTo>
                    <a:lnTo>
                      <a:pt x="399" y="165"/>
                    </a:lnTo>
                    <a:lnTo>
                      <a:pt x="431" y="257"/>
                    </a:lnTo>
                    <a:lnTo>
                      <a:pt x="465" y="364"/>
                    </a:lnTo>
                    <a:lnTo>
                      <a:pt x="499" y="481"/>
                    </a:lnTo>
                    <a:lnTo>
                      <a:pt x="531" y="605"/>
                    </a:lnTo>
                    <a:lnTo>
                      <a:pt x="565" y="733"/>
                    </a:lnTo>
                    <a:lnTo>
                      <a:pt x="597" y="857"/>
                    </a:lnTo>
                    <a:lnTo>
                      <a:pt x="631" y="974"/>
                    </a:lnTo>
                    <a:lnTo>
                      <a:pt x="665" y="1078"/>
                    </a:lnTo>
                    <a:lnTo>
                      <a:pt x="697" y="1169"/>
                    </a:lnTo>
                    <a:lnTo>
                      <a:pt x="731" y="1243"/>
                    </a:lnTo>
                    <a:lnTo>
                      <a:pt x="765" y="1293"/>
                    </a:lnTo>
                    <a:lnTo>
                      <a:pt x="797" y="1321"/>
                    </a:lnTo>
                    <a:lnTo>
                      <a:pt x="831" y="1326"/>
                    </a:lnTo>
                    <a:lnTo>
                      <a:pt x="865" y="1306"/>
                    </a:lnTo>
                    <a:lnTo>
                      <a:pt x="897" y="1263"/>
                    </a:lnTo>
                    <a:lnTo>
                      <a:pt x="931" y="1198"/>
                    </a:lnTo>
                    <a:lnTo>
                      <a:pt x="963" y="1114"/>
                    </a:lnTo>
                    <a:lnTo>
                      <a:pt x="997" y="1014"/>
                    </a:lnTo>
                    <a:lnTo>
                      <a:pt x="1030" y="900"/>
                    </a:lnTo>
                    <a:lnTo>
                      <a:pt x="1063" y="779"/>
                    </a:lnTo>
                    <a:lnTo>
                      <a:pt x="1096" y="653"/>
                    </a:lnTo>
                    <a:lnTo>
                      <a:pt x="1130" y="527"/>
                    </a:lnTo>
                    <a:lnTo>
                      <a:pt x="1163" y="406"/>
                    </a:lnTo>
                    <a:lnTo>
                      <a:pt x="1196" y="295"/>
                    </a:lnTo>
                    <a:lnTo>
                      <a:pt x="1230" y="197"/>
                    </a:lnTo>
                    <a:lnTo>
                      <a:pt x="1262" y="115"/>
                    </a:lnTo>
                    <a:lnTo>
                      <a:pt x="1296" y="55"/>
                    </a:lnTo>
                    <a:lnTo>
                      <a:pt x="1328" y="16"/>
                    </a:lnTo>
                    <a:lnTo>
                      <a:pt x="1362" y="0"/>
                    </a:lnTo>
                    <a:lnTo>
                      <a:pt x="1396" y="9"/>
                    </a:lnTo>
                    <a:lnTo>
                      <a:pt x="1428" y="42"/>
                    </a:lnTo>
                    <a:lnTo>
                      <a:pt x="1462" y="97"/>
                    </a:lnTo>
                    <a:lnTo>
                      <a:pt x="1496" y="172"/>
                    </a:lnTo>
                    <a:lnTo>
                      <a:pt x="1528" y="266"/>
                    </a:lnTo>
                    <a:lnTo>
                      <a:pt x="1562" y="373"/>
                    </a:lnTo>
                    <a:lnTo>
                      <a:pt x="1596" y="492"/>
                    </a:lnTo>
                    <a:lnTo>
                      <a:pt x="1628" y="618"/>
                    </a:lnTo>
                    <a:lnTo>
                      <a:pt x="1662" y="744"/>
                    </a:lnTo>
                    <a:lnTo>
                      <a:pt x="1694" y="866"/>
                    </a:lnTo>
                    <a:lnTo>
                      <a:pt x="1728" y="983"/>
                    </a:lnTo>
                    <a:lnTo>
                      <a:pt x="1762" y="1088"/>
                    </a:lnTo>
                    <a:lnTo>
                      <a:pt x="1794" y="1177"/>
                    </a:lnTo>
                    <a:lnTo>
                      <a:pt x="1828" y="1247"/>
                    </a:lnTo>
                    <a:lnTo>
                      <a:pt x="1861" y="1296"/>
                    </a:lnTo>
                    <a:lnTo>
                      <a:pt x="1894" y="1323"/>
                    </a:lnTo>
                    <a:lnTo>
                      <a:pt x="1927" y="1326"/>
                    </a:lnTo>
                    <a:lnTo>
                      <a:pt x="1961" y="1304"/>
                    </a:lnTo>
                    <a:lnTo>
                      <a:pt x="1993" y="1258"/>
                    </a:lnTo>
                    <a:lnTo>
                      <a:pt x="2027" y="1192"/>
                    </a:lnTo>
                    <a:lnTo>
                      <a:pt x="2060" y="1106"/>
                    </a:lnTo>
                    <a:lnTo>
                      <a:pt x="2093" y="1005"/>
                    </a:lnTo>
                    <a:lnTo>
                      <a:pt x="2127" y="889"/>
                    </a:lnTo>
                    <a:lnTo>
                      <a:pt x="2159" y="768"/>
                    </a:lnTo>
                    <a:lnTo>
                      <a:pt x="2193" y="641"/>
                    </a:lnTo>
                    <a:lnTo>
                      <a:pt x="2227" y="516"/>
                    </a:lnTo>
                    <a:lnTo>
                      <a:pt x="2259" y="396"/>
                    </a:lnTo>
                    <a:lnTo>
                      <a:pt x="2293" y="286"/>
                    </a:lnTo>
                    <a:lnTo>
                      <a:pt x="2327" y="189"/>
                    </a:lnTo>
                    <a:lnTo>
                      <a:pt x="2359" y="109"/>
                    </a:lnTo>
                    <a:lnTo>
                      <a:pt x="2393" y="51"/>
                    </a:lnTo>
                    <a:lnTo>
                      <a:pt x="2425" y="14"/>
                    </a:lnTo>
                    <a:lnTo>
                      <a:pt x="2459" y="0"/>
                    </a:lnTo>
                    <a:lnTo>
                      <a:pt x="2493" y="11"/>
                    </a:lnTo>
                    <a:lnTo>
                      <a:pt x="2525" y="46"/>
                    </a:lnTo>
                    <a:lnTo>
                      <a:pt x="2559" y="103"/>
                    </a:lnTo>
                    <a:lnTo>
                      <a:pt x="2593" y="180"/>
                    </a:lnTo>
                    <a:lnTo>
                      <a:pt x="2625" y="275"/>
                    </a:lnTo>
                    <a:lnTo>
                      <a:pt x="2659" y="384"/>
                    </a:lnTo>
                    <a:lnTo>
                      <a:pt x="2692" y="502"/>
                    </a:lnTo>
                    <a:lnTo>
                      <a:pt x="2725" y="628"/>
                    </a:lnTo>
                    <a:lnTo>
                      <a:pt x="2758" y="754"/>
                    </a:lnTo>
                    <a:lnTo>
                      <a:pt x="2791" y="877"/>
                    </a:lnTo>
                    <a:lnTo>
                      <a:pt x="2824" y="992"/>
                    </a:lnTo>
                    <a:lnTo>
                      <a:pt x="2858" y="1097"/>
                    </a:lnTo>
                    <a:lnTo>
                      <a:pt x="2890" y="1184"/>
                    </a:lnTo>
                    <a:lnTo>
                      <a:pt x="2924" y="1252"/>
                    </a:lnTo>
                    <a:lnTo>
                      <a:pt x="2958" y="1299"/>
                    </a:lnTo>
                    <a:lnTo>
                      <a:pt x="2990" y="1324"/>
                    </a:lnTo>
                    <a:lnTo>
                      <a:pt x="3024" y="1324"/>
                    </a:lnTo>
                    <a:lnTo>
                      <a:pt x="3058" y="1301"/>
                    </a:lnTo>
                    <a:lnTo>
                      <a:pt x="3090" y="1253"/>
                    </a:lnTo>
                    <a:lnTo>
                      <a:pt x="3124" y="1184"/>
                    </a:lnTo>
                    <a:lnTo>
                      <a:pt x="3156" y="1098"/>
                    </a:lnTo>
                    <a:lnTo>
                      <a:pt x="3190" y="995"/>
                    </a:lnTo>
                    <a:lnTo>
                      <a:pt x="3224" y="880"/>
                    </a:lnTo>
                    <a:lnTo>
                      <a:pt x="3256" y="756"/>
                    </a:lnTo>
                    <a:lnTo>
                      <a:pt x="3290" y="630"/>
                    </a:lnTo>
                  </a:path>
                </a:pathLst>
              </a:custGeom>
              <a:noFill/>
              <a:ln w="38100" cmpd="sng">
                <a:solidFill>
                  <a:srgbClr val="FF0000"/>
                </a:solidFill>
                <a:round/>
                <a:headEnd/>
                <a:tailEnd/>
              </a:ln>
            </p:spPr>
            <p:txBody>
              <a:bodyPr/>
              <a:lstStyle/>
              <a:p>
                <a:endParaRPr lang="zh-CN" altLang="en-US"/>
              </a:p>
            </p:txBody>
          </p:sp>
        </p:grpSp>
      </p:grpSp>
      <p:grpSp>
        <p:nvGrpSpPr>
          <p:cNvPr id="12" name="Group 36"/>
          <p:cNvGrpSpPr>
            <a:grpSpLocks/>
          </p:cNvGrpSpPr>
          <p:nvPr/>
        </p:nvGrpSpPr>
        <p:grpSpPr bwMode="auto">
          <a:xfrm>
            <a:off x="7772400" y="2514600"/>
            <a:ext cx="542925" cy="914400"/>
            <a:chOff x="0" y="0"/>
            <a:chExt cx="342" cy="432"/>
          </a:xfrm>
        </p:grpSpPr>
        <p:sp>
          <p:nvSpPr>
            <p:cNvPr id="73829" name="Rectangle 37"/>
            <p:cNvSpPr>
              <a:spLocks noChangeArrowheads="1"/>
            </p:cNvSpPr>
            <p:nvPr/>
          </p:nvSpPr>
          <p:spPr bwMode="auto">
            <a:xfrm>
              <a:off x="198" y="114"/>
              <a:ext cx="144" cy="192"/>
            </a:xfrm>
            <a:prstGeom prst="rect">
              <a:avLst/>
            </a:prstGeom>
            <a:solidFill>
              <a:schemeClr val="bg1">
                <a:alpha val="85881"/>
              </a:schemeClr>
            </a:solidFill>
            <a:ln w="9525">
              <a:solidFill>
                <a:schemeClr val="tx1"/>
              </a:solidFill>
              <a:miter lim="800000"/>
              <a:headEnd/>
              <a:tailEnd/>
            </a:ln>
          </p:spPr>
          <p:txBody>
            <a:bodyPr wrap="none" anchor="ctr"/>
            <a:lstStyle/>
            <a:p>
              <a:endParaRPr lang="zh-CN" altLang="en-US"/>
            </a:p>
          </p:txBody>
        </p:sp>
        <p:sp>
          <p:nvSpPr>
            <p:cNvPr id="73830" name="AutoShape 38"/>
            <p:cNvSpPr>
              <a:spLocks noChangeArrowheads="1"/>
            </p:cNvSpPr>
            <p:nvPr/>
          </p:nvSpPr>
          <p:spPr bwMode="auto">
            <a:xfrm rot="-5400000">
              <a:off x="-120" y="120"/>
              <a:ext cx="432" cy="1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150 w 21600"/>
                <a:gd name="T13" fmla="*/ 5175 h 21600"/>
                <a:gd name="T14" fmla="*/ 16500 w 21600"/>
                <a:gd name="T15" fmla="*/ 16425 h 21600"/>
              </a:gdLst>
              <a:ahLst/>
              <a:cxnLst>
                <a:cxn ang="T8">
                  <a:pos x="T0" y="T1"/>
                </a:cxn>
                <a:cxn ang="T9">
                  <a:pos x="T2" y="T3"/>
                </a:cxn>
                <a:cxn ang="T10">
                  <a:pos x="T4" y="T5"/>
                </a:cxn>
                <a:cxn ang="T11">
                  <a:pos x="T6" y="T7"/>
                </a:cxn>
              </a:cxnLst>
              <a:rect l="T12" t="T13" r="T14" b="T15"/>
              <a:pathLst>
                <a:path w="21600" h="21600">
                  <a:moveTo>
                    <a:pt x="0" y="0"/>
                  </a:moveTo>
                  <a:lnTo>
                    <a:pt x="6649" y="21600"/>
                  </a:lnTo>
                  <a:lnTo>
                    <a:pt x="14951" y="21600"/>
                  </a:lnTo>
                  <a:lnTo>
                    <a:pt x="21600" y="0"/>
                  </a:lnTo>
                  <a:lnTo>
                    <a:pt x="0" y="0"/>
                  </a:lnTo>
                  <a:close/>
                </a:path>
              </a:pathLst>
            </a:custGeom>
            <a:solidFill>
              <a:schemeClr val="bg1">
                <a:alpha val="85881"/>
              </a:schemeClr>
            </a:solidFill>
            <a:ln w="9525">
              <a:solidFill>
                <a:schemeClr val="tx1"/>
              </a:solidFill>
              <a:miter lim="800000"/>
              <a:headEnd/>
              <a:tailEnd/>
            </a:ln>
          </p:spPr>
          <p:txBody>
            <a:bodyPr wrap="none" anchor="ctr"/>
            <a:lstStyle/>
            <a:p>
              <a:endParaRPr lang="zh-CN" altLang="en-US"/>
            </a:p>
          </p:txBody>
        </p:sp>
        <p:sp>
          <p:nvSpPr>
            <p:cNvPr id="73831" name="Rectangle 39"/>
            <p:cNvSpPr>
              <a:spLocks noChangeArrowheads="1"/>
            </p:cNvSpPr>
            <p:nvPr/>
          </p:nvSpPr>
          <p:spPr bwMode="auto">
            <a:xfrm>
              <a:off x="198" y="114"/>
              <a:ext cx="144" cy="192"/>
            </a:xfrm>
            <a:prstGeom prst="rect">
              <a:avLst/>
            </a:prstGeom>
            <a:solidFill>
              <a:schemeClr val="bg1">
                <a:alpha val="85881"/>
              </a:schemeClr>
            </a:solidFill>
            <a:ln w="38100">
              <a:solidFill>
                <a:schemeClr val="tx1"/>
              </a:solidFill>
              <a:miter lim="800000"/>
              <a:headEnd/>
              <a:tailEnd/>
            </a:ln>
          </p:spPr>
          <p:txBody>
            <a:bodyPr wrap="none" anchor="ctr"/>
            <a:lstStyle/>
            <a:p>
              <a:endParaRPr lang="zh-CN" altLang="en-US"/>
            </a:p>
          </p:txBody>
        </p:sp>
        <p:sp>
          <p:nvSpPr>
            <p:cNvPr id="167976" name="AutoShape 40"/>
            <p:cNvSpPr>
              <a:spLocks noChangeArrowheads="1"/>
            </p:cNvSpPr>
            <p:nvPr/>
          </p:nvSpPr>
          <p:spPr bwMode="auto">
            <a:xfrm rot="16200000">
              <a:off x="-120" y="120"/>
              <a:ext cx="432" cy="192"/>
            </a:xfrm>
            <a:custGeom>
              <a:avLst/>
              <a:gdLst>
                <a:gd name="G0" fmla="+- 6649 0 0"/>
                <a:gd name="G1" fmla="+- 21600 0 6649"/>
                <a:gd name="G2" fmla="*/ 6649 1 2"/>
                <a:gd name="G3" fmla="+- 21600 0 G2"/>
                <a:gd name="G4" fmla="+/ 6649 21600 2"/>
                <a:gd name="G5" fmla="+/ G1 0 2"/>
                <a:gd name="G6" fmla="*/ 21600 21600 6649"/>
                <a:gd name="G7" fmla="*/ G6 1 2"/>
                <a:gd name="G8" fmla="+- 21600 0 G7"/>
                <a:gd name="G9" fmla="*/ 21600 1 2"/>
                <a:gd name="G10" fmla="+- 6649 0 G9"/>
                <a:gd name="G11" fmla="?: G10 G8 0"/>
                <a:gd name="G12" fmla="?: G10 G7 21600"/>
                <a:gd name="T0" fmla="*/ 18275 w 21600"/>
                <a:gd name="T1" fmla="*/ 10800 h 21600"/>
                <a:gd name="T2" fmla="*/ 10800 w 21600"/>
                <a:gd name="T3" fmla="*/ 21600 h 21600"/>
                <a:gd name="T4" fmla="*/ 3325 w 21600"/>
                <a:gd name="T5" fmla="*/ 10800 h 21600"/>
                <a:gd name="T6" fmla="*/ 10800 w 21600"/>
                <a:gd name="T7" fmla="*/ 0 h 21600"/>
                <a:gd name="T8" fmla="*/ 5125 w 21600"/>
                <a:gd name="T9" fmla="*/ 5125 h 21600"/>
                <a:gd name="T10" fmla="*/ 16475 w 21600"/>
                <a:gd name="T11" fmla="*/ 16475 h 21600"/>
              </a:gdLst>
              <a:ahLst/>
              <a:cxnLst>
                <a:cxn ang="0">
                  <a:pos x="T0" y="T1"/>
                </a:cxn>
                <a:cxn ang="0">
                  <a:pos x="T2" y="T3"/>
                </a:cxn>
                <a:cxn ang="0">
                  <a:pos x="T4" y="T5"/>
                </a:cxn>
                <a:cxn ang="0">
                  <a:pos x="T6" y="T7"/>
                </a:cxn>
              </a:cxnLst>
              <a:rect l="T8" t="T9" r="T10" b="T11"/>
              <a:pathLst>
                <a:path w="21600" h="21600">
                  <a:moveTo>
                    <a:pt x="0" y="0"/>
                  </a:moveTo>
                  <a:lnTo>
                    <a:pt x="6649" y="21600"/>
                  </a:lnTo>
                  <a:lnTo>
                    <a:pt x="14951" y="21600"/>
                  </a:lnTo>
                  <a:lnTo>
                    <a:pt x="21600" y="0"/>
                  </a:lnTo>
                  <a:close/>
                </a:path>
              </a:pathLst>
            </a:custGeom>
            <a:gradFill rotWithShape="1">
              <a:gsLst>
                <a:gs pos="0">
                  <a:schemeClr val="tx1">
                    <a:alpha val="87000"/>
                  </a:schemeClr>
                </a:gs>
                <a:gs pos="50000">
                  <a:schemeClr val="tx1">
                    <a:gamma/>
                    <a:tint val="14118"/>
                    <a:invGamma/>
                  </a:schemeClr>
                </a:gs>
                <a:gs pos="100000">
                  <a:schemeClr val="tx1">
                    <a:alpha val="87000"/>
                  </a:schemeClr>
                </a:gs>
              </a:gsLst>
              <a:lin ang="5400000" scaled="1"/>
            </a:gradFill>
            <a:ln w="38100">
              <a:solidFill>
                <a:schemeClr val="tx1"/>
              </a:solidFill>
              <a:miter lim="800000"/>
              <a:headEnd/>
              <a:tailEnd/>
            </a:ln>
            <a:effectLst/>
          </p:spPr>
          <p:txBody>
            <a:bodyPr wrap="none" anchor="ctr"/>
            <a:lstStyle/>
            <a:p>
              <a:pPr>
                <a:defRPr/>
              </a:pPr>
              <a:endParaRPr lang="zh-CN" altLang="en-US">
                <a:ea typeface="宋体" pitchFamily="2" charset="-122"/>
              </a:endParaRPr>
            </a:p>
          </p:txBody>
        </p:sp>
      </p:grpSp>
      <p:grpSp>
        <p:nvGrpSpPr>
          <p:cNvPr id="13" name="Group 41"/>
          <p:cNvGrpSpPr>
            <a:grpSpLocks/>
          </p:cNvGrpSpPr>
          <p:nvPr/>
        </p:nvGrpSpPr>
        <p:grpSpPr bwMode="auto">
          <a:xfrm>
            <a:off x="1362075" y="2058988"/>
            <a:ext cx="649288" cy="514350"/>
            <a:chOff x="0" y="0"/>
            <a:chExt cx="409" cy="432"/>
          </a:xfrm>
        </p:grpSpPr>
        <p:sp>
          <p:nvSpPr>
            <p:cNvPr id="73828" name="Line 42"/>
            <p:cNvSpPr>
              <a:spLocks noChangeShapeType="1"/>
            </p:cNvSpPr>
            <p:nvPr/>
          </p:nvSpPr>
          <p:spPr bwMode="auto">
            <a:xfrm>
              <a:off x="48" y="432"/>
              <a:ext cx="361" cy="0"/>
            </a:xfrm>
            <a:prstGeom prst="line">
              <a:avLst/>
            </a:prstGeom>
            <a:noFill/>
            <a:ln w="38100">
              <a:solidFill>
                <a:srgbClr val="CC0000"/>
              </a:solidFill>
              <a:round/>
              <a:headEnd/>
              <a:tailEnd type="triangle" w="sm" len="lg"/>
            </a:ln>
          </p:spPr>
          <p:txBody>
            <a:bodyPr wrap="none" anchor="ctr"/>
            <a:lstStyle/>
            <a:p>
              <a:endParaRPr lang="zh-CN" altLang="en-US"/>
            </a:p>
          </p:txBody>
        </p:sp>
        <p:graphicFrame>
          <p:nvGraphicFramePr>
            <p:cNvPr id="73812" name="Object 84"/>
            <p:cNvGraphicFramePr>
              <a:graphicFrameLocks noChangeAspect="1"/>
            </p:cNvGraphicFramePr>
            <p:nvPr/>
          </p:nvGraphicFramePr>
          <p:xfrm>
            <a:off x="0" y="0"/>
            <a:ext cx="378" cy="383"/>
          </p:xfrm>
          <a:graphic>
            <a:graphicData uri="http://schemas.openxmlformats.org/presentationml/2006/ole">
              <p:oleObj spid="_x0000_s73812" r:id="rId14" imgW="177646" imgH="228402" progId="Equation.3">
                <p:embed/>
              </p:oleObj>
            </a:graphicData>
          </a:graphic>
        </p:graphicFrame>
      </p:grpSp>
      <p:graphicFrame>
        <p:nvGraphicFramePr>
          <p:cNvPr id="167980" name="Object 85"/>
          <p:cNvGraphicFramePr>
            <a:graphicFrameLocks noChangeAspect="1"/>
          </p:cNvGraphicFramePr>
          <p:nvPr/>
        </p:nvGraphicFramePr>
        <p:xfrm>
          <a:off x="4800600" y="3600450"/>
          <a:ext cx="2082800" cy="830263"/>
        </p:xfrm>
        <a:graphic>
          <a:graphicData uri="http://schemas.openxmlformats.org/presentationml/2006/ole">
            <p:oleObj spid="_x0000_s73813" r:id="rId15" imgW="812447" imgH="431613" progId="Equation.3">
              <p:embed/>
            </p:oleObj>
          </a:graphicData>
        </a:graphic>
      </p:graphicFrame>
      <p:graphicFrame>
        <p:nvGraphicFramePr>
          <p:cNvPr id="167981" name="Object 86"/>
          <p:cNvGraphicFramePr>
            <a:graphicFrameLocks noChangeAspect="1"/>
          </p:cNvGraphicFramePr>
          <p:nvPr/>
        </p:nvGraphicFramePr>
        <p:xfrm>
          <a:off x="1676400" y="3657600"/>
          <a:ext cx="1890713" cy="711200"/>
        </p:xfrm>
        <a:graphic>
          <a:graphicData uri="http://schemas.openxmlformats.org/presentationml/2006/ole">
            <p:oleObj spid="_x0000_s73814" r:id="rId16" imgW="1447172" imgH="723586" progId="Equation.DSMT4">
              <p:embed/>
            </p:oleObj>
          </a:graphicData>
        </a:graphic>
      </p:graphicFrame>
      <p:sp>
        <p:nvSpPr>
          <p:cNvPr id="167982" name="Text Box 46"/>
          <p:cNvSpPr txBox="1">
            <a:spLocks noChangeArrowheads="1"/>
          </p:cNvSpPr>
          <p:nvPr/>
        </p:nvSpPr>
        <p:spPr bwMode="auto">
          <a:xfrm>
            <a:off x="1219200" y="1657350"/>
            <a:ext cx="4572000" cy="369888"/>
          </a:xfrm>
          <a:prstGeom prst="rect">
            <a:avLst/>
          </a:prstGeom>
          <a:noFill/>
          <a:ln w="9525">
            <a:noFill/>
            <a:miter lim="800000"/>
            <a:headEnd/>
            <a:tailEnd/>
          </a:ln>
        </p:spPr>
        <p:txBody>
          <a:bodyPr>
            <a:spAutoFit/>
          </a:bodyPr>
          <a:lstStyle/>
          <a:p>
            <a:pPr algn="ctr">
              <a:spcBef>
                <a:spcPct val="50000"/>
              </a:spcBef>
            </a:pPr>
            <a:r>
              <a:rPr kumimoji="0" lang="zh-CN" altLang="en-US" sz="1800" b="1">
                <a:latin typeface="华文中宋"/>
                <a:ea typeface="华文中宋"/>
                <a:cs typeface="华文中宋"/>
              </a:rPr>
              <a:t>例题：测速仪器工作原理  </a:t>
            </a:r>
          </a:p>
        </p:txBody>
      </p:sp>
      <p:graphicFrame>
        <p:nvGraphicFramePr>
          <p:cNvPr id="167983" name="Object 87"/>
          <p:cNvGraphicFramePr>
            <a:graphicFrameLocks noChangeAspect="1"/>
          </p:cNvGraphicFramePr>
          <p:nvPr/>
        </p:nvGraphicFramePr>
        <p:xfrm>
          <a:off x="2938463" y="4371975"/>
          <a:ext cx="2065337" cy="441325"/>
        </p:xfrm>
        <a:graphic>
          <a:graphicData uri="http://schemas.openxmlformats.org/presentationml/2006/ole">
            <p:oleObj spid="_x0000_s73815" name="Equation" r:id="rId17" imgW="977900" imgH="228600" progId="Equation.DSMT4">
              <p:embed/>
            </p:oleObj>
          </a:graphicData>
        </a:graphic>
      </p:graphicFrame>
      <p:graphicFrame>
        <p:nvGraphicFramePr>
          <p:cNvPr id="167984" name="Object 88"/>
          <p:cNvGraphicFramePr>
            <a:graphicFrameLocks noChangeAspect="1"/>
          </p:cNvGraphicFramePr>
          <p:nvPr/>
        </p:nvGraphicFramePr>
        <p:xfrm>
          <a:off x="1352550" y="3028950"/>
          <a:ext cx="1543050" cy="455613"/>
        </p:xfrm>
        <a:graphic>
          <a:graphicData uri="http://schemas.openxmlformats.org/presentationml/2006/ole">
            <p:oleObj spid="_x0000_s73816" r:id="rId18" imgW="459594" imgH="229797" progId="Equation.DSMT4">
              <p:embed/>
            </p:oleObj>
          </a:graphicData>
        </a:graphic>
      </p:graphicFrame>
      <p:sp>
        <p:nvSpPr>
          <p:cNvPr id="49" name="Text Box 2"/>
          <p:cNvSpPr>
            <a:spLocks noChangeArrowheads="1"/>
          </p:cNvSpPr>
          <p:nvPr/>
        </p:nvSpPr>
        <p:spPr bwMode="auto">
          <a:xfrm>
            <a:off x="828675" y="874713"/>
            <a:ext cx="1439863" cy="400050"/>
          </a:xfrm>
          <a:prstGeom prst="homePlate">
            <a:avLst>
              <a:gd name="adj" fmla="val 49672"/>
            </a:avLst>
          </a:prstGeom>
          <a:solidFill>
            <a:srgbClr val="539A84"/>
          </a:solidFill>
          <a:ln w="9525">
            <a:noFill/>
            <a:miter lim="800000"/>
            <a:headEnd/>
            <a:tailEnd/>
          </a:ln>
        </p:spPr>
        <p:txBody>
          <a:bodyPr>
            <a:spAutoFit/>
          </a:bodyPr>
          <a:lstStyle/>
          <a:p>
            <a:r>
              <a:rPr lang="zh-CN" altLang="en-US" sz="2000" b="1">
                <a:solidFill>
                  <a:srgbClr val="0000FF"/>
                </a:solidFill>
                <a:latin typeface="华文中宋"/>
                <a:ea typeface="华文中宋"/>
                <a:cs typeface="华文中宋"/>
              </a:rPr>
              <a:t>五、应用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800" decel="100000"/>
                                        <p:tgtEl>
                                          <p:spTgt spid="4"/>
                                        </p:tgtEl>
                                      </p:cBhvr>
                                    </p:animEffect>
                                    <p:anim calcmode="lin" valueType="num">
                                      <p:cBhvr>
                                        <p:cTn id="13" dur="800" decel="100000" fill="hold"/>
                                        <p:tgtEl>
                                          <p:spTgt spid="4"/>
                                        </p:tgtEl>
                                        <p:attrNameLst>
                                          <p:attrName>style.rotation</p:attrName>
                                        </p:attrNameLst>
                                      </p:cBhvr>
                                      <p:tavLst>
                                        <p:tav tm="0">
                                          <p:val>
                                            <p:fltVal val="-90"/>
                                          </p:val>
                                        </p:tav>
                                        <p:tav tm="100000">
                                          <p:val>
                                            <p:fltVal val="0"/>
                                          </p:val>
                                        </p:tav>
                                      </p:tavLst>
                                    </p:anim>
                                    <p:anim calcmode="lin" valueType="num">
                                      <p:cBhvr>
                                        <p:cTn id="14" dur="800" decel="100000" fill="hold"/>
                                        <p:tgtEl>
                                          <p:spTgt spid="4"/>
                                        </p:tgtEl>
                                        <p:attrNameLst>
                                          <p:attrName>ppt_x</p:attrName>
                                        </p:attrNameLst>
                                      </p:cBhvr>
                                      <p:tavLst>
                                        <p:tav tm="0">
                                          <p:val>
                                            <p:strVal val="#ppt_x+0.4"/>
                                          </p:val>
                                        </p:tav>
                                        <p:tav tm="100000">
                                          <p:val>
                                            <p:strVal val="#ppt_x-0.05"/>
                                          </p:val>
                                        </p:tav>
                                      </p:tavLst>
                                    </p:anim>
                                    <p:anim calcmode="lin" valueType="num">
                                      <p:cBhvr>
                                        <p:cTn id="15" dur="800" decel="100000" fill="hold"/>
                                        <p:tgtEl>
                                          <p:spTgt spid="4"/>
                                        </p:tgtEl>
                                        <p:attrNameLst>
                                          <p:attrName>ppt_y</p:attrName>
                                        </p:attrNameLst>
                                      </p:cBhvr>
                                      <p:tavLst>
                                        <p:tav tm="0">
                                          <p:val>
                                            <p:strVal val="#ppt_y-0.4"/>
                                          </p:val>
                                        </p:tav>
                                        <p:tav tm="100000">
                                          <p:val>
                                            <p:strVal val="#ppt_y+0.1"/>
                                          </p:val>
                                        </p:tav>
                                      </p:tavLst>
                                    </p:anim>
                                    <p:anim calcmode="lin" valueType="num">
                                      <p:cBhvr>
                                        <p:cTn id="16" dur="200" accel="100000" fill="hold">
                                          <p:stCondLst>
                                            <p:cond delay="800"/>
                                          </p:stCondLst>
                                        </p:cTn>
                                        <p:tgtEl>
                                          <p:spTgt spid="4"/>
                                        </p:tgtEl>
                                        <p:attrNameLst>
                                          <p:attrName>ppt_x</p:attrName>
                                        </p:attrNameLst>
                                      </p:cBhvr>
                                      <p:tavLst>
                                        <p:tav tm="0">
                                          <p:val>
                                            <p:strVal val="#ppt_x-0.05"/>
                                          </p:val>
                                        </p:tav>
                                        <p:tav tm="100000">
                                          <p:val>
                                            <p:strVal val="#ppt_x"/>
                                          </p:val>
                                        </p:tav>
                                      </p:tavLst>
                                    </p:anim>
                                    <p:anim calcmode="lin" valueType="num">
                                      <p:cBhvr>
                                        <p:cTn id="17" dur="200" accel="100000" fill="hold">
                                          <p:stCondLst>
                                            <p:cond delay="800"/>
                                          </p:stCondLst>
                                        </p:cTn>
                                        <p:tgtEl>
                                          <p:spTgt spid="4"/>
                                        </p:tgtEl>
                                        <p:attrNameLst>
                                          <p:attrName>ppt_y</p:attrName>
                                        </p:attrNameLst>
                                      </p:cBhvr>
                                      <p:tavLst>
                                        <p:tav tm="0">
                                          <p:val>
                                            <p:strVal val="#ppt_y+0.1"/>
                                          </p:val>
                                        </p:tav>
                                        <p:tav tm="100000">
                                          <p:val>
                                            <p:strVal val="#ppt_y"/>
                                          </p:val>
                                        </p:tav>
                                      </p:tavLst>
                                    </p:anim>
                                  </p:childTnLst>
                                </p:cTn>
                              </p:par>
                              <p:par>
                                <p:cTn id="18" presetID="30" presetClass="entr" presetSubtype="0" fill="hold"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800" decel="100000"/>
                                        <p:tgtEl>
                                          <p:spTgt spid="3"/>
                                        </p:tgtEl>
                                      </p:cBhvr>
                                    </p:animEffect>
                                    <p:anim calcmode="lin" valueType="num">
                                      <p:cBhvr>
                                        <p:cTn id="21" dur="800" decel="100000" fill="hold"/>
                                        <p:tgtEl>
                                          <p:spTgt spid="3"/>
                                        </p:tgtEl>
                                        <p:attrNameLst>
                                          <p:attrName>style.rotation</p:attrName>
                                        </p:attrNameLst>
                                      </p:cBhvr>
                                      <p:tavLst>
                                        <p:tav tm="0">
                                          <p:val>
                                            <p:fltVal val="-90"/>
                                          </p:val>
                                        </p:tav>
                                        <p:tav tm="100000">
                                          <p:val>
                                            <p:fltVal val="0"/>
                                          </p:val>
                                        </p:tav>
                                      </p:tavLst>
                                    </p:anim>
                                    <p:anim calcmode="lin" valueType="num">
                                      <p:cBhvr>
                                        <p:cTn id="22" dur="800" decel="100000" fill="hold"/>
                                        <p:tgtEl>
                                          <p:spTgt spid="3"/>
                                        </p:tgtEl>
                                        <p:attrNameLst>
                                          <p:attrName>ppt_x</p:attrName>
                                        </p:attrNameLst>
                                      </p:cBhvr>
                                      <p:tavLst>
                                        <p:tav tm="0">
                                          <p:val>
                                            <p:strVal val="#ppt_x+0.4"/>
                                          </p:val>
                                        </p:tav>
                                        <p:tav tm="100000">
                                          <p:val>
                                            <p:strVal val="#ppt_x-0.05"/>
                                          </p:val>
                                        </p:tav>
                                      </p:tavLst>
                                    </p:anim>
                                    <p:anim calcmode="lin" valueType="num">
                                      <p:cBhvr>
                                        <p:cTn id="23" dur="800" decel="100000" fill="hold"/>
                                        <p:tgtEl>
                                          <p:spTgt spid="3"/>
                                        </p:tgtEl>
                                        <p:attrNameLst>
                                          <p:attrName>ppt_y</p:attrName>
                                        </p:attrNameLst>
                                      </p:cBhvr>
                                      <p:tavLst>
                                        <p:tav tm="0">
                                          <p:val>
                                            <p:strVal val="#ppt_y-0.4"/>
                                          </p:val>
                                        </p:tav>
                                        <p:tav tm="100000">
                                          <p:val>
                                            <p:strVal val="#ppt_y+0.1"/>
                                          </p:val>
                                        </p:tav>
                                      </p:tavLst>
                                    </p:anim>
                                    <p:anim calcmode="lin" valueType="num">
                                      <p:cBhvr>
                                        <p:cTn id="24"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25"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par>
                                <p:cTn id="26" presetID="30" presetClass="entr" presetSubtype="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800" decel="100000"/>
                                        <p:tgtEl>
                                          <p:spTgt spid="2"/>
                                        </p:tgtEl>
                                      </p:cBhvr>
                                    </p:animEffect>
                                    <p:anim calcmode="lin" valueType="num">
                                      <p:cBhvr>
                                        <p:cTn id="29" dur="800" decel="100000" fill="hold"/>
                                        <p:tgtEl>
                                          <p:spTgt spid="2"/>
                                        </p:tgtEl>
                                        <p:attrNameLst>
                                          <p:attrName>style.rotation</p:attrName>
                                        </p:attrNameLst>
                                      </p:cBhvr>
                                      <p:tavLst>
                                        <p:tav tm="0">
                                          <p:val>
                                            <p:fltVal val="-90"/>
                                          </p:val>
                                        </p:tav>
                                        <p:tav tm="100000">
                                          <p:val>
                                            <p:fltVal val="0"/>
                                          </p:val>
                                        </p:tav>
                                      </p:tavLst>
                                    </p:anim>
                                    <p:anim calcmode="lin" valueType="num">
                                      <p:cBhvr>
                                        <p:cTn id="30" dur="800" decel="100000" fill="hold"/>
                                        <p:tgtEl>
                                          <p:spTgt spid="2"/>
                                        </p:tgtEl>
                                        <p:attrNameLst>
                                          <p:attrName>ppt_x</p:attrName>
                                        </p:attrNameLst>
                                      </p:cBhvr>
                                      <p:tavLst>
                                        <p:tav tm="0">
                                          <p:val>
                                            <p:strVal val="#ppt_x+0.4"/>
                                          </p:val>
                                        </p:tav>
                                        <p:tav tm="100000">
                                          <p:val>
                                            <p:strVal val="#ppt_x-0.05"/>
                                          </p:val>
                                        </p:tav>
                                      </p:tavLst>
                                    </p:anim>
                                    <p:anim calcmode="lin" valueType="num">
                                      <p:cBhvr>
                                        <p:cTn id="31" dur="800" decel="100000" fill="hold"/>
                                        <p:tgtEl>
                                          <p:spTgt spid="2"/>
                                        </p:tgtEl>
                                        <p:attrNameLst>
                                          <p:attrName>ppt_y</p:attrName>
                                        </p:attrNameLst>
                                      </p:cBhvr>
                                      <p:tavLst>
                                        <p:tav tm="0">
                                          <p:val>
                                            <p:strVal val="#ppt_y-0.4"/>
                                          </p:val>
                                        </p:tav>
                                        <p:tav tm="100000">
                                          <p:val>
                                            <p:strVal val="#ppt_y+0.1"/>
                                          </p:val>
                                        </p:tav>
                                      </p:tavLst>
                                    </p:anim>
                                    <p:anim calcmode="lin" valueType="num">
                                      <p:cBhvr>
                                        <p:cTn id="32" dur="200" accel="100000" fill="hold">
                                          <p:stCondLst>
                                            <p:cond delay="800"/>
                                          </p:stCondLst>
                                        </p:cTn>
                                        <p:tgtEl>
                                          <p:spTgt spid="2"/>
                                        </p:tgtEl>
                                        <p:attrNameLst>
                                          <p:attrName>ppt_x</p:attrName>
                                        </p:attrNameLst>
                                      </p:cBhvr>
                                      <p:tavLst>
                                        <p:tav tm="0">
                                          <p:val>
                                            <p:strVal val="#ppt_x-0.05"/>
                                          </p:val>
                                        </p:tav>
                                        <p:tav tm="100000">
                                          <p:val>
                                            <p:strVal val="#ppt_x"/>
                                          </p:val>
                                        </p:tav>
                                      </p:tavLst>
                                    </p:anim>
                                    <p:anim calcmode="lin" valueType="num">
                                      <p:cBhvr>
                                        <p:cTn id="33" dur="200" accel="100000" fill="hold">
                                          <p:stCondLst>
                                            <p:cond delay="800"/>
                                          </p:stCondLst>
                                        </p:cTn>
                                        <p:tgtEl>
                                          <p:spTgt spid="2"/>
                                        </p:tgtEl>
                                        <p:attrNameLst>
                                          <p:attrName>ppt_y</p:attrName>
                                        </p:attrNameLst>
                                      </p:cBhvr>
                                      <p:tavLst>
                                        <p:tav tm="0">
                                          <p:val>
                                            <p:strVal val="#ppt_y+0.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63" presetClass="path" presetSubtype="0" accel="50000" decel="50000" fill="hold" nodeType="clickEffect">
                                  <p:stCondLst>
                                    <p:cond delay="0"/>
                                  </p:stCondLst>
                                  <p:childTnLst>
                                    <p:animMotion origin="layout" path="M 3.33333E-6 2.22222E-6 L 0.59583 -0.03334 " pathEditMode="relative" rAng="0" ptsTypes="AA">
                                      <p:cBhvr>
                                        <p:cTn id="37" dur="500" fill="hold"/>
                                        <p:tgtEl>
                                          <p:spTgt spid="4"/>
                                        </p:tgtEl>
                                        <p:attrNameLst>
                                          <p:attrName>ppt_x,ppt_y</p:attrName>
                                        </p:attrNameLst>
                                      </p:cBhvr>
                                      <p:rCtr x="29800" y="-1100"/>
                                    </p:animMotion>
                                  </p:childTnLst>
                                </p:cTn>
                              </p:par>
                              <p:par>
                                <p:cTn id="38" presetID="6" presetClass="emph" presetSubtype="0" fill="hold" nodeType="withEffect">
                                  <p:stCondLst>
                                    <p:cond delay="0"/>
                                  </p:stCondLst>
                                  <p:childTnLst>
                                    <p:animScale>
                                      <p:cBhvr>
                                        <p:cTn id="39" dur="500" fill="hold"/>
                                        <p:tgtEl>
                                          <p:spTgt spid="4"/>
                                        </p:tgtEl>
                                      </p:cBhvr>
                                      <p:by x="80000" y="80000"/>
                                    </p:animScale>
                                  </p:childTnLst>
                                </p:cTn>
                              </p:par>
                              <p:par>
                                <p:cTn id="40" presetID="2" presetClass="exit" presetSubtype="4" fill="hold" nodeType="withEffect">
                                  <p:stCondLst>
                                    <p:cond delay="0"/>
                                  </p:stCondLst>
                                  <p:childTnLst>
                                    <p:anim calcmode="lin" valueType="num">
                                      <p:cBhvr additive="base">
                                        <p:cTn id="41" dur="500"/>
                                        <p:tgtEl>
                                          <p:spTgt spid="3"/>
                                        </p:tgtEl>
                                        <p:attrNameLst>
                                          <p:attrName>ppt_x</p:attrName>
                                        </p:attrNameLst>
                                      </p:cBhvr>
                                      <p:tavLst>
                                        <p:tav tm="0">
                                          <p:val>
                                            <p:strVal val="ppt_x"/>
                                          </p:val>
                                        </p:tav>
                                        <p:tav tm="100000">
                                          <p:val>
                                            <p:strVal val="ppt_x"/>
                                          </p:val>
                                        </p:tav>
                                      </p:tavLst>
                                    </p:anim>
                                    <p:anim calcmode="lin" valueType="num">
                                      <p:cBhvr additive="base">
                                        <p:cTn id="42" dur="500"/>
                                        <p:tgtEl>
                                          <p:spTgt spid="3"/>
                                        </p:tgtEl>
                                        <p:attrNameLst>
                                          <p:attrName>ppt_y</p:attrName>
                                        </p:attrNameLst>
                                      </p:cBhvr>
                                      <p:tavLst>
                                        <p:tav tm="0">
                                          <p:val>
                                            <p:strVal val="ppt_y"/>
                                          </p:val>
                                        </p:tav>
                                        <p:tav tm="100000">
                                          <p:val>
                                            <p:strVal val="1+ppt_h/2"/>
                                          </p:val>
                                        </p:tav>
                                      </p:tavLst>
                                    </p:anim>
                                    <p:set>
                                      <p:cBhvr>
                                        <p:cTn id="43" dur="1" fill="hold">
                                          <p:stCondLst>
                                            <p:cond delay="499"/>
                                          </p:stCondLst>
                                        </p:cTn>
                                        <p:tgtEl>
                                          <p:spTgt spid="3"/>
                                        </p:tgtEl>
                                        <p:attrNameLst>
                                          <p:attrName>style.visibility</p:attrName>
                                        </p:attrNameLst>
                                      </p:cBhvr>
                                      <p:to>
                                        <p:strVal val="hidden"/>
                                      </p:to>
                                    </p:set>
                                  </p:childTnLst>
                                </p:cTn>
                              </p:par>
                              <p:par>
                                <p:cTn id="44" presetID="2" presetClass="exit" presetSubtype="4" fill="hold" nodeType="withEffect">
                                  <p:stCondLst>
                                    <p:cond delay="0"/>
                                  </p:stCondLst>
                                  <p:childTnLst>
                                    <p:anim calcmode="lin" valueType="num">
                                      <p:cBhvr additive="base">
                                        <p:cTn id="45" dur="500"/>
                                        <p:tgtEl>
                                          <p:spTgt spid="2"/>
                                        </p:tgtEl>
                                        <p:attrNameLst>
                                          <p:attrName>ppt_x</p:attrName>
                                        </p:attrNameLst>
                                      </p:cBhvr>
                                      <p:tavLst>
                                        <p:tav tm="0">
                                          <p:val>
                                            <p:strVal val="ppt_x"/>
                                          </p:val>
                                        </p:tav>
                                        <p:tav tm="100000">
                                          <p:val>
                                            <p:strVal val="ppt_x"/>
                                          </p:val>
                                        </p:tav>
                                      </p:tavLst>
                                    </p:anim>
                                    <p:anim calcmode="lin" valueType="num">
                                      <p:cBhvr additive="base">
                                        <p:cTn id="46" dur="500"/>
                                        <p:tgtEl>
                                          <p:spTgt spid="2"/>
                                        </p:tgtEl>
                                        <p:attrNameLst>
                                          <p:attrName>ppt_y</p:attrName>
                                        </p:attrNameLst>
                                      </p:cBhvr>
                                      <p:tavLst>
                                        <p:tav tm="0">
                                          <p:val>
                                            <p:strVal val="ppt_y"/>
                                          </p:val>
                                        </p:tav>
                                        <p:tav tm="100000">
                                          <p:val>
                                            <p:strVal val="1+ppt_h/2"/>
                                          </p:val>
                                        </p:tav>
                                      </p:tavLst>
                                    </p:anim>
                                    <p:set>
                                      <p:cBhvr>
                                        <p:cTn id="47" dur="1" fill="hold">
                                          <p:stCondLst>
                                            <p:cond delay="499"/>
                                          </p:stCondLst>
                                        </p:cTn>
                                        <p:tgtEl>
                                          <p:spTgt spid="2"/>
                                        </p:tgtEl>
                                        <p:attrNameLst>
                                          <p:attrName>style.visibility</p:attrName>
                                        </p:attrNameLst>
                                      </p:cBhvr>
                                      <p:to>
                                        <p:strVal val="hidden"/>
                                      </p:to>
                                    </p:set>
                                  </p:childTnLst>
                                </p:cTn>
                              </p:par>
                            </p:childTnLst>
                          </p:cTn>
                        </p:par>
                        <p:par>
                          <p:cTn id="48" fill="hold" nodeType="afterGroup">
                            <p:stCondLst>
                              <p:cond delay="500"/>
                            </p:stCondLst>
                            <p:childTnLst>
                              <p:par>
                                <p:cTn id="49" presetID="34" presetClass="entr" presetSubtype="0" fill="hold" nodeType="afterEffect">
                                  <p:stCondLst>
                                    <p:cond delay="0"/>
                                  </p:stCondLst>
                                  <p:childTnLst>
                                    <p:set>
                                      <p:cBhvr>
                                        <p:cTn id="50" dur="1" fill="hold">
                                          <p:stCondLst>
                                            <p:cond delay="0"/>
                                          </p:stCondLst>
                                        </p:cTn>
                                        <p:tgtEl>
                                          <p:spTgt spid="5"/>
                                        </p:tgtEl>
                                        <p:attrNameLst>
                                          <p:attrName>style.visibility</p:attrName>
                                        </p:attrNameLst>
                                      </p:cBhvr>
                                      <p:to>
                                        <p:strVal val="visible"/>
                                      </p:to>
                                    </p:set>
                                    <p:anim from="(-#ppt_w/2)" to="(#ppt_x)" calcmode="lin" valueType="num">
                                      <p:cBhvr>
                                        <p:cTn id="51" dur="600" fill="hold">
                                          <p:stCondLst>
                                            <p:cond delay="0"/>
                                          </p:stCondLst>
                                        </p:cTn>
                                        <p:tgtEl>
                                          <p:spTgt spid="5"/>
                                        </p:tgtEl>
                                        <p:attrNameLst>
                                          <p:attrName>ppt_x</p:attrName>
                                        </p:attrNameLst>
                                      </p:cBhvr>
                                    </p:anim>
                                    <p:anim from="0" to="-1.0" calcmode="lin" valueType="num">
                                      <p:cBhvr>
                                        <p:cTn id="52" dur="200" decel="50000" autoRev="1" fill="hold">
                                          <p:stCondLst>
                                            <p:cond delay="600"/>
                                          </p:stCondLst>
                                        </p:cTn>
                                        <p:tgtEl>
                                          <p:spTgt spid="5"/>
                                        </p:tgtEl>
                                        <p:attrNameLst>
                                          <p:attrName>xshear</p:attrName>
                                        </p:attrNameLst>
                                      </p:cBhvr>
                                    </p:anim>
                                    <p:animScale>
                                      <p:cBhvr>
                                        <p:cTn id="53" dur="200" decel="100000" autoRev="1" fill="hold">
                                          <p:stCondLst>
                                            <p:cond delay="600"/>
                                          </p:stCondLst>
                                        </p:cTn>
                                        <p:tgtEl>
                                          <p:spTgt spid="5"/>
                                        </p:tgtEl>
                                      </p:cBhvr>
                                      <p:from x="100000" y="100000"/>
                                      <p:to x="80000" y="100000"/>
                                    </p:animScale>
                                    <p:anim by="(#ppt_h/3+#ppt_w*0.1)" calcmode="lin" valueType="num">
                                      <p:cBhvr additive="sum">
                                        <p:cTn id="54" dur="200" decel="100000" autoRev="1" fill="hold">
                                          <p:stCondLst>
                                            <p:cond delay="600"/>
                                          </p:stCondLst>
                                        </p:cTn>
                                        <p:tgtEl>
                                          <p:spTgt spid="5"/>
                                        </p:tgtEl>
                                        <p:attrNameLst>
                                          <p:attrName>ppt_x</p:attrName>
                                        </p:attrNameLst>
                                      </p:cBhvr>
                                    </p:anim>
                                  </p:childTnLst>
                                </p:cTn>
                              </p:par>
                              <p:par>
                                <p:cTn id="55" presetID="34" presetClass="entr" presetSubtype="0" fill="hold" grpId="0" nodeType="withEffect">
                                  <p:stCondLst>
                                    <p:cond delay="0"/>
                                  </p:stCondLst>
                                  <p:childTnLst>
                                    <p:set>
                                      <p:cBhvr>
                                        <p:cTn id="56" dur="1" fill="hold">
                                          <p:stCondLst>
                                            <p:cond delay="0"/>
                                          </p:stCondLst>
                                        </p:cTn>
                                        <p:tgtEl>
                                          <p:spTgt spid="167982"/>
                                        </p:tgtEl>
                                        <p:attrNameLst>
                                          <p:attrName>style.visibility</p:attrName>
                                        </p:attrNameLst>
                                      </p:cBhvr>
                                      <p:to>
                                        <p:strVal val="visible"/>
                                      </p:to>
                                    </p:set>
                                    <p:anim from="(-#ppt_w/2)" to="(#ppt_x)" calcmode="lin" valueType="num">
                                      <p:cBhvr>
                                        <p:cTn id="57" dur="600" fill="hold">
                                          <p:stCondLst>
                                            <p:cond delay="0"/>
                                          </p:stCondLst>
                                        </p:cTn>
                                        <p:tgtEl>
                                          <p:spTgt spid="167982"/>
                                        </p:tgtEl>
                                        <p:attrNameLst>
                                          <p:attrName>ppt_x</p:attrName>
                                        </p:attrNameLst>
                                      </p:cBhvr>
                                    </p:anim>
                                    <p:anim from="0" to="-1.0" calcmode="lin" valueType="num">
                                      <p:cBhvr>
                                        <p:cTn id="58" dur="200" decel="50000" autoRev="1" fill="hold">
                                          <p:stCondLst>
                                            <p:cond delay="600"/>
                                          </p:stCondLst>
                                        </p:cTn>
                                        <p:tgtEl>
                                          <p:spTgt spid="167982"/>
                                        </p:tgtEl>
                                        <p:attrNameLst>
                                          <p:attrName>xshear</p:attrName>
                                        </p:attrNameLst>
                                      </p:cBhvr>
                                    </p:anim>
                                    <p:animScale>
                                      <p:cBhvr>
                                        <p:cTn id="59" dur="200" decel="100000" autoRev="1" fill="hold">
                                          <p:stCondLst>
                                            <p:cond delay="600"/>
                                          </p:stCondLst>
                                        </p:cTn>
                                        <p:tgtEl>
                                          <p:spTgt spid="167982"/>
                                        </p:tgtEl>
                                      </p:cBhvr>
                                      <p:from x="100000" y="100000"/>
                                      <p:to x="80000" y="100000"/>
                                    </p:animScale>
                                    <p:anim by="(#ppt_h/3+#ppt_w*0.1)" calcmode="lin" valueType="num">
                                      <p:cBhvr additive="sum">
                                        <p:cTn id="60" dur="200" decel="100000" autoRev="1" fill="hold">
                                          <p:stCondLst>
                                            <p:cond delay="600"/>
                                          </p:stCondLst>
                                        </p:cTn>
                                        <p:tgtEl>
                                          <p:spTgt spid="167982"/>
                                        </p:tgtEl>
                                        <p:attrNameLst>
                                          <p:attrName>ppt_x</p:attrName>
                                        </p:attrNameLst>
                                      </p:cBhvr>
                                    </p:anim>
                                  </p:childTnLst>
                                </p:cTn>
                              </p:par>
                            </p:childTnLst>
                          </p:cTn>
                        </p:par>
                        <p:par>
                          <p:cTn id="61" fill="hold" nodeType="afterGroup">
                            <p:stCondLst>
                              <p:cond delay="1500"/>
                            </p:stCondLst>
                            <p:childTnLst>
                              <p:par>
                                <p:cTn id="62" presetID="1" presetClass="entr" presetSubtype="0" fill="hold" nodeType="afterEffect">
                                  <p:stCondLst>
                                    <p:cond delay="0"/>
                                  </p:stCondLst>
                                  <p:childTnLst>
                                    <p:set>
                                      <p:cBhvr>
                                        <p:cTn id="63" dur="1" fill="hold">
                                          <p:stCondLst>
                                            <p:cond delay="0"/>
                                          </p:stCondLst>
                                        </p:cTn>
                                        <p:tgtEl>
                                          <p:spTgt spid="12"/>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2" fill="hold" nodeType="click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wipe(right)">
                                      <p:cBhvr>
                                        <p:cTn id="68" dur="2000"/>
                                        <p:tgtEl>
                                          <p:spTgt spid="7"/>
                                        </p:tgtEl>
                                      </p:cBhvr>
                                    </p:animEffect>
                                  </p:childTnLst>
                                </p:cTn>
                              </p:par>
                            </p:childTnLst>
                          </p:cTn>
                        </p:par>
                        <p:par>
                          <p:cTn id="69" fill="hold" nodeType="afterGroup">
                            <p:stCondLst>
                              <p:cond delay="2000"/>
                            </p:stCondLst>
                            <p:childTnLst>
                              <p:par>
                                <p:cTn id="70" presetID="12" presetClass="entr" presetSubtype="4" fill="hold" nodeType="afterEffect">
                                  <p:stCondLst>
                                    <p:cond delay="0"/>
                                  </p:stCondLst>
                                  <p:childTnLst>
                                    <p:set>
                                      <p:cBhvr>
                                        <p:cTn id="71" dur="1" fill="hold">
                                          <p:stCondLst>
                                            <p:cond delay="0"/>
                                          </p:stCondLst>
                                        </p:cTn>
                                        <p:tgtEl>
                                          <p:spTgt spid="167951"/>
                                        </p:tgtEl>
                                        <p:attrNameLst>
                                          <p:attrName>style.visibility</p:attrName>
                                        </p:attrNameLst>
                                      </p:cBhvr>
                                      <p:to>
                                        <p:strVal val="visible"/>
                                      </p:to>
                                    </p:set>
                                    <p:animEffect transition="in" filter="slide(fromBottom)">
                                      <p:cBhvr>
                                        <p:cTn id="72" dur="500"/>
                                        <p:tgtEl>
                                          <p:spTgt spid="167951"/>
                                        </p:tgtEl>
                                      </p:cBhvr>
                                    </p:animEffect>
                                  </p:childTnLst>
                                </p:cTn>
                              </p:par>
                            </p:childTnLst>
                          </p:cTn>
                        </p:par>
                        <p:par>
                          <p:cTn id="73" fill="hold" nodeType="afterGroup">
                            <p:stCondLst>
                              <p:cond delay="2500"/>
                            </p:stCondLst>
                            <p:childTnLst>
                              <p:par>
                                <p:cTn id="74" presetID="12" presetClass="entr" presetSubtype="4" fill="hold" nodeType="afterEffect">
                                  <p:stCondLst>
                                    <p:cond delay="0"/>
                                  </p:stCondLst>
                                  <p:childTnLst>
                                    <p:set>
                                      <p:cBhvr>
                                        <p:cTn id="75" dur="1" fill="hold">
                                          <p:stCondLst>
                                            <p:cond delay="0"/>
                                          </p:stCondLst>
                                        </p:cTn>
                                        <p:tgtEl>
                                          <p:spTgt spid="167953"/>
                                        </p:tgtEl>
                                        <p:attrNameLst>
                                          <p:attrName>style.visibility</p:attrName>
                                        </p:attrNameLst>
                                      </p:cBhvr>
                                      <p:to>
                                        <p:strVal val="visible"/>
                                      </p:to>
                                    </p:set>
                                    <p:animEffect transition="in" filter="slide(fromBottom)">
                                      <p:cBhvr>
                                        <p:cTn id="76" dur="500"/>
                                        <p:tgtEl>
                                          <p:spTgt spid="16795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 presetClass="entr" presetSubtype="8" fill="hold" nodeType="clickEffect">
                                  <p:stCondLst>
                                    <p:cond delay="0"/>
                                  </p:stCondLst>
                                  <p:childTnLst>
                                    <p:set>
                                      <p:cBhvr>
                                        <p:cTn id="80" dur="1" fill="hold">
                                          <p:stCondLst>
                                            <p:cond delay="0"/>
                                          </p:stCondLst>
                                        </p:cTn>
                                        <p:tgtEl>
                                          <p:spTgt spid="167954"/>
                                        </p:tgtEl>
                                        <p:attrNameLst>
                                          <p:attrName>style.visibility</p:attrName>
                                        </p:attrNameLst>
                                      </p:cBhvr>
                                      <p:to>
                                        <p:strVal val="visible"/>
                                      </p:to>
                                    </p:set>
                                    <p:anim calcmode="lin" valueType="num">
                                      <p:cBhvr additive="base">
                                        <p:cTn id="81" dur="500" fill="hold"/>
                                        <p:tgtEl>
                                          <p:spTgt spid="167954"/>
                                        </p:tgtEl>
                                        <p:attrNameLst>
                                          <p:attrName>ppt_x</p:attrName>
                                        </p:attrNameLst>
                                      </p:cBhvr>
                                      <p:tavLst>
                                        <p:tav tm="0">
                                          <p:val>
                                            <p:strVal val="0-#ppt_w/2"/>
                                          </p:val>
                                        </p:tav>
                                        <p:tav tm="100000">
                                          <p:val>
                                            <p:strVal val="#ppt_x"/>
                                          </p:val>
                                        </p:tav>
                                      </p:tavLst>
                                    </p:anim>
                                    <p:anim calcmode="lin" valueType="num">
                                      <p:cBhvr additive="base">
                                        <p:cTn id="82" dur="500" fill="hold"/>
                                        <p:tgtEl>
                                          <p:spTgt spid="167954"/>
                                        </p:tgtEl>
                                        <p:attrNameLst>
                                          <p:attrName>ppt_y</p:attrName>
                                        </p:attrNameLst>
                                      </p:cBhvr>
                                      <p:tavLst>
                                        <p:tav tm="0">
                                          <p:val>
                                            <p:strVal val="#ppt_y"/>
                                          </p:val>
                                        </p:tav>
                                        <p:tav tm="100000">
                                          <p:val>
                                            <p:strVal val="#ppt_y"/>
                                          </p:val>
                                        </p:tav>
                                      </p:tavLst>
                                    </p:anim>
                                  </p:childTnLst>
                                </p:cTn>
                              </p:par>
                            </p:childTnLst>
                          </p:cTn>
                        </p:par>
                        <p:par>
                          <p:cTn id="83" fill="hold" nodeType="afterGroup">
                            <p:stCondLst>
                              <p:cond delay="500"/>
                            </p:stCondLst>
                            <p:childTnLst>
                              <p:par>
                                <p:cTn id="84" presetID="22" presetClass="entr" presetSubtype="8" fill="hold" nodeType="afterEffect">
                                  <p:stCondLst>
                                    <p:cond delay="0"/>
                                  </p:stCondLst>
                                  <p:childTnLst>
                                    <p:set>
                                      <p:cBhvr>
                                        <p:cTn id="85" dur="1" fill="hold">
                                          <p:stCondLst>
                                            <p:cond delay="0"/>
                                          </p:stCondLst>
                                        </p:cTn>
                                        <p:tgtEl>
                                          <p:spTgt spid="13"/>
                                        </p:tgtEl>
                                        <p:attrNameLst>
                                          <p:attrName>style.visibility</p:attrName>
                                        </p:attrNameLst>
                                      </p:cBhvr>
                                      <p:to>
                                        <p:strVal val="visible"/>
                                      </p:to>
                                    </p:set>
                                    <p:animEffect transition="in" filter="wipe(left)">
                                      <p:cBhvr>
                                        <p:cTn id="86" dur="500"/>
                                        <p:tgtEl>
                                          <p:spTgt spid="13"/>
                                        </p:tgtEl>
                                      </p:cBhvr>
                                    </p:animEffect>
                                  </p:childTnLst>
                                </p:cTn>
                              </p:par>
                            </p:childTnLst>
                          </p:cTn>
                        </p:par>
                        <p:par>
                          <p:cTn id="87" fill="hold" nodeType="afterGroup">
                            <p:stCondLst>
                              <p:cond delay="1000"/>
                            </p:stCondLst>
                            <p:childTnLst>
                              <p:par>
                                <p:cTn id="88" presetID="22" presetClass="entr" presetSubtype="8" fill="hold" nodeType="afterEffect">
                                  <p:stCondLst>
                                    <p:cond delay="0"/>
                                  </p:stCondLst>
                                  <p:childTnLst>
                                    <p:set>
                                      <p:cBhvr>
                                        <p:cTn id="89" dur="1" fill="hold">
                                          <p:stCondLst>
                                            <p:cond delay="0"/>
                                          </p:stCondLst>
                                        </p:cTn>
                                        <p:tgtEl>
                                          <p:spTgt spid="6"/>
                                        </p:tgtEl>
                                        <p:attrNameLst>
                                          <p:attrName>style.visibility</p:attrName>
                                        </p:attrNameLst>
                                      </p:cBhvr>
                                      <p:to>
                                        <p:strVal val="visible"/>
                                      </p:to>
                                    </p:set>
                                    <p:animEffect transition="in" filter="wipe(left)">
                                      <p:cBhvr>
                                        <p:cTn id="90" dur="500"/>
                                        <p:tgtEl>
                                          <p:spTgt spid="6"/>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12" presetClass="entr" presetSubtype="4" fill="hold" nodeType="clickEffect">
                                  <p:stCondLst>
                                    <p:cond delay="0"/>
                                  </p:stCondLst>
                                  <p:childTnLst>
                                    <p:set>
                                      <p:cBhvr>
                                        <p:cTn id="94" dur="1" fill="hold">
                                          <p:stCondLst>
                                            <p:cond delay="0"/>
                                          </p:stCondLst>
                                        </p:cTn>
                                        <p:tgtEl>
                                          <p:spTgt spid="167981"/>
                                        </p:tgtEl>
                                        <p:attrNameLst>
                                          <p:attrName>style.visibility</p:attrName>
                                        </p:attrNameLst>
                                      </p:cBhvr>
                                      <p:to>
                                        <p:strVal val="visible"/>
                                      </p:to>
                                    </p:set>
                                    <p:animEffect transition="in" filter="slide(fromBottom)">
                                      <p:cBhvr>
                                        <p:cTn id="95" dur="500"/>
                                        <p:tgtEl>
                                          <p:spTgt spid="167981"/>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3" presetClass="entr" presetSubtype="10" fill="hold" nodeType="clickEffect">
                                  <p:stCondLst>
                                    <p:cond delay="0"/>
                                  </p:stCondLst>
                                  <p:childTnLst>
                                    <p:set>
                                      <p:cBhvr>
                                        <p:cTn id="99" dur="1" fill="hold">
                                          <p:stCondLst>
                                            <p:cond delay="0"/>
                                          </p:stCondLst>
                                        </p:cTn>
                                        <p:tgtEl>
                                          <p:spTgt spid="167984"/>
                                        </p:tgtEl>
                                        <p:attrNameLst>
                                          <p:attrName>style.visibility</p:attrName>
                                        </p:attrNameLst>
                                      </p:cBhvr>
                                      <p:to>
                                        <p:strVal val="visible"/>
                                      </p:to>
                                    </p:set>
                                    <p:animEffect transition="in" filter="blinds(horizontal)">
                                      <p:cBhvr>
                                        <p:cTn id="100" dur="500"/>
                                        <p:tgtEl>
                                          <p:spTgt spid="167984"/>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9"/>
                                        </p:tgtEl>
                                        <p:attrNameLst>
                                          <p:attrName>style.visibility</p:attrName>
                                        </p:attrNameLst>
                                      </p:cBhvr>
                                      <p:to>
                                        <p:strVal val="visible"/>
                                      </p:to>
                                    </p:set>
                                    <p:animEffect transition="in" filter="wipe(left)">
                                      <p:cBhvr>
                                        <p:cTn id="105" dur="2000"/>
                                        <p:tgtEl>
                                          <p:spTgt spid="9"/>
                                        </p:tgtEl>
                                      </p:cBhvr>
                                    </p:animEffect>
                                  </p:childTnLst>
                                </p:cTn>
                              </p:par>
                            </p:childTnLst>
                          </p:cTn>
                        </p:par>
                        <p:par>
                          <p:cTn id="106" fill="hold" nodeType="afterGroup">
                            <p:stCondLst>
                              <p:cond delay="2000"/>
                            </p:stCondLst>
                            <p:childTnLst>
                              <p:par>
                                <p:cTn id="107" presetID="12" presetClass="entr" presetSubtype="4" fill="hold" nodeType="afterEffect">
                                  <p:stCondLst>
                                    <p:cond delay="0"/>
                                  </p:stCondLst>
                                  <p:childTnLst>
                                    <p:set>
                                      <p:cBhvr>
                                        <p:cTn id="108" dur="1" fill="hold">
                                          <p:stCondLst>
                                            <p:cond delay="0"/>
                                          </p:stCondLst>
                                        </p:cTn>
                                        <p:tgtEl>
                                          <p:spTgt spid="167952"/>
                                        </p:tgtEl>
                                        <p:attrNameLst>
                                          <p:attrName>style.visibility</p:attrName>
                                        </p:attrNameLst>
                                      </p:cBhvr>
                                      <p:to>
                                        <p:strVal val="visible"/>
                                      </p:to>
                                    </p:set>
                                    <p:animEffect transition="in" filter="slide(fromBottom)">
                                      <p:cBhvr>
                                        <p:cTn id="109" dur="500"/>
                                        <p:tgtEl>
                                          <p:spTgt spid="167952"/>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2" presetClass="entr" presetSubtype="4" fill="hold" nodeType="clickEffect">
                                  <p:stCondLst>
                                    <p:cond delay="0"/>
                                  </p:stCondLst>
                                  <p:childTnLst>
                                    <p:set>
                                      <p:cBhvr>
                                        <p:cTn id="113" dur="1" fill="hold">
                                          <p:stCondLst>
                                            <p:cond delay="0"/>
                                          </p:stCondLst>
                                        </p:cTn>
                                        <p:tgtEl>
                                          <p:spTgt spid="167980"/>
                                        </p:tgtEl>
                                        <p:attrNameLst>
                                          <p:attrName>style.visibility</p:attrName>
                                        </p:attrNameLst>
                                      </p:cBhvr>
                                      <p:to>
                                        <p:strVal val="visible"/>
                                      </p:to>
                                    </p:set>
                                    <p:animEffect transition="in" filter="slide(fromBottom)">
                                      <p:cBhvr>
                                        <p:cTn id="114" dur="500"/>
                                        <p:tgtEl>
                                          <p:spTgt spid="167980"/>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2" presetClass="entr" presetSubtype="4" fill="hold" nodeType="clickEffect">
                                  <p:stCondLst>
                                    <p:cond delay="0"/>
                                  </p:stCondLst>
                                  <p:childTnLst>
                                    <p:set>
                                      <p:cBhvr>
                                        <p:cTn id="118" dur="1" fill="hold">
                                          <p:stCondLst>
                                            <p:cond delay="0"/>
                                          </p:stCondLst>
                                        </p:cTn>
                                        <p:tgtEl>
                                          <p:spTgt spid="167983"/>
                                        </p:tgtEl>
                                        <p:attrNameLst>
                                          <p:attrName>style.visibility</p:attrName>
                                        </p:attrNameLst>
                                      </p:cBhvr>
                                      <p:to>
                                        <p:strVal val="visible"/>
                                      </p:to>
                                    </p:set>
                                    <p:animEffect transition="in" filter="slide(fromBottom)">
                                      <p:cBhvr>
                                        <p:cTn id="119" dur="500"/>
                                        <p:tgtEl>
                                          <p:spTgt spid="167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82" grpId="0" autoUpdateAnimBg="0"/>
      <p:bldP spid="49"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125913" y="2373313"/>
            <a:ext cx="2805112" cy="1381125"/>
            <a:chOff x="0" y="0"/>
            <a:chExt cx="2291" cy="1527"/>
          </a:xfrm>
        </p:grpSpPr>
        <p:pic>
          <p:nvPicPr>
            <p:cNvPr id="74766" name="Picture 3" descr="宇宙大爆炸">
              <a:hlinkClick r:id="rId2" action="ppaction://hlinksldjump"/>
            </p:cNvPr>
            <p:cNvPicPr>
              <a:picLocks noChangeAspect="1" noChangeArrowheads="1"/>
            </p:cNvPicPr>
            <p:nvPr/>
          </p:nvPicPr>
          <p:blipFill>
            <a:blip r:embed="rId3"/>
            <a:srcRect/>
            <a:stretch>
              <a:fillRect/>
            </a:stretch>
          </p:blipFill>
          <p:spPr bwMode="auto">
            <a:xfrm>
              <a:off x="0" y="0"/>
              <a:ext cx="2256" cy="1450"/>
            </a:xfrm>
            <a:prstGeom prst="rect">
              <a:avLst/>
            </a:prstGeom>
            <a:noFill/>
            <a:ln w="63500">
              <a:solidFill>
                <a:srgbClr val="FF0000"/>
              </a:solidFill>
              <a:miter lim="800000"/>
              <a:headEnd/>
              <a:tailEnd/>
            </a:ln>
            <a:effectLst>
              <a:outerShdw dist="107763" dir="2700000" algn="ctr" rotWithShape="0">
                <a:srgbClr val="808080">
                  <a:alpha val="50000"/>
                </a:srgbClr>
              </a:outerShdw>
            </a:effectLst>
            <a:extLst>
              <a:ext uri="{909E8E84-426E-40DD-AFC4-6F175D3DCCD1}"/>
            </a:extLst>
          </p:spPr>
        </p:pic>
        <p:sp>
          <p:nvSpPr>
            <p:cNvPr id="74767" name="Text Box 4"/>
            <p:cNvSpPr txBox="1">
              <a:spLocks noChangeArrowheads="1"/>
            </p:cNvSpPr>
            <p:nvPr/>
          </p:nvSpPr>
          <p:spPr bwMode="auto">
            <a:xfrm>
              <a:off x="1227" y="1104"/>
              <a:ext cx="1064" cy="423"/>
            </a:xfrm>
            <a:prstGeom prst="rect">
              <a:avLst/>
            </a:prstGeom>
            <a:noFill/>
            <a:ln>
              <a:noFill/>
            </a:ln>
            <a:effectLst>
              <a:outerShdw dist="28398" dir="3806097" algn="ctr" rotWithShape="0">
                <a:srgbClr val="CC3300">
                  <a:alpha val="50000"/>
                </a:srgbClr>
              </a:outerShdw>
            </a:effectLst>
            <a:extLst>
              <a:ext uri="{909E8E84-426E-40DD-AFC4-6F175D3DCCD1}"/>
              <a:ext uri="{91240B29-F687-4F45-9708-019B960494DF}"/>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9pPr>
            </a:lstStyle>
            <a:p>
              <a:pPr algn="ctr" eaLnBrk="1" hangingPunct="1">
                <a:defRPr/>
              </a:pPr>
              <a:r>
                <a:rPr kumimoji="0" lang="zh-CN" altLang="en-US" sz="2000" b="1">
                  <a:solidFill>
                    <a:schemeClr val="bg1"/>
                  </a:solidFill>
                  <a:latin typeface="Arial" pitchFamily="34" charset="0"/>
                  <a:ea typeface="黑体" pitchFamily="49" charset="-122"/>
                </a:rPr>
                <a:t>宇宙大爆炸</a:t>
              </a:r>
            </a:p>
          </p:txBody>
        </p:sp>
      </p:grpSp>
      <p:grpSp>
        <p:nvGrpSpPr>
          <p:cNvPr id="74755" name="Group 5"/>
          <p:cNvGrpSpPr>
            <a:grpSpLocks/>
          </p:cNvGrpSpPr>
          <p:nvPr/>
        </p:nvGrpSpPr>
        <p:grpSpPr bwMode="auto">
          <a:xfrm>
            <a:off x="381000" y="1727200"/>
            <a:ext cx="2209800" cy="628650"/>
            <a:chOff x="0" y="0"/>
            <a:chExt cx="1392" cy="528"/>
          </a:xfrm>
        </p:grpSpPr>
        <p:sp>
          <p:nvSpPr>
            <p:cNvPr id="112651" name="Oval 6"/>
            <p:cNvSpPr>
              <a:spLocks noChangeArrowheads="1"/>
            </p:cNvSpPr>
            <p:nvPr/>
          </p:nvSpPr>
          <p:spPr bwMode="auto">
            <a:xfrm>
              <a:off x="0" y="0"/>
              <a:ext cx="1392" cy="528"/>
            </a:xfrm>
            <a:prstGeom prst="ellipse">
              <a:avLst/>
            </a:prstGeom>
            <a:solidFill>
              <a:srgbClr val="FFFF00">
                <a:alpha val="18823"/>
              </a:srgbClr>
            </a:solidFill>
            <a:ln w="38100">
              <a:solidFill>
                <a:srgbClr val="FF0000"/>
              </a:solidFill>
              <a:round/>
              <a:headEnd/>
              <a:tailEnd/>
            </a:ln>
          </p:spPr>
          <p:txBody>
            <a:bodyPr wrap="none" anchor="ctr"/>
            <a:lstStyle/>
            <a:p>
              <a:endParaRPr lang="zh-CN" altLang="en-US"/>
            </a:p>
          </p:txBody>
        </p:sp>
        <p:sp>
          <p:nvSpPr>
            <p:cNvPr id="112652" name="Text Box 7"/>
            <p:cNvSpPr txBox="1">
              <a:spLocks noChangeArrowheads="1"/>
            </p:cNvSpPr>
            <p:nvPr/>
          </p:nvSpPr>
          <p:spPr bwMode="auto">
            <a:xfrm>
              <a:off x="88" y="112"/>
              <a:ext cx="1200" cy="388"/>
            </a:xfrm>
            <a:prstGeom prst="rect">
              <a:avLst/>
            </a:prstGeom>
            <a:solidFill>
              <a:srgbClr val="FFFF00">
                <a:alpha val="18823"/>
              </a:srgbClr>
            </a:solidFill>
            <a:ln w="9525">
              <a:noFill/>
              <a:miter lim="800000"/>
              <a:headEnd/>
              <a:tailEnd/>
            </a:ln>
          </p:spPr>
          <p:txBody>
            <a:bodyPr>
              <a:spAutoFit/>
            </a:bodyPr>
            <a:lstStyle/>
            <a:p>
              <a:pPr algn="ctr">
                <a:spcBef>
                  <a:spcPct val="50000"/>
                </a:spcBef>
              </a:pPr>
              <a:r>
                <a:rPr kumimoji="0" lang="zh-CN" altLang="en-US" sz="2400" b="1">
                  <a:latin typeface="Arial" charset="0"/>
                  <a:ea typeface="华文中宋"/>
                  <a:cs typeface="华文中宋"/>
                </a:rPr>
                <a:t>千里眼</a:t>
              </a:r>
            </a:p>
          </p:txBody>
        </p:sp>
      </p:grpSp>
      <p:sp>
        <p:nvSpPr>
          <p:cNvPr id="168968" name="Rectangle 8"/>
          <p:cNvSpPr>
            <a:spLocks noChangeArrowheads="1"/>
          </p:cNvSpPr>
          <p:nvPr/>
        </p:nvSpPr>
        <p:spPr bwMode="auto">
          <a:xfrm>
            <a:off x="107950" y="2690813"/>
            <a:ext cx="8763000" cy="923925"/>
          </a:xfrm>
          <a:prstGeom prst="rect">
            <a:avLst/>
          </a:prstGeom>
          <a:noFill/>
          <a:ln w="9525">
            <a:noFill/>
            <a:miter lim="800000"/>
            <a:headEnd/>
            <a:tailEnd/>
          </a:ln>
        </p:spPr>
        <p:txBody>
          <a:bodyPr>
            <a:spAutoFit/>
          </a:bodyPr>
          <a:lstStyle/>
          <a:p>
            <a:r>
              <a:rPr kumimoji="0" lang="en-US" altLang="zh-CN" sz="1800" b="1">
                <a:latin typeface="华文中宋"/>
                <a:ea typeface="华文中宋"/>
                <a:cs typeface="华文中宋"/>
              </a:rPr>
              <a:t>      </a:t>
            </a:r>
            <a:r>
              <a:rPr kumimoji="0" lang="zh-CN" altLang="en-US" sz="1800" b="1">
                <a:latin typeface="华文中宋"/>
                <a:ea typeface="华文中宋"/>
                <a:cs typeface="华文中宋"/>
              </a:rPr>
              <a:t>脉冲多普勒雷达广泛用于机载预警、导航、导弹制导、卫星跟踪、战场侦察、靶场测量、武器火控和气象探测等方面，成为重要的军事装备。装有脉冲多普勒雷达的预警飞机，已成为对付低空轰炸机和巡航导弹的有效军事装备。 </a:t>
            </a:r>
          </a:p>
        </p:txBody>
      </p:sp>
      <p:grpSp>
        <p:nvGrpSpPr>
          <p:cNvPr id="4" name="Group 9"/>
          <p:cNvGrpSpPr>
            <a:grpSpLocks/>
          </p:cNvGrpSpPr>
          <p:nvPr/>
        </p:nvGrpSpPr>
        <p:grpSpPr bwMode="auto">
          <a:xfrm>
            <a:off x="5722938" y="1347788"/>
            <a:ext cx="2305050" cy="1352550"/>
            <a:chOff x="0" y="0"/>
            <a:chExt cx="2244" cy="1648"/>
          </a:xfrm>
        </p:grpSpPr>
        <p:pic>
          <p:nvPicPr>
            <p:cNvPr id="74762" name="Picture 10" descr="多普勒雷达">
              <a:hlinkClick r:id="rId4" action="ppaction://hlinksldjump"/>
            </p:cNvPr>
            <p:cNvPicPr>
              <a:picLocks noChangeAspect="1" noChangeArrowheads="1"/>
            </p:cNvPicPr>
            <p:nvPr/>
          </p:nvPicPr>
          <p:blipFill>
            <a:blip r:embed="rId5"/>
            <a:srcRect/>
            <a:stretch>
              <a:fillRect/>
            </a:stretch>
          </p:blipFill>
          <p:spPr bwMode="auto">
            <a:xfrm>
              <a:off x="0" y="0"/>
              <a:ext cx="2208" cy="1538"/>
            </a:xfrm>
            <a:prstGeom prst="rect">
              <a:avLst/>
            </a:prstGeom>
            <a:noFill/>
            <a:ln w="76200">
              <a:solidFill>
                <a:srgbClr val="FF0000"/>
              </a:solidFill>
              <a:miter lim="800000"/>
              <a:headEnd/>
              <a:tailEnd/>
            </a:ln>
            <a:effectLst>
              <a:outerShdw dist="35921" dir="2700000" algn="ctr" rotWithShape="0">
                <a:srgbClr val="808080">
                  <a:alpha val="50000"/>
                </a:srgbClr>
              </a:outerShdw>
            </a:effectLst>
            <a:extLst>
              <a:ext uri="{909E8E84-426E-40DD-AFC4-6F175D3DCCD1}"/>
            </a:extLst>
          </p:spPr>
        </p:pic>
        <p:sp>
          <p:nvSpPr>
            <p:cNvPr id="74763" name="Text Box 11"/>
            <p:cNvSpPr txBox="1">
              <a:spLocks noChangeArrowheads="1"/>
            </p:cNvSpPr>
            <p:nvPr/>
          </p:nvSpPr>
          <p:spPr bwMode="auto">
            <a:xfrm>
              <a:off x="1176" y="1250"/>
              <a:ext cx="1068" cy="398"/>
            </a:xfrm>
            <a:prstGeom prst="rect">
              <a:avLst/>
            </a:prstGeom>
            <a:noFill/>
            <a:ln>
              <a:noFill/>
            </a:ln>
            <a:effectLst>
              <a:outerShdw dist="28398" dir="3806097" algn="ctr" rotWithShape="0">
                <a:srgbClr val="CC3300">
                  <a:alpha val="50000"/>
                </a:srgbClr>
              </a:outerShdw>
            </a:effectLst>
            <a:extLst>
              <a:ext uri="{909E8E84-426E-40DD-AFC4-6F175D3DCCD1}"/>
              <a:ext uri="{91240B29-F687-4F45-9708-019B960494DF}"/>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9pPr>
            </a:lstStyle>
            <a:p>
              <a:pPr algn="ctr" eaLnBrk="1" hangingPunct="1">
                <a:defRPr/>
              </a:pPr>
              <a:r>
                <a:rPr kumimoji="0" lang="zh-CN" altLang="en-US" sz="2000" b="1">
                  <a:solidFill>
                    <a:schemeClr val="bg1"/>
                  </a:solidFill>
                  <a:latin typeface="Arial" pitchFamily="34" charset="0"/>
                  <a:ea typeface="黑体" pitchFamily="49" charset="-122"/>
                </a:rPr>
                <a:t>多普勒雷达</a:t>
              </a:r>
            </a:p>
          </p:txBody>
        </p:sp>
      </p:grpSp>
      <p:grpSp>
        <p:nvGrpSpPr>
          <p:cNvPr id="5" name="Group 12"/>
          <p:cNvGrpSpPr>
            <a:grpSpLocks/>
          </p:cNvGrpSpPr>
          <p:nvPr/>
        </p:nvGrpSpPr>
        <p:grpSpPr bwMode="auto">
          <a:xfrm>
            <a:off x="2628900" y="1249363"/>
            <a:ext cx="2395538" cy="1358900"/>
            <a:chOff x="0" y="0"/>
            <a:chExt cx="2160" cy="1566"/>
          </a:xfrm>
        </p:grpSpPr>
        <p:pic>
          <p:nvPicPr>
            <p:cNvPr id="74760" name="Picture 13" descr="雷达测速仪">
              <a:hlinkClick r:id="rId6" action="ppaction://hlinksldjump"/>
            </p:cNvPr>
            <p:cNvPicPr>
              <a:picLocks noChangeAspect="1" noChangeArrowheads="1"/>
            </p:cNvPicPr>
            <p:nvPr/>
          </p:nvPicPr>
          <p:blipFill>
            <a:blip r:embed="rId7"/>
            <a:srcRect/>
            <a:stretch>
              <a:fillRect/>
            </a:stretch>
          </p:blipFill>
          <p:spPr bwMode="auto">
            <a:xfrm>
              <a:off x="0" y="0"/>
              <a:ext cx="2160" cy="1537"/>
            </a:xfrm>
            <a:prstGeom prst="rect">
              <a:avLst/>
            </a:prstGeom>
            <a:noFill/>
            <a:ln w="63500">
              <a:solidFill>
                <a:srgbClr val="FF0000"/>
              </a:solidFill>
              <a:miter lim="800000"/>
              <a:headEnd/>
              <a:tailEnd/>
            </a:ln>
            <a:effectLst>
              <a:outerShdw dist="107763" dir="2700000" algn="ctr" rotWithShape="0">
                <a:srgbClr val="808080">
                  <a:alpha val="50000"/>
                </a:srgbClr>
              </a:outerShdw>
            </a:effectLst>
            <a:extLst>
              <a:ext uri="{909E8E84-426E-40DD-AFC4-6F175D3DCCD1}"/>
            </a:extLst>
          </p:spPr>
        </p:pic>
        <p:sp>
          <p:nvSpPr>
            <p:cNvPr id="112648" name="Text Box 14"/>
            <p:cNvSpPr txBox="1">
              <a:spLocks noChangeArrowheads="1"/>
            </p:cNvSpPr>
            <p:nvPr/>
          </p:nvSpPr>
          <p:spPr bwMode="auto">
            <a:xfrm>
              <a:off x="1101" y="1152"/>
              <a:ext cx="735" cy="414"/>
            </a:xfrm>
            <a:prstGeom prst="rect">
              <a:avLst/>
            </a:prstGeom>
            <a:noFill/>
            <a:ln w="9525">
              <a:noFill/>
              <a:miter lim="800000"/>
              <a:headEnd/>
              <a:tailEnd/>
            </a:ln>
          </p:spPr>
          <p:txBody>
            <a:bodyPr wrap="none">
              <a:spAutoFit/>
            </a:bodyPr>
            <a:lstStyle/>
            <a:p>
              <a:pPr algn="ctr"/>
              <a:r>
                <a:rPr kumimoji="0" lang="zh-CN" altLang="en-US" sz="2000" b="1">
                  <a:latin typeface="Arial" charset="0"/>
                  <a:ea typeface="黑体" pitchFamily="49" charset="-122"/>
                </a:rPr>
                <a:t>测速仪</a:t>
              </a:r>
            </a:p>
          </p:txBody>
        </p:sp>
      </p:grpSp>
      <p:sp>
        <p:nvSpPr>
          <p:cNvPr id="112646" name="Text Box 2"/>
          <p:cNvSpPr>
            <a:spLocks noChangeArrowheads="1"/>
          </p:cNvSpPr>
          <p:nvPr/>
        </p:nvSpPr>
        <p:spPr bwMode="auto">
          <a:xfrm>
            <a:off x="828675" y="874713"/>
            <a:ext cx="1439863" cy="400050"/>
          </a:xfrm>
          <a:prstGeom prst="homePlate">
            <a:avLst>
              <a:gd name="adj" fmla="val 49672"/>
            </a:avLst>
          </a:prstGeom>
          <a:solidFill>
            <a:srgbClr val="539A84"/>
          </a:solidFill>
          <a:ln w="9525">
            <a:noFill/>
            <a:miter lim="800000"/>
            <a:headEnd/>
            <a:tailEnd/>
          </a:ln>
        </p:spPr>
        <p:txBody>
          <a:bodyPr>
            <a:spAutoFit/>
          </a:bodyPr>
          <a:lstStyle/>
          <a:p>
            <a:r>
              <a:rPr lang="zh-CN" altLang="en-US" sz="2000" b="1">
                <a:solidFill>
                  <a:srgbClr val="0000FF"/>
                </a:solidFill>
                <a:latin typeface="华文中宋"/>
                <a:ea typeface="华文中宋"/>
                <a:cs typeface="华文中宋"/>
              </a:rPr>
              <a:t>五、应用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4755"/>
                                        </p:tgtEl>
                                        <p:attrNameLst>
                                          <p:attrName>style.visibility</p:attrName>
                                        </p:attrNameLst>
                                      </p:cBhvr>
                                      <p:to>
                                        <p:strVal val="visible"/>
                                      </p:to>
                                    </p:set>
                                    <p:animEffect transition="in" filter="wipe(left)">
                                      <p:cBhvr>
                                        <p:cTn id="7" dur="500"/>
                                        <p:tgtEl>
                                          <p:spTgt spid="747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xit" presetSubtype="4" fill="hold" nodeType="clickEffect">
                                  <p:stCondLst>
                                    <p:cond delay="0"/>
                                  </p:stCondLst>
                                  <p:childTnLst>
                                    <p:anim calcmode="lin" valueType="num">
                                      <p:cBhvr additive="base">
                                        <p:cTn id="11" dur="500"/>
                                        <p:tgtEl>
                                          <p:spTgt spid="2"/>
                                        </p:tgtEl>
                                        <p:attrNameLst>
                                          <p:attrName>ppt_x</p:attrName>
                                        </p:attrNameLst>
                                      </p:cBhvr>
                                      <p:tavLst>
                                        <p:tav tm="0">
                                          <p:val>
                                            <p:strVal val="ppt_x"/>
                                          </p:val>
                                        </p:tav>
                                        <p:tav tm="100000">
                                          <p:val>
                                            <p:strVal val="ppt_x"/>
                                          </p:val>
                                        </p:tav>
                                      </p:tavLst>
                                    </p:anim>
                                    <p:anim calcmode="lin" valueType="num">
                                      <p:cBhvr additive="base">
                                        <p:cTn id="12" dur="500"/>
                                        <p:tgtEl>
                                          <p:spTgt spid="2"/>
                                        </p:tgtEl>
                                        <p:attrNameLst>
                                          <p:attrName>ppt_y</p:attrName>
                                        </p:attrNameLst>
                                      </p:cBhvr>
                                      <p:tavLst>
                                        <p:tav tm="0">
                                          <p:val>
                                            <p:strVal val="ppt_y"/>
                                          </p:val>
                                        </p:tav>
                                        <p:tav tm="100000">
                                          <p:val>
                                            <p:strVal val="1+ppt_h/2"/>
                                          </p:val>
                                        </p:tav>
                                      </p:tavLst>
                                    </p:anim>
                                    <p:set>
                                      <p:cBhvr>
                                        <p:cTn id="13" dur="1" fill="hold">
                                          <p:stCondLst>
                                            <p:cond delay="499"/>
                                          </p:stCondLst>
                                        </p:cTn>
                                        <p:tgtEl>
                                          <p:spTgt spid="2"/>
                                        </p:tgtEl>
                                        <p:attrNameLst>
                                          <p:attrName>style.visibility</p:attrName>
                                        </p:attrNameLst>
                                      </p:cBhvr>
                                      <p:to>
                                        <p:strVal val="hidden"/>
                                      </p:to>
                                    </p:set>
                                  </p:childTnLst>
                                </p:cTn>
                              </p:par>
                              <p:par>
                                <p:cTn id="14" presetID="2" presetClass="exit" presetSubtype="4" fill="hold" nodeType="withEffect">
                                  <p:stCondLst>
                                    <p:cond delay="0"/>
                                  </p:stCondLst>
                                  <p:childTnLst>
                                    <p:anim calcmode="lin" valueType="num">
                                      <p:cBhvr additive="base">
                                        <p:cTn id="15" dur="500"/>
                                        <p:tgtEl>
                                          <p:spTgt spid="5"/>
                                        </p:tgtEl>
                                        <p:attrNameLst>
                                          <p:attrName>ppt_x</p:attrName>
                                        </p:attrNameLst>
                                      </p:cBhvr>
                                      <p:tavLst>
                                        <p:tav tm="0">
                                          <p:val>
                                            <p:strVal val="ppt_x"/>
                                          </p:val>
                                        </p:tav>
                                        <p:tav tm="100000">
                                          <p:val>
                                            <p:strVal val="ppt_x"/>
                                          </p:val>
                                        </p:tav>
                                      </p:tavLst>
                                    </p:anim>
                                    <p:anim calcmode="lin" valueType="num">
                                      <p:cBhvr additive="base">
                                        <p:cTn id="16" dur="500"/>
                                        <p:tgtEl>
                                          <p:spTgt spid="5"/>
                                        </p:tgtEl>
                                        <p:attrNameLst>
                                          <p:attrName>ppt_y</p:attrName>
                                        </p:attrNameLst>
                                      </p:cBhvr>
                                      <p:tavLst>
                                        <p:tav tm="0">
                                          <p:val>
                                            <p:strVal val="ppt_y"/>
                                          </p:val>
                                        </p:tav>
                                        <p:tav tm="100000">
                                          <p:val>
                                            <p:strVal val="1+ppt_h/2"/>
                                          </p:val>
                                        </p:tav>
                                      </p:tavLst>
                                    </p:anim>
                                    <p:set>
                                      <p:cBhvr>
                                        <p:cTn id="17" dur="1" fill="hold">
                                          <p:stCondLst>
                                            <p:cond delay="499"/>
                                          </p:stCondLst>
                                        </p:cTn>
                                        <p:tgtEl>
                                          <p:spTgt spid="5"/>
                                        </p:tgtEl>
                                        <p:attrNameLst>
                                          <p:attrName>style.visibility</p:attrName>
                                        </p:attrNameLst>
                                      </p:cBhvr>
                                      <p:to>
                                        <p:strVal val="hidden"/>
                                      </p:to>
                                    </p:set>
                                  </p:childTnLst>
                                </p:cTn>
                              </p:par>
                            </p:childTnLst>
                          </p:cTn>
                        </p:par>
                        <p:par>
                          <p:cTn id="18" fill="hold" nodeType="afterGroup">
                            <p:stCondLst>
                              <p:cond delay="500"/>
                            </p:stCondLst>
                            <p:childTnLst>
                              <p:par>
                                <p:cTn id="19" presetID="49" presetClass="path" presetSubtype="0" accel="50000" decel="50000" fill="hold" nodeType="afterEffect">
                                  <p:stCondLst>
                                    <p:cond delay="0"/>
                                  </p:stCondLst>
                                  <p:childTnLst>
                                    <p:animMotion origin="layout" path="M -5.55556E-7 7.40741E-7 L 0.23924 -0.13982 " pathEditMode="relative" rAng="0" ptsTypes="AA">
                                      <p:cBhvr>
                                        <p:cTn id="20" dur="500" fill="hold"/>
                                        <p:tgtEl>
                                          <p:spTgt spid="4"/>
                                        </p:tgtEl>
                                        <p:attrNameLst>
                                          <p:attrName>ppt_x,ppt_y</p:attrName>
                                        </p:attrNameLst>
                                      </p:cBhvr>
                                      <p:rCtr x="12000" y="-6400"/>
                                    </p:animMotion>
                                  </p:childTnLst>
                                </p:cTn>
                              </p:par>
                            </p:childTnLst>
                          </p:cTn>
                        </p:par>
                        <p:par>
                          <p:cTn id="21" fill="hold" nodeType="afterGroup">
                            <p:stCondLst>
                              <p:cond delay="1000"/>
                            </p:stCondLst>
                            <p:childTnLst>
                              <p:par>
                                <p:cTn id="22" presetID="29" presetClass="entr" presetSubtype="0" fill="hold" grpId="0" nodeType="afterEffect">
                                  <p:stCondLst>
                                    <p:cond delay="0"/>
                                  </p:stCondLst>
                                  <p:childTnLst>
                                    <p:set>
                                      <p:cBhvr>
                                        <p:cTn id="23" dur="1" fill="hold">
                                          <p:stCondLst>
                                            <p:cond delay="0"/>
                                          </p:stCondLst>
                                        </p:cTn>
                                        <p:tgtEl>
                                          <p:spTgt spid="168968"/>
                                        </p:tgtEl>
                                        <p:attrNameLst>
                                          <p:attrName>style.visibility</p:attrName>
                                        </p:attrNameLst>
                                      </p:cBhvr>
                                      <p:to>
                                        <p:strVal val="visible"/>
                                      </p:to>
                                    </p:set>
                                    <p:anim calcmode="lin" valueType="num">
                                      <p:cBhvr>
                                        <p:cTn id="24" dur="1000" fill="hold"/>
                                        <p:tgtEl>
                                          <p:spTgt spid="168968"/>
                                        </p:tgtEl>
                                        <p:attrNameLst>
                                          <p:attrName>ppt_x</p:attrName>
                                        </p:attrNameLst>
                                      </p:cBhvr>
                                      <p:tavLst>
                                        <p:tav tm="0">
                                          <p:val>
                                            <p:strVal val="#ppt_x-.2"/>
                                          </p:val>
                                        </p:tav>
                                        <p:tav tm="100000">
                                          <p:val>
                                            <p:strVal val="#ppt_x"/>
                                          </p:val>
                                        </p:tav>
                                      </p:tavLst>
                                    </p:anim>
                                    <p:anim calcmode="lin" valueType="num">
                                      <p:cBhvr>
                                        <p:cTn id="25" dur="1000" fill="hold"/>
                                        <p:tgtEl>
                                          <p:spTgt spid="168968"/>
                                        </p:tgtEl>
                                        <p:attrNameLst>
                                          <p:attrName>ppt_y</p:attrName>
                                        </p:attrNameLst>
                                      </p:cBhvr>
                                      <p:tavLst>
                                        <p:tav tm="0">
                                          <p:val>
                                            <p:strVal val="#ppt_y"/>
                                          </p:val>
                                        </p:tav>
                                        <p:tav tm="100000">
                                          <p:val>
                                            <p:strVal val="#ppt_y"/>
                                          </p:val>
                                        </p:tav>
                                      </p:tavLst>
                                    </p:anim>
                                    <p:animEffect transition="in" filter="wipe(right)" prLst="gradientSize: 0.1">
                                      <p:cBhvr>
                                        <p:cTn id="26" dur="1000"/>
                                        <p:tgtEl>
                                          <p:spTgt spid="168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8"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2"/>
          <p:cNvSpPr txBox="1">
            <a:spLocks noChangeArrowheads="1"/>
          </p:cNvSpPr>
          <p:nvPr/>
        </p:nvSpPr>
        <p:spPr bwMode="auto">
          <a:xfrm>
            <a:off x="304800" y="4400550"/>
            <a:ext cx="8839200" cy="369888"/>
          </a:xfrm>
          <a:prstGeom prst="rect">
            <a:avLst/>
          </a:prstGeom>
          <a:noFill/>
          <a:ln w="9525">
            <a:noFill/>
            <a:miter lim="800000"/>
            <a:headEnd/>
            <a:tailEnd/>
          </a:ln>
          <a:effectLst/>
        </p:spPr>
        <p:txBody>
          <a:bodyPr>
            <a:spAutoFit/>
          </a:bodyPr>
          <a:lstStyle/>
          <a:p>
            <a:pPr>
              <a:defRPr/>
            </a:pPr>
            <a:r>
              <a:rPr kumimoji="0" lang="zh-CN" altLang="en-US" sz="1800" b="1" dirty="0">
                <a:effectLst>
                  <a:outerShdw blurRad="38100" dist="38100" dir="2700000" algn="tl">
                    <a:srgbClr val="C0C0C0"/>
                  </a:outerShdw>
                </a:effectLst>
                <a:latin typeface="华文中宋" pitchFamily="2" charset="-122"/>
                <a:ea typeface="华文中宋" pitchFamily="2" charset="-122"/>
              </a:rPr>
              <a:t>多普勒红移是支持宇宙大爆炸理论的重要依据之一。</a:t>
            </a:r>
          </a:p>
        </p:txBody>
      </p:sp>
      <p:grpSp>
        <p:nvGrpSpPr>
          <p:cNvPr id="2" name="Group 3"/>
          <p:cNvGrpSpPr>
            <a:grpSpLocks/>
          </p:cNvGrpSpPr>
          <p:nvPr/>
        </p:nvGrpSpPr>
        <p:grpSpPr bwMode="auto">
          <a:xfrm>
            <a:off x="6438900" y="2503488"/>
            <a:ext cx="2590800" cy="800100"/>
            <a:chOff x="0" y="0"/>
            <a:chExt cx="1632" cy="672"/>
          </a:xfrm>
        </p:grpSpPr>
        <p:sp>
          <p:nvSpPr>
            <p:cNvPr id="113682" name="AutoShape 4">
              <a:hlinkClick r:id="rId3" action="ppaction://hlinksldjump"/>
            </p:cNvPr>
            <p:cNvSpPr>
              <a:spLocks noChangeArrowheads="1"/>
            </p:cNvSpPr>
            <p:nvPr/>
          </p:nvSpPr>
          <p:spPr bwMode="auto">
            <a:xfrm>
              <a:off x="0" y="0"/>
              <a:ext cx="1632" cy="672"/>
            </a:xfrm>
            <a:prstGeom prst="cloudCallout">
              <a:avLst>
                <a:gd name="adj1" fmla="val -47796"/>
                <a:gd name="adj2" fmla="val 61458"/>
              </a:avLst>
            </a:prstGeom>
            <a:solidFill>
              <a:schemeClr val="bg1">
                <a:alpha val="85881"/>
              </a:schemeClr>
            </a:solidFill>
            <a:ln w="38100">
              <a:solidFill>
                <a:srgbClr val="FF0000"/>
              </a:solidFill>
              <a:round/>
              <a:headEnd/>
              <a:tailEnd/>
            </a:ln>
          </p:spPr>
          <p:txBody>
            <a:bodyPr anchor="ctr"/>
            <a:lstStyle/>
            <a:p>
              <a:pPr algn="ctr"/>
              <a:endParaRPr kumimoji="0" lang="zh-CN" altLang="zh-CN" sz="1800">
                <a:latin typeface="Arial" charset="0"/>
              </a:endParaRPr>
            </a:p>
          </p:txBody>
        </p:sp>
        <p:sp>
          <p:nvSpPr>
            <p:cNvPr id="113683" name="Text Box 5"/>
            <p:cNvSpPr txBox="1">
              <a:spLocks noChangeArrowheads="1"/>
            </p:cNvSpPr>
            <p:nvPr/>
          </p:nvSpPr>
          <p:spPr bwMode="auto">
            <a:xfrm>
              <a:off x="336" y="192"/>
              <a:ext cx="912" cy="310"/>
            </a:xfrm>
            <a:prstGeom prst="rect">
              <a:avLst/>
            </a:prstGeom>
            <a:noFill/>
            <a:ln w="9525">
              <a:noFill/>
              <a:miter lim="800000"/>
              <a:headEnd/>
              <a:tailEnd/>
            </a:ln>
          </p:spPr>
          <p:txBody>
            <a:bodyPr>
              <a:spAutoFit/>
            </a:bodyPr>
            <a:lstStyle/>
            <a:p>
              <a:pPr algn="ctr">
                <a:spcBef>
                  <a:spcPct val="50000"/>
                </a:spcBef>
              </a:pPr>
              <a:r>
                <a:rPr kumimoji="0" lang="zh-CN" altLang="en-US" sz="1800" b="1">
                  <a:solidFill>
                    <a:srgbClr val="FF3300"/>
                  </a:solidFill>
                  <a:latin typeface="Arial" charset="0"/>
                  <a:ea typeface="华文中宋"/>
                  <a:cs typeface="华文中宋"/>
                </a:rPr>
                <a:t>红移</a:t>
              </a:r>
            </a:p>
          </p:txBody>
        </p:sp>
      </p:grpSp>
      <p:pic>
        <p:nvPicPr>
          <p:cNvPr id="169990" name="Picture 6" descr="无标题"/>
          <p:cNvPicPr>
            <a:picLocks noChangeAspect="1" noChangeArrowheads="1"/>
          </p:cNvPicPr>
          <p:nvPr/>
        </p:nvPicPr>
        <p:blipFill>
          <a:blip r:embed="rId4"/>
          <a:srcRect/>
          <a:stretch>
            <a:fillRect/>
          </a:stretch>
        </p:blipFill>
        <p:spPr bwMode="auto">
          <a:xfrm>
            <a:off x="990600" y="2789238"/>
            <a:ext cx="5334000" cy="1628775"/>
          </a:xfrm>
          <a:prstGeom prst="rect">
            <a:avLst/>
          </a:prstGeom>
          <a:noFill/>
          <a:ln w="9525">
            <a:noFill/>
            <a:miter lim="800000"/>
            <a:headEnd/>
            <a:tailEnd/>
          </a:ln>
        </p:spPr>
      </p:pic>
      <p:sp>
        <p:nvSpPr>
          <p:cNvPr id="169991" name="Text Box 7"/>
          <p:cNvSpPr txBox="1">
            <a:spLocks noChangeArrowheads="1"/>
          </p:cNvSpPr>
          <p:nvPr/>
        </p:nvSpPr>
        <p:spPr bwMode="auto">
          <a:xfrm>
            <a:off x="304800" y="2125663"/>
            <a:ext cx="8153400" cy="369887"/>
          </a:xfrm>
          <a:prstGeom prst="rect">
            <a:avLst/>
          </a:prstGeom>
          <a:noFill/>
          <a:ln w="9525">
            <a:noFill/>
            <a:miter lim="800000"/>
            <a:headEnd/>
            <a:tailEnd/>
          </a:ln>
          <a:effectLst/>
        </p:spPr>
        <p:txBody>
          <a:bodyPr>
            <a:spAutoFit/>
          </a:bodyPr>
          <a:lstStyle/>
          <a:p>
            <a:pPr>
              <a:defRPr/>
            </a:pPr>
            <a:r>
              <a:rPr kumimoji="0" lang="en-US" altLang="zh-CN" sz="1800" b="1" dirty="0">
                <a:effectLst>
                  <a:outerShdw blurRad="38100" dist="38100" dir="2700000" algn="tl">
                    <a:srgbClr val="C0C0C0"/>
                  </a:outerShdw>
                </a:effectLst>
                <a:latin typeface="华文中宋" pitchFamily="2" charset="-122"/>
                <a:ea typeface="华文中宋" pitchFamily="2" charset="-122"/>
              </a:rPr>
              <a:t>      </a:t>
            </a:r>
            <a:r>
              <a:rPr kumimoji="0" lang="zh-CN" altLang="en-US" sz="1800" b="1" dirty="0">
                <a:effectLst>
                  <a:outerShdw blurRad="38100" dist="38100" dir="2700000" algn="tl">
                    <a:srgbClr val="C0C0C0"/>
                  </a:outerShdw>
                </a:effectLst>
                <a:latin typeface="华文中宋" pitchFamily="2" charset="-122"/>
                <a:ea typeface="华文中宋" pitchFamily="2" charset="-122"/>
              </a:rPr>
              <a:t>电磁波频率变小，波长变长的现象称为</a:t>
            </a:r>
            <a:r>
              <a:rPr kumimoji="0" lang="zh-CN" altLang="en-US" sz="1800" b="1" dirty="0">
                <a:solidFill>
                  <a:srgbClr val="FF0000"/>
                </a:solidFill>
                <a:effectLst>
                  <a:outerShdw blurRad="38100" dist="38100" dir="2700000" algn="tl">
                    <a:srgbClr val="C0C0C0"/>
                  </a:outerShdw>
                </a:effectLst>
                <a:latin typeface="华文中宋" pitchFamily="2" charset="-122"/>
                <a:ea typeface="华文中宋" pitchFamily="2" charset="-122"/>
              </a:rPr>
              <a:t>红移</a:t>
            </a:r>
            <a:r>
              <a:rPr kumimoji="0" lang="zh-CN" altLang="en-US" sz="1800" b="1" dirty="0">
                <a:effectLst>
                  <a:outerShdw blurRad="38100" dist="38100" dir="2700000" algn="tl">
                    <a:srgbClr val="C0C0C0"/>
                  </a:outerShdw>
                </a:effectLst>
                <a:latin typeface="华文中宋" pitchFamily="2" charset="-122"/>
                <a:ea typeface="华文中宋" pitchFamily="2" charset="-122"/>
              </a:rPr>
              <a:t>。</a:t>
            </a:r>
          </a:p>
        </p:txBody>
      </p:sp>
      <p:grpSp>
        <p:nvGrpSpPr>
          <p:cNvPr id="3" name="Group 8"/>
          <p:cNvGrpSpPr>
            <a:grpSpLocks/>
          </p:cNvGrpSpPr>
          <p:nvPr/>
        </p:nvGrpSpPr>
        <p:grpSpPr bwMode="auto">
          <a:xfrm>
            <a:off x="381000" y="1238250"/>
            <a:ext cx="4191000" cy="685800"/>
            <a:chOff x="0" y="0"/>
            <a:chExt cx="2640" cy="528"/>
          </a:xfrm>
        </p:grpSpPr>
        <p:sp>
          <p:nvSpPr>
            <p:cNvPr id="113680" name="Oval 9"/>
            <p:cNvSpPr>
              <a:spLocks noChangeArrowheads="1"/>
            </p:cNvSpPr>
            <p:nvPr/>
          </p:nvSpPr>
          <p:spPr bwMode="auto">
            <a:xfrm>
              <a:off x="0" y="0"/>
              <a:ext cx="2640" cy="528"/>
            </a:xfrm>
            <a:prstGeom prst="ellipse">
              <a:avLst/>
            </a:prstGeom>
            <a:solidFill>
              <a:schemeClr val="bg1">
                <a:alpha val="85881"/>
              </a:schemeClr>
            </a:solidFill>
            <a:ln w="38100">
              <a:solidFill>
                <a:srgbClr val="FF0000"/>
              </a:solidFill>
              <a:round/>
              <a:headEnd/>
              <a:tailEnd/>
            </a:ln>
          </p:spPr>
          <p:txBody>
            <a:bodyPr wrap="none" anchor="ctr"/>
            <a:lstStyle/>
            <a:p>
              <a:endParaRPr lang="zh-CN" altLang="en-US"/>
            </a:p>
          </p:txBody>
        </p:sp>
        <p:sp>
          <p:nvSpPr>
            <p:cNvPr id="113681" name="Text Box 10"/>
            <p:cNvSpPr txBox="1">
              <a:spLocks noChangeArrowheads="1"/>
            </p:cNvSpPr>
            <p:nvPr/>
          </p:nvSpPr>
          <p:spPr bwMode="auto">
            <a:xfrm>
              <a:off x="288" y="144"/>
              <a:ext cx="2112" cy="284"/>
            </a:xfrm>
            <a:prstGeom prst="rect">
              <a:avLst/>
            </a:prstGeom>
            <a:solidFill>
              <a:srgbClr val="FFFF00">
                <a:alpha val="85881"/>
              </a:srgbClr>
            </a:solidFill>
            <a:ln w="9525">
              <a:noFill/>
              <a:miter lim="800000"/>
              <a:headEnd/>
              <a:tailEnd/>
            </a:ln>
          </p:spPr>
          <p:txBody>
            <a:bodyPr>
              <a:spAutoFit/>
            </a:bodyPr>
            <a:lstStyle/>
            <a:p>
              <a:pPr algn="ctr">
                <a:spcBef>
                  <a:spcPct val="50000"/>
                </a:spcBef>
              </a:pPr>
              <a:r>
                <a:rPr kumimoji="0" lang="zh-CN" altLang="en-US" sz="1800" b="1">
                  <a:latin typeface="Arial" charset="0"/>
                  <a:ea typeface="华文中宋"/>
                  <a:cs typeface="华文中宋"/>
                </a:rPr>
                <a:t>河外星系的多普勒红移</a:t>
              </a:r>
            </a:p>
          </p:txBody>
        </p:sp>
      </p:grpSp>
      <p:grpSp>
        <p:nvGrpSpPr>
          <p:cNvPr id="4" name="Group 11"/>
          <p:cNvGrpSpPr>
            <a:grpSpLocks/>
          </p:cNvGrpSpPr>
          <p:nvPr/>
        </p:nvGrpSpPr>
        <p:grpSpPr bwMode="auto">
          <a:xfrm>
            <a:off x="5721350" y="2932113"/>
            <a:ext cx="3171825" cy="1444625"/>
            <a:chOff x="0" y="0"/>
            <a:chExt cx="2291" cy="1527"/>
          </a:xfrm>
        </p:grpSpPr>
        <p:pic>
          <p:nvPicPr>
            <p:cNvPr id="75791" name="Picture 12" descr="宇宙大爆炸">
              <a:hlinkClick r:id="rId5" action="ppaction://hlinksldjump"/>
            </p:cNvPr>
            <p:cNvPicPr>
              <a:picLocks noChangeAspect="1" noChangeArrowheads="1"/>
            </p:cNvPicPr>
            <p:nvPr/>
          </p:nvPicPr>
          <p:blipFill>
            <a:blip r:embed="rId6"/>
            <a:srcRect/>
            <a:stretch>
              <a:fillRect/>
            </a:stretch>
          </p:blipFill>
          <p:spPr bwMode="auto">
            <a:xfrm>
              <a:off x="0" y="0"/>
              <a:ext cx="2255" cy="1450"/>
            </a:xfrm>
            <a:prstGeom prst="rect">
              <a:avLst/>
            </a:prstGeom>
            <a:noFill/>
            <a:ln w="63500">
              <a:solidFill>
                <a:srgbClr val="FF0000"/>
              </a:solidFill>
              <a:miter lim="800000"/>
              <a:headEnd/>
              <a:tailEnd/>
            </a:ln>
            <a:effectLst>
              <a:outerShdw dist="107763" dir="2700000" algn="ctr" rotWithShape="0">
                <a:srgbClr val="808080">
                  <a:alpha val="50000"/>
                </a:srgbClr>
              </a:outerShdw>
            </a:effectLst>
            <a:extLst>
              <a:ext uri="{909E8E84-426E-40DD-AFC4-6F175D3DCCD1}"/>
            </a:extLst>
          </p:spPr>
        </p:pic>
        <p:sp>
          <p:nvSpPr>
            <p:cNvPr id="75792" name="Text Box 13"/>
            <p:cNvSpPr txBox="1">
              <a:spLocks noChangeArrowheads="1"/>
            </p:cNvSpPr>
            <p:nvPr/>
          </p:nvSpPr>
          <p:spPr bwMode="auto">
            <a:xfrm>
              <a:off x="1226" y="1104"/>
              <a:ext cx="1065" cy="423"/>
            </a:xfrm>
            <a:prstGeom prst="rect">
              <a:avLst/>
            </a:prstGeom>
            <a:noFill/>
            <a:ln>
              <a:noFill/>
            </a:ln>
            <a:effectLst>
              <a:outerShdw dist="28398" dir="3806097" algn="ctr" rotWithShape="0">
                <a:srgbClr val="CC3300">
                  <a:alpha val="50000"/>
                </a:srgbClr>
              </a:outerShdw>
            </a:effectLst>
            <a:extLst>
              <a:ext uri="{909E8E84-426E-40DD-AFC4-6F175D3DCCD1}"/>
              <a:ext uri="{91240B29-F687-4F45-9708-019B960494DF}"/>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9pPr>
            </a:lstStyle>
            <a:p>
              <a:pPr algn="ctr" eaLnBrk="1" hangingPunct="1">
                <a:defRPr/>
              </a:pPr>
              <a:r>
                <a:rPr kumimoji="0" lang="zh-CN" altLang="en-US" sz="2000" b="1">
                  <a:solidFill>
                    <a:schemeClr val="bg1"/>
                  </a:solidFill>
                  <a:latin typeface="Arial" pitchFamily="34" charset="0"/>
                  <a:ea typeface="黑体" pitchFamily="49" charset="-122"/>
                </a:rPr>
                <a:t>宇宙大爆炸</a:t>
              </a:r>
            </a:p>
          </p:txBody>
        </p:sp>
      </p:grpSp>
      <p:grpSp>
        <p:nvGrpSpPr>
          <p:cNvPr id="5" name="Group 14"/>
          <p:cNvGrpSpPr>
            <a:grpSpLocks/>
          </p:cNvGrpSpPr>
          <p:nvPr/>
        </p:nvGrpSpPr>
        <p:grpSpPr bwMode="auto">
          <a:xfrm>
            <a:off x="4354513" y="1714500"/>
            <a:ext cx="3097212" cy="1655763"/>
            <a:chOff x="0" y="0"/>
            <a:chExt cx="2244" cy="1648"/>
          </a:xfrm>
        </p:grpSpPr>
        <p:pic>
          <p:nvPicPr>
            <p:cNvPr id="75789" name="Picture 15" descr="多普勒雷达">
              <a:hlinkClick r:id="rId7" action="ppaction://hlinksldjump"/>
            </p:cNvPr>
            <p:cNvPicPr>
              <a:picLocks noChangeAspect="1" noChangeArrowheads="1"/>
            </p:cNvPicPr>
            <p:nvPr/>
          </p:nvPicPr>
          <p:blipFill>
            <a:blip r:embed="rId8"/>
            <a:srcRect/>
            <a:stretch>
              <a:fillRect/>
            </a:stretch>
          </p:blipFill>
          <p:spPr bwMode="auto">
            <a:xfrm>
              <a:off x="0" y="0"/>
              <a:ext cx="2208" cy="1537"/>
            </a:xfrm>
            <a:prstGeom prst="rect">
              <a:avLst/>
            </a:prstGeom>
            <a:noFill/>
            <a:ln w="76200">
              <a:solidFill>
                <a:srgbClr val="FF0000"/>
              </a:solidFill>
              <a:miter lim="800000"/>
              <a:headEnd/>
              <a:tailEnd/>
            </a:ln>
            <a:effectLst>
              <a:outerShdw dist="35921" dir="2700000" algn="ctr" rotWithShape="0">
                <a:srgbClr val="808080">
                  <a:alpha val="50000"/>
                </a:srgbClr>
              </a:outerShdw>
            </a:effectLst>
            <a:extLst>
              <a:ext uri="{909E8E84-426E-40DD-AFC4-6F175D3DCCD1}"/>
            </a:extLst>
          </p:spPr>
        </p:pic>
        <p:sp>
          <p:nvSpPr>
            <p:cNvPr id="75790" name="Text Box 16"/>
            <p:cNvSpPr txBox="1">
              <a:spLocks noChangeArrowheads="1"/>
            </p:cNvSpPr>
            <p:nvPr/>
          </p:nvSpPr>
          <p:spPr bwMode="auto">
            <a:xfrm>
              <a:off x="1175" y="1250"/>
              <a:ext cx="1069" cy="398"/>
            </a:xfrm>
            <a:prstGeom prst="rect">
              <a:avLst/>
            </a:prstGeom>
            <a:noFill/>
            <a:ln>
              <a:noFill/>
            </a:ln>
            <a:effectLst>
              <a:outerShdw dist="28398" dir="3806097" algn="ctr" rotWithShape="0">
                <a:srgbClr val="CC3300">
                  <a:alpha val="50000"/>
                </a:srgbClr>
              </a:outerShdw>
            </a:effectLst>
            <a:extLst>
              <a:ext uri="{909E8E84-426E-40DD-AFC4-6F175D3DCCD1}"/>
              <a:ext uri="{91240B29-F687-4F45-9708-019B960494DF}"/>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800">
                  <a:solidFill>
                    <a:schemeClr val="tx1"/>
                  </a:solidFill>
                  <a:latin typeface="Times New Roman" pitchFamily="18" charset="0"/>
                  <a:ea typeface="宋体" pitchFamily="2" charset="-122"/>
                </a:defRPr>
              </a:lvl9pPr>
            </a:lstStyle>
            <a:p>
              <a:pPr algn="ctr" eaLnBrk="1" hangingPunct="1">
                <a:defRPr/>
              </a:pPr>
              <a:r>
                <a:rPr kumimoji="0" lang="zh-CN" altLang="en-US" sz="2000" b="1">
                  <a:solidFill>
                    <a:schemeClr val="bg1"/>
                  </a:solidFill>
                  <a:latin typeface="Arial" pitchFamily="34" charset="0"/>
                  <a:ea typeface="黑体" pitchFamily="49" charset="-122"/>
                </a:rPr>
                <a:t>多普勒雷达</a:t>
              </a:r>
            </a:p>
          </p:txBody>
        </p:sp>
      </p:grpSp>
      <p:grpSp>
        <p:nvGrpSpPr>
          <p:cNvPr id="6" name="Group 17"/>
          <p:cNvGrpSpPr>
            <a:grpSpLocks/>
          </p:cNvGrpSpPr>
          <p:nvPr/>
        </p:nvGrpSpPr>
        <p:grpSpPr bwMode="auto">
          <a:xfrm>
            <a:off x="1104900" y="1562100"/>
            <a:ext cx="2819400" cy="1514475"/>
            <a:chOff x="0" y="0"/>
            <a:chExt cx="2160" cy="1566"/>
          </a:xfrm>
        </p:grpSpPr>
        <p:pic>
          <p:nvPicPr>
            <p:cNvPr id="75787" name="Picture 18" descr="雷达测速仪">
              <a:hlinkClick r:id="rId3" action="ppaction://hlinksldjump"/>
            </p:cNvPr>
            <p:cNvPicPr>
              <a:picLocks noChangeAspect="1" noChangeArrowheads="1"/>
            </p:cNvPicPr>
            <p:nvPr/>
          </p:nvPicPr>
          <p:blipFill>
            <a:blip r:embed="rId9"/>
            <a:srcRect/>
            <a:stretch>
              <a:fillRect/>
            </a:stretch>
          </p:blipFill>
          <p:spPr bwMode="auto">
            <a:xfrm>
              <a:off x="0" y="0"/>
              <a:ext cx="2160" cy="1536"/>
            </a:xfrm>
            <a:prstGeom prst="rect">
              <a:avLst/>
            </a:prstGeom>
            <a:noFill/>
            <a:ln w="63500">
              <a:solidFill>
                <a:srgbClr val="FF0000"/>
              </a:solidFill>
              <a:miter lim="800000"/>
              <a:headEnd/>
              <a:tailEnd/>
            </a:ln>
            <a:effectLst>
              <a:outerShdw dist="107763" dir="2700000" algn="ctr" rotWithShape="0">
                <a:srgbClr val="808080">
                  <a:alpha val="50000"/>
                </a:srgbClr>
              </a:outerShdw>
            </a:effectLst>
            <a:extLst>
              <a:ext uri="{909E8E84-426E-40DD-AFC4-6F175D3DCCD1}"/>
            </a:extLst>
          </p:spPr>
        </p:pic>
        <p:sp>
          <p:nvSpPr>
            <p:cNvPr id="113675" name="Text Box 19"/>
            <p:cNvSpPr txBox="1">
              <a:spLocks noChangeArrowheads="1"/>
            </p:cNvSpPr>
            <p:nvPr/>
          </p:nvSpPr>
          <p:spPr bwMode="auto">
            <a:xfrm>
              <a:off x="1101" y="1152"/>
              <a:ext cx="735" cy="414"/>
            </a:xfrm>
            <a:prstGeom prst="rect">
              <a:avLst/>
            </a:prstGeom>
            <a:noFill/>
            <a:ln w="9525">
              <a:noFill/>
              <a:miter lim="800000"/>
              <a:headEnd/>
              <a:tailEnd/>
            </a:ln>
          </p:spPr>
          <p:txBody>
            <a:bodyPr wrap="none">
              <a:spAutoFit/>
            </a:bodyPr>
            <a:lstStyle/>
            <a:p>
              <a:pPr algn="ctr"/>
              <a:r>
                <a:rPr kumimoji="0" lang="zh-CN" altLang="en-US" sz="2000" b="1">
                  <a:latin typeface="Arial" charset="0"/>
                  <a:ea typeface="黑体" pitchFamily="49" charset="-122"/>
                </a:rPr>
                <a:t>测速仪</a:t>
              </a:r>
            </a:p>
          </p:txBody>
        </p:sp>
      </p:grpSp>
      <p:sp>
        <p:nvSpPr>
          <p:cNvPr id="75786" name="Text Box 2"/>
          <p:cNvSpPr>
            <a:spLocks noChangeArrowheads="1"/>
          </p:cNvSpPr>
          <p:nvPr/>
        </p:nvSpPr>
        <p:spPr bwMode="auto">
          <a:xfrm>
            <a:off x="828675" y="874713"/>
            <a:ext cx="1439863" cy="400050"/>
          </a:xfrm>
          <a:prstGeom prst="homePlate">
            <a:avLst>
              <a:gd name="adj" fmla="val 49672"/>
            </a:avLst>
          </a:prstGeom>
          <a:solidFill>
            <a:srgbClr val="539A84"/>
          </a:solidFill>
          <a:ln w="9525">
            <a:noFill/>
            <a:miter lim="800000"/>
            <a:headEnd/>
            <a:tailEnd/>
          </a:ln>
        </p:spPr>
        <p:txBody>
          <a:bodyPr>
            <a:spAutoFit/>
          </a:bodyPr>
          <a:lstStyle/>
          <a:p>
            <a:r>
              <a:rPr lang="zh-CN" altLang="en-US" sz="2000" b="1">
                <a:solidFill>
                  <a:srgbClr val="0000FF"/>
                </a:solidFill>
                <a:latin typeface="华文中宋"/>
                <a:ea typeface="华文中宋"/>
                <a:cs typeface="华文中宋"/>
              </a:rPr>
              <a:t>五、应用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5786"/>
                                        </p:tgtEl>
                                        <p:attrNameLst>
                                          <p:attrName>style.visibility</p:attrName>
                                        </p:attrNameLst>
                                      </p:cBhvr>
                                      <p:to>
                                        <p:strVal val="visible"/>
                                      </p:to>
                                    </p:set>
                                    <p:animEffect transition="in" filter="wipe(down)">
                                      <p:cBhvr>
                                        <p:cTn id="7" dur="500"/>
                                        <p:tgtEl>
                                          <p:spTgt spid="757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xit" presetSubtype="4" fill="hold" nodeType="clickEffect">
                                  <p:stCondLst>
                                    <p:cond delay="0"/>
                                  </p:stCondLst>
                                  <p:childTnLst>
                                    <p:anim calcmode="lin" valueType="num">
                                      <p:cBhvr additive="base">
                                        <p:cTn id="11" dur="500"/>
                                        <p:tgtEl>
                                          <p:spTgt spid="6"/>
                                        </p:tgtEl>
                                        <p:attrNameLst>
                                          <p:attrName>ppt_x</p:attrName>
                                        </p:attrNameLst>
                                      </p:cBhvr>
                                      <p:tavLst>
                                        <p:tav tm="0">
                                          <p:val>
                                            <p:strVal val="ppt_x"/>
                                          </p:val>
                                        </p:tav>
                                        <p:tav tm="100000">
                                          <p:val>
                                            <p:strVal val="ppt_x"/>
                                          </p:val>
                                        </p:tav>
                                      </p:tavLst>
                                    </p:anim>
                                    <p:anim calcmode="lin" valueType="num">
                                      <p:cBhvr additive="base">
                                        <p:cTn id="12" dur="500"/>
                                        <p:tgtEl>
                                          <p:spTgt spid="6"/>
                                        </p:tgtEl>
                                        <p:attrNameLst>
                                          <p:attrName>ppt_y</p:attrName>
                                        </p:attrNameLst>
                                      </p:cBhvr>
                                      <p:tavLst>
                                        <p:tav tm="0">
                                          <p:val>
                                            <p:strVal val="ppt_y"/>
                                          </p:val>
                                        </p:tav>
                                        <p:tav tm="100000">
                                          <p:val>
                                            <p:strVal val="1+ppt_h/2"/>
                                          </p:val>
                                        </p:tav>
                                      </p:tavLst>
                                    </p:anim>
                                    <p:set>
                                      <p:cBhvr>
                                        <p:cTn id="13" dur="1" fill="hold">
                                          <p:stCondLst>
                                            <p:cond delay="499"/>
                                          </p:stCondLst>
                                        </p:cTn>
                                        <p:tgtEl>
                                          <p:spTgt spid="6"/>
                                        </p:tgtEl>
                                        <p:attrNameLst>
                                          <p:attrName>style.visibility</p:attrName>
                                        </p:attrNameLst>
                                      </p:cBhvr>
                                      <p:to>
                                        <p:strVal val="hidden"/>
                                      </p:to>
                                    </p:set>
                                  </p:childTnLst>
                                </p:cTn>
                              </p:par>
                              <p:par>
                                <p:cTn id="14" presetID="2" presetClass="exit" presetSubtype="4" fill="hold" nodeType="withEffect">
                                  <p:stCondLst>
                                    <p:cond delay="0"/>
                                  </p:stCondLst>
                                  <p:childTnLst>
                                    <p:anim calcmode="lin" valueType="num">
                                      <p:cBhvr additive="base">
                                        <p:cTn id="15" dur="500"/>
                                        <p:tgtEl>
                                          <p:spTgt spid="5"/>
                                        </p:tgtEl>
                                        <p:attrNameLst>
                                          <p:attrName>ppt_x</p:attrName>
                                        </p:attrNameLst>
                                      </p:cBhvr>
                                      <p:tavLst>
                                        <p:tav tm="0">
                                          <p:val>
                                            <p:strVal val="ppt_x"/>
                                          </p:val>
                                        </p:tav>
                                        <p:tav tm="100000">
                                          <p:val>
                                            <p:strVal val="ppt_x"/>
                                          </p:val>
                                        </p:tav>
                                      </p:tavLst>
                                    </p:anim>
                                    <p:anim calcmode="lin" valueType="num">
                                      <p:cBhvr additive="base">
                                        <p:cTn id="16" dur="500"/>
                                        <p:tgtEl>
                                          <p:spTgt spid="5"/>
                                        </p:tgtEl>
                                        <p:attrNameLst>
                                          <p:attrName>ppt_y</p:attrName>
                                        </p:attrNameLst>
                                      </p:cBhvr>
                                      <p:tavLst>
                                        <p:tav tm="0">
                                          <p:val>
                                            <p:strVal val="ppt_y"/>
                                          </p:val>
                                        </p:tav>
                                        <p:tav tm="100000">
                                          <p:val>
                                            <p:strVal val="1+ppt_h/2"/>
                                          </p:val>
                                        </p:tav>
                                      </p:tavLst>
                                    </p:anim>
                                    <p:set>
                                      <p:cBhvr>
                                        <p:cTn id="17" dur="1" fill="hold">
                                          <p:stCondLst>
                                            <p:cond delay="499"/>
                                          </p:stCondLst>
                                        </p:cTn>
                                        <p:tgtEl>
                                          <p:spTgt spid="5"/>
                                        </p:tgtEl>
                                        <p:attrNameLst>
                                          <p:attrName>style.visibility</p:attrName>
                                        </p:attrNameLst>
                                      </p:cBhvr>
                                      <p:to>
                                        <p:strVal val="hidden"/>
                                      </p:to>
                                    </p:set>
                                  </p:childTnLst>
                                </p:cTn>
                              </p:par>
                            </p:childTnLst>
                          </p:cTn>
                        </p:par>
                        <p:par>
                          <p:cTn id="18" fill="hold" nodeType="afterGroup">
                            <p:stCondLst>
                              <p:cond delay="500"/>
                            </p:stCondLst>
                            <p:childTnLst>
                              <p:par>
                                <p:cTn id="19" presetID="56" presetClass="path" presetSubtype="0" accel="50000" decel="50000" fill="hold" nodeType="afterEffect">
                                  <p:stCondLst>
                                    <p:cond delay="0"/>
                                  </p:stCondLst>
                                  <p:childTnLst>
                                    <p:animMotion origin="layout" path="M -2.77778E-7 4.44444E-6 L 0.13524 -0.47778 " pathEditMode="relative" rAng="0" ptsTypes="AA">
                                      <p:cBhvr>
                                        <p:cTn id="20" dur="500" fill="hold"/>
                                        <p:tgtEl>
                                          <p:spTgt spid="4"/>
                                        </p:tgtEl>
                                        <p:attrNameLst>
                                          <p:attrName>ppt_x,ppt_y</p:attrName>
                                        </p:attrNameLst>
                                      </p:cBhvr>
                                      <p:rCtr x="6800" y="-23300"/>
                                    </p:animMotion>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69991"/>
                                        </p:tgtEl>
                                        <p:attrNameLst>
                                          <p:attrName>style.visibility</p:attrName>
                                        </p:attrNameLst>
                                      </p:cBhvr>
                                      <p:to>
                                        <p:strVal val="visible"/>
                                      </p:to>
                                    </p:set>
                                    <p:animEffect transition="in" filter="blinds(horizontal)">
                                      <p:cBhvr>
                                        <p:cTn id="29" dur="500"/>
                                        <p:tgtEl>
                                          <p:spTgt spid="16999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169990"/>
                                        </p:tgtEl>
                                        <p:attrNameLst>
                                          <p:attrName>style.visibility</p:attrName>
                                        </p:attrNameLst>
                                      </p:cBhvr>
                                      <p:to>
                                        <p:strVal val="visible"/>
                                      </p:to>
                                    </p:set>
                                    <p:animEffect transition="in" filter="wipe(left)">
                                      <p:cBhvr>
                                        <p:cTn id="34" dur="500"/>
                                        <p:tgtEl>
                                          <p:spTgt spid="169990"/>
                                        </p:tgtEl>
                                      </p:cBhvr>
                                    </p:animEffect>
                                  </p:childTnLst>
                                </p:cTn>
                              </p:par>
                            </p:childTnLst>
                          </p:cTn>
                        </p:par>
                        <p:par>
                          <p:cTn id="35" fill="hold" nodeType="afterGroup">
                            <p:stCondLst>
                              <p:cond delay="500"/>
                            </p:stCondLst>
                            <p:childTnLst>
                              <p:par>
                                <p:cTn id="36" presetID="22" presetClass="entr" presetSubtype="2" fill="hold" nodeType="after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right)">
                                      <p:cBhvr>
                                        <p:cTn id="38" dur="500"/>
                                        <p:tgtEl>
                                          <p:spTgt spid="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69986"/>
                                        </p:tgtEl>
                                        <p:attrNameLst>
                                          <p:attrName>style.visibility</p:attrName>
                                        </p:attrNameLst>
                                      </p:cBhvr>
                                      <p:to>
                                        <p:strVal val="visible"/>
                                      </p:to>
                                    </p:set>
                                    <p:animEffect transition="in" filter="blinds(horizontal)">
                                      <p:cBhvr>
                                        <p:cTn id="43" dur="500"/>
                                        <p:tgtEl>
                                          <p:spTgt spid="1699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6" grpId="0" autoUpdateAnimBg="0"/>
      <p:bldP spid="169991" grpId="0" autoUpdateAnimBg="0"/>
      <p:bldP spid="7578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
          <p:cNvGrpSpPr>
            <a:grpSpLocks/>
          </p:cNvGrpSpPr>
          <p:nvPr/>
        </p:nvGrpSpPr>
        <p:grpSpPr bwMode="auto">
          <a:xfrm>
            <a:off x="395288" y="963613"/>
            <a:ext cx="8497887" cy="2616200"/>
            <a:chOff x="179436" y="541845"/>
            <a:chExt cx="8497684" cy="3486625"/>
          </a:xfrm>
        </p:grpSpPr>
        <p:sp>
          <p:nvSpPr>
            <p:cNvPr id="76830" name="Rectangle 2"/>
            <p:cNvSpPr>
              <a:spLocks noChangeArrowheads="1"/>
            </p:cNvSpPr>
            <p:nvPr/>
          </p:nvSpPr>
          <p:spPr bwMode="auto">
            <a:xfrm>
              <a:off x="179436" y="541845"/>
              <a:ext cx="8497684" cy="1230527"/>
            </a:xfrm>
            <a:prstGeom prst="rect">
              <a:avLst/>
            </a:prstGeom>
            <a:noFill/>
            <a:ln w="9525">
              <a:noFill/>
              <a:miter lim="800000"/>
              <a:headEnd/>
              <a:tailEnd/>
            </a:ln>
            <a:effectLst>
              <a:prstShdw prst="shdw17" dist="17961" dir="2700000">
                <a:srgbClr val="993D00"/>
              </a:prstShdw>
            </a:effectLst>
          </p:spPr>
          <p:txBody>
            <a:bodyPr>
              <a:spAutoFit/>
            </a:bodyPr>
            <a:lstStyle/>
            <a:p>
              <a:r>
                <a:rPr lang="zh-CN" altLang="en-US" sz="1800" b="1">
                  <a:solidFill>
                    <a:srgbClr val="0000FF"/>
                  </a:solidFill>
                  <a:ea typeface="华文中宋"/>
                  <a:cs typeface="华文中宋"/>
                </a:rPr>
                <a:t>例  设声波在媒质中的传播速度为</a:t>
              </a:r>
              <a:r>
                <a:rPr lang="en-US" altLang="zh-CN" sz="1800" b="1" i="1">
                  <a:solidFill>
                    <a:srgbClr val="0000FF"/>
                  </a:solidFill>
                  <a:ea typeface="华文中宋"/>
                  <a:cs typeface="华文中宋"/>
                </a:rPr>
                <a:t>u</a:t>
              </a:r>
              <a:r>
                <a:rPr lang="zh-CN" altLang="en-US" sz="1800" b="1">
                  <a:solidFill>
                    <a:srgbClr val="0000FF"/>
                  </a:solidFill>
                  <a:ea typeface="华文中宋"/>
                  <a:cs typeface="华文中宋"/>
                </a:rPr>
                <a:t>，声源的频率为</a:t>
              </a:r>
              <a:r>
                <a:rPr lang="en-US" altLang="zh-CN" sz="1800" b="1" i="1">
                  <a:solidFill>
                    <a:srgbClr val="0000FF"/>
                  </a:solidFill>
                  <a:ea typeface="华文中宋"/>
                  <a:cs typeface="华文中宋"/>
                </a:rPr>
                <a:t>v</a:t>
              </a:r>
              <a:r>
                <a:rPr lang="en-US" altLang="zh-CN" sz="1800" b="1" baseline="-25000">
                  <a:solidFill>
                    <a:srgbClr val="0000FF"/>
                  </a:solidFill>
                  <a:ea typeface="华文中宋"/>
                  <a:cs typeface="华文中宋"/>
                </a:rPr>
                <a:t>s</a:t>
              </a:r>
              <a:r>
                <a:rPr lang="zh-CN" altLang="en-US" sz="1800" b="1">
                  <a:solidFill>
                    <a:srgbClr val="0000FF"/>
                  </a:solidFill>
                  <a:ea typeface="华文中宋"/>
                  <a:cs typeface="华文中宋"/>
                </a:rPr>
                <a:t>．若声源</a:t>
              </a:r>
              <a:r>
                <a:rPr lang="en-US" altLang="zh-CN" sz="1800" b="1">
                  <a:solidFill>
                    <a:srgbClr val="0000FF"/>
                  </a:solidFill>
                  <a:ea typeface="华文中宋"/>
                  <a:cs typeface="华文中宋"/>
                </a:rPr>
                <a:t>S</a:t>
              </a:r>
              <a:r>
                <a:rPr lang="zh-CN" altLang="en-US" sz="1800" b="1">
                  <a:solidFill>
                    <a:srgbClr val="0000FF"/>
                  </a:solidFill>
                  <a:ea typeface="华文中宋"/>
                  <a:cs typeface="华文中宋"/>
                </a:rPr>
                <a:t>不动，而接收器</a:t>
              </a:r>
              <a:r>
                <a:rPr lang="en-US" altLang="zh-CN" sz="1800" b="1">
                  <a:solidFill>
                    <a:srgbClr val="0000FF"/>
                  </a:solidFill>
                  <a:ea typeface="华文中宋"/>
                  <a:cs typeface="华文中宋"/>
                </a:rPr>
                <a:t>B</a:t>
              </a:r>
              <a:r>
                <a:rPr lang="zh-CN" altLang="en-US" sz="1800" b="1">
                  <a:solidFill>
                    <a:srgbClr val="0000FF"/>
                  </a:solidFill>
                  <a:ea typeface="华文中宋"/>
                  <a:cs typeface="华文中宋"/>
                </a:rPr>
                <a:t>相对于媒质以速度</a:t>
              </a:r>
              <a:r>
                <a:rPr lang="en-US" altLang="zh-CN" sz="1800" b="1" i="1">
                  <a:solidFill>
                    <a:srgbClr val="0000FF"/>
                  </a:solidFill>
                  <a:ea typeface="华文中宋"/>
                  <a:cs typeface="华文中宋"/>
                </a:rPr>
                <a:t>V</a:t>
              </a:r>
              <a:r>
                <a:rPr lang="en-US" altLang="zh-CN" sz="1800" b="1" baseline="-25000">
                  <a:solidFill>
                    <a:srgbClr val="0000FF"/>
                  </a:solidFill>
                  <a:ea typeface="华文中宋"/>
                  <a:cs typeface="华文中宋"/>
                </a:rPr>
                <a:t>B </a:t>
              </a:r>
              <a:r>
                <a:rPr lang="zh-CN" altLang="en-US" sz="1800" b="1">
                  <a:solidFill>
                    <a:srgbClr val="0000FF"/>
                  </a:solidFill>
                  <a:ea typeface="华文中宋"/>
                  <a:cs typeface="华文中宋"/>
                </a:rPr>
                <a:t>沿着</a:t>
              </a:r>
              <a:r>
                <a:rPr lang="en-US" altLang="zh-CN" sz="1800" b="1">
                  <a:solidFill>
                    <a:srgbClr val="0000FF"/>
                  </a:solidFill>
                  <a:ea typeface="华文中宋"/>
                  <a:cs typeface="华文中宋"/>
                </a:rPr>
                <a:t>S</a:t>
              </a:r>
              <a:r>
                <a:rPr lang="zh-CN" altLang="en-US" sz="1800" b="1">
                  <a:solidFill>
                    <a:srgbClr val="0000FF"/>
                  </a:solidFill>
                  <a:ea typeface="华文中宋"/>
                  <a:cs typeface="华文中宋"/>
                </a:rPr>
                <a:t>、</a:t>
              </a:r>
              <a:r>
                <a:rPr lang="en-US" altLang="zh-CN" sz="1800" b="1">
                  <a:solidFill>
                    <a:srgbClr val="0000FF"/>
                  </a:solidFill>
                  <a:ea typeface="华文中宋"/>
                  <a:cs typeface="华文中宋"/>
                </a:rPr>
                <a:t>B</a:t>
              </a:r>
              <a:r>
                <a:rPr lang="zh-CN" altLang="en-US" sz="1800" b="1">
                  <a:solidFill>
                    <a:srgbClr val="0000FF"/>
                  </a:solidFill>
                  <a:ea typeface="华文中宋"/>
                  <a:cs typeface="华文中宋"/>
                </a:rPr>
                <a:t>连线向着声源</a:t>
              </a:r>
              <a:r>
                <a:rPr lang="en-US" altLang="zh-CN" sz="1800" b="1">
                  <a:solidFill>
                    <a:srgbClr val="0000FF"/>
                  </a:solidFill>
                  <a:ea typeface="华文中宋"/>
                  <a:cs typeface="华文中宋"/>
                </a:rPr>
                <a:t>S</a:t>
              </a:r>
              <a:r>
                <a:rPr lang="zh-CN" altLang="en-US" sz="1800" b="1">
                  <a:solidFill>
                    <a:srgbClr val="0000FF"/>
                  </a:solidFill>
                  <a:ea typeface="华文中宋"/>
                  <a:cs typeface="华文中宋"/>
                </a:rPr>
                <a:t>运动，则位于</a:t>
              </a:r>
              <a:r>
                <a:rPr lang="en-US" altLang="zh-CN" sz="1800" b="1">
                  <a:solidFill>
                    <a:srgbClr val="0000FF"/>
                  </a:solidFill>
                  <a:ea typeface="华文中宋"/>
                  <a:cs typeface="华文中宋"/>
                </a:rPr>
                <a:t>S</a:t>
              </a:r>
              <a:r>
                <a:rPr lang="zh-CN" altLang="en-US" sz="1800" b="1">
                  <a:solidFill>
                    <a:srgbClr val="0000FF"/>
                  </a:solidFill>
                  <a:ea typeface="华文中宋"/>
                  <a:cs typeface="华文中宋"/>
                </a:rPr>
                <a:t>、</a:t>
              </a:r>
              <a:r>
                <a:rPr lang="en-US" altLang="zh-CN" sz="1800" b="1">
                  <a:solidFill>
                    <a:srgbClr val="0000FF"/>
                  </a:solidFill>
                  <a:ea typeface="华文中宋"/>
                  <a:cs typeface="华文中宋"/>
                </a:rPr>
                <a:t>B</a:t>
              </a:r>
              <a:r>
                <a:rPr lang="zh-CN" altLang="en-US" sz="1800" b="1">
                  <a:solidFill>
                    <a:srgbClr val="0000FF"/>
                  </a:solidFill>
                  <a:ea typeface="华文中宋"/>
                  <a:cs typeface="华文中宋"/>
                </a:rPr>
                <a:t>连线中点的质点</a:t>
              </a:r>
              <a:r>
                <a:rPr lang="en-US" altLang="zh-CN" sz="1800" b="1">
                  <a:solidFill>
                    <a:srgbClr val="0000FF"/>
                  </a:solidFill>
                  <a:ea typeface="华文中宋"/>
                  <a:cs typeface="华文中宋"/>
                </a:rPr>
                <a:t>P</a:t>
              </a:r>
              <a:r>
                <a:rPr lang="zh-CN" altLang="en-US" sz="1800" b="1">
                  <a:solidFill>
                    <a:srgbClr val="0000FF"/>
                  </a:solidFill>
                  <a:ea typeface="华文中宋"/>
                  <a:cs typeface="华文中宋"/>
                </a:rPr>
                <a:t>的振动频率为</a:t>
              </a:r>
            </a:p>
          </p:txBody>
        </p:sp>
        <p:grpSp>
          <p:nvGrpSpPr>
            <p:cNvPr id="76831" name="Group 3"/>
            <p:cNvGrpSpPr>
              <a:grpSpLocks/>
            </p:cNvGrpSpPr>
            <p:nvPr/>
          </p:nvGrpSpPr>
          <p:grpSpPr bwMode="auto">
            <a:xfrm>
              <a:off x="1344646" y="2294920"/>
              <a:ext cx="5773738" cy="1733550"/>
              <a:chOff x="509" y="2476"/>
              <a:chExt cx="3637" cy="1092"/>
            </a:xfrm>
          </p:grpSpPr>
          <p:sp>
            <p:nvSpPr>
              <p:cNvPr id="76832" name="Rectangle 4"/>
              <p:cNvSpPr>
                <a:spLocks noChangeArrowheads="1"/>
              </p:cNvSpPr>
              <p:nvPr/>
            </p:nvSpPr>
            <p:spPr bwMode="auto">
              <a:xfrm>
                <a:off x="522" y="2524"/>
                <a:ext cx="826" cy="439"/>
              </a:xfrm>
              <a:prstGeom prst="rect">
                <a:avLst/>
              </a:prstGeom>
              <a:noFill/>
              <a:ln w="9525">
                <a:noFill/>
                <a:miter lim="800000"/>
                <a:headEnd/>
                <a:tailEnd/>
              </a:ln>
              <a:effectLst>
                <a:prstShdw prst="shdw17" dist="17961" dir="2700000">
                  <a:srgbClr val="993D00"/>
                </a:prstShdw>
              </a:effectLst>
            </p:spPr>
            <p:txBody>
              <a:bodyPr wrap="none">
                <a:spAutoFit/>
              </a:bodyPr>
              <a:lstStyle/>
              <a:p>
                <a:r>
                  <a:rPr lang="en-US" altLang="zh-CN" sz="1800" b="1">
                    <a:solidFill>
                      <a:srgbClr val="0000FF"/>
                    </a:solidFill>
                    <a:latin typeface="华文中宋"/>
                    <a:ea typeface="华文中宋"/>
                    <a:cs typeface="华文中宋"/>
                  </a:rPr>
                  <a:t>(</a:t>
                </a:r>
                <a:r>
                  <a:rPr lang="zh-CN" altLang="en-US" sz="1800" b="1">
                    <a:solidFill>
                      <a:srgbClr val="0000FF"/>
                    </a:solidFill>
                    <a:latin typeface="华文中宋"/>
                    <a:ea typeface="华文中宋"/>
                    <a:cs typeface="华文中宋"/>
                  </a:rPr>
                  <a:t>Ａ</a:t>
                </a:r>
                <a:r>
                  <a:rPr lang="en-US" altLang="zh-CN" sz="1800" b="1">
                    <a:solidFill>
                      <a:srgbClr val="0000FF"/>
                    </a:solidFill>
                    <a:latin typeface="华文中宋"/>
                    <a:ea typeface="华文中宋"/>
                    <a:cs typeface="华文中宋"/>
                  </a:rPr>
                  <a:t>)     </a:t>
                </a:r>
                <a:r>
                  <a:rPr lang="en-US" altLang="zh-CN" b="1" i="1">
                    <a:latin typeface="华文中宋"/>
                    <a:ea typeface="华文中宋"/>
                    <a:cs typeface="华文中宋"/>
                  </a:rPr>
                  <a:t>v</a:t>
                </a:r>
                <a:r>
                  <a:rPr lang="en-US" altLang="zh-CN" b="1" baseline="-25000">
                    <a:latin typeface="华文中宋"/>
                    <a:ea typeface="华文中宋"/>
                    <a:cs typeface="华文中宋"/>
                  </a:rPr>
                  <a:t>s </a:t>
                </a:r>
                <a:endParaRPr lang="zh-CN" altLang="en-US" b="1">
                  <a:latin typeface="华文中宋"/>
                  <a:ea typeface="华文中宋"/>
                  <a:cs typeface="华文中宋"/>
                </a:endParaRPr>
              </a:p>
            </p:txBody>
          </p:sp>
          <p:grpSp>
            <p:nvGrpSpPr>
              <p:cNvPr id="76833" name="Group 5"/>
              <p:cNvGrpSpPr>
                <a:grpSpLocks/>
              </p:cNvGrpSpPr>
              <p:nvPr/>
            </p:nvGrpSpPr>
            <p:grpSpPr bwMode="auto">
              <a:xfrm>
                <a:off x="2759" y="2476"/>
                <a:ext cx="1387" cy="520"/>
                <a:chOff x="2130" y="3490"/>
                <a:chExt cx="1387" cy="520"/>
              </a:xfrm>
            </p:grpSpPr>
            <p:sp>
              <p:nvSpPr>
                <p:cNvPr id="76838" name="Rectangle 6"/>
                <p:cNvSpPr>
                  <a:spLocks noChangeArrowheads="1"/>
                </p:cNvSpPr>
                <p:nvPr/>
              </p:nvSpPr>
              <p:spPr bwMode="auto">
                <a:xfrm>
                  <a:off x="2130" y="3565"/>
                  <a:ext cx="349" cy="310"/>
                </a:xfrm>
                <a:prstGeom prst="rect">
                  <a:avLst/>
                </a:prstGeom>
                <a:noFill/>
                <a:ln w="9525">
                  <a:noFill/>
                  <a:miter lim="800000"/>
                  <a:headEnd/>
                  <a:tailEnd/>
                </a:ln>
                <a:effectLst>
                  <a:prstShdw prst="shdw17" dist="17961" dir="2700000">
                    <a:srgbClr val="993D00"/>
                  </a:prstShdw>
                </a:effectLst>
              </p:spPr>
              <p:txBody>
                <a:bodyPr wrap="none">
                  <a:spAutoFit/>
                </a:bodyPr>
                <a:lstStyle/>
                <a:p>
                  <a:r>
                    <a:rPr lang="en-US" altLang="zh-CN" sz="1800" b="1">
                      <a:solidFill>
                        <a:srgbClr val="0000FF"/>
                      </a:solidFill>
                      <a:latin typeface="华文中宋"/>
                      <a:ea typeface="华文中宋"/>
                      <a:cs typeface="华文中宋"/>
                    </a:rPr>
                    <a:t>(</a:t>
                  </a:r>
                  <a:r>
                    <a:rPr lang="zh-CN" altLang="en-US" sz="1800" b="1">
                      <a:solidFill>
                        <a:srgbClr val="0000FF"/>
                      </a:solidFill>
                      <a:latin typeface="华文中宋"/>
                      <a:ea typeface="华文中宋"/>
                      <a:cs typeface="华文中宋"/>
                    </a:rPr>
                    <a:t>Ｂ</a:t>
                  </a:r>
                  <a:r>
                    <a:rPr lang="en-US" altLang="zh-CN" sz="1800" b="1">
                      <a:solidFill>
                        <a:srgbClr val="0000FF"/>
                      </a:solidFill>
                      <a:latin typeface="华文中宋"/>
                      <a:ea typeface="华文中宋"/>
                      <a:cs typeface="华文中宋"/>
                    </a:rPr>
                    <a:t>)</a:t>
                  </a:r>
                </a:p>
              </p:txBody>
            </p:sp>
            <p:graphicFrame>
              <p:nvGraphicFramePr>
                <p:cNvPr id="76825" name="Object 25"/>
                <p:cNvGraphicFramePr>
                  <a:graphicFrameLocks noChangeAspect="1"/>
                </p:cNvGraphicFramePr>
                <p:nvPr/>
              </p:nvGraphicFramePr>
              <p:xfrm>
                <a:off x="2755" y="3490"/>
                <a:ext cx="762" cy="520"/>
              </p:xfrm>
              <a:graphic>
                <a:graphicData uri="http://schemas.openxmlformats.org/presentationml/2006/ole">
                  <p:oleObj spid="_x0000_s76825" name="公式" r:id="rId3" imgW="596641" imgH="406224" progId="Equation.3">
                    <p:embed/>
                  </p:oleObj>
                </a:graphicData>
              </a:graphic>
            </p:graphicFrame>
          </p:grpSp>
          <p:grpSp>
            <p:nvGrpSpPr>
              <p:cNvPr id="76834" name="Group 8"/>
              <p:cNvGrpSpPr>
                <a:grpSpLocks/>
              </p:cNvGrpSpPr>
              <p:nvPr/>
            </p:nvGrpSpPr>
            <p:grpSpPr bwMode="auto">
              <a:xfrm>
                <a:off x="509" y="3012"/>
                <a:ext cx="1102" cy="556"/>
                <a:chOff x="3308" y="3484"/>
                <a:chExt cx="1102" cy="556"/>
              </a:xfrm>
            </p:grpSpPr>
            <p:sp>
              <p:nvSpPr>
                <p:cNvPr id="76837" name="Rectangle 9"/>
                <p:cNvSpPr>
                  <a:spLocks noChangeArrowheads="1"/>
                </p:cNvSpPr>
                <p:nvPr/>
              </p:nvSpPr>
              <p:spPr bwMode="auto">
                <a:xfrm>
                  <a:off x="3308" y="3571"/>
                  <a:ext cx="349" cy="310"/>
                </a:xfrm>
                <a:prstGeom prst="rect">
                  <a:avLst/>
                </a:prstGeom>
                <a:noFill/>
                <a:ln w="9525">
                  <a:noFill/>
                  <a:miter lim="800000"/>
                  <a:headEnd/>
                  <a:tailEnd/>
                </a:ln>
                <a:effectLst>
                  <a:prstShdw prst="shdw17" dist="17961" dir="2700000">
                    <a:srgbClr val="993D00"/>
                  </a:prstShdw>
                </a:effectLst>
              </p:spPr>
              <p:txBody>
                <a:bodyPr wrap="none">
                  <a:spAutoFit/>
                </a:bodyPr>
                <a:lstStyle/>
                <a:p>
                  <a:r>
                    <a:rPr lang="en-US" altLang="zh-CN" sz="1800" b="1">
                      <a:solidFill>
                        <a:srgbClr val="0000FF"/>
                      </a:solidFill>
                      <a:latin typeface="华文中宋"/>
                      <a:ea typeface="华文中宋"/>
                      <a:cs typeface="华文中宋"/>
                    </a:rPr>
                    <a:t>(</a:t>
                  </a:r>
                  <a:r>
                    <a:rPr lang="zh-CN" altLang="en-US" sz="1800" b="1">
                      <a:solidFill>
                        <a:srgbClr val="0000FF"/>
                      </a:solidFill>
                      <a:latin typeface="华文中宋"/>
                      <a:ea typeface="华文中宋"/>
                      <a:cs typeface="华文中宋"/>
                    </a:rPr>
                    <a:t>Ｃ</a:t>
                  </a:r>
                  <a:r>
                    <a:rPr lang="en-US" altLang="zh-CN" sz="1800" b="1">
                      <a:solidFill>
                        <a:srgbClr val="0000FF"/>
                      </a:solidFill>
                      <a:latin typeface="华文中宋"/>
                      <a:ea typeface="华文中宋"/>
                      <a:cs typeface="华文中宋"/>
                    </a:rPr>
                    <a:t>)</a:t>
                  </a:r>
                </a:p>
              </p:txBody>
            </p:sp>
            <p:graphicFrame>
              <p:nvGraphicFramePr>
                <p:cNvPr id="76826" name="Object 26"/>
                <p:cNvGraphicFramePr>
                  <a:graphicFrameLocks noChangeAspect="1"/>
                </p:cNvGraphicFramePr>
                <p:nvPr/>
              </p:nvGraphicFramePr>
              <p:xfrm>
                <a:off x="3663" y="3484"/>
                <a:ext cx="747" cy="556"/>
              </p:xfrm>
              <a:graphic>
                <a:graphicData uri="http://schemas.openxmlformats.org/presentationml/2006/ole">
                  <p:oleObj spid="_x0000_s76826" name="Equation" r:id="rId4" imgW="596641" imgH="444307" progId="Equation.DSMT4">
                    <p:embed/>
                  </p:oleObj>
                </a:graphicData>
              </a:graphic>
            </p:graphicFrame>
          </p:grpSp>
          <p:grpSp>
            <p:nvGrpSpPr>
              <p:cNvPr id="76835" name="Group 11"/>
              <p:cNvGrpSpPr>
                <a:grpSpLocks/>
              </p:cNvGrpSpPr>
              <p:nvPr/>
            </p:nvGrpSpPr>
            <p:grpSpPr bwMode="auto">
              <a:xfrm>
                <a:off x="2769" y="2987"/>
                <a:ext cx="1307" cy="555"/>
                <a:chOff x="2117" y="2644"/>
                <a:chExt cx="1307" cy="555"/>
              </a:xfrm>
            </p:grpSpPr>
            <p:sp>
              <p:nvSpPr>
                <p:cNvPr id="76836" name="Rectangle 12"/>
                <p:cNvSpPr>
                  <a:spLocks noChangeArrowheads="1"/>
                </p:cNvSpPr>
                <p:nvPr/>
              </p:nvSpPr>
              <p:spPr bwMode="auto">
                <a:xfrm>
                  <a:off x="2117" y="2761"/>
                  <a:ext cx="349" cy="310"/>
                </a:xfrm>
                <a:prstGeom prst="rect">
                  <a:avLst/>
                </a:prstGeom>
                <a:noFill/>
                <a:ln w="9525">
                  <a:noFill/>
                  <a:miter lim="800000"/>
                  <a:headEnd/>
                  <a:tailEnd/>
                </a:ln>
                <a:effectLst>
                  <a:prstShdw prst="shdw17" dist="17961" dir="2700000">
                    <a:srgbClr val="993D00"/>
                  </a:prstShdw>
                </a:effectLst>
              </p:spPr>
              <p:txBody>
                <a:bodyPr wrap="none">
                  <a:spAutoFit/>
                </a:bodyPr>
                <a:lstStyle/>
                <a:p>
                  <a:r>
                    <a:rPr lang="en-US" altLang="zh-CN" sz="1800" b="1">
                      <a:solidFill>
                        <a:srgbClr val="0000FF"/>
                      </a:solidFill>
                      <a:latin typeface="华文中宋"/>
                      <a:ea typeface="华文中宋"/>
                      <a:cs typeface="华文中宋"/>
                    </a:rPr>
                    <a:t>(</a:t>
                  </a:r>
                  <a:r>
                    <a:rPr lang="zh-CN" altLang="en-US" sz="1800" b="1">
                      <a:solidFill>
                        <a:srgbClr val="0000FF"/>
                      </a:solidFill>
                      <a:latin typeface="华文中宋"/>
                      <a:ea typeface="华文中宋"/>
                      <a:cs typeface="华文中宋"/>
                    </a:rPr>
                    <a:t>Ｄ</a:t>
                  </a:r>
                  <a:r>
                    <a:rPr lang="en-US" altLang="zh-CN" sz="1800" b="1">
                      <a:solidFill>
                        <a:srgbClr val="0000FF"/>
                      </a:solidFill>
                      <a:latin typeface="华文中宋"/>
                      <a:ea typeface="华文中宋"/>
                      <a:cs typeface="华文中宋"/>
                    </a:rPr>
                    <a:t>)</a:t>
                  </a:r>
                </a:p>
              </p:txBody>
            </p:sp>
            <p:graphicFrame>
              <p:nvGraphicFramePr>
                <p:cNvPr id="76827" name="Object 27"/>
                <p:cNvGraphicFramePr>
                  <a:graphicFrameLocks noChangeAspect="1"/>
                </p:cNvGraphicFramePr>
                <p:nvPr/>
              </p:nvGraphicFramePr>
              <p:xfrm>
                <a:off x="2677" y="2644"/>
                <a:ext cx="747" cy="555"/>
              </p:xfrm>
              <a:graphic>
                <a:graphicData uri="http://schemas.openxmlformats.org/presentationml/2006/ole">
                  <p:oleObj spid="_x0000_s76827" name="公式" r:id="rId5" imgW="596641" imgH="444307" progId="Equation.3">
                    <p:embed/>
                  </p:oleObj>
                </a:graphicData>
              </a:graphic>
            </p:graphicFrame>
          </p:grpSp>
        </p:grpSp>
      </p:grpSp>
      <p:sp>
        <p:nvSpPr>
          <p:cNvPr id="18" name="Rectangle 14"/>
          <p:cNvSpPr>
            <a:spLocks noChangeArrowheads="1"/>
          </p:cNvSpPr>
          <p:nvPr/>
        </p:nvSpPr>
        <p:spPr bwMode="auto">
          <a:xfrm>
            <a:off x="3659188" y="3859213"/>
            <a:ext cx="1765300" cy="368300"/>
          </a:xfrm>
          <a:prstGeom prst="rect">
            <a:avLst/>
          </a:prstGeom>
          <a:noFill/>
          <a:ln w="9525">
            <a:noFill/>
            <a:miter lim="800000"/>
            <a:headEnd/>
            <a:tailEnd/>
          </a:ln>
          <a:effectLst>
            <a:prstShdw prst="shdw17" dist="17961" dir="2700000">
              <a:srgbClr val="993D00"/>
            </a:prstShdw>
          </a:effectLst>
        </p:spPr>
        <p:txBody>
          <a:bodyPr>
            <a:spAutoFit/>
          </a:bodyPr>
          <a:lstStyle/>
          <a:p>
            <a:r>
              <a:rPr lang="zh-CN" altLang="en-US" sz="1800" b="1">
                <a:solidFill>
                  <a:srgbClr val="FF0000"/>
                </a:solidFill>
                <a:latin typeface="华文中宋"/>
                <a:ea typeface="华文中宋"/>
                <a:cs typeface="华文中宋"/>
              </a:rPr>
              <a:t>答案：</a:t>
            </a:r>
            <a:r>
              <a:rPr lang="en-US" altLang="zh-CN" sz="1800">
                <a:solidFill>
                  <a:srgbClr val="0000FF"/>
                </a:solidFill>
                <a:latin typeface="华文中宋"/>
                <a:ea typeface="华文中宋"/>
                <a:cs typeface="华文中宋"/>
              </a:rPr>
              <a:t>[</a:t>
            </a:r>
            <a:r>
              <a:rPr lang="en-US" altLang="zh-CN" sz="1800">
                <a:solidFill>
                  <a:srgbClr val="FF0000"/>
                </a:solidFill>
                <a:latin typeface="华文中宋"/>
                <a:ea typeface="华文中宋"/>
                <a:cs typeface="华文中宋"/>
              </a:rPr>
              <a:t> </a:t>
            </a:r>
            <a:r>
              <a:rPr lang="zh-CN" altLang="en-US" sz="1800">
                <a:solidFill>
                  <a:srgbClr val="FF0000"/>
                </a:solidFill>
                <a:latin typeface="华文中宋"/>
                <a:ea typeface="华文中宋"/>
                <a:cs typeface="华文中宋"/>
              </a:rPr>
              <a:t>Ａ </a:t>
            </a:r>
            <a:r>
              <a:rPr lang="en-US" altLang="zh-CN" sz="1800">
                <a:solidFill>
                  <a:srgbClr val="0000FF"/>
                </a:solidFill>
                <a:latin typeface="华文中宋"/>
                <a:ea typeface="华文中宋"/>
                <a:cs typeface="华文中宋"/>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left)">
                                      <p:cBhvr>
                                        <p:cTn id="1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Text Box 3"/>
          <p:cNvSpPr txBox="1">
            <a:spLocks noChangeArrowheads="1"/>
          </p:cNvSpPr>
          <p:nvPr/>
        </p:nvSpPr>
        <p:spPr bwMode="auto">
          <a:xfrm>
            <a:off x="1150938" y="1222375"/>
            <a:ext cx="3937000" cy="368300"/>
          </a:xfrm>
          <a:prstGeom prst="rect">
            <a:avLst/>
          </a:prstGeom>
          <a:noFill/>
          <a:ln w="9525">
            <a:noFill/>
            <a:miter lim="800000"/>
            <a:headEnd/>
            <a:tailEnd/>
          </a:ln>
        </p:spPr>
        <p:txBody>
          <a:bodyPr wrap="none">
            <a:spAutoFit/>
          </a:bodyPr>
          <a:lstStyle/>
          <a:p>
            <a:r>
              <a:rPr kumimoji="0" lang="en-US" altLang="zh-CN" sz="1800" b="1">
                <a:solidFill>
                  <a:srgbClr val="0000FF"/>
                </a:solidFill>
                <a:latin typeface="华文中宋"/>
                <a:ea typeface="华文中宋"/>
                <a:cs typeface="华文中宋"/>
              </a:rPr>
              <a:t>1. </a:t>
            </a:r>
            <a:r>
              <a:rPr kumimoji="0" lang="zh-CN" altLang="en-US" sz="1800" b="1">
                <a:solidFill>
                  <a:srgbClr val="0000FF"/>
                </a:solidFill>
                <a:latin typeface="华文中宋"/>
                <a:ea typeface="华文中宋"/>
                <a:cs typeface="华文中宋"/>
              </a:rPr>
              <a:t>波动过程中相位领先和落后的概念</a:t>
            </a:r>
          </a:p>
        </p:txBody>
      </p:sp>
      <p:sp>
        <p:nvSpPr>
          <p:cNvPr id="79876" name="Text Box 4"/>
          <p:cNvSpPr txBox="1">
            <a:spLocks noChangeArrowheads="1"/>
          </p:cNvSpPr>
          <p:nvPr/>
        </p:nvSpPr>
        <p:spPr bwMode="auto">
          <a:xfrm>
            <a:off x="1155700" y="1689100"/>
            <a:ext cx="4305300" cy="368300"/>
          </a:xfrm>
          <a:prstGeom prst="rect">
            <a:avLst/>
          </a:prstGeom>
          <a:noFill/>
          <a:ln w="9525">
            <a:noFill/>
            <a:miter lim="800000"/>
            <a:headEnd/>
            <a:tailEnd/>
          </a:ln>
        </p:spPr>
        <p:txBody>
          <a:bodyPr>
            <a:spAutoFit/>
          </a:bodyPr>
          <a:lstStyle/>
          <a:p>
            <a:pPr marL="342900" indent="-342900"/>
            <a:r>
              <a:rPr lang="en-US" altLang="zh-CN" sz="1800" b="1">
                <a:solidFill>
                  <a:srgbClr val="0000FF"/>
                </a:solidFill>
                <a:latin typeface="华文中宋"/>
                <a:ea typeface="华文中宋"/>
                <a:cs typeface="华文中宋"/>
              </a:rPr>
              <a:t>2. </a:t>
            </a:r>
            <a:r>
              <a:rPr lang="zh-CN" altLang="en-US" sz="1800" b="1">
                <a:solidFill>
                  <a:srgbClr val="0000FF"/>
                </a:solidFill>
                <a:latin typeface="华文中宋"/>
                <a:ea typeface="华文中宋"/>
                <a:cs typeface="华文中宋"/>
              </a:rPr>
              <a:t>简谐波的描述</a:t>
            </a:r>
            <a:endParaRPr kumimoji="0" lang="zh-CN" altLang="en-US" sz="1800" b="1">
              <a:solidFill>
                <a:srgbClr val="0000FF"/>
              </a:solidFill>
              <a:latin typeface="华文中宋"/>
              <a:ea typeface="华文中宋"/>
              <a:cs typeface="华文中宋"/>
            </a:endParaRPr>
          </a:p>
        </p:txBody>
      </p:sp>
      <p:sp>
        <p:nvSpPr>
          <p:cNvPr id="79877" name="Text Box 5"/>
          <p:cNvSpPr txBox="1">
            <a:spLocks noChangeArrowheads="1"/>
          </p:cNvSpPr>
          <p:nvPr/>
        </p:nvSpPr>
        <p:spPr bwMode="auto">
          <a:xfrm>
            <a:off x="1128713" y="2128838"/>
            <a:ext cx="4416425" cy="369887"/>
          </a:xfrm>
          <a:prstGeom prst="rect">
            <a:avLst/>
          </a:prstGeom>
          <a:noFill/>
          <a:ln w="9525">
            <a:noFill/>
            <a:miter lim="800000"/>
            <a:headEnd/>
            <a:tailEnd/>
          </a:ln>
        </p:spPr>
        <p:txBody>
          <a:bodyPr>
            <a:spAutoFit/>
          </a:bodyPr>
          <a:lstStyle/>
          <a:p>
            <a:pPr marL="342900" indent="-342900"/>
            <a:r>
              <a:rPr lang="en-US" altLang="zh-CN" sz="1800" b="1">
                <a:solidFill>
                  <a:srgbClr val="0000FF"/>
                </a:solidFill>
                <a:latin typeface="华文中宋"/>
                <a:ea typeface="华文中宋"/>
                <a:cs typeface="华文中宋"/>
              </a:rPr>
              <a:t>3. </a:t>
            </a:r>
            <a:r>
              <a:rPr kumimoji="0" lang="zh-CN" altLang="en-US" sz="1800" b="1">
                <a:solidFill>
                  <a:srgbClr val="0000FF"/>
                </a:solidFill>
                <a:latin typeface="华文中宋"/>
                <a:ea typeface="华文中宋"/>
                <a:cs typeface="华文中宋"/>
              </a:rPr>
              <a:t>波的衍射和干涉</a:t>
            </a:r>
          </a:p>
        </p:txBody>
      </p:sp>
      <p:sp>
        <p:nvSpPr>
          <p:cNvPr id="79878" name="Text Box 6"/>
          <p:cNvSpPr txBox="1">
            <a:spLocks noChangeArrowheads="1"/>
          </p:cNvSpPr>
          <p:nvPr/>
        </p:nvSpPr>
        <p:spPr bwMode="auto">
          <a:xfrm>
            <a:off x="1103313" y="2589213"/>
            <a:ext cx="6464300" cy="369887"/>
          </a:xfrm>
          <a:prstGeom prst="rect">
            <a:avLst/>
          </a:prstGeom>
          <a:noFill/>
          <a:ln w="9525">
            <a:noFill/>
            <a:miter lim="800000"/>
            <a:headEnd/>
            <a:tailEnd/>
          </a:ln>
        </p:spPr>
        <p:txBody>
          <a:bodyPr>
            <a:spAutoFit/>
          </a:bodyPr>
          <a:lstStyle/>
          <a:p>
            <a:r>
              <a:rPr lang="en-US" altLang="zh-CN" sz="1800" b="1">
                <a:solidFill>
                  <a:srgbClr val="0000FF"/>
                </a:solidFill>
                <a:latin typeface="华文中宋"/>
                <a:ea typeface="华文中宋"/>
                <a:cs typeface="华文中宋"/>
              </a:rPr>
              <a:t>4. </a:t>
            </a:r>
            <a:r>
              <a:rPr lang="zh-CN" altLang="en-US" sz="1800" b="1">
                <a:solidFill>
                  <a:srgbClr val="0000FF"/>
                </a:solidFill>
                <a:latin typeface="华文中宋"/>
                <a:ea typeface="华文中宋"/>
                <a:cs typeface="华文中宋"/>
              </a:rPr>
              <a:t>驻波的形成和它的几个特点</a:t>
            </a:r>
          </a:p>
        </p:txBody>
      </p:sp>
      <p:sp>
        <p:nvSpPr>
          <p:cNvPr id="79879" name="Text Box 7"/>
          <p:cNvSpPr txBox="1">
            <a:spLocks noChangeArrowheads="1"/>
          </p:cNvSpPr>
          <p:nvPr/>
        </p:nvSpPr>
        <p:spPr bwMode="auto">
          <a:xfrm>
            <a:off x="1114425" y="3108325"/>
            <a:ext cx="4291013" cy="369888"/>
          </a:xfrm>
          <a:prstGeom prst="rect">
            <a:avLst/>
          </a:prstGeom>
          <a:noFill/>
          <a:ln w="9525">
            <a:noFill/>
            <a:miter lim="800000"/>
            <a:headEnd/>
            <a:tailEnd/>
          </a:ln>
        </p:spPr>
        <p:txBody>
          <a:bodyPr>
            <a:spAutoFit/>
          </a:bodyPr>
          <a:lstStyle/>
          <a:p>
            <a:r>
              <a:rPr lang="en-US" altLang="zh-CN" sz="1800" b="1">
                <a:solidFill>
                  <a:srgbClr val="0000FF"/>
                </a:solidFill>
                <a:latin typeface="华文中宋"/>
                <a:ea typeface="华文中宋"/>
                <a:cs typeface="华文中宋"/>
              </a:rPr>
              <a:t>5. </a:t>
            </a:r>
            <a:r>
              <a:rPr lang="zh-CN" altLang="en-US" sz="1800" b="1">
                <a:solidFill>
                  <a:srgbClr val="0000FF"/>
                </a:solidFill>
                <a:latin typeface="华文中宋"/>
                <a:ea typeface="华文中宋"/>
                <a:cs typeface="华文中宋"/>
              </a:rPr>
              <a:t>半波损失问题</a:t>
            </a:r>
          </a:p>
        </p:txBody>
      </p:sp>
      <p:sp>
        <p:nvSpPr>
          <p:cNvPr id="79880" name="Text Box 8"/>
          <p:cNvSpPr txBox="1">
            <a:spLocks noChangeArrowheads="1"/>
          </p:cNvSpPr>
          <p:nvPr/>
        </p:nvSpPr>
        <p:spPr bwMode="auto">
          <a:xfrm>
            <a:off x="1123950" y="3584575"/>
            <a:ext cx="6256338" cy="368300"/>
          </a:xfrm>
          <a:prstGeom prst="rect">
            <a:avLst/>
          </a:prstGeom>
          <a:noFill/>
          <a:ln w="9525">
            <a:noFill/>
            <a:miter lim="800000"/>
            <a:headEnd/>
            <a:tailEnd/>
          </a:ln>
        </p:spPr>
        <p:txBody>
          <a:bodyPr>
            <a:spAutoFit/>
          </a:bodyPr>
          <a:lstStyle/>
          <a:p>
            <a:pPr marL="342900" indent="-342900"/>
            <a:r>
              <a:rPr lang="en-US" altLang="zh-CN" sz="1800" b="1">
                <a:solidFill>
                  <a:srgbClr val="0000FF"/>
                </a:solidFill>
                <a:latin typeface="华文中宋"/>
                <a:ea typeface="华文中宋"/>
                <a:cs typeface="华文中宋"/>
              </a:rPr>
              <a:t>6. </a:t>
            </a:r>
            <a:r>
              <a:rPr lang="zh-CN" altLang="en-US" sz="1800" b="1">
                <a:solidFill>
                  <a:srgbClr val="0000FF"/>
                </a:solidFill>
                <a:latin typeface="华文中宋"/>
                <a:ea typeface="华文中宋"/>
                <a:cs typeface="华文中宋"/>
              </a:rPr>
              <a:t>多普勒效应中频率的计算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875"/>
                                        </p:tgtEl>
                                        <p:attrNameLst>
                                          <p:attrName>style.visibility</p:attrName>
                                        </p:attrNameLst>
                                      </p:cBhvr>
                                      <p:to>
                                        <p:strVal val="visible"/>
                                      </p:to>
                                    </p:set>
                                    <p:animEffect transition="in" filter="wipe(left)">
                                      <p:cBhvr>
                                        <p:cTn id="7" dur="500"/>
                                        <p:tgtEl>
                                          <p:spTgt spid="798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9876"/>
                                        </p:tgtEl>
                                        <p:attrNameLst>
                                          <p:attrName>style.visibility</p:attrName>
                                        </p:attrNameLst>
                                      </p:cBhvr>
                                      <p:to>
                                        <p:strVal val="visible"/>
                                      </p:to>
                                    </p:set>
                                    <p:animEffect transition="in" filter="wipe(left)">
                                      <p:cBhvr>
                                        <p:cTn id="12" dur="500"/>
                                        <p:tgtEl>
                                          <p:spTgt spid="798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9877"/>
                                        </p:tgtEl>
                                        <p:attrNameLst>
                                          <p:attrName>style.visibility</p:attrName>
                                        </p:attrNameLst>
                                      </p:cBhvr>
                                      <p:to>
                                        <p:strVal val="visible"/>
                                      </p:to>
                                    </p:set>
                                    <p:animEffect transition="in" filter="wipe(left)">
                                      <p:cBhvr>
                                        <p:cTn id="17" dur="500"/>
                                        <p:tgtEl>
                                          <p:spTgt spid="798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9878"/>
                                        </p:tgtEl>
                                        <p:attrNameLst>
                                          <p:attrName>style.visibility</p:attrName>
                                        </p:attrNameLst>
                                      </p:cBhvr>
                                      <p:to>
                                        <p:strVal val="visible"/>
                                      </p:to>
                                    </p:set>
                                    <p:animEffect transition="in" filter="wipe(left)">
                                      <p:cBhvr>
                                        <p:cTn id="22" dur="500"/>
                                        <p:tgtEl>
                                          <p:spTgt spid="798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9879"/>
                                        </p:tgtEl>
                                        <p:attrNameLst>
                                          <p:attrName>style.visibility</p:attrName>
                                        </p:attrNameLst>
                                      </p:cBhvr>
                                      <p:to>
                                        <p:strVal val="visible"/>
                                      </p:to>
                                    </p:set>
                                    <p:animEffect transition="in" filter="wipe(left)">
                                      <p:cBhvr>
                                        <p:cTn id="27" dur="500"/>
                                        <p:tgtEl>
                                          <p:spTgt spid="7987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9880"/>
                                        </p:tgtEl>
                                        <p:attrNameLst>
                                          <p:attrName>style.visibility</p:attrName>
                                        </p:attrNameLst>
                                      </p:cBhvr>
                                      <p:to>
                                        <p:strVal val="visible"/>
                                      </p:to>
                                    </p:set>
                                    <p:animEffect transition="in" filter="wipe(left)">
                                      <p:cBhvr>
                                        <p:cTn id="32" dur="500"/>
                                        <p:tgtEl>
                                          <p:spTgt spid="798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p:bldP spid="79876" grpId="0"/>
      <p:bldP spid="79877" grpId="0"/>
      <p:bldP spid="79878" grpId="0"/>
      <p:bldP spid="79879" grpId="0"/>
      <p:bldP spid="7988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p:cNvSpPr>
            <a:spLocks noGrp="1" noChangeArrowheads="1"/>
          </p:cNvSpPr>
          <p:nvPr>
            <p:ph type="title" idx="4294967295"/>
          </p:nvPr>
        </p:nvSpPr>
        <p:spPr bwMode="auto">
          <a:xfrm>
            <a:off x="457200" y="206375"/>
            <a:ext cx="8229600" cy="857250"/>
          </a:xfrm>
          <a:prstGeom prst="rect">
            <a:avLst/>
          </a:prstGeom>
          <a:noFill/>
          <a:ln>
            <a:miter lim="800000"/>
            <a:headEnd/>
            <a:tailEnd/>
          </a:ln>
        </p:spPr>
        <p:txBody>
          <a:bodyPr/>
          <a:lstStyle/>
          <a:p>
            <a:endParaRPr lang="zh-CN" altLang="en-US" smtClean="0"/>
          </a:p>
        </p:txBody>
      </p:sp>
      <p:sp>
        <p:nvSpPr>
          <p:cNvPr id="118786" name="Rectangle 3"/>
          <p:cNvSpPr>
            <a:spLocks noGrp="1" noChangeArrowheads="1"/>
          </p:cNvSpPr>
          <p:nvPr>
            <p:ph type="body" idx="4294967295"/>
          </p:nvPr>
        </p:nvSpPr>
        <p:spPr bwMode="auto">
          <a:xfrm>
            <a:off x="457200" y="1200150"/>
            <a:ext cx="8229600" cy="3394075"/>
          </a:xfrm>
          <a:prstGeom prst="rect">
            <a:avLst/>
          </a:prstGeom>
          <a:noFill/>
          <a:ln>
            <a:miter lim="800000"/>
            <a:headEnd/>
            <a:tailEnd/>
          </a:ln>
        </p:spPr>
        <p:txBody>
          <a:bodyPr/>
          <a:lstStyle/>
          <a:p>
            <a:r>
              <a:rPr lang="zh-CN" altLang="en-US" smtClean="0"/>
              <a:t>例题</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3"/>
          <p:cNvSpPr txBox="1">
            <a:spLocks noChangeArrowheads="1"/>
          </p:cNvSpPr>
          <p:nvPr/>
        </p:nvSpPr>
        <p:spPr bwMode="auto">
          <a:xfrm>
            <a:off x="954088" y="950913"/>
            <a:ext cx="7564437" cy="1055687"/>
          </a:xfrm>
          <a:prstGeom prst="rect">
            <a:avLst/>
          </a:prstGeom>
          <a:noFill/>
          <a:ln w="9525">
            <a:noFill/>
            <a:miter lim="800000"/>
            <a:headEnd/>
            <a:tailEnd/>
          </a:ln>
        </p:spPr>
        <p:txBody>
          <a:bodyPr lIns="68580" tIns="34290" rIns="68580" bIns="34290">
            <a:spAutoFit/>
          </a:bodyPr>
          <a:lstStyle/>
          <a:p>
            <a:pPr defTabSz="685800">
              <a:lnSpc>
                <a:spcPct val="120000"/>
              </a:lnSpc>
              <a:buFont typeface="Arial" charset="0"/>
              <a:buNone/>
            </a:pPr>
            <a:r>
              <a:rPr kumimoji="0" lang="zh-CN" altLang="en-US" sz="1800" b="1">
                <a:solidFill>
                  <a:srgbClr val="00334D"/>
                </a:solidFill>
                <a:latin typeface="楷体_GB2312"/>
                <a:ea typeface="楷体_GB2312"/>
                <a:cs typeface="楷体_GB2312"/>
              </a:rPr>
              <a:t>例</a:t>
            </a:r>
            <a:r>
              <a:rPr kumimoji="0" lang="en-US" altLang="zh-CN" sz="1800" b="1">
                <a:solidFill>
                  <a:srgbClr val="00334D"/>
                </a:solidFill>
                <a:latin typeface="楷体_GB2312"/>
                <a:ea typeface="楷体_GB2312"/>
                <a:cs typeface="楷体_GB2312"/>
              </a:rPr>
              <a:t>  </a:t>
            </a:r>
            <a:r>
              <a:rPr kumimoji="0" lang="zh-CN" altLang="en-US" sz="1800" b="1">
                <a:solidFill>
                  <a:srgbClr val="00334D"/>
                </a:solidFill>
                <a:ea typeface="楷体_GB2312"/>
                <a:cs typeface="楷体_GB2312"/>
              </a:rPr>
              <a:t>位于</a:t>
            </a:r>
            <a:r>
              <a:rPr kumimoji="0" lang="en-US" altLang="zh-CN" sz="1800" b="1" i="1">
                <a:solidFill>
                  <a:srgbClr val="00334D"/>
                </a:solidFill>
                <a:ea typeface="楷体_GB2312"/>
                <a:cs typeface="楷体_GB2312"/>
              </a:rPr>
              <a:t>A</a:t>
            </a:r>
            <a:r>
              <a:rPr kumimoji="0" lang="zh-CN" altLang="en-US" sz="1800" b="1" i="1">
                <a:solidFill>
                  <a:srgbClr val="00334D"/>
                </a:solidFill>
                <a:ea typeface="楷体_GB2312"/>
                <a:cs typeface="楷体_GB2312"/>
              </a:rPr>
              <a:t>、</a:t>
            </a:r>
            <a:r>
              <a:rPr kumimoji="0" lang="en-US" altLang="zh-CN" sz="1800" b="1" i="1">
                <a:solidFill>
                  <a:srgbClr val="00334D"/>
                </a:solidFill>
                <a:ea typeface="楷体_GB2312"/>
                <a:cs typeface="楷体_GB2312"/>
              </a:rPr>
              <a:t>B</a:t>
            </a:r>
            <a:r>
              <a:rPr kumimoji="0" lang="zh-CN" altLang="en-US" sz="1800" b="1">
                <a:solidFill>
                  <a:srgbClr val="00334D"/>
                </a:solidFill>
                <a:ea typeface="楷体_GB2312"/>
                <a:cs typeface="楷体_GB2312"/>
              </a:rPr>
              <a:t>两点的两个波源，振幅相等，频率都是</a:t>
            </a:r>
            <a:r>
              <a:rPr kumimoji="0" lang="zh-CN" altLang="en-US" sz="1800" b="1" i="1">
                <a:solidFill>
                  <a:srgbClr val="00334D"/>
                </a:solidFill>
                <a:ea typeface="楷体_GB2312"/>
                <a:cs typeface="楷体_GB2312"/>
              </a:rPr>
              <a:t>100</a:t>
            </a:r>
            <a:r>
              <a:rPr kumimoji="0" lang="zh-CN" altLang="en-US" sz="1800" b="1">
                <a:solidFill>
                  <a:srgbClr val="00334D"/>
                </a:solidFill>
                <a:ea typeface="楷体_GB2312"/>
                <a:cs typeface="楷体_GB2312"/>
              </a:rPr>
              <a:t>赫兹，相位差为</a:t>
            </a:r>
            <a:r>
              <a:rPr kumimoji="0" lang="zh-CN" altLang="en-US" sz="1800" b="1">
                <a:solidFill>
                  <a:srgbClr val="00334D"/>
                </a:solidFill>
                <a:ea typeface="楷体_GB2312"/>
                <a:cs typeface="楷体_GB2312"/>
                <a:sym typeface="Symbol" pitchFamily="18" charset="2"/>
              </a:rPr>
              <a:t></a:t>
            </a:r>
            <a:r>
              <a:rPr kumimoji="0" lang="zh-CN" altLang="en-US" sz="1800" b="1">
                <a:solidFill>
                  <a:srgbClr val="00334D"/>
                </a:solidFill>
                <a:ea typeface="楷体_GB2312"/>
                <a:cs typeface="楷体_GB2312"/>
              </a:rPr>
              <a:t>，其</a:t>
            </a:r>
            <a:r>
              <a:rPr kumimoji="0" lang="en-US" altLang="zh-CN" sz="1800" b="1" i="1">
                <a:solidFill>
                  <a:srgbClr val="00334D"/>
                </a:solidFill>
                <a:ea typeface="楷体_GB2312"/>
                <a:cs typeface="楷体_GB2312"/>
              </a:rPr>
              <a:t>A</a:t>
            </a:r>
            <a:r>
              <a:rPr kumimoji="0" lang="zh-CN" altLang="en-US" sz="1800" b="1" i="1">
                <a:solidFill>
                  <a:srgbClr val="00334D"/>
                </a:solidFill>
                <a:ea typeface="楷体_GB2312"/>
                <a:cs typeface="楷体_GB2312"/>
              </a:rPr>
              <a:t>、</a:t>
            </a:r>
            <a:r>
              <a:rPr kumimoji="0" lang="en-US" altLang="zh-CN" sz="1800" b="1" i="1">
                <a:solidFill>
                  <a:srgbClr val="00334D"/>
                </a:solidFill>
                <a:ea typeface="楷体_GB2312"/>
                <a:cs typeface="楷体_GB2312"/>
              </a:rPr>
              <a:t>B</a:t>
            </a:r>
            <a:r>
              <a:rPr kumimoji="0" lang="zh-CN" altLang="en-US" sz="1800" b="1">
                <a:solidFill>
                  <a:srgbClr val="00334D"/>
                </a:solidFill>
                <a:ea typeface="楷体_GB2312"/>
                <a:cs typeface="楷体_GB2312"/>
              </a:rPr>
              <a:t>相距</a:t>
            </a:r>
            <a:r>
              <a:rPr kumimoji="0" lang="zh-CN" altLang="en-US" sz="1800" b="1" i="1">
                <a:solidFill>
                  <a:srgbClr val="00334D"/>
                </a:solidFill>
                <a:ea typeface="楷体_GB2312"/>
                <a:cs typeface="楷体_GB2312"/>
              </a:rPr>
              <a:t>30</a:t>
            </a:r>
            <a:r>
              <a:rPr kumimoji="0" lang="zh-CN" altLang="en-US" sz="1800" b="1">
                <a:solidFill>
                  <a:srgbClr val="00334D"/>
                </a:solidFill>
                <a:ea typeface="楷体_GB2312"/>
                <a:cs typeface="楷体_GB2312"/>
              </a:rPr>
              <a:t>米，波速为</a:t>
            </a:r>
            <a:r>
              <a:rPr kumimoji="0" lang="zh-CN" altLang="en-US" sz="1800" b="1" i="1">
                <a:solidFill>
                  <a:srgbClr val="00334D"/>
                </a:solidFill>
                <a:ea typeface="楷体_GB2312"/>
                <a:cs typeface="楷体_GB2312"/>
              </a:rPr>
              <a:t>400</a:t>
            </a:r>
            <a:r>
              <a:rPr kumimoji="0" lang="zh-CN" altLang="en-US" sz="1800" b="1">
                <a:solidFill>
                  <a:srgbClr val="00334D"/>
                </a:solidFill>
                <a:ea typeface="楷体_GB2312"/>
                <a:cs typeface="楷体_GB2312"/>
              </a:rPr>
              <a:t>米/秒，求:</a:t>
            </a:r>
            <a:r>
              <a:rPr kumimoji="0" lang="en-US" altLang="zh-CN" sz="1800" b="1" i="1">
                <a:solidFill>
                  <a:srgbClr val="00334D"/>
                </a:solidFill>
                <a:ea typeface="楷体_GB2312"/>
                <a:cs typeface="楷体_GB2312"/>
              </a:rPr>
              <a:t>A</a:t>
            </a:r>
            <a:r>
              <a:rPr kumimoji="0" lang="zh-CN" altLang="en-US" sz="1800" b="1" i="1">
                <a:solidFill>
                  <a:srgbClr val="00334D"/>
                </a:solidFill>
                <a:ea typeface="楷体_GB2312"/>
                <a:cs typeface="楷体_GB2312"/>
              </a:rPr>
              <a:t>、</a:t>
            </a:r>
            <a:r>
              <a:rPr kumimoji="0" lang="en-US" altLang="zh-CN" sz="1800" b="1" i="1">
                <a:solidFill>
                  <a:srgbClr val="00334D"/>
                </a:solidFill>
                <a:ea typeface="楷体_GB2312"/>
                <a:cs typeface="楷体_GB2312"/>
              </a:rPr>
              <a:t>B</a:t>
            </a:r>
            <a:r>
              <a:rPr kumimoji="0" lang="zh-CN" altLang="en-US" sz="1800" b="1">
                <a:solidFill>
                  <a:srgbClr val="00334D"/>
                </a:solidFill>
                <a:ea typeface="楷体_GB2312"/>
                <a:cs typeface="楷体_GB2312"/>
              </a:rPr>
              <a:t>连线之间因相干干涉而静止的各点的位置。</a:t>
            </a:r>
          </a:p>
        </p:txBody>
      </p:sp>
      <p:sp>
        <p:nvSpPr>
          <p:cNvPr id="159747" name="Text Box 7"/>
          <p:cNvSpPr txBox="1">
            <a:spLocks noChangeArrowheads="1"/>
          </p:cNvSpPr>
          <p:nvPr/>
        </p:nvSpPr>
        <p:spPr bwMode="auto">
          <a:xfrm>
            <a:off x="989013" y="2178050"/>
            <a:ext cx="6572250" cy="322263"/>
          </a:xfrm>
          <a:prstGeom prst="rect">
            <a:avLst/>
          </a:prstGeom>
          <a:noFill/>
          <a:ln w="9525">
            <a:noFill/>
            <a:miter lim="800000"/>
            <a:headEnd/>
            <a:tailEnd/>
          </a:ln>
        </p:spPr>
        <p:txBody>
          <a:bodyPr lIns="68580" tIns="34290" rIns="68580" bIns="34290">
            <a:spAutoFit/>
          </a:bodyPr>
          <a:lstStyle/>
          <a:p>
            <a:pPr defTabSz="685800" eaLnBrk="0" hangingPunct="0">
              <a:lnSpc>
                <a:spcPct val="120000"/>
              </a:lnSpc>
              <a:buFont typeface="Arial" charset="0"/>
              <a:buNone/>
            </a:pPr>
            <a:r>
              <a:rPr kumimoji="0" lang="zh-CN" altLang="en-US" sz="1500">
                <a:ea typeface="微软雅黑" pitchFamily="34" charset="-122"/>
              </a:rPr>
              <a:t>解：如图所示，取</a:t>
            </a:r>
            <a:r>
              <a:rPr kumimoji="0" lang="en-US" altLang="zh-CN" sz="1500" i="1">
                <a:ea typeface="微软雅黑" pitchFamily="34" charset="-122"/>
              </a:rPr>
              <a:t>A</a:t>
            </a:r>
            <a:r>
              <a:rPr kumimoji="0" lang="zh-CN" altLang="en-US" sz="1500">
                <a:ea typeface="微软雅黑" pitchFamily="34" charset="-122"/>
              </a:rPr>
              <a:t>点为坐标原点，</a:t>
            </a:r>
            <a:r>
              <a:rPr kumimoji="0" lang="en-US" altLang="zh-CN" sz="1500" i="1">
                <a:ea typeface="微软雅黑" pitchFamily="34" charset="-122"/>
              </a:rPr>
              <a:t>A</a:t>
            </a:r>
            <a:r>
              <a:rPr kumimoji="0" lang="zh-CN" altLang="en-US" sz="1500" i="1">
                <a:ea typeface="微软雅黑" pitchFamily="34" charset="-122"/>
              </a:rPr>
              <a:t>、</a:t>
            </a:r>
            <a:r>
              <a:rPr kumimoji="0" lang="en-US" altLang="zh-CN" sz="1500" i="1">
                <a:ea typeface="微软雅黑" pitchFamily="34" charset="-122"/>
              </a:rPr>
              <a:t>B</a:t>
            </a:r>
            <a:r>
              <a:rPr kumimoji="0" lang="zh-CN" altLang="en-US" sz="1500">
                <a:ea typeface="微软雅黑" pitchFamily="34" charset="-122"/>
              </a:rPr>
              <a:t>联线为</a:t>
            </a:r>
            <a:r>
              <a:rPr kumimoji="0" lang="en-US" altLang="zh-CN" sz="1500" i="1">
                <a:ea typeface="微软雅黑" pitchFamily="34" charset="-122"/>
              </a:rPr>
              <a:t>X</a:t>
            </a:r>
            <a:r>
              <a:rPr kumimoji="0" lang="zh-CN" altLang="en-US" sz="1500">
                <a:ea typeface="微软雅黑" pitchFamily="34" charset="-122"/>
              </a:rPr>
              <a:t>轴，取</a:t>
            </a:r>
            <a:r>
              <a:rPr kumimoji="0" lang="en-US" altLang="zh-CN" sz="1500" i="1">
                <a:ea typeface="微软雅黑" pitchFamily="34" charset="-122"/>
              </a:rPr>
              <a:t>A</a:t>
            </a:r>
            <a:r>
              <a:rPr kumimoji="0" lang="zh-CN" altLang="en-US" sz="1500">
                <a:ea typeface="微软雅黑" pitchFamily="34" charset="-122"/>
              </a:rPr>
              <a:t>点的振动方程 :</a:t>
            </a:r>
          </a:p>
        </p:txBody>
      </p:sp>
      <p:graphicFrame>
        <p:nvGraphicFramePr>
          <p:cNvPr id="159748" name="Object 4"/>
          <p:cNvGraphicFramePr>
            <a:graphicFrameLocks noChangeAspect="1"/>
          </p:cNvGraphicFramePr>
          <p:nvPr/>
        </p:nvGraphicFramePr>
        <p:xfrm>
          <a:off x="2211388" y="2608263"/>
          <a:ext cx="1749425" cy="347662"/>
        </p:xfrm>
        <a:graphic>
          <a:graphicData uri="http://schemas.openxmlformats.org/presentationml/2006/ole">
            <p:oleObj spid="_x0000_s135172" r:id="rId3" imgW="819000" imgH="155160" progId="Equation.DSMT4">
              <p:embed/>
            </p:oleObj>
          </a:graphicData>
        </a:graphic>
      </p:graphicFrame>
      <p:sp>
        <p:nvSpPr>
          <p:cNvPr id="159749" name="Text Box 9"/>
          <p:cNvSpPr txBox="1">
            <a:spLocks noChangeArrowheads="1"/>
          </p:cNvSpPr>
          <p:nvPr/>
        </p:nvSpPr>
        <p:spPr bwMode="auto">
          <a:xfrm>
            <a:off x="1317625" y="3121025"/>
            <a:ext cx="2681288" cy="298450"/>
          </a:xfrm>
          <a:prstGeom prst="rect">
            <a:avLst/>
          </a:prstGeom>
          <a:noFill/>
          <a:ln w="9525">
            <a:noFill/>
            <a:miter lim="800000"/>
            <a:headEnd/>
            <a:tailEnd/>
          </a:ln>
        </p:spPr>
        <p:txBody>
          <a:bodyPr wrap="none" lIns="68580" tIns="34290" rIns="68580" bIns="34290">
            <a:spAutoFit/>
          </a:bodyPr>
          <a:lstStyle/>
          <a:p>
            <a:pPr defTabSz="685800">
              <a:buFont typeface="Arial" charset="0"/>
              <a:buNone/>
            </a:pPr>
            <a:r>
              <a:rPr kumimoji="0" lang="zh-CN" altLang="en-US" sz="1500">
                <a:ea typeface="微软雅黑" pitchFamily="34" charset="-122"/>
              </a:rPr>
              <a:t>在</a:t>
            </a:r>
            <a:r>
              <a:rPr kumimoji="0" lang="en-US" altLang="zh-CN" sz="1500" i="1">
                <a:ea typeface="微软雅黑" pitchFamily="34" charset="-122"/>
              </a:rPr>
              <a:t>X</a:t>
            </a:r>
            <a:r>
              <a:rPr kumimoji="0" lang="zh-CN" altLang="en-US" sz="1500">
                <a:ea typeface="微软雅黑" pitchFamily="34" charset="-122"/>
              </a:rPr>
              <a:t>轴上</a:t>
            </a:r>
            <a:r>
              <a:rPr kumimoji="0" lang="en-US" altLang="zh-CN" sz="1500" i="1">
                <a:ea typeface="微软雅黑" pitchFamily="34" charset="-122"/>
              </a:rPr>
              <a:t>A</a:t>
            </a:r>
            <a:r>
              <a:rPr kumimoji="0" lang="zh-CN" altLang="en-US" sz="1500">
                <a:ea typeface="微软雅黑" pitchFamily="34" charset="-122"/>
              </a:rPr>
              <a:t>点发出的行波方程：</a:t>
            </a:r>
          </a:p>
        </p:txBody>
      </p:sp>
      <p:graphicFrame>
        <p:nvGraphicFramePr>
          <p:cNvPr id="159750" name="Object 6"/>
          <p:cNvGraphicFramePr>
            <a:graphicFrameLocks noChangeAspect="1"/>
          </p:cNvGraphicFramePr>
          <p:nvPr/>
        </p:nvGraphicFramePr>
        <p:xfrm>
          <a:off x="2293938" y="3365500"/>
          <a:ext cx="2197100" cy="585788"/>
        </p:xfrm>
        <a:graphic>
          <a:graphicData uri="http://schemas.openxmlformats.org/presentationml/2006/ole">
            <p:oleObj spid="_x0000_s135174" r:id="rId4" imgW="1090080" imgH="271440" progId="Equation.DSMT4">
              <p:embed/>
            </p:oleObj>
          </a:graphicData>
        </a:graphic>
      </p:graphicFrame>
      <p:sp>
        <p:nvSpPr>
          <p:cNvPr id="159751" name="Text Box 11"/>
          <p:cNvSpPr txBox="1">
            <a:spLocks noChangeArrowheads="1"/>
          </p:cNvSpPr>
          <p:nvPr/>
        </p:nvSpPr>
        <p:spPr bwMode="auto">
          <a:xfrm>
            <a:off x="1428750" y="4054475"/>
            <a:ext cx="1522413" cy="300038"/>
          </a:xfrm>
          <a:prstGeom prst="rect">
            <a:avLst/>
          </a:prstGeom>
          <a:noFill/>
          <a:ln w="9525">
            <a:noFill/>
            <a:miter lim="800000"/>
            <a:headEnd/>
            <a:tailEnd/>
          </a:ln>
        </p:spPr>
        <p:txBody>
          <a:bodyPr wrap="none" lIns="68580" tIns="34290" rIns="68580" bIns="34290">
            <a:spAutoFit/>
          </a:bodyPr>
          <a:lstStyle/>
          <a:p>
            <a:pPr defTabSz="685800">
              <a:buFont typeface="Arial" charset="0"/>
              <a:buNone/>
            </a:pPr>
            <a:r>
              <a:rPr kumimoji="0" lang="en-US" altLang="zh-CN" sz="1500" i="1">
                <a:ea typeface="微软雅黑" pitchFamily="34" charset="-122"/>
              </a:rPr>
              <a:t>B</a:t>
            </a:r>
            <a:r>
              <a:rPr kumimoji="0" lang="zh-CN" altLang="en-US" sz="1500">
                <a:ea typeface="微软雅黑" pitchFamily="34" charset="-122"/>
              </a:rPr>
              <a:t>点的振动方程</a:t>
            </a:r>
            <a:r>
              <a:rPr kumimoji="0" lang="zh-CN" altLang="en-US" sz="1500" b="1">
                <a:ea typeface="楷体_GB2312"/>
                <a:cs typeface="楷体_GB2312"/>
              </a:rPr>
              <a:t> :</a:t>
            </a:r>
          </a:p>
        </p:txBody>
      </p:sp>
      <p:graphicFrame>
        <p:nvGraphicFramePr>
          <p:cNvPr id="159752" name="Object 8"/>
          <p:cNvGraphicFramePr>
            <a:graphicFrameLocks noChangeAspect="1"/>
          </p:cNvGraphicFramePr>
          <p:nvPr/>
        </p:nvGraphicFramePr>
        <p:xfrm>
          <a:off x="3224213" y="3919538"/>
          <a:ext cx="2457450" cy="446087"/>
        </p:xfrm>
        <a:graphic>
          <a:graphicData uri="http://schemas.openxmlformats.org/presentationml/2006/ole">
            <p:oleObj spid="_x0000_s135176" r:id="rId5" imgW="1090080" imgH="174600" progId="Equation.DSMT4">
              <p:embed/>
            </p:oleObj>
          </a:graphicData>
        </a:graphic>
      </p:graphicFrame>
      <p:grpSp>
        <p:nvGrpSpPr>
          <p:cNvPr id="159753" name="组合 159752"/>
          <p:cNvGrpSpPr>
            <a:grpSpLocks/>
          </p:cNvGrpSpPr>
          <p:nvPr/>
        </p:nvGrpSpPr>
        <p:grpSpPr bwMode="auto">
          <a:xfrm>
            <a:off x="5389563" y="2608263"/>
            <a:ext cx="3028950" cy="1008062"/>
            <a:chOff x="0" y="0"/>
            <a:chExt cx="2544" cy="846"/>
          </a:xfrm>
        </p:grpSpPr>
        <p:graphicFrame>
          <p:nvGraphicFramePr>
            <p:cNvPr id="135178" name="Object 10"/>
            <p:cNvGraphicFramePr>
              <a:graphicFrameLocks noChangeAspect="1"/>
            </p:cNvGraphicFramePr>
            <p:nvPr/>
          </p:nvGraphicFramePr>
          <p:xfrm>
            <a:off x="2067" y="458"/>
            <a:ext cx="211" cy="219"/>
          </p:xfrm>
          <a:graphic>
            <a:graphicData uri="http://schemas.openxmlformats.org/presentationml/2006/ole">
              <p:oleObj spid="_x0000_s135178" r:id="rId6" imgW="109800" imgH="122760" progId="Equation.3">
                <p:embed/>
              </p:oleObj>
            </a:graphicData>
          </a:graphic>
        </p:graphicFrame>
        <p:sp>
          <p:nvSpPr>
            <p:cNvPr id="135199" name="Line 18"/>
            <p:cNvSpPr>
              <a:spLocks noChangeShapeType="1"/>
            </p:cNvSpPr>
            <p:nvPr/>
          </p:nvSpPr>
          <p:spPr bwMode="auto">
            <a:xfrm>
              <a:off x="0" y="356"/>
              <a:ext cx="2544" cy="0"/>
            </a:xfrm>
            <a:prstGeom prst="line">
              <a:avLst/>
            </a:prstGeom>
            <a:noFill/>
            <a:ln w="41275">
              <a:solidFill>
                <a:schemeClr val="tx1"/>
              </a:solidFill>
              <a:round/>
              <a:headEnd/>
              <a:tailEnd type="arrow" w="med" len="lg"/>
            </a:ln>
          </p:spPr>
          <p:txBody>
            <a:bodyPr/>
            <a:lstStyle/>
            <a:p>
              <a:endParaRPr lang="zh-CN" altLang="en-US"/>
            </a:p>
          </p:txBody>
        </p:sp>
        <p:graphicFrame>
          <p:nvGraphicFramePr>
            <p:cNvPr id="135180" name="Object 12"/>
            <p:cNvGraphicFramePr>
              <a:graphicFrameLocks noChangeAspect="1"/>
            </p:cNvGraphicFramePr>
            <p:nvPr/>
          </p:nvGraphicFramePr>
          <p:xfrm>
            <a:off x="265" y="407"/>
            <a:ext cx="211" cy="218"/>
          </p:xfrm>
          <a:graphic>
            <a:graphicData uri="http://schemas.openxmlformats.org/presentationml/2006/ole">
              <p:oleObj spid="_x0000_s135180" r:id="rId7" imgW="109800" imgH="122760" progId="Equation.3">
                <p:embed/>
              </p:oleObj>
            </a:graphicData>
          </a:graphic>
        </p:graphicFrame>
        <p:sp>
          <p:nvSpPr>
            <p:cNvPr id="135200" name="Line 20"/>
            <p:cNvSpPr>
              <a:spLocks noChangeShapeType="1"/>
            </p:cNvSpPr>
            <p:nvPr/>
          </p:nvSpPr>
          <p:spPr bwMode="auto">
            <a:xfrm>
              <a:off x="2014" y="407"/>
              <a:ext cx="0" cy="356"/>
            </a:xfrm>
            <a:prstGeom prst="line">
              <a:avLst/>
            </a:prstGeom>
            <a:noFill/>
            <a:ln w="9525">
              <a:solidFill>
                <a:schemeClr val="tx1"/>
              </a:solidFill>
              <a:round/>
              <a:headEnd/>
              <a:tailEnd/>
            </a:ln>
          </p:spPr>
          <p:txBody>
            <a:bodyPr/>
            <a:lstStyle/>
            <a:p>
              <a:endParaRPr lang="zh-CN" altLang="en-US"/>
            </a:p>
          </p:txBody>
        </p:sp>
        <p:sp>
          <p:nvSpPr>
            <p:cNvPr id="135201" name="Line 21"/>
            <p:cNvSpPr>
              <a:spLocks noChangeShapeType="1"/>
            </p:cNvSpPr>
            <p:nvPr/>
          </p:nvSpPr>
          <p:spPr bwMode="auto">
            <a:xfrm>
              <a:off x="251" y="417"/>
              <a:ext cx="0" cy="356"/>
            </a:xfrm>
            <a:prstGeom prst="line">
              <a:avLst/>
            </a:prstGeom>
            <a:noFill/>
            <a:ln w="9525">
              <a:solidFill>
                <a:schemeClr val="tx1"/>
              </a:solidFill>
              <a:round/>
              <a:headEnd/>
              <a:tailEnd/>
            </a:ln>
          </p:spPr>
          <p:txBody>
            <a:bodyPr/>
            <a:lstStyle/>
            <a:p>
              <a:endParaRPr lang="zh-CN" altLang="en-US"/>
            </a:p>
          </p:txBody>
        </p:sp>
        <p:sp>
          <p:nvSpPr>
            <p:cNvPr id="135202" name="Line 22"/>
            <p:cNvSpPr>
              <a:spLocks noChangeShapeType="1"/>
            </p:cNvSpPr>
            <p:nvPr/>
          </p:nvSpPr>
          <p:spPr bwMode="auto">
            <a:xfrm>
              <a:off x="1431" y="712"/>
              <a:ext cx="541" cy="0"/>
            </a:xfrm>
            <a:prstGeom prst="line">
              <a:avLst/>
            </a:prstGeom>
            <a:noFill/>
            <a:ln w="9525">
              <a:solidFill>
                <a:schemeClr val="tx1"/>
              </a:solidFill>
              <a:round/>
              <a:headEnd/>
              <a:tailEnd type="arrow" w="med" len="lg"/>
            </a:ln>
          </p:spPr>
          <p:txBody>
            <a:bodyPr/>
            <a:lstStyle/>
            <a:p>
              <a:endParaRPr lang="zh-CN" altLang="en-US"/>
            </a:p>
          </p:txBody>
        </p:sp>
        <p:sp>
          <p:nvSpPr>
            <p:cNvPr id="135203" name="Line 23"/>
            <p:cNvSpPr>
              <a:spLocks noChangeShapeType="1"/>
            </p:cNvSpPr>
            <p:nvPr/>
          </p:nvSpPr>
          <p:spPr bwMode="auto">
            <a:xfrm flipH="1">
              <a:off x="265" y="712"/>
              <a:ext cx="541" cy="0"/>
            </a:xfrm>
            <a:prstGeom prst="line">
              <a:avLst/>
            </a:prstGeom>
            <a:noFill/>
            <a:ln w="9525">
              <a:solidFill>
                <a:schemeClr val="tx1"/>
              </a:solidFill>
              <a:round/>
              <a:headEnd/>
              <a:tailEnd type="arrow" w="med" len="lg"/>
            </a:ln>
          </p:spPr>
          <p:txBody>
            <a:bodyPr/>
            <a:lstStyle/>
            <a:p>
              <a:endParaRPr lang="zh-CN" altLang="en-US"/>
            </a:p>
          </p:txBody>
        </p:sp>
        <p:graphicFrame>
          <p:nvGraphicFramePr>
            <p:cNvPr id="135185" name="Object 17"/>
            <p:cNvGraphicFramePr>
              <a:graphicFrameLocks noChangeAspect="1"/>
            </p:cNvGraphicFramePr>
            <p:nvPr/>
          </p:nvGraphicFramePr>
          <p:xfrm>
            <a:off x="2226" y="51"/>
            <a:ext cx="246" cy="219"/>
          </p:xfrm>
          <a:graphic>
            <a:graphicData uri="http://schemas.openxmlformats.org/presentationml/2006/ole">
              <p:oleObj spid="_x0000_s135185" r:id="rId8" imgW="135360" imgH="122760" progId="Equation.DSMT4">
                <p:embed/>
              </p:oleObj>
            </a:graphicData>
          </a:graphic>
        </p:graphicFrame>
        <p:graphicFrame>
          <p:nvGraphicFramePr>
            <p:cNvPr id="135186" name="Object 18"/>
            <p:cNvGraphicFramePr>
              <a:graphicFrameLocks noChangeAspect="1"/>
            </p:cNvGraphicFramePr>
            <p:nvPr/>
          </p:nvGraphicFramePr>
          <p:xfrm>
            <a:off x="689" y="0"/>
            <a:ext cx="222" cy="237"/>
          </p:xfrm>
          <a:graphic>
            <a:graphicData uri="http://schemas.openxmlformats.org/presentationml/2006/ole">
              <p:oleObj spid="_x0000_s135186" r:id="rId9" imgW="83880" imgH="103320" progId="Equation.3">
                <p:embed/>
              </p:oleObj>
            </a:graphicData>
          </a:graphic>
        </p:graphicFrame>
        <p:sp>
          <p:nvSpPr>
            <p:cNvPr id="135204" name="Line 26"/>
            <p:cNvSpPr>
              <a:spLocks noChangeShapeType="1"/>
            </p:cNvSpPr>
            <p:nvPr/>
          </p:nvSpPr>
          <p:spPr bwMode="auto">
            <a:xfrm>
              <a:off x="795" y="254"/>
              <a:ext cx="0" cy="102"/>
            </a:xfrm>
            <a:prstGeom prst="line">
              <a:avLst/>
            </a:prstGeom>
            <a:noFill/>
            <a:ln w="41275">
              <a:solidFill>
                <a:schemeClr val="tx1"/>
              </a:solidFill>
              <a:round/>
              <a:headEnd/>
              <a:tailEnd/>
            </a:ln>
          </p:spPr>
          <p:txBody>
            <a:bodyPr/>
            <a:lstStyle/>
            <a:p>
              <a:endParaRPr lang="zh-CN" altLang="en-US"/>
            </a:p>
          </p:txBody>
        </p:sp>
        <p:graphicFrame>
          <p:nvGraphicFramePr>
            <p:cNvPr id="135188" name="Object 20"/>
            <p:cNvGraphicFramePr>
              <a:graphicFrameLocks noChangeAspect="1"/>
            </p:cNvGraphicFramePr>
            <p:nvPr/>
          </p:nvGraphicFramePr>
          <p:xfrm>
            <a:off x="848" y="611"/>
            <a:ext cx="422" cy="235"/>
          </p:xfrm>
          <a:graphic>
            <a:graphicData uri="http://schemas.openxmlformats.org/presentationml/2006/ole">
              <p:oleObj spid="_x0000_s135188" r:id="rId10" imgW="258120" imgH="135720" progId="Equation.3">
                <p:embed/>
              </p:oleObj>
            </a:graphicData>
          </a:graphic>
        </p:graphicFrame>
        <p:sp>
          <p:nvSpPr>
            <p:cNvPr id="135205" name="Line 28"/>
            <p:cNvSpPr>
              <a:spLocks noChangeShapeType="1"/>
            </p:cNvSpPr>
            <p:nvPr/>
          </p:nvSpPr>
          <p:spPr bwMode="auto">
            <a:xfrm>
              <a:off x="781" y="400"/>
              <a:ext cx="0" cy="211"/>
            </a:xfrm>
            <a:prstGeom prst="line">
              <a:avLst/>
            </a:prstGeom>
            <a:noFill/>
            <a:ln w="9525">
              <a:solidFill>
                <a:schemeClr val="tx1"/>
              </a:solidFill>
              <a:round/>
              <a:headEnd/>
              <a:tailEnd/>
            </a:ln>
          </p:spPr>
          <p:txBody>
            <a:bodyPr/>
            <a:lstStyle/>
            <a:p>
              <a:endParaRPr lang="zh-CN" altLang="en-US"/>
            </a:p>
          </p:txBody>
        </p:sp>
        <p:sp>
          <p:nvSpPr>
            <p:cNvPr id="135206" name="Line 29"/>
            <p:cNvSpPr>
              <a:spLocks noChangeShapeType="1"/>
            </p:cNvSpPr>
            <p:nvPr/>
          </p:nvSpPr>
          <p:spPr bwMode="auto">
            <a:xfrm>
              <a:off x="1749" y="509"/>
              <a:ext cx="265" cy="0"/>
            </a:xfrm>
            <a:prstGeom prst="line">
              <a:avLst/>
            </a:prstGeom>
            <a:noFill/>
            <a:ln w="9525">
              <a:solidFill>
                <a:schemeClr val="tx1"/>
              </a:solidFill>
              <a:round/>
              <a:headEnd/>
              <a:tailEnd type="arrow" w="med" len="lg"/>
            </a:ln>
          </p:spPr>
          <p:txBody>
            <a:bodyPr/>
            <a:lstStyle/>
            <a:p>
              <a:endParaRPr lang="zh-CN" altLang="en-US"/>
            </a:p>
          </p:txBody>
        </p:sp>
        <p:sp>
          <p:nvSpPr>
            <p:cNvPr id="135207" name="Line 30"/>
            <p:cNvSpPr>
              <a:spLocks noChangeShapeType="1"/>
            </p:cNvSpPr>
            <p:nvPr/>
          </p:nvSpPr>
          <p:spPr bwMode="auto">
            <a:xfrm flipH="1">
              <a:off x="784" y="509"/>
              <a:ext cx="265" cy="0"/>
            </a:xfrm>
            <a:prstGeom prst="line">
              <a:avLst/>
            </a:prstGeom>
            <a:noFill/>
            <a:ln w="9525">
              <a:solidFill>
                <a:schemeClr val="tx1"/>
              </a:solidFill>
              <a:round/>
              <a:headEnd/>
              <a:tailEnd type="arrow" w="med" len="lg"/>
            </a:ln>
          </p:spPr>
          <p:txBody>
            <a:bodyPr/>
            <a:lstStyle/>
            <a:p>
              <a:endParaRPr lang="zh-CN" altLang="en-US"/>
            </a:p>
          </p:txBody>
        </p:sp>
        <p:graphicFrame>
          <p:nvGraphicFramePr>
            <p:cNvPr id="135192" name="Object 24"/>
            <p:cNvGraphicFramePr>
              <a:graphicFrameLocks noChangeAspect="1"/>
            </p:cNvGraphicFramePr>
            <p:nvPr/>
          </p:nvGraphicFramePr>
          <p:xfrm>
            <a:off x="1113" y="407"/>
            <a:ext cx="563" cy="235"/>
          </p:xfrm>
          <a:graphic>
            <a:graphicData uri="http://schemas.openxmlformats.org/presentationml/2006/ole">
              <p:oleObj spid="_x0000_s135192" r:id="rId11" imgW="354600" imgH="135720" progId="Equation.3">
                <p:embed/>
              </p:oleObj>
            </a:graphicData>
          </a:graphic>
        </p:graphicFrame>
        <p:graphicFrame>
          <p:nvGraphicFramePr>
            <p:cNvPr id="135193" name="Object 25"/>
            <p:cNvGraphicFramePr>
              <a:graphicFrameLocks noChangeAspect="1"/>
            </p:cNvGraphicFramePr>
            <p:nvPr/>
          </p:nvGraphicFramePr>
          <p:xfrm>
            <a:off x="192" y="130"/>
            <a:ext cx="176" cy="206"/>
          </p:xfrm>
          <a:graphic>
            <a:graphicData uri="http://schemas.openxmlformats.org/presentationml/2006/ole">
              <p:oleObj spid="_x0000_s135193" r:id="rId12" imgW="109800" imgH="13572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9746"/>
                                        </p:tgtEl>
                                        <p:attrNameLst>
                                          <p:attrName>style.visibility</p:attrName>
                                        </p:attrNameLst>
                                      </p:cBhvr>
                                      <p:to>
                                        <p:strVal val="visible"/>
                                      </p:to>
                                    </p:set>
                                    <p:animEffect transition="in" filter="wipe(left)">
                                      <p:cBhvr>
                                        <p:cTn id="7" dur="500"/>
                                        <p:tgtEl>
                                          <p:spTgt spid="1597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9747"/>
                                        </p:tgtEl>
                                        <p:attrNameLst>
                                          <p:attrName>style.visibility</p:attrName>
                                        </p:attrNameLst>
                                      </p:cBhvr>
                                      <p:to>
                                        <p:strVal val="visible"/>
                                      </p:to>
                                    </p:set>
                                    <p:animEffect transition="in" filter="wipe(left)">
                                      <p:cBhvr>
                                        <p:cTn id="12" dur="500"/>
                                        <p:tgtEl>
                                          <p:spTgt spid="1597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15975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59748"/>
                                        </p:tgtEl>
                                        <p:attrNameLst>
                                          <p:attrName>style.visibility</p:attrName>
                                        </p:attrNameLst>
                                      </p:cBhvr>
                                      <p:to>
                                        <p:strVal val="visible"/>
                                      </p:to>
                                    </p:set>
                                    <p:animEffect transition="in" filter="wipe(left)">
                                      <p:cBhvr>
                                        <p:cTn id="21" dur="500"/>
                                        <p:tgtEl>
                                          <p:spTgt spid="15974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59749"/>
                                        </p:tgtEl>
                                        <p:attrNameLst>
                                          <p:attrName>style.visibility</p:attrName>
                                        </p:attrNameLst>
                                      </p:cBhvr>
                                      <p:to>
                                        <p:strVal val="visible"/>
                                      </p:to>
                                    </p:set>
                                    <p:animEffect transition="in" filter="wipe(left)">
                                      <p:cBhvr>
                                        <p:cTn id="26" dur="500"/>
                                        <p:tgtEl>
                                          <p:spTgt spid="15974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59750"/>
                                        </p:tgtEl>
                                        <p:attrNameLst>
                                          <p:attrName>style.visibility</p:attrName>
                                        </p:attrNameLst>
                                      </p:cBhvr>
                                      <p:to>
                                        <p:strVal val="visible"/>
                                      </p:to>
                                    </p:set>
                                    <p:animEffect transition="in" filter="wipe(left)">
                                      <p:cBhvr>
                                        <p:cTn id="31" dur="500"/>
                                        <p:tgtEl>
                                          <p:spTgt spid="15975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59751"/>
                                        </p:tgtEl>
                                        <p:attrNameLst>
                                          <p:attrName>style.visibility</p:attrName>
                                        </p:attrNameLst>
                                      </p:cBhvr>
                                      <p:to>
                                        <p:strVal val="visible"/>
                                      </p:to>
                                    </p:set>
                                    <p:animEffect transition="in" filter="wipe(left)">
                                      <p:cBhvr>
                                        <p:cTn id="36" dur="500"/>
                                        <p:tgtEl>
                                          <p:spTgt spid="15975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59752"/>
                                        </p:tgtEl>
                                        <p:attrNameLst>
                                          <p:attrName>style.visibility</p:attrName>
                                        </p:attrNameLst>
                                      </p:cBhvr>
                                      <p:to>
                                        <p:strVal val="visible"/>
                                      </p:to>
                                    </p:set>
                                    <p:animEffect transition="in" filter="wipe(left)">
                                      <p:cBhvr>
                                        <p:cTn id="41" dur="500"/>
                                        <p:tgtEl>
                                          <p:spTgt spid="159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6" grpId="0"/>
      <p:bldP spid="159747" grpId="0"/>
      <p:bldP spid="159749" grpId="0"/>
      <p:bldP spid="159751"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0770" name="Object 2"/>
          <p:cNvGraphicFramePr>
            <a:graphicFrameLocks noChangeAspect="1"/>
          </p:cNvGraphicFramePr>
          <p:nvPr/>
        </p:nvGraphicFramePr>
        <p:xfrm>
          <a:off x="1765300" y="1001713"/>
          <a:ext cx="1989138" cy="590550"/>
        </p:xfrm>
        <a:graphic>
          <a:graphicData uri="http://schemas.openxmlformats.org/presentationml/2006/ole">
            <p:oleObj spid="_x0000_s133122" r:id="rId3" imgW="1090080" imgH="271440" progId="Equation.DSMT4">
              <p:embed/>
            </p:oleObj>
          </a:graphicData>
        </a:graphic>
      </p:graphicFrame>
      <p:sp>
        <p:nvSpPr>
          <p:cNvPr id="160771" name="Text Box 3"/>
          <p:cNvSpPr txBox="1">
            <a:spLocks noChangeArrowheads="1"/>
          </p:cNvSpPr>
          <p:nvPr/>
        </p:nvSpPr>
        <p:spPr bwMode="auto">
          <a:xfrm>
            <a:off x="1365250" y="1722438"/>
            <a:ext cx="1774825" cy="344487"/>
          </a:xfrm>
          <a:prstGeom prst="rect">
            <a:avLst/>
          </a:prstGeom>
          <a:noFill/>
          <a:ln w="9525">
            <a:noFill/>
            <a:miter lim="800000"/>
            <a:headEnd/>
            <a:tailEnd/>
          </a:ln>
        </p:spPr>
        <p:txBody>
          <a:bodyPr wrap="none" lIns="68580" tIns="34290" rIns="68580" bIns="34290">
            <a:spAutoFit/>
          </a:bodyPr>
          <a:lstStyle/>
          <a:p>
            <a:pPr defTabSz="685800">
              <a:buFont typeface="Arial" charset="0"/>
              <a:buNone/>
            </a:pPr>
            <a:r>
              <a:rPr kumimoji="0" lang="en-US" altLang="zh-CN" sz="1800" i="1">
                <a:solidFill>
                  <a:srgbClr val="00334D"/>
                </a:solidFill>
                <a:ea typeface="微软雅黑" pitchFamily="34" charset="-122"/>
              </a:rPr>
              <a:t>B</a:t>
            </a:r>
            <a:r>
              <a:rPr kumimoji="0" lang="zh-CN" altLang="en-US" sz="1800">
                <a:solidFill>
                  <a:srgbClr val="00334D"/>
                </a:solidFill>
                <a:ea typeface="微软雅黑" pitchFamily="34" charset="-122"/>
              </a:rPr>
              <a:t>点的振动方程 :</a:t>
            </a:r>
          </a:p>
        </p:txBody>
      </p:sp>
      <p:graphicFrame>
        <p:nvGraphicFramePr>
          <p:cNvPr id="160772" name="Object 4"/>
          <p:cNvGraphicFramePr>
            <a:graphicFrameLocks noChangeAspect="1"/>
          </p:cNvGraphicFramePr>
          <p:nvPr/>
        </p:nvGraphicFramePr>
        <p:xfrm>
          <a:off x="3211513" y="1670050"/>
          <a:ext cx="1760537" cy="328613"/>
        </p:xfrm>
        <a:graphic>
          <a:graphicData uri="http://schemas.openxmlformats.org/presentationml/2006/ole">
            <p:oleObj spid="_x0000_s133124" r:id="rId4" imgW="1090080" imgH="174600" progId="Equation.DSMT4">
              <p:embed/>
            </p:oleObj>
          </a:graphicData>
        </a:graphic>
      </p:graphicFrame>
      <p:sp>
        <p:nvSpPr>
          <p:cNvPr id="160773" name="Text Box 5"/>
          <p:cNvSpPr txBox="1">
            <a:spLocks noChangeArrowheads="1"/>
          </p:cNvSpPr>
          <p:nvPr/>
        </p:nvSpPr>
        <p:spPr bwMode="auto">
          <a:xfrm>
            <a:off x="1365250" y="2203450"/>
            <a:ext cx="3201988" cy="346075"/>
          </a:xfrm>
          <a:prstGeom prst="rect">
            <a:avLst/>
          </a:prstGeom>
          <a:noFill/>
          <a:ln w="9525">
            <a:noFill/>
            <a:miter lim="800000"/>
            <a:headEnd/>
            <a:tailEnd/>
          </a:ln>
        </p:spPr>
        <p:txBody>
          <a:bodyPr wrap="none" lIns="68580" tIns="34290" rIns="68580" bIns="34290">
            <a:spAutoFit/>
          </a:bodyPr>
          <a:lstStyle/>
          <a:p>
            <a:pPr defTabSz="685800">
              <a:buFont typeface="Arial" charset="0"/>
              <a:buNone/>
            </a:pPr>
            <a:r>
              <a:rPr kumimoji="0" lang="zh-CN" altLang="en-US" sz="1800">
                <a:solidFill>
                  <a:srgbClr val="00334D"/>
                </a:solidFill>
                <a:ea typeface="微软雅黑" pitchFamily="34" charset="-122"/>
              </a:rPr>
              <a:t>在</a:t>
            </a:r>
            <a:r>
              <a:rPr kumimoji="0" lang="en-US" altLang="zh-CN" sz="1800" i="1">
                <a:solidFill>
                  <a:srgbClr val="00334D"/>
                </a:solidFill>
                <a:ea typeface="微软雅黑" pitchFamily="34" charset="-122"/>
              </a:rPr>
              <a:t>X</a:t>
            </a:r>
            <a:r>
              <a:rPr kumimoji="0" lang="zh-CN" altLang="en-US" sz="1800">
                <a:solidFill>
                  <a:srgbClr val="00334D"/>
                </a:solidFill>
                <a:ea typeface="微软雅黑" pitchFamily="34" charset="-122"/>
              </a:rPr>
              <a:t>轴上</a:t>
            </a:r>
            <a:r>
              <a:rPr kumimoji="0" lang="en-US" altLang="zh-CN" sz="1800">
                <a:solidFill>
                  <a:srgbClr val="00334D"/>
                </a:solidFill>
                <a:ea typeface="微软雅黑" pitchFamily="34" charset="-122"/>
              </a:rPr>
              <a:t>B</a:t>
            </a:r>
            <a:r>
              <a:rPr kumimoji="0" lang="zh-CN" altLang="en-US" sz="1800">
                <a:solidFill>
                  <a:srgbClr val="00334D"/>
                </a:solidFill>
                <a:ea typeface="微软雅黑" pitchFamily="34" charset="-122"/>
              </a:rPr>
              <a:t>点发出的行波方程：</a:t>
            </a:r>
          </a:p>
        </p:txBody>
      </p:sp>
      <p:graphicFrame>
        <p:nvGraphicFramePr>
          <p:cNvPr id="160774" name="Object 6"/>
          <p:cNvGraphicFramePr>
            <a:graphicFrameLocks noChangeAspect="1"/>
          </p:cNvGraphicFramePr>
          <p:nvPr/>
        </p:nvGraphicFramePr>
        <p:xfrm>
          <a:off x="2640013" y="2609850"/>
          <a:ext cx="2360612" cy="498475"/>
        </p:xfrm>
        <a:graphic>
          <a:graphicData uri="http://schemas.openxmlformats.org/presentationml/2006/ole">
            <p:oleObj spid="_x0000_s133126" r:id="rId5" imgW="1367280" imgH="271440" progId="Equation.DSMT4">
              <p:embed/>
            </p:oleObj>
          </a:graphicData>
        </a:graphic>
      </p:graphicFrame>
      <p:sp>
        <p:nvSpPr>
          <p:cNvPr id="160775" name="Text Box 7"/>
          <p:cNvSpPr txBox="1">
            <a:spLocks noChangeArrowheads="1"/>
          </p:cNvSpPr>
          <p:nvPr/>
        </p:nvSpPr>
        <p:spPr bwMode="auto">
          <a:xfrm>
            <a:off x="1314450" y="3241675"/>
            <a:ext cx="6286500" cy="676275"/>
          </a:xfrm>
          <a:prstGeom prst="rect">
            <a:avLst/>
          </a:prstGeom>
          <a:noFill/>
          <a:ln w="9525">
            <a:noFill/>
            <a:miter lim="800000"/>
            <a:headEnd/>
            <a:tailEnd/>
          </a:ln>
        </p:spPr>
        <p:txBody>
          <a:bodyPr lIns="68580" tIns="34290" rIns="68580" bIns="34290">
            <a:spAutoFit/>
          </a:bodyPr>
          <a:lstStyle/>
          <a:p>
            <a:pPr defTabSz="685800" eaLnBrk="0" hangingPunct="0">
              <a:lnSpc>
                <a:spcPct val="110000"/>
              </a:lnSpc>
              <a:buFont typeface="Arial" charset="0"/>
              <a:buNone/>
            </a:pPr>
            <a:r>
              <a:rPr kumimoji="0" lang="zh-CN" altLang="en-US" sz="1800">
                <a:solidFill>
                  <a:srgbClr val="00334D"/>
                </a:solidFill>
                <a:ea typeface="微软雅黑" pitchFamily="34" charset="-122"/>
              </a:rPr>
              <a:t>因为两波同频率，同振幅，同方向振动，所以相干为静止的点满足：</a:t>
            </a:r>
          </a:p>
        </p:txBody>
      </p:sp>
      <p:graphicFrame>
        <p:nvGraphicFramePr>
          <p:cNvPr id="160776" name="Object 8"/>
          <p:cNvGraphicFramePr>
            <a:graphicFrameLocks noChangeAspect="1"/>
          </p:cNvGraphicFramePr>
          <p:nvPr/>
        </p:nvGraphicFramePr>
        <p:xfrm>
          <a:off x="3051175" y="3719513"/>
          <a:ext cx="2652713" cy="503237"/>
        </p:xfrm>
        <a:graphic>
          <a:graphicData uri="http://schemas.openxmlformats.org/presentationml/2006/ole">
            <p:oleObj spid="_x0000_s133128" r:id="rId6" imgW="1651320" imgH="271440" progId="Equation.DSMT4">
              <p:embed/>
            </p:oleObj>
          </a:graphicData>
        </a:graphic>
      </p:graphicFrame>
      <p:graphicFrame>
        <p:nvGraphicFramePr>
          <p:cNvPr id="160777" name="Object 9"/>
          <p:cNvGraphicFramePr>
            <a:graphicFrameLocks noChangeAspect="1"/>
          </p:cNvGraphicFramePr>
          <p:nvPr/>
        </p:nvGraphicFramePr>
        <p:xfrm>
          <a:off x="4437063" y="4287838"/>
          <a:ext cx="2009775" cy="457200"/>
        </p:xfrm>
        <a:graphic>
          <a:graphicData uri="http://schemas.openxmlformats.org/presentationml/2006/ole">
            <p:oleObj spid="_x0000_s133129" r:id="rId7" imgW="1045080" imgH="174600" progId="Equation.DSMT4">
              <p:embed/>
            </p:oleObj>
          </a:graphicData>
        </a:graphic>
      </p:graphicFrame>
      <p:grpSp>
        <p:nvGrpSpPr>
          <p:cNvPr id="160778" name="组合 160777"/>
          <p:cNvGrpSpPr>
            <a:grpSpLocks/>
          </p:cNvGrpSpPr>
          <p:nvPr/>
        </p:nvGrpSpPr>
        <p:grpSpPr bwMode="auto">
          <a:xfrm>
            <a:off x="5141913" y="995363"/>
            <a:ext cx="3028950" cy="1008062"/>
            <a:chOff x="0" y="0"/>
            <a:chExt cx="2544" cy="846"/>
          </a:xfrm>
        </p:grpSpPr>
        <p:graphicFrame>
          <p:nvGraphicFramePr>
            <p:cNvPr id="133131" name="Object 11"/>
            <p:cNvGraphicFramePr>
              <a:graphicFrameLocks noChangeAspect="1"/>
            </p:cNvGraphicFramePr>
            <p:nvPr/>
          </p:nvGraphicFramePr>
          <p:xfrm>
            <a:off x="2067" y="458"/>
            <a:ext cx="211" cy="219"/>
          </p:xfrm>
          <a:graphic>
            <a:graphicData uri="http://schemas.openxmlformats.org/presentationml/2006/ole">
              <p:oleObj spid="_x0000_s133131" r:id="rId8" imgW="109800" imgH="122760" progId="Equation.3">
                <p:embed/>
              </p:oleObj>
            </a:graphicData>
          </a:graphic>
        </p:graphicFrame>
        <p:sp>
          <p:nvSpPr>
            <p:cNvPr id="133151" name="Line 30"/>
            <p:cNvSpPr>
              <a:spLocks noChangeShapeType="1"/>
            </p:cNvSpPr>
            <p:nvPr/>
          </p:nvSpPr>
          <p:spPr bwMode="auto">
            <a:xfrm>
              <a:off x="0" y="356"/>
              <a:ext cx="2544" cy="0"/>
            </a:xfrm>
            <a:prstGeom prst="line">
              <a:avLst/>
            </a:prstGeom>
            <a:noFill/>
            <a:ln w="41275">
              <a:solidFill>
                <a:schemeClr val="tx1"/>
              </a:solidFill>
              <a:round/>
              <a:headEnd/>
              <a:tailEnd type="arrow" w="med" len="lg"/>
            </a:ln>
          </p:spPr>
          <p:txBody>
            <a:bodyPr/>
            <a:lstStyle/>
            <a:p>
              <a:endParaRPr lang="zh-CN" altLang="en-US"/>
            </a:p>
          </p:txBody>
        </p:sp>
        <p:graphicFrame>
          <p:nvGraphicFramePr>
            <p:cNvPr id="133133" name="Object 13"/>
            <p:cNvGraphicFramePr>
              <a:graphicFrameLocks noChangeAspect="1"/>
            </p:cNvGraphicFramePr>
            <p:nvPr/>
          </p:nvGraphicFramePr>
          <p:xfrm>
            <a:off x="265" y="407"/>
            <a:ext cx="211" cy="218"/>
          </p:xfrm>
          <a:graphic>
            <a:graphicData uri="http://schemas.openxmlformats.org/presentationml/2006/ole">
              <p:oleObj spid="_x0000_s133133" r:id="rId9" imgW="109800" imgH="122760" progId="Equation.3">
                <p:embed/>
              </p:oleObj>
            </a:graphicData>
          </a:graphic>
        </p:graphicFrame>
        <p:sp>
          <p:nvSpPr>
            <p:cNvPr id="133152" name="Line 32"/>
            <p:cNvSpPr>
              <a:spLocks noChangeShapeType="1"/>
            </p:cNvSpPr>
            <p:nvPr/>
          </p:nvSpPr>
          <p:spPr bwMode="auto">
            <a:xfrm>
              <a:off x="2014" y="407"/>
              <a:ext cx="0" cy="356"/>
            </a:xfrm>
            <a:prstGeom prst="line">
              <a:avLst/>
            </a:prstGeom>
            <a:noFill/>
            <a:ln w="9525">
              <a:solidFill>
                <a:schemeClr val="tx1"/>
              </a:solidFill>
              <a:round/>
              <a:headEnd/>
              <a:tailEnd/>
            </a:ln>
          </p:spPr>
          <p:txBody>
            <a:bodyPr/>
            <a:lstStyle/>
            <a:p>
              <a:endParaRPr lang="zh-CN" altLang="en-US"/>
            </a:p>
          </p:txBody>
        </p:sp>
        <p:sp>
          <p:nvSpPr>
            <p:cNvPr id="133153" name="Line 33"/>
            <p:cNvSpPr>
              <a:spLocks noChangeShapeType="1"/>
            </p:cNvSpPr>
            <p:nvPr/>
          </p:nvSpPr>
          <p:spPr bwMode="auto">
            <a:xfrm>
              <a:off x="251" y="417"/>
              <a:ext cx="0" cy="356"/>
            </a:xfrm>
            <a:prstGeom prst="line">
              <a:avLst/>
            </a:prstGeom>
            <a:noFill/>
            <a:ln w="9525">
              <a:solidFill>
                <a:schemeClr val="tx1"/>
              </a:solidFill>
              <a:round/>
              <a:headEnd/>
              <a:tailEnd/>
            </a:ln>
          </p:spPr>
          <p:txBody>
            <a:bodyPr/>
            <a:lstStyle/>
            <a:p>
              <a:endParaRPr lang="zh-CN" altLang="en-US"/>
            </a:p>
          </p:txBody>
        </p:sp>
        <p:sp>
          <p:nvSpPr>
            <p:cNvPr id="133154" name="Line 34"/>
            <p:cNvSpPr>
              <a:spLocks noChangeShapeType="1"/>
            </p:cNvSpPr>
            <p:nvPr/>
          </p:nvSpPr>
          <p:spPr bwMode="auto">
            <a:xfrm>
              <a:off x="1431" y="712"/>
              <a:ext cx="541" cy="0"/>
            </a:xfrm>
            <a:prstGeom prst="line">
              <a:avLst/>
            </a:prstGeom>
            <a:noFill/>
            <a:ln w="9525">
              <a:solidFill>
                <a:schemeClr val="tx1"/>
              </a:solidFill>
              <a:round/>
              <a:headEnd/>
              <a:tailEnd type="arrow" w="med" len="lg"/>
            </a:ln>
          </p:spPr>
          <p:txBody>
            <a:bodyPr/>
            <a:lstStyle/>
            <a:p>
              <a:endParaRPr lang="zh-CN" altLang="en-US"/>
            </a:p>
          </p:txBody>
        </p:sp>
        <p:sp>
          <p:nvSpPr>
            <p:cNvPr id="133155" name="Line 35"/>
            <p:cNvSpPr>
              <a:spLocks noChangeShapeType="1"/>
            </p:cNvSpPr>
            <p:nvPr/>
          </p:nvSpPr>
          <p:spPr bwMode="auto">
            <a:xfrm flipH="1">
              <a:off x="265" y="712"/>
              <a:ext cx="541" cy="0"/>
            </a:xfrm>
            <a:prstGeom prst="line">
              <a:avLst/>
            </a:prstGeom>
            <a:noFill/>
            <a:ln w="9525">
              <a:solidFill>
                <a:schemeClr val="tx1"/>
              </a:solidFill>
              <a:round/>
              <a:headEnd/>
              <a:tailEnd type="arrow" w="med" len="lg"/>
            </a:ln>
          </p:spPr>
          <p:txBody>
            <a:bodyPr/>
            <a:lstStyle/>
            <a:p>
              <a:endParaRPr lang="zh-CN" altLang="en-US"/>
            </a:p>
          </p:txBody>
        </p:sp>
        <p:graphicFrame>
          <p:nvGraphicFramePr>
            <p:cNvPr id="133138" name="Object 18"/>
            <p:cNvGraphicFramePr>
              <a:graphicFrameLocks noChangeAspect="1"/>
            </p:cNvGraphicFramePr>
            <p:nvPr/>
          </p:nvGraphicFramePr>
          <p:xfrm>
            <a:off x="2226" y="51"/>
            <a:ext cx="246" cy="219"/>
          </p:xfrm>
          <a:graphic>
            <a:graphicData uri="http://schemas.openxmlformats.org/presentationml/2006/ole">
              <p:oleObj spid="_x0000_s133138" r:id="rId10" imgW="135360" imgH="122760" progId="Equation.3">
                <p:embed/>
              </p:oleObj>
            </a:graphicData>
          </a:graphic>
        </p:graphicFrame>
        <p:graphicFrame>
          <p:nvGraphicFramePr>
            <p:cNvPr id="133139" name="Object 19"/>
            <p:cNvGraphicFramePr>
              <a:graphicFrameLocks noChangeAspect="1"/>
            </p:cNvGraphicFramePr>
            <p:nvPr/>
          </p:nvGraphicFramePr>
          <p:xfrm>
            <a:off x="689" y="0"/>
            <a:ext cx="222" cy="237"/>
          </p:xfrm>
          <a:graphic>
            <a:graphicData uri="http://schemas.openxmlformats.org/presentationml/2006/ole">
              <p:oleObj spid="_x0000_s133139" r:id="rId11" imgW="83880" imgH="103320" progId="Equation.3">
                <p:embed/>
              </p:oleObj>
            </a:graphicData>
          </a:graphic>
        </p:graphicFrame>
        <p:sp>
          <p:nvSpPr>
            <p:cNvPr id="133156" name="Line 38"/>
            <p:cNvSpPr>
              <a:spLocks noChangeShapeType="1"/>
            </p:cNvSpPr>
            <p:nvPr/>
          </p:nvSpPr>
          <p:spPr bwMode="auto">
            <a:xfrm>
              <a:off x="795" y="254"/>
              <a:ext cx="0" cy="102"/>
            </a:xfrm>
            <a:prstGeom prst="line">
              <a:avLst/>
            </a:prstGeom>
            <a:noFill/>
            <a:ln w="41275">
              <a:solidFill>
                <a:schemeClr val="tx1"/>
              </a:solidFill>
              <a:round/>
              <a:headEnd/>
              <a:tailEnd/>
            </a:ln>
          </p:spPr>
          <p:txBody>
            <a:bodyPr/>
            <a:lstStyle/>
            <a:p>
              <a:endParaRPr lang="zh-CN" altLang="en-US"/>
            </a:p>
          </p:txBody>
        </p:sp>
        <p:graphicFrame>
          <p:nvGraphicFramePr>
            <p:cNvPr id="133141" name="Object 21"/>
            <p:cNvGraphicFramePr>
              <a:graphicFrameLocks noChangeAspect="1"/>
            </p:cNvGraphicFramePr>
            <p:nvPr/>
          </p:nvGraphicFramePr>
          <p:xfrm>
            <a:off x="848" y="611"/>
            <a:ext cx="422" cy="235"/>
          </p:xfrm>
          <a:graphic>
            <a:graphicData uri="http://schemas.openxmlformats.org/presentationml/2006/ole">
              <p:oleObj spid="_x0000_s133141" r:id="rId12" imgW="258120" imgH="135720" progId="Equation.3">
                <p:embed/>
              </p:oleObj>
            </a:graphicData>
          </a:graphic>
        </p:graphicFrame>
        <p:sp>
          <p:nvSpPr>
            <p:cNvPr id="133157" name="Line 40"/>
            <p:cNvSpPr>
              <a:spLocks noChangeShapeType="1"/>
            </p:cNvSpPr>
            <p:nvPr/>
          </p:nvSpPr>
          <p:spPr bwMode="auto">
            <a:xfrm>
              <a:off x="781" y="400"/>
              <a:ext cx="0" cy="211"/>
            </a:xfrm>
            <a:prstGeom prst="line">
              <a:avLst/>
            </a:prstGeom>
            <a:noFill/>
            <a:ln w="9525">
              <a:solidFill>
                <a:schemeClr val="tx1"/>
              </a:solidFill>
              <a:round/>
              <a:headEnd/>
              <a:tailEnd/>
            </a:ln>
          </p:spPr>
          <p:txBody>
            <a:bodyPr/>
            <a:lstStyle/>
            <a:p>
              <a:endParaRPr lang="zh-CN" altLang="en-US"/>
            </a:p>
          </p:txBody>
        </p:sp>
        <p:sp>
          <p:nvSpPr>
            <p:cNvPr id="133158" name="Line 41"/>
            <p:cNvSpPr>
              <a:spLocks noChangeShapeType="1"/>
            </p:cNvSpPr>
            <p:nvPr/>
          </p:nvSpPr>
          <p:spPr bwMode="auto">
            <a:xfrm>
              <a:off x="1749" y="509"/>
              <a:ext cx="265" cy="0"/>
            </a:xfrm>
            <a:prstGeom prst="line">
              <a:avLst/>
            </a:prstGeom>
            <a:noFill/>
            <a:ln w="9525">
              <a:solidFill>
                <a:schemeClr val="tx1"/>
              </a:solidFill>
              <a:round/>
              <a:headEnd/>
              <a:tailEnd type="arrow" w="med" len="lg"/>
            </a:ln>
          </p:spPr>
          <p:txBody>
            <a:bodyPr/>
            <a:lstStyle/>
            <a:p>
              <a:endParaRPr lang="zh-CN" altLang="en-US"/>
            </a:p>
          </p:txBody>
        </p:sp>
        <p:sp>
          <p:nvSpPr>
            <p:cNvPr id="133159" name="Line 42"/>
            <p:cNvSpPr>
              <a:spLocks noChangeShapeType="1"/>
            </p:cNvSpPr>
            <p:nvPr/>
          </p:nvSpPr>
          <p:spPr bwMode="auto">
            <a:xfrm flipH="1">
              <a:off x="784" y="509"/>
              <a:ext cx="265" cy="0"/>
            </a:xfrm>
            <a:prstGeom prst="line">
              <a:avLst/>
            </a:prstGeom>
            <a:noFill/>
            <a:ln w="9525">
              <a:solidFill>
                <a:schemeClr val="tx1"/>
              </a:solidFill>
              <a:round/>
              <a:headEnd/>
              <a:tailEnd type="arrow" w="med" len="lg"/>
            </a:ln>
          </p:spPr>
          <p:txBody>
            <a:bodyPr/>
            <a:lstStyle/>
            <a:p>
              <a:endParaRPr lang="zh-CN" altLang="en-US"/>
            </a:p>
          </p:txBody>
        </p:sp>
        <p:graphicFrame>
          <p:nvGraphicFramePr>
            <p:cNvPr id="133145" name="Object 25"/>
            <p:cNvGraphicFramePr>
              <a:graphicFrameLocks noChangeAspect="1"/>
            </p:cNvGraphicFramePr>
            <p:nvPr/>
          </p:nvGraphicFramePr>
          <p:xfrm>
            <a:off x="1113" y="407"/>
            <a:ext cx="563" cy="235"/>
          </p:xfrm>
          <a:graphic>
            <a:graphicData uri="http://schemas.openxmlformats.org/presentationml/2006/ole">
              <p:oleObj spid="_x0000_s133145" r:id="rId13" imgW="354600" imgH="135720" progId="Equation.3">
                <p:embed/>
              </p:oleObj>
            </a:graphicData>
          </a:graphic>
        </p:graphicFrame>
        <p:graphicFrame>
          <p:nvGraphicFramePr>
            <p:cNvPr id="133146" name="Object 26"/>
            <p:cNvGraphicFramePr>
              <a:graphicFrameLocks noChangeAspect="1"/>
            </p:cNvGraphicFramePr>
            <p:nvPr/>
          </p:nvGraphicFramePr>
          <p:xfrm>
            <a:off x="192" y="130"/>
            <a:ext cx="176" cy="206"/>
          </p:xfrm>
          <a:graphic>
            <a:graphicData uri="http://schemas.openxmlformats.org/presentationml/2006/ole">
              <p:oleObj spid="_x0000_s133146" r:id="rId14" imgW="109800" imgH="13572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077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160770"/>
                                        </p:tgtEl>
                                        <p:attrNameLst>
                                          <p:attrName>style.visibility</p:attrName>
                                        </p:attrNameLst>
                                      </p:cBhvr>
                                      <p:to>
                                        <p:strVal val="visible"/>
                                      </p:to>
                                    </p:set>
                                    <p:animEffect transition="in" filter="wipe(left)">
                                      <p:cBhvr>
                                        <p:cTn id="11" dur="500"/>
                                        <p:tgtEl>
                                          <p:spTgt spid="16077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0771"/>
                                        </p:tgtEl>
                                        <p:attrNameLst>
                                          <p:attrName>style.visibility</p:attrName>
                                        </p:attrNameLst>
                                      </p:cBhvr>
                                      <p:to>
                                        <p:strVal val="visible"/>
                                      </p:to>
                                    </p:set>
                                    <p:animEffect transition="in" filter="wipe(left)">
                                      <p:cBhvr>
                                        <p:cTn id="16" dur="500"/>
                                        <p:tgtEl>
                                          <p:spTgt spid="16077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60772"/>
                                        </p:tgtEl>
                                        <p:attrNameLst>
                                          <p:attrName>style.visibility</p:attrName>
                                        </p:attrNameLst>
                                      </p:cBhvr>
                                      <p:to>
                                        <p:strVal val="visible"/>
                                      </p:to>
                                    </p:set>
                                    <p:animEffect transition="in" filter="wipe(left)">
                                      <p:cBhvr>
                                        <p:cTn id="21" dur="500"/>
                                        <p:tgtEl>
                                          <p:spTgt spid="16077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0773"/>
                                        </p:tgtEl>
                                        <p:attrNameLst>
                                          <p:attrName>style.visibility</p:attrName>
                                        </p:attrNameLst>
                                      </p:cBhvr>
                                      <p:to>
                                        <p:strVal val="visible"/>
                                      </p:to>
                                    </p:set>
                                    <p:animEffect transition="in" filter="wipe(left)">
                                      <p:cBhvr>
                                        <p:cTn id="26" dur="500"/>
                                        <p:tgtEl>
                                          <p:spTgt spid="16077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60774"/>
                                        </p:tgtEl>
                                        <p:attrNameLst>
                                          <p:attrName>style.visibility</p:attrName>
                                        </p:attrNameLst>
                                      </p:cBhvr>
                                      <p:to>
                                        <p:strVal val="visible"/>
                                      </p:to>
                                    </p:set>
                                    <p:animEffect transition="in" filter="wipe(left)">
                                      <p:cBhvr>
                                        <p:cTn id="31" dur="500"/>
                                        <p:tgtEl>
                                          <p:spTgt spid="16077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0775"/>
                                        </p:tgtEl>
                                        <p:attrNameLst>
                                          <p:attrName>style.visibility</p:attrName>
                                        </p:attrNameLst>
                                      </p:cBhvr>
                                      <p:to>
                                        <p:strVal val="visible"/>
                                      </p:to>
                                    </p:set>
                                    <p:animEffect transition="in" filter="wipe(left)">
                                      <p:cBhvr>
                                        <p:cTn id="36" dur="500"/>
                                        <p:tgtEl>
                                          <p:spTgt spid="16077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60776"/>
                                        </p:tgtEl>
                                        <p:attrNameLst>
                                          <p:attrName>style.visibility</p:attrName>
                                        </p:attrNameLst>
                                      </p:cBhvr>
                                      <p:to>
                                        <p:strVal val="visible"/>
                                      </p:to>
                                    </p:set>
                                    <p:animEffect transition="in" filter="wipe(left)">
                                      <p:cBhvr>
                                        <p:cTn id="41" dur="500"/>
                                        <p:tgtEl>
                                          <p:spTgt spid="16077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160777"/>
                                        </p:tgtEl>
                                        <p:attrNameLst>
                                          <p:attrName>style.visibility</p:attrName>
                                        </p:attrNameLst>
                                      </p:cBhvr>
                                      <p:to>
                                        <p:strVal val="visible"/>
                                      </p:to>
                                    </p:set>
                                    <p:animEffect transition="in" filter="wipe(left)">
                                      <p:cBhvr>
                                        <p:cTn id="46" dur="500"/>
                                        <p:tgtEl>
                                          <p:spTgt spid="160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p:bldP spid="160773" grpId="0"/>
      <p:bldP spid="16077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2"/>
          <p:cNvSpPr txBox="1">
            <a:spLocks noChangeArrowheads="1"/>
          </p:cNvSpPr>
          <p:nvPr/>
        </p:nvSpPr>
        <p:spPr bwMode="auto">
          <a:xfrm>
            <a:off x="1428750" y="1963738"/>
            <a:ext cx="2817813" cy="392112"/>
          </a:xfrm>
          <a:prstGeom prst="rect">
            <a:avLst/>
          </a:prstGeom>
          <a:noFill/>
          <a:ln w="9525">
            <a:noFill/>
            <a:miter lim="800000"/>
            <a:headEnd/>
            <a:tailEnd/>
          </a:ln>
        </p:spPr>
        <p:txBody>
          <a:bodyPr wrap="none" lIns="68580" tIns="34290" rIns="68580" bIns="34290">
            <a:spAutoFit/>
          </a:bodyPr>
          <a:lstStyle/>
          <a:p>
            <a:pPr defTabSz="685800">
              <a:buFont typeface="Arial" charset="0"/>
              <a:buNone/>
            </a:pPr>
            <a:r>
              <a:rPr kumimoji="0" lang="zh-CN" altLang="en-US" sz="2100" b="1">
                <a:latin typeface="楷体_GB2312"/>
                <a:ea typeface="楷体_GB2312"/>
                <a:cs typeface="楷体_GB2312"/>
              </a:rPr>
              <a:t>相干相消的点需满足：</a:t>
            </a:r>
          </a:p>
        </p:txBody>
      </p:sp>
      <p:graphicFrame>
        <p:nvGraphicFramePr>
          <p:cNvPr id="161795" name="Object 3"/>
          <p:cNvGraphicFramePr>
            <a:graphicFrameLocks noChangeAspect="1"/>
          </p:cNvGraphicFramePr>
          <p:nvPr/>
        </p:nvGraphicFramePr>
        <p:xfrm>
          <a:off x="4229100" y="1966913"/>
          <a:ext cx="1828800" cy="352425"/>
        </p:xfrm>
        <a:graphic>
          <a:graphicData uri="http://schemas.openxmlformats.org/presentationml/2006/ole">
            <p:oleObj spid="_x0000_s134147" r:id="rId3" imgW="838440" imgH="135720" progId="Equation.DSMT4">
              <p:embed/>
            </p:oleObj>
          </a:graphicData>
        </a:graphic>
      </p:graphicFrame>
      <p:graphicFrame>
        <p:nvGraphicFramePr>
          <p:cNvPr id="161796" name="Object 4"/>
          <p:cNvGraphicFramePr>
            <a:graphicFrameLocks noChangeAspect="1"/>
          </p:cNvGraphicFramePr>
          <p:nvPr/>
        </p:nvGraphicFramePr>
        <p:xfrm>
          <a:off x="2228850" y="2584450"/>
          <a:ext cx="1196975" cy="573088"/>
        </p:xfrm>
        <a:graphic>
          <a:graphicData uri="http://schemas.openxmlformats.org/presentationml/2006/ole">
            <p:oleObj spid="_x0000_s134148" r:id="rId4" imgW="703080" imgH="355680" progId="Equation.DSMT4">
              <p:embed/>
            </p:oleObj>
          </a:graphicData>
        </a:graphic>
      </p:graphicFrame>
      <p:sp>
        <p:nvSpPr>
          <p:cNvPr id="161797" name="Text Box 5"/>
          <p:cNvSpPr txBox="1">
            <a:spLocks noChangeArrowheads="1"/>
          </p:cNvSpPr>
          <p:nvPr/>
        </p:nvSpPr>
        <p:spPr bwMode="auto">
          <a:xfrm>
            <a:off x="1428750" y="2693988"/>
            <a:ext cx="865188" cy="390525"/>
          </a:xfrm>
          <a:prstGeom prst="rect">
            <a:avLst/>
          </a:prstGeom>
          <a:noFill/>
          <a:ln w="9525">
            <a:noFill/>
            <a:miter lim="800000"/>
            <a:headEnd/>
            <a:tailEnd/>
          </a:ln>
        </p:spPr>
        <p:txBody>
          <a:bodyPr wrap="none" lIns="68580" tIns="34290" rIns="68580" bIns="34290">
            <a:spAutoFit/>
          </a:bodyPr>
          <a:lstStyle/>
          <a:p>
            <a:pPr defTabSz="685800">
              <a:buFont typeface="Arial" charset="0"/>
              <a:buNone/>
            </a:pPr>
            <a:r>
              <a:rPr kumimoji="0" lang="zh-CN" altLang="en-US" sz="2100" b="1">
                <a:latin typeface="楷体_GB2312"/>
                <a:ea typeface="楷体_GB2312"/>
                <a:cs typeface="楷体_GB2312"/>
              </a:rPr>
              <a:t>因为</a:t>
            </a:r>
            <a:r>
              <a:rPr kumimoji="0" lang="zh-CN" altLang="en-US" sz="1500">
                <a:latin typeface="楷体_GB2312"/>
                <a:ea typeface="楷体_GB2312"/>
                <a:cs typeface="楷体_GB2312"/>
              </a:rPr>
              <a:t>：</a:t>
            </a:r>
          </a:p>
        </p:txBody>
      </p:sp>
      <p:graphicFrame>
        <p:nvGraphicFramePr>
          <p:cNvPr id="161798" name="Object 6"/>
          <p:cNvGraphicFramePr>
            <a:graphicFrameLocks noChangeAspect="1"/>
          </p:cNvGraphicFramePr>
          <p:nvPr/>
        </p:nvGraphicFramePr>
        <p:xfrm>
          <a:off x="2228850" y="3241675"/>
          <a:ext cx="1736725" cy="674688"/>
        </p:xfrm>
        <a:graphic>
          <a:graphicData uri="http://schemas.openxmlformats.org/presentationml/2006/ole">
            <p:oleObj spid="_x0000_s134150" r:id="rId5" imgW="1019160" imgH="375120" progId="Equation.DSMT4">
              <p:embed/>
            </p:oleObj>
          </a:graphicData>
        </a:graphic>
      </p:graphicFrame>
      <p:graphicFrame>
        <p:nvGraphicFramePr>
          <p:cNvPr id="161799" name="Object 7"/>
          <p:cNvGraphicFramePr>
            <a:graphicFrameLocks noChangeAspect="1"/>
          </p:cNvGraphicFramePr>
          <p:nvPr/>
        </p:nvGraphicFramePr>
        <p:xfrm>
          <a:off x="2171700" y="4097338"/>
          <a:ext cx="3070225" cy="309562"/>
        </p:xfrm>
        <a:graphic>
          <a:graphicData uri="http://schemas.openxmlformats.org/presentationml/2006/ole">
            <p:oleObj spid="_x0000_s134151" r:id="rId6" imgW="1664280" imgH="148680" progId="Equation.DSMT4">
              <p:embed/>
            </p:oleObj>
          </a:graphicData>
        </a:graphic>
      </p:graphicFrame>
      <p:graphicFrame>
        <p:nvGraphicFramePr>
          <p:cNvPr id="161800" name="Object 8"/>
          <p:cNvGraphicFramePr>
            <a:graphicFrameLocks noChangeAspect="1"/>
          </p:cNvGraphicFramePr>
          <p:nvPr/>
        </p:nvGraphicFramePr>
        <p:xfrm>
          <a:off x="1655763" y="1112838"/>
          <a:ext cx="3114675" cy="554037"/>
        </p:xfrm>
        <a:graphic>
          <a:graphicData uri="http://schemas.openxmlformats.org/presentationml/2006/ole">
            <p:oleObj spid="_x0000_s134152" r:id="rId7" imgW="1651320" imgH="271440" progId="Equation.DSMT4">
              <p:embed/>
            </p:oleObj>
          </a:graphicData>
        </a:graphic>
      </p:graphicFrame>
      <p:graphicFrame>
        <p:nvGraphicFramePr>
          <p:cNvPr id="161801" name="Object 9"/>
          <p:cNvGraphicFramePr>
            <a:graphicFrameLocks noChangeAspect="1"/>
          </p:cNvGraphicFramePr>
          <p:nvPr/>
        </p:nvGraphicFramePr>
        <p:xfrm>
          <a:off x="4752975" y="1527175"/>
          <a:ext cx="1657350" cy="376238"/>
        </p:xfrm>
        <a:graphic>
          <a:graphicData uri="http://schemas.openxmlformats.org/presentationml/2006/ole">
            <p:oleObj spid="_x0000_s134153" r:id="rId8" imgW="812880" imgH="155160" progId="Equation.DSMT4">
              <p:embed/>
            </p:oleObj>
          </a:graphicData>
        </a:graphic>
      </p:graphicFrame>
      <p:grpSp>
        <p:nvGrpSpPr>
          <p:cNvPr id="161802" name="组合 161801"/>
          <p:cNvGrpSpPr>
            <a:grpSpLocks/>
          </p:cNvGrpSpPr>
          <p:nvPr/>
        </p:nvGrpSpPr>
        <p:grpSpPr bwMode="auto">
          <a:xfrm>
            <a:off x="4572000" y="2571750"/>
            <a:ext cx="3028950" cy="1008063"/>
            <a:chOff x="0" y="0"/>
            <a:chExt cx="2544" cy="846"/>
          </a:xfrm>
        </p:grpSpPr>
        <p:graphicFrame>
          <p:nvGraphicFramePr>
            <p:cNvPr id="134155" name="Object 11"/>
            <p:cNvGraphicFramePr>
              <a:graphicFrameLocks noChangeAspect="1"/>
            </p:cNvGraphicFramePr>
            <p:nvPr/>
          </p:nvGraphicFramePr>
          <p:xfrm>
            <a:off x="2067" y="458"/>
            <a:ext cx="211" cy="219"/>
          </p:xfrm>
          <a:graphic>
            <a:graphicData uri="http://schemas.openxmlformats.org/presentationml/2006/ole">
              <p:oleObj spid="_x0000_s134155" r:id="rId9" imgW="109800" imgH="122760" progId="Equation.3">
                <p:embed/>
              </p:oleObj>
            </a:graphicData>
          </a:graphic>
        </p:graphicFrame>
        <p:sp>
          <p:nvSpPr>
            <p:cNvPr id="134174" name="Line 29"/>
            <p:cNvSpPr>
              <a:spLocks noChangeShapeType="1"/>
            </p:cNvSpPr>
            <p:nvPr/>
          </p:nvSpPr>
          <p:spPr bwMode="auto">
            <a:xfrm>
              <a:off x="0" y="356"/>
              <a:ext cx="2544" cy="0"/>
            </a:xfrm>
            <a:prstGeom prst="line">
              <a:avLst/>
            </a:prstGeom>
            <a:noFill/>
            <a:ln w="41275">
              <a:solidFill>
                <a:schemeClr val="tx1"/>
              </a:solidFill>
              <a:round/>
              <a:headEnd/>
              <a:tailEnd type="arrow" w="med" len="lg"/>
            </a:ln>
          </p:spPr>
          <p:txBody>
            <a:bodyPr/>
            <a:lstStyle/>
            <a:p>
              <a:endParaRPr lang="zh-CN" altLang="en-US"/>
            </a:p>
          </p:txBody>
        </p:sp>
        <p:graphicFrame>
          <p:nvGraphicFramePr>
            <p:cNvPr id="134157" name="Object 13"/>
            <p:cNvGraphicFramePr>
              <a:graphicFrameLocks noChangeAspect="1"/>
            </p:cNvGraphicFramePr>
            <p:nvPr/>
          </p:nvGraphicFramePr>
          <p:xfrm>
            <a:off x="265" y="407"/>
            <a:ext cx="211" cy="218"/>
          </p:xfrm>
          <a:graphic>
            <a:graphicData uri="http://schemas.openxmlformats.org/presentationml/2006/ole">
              <p:oleObj spid="_x0000_s134157" r:id="rId10" imgW="109800" imgH="122760" progId="Equation.3">
                <p:embed/>
              </p:oleObj>
            </a:graphicData>
          </a:graphic>
        </p:graphicFrame>
        <p:sp>
          <p:nvSpPr>
            <p:cNvPr id="134175" name="Line 31"/>
            <p:cNvSpPr>
              <a:spLocks noChangeShapeType="1"/>
            </p:cNvSpPr>
            <p:nvPr/>
          </p:nvSpPr>
          <p:spPr bwMode="auto">
            <a:xfrm>
              <a:off x="2014" y="407"/>
              <a:ext cx="0" cy="356"/>
            </a:xfrm>
            <a:prstGeom prst="line">
              <a:avLst/>
            </a:prstGeom>
            <a:noFill/>
            <a:ln w="9525">
              <a:solidFill>
                <a:schemeClr val="tx1"/>
              </a:solidFill>
              <a:round/>
              <a:headEnd/>
              <a:tailEnd/>
            </a:ln>
          </p:spPr>
          <p:txBody>
            <a:bodyPr/>
            <a:lstStyle/>
            <a:p>
              <a:endParaRPr lang="zh-CN" altLang="en-US"/>
            </a:p>
          </p:txBody>
        </p:sp>
        <p:sp>
          <p:nvSpPr>
            <p:cNvPr id="134176" name="Line 32"/>
            <p:cNvSpPr>
              <a:spLocks noChangeShapeType="1"/>
            </p:cNvSpPr>
            <p:nvPr/>
          </p:nvSpPr>
          <p:spPr bwMode="auto">
            <a:xfrm>
              <a:off x="251" y="417"/>
              <a:ext cx="0" cy="356"/>
            </a:xfrm>
            <a:prstGeom prst="line">
              <a:avLst/>
            </a:prstGeom>
            <a:noFill/>
            <a:ln w="9525">
              <a:solidFill>
                <a:schemeClr val="tx1"/>
              </a:solidFill>
              <a:round/>
              <a:headEnd/>
              <a:tailEnd/>
            </a:ln>
          </p:spPr>
          <p:txBody>
            <a:bodyPr/>
            <a:lstStyle/>
            <a:p>
              <a:endParaRPr lang="zh-CN" altLang="en-US"/>
            </a:p>
          </p:txBody>
        </p:sp>
        <p:sp>
          <p:nvSpPr>
            <p:cNvPr id="134177" name="Line 33"/>
            <p:cNvSpPr>
              <a:spLocks noChangeShapeType="1"/>
            </p:cNvSpPr>
            <p:nvPr/>
          </p:nvSpPr>
          <p:spPr bwMode="auto">
            <a:xfrm>
              <a:off x="1431" y="712"/>
              <a:ext cx="541" cy="0"/>
            </a:xfrm>
            <a:prstGeom prst="line">
              <a:avLst/>
            </a:prstGeom>
            <a:noFill/>
            <a:ln w="9525">
              <a:solidFill>
                <a:schemeClr val="tx1"/>
              </a:solidFill>
              <a:round/>
              <a:headEnd/>
              <a:tailEnd type="arrow" w="med" len="lg"/>
            </a:ln>
          </p:spPr>
          <p:txBody>
            <a:bodyPr/>
            <a:lstStyle/>
            <a:p>
              <a:endParaRPr lang="zh-CN" altLang="en-US"/>
            </a:p>
          </p:txBody>
        </p:sp>
        <p:sp>
          <p:nvSpPr>
            <p:cNvPr id="134178" name="Line 34"/>
            <p:cNvSpPr>
              <a:spLocks noChangeShapeType="1"/>
            </p:cNvSpPr>
            <p:nvPr/>
          </p:nvSpPr>
          <p:spPr bwMode="auto">
            <a:xfrm flipH="1">
              <a:off x="265" y="712"/>
              <a:ext cx="541" cy="0"/>
            </a:xfrm>
            <a:prstGeom prst="line">
              <a:avLst/>
            </a:prstGeom>
            <a:noFill/>
            <a:ln w="9525">
              <a:solidFill>
                <a:schemeClr val="tx1"/>
              </a:solidFill>
              <a:round/>
              <a:headEnd/>
              <a:tailEnd type="arrow" w="med" len="lg"/>
            </a:ln>
          </p:spPr>
          <p:txBody>
            <a:bodyPr/>
            <a:lstStyle/>
            <a:p>
              <a:endParaRPr lang="zh-CN" altLang="en-US"/>
            </a:p>
          </p:txBody>
        </p:sp>
        <p:graphicFrame>
          <p:nvGraphicFramePr>
            <p:cNvPr id="134162" name="Object 18"/>
            <p:cNvGraphicFramePr>
              <a:graphicFrameLocks noChangeAspect="1"/>
            </p:cNvGraphicFramePr>
            <p:nvPr/>
          </p:nvGraphicFramePr>
          <p:xfrm>
            <a:off x="2226" y="51"/>
            <a:ext cx="246" cy="219"/>
          </p:xfrm>
          <a:graphic>
            <a:graphicData uri="http://schemas.openxmlformats.org/presentationml/2006/ole">
              <p:oleObj spid="_x0000_s134162" r:id="rId11" imgW="135360" imgH="122760" progId="Equation.3">
                <p:embed/>
              </p:oleObj>
            </a:graphicData>
          </a:graphic>
        </p:graphicFrame>
        <p:graphicFrame>
          <p:nvGraphicFramePr>
            <p:cNvPr id="134163" name="Object 19"/>
            <p:cNvGraphicFramePr>
              <a:graphicFrameLocks noChangeAspect="1"/>
            </p:cNvGraphicFramePr>
            <p:nvPr/>
          </p:nvGraphicFramePr>
          <p:xfrm>
            <a:off x="689" y="0"/>
            <a:ext cx="222" cy="237"/>
          </p:xfrm>
          <a:graphic>
            <a:graphicData uri="http://schemas.openxmlformats.org/presentationml/2006/ole">
              <p:oleObj spid="_x0000_s134163" r:id="rId12" imgW="83880" imgH="103320" progId="Equation.3">
                <p:embed/>
              </p:oleObj>
            </a:graphicData>
          </a:graphic>
        </p:graphicFrame>
        <p:sp>
          <p:nvSpPr>
            <p:cNvPr id="134179" name="Line 37"/>
            <p:cNvSpPr>
              <a:spLocks noChangeShapeType="1"/>
            </p:cNvSpPr>
            <p:nvPr/>
          </p:nvSpPr>
          <p:spPr bwMode="auto">
            <a:xfrm>
              <a:off x="795" y="254"/>
              <a:ext cx="0" cy="102"/>
            </a:xfrm>
            <a:prstGeom prst="line">
              <a:avLst/>
            </a:prstGeom>
            <a:noFill/>
            <a:ln w="41275">
              <a:solidFill>
                <a:schemeClr val="tx1"/>
              </a:solidFill>
              <a:round/>
              <a:headEnd/>
              <a:tailEnd/>
            </a:ln>
          </p:spPr>
          <p:txBody>
            <a:bodyPr/>
            <a:lstStyle/>
            <a:p>
              <a:endParaRPr lang="zh-CN" altLang="en-US"/>
            </a:p>
          </p:txBody>
        </p:sp>
        <p:graphicFrame>
          <p:nvGraphicFramePr>
            <p:cNvPr id="134165" name="Object 21"/>
            <p:cNvGraphicFramePr>
              <a:graphicFrameLocks noChangeAspect="1"/>
            </p:cNvGraphicFramePr>
            <p:nvPr/>
          </p:nvGraphicFramePr>
          <p:xfrm>
            <a:off x="848" y="611"/>
            <a:ext cx="422" cy="235"/>
          </p:xfrm>
          <a:graphic>
            <a:graphicData uri="http://schemas.openxmlformats.org/presentationml/2006/ole">
              <p:oleObj spid="_x0000_s134165" r:id="rId13" imgW="258120" imgH="135720" progId="Equation.3">
                <p:embed/>
              </p:oleObj>
            </a:graphicData>
          </a:graphic>
        </p:graphicFrame>
        <p:sp>
          <p:nvSpPr>
            <p:cNvPr id="134180" name="Line 39"/>
            <p:cNvSpPr>
              <a:spLocks noChangeShapeType="1"/>
            </p:cNvSpPr>
            <p:nvPr/>
          </p:nvSpPr>
          <p:spPr bwMode="auto">
            <a:xfrm>
              <a:off x="781" y="400"/>
              <a:ext cx="0" cy="211"/>
            </a:xfrm>
            <a:prstGeom prst="line">
              <a:avLst/>
            </a:prstGeom>
            <a:noFill/>
            <a:ln w="9525">
              <a:solidFill>
                <a:schemeClr val="tx1"/>
              </a:solidFill>
              <a:round/>
              <a:headEnd/>
              <a:tailEnd/>
            </a:ln>
          </p:spPr>
          <p:txBody>
            <a:bodyPr/>
            <a:lstStyle/>
            <a:p>
              <a:endParaRPr lang="zh-CN" altLang="en-US"/>
            </a:p>
          </p:txBody>
        </p:sp>
        <p:sp>
          <p:nvSpPr>
            <p:cNvPr id="134181" name="Line 40"/>
            <p:cNvSpPr>
              <a:spLocks noChangeShapeType="1"/>
            </p:cNvSpPr>
            <p:nvPr/>
          </p:nvSpPr>
          <p:spPr bwMode="auto">
            <a:xfrm>
              <a:off x="1749" y="509"/>
              <a:ext cx="265" cy="0"/>
            </a:xfrm>
            <a:prstGeom prst="line">
              <a:avLst/>
            </a:prstGeom>
            <a:noFill/>
            <a:ln w="9525">
              <a:solidFill>
                <a:schemeClr val="tx1"/>
              </a:solidFill>
              <a:round/>
              <a:headEnd/>
              <a:tailEnd type="arrow" w="med" len="lg"/>
            </a:ln>
          </p:spPr>
          <p:txBody>
            <a:bodyPr/>
            <a:lstStyle/>
            <a:p>
              <a:endParaRPr lang="zh-CN" altLang="en-US"/>
            </a:p>
          </p:txBody>
        </p:sp>
        <p:sp>
          <p:nvSpPr>
            <p:cNvPr id="134182" name="Line 41"/>
            <p:cNvSpPr>
              <a:spLocks noChangeShapeType="1"/>
            </p:cNvSpPr>
            <p:nvPr/>
          </p:nvSpPr>
          <p:spPr bwMode="auto">
            <a:xfrm flipH="1">
              <a:off x="784" y="509"/>
              <a:ext cx="265" cy="0"/>
            </a:xfrm>
            <a:prstGeom prst="line">
              <a:avLst/>
            </a:prstGeom>
            <a:noFill/>
            <a:ln w="9525">
              <a:solidFill>
                <a:schemeClr val="tx1"/>
              </a:solidFill>
              <a:round/>
              <a:headEnd/>
              <a:tailEnd type="arrow" w="med" len="lg"/>
            </a:ln>
          </p:spPr>
          <p:txBody>
            <a:bodyPr/>
            <a:lstStyle/>
            <a:p>
              <a:endParaRPr lang="zh-CN" altLang="en-US"/>
            </a:p>
          </p:txBody>
        </p:sp>
        <p:graphicFrame>
          <p:nvGraphicFramePr>
            <p:cNvPr id="134169" name="Object 25"/>
            <p:cNvGraphicFramePr>
              <a:graphicFrameLocks noChangeAspect="1"/>
            </p:cNvGraphicFramePr>
            <p:nvPr/>
          </p:nvGraphicFramePr>
          <p:xfrm>
            <a:off x="1113" y="407"/>
            <a:ext cx="563" cy="235"/>
          </p:xfrm>
          <a:graphic>
            <a:graphicData uri="http://schemas.openxmlformats.org/presentationml/2006/ole">
              <p:oleObj spid="_x0000_s134169" r:id="rId14" imgW="354600" imgH="135720" progId="Equation.3">
                <p:embed/>
              </p:oleObj>
            </a:graphicData>
          </a:graphic>
        </p:graphicFrame>
        <p:graphicFrame>
          <p:nvGraphicFramePr>
            <p:cNvPr id="134170" name="Object 26"/>
            <p:cNvGraphicFramePr>
              <a:graphicFrameLocks noChangeAspect="1"/>
            </p:cNvGraphicFramePr>
            <p:nvPr/>
          </p:nvGraphicFramePr>
          <p:xfrm>
            <a:off x="192" y="130"/>
            <a:ext cx="176" cy="206"/>
          </p:xfrm>
          <a:graphic>
            <a:graphicData uri="http://schemas.openxmlformats.org/presentationml/2006/ole">
              <p:oleObj spid="_x0000_s134170" r:id="rId15" imgW="109800" imgH="13572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1800"/>
                                        </p:tgtEl>
                                        <p:attrNameLst>
                                          <p:attrName>style.visibility</p:attrName>
                                        </p:attrNameLst>
                                      </p:cBhvr>
                                      <p:to>
                                        <p:strVal val="visible"/>
                                      </p:to>
                                    </p:set>
                                    <p:animEffect transition="in" filter="wipe(left)">
                                      <p:cBhvr>
                                        <p:cTn id="7" dur="500"/>
                                        <p:tgtEl>
                                          <p:spTgt spid="1618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61801"/>
                                        </p:tgtEl>
                                        <p:attrNameLst>
                                          <p:attrName>style.visibility</p:attrName>
                                        </p:attrNameLst>
                                      </p:cBhvr>
                                      <p:to>
                                        <p:strVal val="visible"/>
                                      </p:to>
                                    </p:set>
                                    <p:animEffect transition="in" filter="wipe(left)">
                                      <p:cBhvr>
                                        <p:cTn id="12" dur="500"/>
                                        <p:tgtEl>
                                          <p:spTgt spid="1618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1794"/>
                                        </p:tgtEl>
                                        <p:attrNameLst>
                                          <p:attrName>style.visibility</p:attrName>
                                        </p:attrNameLst>
                                      </p:cBhvr>
                                      <p:to>
                                        <p:strVal val="visible"/>
                                      </p:to>
                                    </p:set>
                                    <p:animEffect transition="in" filter="wipe(left)">
                                      <p:cBhvr>
                                        <p:cTn id="17" dur="500"/>
                                        <p:tgtEl>
                                          <p:spTgt spid="1617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61795"/>
                                        </p:tgtEl>
                                        <p:attrNameLst>
                                          <p:attrName>style.visibility</p:attrName>
                                        </p:attrNameLst>
                                      </p:cBhvr>
                                      <p:to>
                                        <p:strVal val="visible"/>
                                      </p:to>
                                    </p:set>
                                    <p:animEffect transition="in" filter="wipe(left)">
                                      <p:cBhvr>
                                        <p:cTn id="22" dur="500"/>
                                        <p:tgtEl>
                                          <p:spTgt spid="16179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1797"/>
                                        </p:tgtEl>
                                        <p:attrNameLst>
                                          <p:attrName>style.visibility</p:attrName>
                                        </p:attrNameLst>
                                      </p:cBhvr>
                                      <p:to>
                                        <p:strVal val="visible"/>
                                      </p:to>
                                    </p:set>
                                    <p:animEffect transition="in" filter="wipe(left)">
                                      <p:cBhvr>
                                        <p:cTn id="27" dur="500"/>
                                        <p:tgtEl>
                                          <p:spTgt spid="16179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61796"/>
                                        </p:tgtEl>
                                        <p:attrNameLst>
                                          <p:attrName>style.visibility</p:attrName>
                                        </p:attrNameLst>
                                      </p:cBhvr>
                                      <p:to>
                                        <p:strVal val="visible"/>
                                      </p:to>
                                    </p:set>
                                    <p:animEffect transition="in" filter="wipe(left)">
                                      <p:cBhvr>
                                        <p:cTn id="32" dur="500"/>
                                        <p:tgtEl>
                                          <p:spTgt spid="1617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61798"/>
                                        </p:tgtEl>
                                        <p:attrNameLst>
                                          <p:attrName>style.visibility</p:attrName>
                                        </p:attrNameLst>
                                      </p:cBhvr>
                                      <p:to>
                                        <p:strVal val="visible"/>
                                      </p:to>
                                    </p:set>
                                    <p:animEffect transition="in" filter="wipe(left)">
                                      <p:cBhvr>
                                        <p:cTn id="37" dur="500"/>
                                        <p:tgtEl>
                                          <p:spTgt spid="16179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499"/>
                                          </p:stCondLst>
                                        </p:cTn>
                                        <p:tgtEl>
                                          <p:spTgt spid="161802"/>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161799"/>
                                        </p:tgtEl>
                                        <p:attrNameLst>
                                          <p:attrName>style.visibility</p:attrName>
                                        </p:attrNameLst>
                                      </p:cBhvr>
                                      <p:to>
                                        <p:strVal val="visible"/>
                                      </p:to>
                                    </p:set>
                                    <p:animEffect transition="in" filter="wipe(left)">
                                      <p:cBhvr>
                                        <p:cTn id="46" dur="500"/>
                                        <p:tgtEl>
                                          <p:spTgt spid="1617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p:bldP spid="161797"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0.7"/>
</p:tagLst>
</file>

<file path=ppt/tags/tag2.xml><?xml version="1.0" encoding="utf-8"?>
<p:tagLst xmlns:a="http://schemas.openxmlformats.org/drawingml/2006/main" xmlns:r="http://schemas.openxmlformats.org/officeDocument/2006/relationships" xmlns:p="http://schemas.openxmlformats.org/presentationml/2006/main">
  <p:tag name="TIMING" val="|0.3|0.4|0.2|0.2|0.4|0.1|0.2|0.3"/>
</p:tagLst>
</file>

<file path=ppt/tags/tag3.xml><?xml version="1.0" encoding="utf-8"?>
<p:tagLst xmlns:a="http://schemas.openxmlformats.org/drawingml/2006/main" xmlns:r="http://schemas.openxmlformats.org/officeDocument/2006/relationships" xmlns:p="http://schemas.openxmlformats.org/presentationml/2006/main">
  <p:tag name="TIMING" val="|0.1|0.4|0.1|0.4|0.0|0.1|0.1"/>
</p:tagLst>
</file>

<file path=ppt/tags/tag4.xml><?xml version="1.0" encoding="utf-8"?>
<p:tagLst xmlns:a="http://schemas.openxmlformats.org/drawingml/2006/main" xmlns:r="http://schemas.openxmlformats.org/officeDocument/2006/relationships" xmlns:p="http://schemas.openxmlformats.org/presentationml/2006/main">
  <p:tag name="TIMING" val="|7.7|22.6|2.1|2.8|19.0|16.0|12.4|22.1|12.0|53.9|2.8|29.1|7.5|10.7|24.6"/>
</p:tagLst>
</file>

<file path=ppt/tags/tag5.xml><?xml version="1.0" encoding="utf-8"?>
<p:tagLst xmlns:a="http://schemas.openxmlformats.org/drawingml/2006/main" xmlns:r="http://schemas.openxmlformats.org/officeDocument/2006/relationships" xmlns:p="http://schemas.openxmlformats.org/presentationml/2006/main">
  <p:tag name="TIMING" val="|143.8"/>
</p:tagLst>
</file>

<file path=ppt/tags/tag6.xml><?xml version="1.0" encoding="utf-8"?>
<p:tagLst xmlns:a="http://schemas.openxmlformats.org/drawingml/2006/main" xmlns:r="http://schemas.openxmlformats.org/officeDocument/2006/relationships" xmlns:p="http://schemas.openxmlformats.org/presentationml/2006/main">
  <p:tag name="TIMING" val="|36.9|7.4|13.4|5.6"/>
</p:tagLst>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a:spPr>
      <a:bodyPr lIns="0" tIns="0" rIns="0" bIns="0">
        <a:spAutoFit/>
      </a:bodyPr>
      <a:lstStyle>
        <a:defPPr algn="ctr">
          <a:defRPr sz="1800" dirty="0">
            <a:solidFill>
              <a:srgbClr val="000000"/>
            </a:solidFill>
            <a:latin typeface="华文中宋" pitchFamily="2" charset="-122"/>
            <a:ea typeface="华文中宋" pitchFamily="2" charset="-122"/>
          </a:defRPr>
        </a:defPPr>
      </a:lstStyle>
    </a:sp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13080</TotalTime>
  <Words>4889</Words>
  <Application>Microsoft Office PowerPoint</Application>
  <PresentationFormat>全屏显示(16:9)</PresentationFormat>
  <Paragraphs>467</Paragraphs>
  <Slides>69</Slides>
  <Notes>6</Notes>
  <HiddenSlides>0</HiddenSlides>
  <MMClips>2</MMClips>
  <ScaleCrop>false</ScaleCrop>
  <HeadingPairs>
    <vt:vector size="8" baseType="variant">
      <vt:variant>
        <vt:lpstr>已用的字体</vt:lpstr>
      </vt:variant>
      <vt:variant>
        <vt:i4>14</vt:i4>
      </vt:variant>
      <vt:variant>
        <vt:lpstr>演示文稿设计模板</vt:lpstr>
      </vt:variant>
      <vt:variant>
        <vt:i4>11</vt:i4>
      </vt:variant>
      <vt:variant>
        <vt:lpstr>嵌入 OLE 服务器</vt:lpstr>
      </vt:variant>
      <vt:variant>
        <vt:i4>7</vt:i4>
      </vt:variant>
      <vt:variant>
        <vt:lpstr>幻灯片标题</vt:lpstr>
      </vt:variant>
      <vt:variant>
        <vt:i4>69</vt:i4>
      </vt:variant>
    </vt:vector>
  </HeadingPairs>
  <TitlesOfParts>
    <vt:vector size="101" baseType="lpstr">
      <vt:lpstr>Times New Roman</vt:lpstr>
      <vt:lpstr>宋体</vt:lpstr>
      <vt:lpstr>Arial</vt:lpstr>
      <vt:lpstr>Calibri</vt:lpstr>
      <vt:lpstr>华文楷体</vt:lpstr>
      <vt:lpstr>方正舒体</vt:lpstr>
      <vt:lpstr>华文中宋</vt:lpstr>
      <vt:lpstr>微软雅黑</vt:lpstr>
      <vt:lpstr>Monotype Sorts</vt:lpstr>
      <vt:lpstr>楷体_GB2312</vt:lpstr>
      <vt:lpstr>Bookman Old Style</vt:lpstr>
      <vt:lpstr>黑体</vt:lpstr>
      <vt:lpstr>Symbol</vt:lpstr>
      <vt:lpstr>Wingdings</vt:lpstr>
      <vt:lpstr>1_自定义设计方案</vt:lpstr>
      <vt:lpstr>1_自定义设计方案</vt:lpstr>
      <vt:lpstr>1_自定义设计方案</vt:lpstr>
      <vt:lpstr>1_自定义设计方案</vt:lpstr>
      <vt:lpstr>1_自定义设计方案</vt:lpstr>
      <vt:lpstr>1_自定义设计方案</vt:lpstr>
      <vt:lpstr>1_自定义设计方案</vt:lpstr>
      <vt:lpstr>1_自定义设计方案</vt:lpstr>
      <vt:lpstr>1_自定义设计方案</vt:lpstr>
      <vt:lpstr>1_自定义设计方案</vt:lpstr>
      <vt:lpstr>1_自定义设计方案</vt:lpstr>
      <vt:lpstr>公式</vt:lpstr>
      <vt:lpstr>Equation</vt:lpstr>
      <vt:lpstr>剪辑</vt:lpstr>
      <vt:lpstr>Graph</vt:lpstr>
      <vt:lpstr>MathType 6.0 Equation</vt:lpstr>
      <vt:lpstr>Microsoft 公式 3.0</vt:lpstr>
      <vt:lpstr>Document</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vector>
  </TitlesOfParts>
  <Company>fxn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Alex</dc:creator>
  <cp:lastModifiedBy>asus</cp:lastModifiedBy>
  <cp:revision>300</cp:revision>
  <dcterms:created xsi:type="dcterms:W3CDTF">2002-04-19T13:42:26Z</dcterms:created>
  <dcterms:modified xsi:type="dcterms:W3CDTF">2019-11-05T05:08:05Z</dcterms:modified>
</cp:coreProperties>
</file>