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614" y="-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5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7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Relationship Id="rId1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C3FCE-125F-410C-85D0-380F7324E716}" type="datetimeFigureOut">
              <a:rPr lang="zh-CN" altLang="en-US" smtClean="0"/>
              <a:t>2018/1/8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62EBE-F078-4AF9-A42D-D6663E383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408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6659565" y="195263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prstClr val="white"/>
                </a:solidFill>
              </a:rPr>
              <a:t>预备知识</a:t>
            </a:r>
          </a:p>
        </p:txBody>
      </p:sp>
      <p:sp>
        <p:nvSpPr>
          <p:cNvPr id="3" name="矩形 2"/>
          <p:cNvSpPr/>
          <p:nvPr/>
        </p:nvSpPr>
        <p:spPr>
          <a:xfrm>
            <a:off x="5795965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章目录</a:t>
            </a:r>
          </a:p>
        </p:txBody>
      </p:sp>
      <p:sp>
        <p:nvSpPr>
          <p:cNvPr id="4" name="矩形 3"/>
          <p:cNvSpPr/>
          <p:nvPr/>
        </p:nvSpPr>
        <p:spPr>
          <a:xfrm>
            <a:off x="7380290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上一页</a:t>
            </a:r>
          </a:p>
        </p:txBody>
      </p:sp>
      <p:sp>
        <p:nvSpPr>
          <p:cNvPr id="5" name="矩形 4"/>
          <p:cNvSpPr/>
          <p:nvPr/>
        </p:nvSpPr>
        <p:spPr>
          <a:xfrm>
            <a:off x="8172452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下一页</a:t>
            </a:r>
          </a:p>
        </p:txBody>
      </p:sp>
      <p:sp>
        <p:nvSpPr>
          <p:cNvPr id="6" name="矩形 5"/>
          <p:cNvSpPr/>
          <p:nvPr/>
        </p:nvSpPr>
        <p:spPr>
          <a:xfrm>
            <a:off x="6588127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节目录</a:t>
            </a:r>
          </a:p>
        </p:txBody>
      </p:sp>
    </p:spTree>
    <p:extLst>
      <p:ext uri="{BB962C8B-B14F-4D97-AF65-F5344CB8AC3E}">
        <p14:creationId xmlns:p14="http://schemas.microsoft.com/office/powerpoint/2010/main" val="1868670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6659564" y="195263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prstClr val="white"/>
                </a:solidFill>
              </a:rPr>
              <a:t>矢量的运算</a:t>
            </a:r>
          </a:p>
        </p:txBody>
      </p:sp>
      <p:sp>
        <p:nvSpPr>
          <p:cNvPr id="3" name="矩形 2"/>
          <p:cNvSpPr/>
          <p:nvPr/>
        </p:nvSpPr>
        <p:spPr>
          <a:xfrm>
            <a:off x="5802315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章目录</a:t>
            </a:r>
          </a:p>
        </p:txBody>
      </p:sp>
      <p:sp>
        <p:nvSpPr>
          <p:cNvPr id="4" name="矩形 3"/>
          <p:cNvSpPr/>
          <p:nvPr/>
        </p:nvSpPr>
        <p:spPr>
          <a:xfrm>
            <a:off x="7386640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上一页</a:t>
            </a:r>
          </a:p>
        </p:txBody>
      </p:sp>
      <p:sp>
        <p:nvSpPr>
          <p:cNvPr id="5" name="矩形 4"/>
          <p:cNvSpPr/>
          <p:nvPr/>
        </p:nvSpPr>
        <p:spPr>
          <a:xfrm>
            <a:off x="8178802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下一页</a:t>
            </a:r>
          </a:p>
        </p:txBody>
      </p:sp>
      <p:sp>
        <p:nvSpPr>
          <p:cNvPr id="6" name="矩形 5"/>
          <p:cNvSpPr/>
          <p:nvPr/>
        </p:nvSpPr>
        <p:spPr>
          <a:xfrm>
            <a:off x="6594477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节目录</a:t>
            </a:r>
          </a:p>
        </p:txBody>
      </p:sp>
    </p:spTree>
    <p:extLst>
      <p:ext uri="{BB962C8B-B14F-4D97-AF65-F5344CB8AC3E}">
        <p14:creationId xmlns:p14="http://schemas.microsoft.com/office/powerpoint/2010/main" val="9950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5802315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章目录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7386640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上一页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8178802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下一页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6594477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节目录</a:t>
            </a:r>
          </a:p>
        </p:txBody>
      </p:sp>
      <p:sp>
        <p:nvSpPr>
          <p:cNvPr id="12" name="TextBox 7"/>
          <p:cNvSpPr txBox="1">
            <a:spLocks noChangeArrowheads="1"/>
          </p:cNvSpPr>
          <p:nvPr userDrawn="1"/>
        </p:nvSpPr>
        <p:spPr bwMode="auto">
          <a:xfrm>
            <a:off x="7288316" y="195263"/>
            <a:ext cx="11721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prstClr val="white"/>
                </a:solidFill>
              </a:rPr>
              <a:t>绪   论</a:t>
            </a:r>
          </a:p>
        </p:txBody>
      </p:sp>
    </p:spTree>
    <p:extLst>
      <p:ext uri="{BB962C8B-B14F-4D97-AF65-F5344CB8AC3E}">
        <p14:creationId xmlns:p14="http://schemas.microsoft.com/office/powerpoint/2010/main" val="399402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16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280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37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6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fld id="{61E4A74E-ADEC-4D29-B01A-F7A347EB7F04}" type="slidenum">
              <a:rPr lang="zh-CN" altLang="en-US" sz="2800">
                <a:solidFill>
                  <a:prstClr val="black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t>‹#›</a:t>
            </a:fld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65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fld id="{0E7DECD5-13B6-453C-8293-D1CEA3B360B2}" type="slidenum">
              <a:rPr lang="zh-CN" altLang="en-US" sz="2800">
                <a:solidFill>
                  <a:prstClr val="black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t>‹#›</a:t>
            </a:fld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25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62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744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54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916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40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-11113" y="-30162"/>
            <a:ext cx="9164638" cy="8810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2800" noProof="1">
              <a:solidFill>
                <a:prstClr val="white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42875" y="771550"/>
            <a:ext cx="8856663" cy="0"/>
          </a:xfrm>
          <a:prstGeom prst="line">
            <a:avLst/>
          </a:prstGeom>
          <a:ln w="31750">
            <a:solidFill>
              <a:schemeClr val="bg1">
                <a:alpha val="2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图片 10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6" y="85726"/>
            <a:ext cx="525462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Box 11"/>
          <p:cNvSpPr txBox="1">
            <a:spLocks noChangeArrowheads="1"/>
          </p:cNvSpPr>
          <p:nvPr userDrawn="1"/>
        </p:nvSpPr>
        <p:spPr bwMode="auto">
          <a:xfrm>
            <a:off x="1245830" y="411164"/>
            <a:ext cx="23791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800" dirty="0" smtClean="0">
                <a:solidFill>
                  <a:prstClr val="white"/>
                </a:solidFill>
                <a:latin typeface="Calibri" pitchFamily="34" charset="0"/>
              </a:rPr>
              <a:t>大学物理学（第</a:t>
            </a:r>
            <a:r>
              <a:rPr lang="en-US" altLang="zh-CN" sz="1800" dirty="0" smtClean="0">
                <a:solidFill>
                  <a:prstClr val="white"/>
                </a:solidFill>
                <a:latin typeface="Calibri" pitchFamily="34" charset="0"/>
              </a:rPr>
              <a:t>5</a:t>
            </a:r>
            <a:r>
              <a:rPr lang="zh-CN" altLang="en-US" sz="1800" dirty="0" smtClean="0">
                <a:solidFill>
                  <a:prstClr val="white"/>
                </a:solidFill>
                <a:latin typeface="Calibri" pitchFamily="34" charset="0"/>
              </a:rPr>
              <a:t>版）</a:t>
            </a:r>
            <a:endParaRPr lang="zh-CN" altLang="en-US" sz="180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30" name="TextBox 12"/>
          <p:cNvSpPr txBox="1">
            <a:spLocks noChangeArrowheads="1"/>
          </p:cNvSpPr>
          <p:nvPr userDrawn="1"/>
        </p:nvSpPr>
        <p:spPr bwMode="auto">
          <a:xfrm>
            <a:off x="827088" y="134939"/>
            <a:ext cx="37753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400" dirty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“十二五”普通高等教育本科国家级规划教材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9525" y="850901"/>
            <a:ext cx="9123363" cy="3743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2800" noProof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24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2.wmf"/><Relationship Id="rId26" Type="http://schemas.openxmlformats.org/officeDocument/2006/relationships/image" Target="../media/image16.wmf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13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29" Type="http://schemas.openxmlformats.org/officeDocument/2006/relationships/oleObject" Target="../embeddings/oleObject17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15.wmf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28" Type="http://schemas.openxmlformats.org/officeDocument/2006/relationships/image" Target="../media/image17.wmf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Relationship Id="rId27" Type="http://schemas.openxmlformats.org/officeDocument/2006/relationships/oleObject" Target="../embeddings/oleObject16.bin"/><Relationship Id="rId30" Type="http://schemas.openxmlformats.org/officeDocument/2006/relationships/image" Target="../media/image1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4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66725" y="987425"/>
            <a:ext cx="5621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80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基本的微积分</a:t>
            </a:r>
            <a:r>
              <a:rPr lang="en-US" altLang="zh-CN" sz="180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----</a:t>
            </a:r>
            <a:r>
              <a:rPr lang="zh-CN" altLang="en-US" sz="180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高等数学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66728" y="1355725"/>
            <a:ext cx="4365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80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矢量基础知识</a:t>
            </a:r>
            <a:r>
              <a:rPr lang="en-US" altLang="zh-CN" sz="180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----</a:t>
            </a:r>
            <a:r>
              <a:rPr lang="zh-CN" altLang="en-US" sz="180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附录</a:t>
            </a:r>
            <a:r>
              <a:rPr lang="en-US" altLang="zh-CN" sz="180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I 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39750" y="1979615"/>
            <a:ext cx="2794000" cy="461665"/>
          </a:xfrm>
          <a:prstGeom prst="rect">
            <a:avLst/>
          </a:prstGeom>
          <a:solidFill>
            <a:srgbClr val="539A84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Monotype Sorts" pitchFamily="2" charset="2"/>
              <a:buNone/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矢量基础知识</a:t>
            </a:r>
          </a:p>
        </p:txBody>
      </p:sp>
      <p:sp>
        <p:nvSpPr>
          <p:cNvPr id="7" name="Text Box 19"/>
          <p:cNvSpPr txBox="1"/>
          <p:nvPr/>
        </p:nvSpPr>
        <p:spPr>
          <a:xfrm>
            <a:off x="969964" y="2646363"/>
            <a:ext cx="5165725" cy="47705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000" b="1" noProof="1">
                <a:solidFill>
                  <a:srgbClr val="F79646">
                    <a:lumMod val="75000"/>
                  </a:srgb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矢量定义：</a:t>
            </a:r>
            <a:r>
              <a:rPr lang="zh-CN" altLang="en-US" sz="2000" b="1" noProof="1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有大小、方向的量</a:t>
            </a:r>
          </a:p>
        </p:txBody>
      </p:sp>
      <p:grpSp>
        <p:nvGrpSpPr>
          <p:cNvPr id="2" name="组合 18"/>
          <p:cNvGrpSpPr>
            <a:grpSpLocks/>
          </p:cNvGrpSpPr>
          <p:nvPr/>
        </p:nvGrpSpPr>
        <p:grpSpPr bwMode="auto">
          <a:xfrm>
            <a:off x="5957892" y="2468563"/>
            <a:ext cx="1493837" cy="971550"/>
            <a:chOff x="6107942" y="3271101"/>
            <a:chExt cx="783052" cy="814725"/>
          </a:xfrm>
        </p:grpSpPr>
        <p:cxnSp>
          <p:nvCxnSpPr>
            <p:cNvPr id="29703" name="直接箭头连接符 32"/>
            <p:cNvCxnSpPr>
              <a:cxnSpLocks noChangeShapeType="1"/>
            </p:cNvCxnSpPr>
            <p:nvPr/>
          </p:nvCxnSpPr>
          <p:spPr bwMode="auto">
            <a:xfrm flipV="1">
              <a:off x="6107942" y="3271101"/>
              <a:ext cx="783052" cy="814725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29704" name="Object 17"/>
            <p:cNvGraphicFramePr>
              <a:graphicFrameLocks noChangeAspect="1"/>
            </p:cNvGraphicFramePr>
            <p:nvPr/>
          </p:nvGraphicFramePr>
          <p:xfrm>
            <a:off x="6529841" y="3550476"/>
            <a:ext cx="315385" cy="411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" r:id="rId3" imgW="164885" imgH="215619" progId="Equation.DSMT4">
                    <p:embed/>
                  </p:oleObj>
                </mc:Choice>
                <mc:Fallback>
                  <p:oleObj r:id="rId3" imgW="164885" imgH="21561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9841" y="3550476"/>
                          <a:ext cx="315385" cy="411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Object 9"/>
          <p:cNvGraphicFramePr>
            <a:graphicFrameLocks noChangeAspect="1"/>
          </p:cNvGraphicFramePr>
          <p:nvPr/>
        </p:nvGraphicFramePr>
        <p:xfrm>
          <a:off x="3276604" y="3552825"/>
          <a:ext cx="4683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5" imgW="164885" imgH="215619" progId="Equation.DSMT4">
                  <p:embed/>
                </p:oleObj>
              </mc:Choice>
              <mc:Fallback>
                <p:oleObj r:id="rId5" imgW="164885" imgH="21561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4" y="3552825"/>
                        <a:ext cx="46831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9"/>
          <p:cNvGrpSpPr>
            <a:grpSpLocks/>
          </p:cNvGrpSpPr>
          <p:nvPr/>
        </p:nvGrpSpPr>
        <p:grpSpPr bwMode="auto">
          <a:xfrm>
            <a:off x="1754192" y="3935412"/>
            <a:ext cx="5184775" cy="477441"/>
            <a:chOff x="2483" y="3295"/>
            <a:chExt cx="3266" cy="401"/>
          </a:xfrm>
        </p:grpSpPr>
        <p:sp>
          <p:nvSpPr>
            <p:cNvPr id="29707" name="Text Box 19"/>
            <p:cNvSpPr txBox="1">
              <a:spLocks noChangeArrowheads="1"/>
            </p:cNvSpPr>
            <p:nvPr/>
          </p:nvSpPr>
          <p:spPr bwMode="auto">
            <a:xfrm>
              <a:off x="2483" y="3295"/>
              <a:ext cx="3266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125000"/>
                </a:lnSpc>
                <a:spcBef>
                  <a:spcPct val="5000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注：矢量的大小亦称矢量的模</a:t>
              </a:r>
            </a:p>
          </p:txBody>
        </p:sp>
        <p:graphicFrame>
          <p:nvGraphicFramePr>
            <p:cNvPr id="29708" name="Object 15"/>
            <p:cNvGraphicFramePr>
              <a:graphicFrameLocks noChangeAspect="1"/>
            </p:cNvGraphicFramePr>
            <p:nvPr/>
          </p:nvGraphicFramePr>
          <p:xfrm>
            <a:off x="4764" y="3341"/>
            <a:ext cx="59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" r:id="rId7" imgW="494870" imgH="253780" progId="Equation.DSMT4">
                    <p:embed/>
                  </p:oleObj>
                </mc:Choice>
                <mc:Fallback>
                  <p:oleObj r:id="rId7" imgW="494870" imgH="253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4" y="3341"/>
                          <a:ext cx="597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19"/>
          <p:cNvSpPr txBox="1"/>
          <p:nvPr/>
        </p:nvSpPr>
        <p:spPr>
          <a:xfrm>
            <a:off x="1689100" y="3203575"/>
            <a:ext cx="4662488" cy="47705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000" b="1" noProof="1">
                <a:solidFill>
                  <a:srgbClr val="F79646">
                    <a:lumMod val="75000"/>
                  </a:srgb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书写：教材中用粗体表示</a:t>
            </a:r>
          </a:p>
        </p:txBody>
      </p:sp>
    </p:spTree>
    <p:extLst>
      <p:ext uri="{BB962C8B-B14F-4D97-AF65-F5344CB8AC3E}">
        <p14:creationId xmlns:p14="http://schemas.microsoft.com/office/powerpoint/2010/main" val="364127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ldLvl="0" animBg="1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609601" y="1058863"/>
            <a:ext cx="13382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en-US" altLang="zh-CN" sz="1800" b="1" dirty="0">
                <a:solidFill>
                  <a:srgbClr val="539A8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b="1" dirty="0">
                <a:solidFill>
                  <a:srgbClr val="539A84"/>
                </a:solidFill>
                <a:latin typeface="微软雅黑" pitchFamily="34" charset="-122"/>
                <a:ea typeface="微软雅黑" pitchFamily="34" charset="-122"/>
              </a:rPr>
              <a:t>、加法</a:t>
            </a: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1787525" y="1058863"/>
            <a:ext cx="21351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zh-CN" altLang="en-US" sz="1600" b="1" dirty="0">
                <a:solidFill>
                  <a:srgbClr val="FF6600"/>
                </a:solidFill>
                <a:latin typeface="华文中宋" pitchFamily="2" charset="-122"/>
                <a:ea typeface="华文中宋" pitchFamily="2" charset="-122"/>
              </a:rPr>
              <a:t>平行四边形法则</a:t>
            </a:r>
          </a:p>
        </p:txBody>
      </p:sp>
      <p:grpSp>
        <p:nvGrpSpPr>
          <p:cNvPr id="2" name="组合 37"/>
          <p:cNvGrpSpPr>
            <a:grpSpLocks/>
          </p:cNvGrpSpPr>
          <p:nvPr/>
        </p:nvGrpSpPr>
        <p:grpSpPr bwMode="auto">
          <a:xfrm>
            <a:off x="6724650" y="1060452"/>
            <a:ext cx="1682750" cy="1006475"/>
            <a:chOff x="6055588" y="4118691"/>
            <a:chExt cx="1126203" cy="806292"/>
          </a:xfrm>
        </p:grpSpPr>
        <p:cxnSp>
          <p:nvCxnSpPr>
            <p:cNvPr id="30724" name="直接箭头连接符 38"/>
            <p:cNvCxnSpPr>
              <a:cxnSpLocks noChangeShapeType="1"/>
            </p:cNvCxnSpPr>
            <p:nvPr/>
          </p:nvCxnSpPr>
          <p:spPr bwMode="auto">
            <a:xfrm>
              <a:off x="6074650" y="4688719"/>
              <a:ext cx="719562" cy="0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25" name="直接箭头连接符 39"/>
            <p:cNvCxnSpPr>
              <a:cxnSpLocks noChangeShapeType="1"/>
            </p:cNvCxnSpPr>
            <p:nvPr/>
          </p:nvCxnSpPr>
          <p:spPr bwMode="auto">
            <a:xfrm flipV="1">
              <a:off x="6776739" y="4142509"/>
              <a:ext cx="405052" cy="546210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26" name="直接箭头连接符 40"/>
            <p:cNvCxnSpPr>
              <a:cxnSpLocks noChangeShapeType="1"/>
            </p:cNvCxnSpPr>
            <p:nvPr/>
          </p:nvCxnSpPr>
          <p:spPr bwMode="auto">
            <a:xfrm flipV="1">
              <a:off x="6055588" y="4118691"/>
              <a:ext cx="1124613" cy="557325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30727" name="Object 27"/>
            <p:cNvGraphicFramePr>
              <a:graphicFrameLocks noChangeAspect="1"/>
            </p:cNvGraphicFramePr>
            <p:nvPr/>
          </p:nvGraphicFramePr>
          <p:xfrm>
            <a:off x="6301522" y="4673063"/>
            <a:ext cx="192841" cy="251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8" r:id="rId3" imgW="164885" imgH="215619" progId="Equation.DSMT4">
                    <p:embed/>
                  </p:oleObj>
                </mc:Choice>
                <mc:Fallback>
                  <p:oleObj r:id="rId3" imgW="164885" imgH="21561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1522" y="4673063"/>
                          <a:ext cx="192841" cy="2519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8" name="Object 28"/>
            <p:cNvGraphicFramePr>
              <a:graphicFrameLocks noChangeAspect="1"/>
            </p:cNvGraphicFramePr>
            <p:nvPr/>
          </p:nvGraphicFramePr>
          <p:xfrm>
            <a:off x="6976465" y="4334420"/>
            <a:ext cx="197778" cy="2419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" r:id="rId5" imgW="164957" imgH="203024" progId="Equation.DSMT4">
                    <p:embed/>
                  </p:oleObj>
                </mc:Choice>
                <mc:Fallback>
                  <p:oleObj r:id="rId5" imgW="164957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6465" y="4334420"/>
                          <a:ext cx="197778" cy="2419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9" name="Object 29"/>
            <p:cNvGraphicFramePr>
              <a:graphicFrameLocks noChangeAspect="1"/>
            </p:cNvGraphicFramePr>
            <p:nvPr/>
          </p:nvGraphicFramePr>
          <p:xfrm>
            <a:off x="6157889" y="4124482"/>
            <a:ext cx="481105" cy="253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" r:id="rId7" imgW="406048" imgH="215713" progId="Equation.DSMT4">
                    <p:embed/>
                  </p:oleObj>
                </mc:Choice>
                <mc:Fallback>
                  <p:oleObj r:id="rId7" imgW="406048" imgH="2157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7889" y="4124482"/>
                          <a:ext cx="481105" cy="253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122363" y="1412873"/>
            <a:ext cx="2894012" cy="367713"/>
            <a:chOff x="1215" y="1435"/>
            <a:chExt cx="2064" cy="368"/>
          </a:xfrm>
        </p:grpSpPr>
        <p:sp>
          <p:nvSpPr>
            <p:cNvPr id="30731" name="Rectangle 6"/>
            <p:cNvSpPr>
              <a:spLocks noChangeArrowheads="1"/>
            </p:cNvSpPr>
            <p:nvPr/>
          </p:nvSpPr>
          <p:spPr bwMode="auto">
            <a:xfrm>
              <a:off x="1215" y="1464"/>
              <a:ext cx="791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16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交换律</a:t>
              </a:r>
            </a:p>
          </p:txBody>
        </p:sp>
        <p:graphicFrame>
          <p:nvGraphicFramePr>
            <p:cNvPr id="30732" name="Object 13"/>
            <p:cNvGraphicFramePr>
              <a:graphicFrameLocks noChangeAspect="1"/>
            </p:cNvGraphicFramePr>
            <p:nvPr/>
          </p:nvGraphicFramePr>
          <p:xfrm>
            <a:off x="1907" y="1435"/>
            <a:ext cx="1372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1" r:id="rId9" imgW="914003" imgH="215806" progId="Equation.DSMT4">
                    <p:embed/>
                  </p:oleObj>
                </mc:Choice>
                <mc:Fallback>
                  <p:oleObj r:id="rId9" imgW="914003" imgH="21580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7" y="1435"/>
                          <a:ext cx="1372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1127125" y="1838325"/>
            <a:ext cx="4121150" cy="361950"/>
            <a:chOff x="628" y="2127"/>
            <a:chExt cx="2964" cy="351"/>
          </a:xfrm>
        </p:grpSpPr>
        <p:sp>
          <p:nvSpPr>
            <p:cNvPr id="30734" name="Rectangle 9"/>
            <p:cNvSpPr>
              <a:spLocks noChangeArrowheads="1"/>
            </p:cNvSpPr>
            <p:nvPr/>
          </p:nvSpPr>
          <p:spPr bwMode="auto">
            <a:xfrm>
              <a:off x="628" y="2136"/>
              <a:ext cx="791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16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结合律</a:t>
              </a:r>
            </a:p>
          </p:txBody>
        </p:sp>
        <p:graphicFrame>
          <p:nvGraphicFramePr>
            <p:cNvPr id="30735" name="Object 11"/>
            <p:cNvGraphicFramePr>
              <a:graphicFrameLocks noChangeAspect="1"/>
            </p:cNvGraphicFramePr>
            <p:nvPr/>
          </p:nvGraphicFramePr>
          <p:xfrm>
            <a:off x="1332" y="2127"/>
            <a:ext cx="226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" r:id="rId11" imgW="1625600" imgH="254000" progId="Equation.DSMT4">
                    <p:embed/>
                  </p:oleObj>
                </mc:Choice>
                <mc:Fallback>
                  <p:oleObj r:id="rId11" imgW="16256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2" y="2127"/>
                          <a:ext cx="2260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" name="Text Box 12"/>
          <p:cNvSpPr txBox="1">
            <a:spLocks noChangeArrowheads="1"/>
          </p:cNvSpPr>
          <p:nvPr/>
        </p:nvSpPr>
        <p:spPr bwMode="auto">
          <a:xfrm>
            <a:off x="615951" y="2373313"/>
            <a:ext cx="13319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en-US" altLang="zh-CN" sz="1800" b="1" dirty="0">
                <a:solidFill>
                  <a:srgbClr val="539A84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800" b="1" dirty="0">
                <a:solidFill>
                  <a:srgbClr val="539A84"/>
                </a:solidFill>
                <a:latin typeface="微软雅黑" pitchFamily="34" charset="-122"/>
                <a:ea typeface="微软雅黑" pitchFamily="34" charset="-122"/>
              </a:rPr>
              <a:t>、减法</a:t>
            </a:r>
          </a:p>
        </p:txBody>
      </p:sp>
      <p:graphicFrame>
        <p:nvGraphicFramePr>
          <p:cNvPr id="124954" name="Object 15"/>
          <p:cNvGraphicFramePr>
            <a:graphicFrameLocks noChangeAspect="1"/>
          </p:cNvGraphicFramePr>
          <p:nvPr/>
        </p:nvGraphicFramePr>
        <p:xfrm>
          <a:off x="1947863" y="2384425"/>
          <a:ext cx="27178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r:id="rId13" imgW="1371600" imgH="254000" progId="Equation.DSMT4">
                  <p:embed/>
                </p:oleObj>
              </mc:Choice>
              <mc:Fallback>
                <p:oleObj r:id="rId13" imgW="13716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3" y="2384425"/>
                        <a:ext cx="271780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6846891" y="2139950"/>
            <a:ext cx="1539875" cy="1150938"/>
            <a:chOff x="4237" y="2795"/>
            <a:chExt cx="970" cy="966"/>
          </a:xfrm>
        </p:grpSpPr>
        <p:sp>
          <p:nvSpPr>
            <p:cNvPr id="30739" name="Line 30"/>
            <p:cNvSpPr>
              <a:spLocks noChangeShapeType="1"/>
            </p:cNvSpPr>
            <p:nvPr/>
          </p:nvSpPr>
          <p:spPr bwMode="auto">
            <a:xfrm>
              <a:off x="4241" y="3521"/>
              <a:ext cx="9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endParaRPr lang="zh-CN" altLang="en-US" sz="28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30740" name="Line 31"/>
            <p:cNvSpPr>
              <a:spLocks noChangeShapeType="1"/>
            </p:cNvSpPr>
            <p:nvPr/>
          </p:nvSpPr>
          <p:spPr bwMode="auto">
            <a:xfrm flipV="1">
              <a:off x="4241" y="2795"/>
              <a:ext cx="544" cy="72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endParaRPr lang="zh-CN" altLang="en-US" sz="28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30741" name="Line 32"/>
            <p:cNvSpPr>
              <a:spLocks noChangeShapeType="1"/>
            </p:cNvSpPr>
            <p:nvPr/>
          </p:nvSpPr>
          <p:spPr bwMode="auto">
            <a:xfrm flipH="1" flipV="1">
              <a:off x="4785" y="2795"/>
              <a:ext cx="363" cy="72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endParaRPr lang="zh-CN" altLang="en-US" sz="28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0742" name="Object 8"/>
            <p:cNvGraphicFramePr>
              <a:graphicFrameLocks noChangeAspect="1"/>
            </p:cNvGraphicFramePr>
            <p:nvPr/>
          </p:nvGraphicFramePr>
          <p:xfrm>
            <a:off x="4604" y="3521"/>
            <a:ext cx="19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4" r:id="rId15" imgW="164957" imgH="203024" progId="Equation.DSMT4">
                    <p:embed/>
                  </p:oleObj>
                </mc:Choice>
                <mc:Fallback>
                  <p:oleObj r:id="rId15" imgW="164957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3521"/>
                          <a:ext cx="19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3" name="Object 10"/>
            <p:cNvGraphicFramePr>
              <a:graphicFrameLocks noChangeAspect="1"/>
            </p:cNvGraphicFramePr>
            <p:nvPr/>
          </p:nvGraphicFramePr>
          <p:xfrm>
            <a:off x="4237" y="2977"/>
            <a:ext cx="199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" r:id="rId17" imgW="164885" imgH="215619" progId="Equation.DSMT4">
                    <p:embed/>
                  </p:oleObj>
                </mc:Choice>
                <mc:Fallback>
                  <p:oleObj r:id="rId17" imgW="164885" imgH="21561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7" y="2977"/>
                          <a:ext cx="199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4" name="Object 11"/>
            <p:cNvGraphicFramePr>
              <a:graphicFrameLocks noChangeAspect="1"/>
            </p:cNvGraphicFramePr>
            <p:nvPr/>
          </p:nvGraphicFramePr>
          <p:xfrm>
            <a:off x="5012" y="2977"/>
            <a:ext cx="195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6" r:id="rId19" imgW="165028" imgH="228501" progId="Equation.DSMT4">
                    <p:embed/>
                  </p:oleObj>
                </mc:Choice>
                <mc:Fallback>
                  <p:oleObj r:id="rId19" imgW="165028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" y="2977"/>
                          <a:ext cx="195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15950" y="3057525"/>
            <a:ext cx="14176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en-US" altLang="zh-CN" sz="1800" b="1" dirty="0">
                <a:solidFill>
                  <a:srgbClr val="539A84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800" b="1" dirty="0">
                <a:solidFill>
                  <a:srgbClr val="539A84"/>
                </a:solidFill>
                <a:latin typeface="微软雅黑" pitchFamily="34" charset="-122"/>
                <a:ea typeface="微软雅黑" pitchFamily="34" charset="-122"/>
              </a:rPr>
              <a:t>、标量积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947863" y="3057527"/>
          <a:ext cx="21256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r:id="rId21" imgW="1040948" imgH="228501" progId="Equation.DSMT4">
                  <p:embed/>
                </p:oleObj>
              </mc:Choice>
              <mc:Fallback>
                <p:oleObj r:id="rId21" imgW="1040948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3" y="3057527"/>
                        <a:ext cx="212566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4"/>
          <p:cNvGrpSpPr>
            <a:grpSpLocks/>
          </p:cNvGrpSpPr>
          <p:nvPr/>
        </p:nvGrpSpPr>
        <p:grpSpPr bwMode="auto">
          <a:xfrm>
            <a:off x="7019925" y="3427413"/>
            <a:ext cx="1366838" cy="1028700"/>
            <a:chOff x="6642230" y="3659184"/>
            <a:chExt cx="1366548" cy="1373871"/>
          </a:xfrm>
        </p:grpSpPr>
        <p:cxnSp>
          <p:nvCxnSpPr>
            <p:cNvPr id="30748" name="直接箭头连接符 5"/>
            <p:cNvCxnSpPr>
              <a:cxnSpLocks noChangeShapeType="1"/>
            </p:cNvCxnSpPr>
            <p:nvPr/>
          </p:nvCxnSpPr>
          <p:spPr bwMode="auto">
            <a:xfrm flipV="1">
              <a:off x="6642230" y="4059433"/>
              <a:ext cx="630104" cy="628963"/>
            </a:xfrm>
            <a:prstGeom prst="straightConnector1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9" name="直接箭头连接符 6"/>
            <p:cNvCxnSpPr>
              <a:cxnSpLocks noChangeShapeType="1"/>
            </p:cNvCxnSpPr>
            <p:nvPr/>
          </p:nvCxnSpPr>
          <p:spPr bwMode="auto">
            <a:xfrm>
              <a:off x="6642230" y="4688396"/>
              <a:ext cx="1080859" cy="135004"/>
            </a:xfrm>
            <a:prstGeom prst="straightConnector1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30750" name="Object 3"/>
            <p:cNvGraphicFramePr>
              <a:graphicFrameLocks noChangeAspect="1"/>
            </p:cNvGraphicFramePr>
            <p:nvPr/>
          </p:nvGraphicFramePr>
          <p:xfrm>
            <a:off x="7181865" y="3659184"/>
            <a:ext cx="315846" cy="4129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8" r:id="rId23" imgW="164885" imgH="215619" progId="Equation.DSMT4">
                    <p:embed/>
                  </p:oleObj>
                </mc:Choice>
                <mc:Fallback>
                  <p:oleObj r:id="rId23" imgW="164885" imgH="21561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1865" y="3659184"/>
                          <a:ext cx="315846" cy="4129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1" name="Object 30"/>
            <p:cNvGraphicFramePr>
              <a:graphicFrameLocks noChangeAspect="1"/>
            </p:cNvGraphicFramePr>
            <p:nvPr/>
          </p:nvGraphicFramePr>
          <p:xfrm>
            <a:off x="7730227" y="4692016"/>
            <a:ext cx="278551" cy="3410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" r:id="rId25" imgW="164957" imgH="203024" progId="Equation.DSMT4">
                    <p:embed/>
                  </p:oleObj>
                </mc:Choice>
                <mc:Fallback>
                  <p:oleObj r:id="rId25" imgW="164957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30227" y="4692016"/>
                          <a:ext cx="278551" cy="3410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2" name="TextBox 7"/>
            <p:cNvSpPr txBox="1">
              <a:spLocks noChangeArrowheads="1"/>
            </p:cNvSpPr>
            <p:nvPr/>
          </p:nvSpPr>
          <p:spPr bwMode="auto">
            <a:xfrm>
              <a:off x="7070498" y="4365391"/>
              <a:ext cx="292006" cy="452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1600" b="1" i="1">
                  <a:solidFill>
                    <a:srgbClr val="000000"/>
                  </a:solidFill>
                  <a:latin typeface="Symbol" pitchFamily="18" charset="2"/>
                  <a:sym typeface="Symbol" pitchFamily="18" charset="2"/>
                </a:rPr>
                <a:t></a:t>
              </a:r>
              <a:endParaRPr lang="zh-CN" altLang="en-US" sz="1600" b="1" i="1">
                <a:solidFill>
                  <a:srgbClr val="000000"/>
                </a:solidFill>
                <a:latin typeface="Symbol" pitchFamily="18" charset="2"/>
              </a:endParaRPr>
            </a:p>
          </p:txBody>
        </p:sp>
        <p:sp>
          <p:nvSpPr>
            <p:cNvPr id="11" name="任意多边形 10"/>
            <p:cNvSpPr>
              <a:spLocks noChangeArrowheads="1"/>
            </p:cNvSpPr>
            <p:nvPr/>
          </p:nvSpPr>
          <p:spPr bwMode="auto">
            <a:xfrm>
              <a:off x="6943791" y="4343721"/>
              <a:ext cx="203157" cy="452153"/>
            </a:xfrm>
            <a:custGeom>
              <a:avLst/>
              <a:gdLst>
                <a:gd name="T0" fmla="*/ 0 w 111026"/>
                <a:gd name="T1" fmla="*/ 0 h 292231"/>
                <a:gd name="T2" fmla="*/ 51882 w 111026"/>
                <a:gd name="T3" fmla="*/ 70705 h 292231"/>
                <a:gd name="T4" fmla="*/ 47165 w 111026"/>
                <a:gd name="T5" fmla="*/ 146123 h 292231"/>
                <a:gd name="T6" fmla="*/ 0 60000 65536"/>
                <a:gd name="T7" fmla="*/ 0 60000 65536"/>
                <a:gd name="T8" fmla="*/ 0 60000 65536"/>
                <a:gd name="T9" fmla="*/ 0 w 111026"/>
                <a:gd name="T10" fmla="*/ 0 h 292231"/>
                <a:gd name="T11" fmla="*/ 111026 w 111026"/>
                <a:gd name="T12" fmla="*/ 292231 h 2922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026" h="292231">
                  <a:moveTo>
                    <a:pt x="0" y="0"/>
                  </a:moveTo>
                  <a:cubicBezTo>
                    <a:pt x="43992" y="46348"/>
                    <a:pt x="87984" y="92697"/>
                    <a:pt x="103695" y="141402"/>
                  </a:cubicBezTo>
                  <a:cubicBezTo>
                    <a:pt x="119406" y="190107"/>
                    <a:pt x="106837" y="241169"/>
                    <a:pt x="94268" y="292231"/>
                  </a:cubicBezTo>
                </a:path>
              </a:pathLst>
            </a:custGeom>
            <a:noFill/>
            <a:ln w="19050" algn="ctr">
              <a:solidFill>
                <a:srgbClr val="FF0000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b="1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43"/>
          <p:cNvGrpSpPr>
            <a:grpSpLocks/>
          </p:cNvGrpSpPr>
          <p:nvPr/>
        </p:nvGrpSpPr>
        <p:grpSpPr bwMode="auto">
          <a:xfrm>
            <a:off x="1174750" y="3575059"/>
            <a:ext cx="2876550" cy="422769"/>
            <a:chOff x="1331640" y="5068728"/>
            <a:chExt cx="2885516" cy="583820"/>
          </a:xfrm>
        </p:grpSpPr>
        <p:sp>
          <p:nvSpPr>
            <p:cNvPr id="30755" name="Rectangle 3"/>
            <p:cNvSpPr>
              <a:spLocks noChangeArrowheads="1"/>
            </p:cNvSpPr>
            <p:nvPr/>
          </p:nvSpPr>
          <p:spPr bwMode="auto">
            <a:xfrm>
              <a:off x="1331640" y="5185024"/>
              <a:ext cx="1255688" cy="467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16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交换律</a:t>
              </a:r>
            </a:p>
          </p:txBody>
        </p:sp>
        <p:graphicFrame>
          <p:nvGraphicFramePr>
            <p:cNvPr id="30756" name="Object 4"/>
            <p:cNvGraphicFramePr>
              <a:graphicFrameLocks noChangeAspect="1"/>
            </p:cNvGraphicFramePr>
            <p:nvPr/>
          </p:nvGraphicFramePr>
          <p:xfrm>
            <a:off x="2339900" y="5068728"/>
            <a:ext cx="1877256" cy="502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" r:id="rId27" imgW="799753" imgH="215806" progId="Equation.DSMT4">
                    <p:embed/>
                  </p:oleObj>
                </mc:Choice>
                <mc:Fallback>
                  <p:oleObj r:id="rId27" imgW="799753" imgH="21580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900" y="5068728"/>
                          <a:ext cx="1877256" cy="5025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1174750" y="3933827"/>
            <a:ext cx="5245100" cy="415925"/>
            <a:chOff x="1140" y="1190"/>
            <a:chExt cx="3348" cy="343"/>
          </a:xfrm>
        </p:grpSpPr>
        <p:sp>
          <p:nvSpPr>
            <p:cNvPr id="30758" name="Rectangle 6"/>
            <p:cNvSpPr>
              <a:spLocks noChangeArrowheads="1"/>
            </p:cNvSpPr>
            <p:nvPr/>
          </p:nvSpPr>
          <p:spPr bwMode="auto">
            <a:xfrm>
              <a:off x="1140" y="1223"/>
              <a:ext cx="791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16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分配律</a:t>
              </a:r>
            </a:p>
          </p:txBody>
        </p:sp>
        <p:graphicFrame>
          <p:nvGraphicFramePr>
            <p:cNvPr id="30759" name="Object 7"/>
            <p:cNvGraphicFramePr>
              <a:graphicFrameLocks noChangeAspect="1"/>
            </p:cNvGraphicFramePr>
            <p:nvPr/>
          </p:nvGraphicFramePr>
          <p:xfrm>
            <a:off x="1812" y="1190"/>
            <a:ext cx="2676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" r:id="rId29" imgW="1968500" imgH="254000" progId="Equation.DSMT4">
                    <p:embed/>
                  </p:oleObj>
                </mc:Choice>
                <mc:Fallback>
                  <p:oleObj r:id="rId29" imgW="19685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2" y="1190"/>
                          <a:ext cx="2676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2606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31" grpId="0"/>
      <p:bldP spid="62" grpId="0" bldLvl="0" animBg="1"/>
      <p:bldP spid="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57238" y="931864"/>
            <a:ext cx="2641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en-US" altLang="zh-CN" sz="2000" b="1" dirty="0">
                <a:solidFill>
                  <a:srgbClr val="539A84"/>
                </a:solidFill>
                <a:latin typeface="华文中宋" pitchFamily="2" charset="-122"/>
                <a:ea typeface="华文中宋" pitchFamily="2" charset="-122"/>
              </a:rPr>
              <a:t>4</a:t>
            </a:r>
            <a:r>
              <a:rPr lang="zh-CN" altLang="en-US" sz="2000" b="1" dirty="0">
                <a:solidFill>
                  <a:srgbClr val="539A84"/>
                </a:solidFill>
                <a:latin typeface="华文中宋" pitchFamily="2" charset="-122"/>
                <a:ea typeface="华文中宋" pitchFamily="2" charset="-122"/>
              </a:rPr>
              <a:t>、矢量积</a:t>
            </a:r>
          </a:p>
        </p:txBody>
      </p:sp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1300163" y="1614488"/>
          <a:ext cx="129381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r:id="rId3" imgW="660400" imgH="228600" progId="Equation.DSMT4">
                  <p:embed/>
                </p:oleObj>
              </mc:Choice>
              <mc:Fallback>
                <p:oleObj r:id="rId3" imgW="660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1614488"/>
                        <a:ext cx="1293812" cy="333375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19"/>
          <p:cNvGrpSpPr>
            <a:grpSpLocks/>
          </p:cNvGrpSpPr>
          <p:nvPr/>
        </p:nvGrpSpPr>
        <p:grpSpPr bwMode="auto">
          <a:xfrm>
            <a:off x="5116517" y="1152527"/>
            <a:ext cx="1208087" cy="665163"/>
            <a:chOff x="4845787" y="4342172"/>
            <a:chExt cx="1208051" cy="885825"/>
          </a:xfrm>
        </p:grpSpPr>
        <p:grpSp>
          <p:nvGrpSpPr>
            <p:cNvPr id="31748" name="组合 8"/>
            <p:cNvGrpSpPr>
              <a:grpSpLocks/>
            </p:cNvGrpSpPr>
            <p:nvPr/>
          </p:nvGrpSpPr>
          <p:grpSpPr bwMode="auto">
            <a:xfrm>
              <a:off x="5512518" y="4342172"/>
              <a:ext cx="541320" cy="885825"/>
              <a:chOff x="4887050" y="852472"/>
              <a:chExt cx="542352" cy="884797"/>
            </a:xfrm>
          </p:grpSpPr>
          <p:cxnSp>
            <p:nvCxnSpPr>
              <p:cNvPr id="31749" name="直接箭头连接符 22"/>
              <p:cNvCxnSpPr>
                <a:cxnSpLocks noChangeShapeType="1"/>
              </p:cNvCxnSpPr>
              <p:nvPr/>
            </p:nvCxnSpPr>
            <p:spPr bwMode="auto">
              <a:xfrm flipH="1" flipV="1">
                <a:off x="4887050" y="852472"/>
                <a:ext cx="351497" cy="884797"/>
              </a:xfrm>
              <a:prstGeom prst="straightConnector1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4" name="任意多边形 23"/>
              <p:cNvSpPr>
                <a:spLocks noChangeArrowheads="1"/>
              </p:cNvSpPr>
              <p:nvPr/>
            </p:nvSpPr>
            <p:spPr bwMode="auto">
              <a:xfrm>
                <a:off x="5138345" y="1141496"/>
                <a:ext cx="291057" cy="450343"/>
              </a:xfrm>
              <a:custGeom>
                <a:avLst/>
                <a:gdLst>
                  <a:gd name="T0" fmla="*/ 0 w 659876"/>
                  <a:gd name="T1" fmla="*/ 196792 h 527901"/>
                  <a:gd name="T2" fmla="*/ 207899 w 659876"/>
                  <a:gd name="T3" fmla="*/ 0 h 527901"/>
                  <a:gd name="T4" fmla="*/ 291059 w 659876"/>
                  <a:gd name="T5" fmla="*/ 220407 h 527901"/>
                  <a:gd name="T6" fmla="*/ 0 60000 65536"/>
                  <a:gd name="T7" fmla="*/ 0 60000 65536"/>
                  <a:gd name="T8" fmla="*/ 0 60000 65536"/>
                  <a:gd name="T9" fmla="*/ 0 w 659876"/>
                  <a:gd name="T10" fmla="*/ 0 h 527901"/>
                  <a:gd name="T11" fmla="*/ 659876 w 659876"/>
                  <a:gd name="T12" fmla="*/ 527901 h 5279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9876" h="527901">
                    <a:moveTo>
                      <a:pt x="0" y="471340"/>
                    </a:moveTo>
                    <a:lnTo>
                      <a:pt x="471340" y="0"/>
                    </a:lnTo>
                    <a:lnTo>
                      <a:pt x="659876" y="527901"/>
                    </a:lnTo>
                  </a:path>
                </a:pathLst>
              </a:custGeom>
              <a:noFill/>
              <a:ln w="12700" algn="ctr">
                <a:solidFill>
                  <a:srgbClr val="00B0F0"/>
                </a:solidFill>
                <a:miter lim="800000"/>
              </a:ln>
            </p:spPr>
            <p:txBody>
              <a:bodyPr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b="1">
                  <a:solidFill>
                    <a:prstClr val="white"/>
                  </a:solidFill>
                </a:endParaRPr>
              </a:p>
            </p:txBody>
          </p:sp>
        </p:grpSp>
        <p:graphicFrame>
          <p:nvGraphicFramePr>
            <p:cNvPr id="31751" name="Object 8"/>
            <p:cNvGraphicFramePr>
              <a:graphicFrameLocks noChangeAspect="1"/>
            </p:cNvGraphicFramePr>
            <p:nvPr/>
          </p:nvGraphicFramePr>
          <p:xfrm>
            <a:off x="4845787" y="4551722"/>
            <a:ext cx="77309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r:id="rId5" imgW="393359" imgH="215713" progId="Equation.DSMT4">
                    <p:embed/>
                  </p:oleObj>
                </mc:Choice>
                <mc:Fallback>
                  <p:oleObj r:id="rId5" imgW="393359" imgH="2157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5787" y="4551722"/>
                          <a:ext cx="77309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24"/>
          <p:cNvGrpSpPr>
            <a:grpSpLocks/>
          </p:cNvGrpSpPr>
          <p:nvPr/>
        </p:nvGrpSpPr>
        <p:grpSpPr bwMode="auto">
          <a:xfrm>
            <a:off x="6134100" y="1054100"/>
            <a:ext cx="1366838" cy="1028700"/>
            <a:chOff x="6642230" y="3671890"/>
            <a:chExt cx="1366548" cy="1372283"/>
          </a:xfrm>
        </p:grpSpPr>
        <p:cxnSp>
          <p:nvCxnSpPr>
            <p:cNvPr id="31753" name="直接箭头连接符 25"/>
            <p:cNvCxnSpPr>
              <a:cxnSpLocks noChangeShapeType="1"/>
            </p:cNvCxnSpPr>
            <p:nvPr/>
          </p:nvCxnSpPr>
          <p:spPr bwMode="auto">
            <a:xfrm flipV="1">
              <a:off x="6642230" y="4059433"/>
              <a:ext cx="630104" cy="628963"/>
            </a:xfrm>
            <a:prstGeom prst="straightConnector1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4" name="直接箭头连接符 26"/>
            <p:cNvCxnSpPr>
              <a:cxnSpLocks noChangeShapeType="1"/>
            </p:cNvCxnSpPr>
            <p:nvPr/>
          </p:nvCxnSpPr>
          <p:spPr bwMode="auto">
            <a:xfrm>
              <a:off x="6642230" y="4688396"/>
              <a:ext cx="1080858" cy="135005"/>
            </a:xfrm>
            <a:prstGeom prst="straightConnector1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31755" name="Object 15"/>
            <p:cNvGraphicFramePr>
              <a:graphicFrameLocks noChangeAspect="1"/>
            </p:cNvGraphicFramePr>
            <p:nvPr/>
          </p:nvGraphicFramePr>
          <p:xfrm>
            <a:off x="7182290" y="3671890"/>
            <a:ext cx="315035" cy="387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r:id="rId7" imgW="164957" imgH="203024" progId="Equation.DSMT4">
                    <p:embed/>
                  </p:oleObj>
                </mc:Choice>
                <mc:Fallback>
                  <p:oleObj r:id="rId7" imgW="164957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2290" y="3671890"/>
                          <a:ext cx="315035" cy="387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6" name="Object 10"/>
            <p:cNvGraphicFramePr>
              <a:graphicFrameLocks noChangeAspect="1"/>
            </p:cNvGraphicFramePr>
            <p:nvPr/>
          </p:nvGraphicFramePr>
          <p:xfrm>
            <a:off x="7729437" y="4680455"/>
            <a:ext cx="279341" cy="3637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r:id="rId9" imgW="164885" imgH="215619" progId="Equation.DSMT4">
                    <p:embed/>
                  </p:oleObj>
                </mc:Choice>
                <mc:Fallback>
                  <p:oleObj r:id="rId9" imgW="164885" imgH="21561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9437" y="4680455"/>
                          <a:ext cx="279341" cy="3637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7" name="TextBox 32"/>
            <p:cNvSpPr txBox="1">
              <a:spLocks noChangeArrowheads="1"/>
            </p:cNvSpPr>
            <p:nvPr/>
          </p:nvSpPr>
          <p:spPr bwMode="auto">
            <a:xfrm>
              <a:off x="7024141" y="4348404"/>
              <a:ext cx="292006" cy="451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1600" b="1" i="1">
                  <a:solidFill>
                    <a:srgbClr val="000000"/>
                  </a:solidFill>
                  <a:latin typeface="Symbol" pitchFamily="18" charset="2"/>
                  <a:sym typeface="Symbol" pitchFamily="18" charset="2"/>
                </a:rPr>
                <a:t></a:t>
              </a:r>
              <a:endParaRPr lang="zh-CN" altLang="en-US" sz="1600" b="1" i="1">
                <a:solidFill>
                  <a:srgbClr val="000000"/>
                </a:solidFill>
                <a:latin typeface="Symbol" pitchFamily="18" charset="2"/>
              </a:endParaRPr>
            </a:p>
          </p:txBody>
        </p:sp>
        <p:sp>
          <p:nvSpPr>
            <p:cNvPr id="31" name="任意多边形 30"/>
            <p:cNvSpPr>
              <a:spLocks noChangeArrowheads="1"/>
            </p:cNvSpPr>
            <p:nvPr/>
          </p:nvSpPr>
          <p:spPr bwMode="auto">
            <a:xfrm>
              <a:off x="6880304" y="4376814"/>
              <a:ext cx="215854" cy="451630"/>
            </a:xfrm>
            <a:custGeom>
              <a:avLst/>
              <a:gdLst>
                <a:gd name="T0" fmla="*/ 0 w 111026"/>
                <a:gd name="T1" fmla="*/ 0 h 292231"/>
                <a:gd name="T2" fmla="*/ 51883 w 111026"/>
                <a:gd name="T3" fmla="*/ 70705 h 292231"/>
                <a:gd name="T4" fmla="*/ 47166 w 111026"/>
                <a:gd name="T5" fmla="*/ 146123 h 292231"/>
                <a:gd name="T6" fmla="*/ 0 60000 65536"/>
                <a:gd name="T7" fmla="*/ 0 60000 65536"/>
                <a:gd name="T8" fmla="*/ 0 60000 65536"/>
                <a:gd name="T9" fmla="*/ 0 w 111026"/>
                <a:gd name="T10" fmla="*/ 0 h 292231"/>
                <a:gd name="T11" fmla="*/ 111026 w 111026"/>
                <a:gd name="T12" fmla="*/ 292231 h 2922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026" h="292231">
                  <a:moveTo>
                    <a:pt x="0" y="0"/>
                  </a:moveTo>
                  <a:cubicBezTo>
                    <a:pt x="43992" y="46348"/>
                    <a:pt x="87984" y="92697"/>
                    <a:pt x="103695" y="141402"/>
                  </a:cubicBezTo>
                  <a:cubicBezTo>
                    <a:pt x="119406" y="190107"/>
                    <a:pt x="106837" y="241169"/>
                    <a:pt x="94268" y="292231"/>
                  </a:cubicBezTo>
                </a:path>
              </a:pathLst>
            </a:custGeom>
            <a:noFill/>
            <a:ln w="19050" algn="ctr">
              <a:solidFill>
                <a:srgbClr val="FF0000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b="1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2" name="对象 6"/>
          <p:cNvGraphicFramePr>
            <a:graphicFrameLocks noChangeAspect="1"/>
          </p:cNvGraphicFramePr>
          <p:nvPr/>
        </p:nvGraphicFramePr>
        <p:xfrm>
          <a:off x="1298579" y="2044700"/>
          <a:ext cx="38385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r:id="rId11" imgW="1981200" imgH="330200" progId="Equation.DSMT4">
                  <p:embed/>
                </p:oleObj>
              </mc:Choice>
              <mc:Fallback>
                <p:oleObj r:id="rId11" imgW="19812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9" y="2044700"/>
                        <a:ext cx="3838575" cy="476250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3"/>
          <p:cNvGraphicFramePr>
            <a:graphicFrameLocks noChangeAspect="1"/>
          </p:cNvGraphicFramePr>
          <p:nvPr/>
        </p:nvGraphicFramePr>
        <p:xfrm>
          <a:off x="3024191" y="2984502"/>
          <a:ext cx="249713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r:id="rId13" imgW="2006600" imgH="1168400" progId="Equation.DSMT4">
                  <p:embed/>
                </p:oleObj>
              </mc:Choice>
              <mc:Fallback>
                <p:oleObj r:id="rId13" imgW="2006600" imgH="116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91" y="2984502"/>
                        <a:ext cx="2497137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/>
          <p:cNvGraphicFramePr>
            <a:graphicFrameLocks noChangeAspect="1"/>
          </p:cNvGraphicFramePr>
          <p:nvPr/>
        </p:nvGraphicFramePr>
        <p:xfrm>
          <a:off x="1006475" y="4054477"/>
          <a:ext cx="703738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r:id="rId15" imgW="5156200" imgH="419100" progId="Equation.DSMT4">
                  <p:embed/>
                </p:oleObj>
              </mc:Choice>
              <mc:Fallback>
                <p:oleObj r:id="rId15" imgW="51562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4054477"/>
                        <a:ext cx="7037388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190625" y="2732088"/>
            <a:ext cx="46799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zh-CN" altLang="en-US" sz="2000" b="1" dirty="0">
                <a:solidFill>
                  <a:srgbClr val="FF6600"/>
                </a:solidFill>
                <a:latin typeface="华文中宋" pitchFamily="2" charset="-122"/>
                <a:ea typeface="华文中宋" pitchFamily="2" charset="-122"/>
              </a:rPr>
              <a:t>方向：右手螺旋法则</a:t>
            </a:r>
          </a:p>
        </p:txBody>
      </p:sp>
    </p:spTree>
    <p:extLst>
      <p:ext uri="{BB962C8B-B14F-4D97-AF65-F5344CB8AC3E}">
        <p14:creationId xmlns:p14="http://schemas.microsoft.com/office/powerpoint/2010/main" val="176408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>
            <a:spLocks noChangeArrowheads="1"/>
          </p:cNvSpPr>
          <p:nvPr/>
        </p:nvSpPr>
        <p:spPr bwMode="auto">
          <a:xfrm>
            <a:off x="677863" y="1677988"/>
            <a:ext cx="3513137" cy="400110"/>
          </a:xfrm>
          <a:prstGeom prst="homePlate">
            <a:avLst>
              <a:gd name="adj" fmla="val 50043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0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一、物理学的研究对象</a:t>
            </a:r>
          </a:p>
        </p:txBody>
      </p:sp>
      <p:sp>
        <p:nvSpPr>
          <p:cNvPr id="32770" name="Text Box 3"/>
          <p:cNvSpPr txBox="1">
            <a:spLocks noChangeArrowheads="1"/>
          </p:cNvSpPr>
          <p:nvPr/>
        </p:nvSpPr>
        <p:spPr bwMode="auto">
          <a:xfrm>
            <a:off x="107950" y="968377"/>
            <a:ext cx="87630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400" b="1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　  </a:t>
            </a:r>
            <a:r>
              <a:rPr lang="zh-CN" altLang="en-US" sz="16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物理学是关于自然界最基本形态的科学。它研究</a:t>
            </a:r>
            <a:r>
              <a:rPr lang="zh-CN" altLang="en-US" sz="1600" dirty="0">
                <a:solidFill>
                  <a:srgbClr val="FF6600"/>
                </a:solidFill>
                <a:latin typeface="微软雅黑" pitchFamily="34" charset="-122"/>
                <a:ea typeface="微软雅黑" pitchFamily="34" charset="-122"/>
              </a:rPr>
              <a:t>物质的结构，相互作用</a:t>
            </a:r>
            <a:r>
              <a:rPr lang="zh-CN" altLang="en-US" sz="16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以及</a:t>
            </a:r>
            <a:r>
              <a:rPr lang="zh-CN" altLang="en-US" sz="1600" dirty="0">
                <a:solidFill>
                  <a:srgbClr val="FF6600"/>
                </a:solidFill>
                <a:latin typeface="微软雅黑" pitchFamily="34" charset="-122"/>
                <a:ea typeface="微软雅黑" pitchFamily="34" charset="-122"/>
              </a:rPr>
              <a:t>物质的运动</a:t>
            </a:r>
            <a:r>
              <a:rPr lang="zh-CN" altLang="en-US" sz="16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833438" y="2170113"/>
            <a:ext cx="50339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000">
                <a:solidFill>
                  <a:srgbClr val="539A8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>
                <a:solidFill>
                  <a:srgbClr val="539A84"/>
                </a:solidFill>
                <a:latin typeface="微软雅黑" pitchFamily="34" charset="-122"/>
                <a:ea typeface="微软雅黑" pitchFamily="34" charset="-122"/>
              </a:rPr>
              <a:t>、研究物质的两种形态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962025" y="2624138"/>
            <a:ext cx="44735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600" dirty="0">
                <a:solidFill>
                  <a:srgbClr val="C0504D"/>
                </a:solidFill>
                <a:latin typeface="华文细黑" pitchFamily="2" charset="-122"/>
                <a:ea typeface="华文细黑" pitchFamily="2" charset="-122"/>
              </a:rPr>
              <a:t>实物</a:t>
            </a:r>
            <a:r>
              <a:rPr lang="zh-CN" altLang="en-US" sz="1600" dirty="0">
                <a:solidFill>
                  <a:srgbClr val="000000"/>
                </a:solidFill>
                <a:latin typeface="华文细黑" pitchFamily="2" charset="-122"/>
                <a:ea typeface="华文细黑" pitchFamily="2" charset="-122"/>
              </a:rPr>
              <a:t>和</a:t>
            </a:r>
            <a:r>
              <a:rPr lang="zh-CN" altLang="en-US" sz="1600" dirty="0">
                <a:solidFill>
                  <a:srgbClr val="C0504D"/>
                </a:solidFill>
                <a:latin typeface="华文细黑" pitchFamily="2" charset="-122"/>
                <a:ea typeface="华文细黑" pitchFamily="2" charset="-122"/>
              </a:rPr>
              <a:t>场</a:t>
            </a:r>
            <a:r>
              <a:rPr lang="zh-CN" altLang="en-US" sz="1600" dirty="0">
                <a:solidFill>
                  <a:srgbClr val="000000"/>
                </a:solidFill>
                <a:latin typeface="华文细黑" pitchFamily="2" charset="-122"/>
                <a:ea typeface="华文细黑" pitchFamily="2" charset="-122"/>
              </a:rPr>
              <a:t>是物质的两种基本形态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939800" y="2970213"/>
            <a:ext cx="4495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600" b="1" dirty="0">
                <a:solidFill>
                  <a:srgbClr val="539A84"/>
                </a:solidFill>
                <a:latin typeface="微软雅黑" pitchFamily="34" charset="-122"/>
                <a:ea typeface="微软雅黑" pitchFamily="34" charset="-122"/>
              </a:rPr>
              <a:t>▲关于实物物质结构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955675" y="3779838"/>
            <a:ext cx="2895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600" b="1">
                <a:solidFill>
                  <a:srgbClr val="539A84"/>
                </a:solidFill>
                <a:latin typeface="微软雅黑" pitchFamily="34" charset="-122"/>
                <a:ea typeface="微软雅黑" pitchFamily="34" charset="-122"/>
              </a:rPr>
              <a:t>▲关于场物质结构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1336675" y="4260850"/>
            <a:ext cx="53927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60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例如：电磁场、引力场、各种介子场。</a:t>
            </a: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1103313" y="3352801"/>
            <a:ext cx="8534400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60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　实物包括微观粒子和宏观物体，它的范围是从基本粒子的亚核世界到整个宇宙。 </a:t>
            </a:r>
          </a:p>
        </p:txBody>
      </p:sp>
    </p:spTree>
    <p:extLst>
      <p:ext uri="{BB962C8B-B14F-4D97-AF65-F5344CB8AC3E}">
        <p14:creationId xmlns:p14="http://schemas.microsoft.com/office/powerpoint/2010/main" val="189114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ldLvl="0" animBg="1"/>
      <p:bldP spid="6148" grpId="0"/>
      <p:bldP spid="6149" grpId="0"/>
      <p:bldP spid="6150" grpId="0"/>
      <p:bldP spid="6151" grpId="0"/>
      <p:bldP spid="6152" grpId="0"/>
      <p:bldP spid="61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2"/>
          <p:cNvSpPr txBox="1">
            <a:spLocks noChangeArrowheads="1"/>
          </p:cNvSpPr>
          <p:nvPr/>
        </p:nvSpPr>
        <p:spPr bwMode="auto">
          <a:xfrm>
            <a:off x="228600" y="1009651"/>
            <a:ext cx="72326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000">
                <a:solidFill>
                  <a:srgbClr val="58A289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>
                <a:solidFill>
                  <a:srgbClr val="58A289"/>
                </a:solidFill>
                <a:latin typeface="微软雅黑" pitchFamily="34" charset="-122"/>
                <a:ea typeface="微软雅黑" pitchFamily="34" charset="-122"/>
              </a:rPr>
              <a:t>、研究物质最简单最基本最普遍的运动形式 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50825" y="1760538"/>
            <a:ext cx="40449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000">
                <a:solidFill>
                  <a:srgbClr val="58A289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>
                <a:solidFill>
                  <a:srgbClr val="58A289"/>
                </a:solidFill>
                <a:latin typeface="微软雅黑" pitchFamily="34" charset="-122"/>
                <a:ea typeface="微软雅黑" pitchFamily="34" charset="-122"/>
              </a:rPr>
              <a:t>、研究物质的相互作用 </a:t>
            </a:r>
          </a:p>
        </p:txBody>
      </p:sp>
      <p:sp>
        <p:nvSpPr>
          <p:cNvPr id="7172" name="Text Box 4"/>
          <p:cNvSpPr txBox="1"/>
          <p:nvPr/>
        </p:nvSpPr>
        <p:spPr>
          <a:xfrm>
            <a:off x="395288" y="2120900"/>
            <a:ext cx="8382000" cy="38779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600" noProof="1">
                <a:solidFill>
                  <a:srgbClr val="000000"/>
                </a:solidFill>
                <a:latin typeface="华文细黑" panose="02010600040101010101" charset="-122"/>
                <a:ea typeface="华文细黑" panose="02010600040101010101" charset="-122"/>
              </a:rPr>
              <a:t>　 物质间有四种相互作用：</a:t>
            </a:r>
            <a:r>
              <a:rPr lang="zh-CN" altLang="en-US" sz="1600" noProof="1">
                <a:solidFill>
                  <a:srgbClr val="F79646">
                    <a:lumMod val="75000"/>
                  </a:srgbClr>
                </a:solidFill>
                <a:latin typeface="华文细黑" panose="02010600040101010101" charset="-122"/>
                <a:ea typeface="华文细黑" panose="02010600040101010101" charset="-122"/>
              </a:rPr>
              <a:t>引力作用、电磁作用、强作用、弱作用</a:t>
            </a:r>
            <a:r>
              <a:rPr lang="zh-CN" altLang="en-US" sz="1600" noProof="1">
                <a:solidFill>
                  <a:srgbClr val="800000"/>
                </a:solidFill>
                <a:latin typeface="华文细黑" panose="02010600040101010101" charset="-122"/>
                <a:ea typeface="华文细黑" panose="02010600040101010101" charset="-122"/>
              </a:rPr>
              <a:t>。 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612775" y="1397000"/>
            <a:ext cx="53927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物质的运动具有粒子和波动两种图象。</a:t>
            </a:r>
          </a:p>
        </p:txBody>
      </p:sp>
      <p:sp>
        <p:nvSpPr>
          <p:cNvPr id="7181" name="Text Box 13"/>
          <p:cNvSpPr>
            <a:spLocks noChangeArrowheads="1"/>
          </p:cNvSpPr>
          <p:nvPr/>
        </p:nvSpPr>
        <p:spPr bwMode="auto">
          <a:xfrm>
            <a:off x="250825" y="2659063"/>
            <a:ext cx="4102100" cy="400110"/>
          </a:xfrm>
          <a:prstGeom prst="homePlate">
            <a:avLst>
              <a:gd name="adj" fmla="val 49997"/>
            </a:avLst>
          </a:prstGeom>
          <a:solidFill>
            <a:srgbClr val="58A2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0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二、物理学所涵盖的时空范围</a:t>
            </a:r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900113" y="3200400"/>
            <a:ext cx="59991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</a:rPr>
              <a:t>宇观、宏观、介观、微观、生命观</a:t>
            </a:r>
          </a:p>
        </p:txBody>
      </p:sp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863600" y="3605784"/>
            <a:ext cx="8172450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空间：微观粒子10</a:t>
            </a:r>
            <a:r>
              <a:rPr lang="zh-CN" altLang="en-US" sz="1600" baseline="300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-15</a:t>
            </a:r>
            <a:r>
              <a:rPr lang="en-US" altLang="zh-CN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m</a:t>
            </a:r>
            <a:r>
              <a:rPr lang="en-US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（</a:t>
            </a:r>
            <a:r>
              <a:rPr lang="zh-CN" altLang="en-US" sz="1600" dirty="0">
                <a:solidFill>
                  <a:srgbClr val="800000"/>
                </a:solidFill>
                <a:latin typeface="华文细黑" pitchFamily="2" charset="-122"/>
                <a:ea typeface="华文细黑" pitchFamily="2" charset="-122"/>
              </a:rPr>
              <a:t>夸克</a:t>
            </a:r>
            <a:r>
              <a:rPr lang="zh-CN" altLang="en-US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）</a:t>
            </a:r>
            <a:r>
              <a:rPr lang="en-US" altLang="zh-CN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--</a:t>
            </a:r>
            <a:r>
              <a:rPr lang="zh-CN" altLang="en-US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宇宙尺寸10</a:t>
            </a:r>
            <a:r>
              <a:rPr lang="zh-CN" altLang="en-US" sz="1600" baseline="300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27</a:t>
            </a:r>
            <a:r>
              <a:rPr lang="en-US" altLang="zh-CN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m</a:t>
            </a:r>
            <a:r>
              <a:rPr lang="en-US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（</a:t>
            </a:r>
            <a:r>
              <a:rPr lang="zh-CN" altLang="en-US" sz="1600" dirty="0">
                <a:solidFill>
                  <a:srgbClr val="800000"/>
                </a:solidFill>
                <a:latin typeface="华文细黑" pitchFamily="2" charset="-122"/>
                <a:ea typeface="华文细黑" pitchFamily="2" charset="-122"/>
              </a:rPr>
              <a:t>哈勃半径</a:t>
            </a:r>
            <a:r>
              <a:rPr lang="zh-CN" altLang="en-US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）-- </a:t>
            </a:r>
            <a:r>
              <a:rPr lang="zh-CN" altLang="en-US" sz="1600" dirty="0">
                <a:solidFill>
                  <a:srgbClr val="800000"/>
                </a:solidFill>
                <a:latin typeface="华文细黑" pitchFamily="2" charset="-122"/>
                <a:ea typeface="华文细黑" pitchFamily="2" charset="-122"/>
              </a:rPr>
              <a:t>大小跨越42个数量级</a:t>
            </a:r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900113" y="4025692"/>
            <a:ext cx="7848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时间：微观粒子寿命</a:t>
            </a:r>
            <a:r>
              <a:rPr lang="en-US" altLang="zh-CN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10</a:t>
            </a:r>
            <a:r>
              <a:rPr lang="en-US" altLang="zh-CN" sz="1600" baseline="300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-24</a:t>
            </a:r>
            <a:r>
              <a:rPr lang="en-US" altLang="zh-CN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s</a:t>
            </a:r>
            <a:r>
              <a:rPr lang="en-US" altLang="zh-CN" sz="1600" baseline="300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 ;</a:t>
            </a:r>
            <a:r>
              <a:rPr lang="zh-CN" altLang="en-US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宇宙年龄</a:t>
            </a:r>
            <a:r>
              <a:rPr lang="en-US" altLang="zh-CN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--10</a:t>
            </a:r>
            <a:r>
              <a:rPr lang="en-US" altLang="zh-CN" sz="1600" baseline="300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18</a:t>
            </a:r>
            <a:r>
              <a:rPr lang="en-US" altLang="zh-CN" sz="1600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5223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72" grpId="0"/>
      <p:bldP spid="7173" grpId="0"/>
      <p:bldP spid="7181" grpId="0" bldLvl="0" animBg="1"/>
      <p:bldP spid="7182" grpId="0"/>
      <p:bldP spid="7183" grpId="0"/>
      <p:bldP spid="718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914" y="1794657"/>
            <a:ext cx="44735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600" b="1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经典物理、近代物理、现代物理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904875" y="3000132"/>
            <a:ext cx="574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1</a:t>
            </a:r>
            <a:r>
              <a:rPr lang="zh-CN" altLang="en-US" sz="1600" b="1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、物理学是一切自然科学的基础； 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920751" y="3457332"/>
            <a:ext cx="61626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2</a:t>
            </a:r>
            <a:r>
              <a:rPr lang="zh-CN" altLang="en-US" sz="1600" b="1" dirty="0">
                <a:solidFill>
                  <a:prstClr val="black"/>
                </a:solidFill>
                <a:latin typeface="华文细黑" pitchFamily="2" charset="-122"/>
                <a:ea typeface="华文细黑" pitchFamily="2" charset="-122"/>
              </a:rPr>
              <a:t>、物理学推动技术革命和社会文明。 </a:t>
            </a:r>
          </a:p>
        </p:txBody>
      </p:sp>
      <p:sp>
        <p:nvSpPr>
          <p:cNvPr id="9" name="Text Box 13"/>
          <p:cNvSpPr>
            <a:spLocks noChangeArrowheads="1"/>
          </p:cNvSpPr>
          <p:nvPr/>
        </p:nvSpPr>
        <p:spPr bwMode="auto">
          <a:xfrm>
            <a:off x="273050" y="1203598"/>
            <a:ext cx="2880320" cy="400110"/>
          </a:xfrm>
          <a:prstGeom prst="homePlate">
            <a:avLst>
              <a:gd name="adj" fmla="val 49997"/>
            </a:avLst>
          </a:prstGeom>
          <a:solidFill>
            <a:srgbClr val="58A2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0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三、物理学的发展</a:t>
            </a:r>
          </a:p>
        </p:txBody>
      </p:sp>
      <p:sp>
        <p:nvSpPr>
          <p:cNvPr id="10" name="Text Box 13"/>
          <p:cNvSpPr>
            <a:spLocks noChangeArrowheads="1"/>
          </p:cNvSpPr>
          <p:nvPr/>
        </p:nvSpPr>
        <p:spPr bwMode="auto">
          <a:xfrm>
            <a:off x="273050" y="2324160"/>
            <a:ext cx="2880320" cy="400110"/>
          </a:xfrm>
          <a:prstGeom prst="homePlate">
            <a:avLst>
              <a:gd name="adj" fmla="val 49997"/>
            </a:avLst>
          </a:prstGeom>
          <a:solidFill>
            <a:srgbClr val="58A2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0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四、物理学的意义</a:t>
            </a:r>
          </a:p>
        </p:txBody>
      </p:sp>
    </p:spTree>
    <p:extLst>
      <p:ext uri="{BB962C8B-B14F-4D97-AF65-F5344CB8AC3E}">
        <p14:creationId xmlns:p14="http://schemas.microsoft.com/office/powerpoint/2010/main" val="391355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201" grpId="0"/>
      <p:bldP spid="8202" grpId="0"/>
      <p:bldP spid="9" grpId="0" bldLvl="0" animBg="1"/>
      <p:bldP spid="10" grpId="0" bldLvl="0" animBg="1"/>
    </p:bld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224</Words>
  <Application>Microsoft Office PowerPoint</Application>
  <PresentationFormat>全屏显示(16:9)</PresentationFormat>
  <Paragraphs>39</Paragraphs>
  <Slides>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自定义设计方案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Alex</dc:creator>
  <cp:lastModifiedBy>Alex</cp:lastModifiedBy>
  <cp:revision>3</cp:revision>
  <dcterms:created xsi:type="dcterms:W3CDTF">2018-01-04T05:59:36Z</dcterms:created>
  <dcterms:modified xsi:type="dcterms:W3CDTF">2018-01-08T04:11:59Z</dcterms:modified>
</cp:coreProperties>
</file>